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147477839" r:id="rId4"/>
    <p:sldId id="258" r:id="rId5"/>
    <p:sldId id="257" r:id="rId6"/>
    <p:sldId id="259" r:id="rId7"/>
    <p:sldId id="260" r:id="rId8"/>
    <p:sldId id="261" r:id="rId9"/>
    <p:sldId id="262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147477829" r:id="rId21"/>
    <p:sldId id="274" r:id="rId22"/>
    <p:sldId id="2147477830" r:id="rId23"/>
    <p:sldId id="2147477831" r:id="rId24"/>
    <p:sldId id="2147477832" r:id="rId25"/>
    <p:sldId id="2147477833" r:id="rId26"/>
    <p:sldId id="2147477834" r:id="rId27"/>
    <p:sldId id="2147477835" r:id="rId28"/>
    <p:sldId id="2147477836" r:id="rId29"/>
    <p:sldId id="2147477837" r:id="rId30"/>
    <p:sldId id="214747783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06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315FD-031E-F2D7-FF7C-4C01B9D9B8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57048-BE6D-2580-F9E5-DF843F5B2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E8CE-2B85-8E86-84F1-D897E8731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C966-6A58-2848-A65D-244FEF41336E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40DE7-7DE7-B689-D4CE-D826FD18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CE4CD-90AC-E14C-5AE5-C5991549B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83E-D597-3043-A9E3-8EB57A18A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779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7BDFB-043C-10C9-889C-A6F7DEC36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E7610-23A9-52F9-A15C-91A277AF8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1791D-BE10-0279-2768-70E607E9F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C966-6A58-2848-A65D-244FEF41336E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0C05E-025A-598C-BC72-53AB2DB77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1183F-1574-C0F2-B4C4-70013E90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83E-D597-3043-A9E3-8EB57A18A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537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F9747-2B03-FCDA-3846-A015E1E47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319088-008C-9B79-6AD9-6F2918F01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72A5A-9679-DDFE-DAED-904967FF1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C966-6A58-2848-A65D-244FEF41336E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1BD3C-A36C-5B25-CD46-62A9F95F1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6E161-C550-3B03-6366-39DB27692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83E-D597-3043-A9E3-8EB57A18A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44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BCCE3-3955-6F0A-FA50-534F6360D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87440-BC44-7587-8817-4D3F22067A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B1790-4E11-BEF6-3C2D-10409127DE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EF5F7-72DF-70E7-E74D-FF2109357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C966-6A58-2848-A65D-244FEF41336E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03A2B-35A2-65A0-59EB-CC0A12F98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612344-8CA1-3283-B49B-B4479CFC1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83E-D597-3043-A9E3-8EB57A18A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1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D8651-E238-478E-01F1-B53D7B7FF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60B66-6848-0C1D-DEF9-75ADE2F9B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38472-A8BB-8534-F8B1-E3071EDE7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46572A-11A1-D635-7F71-D616474E22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834E40-EE44-858E-E701-E51C21FD5A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1ABAB0-9150-11FD-A7C5-7AFCFC33A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C966-6A58-2848-A65D-244FEF41336E}" type="datetimeFigureOut">
              <a:rPr lang="en-US" smtClean="0"/>
              <a:t>4/8/26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2A2657-CDBB-968C-C4F9-9E2DD34D4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FBB216-306C-2B05-F337-F2D634E13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83E-D597-3043-A9E3-8EB57A18A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140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09604-02D2-0E35-CE4A-FC4BB42E7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9E306C-873E-AB74-51FF-305646096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C966-6A58-2848-A65D-244FEF41336E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210CD5-CC82-0D80-382A-2000BAA22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B2A4C7-2461-C3A9-60F6-E0EE453C6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83E-D597-3043-A9E3-8EB57A18A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133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18F513-7116-F9BE-30A3-3B78534C8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C966-6A58-2848-A65D-244FEF41336E}" type="datetimeFigureOut">
              <a:rPr lang="en-US" smtClean="0"/>
              <a:t>4/8/26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3A0171-8679-6172-E4EB-F8C9CF17C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48B31-DDC5-4AAD-AA62-CC4BFB1EE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83E-D597-3043-A9E3-8EB57A18A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374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3FE12-0833-37D3-A034-F0DFE7B4F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32BCE-058B-BA15-03D9-186D5F8DC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2A68CB-1771-8074-F834-52A0BCB8E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41ED7A-482F-CA27-45A2-B3373D921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C966-6A58-2848-A65D-244FEF41336E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1DFAA-22C1-1D23-7991-4CE0A742F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E67B1-EC1E-44DB-A2E4-831F95395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83E-D597-3043-A9E3-8EB57A18A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91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DBFC1-7B68-D979-8471-998B05169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A067AE-BB83-5034-A490-746D4483CB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3437E4-7046-36EF-FBE3-23B175997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3FE8B6-9DAD-4A02-CF65-42BB2DCE2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C966-6A58-2848-A65D-244FEF41336E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6BCCA-5857-E284-3C39-B4899A87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F30D97-1CFD-3C35-73B6-368A16731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83E-D597-3043-A9E3-8EB57A18A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43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5B7C2-3612-6306-DD90-C8DD565EC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85104-9CB8-41A6-0751-31E75B3F3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2AE7B-A071-6C7B-9912-7215B3C2B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C966-6A58-2848-A65D-244FEF41336E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334E0-D986-C2BF-BF75-423AA7121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B6DCF-C6DD-DCFC-B155-4791BEE42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83E-D597-3043-A9E3-8EB57A18A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927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B2CD3D-128B-500F-71D0-7265D301DD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0D5A5F-5F60-D2F7-868E-08F4FC450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36B1B-0F5A-4154-D267-69BCA8E5C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C966-6A58-2848-A65D-244FEF41336E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F6A4B-52CB-F3E3-E084-3CFB6A928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7B3E0-8B1E-E198-F7E4-9AF4EA1A2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1783E-D597-3043-A9E3-8EB57A18A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542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52D64E-7D14-CEA7-AB7B-1F5F0F426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8A862-5FE8-01A4-9225-6FF6FF27F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D73FB-CE5C-9F05-4EBD-C68F3351AA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3FC966-6A58-2848-A65D-244FEF41336E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80B1E-8240-85B0-D90F-83A39F794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C2019-94C6-F7DA-548A-5DD67295E9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B1783E-D597-3043-A9E3-8EB57A18A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53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AC24C-BC8F-1373-7D2E-F1F8AC4CA8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Review session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ED840-A270-C858-E376-F39830C69A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An overview &amp; outline of important concepts</a:t>
            </a:r>
          </a:p>
        </p:txBody>
      </p:sp>
    </p:spTree>
    <p:extLst>
      <p:ext uri="{BB962C8B-B14F-4D97-AF65-F5344CB8AC3E}">
        <p14:creationId xmlns:p14="http://schemas.microsoft.com/office/powerpoint/2010/main" val="3811376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E0FA3-7EF7-853D-8BD0-D4B25DDBA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content on the final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B9008-6617-2FE5-38DB-C428A9CFF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2/3 on module 3, including multi-modal lecture (Monday Apr 13)</a:t>
            </a:r>
          </a:p>
          <a:p>
            <a:r>
              <a:rPr lang="en-US" dirty="0"/>
              <a:t>1/3 on modules 1-2</a:t>
            </a:r>
          </a:p>
          <a:p>
            <a:endParaRPr lang="en-US" dirty="0"/>
          </a:p>
          <a:p>
            <a:r>
              <a:rPr lang="en-US" dirty="0"/>
              <a:t>Approximately 3/5 of the points (anywhere from 1/2 to 2/3) will be from </a:t>
            </a:r>
            <a:r>
              <a:rPr lang="en-US" b="1" dirty="0"/>
              <a:t>concept-oriented questions </a:t>
            </a:r>
            <a:r>
              <a:rPr lang="en-US" dirty="0"/>
              <a:t>similar to Part 1 from the midterm</a:t>
            </a:r>
          </a:p>
          <a:p>
            <a:r>
              <a:rPr lang="en-US" dirty="0"/>
              <a:t>Approximately 2/5 of the points (anywhere from 1/2 to 1/3) will be from </a:t>
            </a:r>
            <a:r>
              <a:rPr lang="en-US" b="1" dirty="0"/>
              <a:t>calculation/analysis-oriented questions </a:t>
            </a:r>
            <a:r>
              <a:rPr lang="en-US" dirty="0"/>
              <a:t>similar to Part 2 from the midterm</a:t>
            </a:r>
          </a:p>
          <a:p>
            <a:endParaRPr lang="en-US" dirty="0"/>
          </a:p>
          <a:p>
            <a:r>
              <a:rPr lang="en-US" dirty="0"/>
              <a:t>Anything covered in group activities is fair game</a:t>
            </a:r>
          </a:p>
          <a:p>
            <a:endParaRPr lang="en-US" dirty="0"/>
          </a:p>
          <a:p>
            <a:r>
              <a:rPr lang="en-US" dirty="0"/>
              <a:t>The things I’ve emphasized in the lectures, for example by saying “this is really important”, are the things I think are important!</a:t>
            </a:r>
          </a:p>
        </p:txBody>
      </p:sp>
    </p:spTree>
    <p:extLst>
      <p:ext uri="{BB962C8B-B14F-4D97-AF65-F5344CB8AC3E}">
        <p14:creationId xmlns:p14="http://schemas.microsoft.com/office/powerpoint/2010/main" val="493713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0AD0A-D889-B8C0-D265-C227E53E9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concepts versus memorization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FE945-DD49-64EC-425C-40C94CBFB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I’m looking for you to understand concepts</a:t>
            </a:r>
          </a:p>
          <a:p>
            <a:endParaRPr lang="en-US" dirty="0"/>
          </a:p>
          <a:p>
            <a:r>
              <a:rPr lang="en-US" dirty="0"/>
              <a:t>This does require remembering ideas and arguments, but it does not require memorizing exact definitions or formulas</a:t>
            </a:r>
          </a:p>
          <a:p>
            <a:endParaRPr lang="en-US" dirty="0"/>
          </a:p>
          <a:p>
            <a:r>
              <a:rPr lang="en-US" dirty="0"/>
              <a:t>Any formula you might need will be presented</a:t>
            </a:r>
          </a:p>
          <a:p>
            <a:endParaRPr lang="en-US" dirty="0"/>
          </a:p>
          <a:p>
            <a:r>
              <a:rPr lang="en-US" dirty="0"/>
              <a:t>So, there is no need for a cheat sheet</a:t>
            </a:r>
          </a:p>
        </p:txBody>
      </p:sp>
    </p:spTree>
    <p:extLst>
      <p:ext uri="{BB962C8B-B14F-4D97-AF65-F5344CB8AC3E}">
        <p14:creationId xmlns:p14="http://schemas.microsoft.com/office/powerpoint/2010/main" val="1394374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C7AF2-2213-430A-3AEC-9A9D0AD0E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BEA91-0BA5-7A83-A532-277DF2C88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39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D9FD4-40B6-F234-93C3-62C542C94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and how to work with biomedical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67771-6D0B-E066-9948-08DBEC27E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Unstructured vs structured data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What are structured and unstructured data EHR?</a:t>
            </a:r>
          </a:p>
          <a:p>
            <a:pPr>
              <a:buFontTx/>
              <a:buChar char="-"/>
            </a:pPr>
            <a:r>
              <a:rPr lang="en-US" dirty="0"/>
              <a:t>Why are unstructured data important when making predictions?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Examples of information found in structured fields</a:t>
            </a:r>
          </a:p>
          <a:p>
            <a:pPr>
              <a:buFontTx/>
              <a:buChar char="-"/>
            </a:pPr>
            <a:r>
              <a:rPr lang="en-US" dirty="0"/>
              <a:t>Examples of information not found in structured fields</a:t>
            </a:r>
          </a:p>
          <a:p>
            <a:pPr>
              <a:buFontTx/>
              <a:buChar char="-"/>
            </a:pPr>
            <a:r>
              <a:rPr lang="en-US" dirty="0"/>
              <a:t>Examples of unstructured data</a:t>
            </a:r>
          </a:p>
          <a:p>
            <a:pPr>
              <a:buFontTx/>
              <a:buChar char="-"/>
            </a:pPr>
            <a:r>
              <a:rPr lang="en-US" dirty="0"/>
              <a:t>Examples of prediction tasks using unstructured data</a:t>
            </a:r>
          </a:p>
        </p:txBody>
      </p:sp>
    </p:spTree>
    <p:extLst>
      <p:ext uri="{BB962C8B-B14F-4D97-AF65-F5344CB8AC3E}">
        <p14:creationId xmlns:p14="http://schemas.microsoft.com/office/powerpoint/2010/main" val="174087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9EDDC-7796-C34D-0E08-19CB1509F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and how to work with biomedical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8BDD6-AC69-7195-14CF-8A75A2892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Predictive versus generative AI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What’s the difference between the two?</a:t>
            </a:r>
          </a:p>
          <a:p>
            <a:pPr>
              <a:buFontTx/>
              <a:buChar char="-"/>
            </a:pPr>
            <a:r>
              <a:rPr lang="en-US" dirty="0"/>
              <a:t>We can generate by recursively predicting</a:t>
            </a:r>
          </a:p>
          <a:p>
            <a:pPr>
              <a:buFontTx/>
              <a:buChar char="-"/>
            </a:pPr>
            <a:r>
              <a:rPr lang="en-US" dirty="0"/>
              <a:t>How might we use a generative model for a predictive task?</a:t>
            </a:r>
          </a:p>
          <a:p>
            <a:pPr>
              <a:buFontTx/>
              <a:buChar char="-"/>
            </a:pPr>
            <a:r>
              <a:rPr lang="en-US" dirty="0"/>
              <a:t>What is zero-shot prediction / performance?</a:t>
            </a:r>
          </a:p>
        </p:txBody>
      </p:sp>
    </p:spTree>
    <p:extLst>
      <p:ext uri="{BB962C8B-B14F-4D97-AF65-F5344CB8AC3E}">
        <p14:creationId xmlns:p14="http://schemas.microsoft.com/office/powerpoint/2010/main" val="3087909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49DBE-8A9D-8966-BE1A-CE4E82C97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04823-C024-E44E-984A-F3167B4ED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and how to work with biomedical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478F-2BD8-AA03-AEE8-35E8EF040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Bag of words models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Give different ways of converting text to vector representations</a:t>
            </a:r>
          </a:p>
          <a:p>
            <a:pPr>
              <a:buFontTx/>
              <a:buChar char="-"/>
            </a:pPr>
            <a:r>
              <a:rPr lang="en-US" dirty="0"/>
              <a:t>Construct simple vector representations of text or medical concepts</a:t>
            </a:r>
          </a:p>
          <a:p>
            <a:pPr>
              <a:buFontTx/>
              <a:buChar char="-"/>
            </a:pPr>
            <a:r>
              <a:rPr lang="en-US" dirty="0"/>
              <a:t>Define a “bag of words” model</a:t>
            </a:r>
          </a:p>
          <a:p>
            <a:pPr>
              <a:buFontTx/>
              <a:buChar char="-"/>
            </a:pPr>
            <a:r>
              <a:rPr lang="en-US" dirty="0"/>
              <a:t>Recognize pros and cons of the bag of words approach</a:t>
            </a:r>
          </a:p>
          <a:p>
            <a:pPr>
              <a:buFontTx/>
              <a:buChar char="-"/>
            </a:pPr>
            <a:r>
              <a:rPr lang="en-US" dirty="0"/>
              <a:t>List specific shortcomings of the bag of words approach</a:t>
            </a:r>
          </a:p>
        </p:txBody>
      </p:sp>
    </p:spTree>
    <p:extLst>
      <p:ext uri="{BB962C8B-B14F-4D97-AF65-F5344CB8AC3E}">
        <p14:creationId xmlns:p14="http://schemas.microsoft.com/office/powerpoint/2010/main" val="517205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2DB1D-21A7-1295-4B2F-8C463EB8E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and concept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81895-FEA0-2260-5448-833421470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Motivating word &amp; concept embeddings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What shortcoming(s) of bag of words do embeddings solve?</a:t>
            </a:r>
          </a:p>
          <a:p>
            <a:pPr>
              <a:buFontTx/>
              <a:buChar char="-"/>
            </a:pPr>
            <a:r>
              <a:rPr lang="en-US" dirty="0"/>
              <a:t>What shortcoming(s) do they not solve?</a:t>
            </a:r>
          </a:p>
          <a:p>
            <a:pPr>
              <a:buFontTx/>
              <a:buChar char="-"/>
            </a:pPr>
            <a:r>
              <a:rPr lang="en-US" dirty="0"/>
              <a:t>What condition(s) would lead to two words having the same embedding?</a:t>
            </a:r>
          </a:p>
        </p:txBody>
      </p:sp>
    </p:spTree>
    <p:extLst>
      <p:ext uri="{BB962C8B-B14F-4D97-AF65-F5344CB8AC3E}">
        <p14:creationId xmlns:p14="http://schemas.microsoft.com/office/powerpoint/2010/main" val="3934147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2E862-B4B3-833F-A63E-48DBDC2C9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A7147-BBD5-0C2E-8F54-676AA5A86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and concept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DEB23-E573-07B5-AB10-E04EB6058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Learning embeddings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Give examples of how we might define {input, context} pairs when:</a:t>
            </a:r>
          </a:p>
          <a:p>
            <a:pPr lvl="1">
              <a:buFontTx/>
              <a:buChar char="-"/>
            </a:pPr>
            <a:r>
              <a:rPr lang="en-US" dirty="0"/>
              <a:t>learning word embeddings</a:t>
            </a:r>
          </a:p>
          <a:p>
            <a:pPr lvl="1">
              <a:buFontTx/>
              <a:buChar char="-"/>
            </a:pPr>
            <a:r>
              <a:rPr lang="en-US" dirty="0"/>
              <a:t>learning medical concept embeddings</a:t>
            </a:r>
          </a:p>
          <a:p>
            <a:pPr lvl="1">
              <a:buFontTx/>
              <a:buChar char="-"/>
            </a:pPr>
            <a:r>
              <a:rPr lang="en-US" dirty="0"/>
              <a:t>learning embeddings for other variables/concepts</a:t>
            </a:r>
          </a:p>
          <a:p>
            <a:pPr>
              <a:buFontTx/>
              <a:buChar char="-"/>
            </a:pPr>
            <a:r>
              <a:rPr lang="en-US" dirty="0"/>
              <a:t>Describe training paradigms for Word2Vec (e.g. skip-gram, CBOW, negative sampling), including the training objective / loss function</a:t>
            </a:r>
          </a:p>
          <a:p>
            <a:pPr>
              <a:buFontTx/>
              <a:buChar char="-"/>
            </a:pPr>
            <a:r>
              <a:rPr lang="en-US" dirty="0"/>
              <a:t>Analyze how the training objective relates to other objectives we’ve seen previously</a:t>
            </a:r>
          </a:p>
          <a:p>
            <a:pPr>
              <a:buFontTx/>
              <a:buChar char="-"/>
            </a:pPr>
            <a:r>
              <a:rPr lang="en-US" dirty="0"/>
              <a:t>Specify how we get embeddings from this paradigm</a:t>
            </a:r>
          </a:p>
        </p:txBody>
      </p:sp>
    </p:spTree>
    <p:extLst>
      <p:ext uri="{BB962C8B-B14F-4D97-AF65-F5344CB8AC3E}">
        <p14:creationId xmlns:p14="http://schemas.microsoft.com/office/powerpoint/2010/main" val="1247133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27FE9-B0D6-44CF-E68A-D28C319C3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A963A-E696-F900-4CC3-FA307AE2A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and concept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5507A-D916-A2D6-F6B7-8645F3E2D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Using word and concept embeddings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Describe how we might use embeddings to retrieve relevant words or concepts</a:t>
            </a:r>
          </a:p>
          <a:p>
            <a:pPr>
              <a:buFontTx/>
              <a:buChar char="-"/>
            </a:pPr>
            <a:r>
              <a:rPr lang="en-US" dirty="0"/>
              <a:t>Describe how we can construct simple prediction models based on embeddings</a:t>
            </a:r>
          </a:p>
        </p:txBody>
      </p:sp>
    </p:spTree>
    <p:extLst>
      <p:ext uri="{BB962C8B-B14F-4D97-AF65-F5344CB8AC3E}">
        <p14:creationId xmlns:p14="http://schemas.microsoft.com/office/powerpoint/2010/main" val="520788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098E-EF6A-0649-B5E2-829C037A4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and the Transformer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7313D-DF1D-497B-2547-6F0D3E96F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Motivating the Transformer</a:t>
            </a:r>
          </a:p>
          <a:p>
            <a:endParaRPr lang="en-US" dirty="0"/>
          </a:p>
          <a:p>
            <a:r>
              <a:rPr lang="en-US" dirty="0"/>
              <a:t>What problem(s) is the Transformer solving?</a:t>
            </a:r>
          </a:p>
          <a:p>
            <a:r>
              <a:rPr lang="en-US" dirty="0"/>
              <a:t>What are the alternatives? When and why is the Transformer better?</a:t>
            </a:r>
          </a:p>
        </p:txBody>
      </p:sp>
    </p:spTree>
    <p:extLst>
      <p:ext uri="{BB962C8B-B14F-4D97-AF65-F5344CB8AC3E}">
        <p14:creationId xmlns:p14="http://schemas.microsoft.com/office/powerpoint/2010/main" val="2548989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0E197-D07F-AD32-B82C-932B42DCB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C2E06-0059-65B6-789F-60D15E818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and the Transformer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9ECFF-E417-CB5B-5163-93F9280DD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Transformer variants</a:t>
            </a:r>
          </a:p>
          <a:p>
            <a:endParaRPr lang="en-US" dirty="0"/>
          </a:p>
          <a:p>
            <a:r>
              <a:rPr lang="en-US" dirty="0"/>
              <a:t>Describe the different varieties of Transformer (encoder-only, decoder-only, encoder-decoder) and explain what kinds of problems (general and medical) each is best positioned to solve</a:t>
            </a:r>
          </a:p>
          <a:p>
            <a:endParaRPr lang="en-US" dirty="0"/>
          </a:p>
          <a:p>
            <a:r>
              <a:rPr lang="en-US" dirty="0"/>
              <a:t>Describe the different layers found in the Transformer and what each one accomplishes</a:t>
            </a:r>
          </a:p>
        </p:txBody>
      </p:sp>
    </p:spTree>
    <p:extLst>
      <p:ext uri="{BB962C8B-B14F-4D97-AF65-F5344CB8AC3E}">
        <p14:creationId xmlns:p14="http://schemas.microsoft.com/office/powerpoint/2010/main" val="1337434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D1675-1AF9-E095-027F-9F5EB8374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81B74-F784-10FB-6561-90498E136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and the Transformer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48EBA-29FC-2595-C9DA-74BADA1E3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Attention mechanisms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Define multi-head attention and describe its purpose</a:t>
            </a:r>
          </a:p>
          <a:p>
            <a:r>
              <a:rPr lang="en-US" dirty="0"/>
              <a:t>Understand why multi-head attention is position equivariant</a:t>
            </a:r>
          </a:p>
          <a:p>
            <a:r>
              <a:rPr lang="en-US" dirty="0"/>
              <a:t>Define causal masking and understand why and when it is applied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Positional and temporal encodings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Describe why positional encodings are needed</a:t>
            </a:r>
          </a:p>
          <a:p>
            <a:r>
              <a:rPr lang="en-US" dirty="0"/>
              <a:t>Explain why we use multiple features to represent a single numeric feature (i.e. position, or time)</a:t>
            </a:r>
          </a:p>
        </p:txBody>
      </p:sp>
    </p:spTree>
    <p:extLst>
      <p:ext uri="{BB962C8B-B14F-4D97-AF65-F5344CB8AC3E}">
        <p14:creationId xmlns:p14="http://schemas.microsoft.com/office/powerpoint/2010/main" val="4179183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0C837-B362-88A7-A580-B970AC520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C9C0A-FAEF-C728-A2C1-F5419C3F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architectures for text and EHR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0363C-3BFB-3FD3-0222-5A42FF11A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Transformer training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Describe training paradigms, including the training objective / loss function and prediction head, for:</a:t>
            </a:r>
          </a:p>
          <a:p>
            <a:pPr lvl="1"/>
            <a:r>
              <a:rPr lang="en-US" dirty="0"/>
              <a:t>Encoder-only models (i.e., masked language modeling)</a:t>
            </a:r>
          </a:p>
          <a:p>
            <a:pPr lvl="1"/>
            <a:r>
              <a:rPr lang="en-US" dirty="0"/>
              <a:t>Decoder-only models (i.e., next token prediction)</a:t>
            </a:r>
          </a:p>
          <a:p>
            <a:endParaRPr lang="en-US" dirty="0"/>
          </a:p>
          <a:p>
            <a:r>
              <a:rPr lang="en-US" dirty="0"/>
              <a:t>Describe the use of [MASK], [CLS], [UNK], [PAD], and [UNK]</a:t>
            </a:r>
          </a:p>
        </p:txBody>
      </p:sp>
    </p:spTree>
    <p:extLst>
      <p:ext uri="{BB962C8B-B14F-4D97-AF65-F5344CB8AC3E}">
        <p14:creationId xmlns:p14="http://schemas.microsoft.com/office/powerpoint/2010/main" val="4009240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07EA9-8C28-F86B-E475-F53B2033D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34E97-5508-CD4A-8402-2E328E79A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architectures for text and EHR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AC01E-A238-F468-39AB-DCAFA4597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Making predictions with Transformer architectures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When and why might we use an encoder-only and decoder-only architectures, respectively?</a:t>
            </a:r>
          </a:p>
          <a:p>
            <a:r>
              <a:rPr lang="en-US" dirty="0"/>
              <a:t>How do we use each of these to make predictions?</a:t>
            </a:r>
          </a:p>
          <a:p>
            <a:r>
              <a:rPr lang="en-US" dirty="0"/>
              <a:t>Give examples of text and medical prediction tasks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Define “context window” and describe its importance</a:t>
            </a:r>
          </a:p>
        </p:txBody>
      </p:sp>
    </p:spTree>
    <p:extLst>
      <p:ext uri="{BB962C8B-B14F-4D97-AF65-F5344CB8AC3E}">
        <p14:creationId xmlns:p14="http://schemas.microsoft.com/office/powerpoint/2010/main" val="2476074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B32F4-ED0E-E6EF-1487-211270443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259CC-418A-BCE5-1ABB-A8E0A9190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architectures for text and EHR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5F4D6-8F44-D7F8-3EFF-9FD0097AC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Transformer architectures for structured EHR (next lecture)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Describe what and why modifications of encoder-only architectures are required for structured EHRs</a:t>
            </a:r>
          </a:p>
          <a:p>
            <a:endParaRPr lang="en-US" dirty="0"/>
          </a:p>
          <a:p>
            <a:r>
              <a:rPr lang="en-US" dirty="0"/>
              <a:t>Give examples of text and medical prediction tasks</a:t>
            </a:r>
          </a:p>
        </p:txBody>
      </p:sp>
    </p:spTree>
    <p:extLst>
      <p:ext uri="{BB962C8B-B14F-4D97-AF65-F5344CB8AC3E}">
        <p14:creationId xmlns:p14="http://schemas.microsoft.com/office/powerpoint/2010/main" val="245393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377A7-82BA-C2B0-B231-BE2A46FC8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EFE49-FE03-9914-204A-8D5C926C7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1-2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8271E-FC19-A384-A5A3-820A71E62C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041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C6A94-6E02-CBB9-B081-159DCB062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Modules 1-2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9291B-FD07-743D-13FD-A9778472B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Review the midterm!</a:t>
            </a:r>
          </a:p>
          <a:p>
            <a:r>
              <a:rPr lang="en-US" dirty="0"/>
              <a:t>Review the group activities!</a:t>
            </a:r>
          </a:p>
          <a:p>
            <a:endParaRPr lang="en-US" dirty="0"/>
          </a:p>
          <a:p>
            <a:r>
              <a:rPr lang="en-US" dirty="0"/>
              <a:t>There will *not* be more on NNs as universal function approximators</a:t>
            </a:r>
          </a:p>
          <a:p>
            <a:endParaRPr lang="en-US" dirty="0"/>
          </a:p>
          <a:p>
            <a:r>
              <a:rPr lang="en-US" dirty="0"/>
              <a:t>However, you are likely to see problems similar to those on the midterm related to:</a:t>
            </a:r>
          </a:p>
          <a:p>
            <a:pPr lvl="1"/>
            <a:r>
              <a:rPr lang="en-US" dirty="0"/>
              <a:t>Calculation of performance metrics (e.g., AUC, expected calibration error)</a:t>
            </a:r>
          </a:p>
          <a:p>
            <a:pPr lvl="1"/>
            <a:r>
              <a:rPr lang="en-US" dirty="0"/>
              <a:t>Feature importance measures (e.g., integrated gradients)</a:t>
            </a:r>
          </a:p>
          <a:p>
            <a:pPr lvl="1"/>
            <a:r>
              <a:rPr lang="en-US" dirty="0"/>
              <a:t>NT-</a:t>
            </a:r>
            <a:r>
              <a:rPr lang="en-US" dirty="0" err="1"/>
              <a:t>Xent</a:t>
            </a:r>
            <a:r>
              <a:rPr lang="en-US" dirty="0"/>
              <a:t> and related losses (e.g., cross-entropy, CLIP, Word2Vec)</a:t>
            </a:r>
          </a:p>
          <a:p>
            <a:pPr lvl="1"/>
            <a:endParaRPr lang="en-US" dirty="0"/>
          </a:p>
          <a:p>
            <a:r>
              <a:rPr lang="en-US" dirty="0"/>
              <a:t>Part 1 concepts are also fair game!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5633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257F0-C14B-C0EB-CE0A-385360ED9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predictive AI and 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7B911-3604-7834-1211-4361CB83A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Overview and concepts</a:t>
            </a:r>
          </a:p>
          <a:p>
            <a:endParaRPr lang="en-US" dirty="0"/>
          </a:p>
          <a:p>
            <a:r>
              <a:rPr lang="en-US" dirty="0"/>
              <a:t>Define and distinguish AI and ML</a:t>
            </a:r>
          </a:p>
          <a:p>
            <a:r>
              <a:rPr lang="en-US" dirty="0"/>
              <a:t>Remember: simple models often work well, and we should not favor model complexity for its own sake</a:t>
            </a:r>
          </a:p>
          <a:p>
            <a:r>
              <a:rPr lang="en-US" dirty="0"/>
              <a:t>Distinguish classification vs risk prediction (next slide)</a:t>
            </a:r>
          </a:p>
        </p:txBody>
      </p:sp>
    </p:spTree>
    <p:extLst>
      <p:ext uri="{BB962C8B-B14F-4D97-AF65-F5344CB8AC3E}">
        <p14:creationId xmlns:p14="http://schemas.microsoft.com/office/powerpoint/2010/main" val="41201029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FD987-BC5E-9DDB-82B8-7409CBAC4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8E18D-4DFA-BE9B-F82E-502C35502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regression:</a:t>
            </a:r>
            <a:br>
              <a:rPr lang="en-US" dirty="0"/>
            </a:br>
            <a:r>
              <a:rPr lang="en-US" i="1" dirty="0"/>
              <a:t>classification</a:t>
            </a:r>
            <a:r>
              <a:rPr lang="en-US" dirty="0"/>
              <a:t>, or </a:t>
            </a:r>
            <a:r>
              <a:rPr lang="en-US" i="1" dirty="0"/>
              <a:t>risk prediction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5262A-EF5F-BDFA-EC3E-F36CCC6FD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Classification</a:t>
            </a:r>
          </a:p>
          <a:p>
            <a:pPr lvl="1"/>
            <a:r>
              <a:rPr lang="en-US" dirty="0"/>
              <a:t>Examples: MNIST, EHR-based phenotyping, pathology detection</a:t>
            </a:r>
          </a:p>
          <a:p>
            <a:pPr lvl="1"/>
            <a:r>
              <a:rPr lang="en-US" u="sng" dirty="0"/>
              <a:t>Labels are deterministic</a:t>
            </a:r>
          </a:p>
          <a:p>
            <a:pPr lvl="1"/>
            <a:r>
              <a:rPr lang="en-US" dirty="0"/>
              <a:t>Positives and negatives have non-overlapping support (in principle, given the right features)</a:t>
            </a:r>
          </a:p>
          <a:p>
            <a:pPr lvl="1"/>
            <a:endParaRPr lang="en-US" dirty="0"/>
          </a:p>
          <a:p>
            <a:r>
              <a:rPr lang="en-US" b="1" dirty="0"/>
              <a:t>Risk Prediction</a:t>
            </a:r>
          </a:p>
          <a:p>
            <a:pPr lvl="1"/>
            <a:r>
              <a:rPr lang="en-US" dirty="0"/>
              <a:t>Examples: ICU mortality, heart attack risk, future diagnosis likelihood</a:t>
            </a:r>
          </a:p>
          <a:p>
            <a:pPr lvl="1"/>
            <a:r>
              <a:rPr lang="en-US" u="sng" dirty="0"/>
              <a:t>Labels are inherently probabilistic</a:t>
            </a:r>
          </a:p>
          <a:p>
            <a:pPr lvl="1"/>
            <a:r>
              <a:rPr lang="en-US" dirty="0"/>
              <a:t>Positives and negatives have overlapping support in any feature space</a:t>
            </a:r>
          </a:p>
        </p:txBody>
      </p:sp>
    </p:spTree>
    <p:extLst>
      <p:ext uri="{BB962C8B-B14F-4D97-AF65-F5344CB8AC3E}">
        <p14:creationId xmlns:p14="http://schemas.microsoft.com/office/powerpoint/2010/main" val="1776041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70EED-BCAF-DE32-9584-2DC00CD57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predictive AI and 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FA668-BDAF-74F6-92A7-6B508BF5E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Logistic regression details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Describe and analyze model and its likelihood/loss</a:t>
            </a:r>
          </a:p>
          <a:p>
            <a:r>
              <a:rPr lang="en-US" dirty="0"/>
              <a:t>Give general and medical examples where logistic regression fits</a:t>
            </a:r>
          </a:p>
          <a:p>
            <a:r>
              <a:rPr lang="en-US" dirty="0"/>
              <a:t>Understand why it yields linear decision boundaries</a:t>
            </a:r>
          </a:p>
          <a:p>
            <a:r>
              <a:rPr lang="en-US" dirty="0"/>
              <a:t>Provide examples/motivation for non-linear decision boundaries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893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351C3-385F-C86F-4B19-AF91F0718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84DBF-F50D-6984-8225-833C01DEA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Shallow and deep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F1026-CD6E-6B71-A1F4-06A04BABE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Overview and concepts</a:t>
            </a:r>
          </a:p>
          <a:p>
            <a:endParaRPr lang="en-US" dirty="0"/>
          </a:p>
          <a:p>
            <a:r>
              <a:rPr lang="en-US" dirty="0"/>
              <a:t>Understand neurons as feature detectors</a:t>
            </a:r>
          </a:p>
          <a:p>
            <a:r>
              <a:rPr lang="en-US" dirty="0"/>
              <a:t>Give examples (beyond those I’ve given) of medical prediction tasks requiring a non-linear decision boundary</a:t>
            </a:r>
          </a:p>
        </p:txBody>
      </p:sp>
    </p:spTree>
    <p:extLst>
      <p:ext uri="{BB962C8B-B14F-4D97-AF65-F5344CB8AC3E}">
        <p14:creationId xmlns:p14="http://schemas.microsoft.com/office/powerpoint/2010/main" val="16980920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7C4C4-DA74-8D3A-D85C-82B11E170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B531C-68FA-F925-5A59-93C467036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Shallow and deep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83493-537E-DA07-77A9-85DD711B4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Neural network details</a:t>
            </a:r>
          </a:p>
          <a:p>
            <a:endParaRPr lang="en-US" dirty="0"/>
          </a:p>
          <a:p>
            <a:r>
              <a:rPr lang="en-US" dirty="0"/>
              <a:t>Determine the number of parameters in a given layer and model</a:t>
            </a:r>
          </a:p>
          <a:p>
            <a:r>
              <a:rPr lang="en-US" dirty="0"/>
              <a:t>Understand the relationship between number of parameters and (a) width, (b) depth</a:t>
            </a:r>
          </a:p>
          <a:p>
            <a:r>
              <a:rPr lang="en-US" dirty="0"/>
              <a:t>Write out a fully-connected MLP using recursive notation</a:t>
            </a:r>
          </a:p>
          <a:p>
            <a:r>
              <a:rPr lang="en-US" dirty="0"/>
              <a:t>Define overfitting and understand its importance</a:t>
            </a:r>
          </a:p>
          <a:p>
            <a:r>
              <a:rPr lang="en-US" dirty="0"/>
              <a:t>Compare / contrast multi-class and multi-label prediction and specify appropriate prediction heads for each</a:t>
            </a:r>
          </a:p>
        </p:txBody>
      </p:sp>
    </p:spTree>
    <p:extLst>
      <p:ext uri="{BB962C8B-B14F-4D97-AF65-F5344CB8AC3E}">
        <p14:creationId xmlns:p14="http://schemas.microsoft.com/office/powerpoint/2010/main" val="26940483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761C3-05FB-1CBC-DD50-6316142E5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learning via SGD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99B7-44FF-6E56-64BB-4D625E372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Define and motivate the cross-entropy loss</a:t>
            </a:r>
          </a:p>
          <a:p>
            <a:r>
              <a:rPr lang="en-US" dirty="0"/>
              <a:t>Specify and describe strategies to mitigate overfitting, including</a:t>
            </a:r>
          </a:p>
          <a:p>
            <a:pPr lvl="1"/>
            <a:r>
              <a:rPr lang="en-US" dirty="0"/>
              <a:t>Parameter shrinkage (i.e., explicit regularization)</a:t>
            </a:r>
          </a:p>
          <a:p>
            <a:pPr lvl="1"/>
            <a:r>
              <a:rPr lang="en-US" dirty="0"/>
              <a:t>Early stopping (i.e., implicit regularization)</a:t>
            </a:r>
          </a:p>
          <a:p>
            <a:pPr lvl="1"/>
            <a:endParaRPr lang="en-US" dirty="0"/>
          </a:p>
          <a:p>
            <a:r>
              <a:rPr lang="en-US" dirty="0"/>
              <a:t>Use the chain rule to calculate gradients for small models or layers (e.g., logistic regression, very simple MLP*)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*no more complicated than the one presented in the group activity on convexity</a:t>
            </a:r>
          </a:p>
        </p:txBody>
      </p:sp>
    </p:spTree>
    <p:extLst>
      <p:ext uri="{BB962C8B-B14F-4D97-AF65-F5344CB8AC3E}">
        <p14:creationId xmlns:p14="http://schemas.microsoft.com/office/powerpoint/2010/main" val="1344505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3DF41-A918-0D51-38F0-27C84BC40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Discrimination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0105C-FA0D-EC71-CD99-46C5550BE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Different ways of using model predictions and associated metrics</a:t>
            </a:r>
          </a:p>
          <a:p>
            <a:r>
              <a:rPr lang="en-US" dirty="0"/>
              <a:t>Definitions of threshold-specific metrics (specificity, sensitivity, PPV, NPV)</a:t>
            </a:r>
          </a:p>
          <a:p>
            <a:r>
              <a:rPr lang="en-US" dirty="0"/>
              <a:t>Effect of class balance on threshold-specific and threshold-agnostic (e.g., AUC, AUPR) metrics</a:t>
            </a:r>
          </a:p>
          <a:p>
            <a:r>
              <a:rPr lang="en-US" dirty="0"/>
              <a:t>Interpret the ROC curve and its relationship to threshold and AUC</a:t>
            </a:r>
          </a:p>
          <a:p>
            <a:r>
              <a:rPr lang="en-US" dirty="0"/>
              <a:t>What AUC do we get from a “no information” model, and why?</a:t>
            </a:r>
          </a:p>
          <a:p>
            <a:r>
              <a:rPr lang="en-US" dirty="0"/>
              <a:t>Give examples of scenarios where we might favor sensitivity or specificity, respectively</a:t>
            </a:r>
          </a:p>
          <a:p>
            <a:r>
              <a:rPr lang="en-US" dirty="0"/>
              <a:t>Calculate metrics in small samples</a:t>
            </a:r>
          </a:p>
        </p:txBody>
      </p:sp>
    </p:spTree>
    <p:extLst>
      <p:ext uri="{BB962C8B-B14F-4D97-AF65-F5344CB8AC3E}">
        <p14:creationId xmlns:p14="http://schemas.microsoft.com/office/powerpoint/2010/main" val="13176691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1654-110C-1883-FCA5-DE80EB704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Calibration, class balance, and fairness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D099C-2CBC-8FEF-B14A-42753F8FF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Describe possible sources of poor or biased performance in specific subgroups</a:t>
            </a:r>
          </a:p>
          <a:p>
            <a:r>
              <a:rPr lang="en-US" dirty="0"/>
              <a:t>Propose definition(s) of “fair” performance (no single right answer)</a:t>
            </a:r>
          </a:p>
          <a:p>
            <a:r>
              <a:rPr lang="en-US" dirty="0"/>
              <a:t>Criticize definition(s) of “fair” performance (no single right answer)</a:t>
            </a:r>
          </a:p>
          <a:p>
            <a:r>
              <a:rPr lang="en-US" dirty="0"/>
              <a:t>Describe ways to measure calibration, including expected calibration error</a:t>
            </a:r>
          </a:p>
          <a:p>
            <a:r>
              <a:rPr lang="en-US" dirty="0"/>
              <a:t>Give examples of highly imbalanced problems in healthcare</a:t>
            </a:r>
          </a:p>
          <a:p>
            <a:r>
              <a:rPr lang="en-US" dirty="0"/>
              <a:t>List techniques for training in the presence of class balance</a:t>
            </a:r>
          </a:p>
          <a:p>
            <a:r>
              <a:rPr lang="en-US" dirty="0"/>
              <a:t>Describe the effect(s) of these techniques on calibration</a:t>
            </a:r>
          </a:p>
          <a:p>
            <a:r>
              <a:rPr lang="en-US" dirty="0"/>
              <a:t>Describe post-hoc calibration techniques, specifically temperature scaling and Platt scaling</a:t>
            </a:r>
          </a:p>
        </p:txBody>
      </p:sp>
    </p:spTree>
    <p:extLst>
      <p:ext uri="{BB962C8B-B14F-4D97-AF65-F5344CB8AC3E}">
        <p14:creationId xmlns:p14="http://schemas.microsoft.com/office/powerpoint/2010/main" val="14803042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1B47E-D106-E245-40B3-935DF0708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CNNs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023D3-6ECD-D357-9267-B29EA2962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Define types of image-based prediction tasks (classification, detection, segmentation) and give medical examples</a:t>
            </a:r>
          </a:p>
          <a:p>
            <a:r>
              <a:rPr lang="en-US" dirty="0"/>
              <a:t>Describe the importance/impact of “zero-shot” prediction in a medical imaging context</a:t>
            </a:r>
          </a:p>
          <a:p>
            <a:r>
              <a:rPr lang="en-US" dirty="0"/>
              <a:t>Understand/argue (not a full proof) why CNNs are translation invariant</a:t>
            </a:r>
          </a:p>
          <a:p>
            <a:r>
              <a:rPr lang="en-US" dirty="0"/>
              <a:t>Define convolutional and pooling layers and describe how and why they are used together</a:t>
            </a:r>
          </a:p>
          <a:p>
            <a:r>
              <a:rPr lang="en-US" dirty="0"/>
              <a:t>Work out a simple spatial convolution operation, including variations on padding and stride</a:t>
            </a:r>
          </a:p>
        </p:txBody>
      </p:sp>
    </p:spTree>
    <p:extLst>
      <p:ext uri="{BB962C8B-B14F-4D97-AF65-F5344CB8AC3E}">
        <p14:creationId xmlns:p14="http://schemas.microsoft.com/office/powerpoint/2010/main" val="32579110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B20B7-1180-4DEB-3215-BDF9CC307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architectures and transfer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20DE0-7873-DAC1-B4C4-5BD3A6960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the process of adapting a pre-trained model to a new task, including modifying the architecture and fine-tuning it</a:t>
            </a:r>
          </a:p>
          <a:p>
            <a:r>
              <a:rPr lang="en-US" dirty="0"/>
              <a:t>Analyze gradients for a residual connection</a:t>
            </a:r>
          </a:p>
        </p:txBody>
      </p:sp>
    </p:spTree>
    <p:extLst>
      <p:ext uri="{BB962C8B-B14F-4D97-AF65-F5344CB8AC3E}">
        <p14:creationId xmlns:p14="http://schemas.microsoft.com/office/powerpoint/2010/main" val="3487771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D9BD-64B1-E260-5E55-D6444DE83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augmentation and contrastive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2CA58-6437-5FCA-3330-D29364D46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Motivate and describe the data augmentation process and specific augmentations</a:t>
            </a:r>
          </a:p>
          <a:p>
            <a:r>
              <a:rPr lang="en-US" dirty="0"/>
              <a:t>Describe the three components of </a:t>
            </a:r>
            <a:r>
              <a:rPr lang="en-US" dirty="0" err="1"/>
              <a:t>SimCLR</a:t>
            </a:r>
            <a:r>
              <a:rPr lang="en-US" dirty="0"/>
              <a:t> presented in the lecture</a:t>
            </a:r>
          </a:p>
          <a:p>
            <a:r>
              <a:rPr lang="en-US" dirty="0"/>
              <a:t>Understand and analyze the contrastive loss (consider problems like those in the group activity and midterm)</a:t>
            </a:r>
          </a:p>
          <a:p>
            <a:r>
              <a:rPr lang="en-US" dirty="0"/>
              <a:t>Understand and analyze the CLIP loss</a:t>
            </a:r>
          </a:p>
        </p:txBody>
      </p:sp>
    </p:spTree>
    <p:extLst>
      <p:ext uri="{BB962C8B-B14F-4D97-AF65-F5344CB8AC3E}">
        <p14:creationId xmlns:p14="http://schemas.microsoft.com/office/powerpoint/2010/main" val="14912478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D8608-DD36-A815-04F3-A0EFE6C41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Explainable AI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DF878-CA2E-5D25-5161-94C15B192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different approaches we discussed, including their strengths and limitations</a:t>
            </a:r>
          </a:p>
          <a:p>
            <a:r>
              <a:rPr lang="en-US" dirty="0"/>
              <a:t>Compare and Contrast </a:t>
            </a:r>
            <a:r>
              <a:rPr lang="en-US" i="1" dirty="0"/>
              <a:t>interpretability</a:t>
            </a:r>
            <a:r>
              <a:rPr lang="en-US" dirty="0"/>
              <a:t> and </a:t>
            </a:r>
            <a:r>
              <a:rPr lang="en-US" i="1" dirty="0"/>
              <a:t>explainability </a:t>
            </a:r>
            <a:r>
              <a:rPr lang="en-US" dirty="0"/>
              <a:t>and provide examples</a:t>
            </a:r>
            <a:endParaRPr lang="en-US" i="1" dirty="0"/>
          </a:p>
          <a:p>
            <a:r>
              <a:rPr lang="en-US" dirty="0"/>
              <a:t>Calculate saliency maps and integrated gradients for simple examples</a:t>
            </a:r>
          </a:p>
          <a:p>
            <a:r>
              <a:rPr lang="en-US" dirty="0"/>
              <a:t>Understand integrated gradients axioms</a:t>
            </a:r>
          </a:p>
          <a:p>
            <a:r>
              <a:rPr lang="en-US" dirty="0"/>
              <a:t>Understand the idea of a “black box” model and why this might not be good</a:t>
            </a:r>
          </a:p>
        </p:txBody>
      </p:sp>
    </p:spTree>
    <p:extLst>
      <p:ext uri="{BB962C8B-B14F-4D97-AF65-F5344CB8AC3E}">
        <p14:creationId xmlns:p14="http://schemas.microsoft.com/office/powerpoint/2010/main" val="2902275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1593</Words>
  <Application>Microsoft Macintosh PowerPoint</Application>
  <PresentationFormat>Widescreen</PresentationFormat>
  <Paragraphs>208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Aptos Display</vt:lpstr>
      <vt:lpstr>Arial</vt:lpstr>
      <vt:lpstr>Office Theme</vt:lpstr>
      <vt:lpstr>Review session</vt:lpstr>
      <vt:lpstr>Overview of content on the final</vt:lpstr>
      <vt:lpstr>On concepts versus memorization</vt:lpstr>
      <vt:lpstr>Module 3</vt:lpstr>
      <vt:lpstr>Why and how to work with biomedical text</vt:lpstr>
      <vt:lpstr>Why and how to work with biomedical text</vt:lpstr>
      <vt:lpstr>Why and how to work with biomedical text</vt:lpstr>
      <vt:lpstr>Word and concept embeddings</vt:lpstr>
      <vt:lpstr>Word and concept embeddings</vt:lpstr>
      <vt:lpstr>Word and concept embeddings</vt:lpstr>
      <vt:lpstr>Attention and the Transformer</vt:lpstr>
      <vt:lpstr>Attention and the Transformer</vt:lpstr>
      <vt:lpstr>Attention and the Transformer</vt:lpstr>
      <vt:lpstr>Transformer architectures for text and EHR</vt:lpstr>
      <vt:lpstr>Transformer architectures for text and EHR</vt:lpstr>
      <vt:lpstr>Transformer architectures for text and EHR</vt:lpstr>
      <vt:lpstr>Modules 1-2</vt:lpstr>
      <vt:lpstr>Overview of Modules 1-2 content</vt:lpstr>
      <vt:lpstr>Intro to predictive AI and logistic regression</vt:lpstr>
      <vt:lpstr>Logistic regression: classification, or risk prediction?</vt:lpstr>
      <vt:lpstr>Intro to predictive AI and logistic regression</vt:lpstr>
      <vt:lpstr>Shallow and deep neural networks</vt:lpstr>
      <vt:lpstr>Shallow and deep neural networks</vt:lpstr>
      <vt:lpstr>Model learning via SGD</vt:lpstr>
      <vt:lpstr>Discrimination metrics</vt:lpstr>
      <vt:lpstr>Calibration, class balance, and fairness</vt:lpstr>
      <vt:lpstr>Intro to CNNs</vt:lpstr>
      <vt:lpstr>CNN architectures and transfer learning</vt:lpstr>
      <vt:lpstr>Data augmentation and contrastive learning</vt:lpstr>
      <vt:lpstr>Explainable AI 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Engelhard, M.D., Ph.D.</dc:creator>
  <cp:lastModifiedBy>Matthew Engelhard, M.D., Ph.D.</cp:lastModifiedBy>
  <cp:revision>7</cp:revision>
  <dcterms:created xsi:type="dcterms:W3CDTF">2026-04-08T16:42:21Z</dcterms:created>
  <dcterms:modified xsi:type="dcterms:W3CDTF">2026-04-08T19:01:33Z</dcterms:modified>
</cp:coreProperties>
</file>