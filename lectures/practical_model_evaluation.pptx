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4383" r:id="rId2"/>
    <p:sldId id="4374" r:id="rId3"/>
    <p:sldId id="4381" r:id="rId4"/>
    <p:sldId id="264" r:id="rId5"/>
    <p:sldId id="4366" r:id="rId6"/>
    <p:sldId id="259" r:id="rId7"/>
    <p:sldId id="4384" r:id="rId8"/>
    <p:sldId id="4392" r:id="rId9"/>
    <p:sldId id="914" r:id="rId10"/>
    <p:sldId id="4393" r:id="rId11"/>
    <p:sldId id="4369" r:id="rId12"/>
    <p:sldId id="4370" r:id="rId13"/>
    <p:sldId id="911" r:id="rId14"/>
    <p:sldId id="4394" r:id="rId15"/>
    <p:sldId id="913" r:id="rId16"/>
    <p:sldId id="888" r:id="rId17"/>
    <p:sldId id="880" r:id="rId18"/>
    <p:sldId id="910" r:id="rId19"/>
    <p:sldId id="4376" r:id="rId20"/>
    <p:sldId id="912" r:id="rId21"/>
    <p:sldId id="875" r:id="rId22"/>
    <p:sldId id="877" r:id="rId23"/>
    <p:sldId id="916" r:id="rId24"/>
    <p:sldId id="4396" r:id="rId25"/>
    <p:sldId id="892" r:id="rId26"/>
    <p:sldId id="893" r:id="rId27"/>
    <p:sldId id="894" r:id="rId28"/>
    <p:sldId id="900" r:id="rId29"/>
    <p:sldId id="4397" r:id="rId30"/>
    <p:sldId id="895" r:id="rId31"/>
    <p:sldId id="4398" r:id="rId32"/>
    <p:sldId id="897" r:id="rId33"/>
    <p:sldId id="4399" r:id="rId34"/>
    <p:sldId id="899" r:id="rId35"/>
    <p:sldId id="4402" r:id="rId36"/>
    <p:sldId id="857" r:id="rId37"/>
    <p:sldId id="858" r:id="rId38"/>
    <p:sldId id="859" r:id="rId39"/>
    <p:sldId id="258" r:id="rId40"/>
    <p:sldId id="257" r:id="rId41"/>
    <p:sldId id="4403" r:id="rId42"/>
    <p:sldId id="864" r:id="rId43"/>
    <p:sldId id="865" r:id="rId44"/>
    <p:sldId id="4382" r:id="rId45"/>
    <p:sldId id="263" r:id="rId46"/>
    <p:sldId id="904" r:id="rId47"/>
    <p:sldId id="266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5"/>
    <p:restoredTop sz="69247"/>
  </p:normalViewPr>
  <p:slideViewPr>
    <p:cSldViewPr snapToGrid="0">
      <p:cViewPr varScale="1">
        <p:scale>
          <a:sx n="86" d="100"/>
          <a:sy n="86" d="100"/>
        </p:scale>
        <p:origin x="2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C7283-15F6-FE49-AF23-03EB079BA0D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E0516-BAFC-0740-BE21-9E8CF9264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EA06F-F075-BF6C-34D4-FE65EEF53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A1881-0520-0974-81FA-E74E8282A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B2D6B-63F3-AC1D-80DE-92B24A782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Stimulate discussion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C246F-4E05-4FAF-E783-30DF1C767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36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want to understand how well it performs. What do you need to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51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this number mean?</a:t>
            </a:r>
          </a:p>
          <a:p>
            <a:r>
              <a:rPr lang="en-US" dirty="0"/>
              <a:t>Is this number high? Is it low?</a:t>
            </a:r>
          </a:p>
          <a:p>
            <a:endParaRPr lang="en-US" dirty="0"/>
          </a:p>
          <a:p>
            <a:r>
              <a:rPr lang="en-US" dirty="0"/>
              <a:t>Helpful to know how this compares to other patients…</a:t>
            </a:r>
          </a:p>
          <a:p>
            <a:r>
              <a:rPr lang="en-US" dirty="0"/>
              <a:t>- overall</a:t>
            </a:r>
          </a:p>
          <a:p>
            <a:r>
              <a:rPr lang="en-US" dirty="0"/>
              <a:t>- among patients meeting specific clinical criteria</a:t>
            </a:r>
          </a:p>
          <a:p>
            <a:r>
              <a:rPr lang="en-US" dirty="0"/>
              <a:t>- among patients in a particular demographic</a:t>
            </a:r>
          </a:p>
          <a:p>
            <a:endParaRPr lang="en-US" dirty="0"/>
          </a:p>
          <a:p>
            <a:r>
              <a:rPr lang="en-US" dirty="0"/>
              <a:t>You might… use the number to decide whether to take a certain action</a:t>
            </a:r>
          </a:p>
          <a:p>
            <a:r>
              <a:rPr lang="en-US" dirty="0"/>
              <a:t>You might… use the number to provide context around disease, or to set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73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some specific performance measures you’ve heard of?</a:t>
            </a:r>
          </a:p>
          <a:p>
            <a:r>
              <a:rPr lang="en-US" dirty="0"/>
              <a:t>Are those measures of discrimination, or calibration?</a:t>
            </a:r>
          </a:p>
          <a:p>
            <a:endParaRPr lang="en-US" dirty="0"/>
          </a:p>
          <a:p>
            <a:r>
              <a:rPr lang="en-US" dirty="0"/>
              <a:t>When or why might discrimination be important?</a:t>
            </a:r>
          </a:p>
          <a:p>
            <a:r>
              <a:rPr lang="en-US" dirty="0"/>
              <a:t>When or why might calibration be important?</a:t>
            </a:r>
          </a:p>
          <a:p>
            <a:endParaRPr lang="en-US" dirty="0"/>
          </a:p>
          <a:p>
            <a:r>
              <a:rPr lang="en-US" dirty="0"/>
              <a:t>Connect this back to the proposed uses from the report back.</a:t>
            </a:r>
          </a:p>
          <a:p>
            <a:r>
              <a:rPr lang="en-US" dirty="0"/>
              <a:t>(go through each proposed use and ask them whether discrimination versus calibration is more important)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9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Why don’t people like the AUC?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40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this point you might be wondering – so, what’s a *good* AUC value?</a:t>
            </a:r>
          </a:p>
          <a:p>
            <a:endParaRPr lang="en-US" dirty="0"/>
          </a:p>
          <a:p>
            <a:r>
              <a:rPr lang="en-US" dirty="0"/>
              <a:t>But we’re going to defer that question for a moment. Let’s start by thinking about what *bad* model performance would look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58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we arrive at our no information curve, where we can vary the threshold from 0 to 1 and always get both sensitivity and false positive rate equal to 1 minus the threshold.</a:t>
            </a:r>
          </a:p>
          <a:p>
            <a:r>
              <a:rPr lang="en-US" dirty="0"/>
              <a:t>And again, the area under this curve is 0.5.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So, now we’ve seen what BAD performance looks like – namely, a diagonal line running from bottom left to top right on the ROC curve, and a corresponding AUC of 0.5.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14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15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variations on this idea</a:t>
            </a:r>
          </a:p>
          <a:p>
            <a:pPr marL="171450" indent="-171450">
              <a:buFontTx/>
              <a:buChar char="-"/>
            </a:pPr>
            <a:r>
              <a:rPr lang="en-US" dirty="0"/>
              <a:t>GAN</a:t>
            </a:r>
          </a:p>
          <a:p>
            <a:pPr marL="171450" indent="-171450">
              <a:buFontTx/>
              <a:buChar char="-"/>
            </a:pPr>
            <a:r>
              <a:rPr lang="en-US" dirty="0"/>
              <a:t>ADDA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44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Generated samples match observed data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87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as we’ve discussed, we like to be agnostic to the particular decision threshold when quantifying model performance.</a:t>
            </a:r>
          </a:p>
          <a:p>
            <a:r>
              <a:rPr lang="en-US" dirty="0"/>
              <a:t>However, to actually use predictive models in decision-making, we typically need to pick a specific threshold</a:t>
            </a:r>
          </a:p>
          <a:p>
            <a:r>
              <a:rPr lang="en-US" dirty="0"/>
              <a:t>Our choice reflects the relative cost we place on false positives versus false negatives – in other words, how much we’re worried about missing cancer versus performing unnecessary testing or interventions.</a:t>
            </a:r>
          </a:p>
          <a:p>
            <a:r>
              <a:rPr lang="en-US" dirty="0"/>
              <a:t>And of course, this will depend on the scenario. Let’s run through a few hypotheticals.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78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you were specifying a decision threshold for a computer vision model that detects carcinoma.</a:t>
            </a:r>
          </a:p>
          <a:p>
            <a:r>
              <a:rPr lang="en-US" dirty="0"/>
              <a:t>Would you be more worried about missing cancer, and therefore pick a high sensitivity threshold, or would you be more worried about unnecessary tests or intervention, and therefore pick a high specificity threshold?</a:t>
            </a:r>
          </a:p>
          <a:p>
            <a:r>
              <a:rPr lang="en-US" dirty="0"/>
              <a:t>There’s no right answer here – in reality, you’d need to understand the clinical scenario in much more detail to make this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29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Supposing you were more worried about missing cancer, you might pick a high sensitivity operating point like the one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03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an important complement to the ROC curve, therefore, we often also want to plot a precision-recall curve – in other words, a sensitivity versus PPV curve. </a:t>
            </a:r>
          </a:p>
          <a:p>
            <a:r>
              <a:rPr lang="en-US" dirty="0"/>
              <a:t>The principles are very similar to the ROC curve. If we place our threshold near 1, we catch very few cases, therefore our sensitivity is near 0; however, our PPV is high.</a:t>
            </a:r>
          </a:p>
          <a:p>
            <a:r>
              <a:rPr lang="en-US" dirty="0"/>
              <a:t>On the other hand, if we place our threshold near 0, we’re predicting that every case is positive, therefore our positive predictive value – in other words, the rate at which we observe positive cases among our predicted positive cases -- is equal to the prevalence.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90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can see our high sensitivity operating point on the precision-recall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41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suppose you were specifying a decision threshold for an algorithm that detects atrial fibrillation in Apple Watch users.</a:t>
            </a:r>
          </a:p>
          <a:p>
            <a:r>
              <a:rPr lang="en-US" dirty="0"/>
              <a:t>Apple is understandably very concerned about raising too many false alarms given the large number of individuals that wear an Apple watch, therefore they are likely to pick a high specificity threshold…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089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our high </a:t>
            </a:r>
            <a:r>
              <a:rPr lang="en-US" dirty="0" err="1"/>
              <a:t>specificitiy</a:t>
            </a:r>
            <a:r>
              <a:rPr lang="en-US" dirty="0"/>
              <a:t> operating point on the precision-recall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94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 research, I consider EHR-based predictive models that monitor autism risk from a young age.</a:t>
            </a:r>
          </a:p>
          <a:p>
            <a:r>
              <a:rPr lang="en-US" dirty="0"/>
              <a:t>We are trying to identify as many children as possible as early as possible, but at the same time, there’s already a long waiting list to see a specialist, and if we create too many false alarms, we’re going to overburden the system and end up delaying diagnosis for *everyone*.</a:t>
            </a:r>
          </a:p>
          <a:p>
            <a:r>
              <a:rPr lang="en-US" dirty="0"/>
              <a:t>Therefore we may end up choosing a “balanced” operating point that prioritizes specificity and sensitivity about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8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finally, here’s our balanced operating point. Please take a moment to think carefully about these curves and the relationships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633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particularly for rare events, it often makes most sense to focus on positive or negative predictive value rather than sensitivity or specificity.</a:t>
            </a:r>
          </a:p>
          <a:p>
            <a:r>
              <a:rPr lang="en-US" dirty="0"/>
              <a:t>The PPV and NPV are often more directly relevant to decision-making, because they tell us what we can expect in terms of the true outcome after seeing a positive or negative result, respectively.</a:t>
            </a:r>
          </a:p>
          <a:p>
            <a:r>
              <a:rPr lang="en-US" dirty="0"/>
              <a:t>And we also know that for rare events, PPV can be low even when specificity is relatively high, because there are many more negative cases than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91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in everything we’ve discussed so far, we’re thinking about binary problems – we’re distinguishing positive cases from negative cases</a:t>
            </a:r>
          </a:p>
          <a:p>
            <a:r>
              <a:rPr lang="en-US" dirty="0"/>
              <a:t>But in this course, we’ll also be considering multi-class problems, in which we’re predicting which of several labels corresponds to our patient, or case</a:t>
            </a:r>
          </a:p>
          <a:p>
            <a:endParaRPr lang="en-US" dirty="0"/>
          </a:p>
          <a:p>
            <a:r>
              <a:rPr lang="en-US" dirty="0"/>
              <a:t>For example, we might predict that a skin lesion is cancerous or benign – this is binary – but alternatively, we might predict what kind of lesion it is – a carcinoma, actinic keratosis, melanoma, and so on</a:t>
            </a:r>
          </a:p>
          <a:p>
            <a:endParaRPr lang="en-US" dirty="0"/>
          </a:p>
          <a:p>
            <a:r>
              <a:rPr lang="en-US" dirty="0"/>
              <a:t>In these problems, instead of a 2 by 2 ”confusion matrix” of TPs, FPs, TNs, and FNs, we instead have an N x N matrix, where N is the number of classes. We can think of this as a cross-tabulation between the true labels and predicted labels. In the top left corner, we have a count of cases for which the true label was the first label –and the predicted label was also the first label. Along the same lines, the box in the 2</a:t>
            </a:r>
            <a:r>
              <a:rPr lang="en-US" baseline="30000" dirty="0"/>
              <a:t>nd</a:t>
            </a:r>
            <a:r>
              <a:rPr lang="en-US" dirty="0"/>
              <a:t> row, 3</a:t>
            </a:r>
            <a:r>
              <a:rPr lang="en-US" baseline="30000" dirty="0"/>
              <a:t>rd</a:t>
            </a:r>
            <a:r>
              <a:rPr lang="en-US" dirty="0"/>
              <a:t> column tells us how many cases there were where the true label was the second label, but our model predicted the third label.</a:t>
            </a:r>
          </a:p>
          <a:p>
            <a:endParaRPr lang="en-US" dirty="0"/>
          </a:p>
          <a:p>
            <a:r>
              <a:rPr lang="en-US" dirty="0"/>
              <a:t>One metric we can calculate directly from this matrix is the accuracy – this is simply the number of correct predictions over the number of total predictions – in other words, the sum of the blue boxes divided by the sum of all boxes</a:t>
            </a:r>
          </a:p>
          <a:p>
            <a:r>
              <a:rPr lang="en-US" dirty="0"/>
              <a:t>However, it’s not obvious how all the metrics we’ve discussed previously, which are quite useful, can be applied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6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approach – really the only approach that is common – is to instead go back to binary prediction for each of the labels of interest.</a:t>
            </a:r>
          </a:p>
          <a:p>
            <a:r>
              <a:rPr lang="en-US" dirty="0"/>
              <a:t>We can consider only the first label, for example. Each patient, or case, is labeled either with that label, or with some other label; and similarly, the model either predicts that label, or it predicts some other label.</a:t>
            </a:r>
          </a:p>
          <a:p>
            <a:endParaRPr lang="en-US" dirty="0"/>
          </a:p>
          <a:p>
            <a:r>
              <a:rPr lang="en-US" dirty="0"/>
              <a:t>If the true label is the first label, and the model also predicts the first label, that’s a true positive; whereas if the model predicts a different label, that’s a false negative.</a:t>
            </a:r>
          </a:p>
          <a:p>
            <a:r>
              <a:rPr lang="en-US" dirty="0"/>
              <a:t>And if the true label </a:t>
            </a:r>
            <a:r>
              <a:rPr lang="en-US" i="1" dirty="0"/>
              <a:t>isn’t</a:t>
            </a:r>
            <a:r>
              <a:rPr lang="en-US" i="0" dirty="0"/>
              <a:t> the first label, and the model predicts the first label, that’s a false positive; whereas if the model predicts a different label, that’s a true negative.</a:t>
            </a:r>
          </a:p>
          <a:p>
            <a:endParaRPr lang="en-US" i="0" dirty="0"/>
          </a:p>
          <a:p>
            <a:r>
              <a:rPr lang="en-US" i="0" dirty="0"/>
              <a:t>We can then look at all our earlier metrics – sensitivity, specificity, </a:t>
            </a:r>
            <a:r>
              <a:rPr lang="en-US" i="0" dirty="0" err="1"/>
              <a:t>etc</a:t>
            </a:r>
            <a:r>
              <a:rPr lang="en-US" i="0" dirty="0"/>
              <a:t> – with respect to the binary prediction task defined by the first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328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And, in exactly the same way, we can define all these metrics with respect to any of the other labels.</a:t>
            </a:r>
          </a:p>
          <a:p>
            <a:r>
              <a:rPr lang="en-US" dirty="0"/>
              <a:t>Sometimes, we might even consider the average of these metrics across all these binary tasks – a mean precision, for example, not to be confused with the average precision, which is an approximation to the area under the precision-recall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432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Joel – flesh out (a) clinical picture, and (b) what is the relevant patient population</a:t>
            </a:r>
          </a:p>
          <a:p>
            <a:endParaRPr lang="en-US" dirty="0"/>
          </a:p>
          <a:p>
            <a:r>
              <a:rPr lang="en-US" dirty="0"/>
              <a:t>Costs/benefits to different stakeholders</a:t>
            </a:r>
          </a:p>
          <a:p>
            <a:r>
              <a:rPr lang="en-US" dirty="0"/>
              <a:t>- patient</a:t>
            </a:r>
          </a:p>
          <a:p>
            <a:r>
              <a:rPr lang="en-US" dirty="0"/>
              <a:t>- hospital</a:t>
            </a:r>
          </a:p>
          <a:p>
            <a:r>
              <a:rPr lang="en-US" dirty="0"/>
              <a:t>- payor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21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answer this you must weigh cost vs benefit</a:t>
            </a:r>
          </a:p>
          <a:p>
            <a:r>
              <a:rPr lang="en-US" dirty="0"/>
              <a:t>(have to put them on the same scale; difficult/impossible to do)</a:t>
            </a:r>
          </a:p>
          <a:p>
            <a:r>
              <a:rPr lang="en-US" dirty="0"/>
              <a:t>(however, your decision reflects your preferences…)</a:t>
            </a:r>
          </a:p>
          <a:p>
            <a:endParaRPr lang="en-US" dirty="0"/>
          </a:p>
          <a:p>
            <a:r>
              <a:rPr lang="en-US" dirty="0"/>
              <a:t>- costs associated with referral</a:t>
            </a:r>
          </a:p>
          <a:p>
            <a:pPr marL="171450" indent="-171450">
              <a:buFont typeface="Wingdings" pitchFamily="2" charset="2"/>
              <a:buChar char="n"/>
            </a:pPr>
            <a:r>
              <a:rPr lang="en-US" dirty="0"/>
              <a:t>To the hospital</a:t>
            </a:r>
          </a:p>
          <a:p>
            <a:pPr marL="171450" indent="-171450">
              <a:buFont typeface="Wingdings" pitchFamily="2" charset="2"/>
              <a:buChar char="n"/>
            </a:pPr>
            <a:r>
              <a:rPr lang="en-US" dirty="0"/>
              <a:t>To the patient</a:t>
            </a:r>
          </a:p>
          <a:p>
            <a:pPr marL="171450" indent="-171450">
              <a:buFont typeface="Wingdings" pitchFamily="2" charset="2"/>
              <a:buChar char="n"/>
            </a:pP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- in general, could be costs associated with intervention and/or unnecessary care</a:t>
            </a:r>
          </a:p>
          <a:p>
            <a:pPr marL="171450" indent="-171450">
              <a:buFont typeface="Wingdings" pitchFamily="2" charset="2"/>
              <a:buChar char="n"/>
            </a:pPr>
            <a:r>
              <a:rPr lang="en-US" dirty="0"/>
              <a:t>Side effects</a:t>
            </a:r>
          </a:p>
          <a:p>
            <a:pPr marL="171450" indent="-171450">
              <a:buFont typeface="Wingdings" pitchFamily="2" charset="2"/>
              <a:buChar char="n"/>
            </a:pP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- benefits of referral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If risk is 10%, expected cost/benefit is 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20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64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to give you a sense of what a more typical calibration plot might look like, here’s an example from the scikit-learn documentation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Model whose predicted probabilities are too large (i.e. model-predicted risk &gt; empirical risk): under the line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 whose predicted probabilities are too small (i.e. model-predicted risk &lt; empirical risk): over the line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 that is ”overconfident”, meaning its predictions are too extreme (don’t have this)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 that is “underconfident”, meaning its predictions are not extreme enough (GREEN)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BF740-D535-F744-89A8-4E42B3D6BD3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325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F009F-739E-BCEB-1184-1C56E3C2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07356-0F98-B8A7-5BD0-556D79F5A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C6C45-114B-FA4D-6BF8-3D9AD2576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Stimulate discussion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10282-2DE3-1799-6E0B-71EBF5E35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509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(young patient with some weird findings)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setup here would be for possible membranous glomerulonephritis.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57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what might it know that you don’t?</a:t>
            </a:r>
          </a:p>
          <a:p>
            <a:r>
              <a:rPr lang="en-US" dirty="0"/>
              <a:t>Common to have too much confidence in the model!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4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this?</a:t>
            </a:r>
          </a:p>
          <a:p>
            <a:r>
              <a:rPr lang="en-US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“a systematic effort to ensure that front-line clinicians know how, when, how not, and when not to incorporate model output into clinical decisions”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Things to highlight here:</a:t>
            </a:r>
          </a:p>
          <a:p>
            <a:endParaRPr lang="en-US" dirty="0"/>
          </a:p>
          <a:p>
            <a:r>
              <a:rPr lang="en-US" dirty="0"/>
              <a:t>SETTING:</a:t>
            </a:r>
          </a:p>
          <a:p>
            <a:r>
              <a:rPr lang="en-US" dirty="0"/>
              <a:t>- target and training populations: both DUHS; don’t use elsewhere</a:t>
            </a:r>
          </a:p>
          <a:p>
            <a:r>
              <a:rPr lang="en-US" dirty="0"/>
              <a:t>- *presenting to ED*; NOT appropriate for ICU patients</a:t>
            </a:r>
          </a:p>
          <a:p>
            <a:r>
              <a:rPr lang="en-US" dirty="0"/>
              <a:t>- not appropriate beyond first episode of sepsis</a:t>
            </a:r>
          </a:p>
          <a:p>
            <a:endParaRPr lang="en-US" dirty="0"/>
          </a:p>
          <a:p>
            <a:r>
              <a:rPr lang="en-US" dirty="0"/>
              <a:t>TIMING:</a:t>
            </a:r>
          </a:p>
          <a:p>
            <a:r>
              <a:rPr lang="en-US" dirty="0"/>
              <a:t>- hourly EHR data pulls</a:t>
            </a:r>
          </a:p>
          <a:p>
            <a:r>
              <a:rPr lang="en-US" dirty="0"/>
              <a:t>- time of prediction</a:t>
            </a:r>
          </a:p>
          <a:p>
            <a:r>
              <a:rPr lang="en-US" dirty="0"/>
              <a:t>- input data source and type</a:t>
            </a:r>
          </a:p>
          <a:p>
            <a:endParaRPr lang="en-US" dirty="0"/>
          </a:p>
          <a:p>
            <a:r>
              <a:rPr lang="en-US" dirty="0"/>
              <a:t>APPLICATION:</a:t>
            </a:r>
          </a:p>
          <a:p>
            <a:r>
              <a:rPr lang="en-US" dirty="0"/>
              <a:t>- not diagnostic</a:t>
            </a:r>
          </a:p>
          <a:p>
            <a:r>
              <a:rPr lang="en-US" dirty="0"/>
              <a:t>- identify patients for further assessment</a:t>
            </a:r>
          </a:p>
          <a:p>
            <a:endParaRPr lang="en-US" dirty="0"/>
          </a:p>
          <a:p>
            <a:r>
              <a:rPr lang="en-US" dirty="0"/>
              <a:t>Performance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E0516-BAFC-0740-BE21-9E8CF9264E1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4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3C78-0BA0-83B0-B336-BB47644E6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9DBE6-8053-C500-6802-7E588D13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BF789-B40E-7CD3-A52D-CBA21B76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16FF-607C-B517-A7C3-73B9400A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D7CA6-EC03-6812-5458-773A1BC3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2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809B-AFA5-2839-C422-F8F95912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FCE8-743C-4464-B2AB-555CCF3BB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974B4-C60B-4567-D00F-C0407828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640B-10DC-CBD0-AAE7-75281FBE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AFD2-3DA6-8F74-5EDD-85FB4383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8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FCA1-EBD4-A4A1-5DCD-C3BB4451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15440-CB21-3401-C347-007EE2F51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DD547-C0D2-915E-6857-39A0D272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18E4F-F4D0-4B61-BEC9-BC116E26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A0647-C7BA-A679-9082-B3740470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1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3F13-0462-B502-8B2F-006601A1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9AA5-2CAD-D467-8BA9-6C6621F60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4AAD0-38DC-1A60-F93C-BBF881706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C65E1-3D2C-8690-7C60-AD79F969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CBFCA-6245-D959-56E8-125C7040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F308E-A0D9-3A89-A36D-355CDBBC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6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AE67-985B-95EE-BC25-55076744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24E53-AE19-4EA9-8FD3-8968D15CF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C1B10-8D5C-A9C3-BF53-9FE2D59EA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DBEA5-BF96-1B2A-E306-CC5B46334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51EAA-B241-A872-7E41-24603C3A6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805F-844D-CE3B-AB1A-E357452E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782F5-500A-5F95-8C53-B34F340C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A1107C-9CEA-7E83-6A04-B1723E69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7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8E3D-DCBE-3FCD-FB17-3AB4E117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559E8-5A6A-6C63-0361-1666960B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AA1CE-6FE3-2C0D-AD18-3C69C92D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4C69D-2891-E01E-179C-06417188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07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35FBE-9395-FF6C-BBB5-2ED70637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8339F-8BD9-2F67-7513-329088A4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0DD97-8E81-8BA5-DB07-5A5C23F0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4A85-0830-B3CF-D6CE-779CC0F9A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37A03-67AB-F956-BAFE-086B9B09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A8EC5-924B-9DC7-EEBC-0D4868B4A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3503C-DE6F-826C-DADA-86ED1C47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6784E-F42B-923C-53B5-FDFA45D24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A0999-5131-1AEE-6649-C542CC3E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0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3512-B90B-B848-3D16-4F7B4817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191C7-D3B1-DBF4-51AB-A5A699F4A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B4850-E3AB-D61D-2A55-DF8413DBE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829B5-4A5E-76EC-D661-F716A9AB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7375C-6B98-57BF-E409-C97693EB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27D09-1206-C533-1511-6AC55D35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4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2EF1-F68B-9FBB-06F7-4BFDFF1F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F4B3A-7837-50F0-F3A3-B6D9A3548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249AC-590F-EFC4-FAA2-C2DE12BD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9810C-2228-3F5A-5F95-7B30CCB9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66667-CA68-07F0-661E-C1853959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2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6658B-E12C-3CD3-4A23-79228E004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0786A-F980-853A-E6FB-18DE8A602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0717C-B149-CDB5-EE86-1D5A166A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4F5A0-2AC2-107E-AC5B-694ACC44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BE035-C36A-E729-CA02-BE3B0E5E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5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335D0-5D85-0B5B-D168-70143EF8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1444A-DA08-42D0-49C3-1B7406110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093E-E259-284B-6658-5D25582CE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05AA0-92B9-5146-9488-F22FA8DF2CCD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68A18-AADD-3D12-948A-0C26F5027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69CDC-75CD-74A5-0A1C-5FC0292AB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ADBA9-20AE-6D42-963B-9B809D3A8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5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08C1-FFFA-52C8-742A-74FBE7C960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Practical Predictive AI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66772-68F5-032E-5B84-33C7F5372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Matt Engelhard</a:t>
            </a:r>
          </a:p>
          <a:p>
            <a:r>
              <a:rPr lang="en-US" dirty="0"/>
              <a:t>Duke B&amp;B</a:t>
            </a:r>
          </a:p>
        </p:txBody>
      </p:sp>
    </p:spTree>
    <p:extLst>
      <p:ext uri="{BB962C8B-B14F-4D97-AF65-F5344CB8AC3E}">
        <p14:creationId xmlns:p14="http://schemas.microsoft.com/office/powerpoint/2010/main" val="372463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FCEA-06A2-2943-FFD5-31D1B5BB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B0960-185D-B17E-BCD2-1D62C98E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We’ll discuss important considerations relevant to evaluating AI tools and making sense of their predictions in clinical/healthcare practice:</a:t>
            </a:r>
          </a:p>
          <a:p>
            <a:pPr marL="0" indent="0">
              <a:buNone/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How might we use AI-based predictions, and what performance metrics are relevant to each use case?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Discrimination metrics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Calibration metrics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What information about the model do we need to know to use it responsibly?</a:t>
            </a:r>
          </a:p>
        </p:txBody>
      </p:sp>
    </p:spTree>
    <p:extLst>
      <p:ext uri="{BB962C8B-B14F-4D97-AF65-F5344CB8AC3E}">
        <p14:creationId xmlns:p14="http://schemas.microsoft.com/office/powerpoint/2010/main" val="209078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518C-E659-C7C1-1931-99744615A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0BFFF-F12B-F348-5F82-7DB34F17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3464D-4412-F2EA-F2FA-15266B14C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and associated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81682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0943-54E9-A9BF-9397-E12DE24A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Stage IV Risk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9A904-BE43-A79C-305B-8A667EA0E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Some of your colleagues have implemented a new prediction model that aims to prevent or delay kidney failure by predicting 2-year risk of progression to stage IV CKD.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model is based on electronic health record data, including diagnosis and procedure codes, medications, labs, and vitals; as well as social determinants of health.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think the model sounds promising and start thinking about ways you might use it in practice.</a:t>
            </a:r>
          </a:p>
        </p:txBody>
      </p:sp>
    </p:spTree>
    <p:extLst>
      <p:ext uri="{BB962C8B-B14F-4D97-AF65-F5344CB8AC3E}">
        <p14:creationId xmlns:p14="http://schemas.microsoft.com/office/powerpoint/2010/main" val="265662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5330-9940-3878-E781-54F16116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Prediction: Probability of a Binary Outcome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9C371-8A4F-B571-7B31-74B1DAD97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27355"/>
            <a:ext cx="6489183" cy="41399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497CBA6-BC9F-81D8-2788-2A4A797F4F2A}"/>
              </a:ext>
            </a:extLst>
          </p:cNvPr>
          <p:cNvSpPr txBox="1">
            <a:spLocks/>
          </p:cNvSpPr>
          <p:nvPr/>
        </p:nvSpPr>
        <p:spPr>
          <a:xfrm>
            <a:off x="8304901" y="1798868"/>
            <a:ext cx="2824779" cy="830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11%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C4880-8BD2-F3A8-6716-562B25F00A77}"/>
              </a:ext>
            </a:extLst>
          </p:cNvPr>
          <p:cNvSpPr txBox="1"/>
          <p:nvPr/>
        </p:nvSpPr>
        <p:spPr>
          <a:xfrm>
            <a:off x="8254249" y="2809467"/>
            <a:ext cx="2926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Probability of Stage IV CKD within two years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561C4-4177-5BFE-403B-B3D504FC60B8}"/>
              </a:ext>
            </a:extLst>
          </p:cNvPr>
          <p:cNvSpPr txBox="1"/>
          <p:nvPr/>
        </p:nvSpPr>
        <p:spPr>
          <a:xfrm>
            <a:off x="8136139" y="3890677"/>
            <a:ext cx="31623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Report Back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might you use this number in clinical practice (be specific)?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performance metrics are relevant to this way of using the prediction?</a:t>
            </a:r>
          </a:p>
        </p:txBody>
      </p:sp>
    </p:spTree>
    <p:extLst>
      <p:ext uri="{BB962C8B-B14F-4D97-AF65-F5344CB8AC3E}">
        <p14:creationId xmlns:p14="http://schemas.microsoft.com/office/powerpoint/2010/main" val="261769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E457-7DEB-0C39-9ED2-9CA177106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Discrimination 		vs 		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C9BD-4812-84F3-E09D-22B94A05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975" y="5491594"/>
            <a:ext cx="4080640" cy="919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identify individuals who will progress?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789536-E1CD-DDF1-EAE4-85609CFF52D2}"/>
              </a:ext>
            </a:extLst>
          </p:cNvPr>
          <p:cNvCxnSpPr>
            <a:cxnSpLocks/>
          </p:cNvCxnSpPr>
          <p:nvPr/>
        </p:nvCxnSpPr>
        <p:spPr>
          <a:xfrm>
            <a:off x="6816439" y="4735224"/>
            <a:ext cx="3657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AE965D-164D-C077-0404-B6FC31567C7D}"/>
              </a:ext>
            </a:extLst>
          </p:cNvPr>
          <p:cNvCxnSpPr>
            <a:cxnSpLocks/>
          </p:cNvCxnSpPr>
          <p:nvPr/>
        </p:nvCxnSpPr>
        <p:spPr>
          <a:xfrm flipV="1">
            <a:off x="6968839" y="1690688"/>
            <a:ext cx="0" cy="3196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88CF9A-5819-32DB-7594-513E09277DD3}"/>
              </a:ext>
            </a:extLst>
          </p:cNvPr>
          <p:cNvCxnSpPr>
            <a:cxnSpLocks/>
          </p:cNvCxnSpPr>
          <p:nvPr/>
        </p:nvCxnSpPr>
        <p:spPr>
          <a:xfrm>
            <a:off x="1077193" y="3970193"/>
            <a:ext cx="3657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4D96882-9344-D608-F77B-E72A4C2CAEEF}"/>
              </a:ext>
            </a:extLst>
          </p:cNvPr>
          <p:cNvSpPr/>
          <p:nvPr/>
        </p:nvSpPr>
        <p:spPr>
          <a:xfrm>
            <a:off x="1257299" y="3809134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CE90AE-2232-F3D8-6710-BA110E195BBF}"/>
              </a:ext>
            </a:extLst>
          </p:cNvPr>
          <p:cNvSpPr/>
          <p:nvPr/>
        </p:nvSpPr>
        <p:spPr>
          <a:xfrm>
            <a:off x="1717960" y="3809134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AB5C70-6E28-AE75-67BA-E4DCF6909CA2}"/>
              </a:ext>
            </a:extLst>
          </p:cNvPr>
          <p:cNvSpPr/>
          <p:nvPr/>
        </p:nvSpPr>
        <p:spPr>
          <a:xfrm>
            <a:off x="3288719" y="3809134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069A13-0924-36B9-6BBE-DB458ACF22D2}"/>
              </a:ext>
            </a:extLst>
          </p:cNvPr>
          <p:cNvSpPr/>
          <p:nvPr/>
        </p:nvSpPr>
        <p:spPr>
          <a:xfrm>
            <a:off x="7268440" y="3984050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505249-1BBE-AD32-4F8B-859EBEFBEDC6}"/>
              </a:ext>
            </a:extLst>
          </p:cNvPr>
          <p:cNvSpPr/>
          <p:nvPr/>
        </p:nvSpPr>
        <p:spPr>
          <a:xfrm>
            <a:off x="7710057" y="4053971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318E0F-0C9E-28CB-B1AE-0F30B959D67A}"/>
              </a:ext>
            </a:extLst>
          </p:cNvPr>
          <p:cNvSpPr/>
          <p:nvPr/>
        </p:nvSpPr>
        <p:spPr>
          <a:xfrm>
            <a:off x="9000260" y="2729778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D7A7FBF-FEE4-A91C-900B-29D2049DB4FC}"/>
              </a:ext>
            </a:extLst>
          </p:cNvPr>
          <p:cNvSpPr/>
          <p:nvPr/>
        </p:nvSpPr>
        <p:spPr>
          <a:xfrm>
            <a:off x="2620236" y="3804804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3F5FEA-A467-D023-1FD6-EE5BFC02ACF2}"/>
              </a:ext>
            </a:extLst>
          </p:cNvPr>
          <p:cNvSpPr/>
          <p:nvPr/>
        </p:nvSpPr>
        <p:spPr>
          <a:xfrm>
            <a:off x="4067168" y="380134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F697EC-FBF8-908D-ADA7-FB67CEF7A4F9}"/>
              </a:ext>
            </a:extLst>
          </p:cNvPr>
          <p:cNvSpPr/>
          <p:nvPr/>
        </p:nvSpPr>
        <p:spPr>
          <a:xfrm>
            <a:off x="9757922" y="188811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F1BC349-E32E-5C99-7CDE-1082DD228D1D}"/>
              </a:ext>
            </a:extLst>
          </p:cNvPr>
          <p:cNvSpPr/>
          <p:nvPr/>
        </p:nvSpPr>
        <p:spPr>
          <a:xfrm>
            <a:off x="8399320" y="288477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FA16FE1-3A76-8123-1332-64BFDE3E0631}"/>
              </a:ext>
            </a:extLst>
          </p:cNvPr>
          <p:cNvSpPr/>
          <p:nvPr/>
        </p:nvSpPr>
        <p:spPr>
          <a:xfrm>
            <a:off x="1703232" y="2018003"/>
            <a:ext cx="322119" cy="322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471E7EC-3201-AC47-8CB3-DE37B7D24A03}"/>
              </a:ext>
            </a:extLst>
          </p:cNvPr>
          <p:cNvSpPr/>
          <p:nvPr/>
        </p:nvSpPr>
        <p:spPr>
          <a:xfrm>
            <a:off x="1703232" y="2451395"/>
            <a:ext cx="322119" cy="32211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681A9D-62C8-3636-8E74-5E35F1AB8D22}"/>
              </a:ext>
            </a:extLst>
          </p:cNvPr>
          <p:cNvSpPr txBox="1"/>
          <p:nvPr/>
        </p:nvSpPr>
        <p:spPr>
          <a:xfrm>
            <a:off x="2024721" y="2422792"/>
            <a:ext cx="2258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Progressed to stage IV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CBD4C6-5482-DC03-BE07-EE0BA7B346B3}"/>
              </a:ext>
            </a:extLst>
          </p:cNvPr>
          <p:cNvSpPr txBox="1"/>
          <p:nvPr/>
        </p:nvSpPr>
        <p:spPr>
          <a:xfrm>
            <a:off x="2024721" y="2027917"/>
            <a:ext cx="17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Did not progress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F96A98-EBF3-B20B-E0DC-802C737E1858}"/>
              </a:ext>
            </a:extLst>
          </p:cNvPr>
          <p:cNvSpPr/>
          <p:nvPr/>
        </p:nvSpPr>
        <p:spPr>
          <a:xfrm>
            <a:off x="1542173" y="1873182"/>
            <a:ext cx="2741243" cy="103909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4D0032-1DB3-4600-4766-E441D8CAE050}"/>
              </a:ext>
            </a:extLst>
          </p:cNvPr>
          <p:cNvSpPr txBox="1"/>
          <p:nvPr/>
        </p:nvSpPr>
        <p:spPr>
          <a:xfrm>
            <a:off x="2137123" y="4409211"/>
            <a:ext cx="1504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Risk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5ACDBE-D3FF-13E2-48BC-76E8697CCE23}"/>
              </a:ext>
            </a:extLst>
          </p:cNvPr>
          <p:cNvSpPr txBox="1"/>
          <p:nvPr/>
        </p:nvSpPr>
        <p:spPr>
          <a:xfrm>
            <a:off x="7969021" y="4887624"/>
            <a:ext cx="1504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Predicted Risk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193223-FB44-7949-C34C-B353D22D33F3}"/>
              </a:ext>
            </a:extLst>
          </p:cNvPr>
          <p:cNvSpPr txBox="1"/>
          <p:nvPr/>
        </p:nvSpPr>
        <p:spPr>
          <a:xfrm rot="16200000">
            <a:off x="6122856" y="3022227"/>
            <a:ext cx="1024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 Risk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6BA301-E72D-3BA8-105E-654761EA4F59}"/>
              </a:ext>
            </a:extLst>
          </p:cNvPr>
          <p:cNvCxnSpPr/>
          <p:nvPr/>
        </p:nvCxnSpPr>
        <p:spPr>
          <a:xfrm flipV="1">
            <a:off x="6968839" y="1797627"/>
            <a:ext cx="3276597" cy="293759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8222C4-2AD8-11B2-11B8-8F52443472AC}"/>
              </a:ext>
            </a:extLst>
          </p:cNvPr>
          <p:cNvCxnSpPr>
            <a:cxnSpLocks/>
          </p:cNvCxnSpPr>
          <p:nvPr/>
        </p:nvCxnSpPr>
        <p:spPr>
          <a:xfrm flipH="1">
            <a:off x="8995164" y="4142921"/>
            <a:ext cx="264718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3A4F0EE-DF61-35C0-7A61-E29E004205F6}"/>
              </a:ext>
            </a:extLst>
          </p:cNvPr>
          <p:cNvSpPr txBox="1"/>
          <p:nvPr/>
        </p:nvSpPr>
        <p:spPr>
          <a:xfrm>
            <a:off x="9388727" y="3958039"/>
            <a:ext cx="189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Perfect calibration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BD8E4E-7639-A02C-FF7E-483A19B44704}"/>
              </a:ext>
            </a:extLst>
          </p:cNvPr>
          <p:cNvSpPr/>
          <p:nvPr/>
        </p:nvSpPr>
        <p:spPr>
          <a:xfrm>
            <a:off x="8871227" y="3887498"/>
            <a:ext cx="2411032" cy="48858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82FE5A-565C-A98B-116F-834452615F2C}"/>
              </a:ext>
            </a:extLst>
          </p:cNvPr>
          <p:cNvSpPr txBox="1">
            <a:spLocks/>
          </p:cNvSpPr>
          <p:nvPr/>
        </p:nvSpPr>
        <p:spPr>
          <a:xfrm>
            <a:off x="6954844" y="5491594"/>
            <a:ext cx="4080640" cy="919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Are our predicted probabilities accurate?</a:t>
            </a:r>
          </a:p>
        </p:txBody>
      </p:sp>
    </p:spTree>
    <p:extLst>
      <p:ext uri="{BB962C8B-B14F-4D97-AF65-F5344CB8AC3E}">
        <p14:creationId xmlns:p14="http://schemas.microsoft.com/office/powerpoint/2010/main" val="237753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 animBg="1"/>
      <p:bldP spid="32" grpId="0"/>
      <p:bldP spid="33" grpId="0"/>
      <p:bldP spid="34" grpId="0"/>
      <p:bldP spid="41" grpId="0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F7D6-758F-4B2C-4F4F-08CB7D52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model discrimination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43871-A855-5E45-9A0F-563AD51AA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Sensitivity, specificity, PPV, NPV (threshold-based)</a:t>
            </a:r>
          </a:p>
          <a:p>
            <a:r>
              <a:rPr lang="en-US" dirty="0"/>
              <a:t>AUC, AUPRC (threshold-agnostic)</a:t>
            </a:r>
          </a:p>
        </p:txBody>
      </p:sp>
    </p:spTree>
    <p:extLst>
      <p:ext uri="{BB962C8B-B14F-4D97-AF65-F5344CB8AC3E}">
        <p14:creationId xmlns:p14="http://schemas.microsoft.com/office/powerpoint/2010/main" val="886773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CEAAF-7263-2FB3-9C84-56622776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6276-F42B-F086-1267-8E3E83AF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</p:spTree>
    <p:extLst>
      <p:ext uri="{BB962C8B-B14F-4D97-AF65-F5344CB8AC3E}">
        <p14:creationId xmlns:p14="http://schemas.microsoft.com/office/powerpoint/2010/main" val="117248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AA8D-1839-6C81-B610-4A96D2FD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E07CD5-F8A5-F70D-7606-A537E4A46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740" y="1901012"/>
            <a:ext cx="6940138" cy="4795618"/>
          </a:xfrm>
        </p:spPr>
      </p:pic>
    </p:spTree>
    <p:extLst>
      <p:ext uri="{BB962C8B-B14F-4D97-AF65-F5344CB8AC3E}">
        <p14:creationId xmlns:p14="http://schemas.microsoft.com/office/powerpoint/2010/main" val="176436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249C3-A13C-C866-30DF-0442F699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B6AD-06FF-3A7A-335F-FAC8F240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869B3B-F181-F7EB-B41B-CA91DD1B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740" y="1901012"/>
            <a:ext cx="6940138" cy="4795618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7FE7D2-2EA8-5161-B352-CFA186E5B78E}"/>
              </a:ext>
            </a:extLst>
          </p:cNvPr>
          <p:cNvSpPr/>
          <p:nvPr/>
        </p:nvSpPr>
        <p:spPr>
          <a:xfrm>
            <a:off x="6472052" y="2208810"/>
            <a:ext cx="2683823" cy="3942608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Predict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4C2D9E-2200-147F-4789-5A6BB233BB07}"/>
              </a:ext>
            </a:extLst>
          </p:cNvPr>
          <p:cNvSpPr/>
          <p:nvPr/>
        </p:nvSpPr>
        <p:spPr>
          <a:xfrm>
            <a:off x="3256385" y="2204145"/>
            <a:ext cx="3215668" cy="3942608"/>
          </a:xfrm>
          <a:prstGeom prst="roundRect">
            <a:avLst/>
          </a:prstGeom>
          <a:solidFill>
            <a:schemeClr val="accent2">
              <a:alpha val="24641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2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55090-E9B5-F99E-8748-86F425CA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73633-0E21-C0F1-F3FD-D53CF98A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94AA08-4972-5A27-6E61-E33EF1876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740" y="1901012"/>
            <a:ext cx="6940138" cy="4795618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9B44EA-BF17-5A13-E9B8-F35E0B899D54}"/>
              </a:ext>
            </a:extLst>
          </p:cNvPr>
          <p:cNvSpPr/>
          <p:nvPr/>
        </p:nvSpPr>
        <p:spPr>
          <a:xfrm>
            <a:off x="6472052" y="2208810"/>
            <a:ext cx="2683823" cy="1961973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468366-D200-90A8-EB19-560A5EEF7CE2}"/>
              </a:ext>
            </a:extLst>
          </p:cNvPr>
          <p:cNvSpPr/>
          <p:nvPr/>
        </p:nvSpPr>
        <p:spPr>
          <a:xfrm>
            <a:off x="3256385" y="4170783"/>
            <a:ext cx="3215668" cy="1975969"/>
          </a:xfrm>
          <a:prstGeom prst="roundRect">
            <a:avLst/>
          </a:prstGeom>
          <a:solidFill>
            <a:schemeClr val="accent2">
              <a:alpha val="24641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8BF1BE-5CA9-522D-4E28-B21FC758C1D0}"/>
              </a:ext>
            </a:extLst>
          </p:cNvPr>
          <p:cNvSpPr/>
          <p:nvPr/>
        </p:nvSpPr>
        <p:spPr>
          <a:xfrm>
            <a:off x="3256385" y="2208810"/>
            <a:ext cx="3215668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C1D7EA-16D0-ED0C-3F20-D230EA0F9BA2}"/>
              </a:ext>
            </a:extLst>
          </p:cNvPr>
          <p:cNvSpPr/>
          <p:nvPr/>
        </p:nvSpPr>
        <p:spPr>
          <a:xfrm>
            <a:off x="6472052" y="4184779"/>
            <a:ext cx="2683823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</p:spTree>
    <p:extLst>
      <p:ext uri="{BB962C8B-B14F-4D97-AF65-F5344CB8AC3E}">
        <p14:creationId xmlns:p14="http://schemas.microsoft.com/office/powerpoint/2010/main" val="305456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175C6-3317-FFAD-58A5-DBE5B01D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210E-72CE-BC9A-D0A4-2E83F65A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our features are highly informative. What might our model’s predictions 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471A2B-C096-6EBC-0F0B-70B075F38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2351"/>
            <a:ext cx="6940138" cy="4795618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9F3D85-9348-3F84-F91B-CDBC2461EC0C}"/>
              </a:ext>
            </a:extLst>
          </p:cNvPr>
          <p:cNvSpPr/>
          <p:nvPr/>
        </p:nvSpPr>
        <p:spPr>
          <a:xfrm>
            <a:off x="4999512" y="2190149"/>
            <a:ext cx="2683823" cy="1961973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510632-75F0-81C6-48FC-78FDAC24F889}"/>
              </a:ext>
            </a:extLst>
          </p:cNvPr>
          <p:cNvSpPr/>
          <p:nvPr/>
        </p:nvSpPr>
        <p:spPr>
          <a:xfrm>
            <a:off x="1783845" y="4152122"/>
            <a:ext cx="3215668" cy="1975969"/>
          </a:xfrm>
          <a:prstGeom prst="roundRect">
            <a:avLst/>
          </a:prstGeom>
          <a:solidFill>
            <a:schemeClr val="accent2">
              <a:alpha val="24641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E26D19-4EB0-5B4E-7A51-53819433CE35}"/>
              </a:ext>
            </a:extLst>
          </p:cNvPr>
          <p:cNvSpPr/>
          <p:nvPr/>
        </p:nvSpPr>
        <p:spPr>
          <a:xfrm>
            <a:off x="1783845" y="2190149"/>
            <a:ext cx="3215668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negatives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21EBDD-BC40-5BCA-3603-AFD0CAF1B734}"/>
              </a:ext>
            </a:extLst>
          </p:cNvPr>
          <p:cNvSpPr/>
          <p:nvPr/>
        </p:nvSpPr>
        <p:spPr>
          <a:xfrm>
            <a:off x="4999512" y="4166118"/>
            <a:ext cx="2683823" cy="1961973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False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positives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7C5C8-A0A3-EA70-10F2-069855D437DC}"/>
              </a:ext>
            </a:extLst>
          </p:cNvPr>
          <p:cNvSpPr txBox="1"/>
          <p:nvPr/>
        </p:nvSpPr>
        <p:spPr>
          <a:xfrm>
            <a:off x="8574834" y="2360645"/>
            <a:ext cx="27789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 threshold-specific metrics: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 (sensitivity, 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FPR (1 – specificity)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(PPV)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NPV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Consider the clinical utility of each!!</a:t>
            </a:r>
          </a:p>
        </p:txBody>
      </p:sp>
    </p:spTree>
    <p:extLst>
      <p:ext uri="{BB962C8B-B14F-4D97-AF65-F5344CB8AC3E}">
        <p14:creationId xmlns:p14="http://schemas.microsoft.com/office/powerpoint/2010/main" val="2409203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0BD5-7581-AB93-3D76-F4420351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the threshold?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A2787-E794-FFB4-5485-48B347D027EF}"/>
              </a:ext>
            </a:extLst>
          </p:cNvPr>
          <p:cNvSpPr txBox="1"/>
          <p:nvPr/>
        </p:nvSpPr>
        <p:spPr>
          <a:xfrm>
            <a:off x="8574834" y="2360645"/>
            <a:ext cx="27789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 threshold-specific metrics: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 (sensitivity, 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FPR (1 – specificity)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(PPV)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NPV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Consider the clinical utility of each!!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33EA776-0ED0-0D95-BE2B-EBA769D1C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2353"/>
            <a:ext cx="6940138" cy="4795618"/>
          </a:xfrm>
        </p:spPr>
      </p:pic>
    </p:spTree>
    <p:extLst>
      <p:ext uri="{BB962C8B-B14F-4D97-AF65-F5344CB8AC3E}">
        <p14:creationId xmlns:p14="http://schemas.microsoft.com/office/powerpoint/2010/main" val="252218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39F4-CA97-4FEA-5554-F829CE99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9011-EAB8-D984-BA0A-B8CE6EBB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class balance?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DF7FF-F745-3F8D-EB5C-A15997892CB4}"/>
              </a:ext>
            </a:extLst>
          </p:cNvPr>
          <p:cNvSpPr txBox="1"/>
          <p:nvPr/>
        </p:nvSpPr>
        <p:spPr>
          <a:xfrm>
            <a:off x="8574834" y="2360645"/>
            <a:ext cx="27789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 threshold-specific metrics: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 (sensitivity, 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FPR (1 – specificity)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 (PPV)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NPV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Consider the clinical utility of each!!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9781B-DE63-BC98-45DF-2F32A613E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9500"/>
            <a:ext cx="6975158" cy="480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7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1CD4-0F1D-EF89-F23D-4F40118B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Consider: how does each metric change as we vary the threshold?</a:t>
            </a:r>
          </a:p>
        </p:txBody>
      </p:sp>
      <p:pic>
        <p:nvPicPr>
          <p:cNvPr id="7" name="Picture 6" descr="A comparison of negative and negative results&#10;&#10;AI-generated content may be incorrect.">
            <a:extLst>
              <a:ext uri="{FF2B5EF4-FFF2-40B4-BE49-F238E27FC236}">
                <a16:creationId xmlns:a16="http://schemas.microsoft.com/office/drawing/2014/main" id="{FF8C3A8F-3092-CE80-D8C6-0B128F33C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793875"/>
            <a:ext cx="117475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58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9E06-6EE7-2044-9326-D9806054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Receiver Operating Characteristic Curve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5D34D2-540F-0447-B227-F95E5D773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5417756" y="1234440"/>
            <a:ext cx="5343344" cy="5343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658CFB-0C09-253E-AA29-6E1CCF62AF5D}"/>
              </a:ext>
            </a:extLst>
          </p:cNvPr>
          <p:cNvSpPr txBox="1"/>
          <p:nvPr/>
        </p:nvSpPr>
        <p:spPr>
          <a:xfrm>
            <a:off x="838200" y="1690688"/>
            <a:ext cx="37468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Illustrates the tradeoff between the TPR (sensitivity) and FPR (1– specificity) as we vary the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clinicians to consider this tradeoff and select appropriate operating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area under this curve (AUC) provides a single number summarizing this tradeoff.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In most cases this is the most important metric (why??)</a:t>
            </a:r>
          </a:p>
        </p:txBody>
      </p:sp>
    </p:spTree>
    <p:extLst>
      <p:ext uri="{BB962C8B-B14F-4D97-AF65-F5344CB8AC3E}">
        <p14:creationId xmlns:p14="http://schemas.microsoft.com/office/powerpoint/2010/main" val="424573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901"/>
    </mc:Choice>
    <mc:Fallback xmlns="">
      <p:transition spd="slow" advTm="13890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9AEF-C5E6-CA2C-A9D1-D8BAE97A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what’s a </a:t>
            </a:r>
            <a:r>
              <a:rPr lang="en-US" i="1" dirty="0"/>
              <a:t>good</a:t>
            </a:r>
            <a:r>
              <a:rPr lang="en-US" dirty="0"/>
              <a:t> AUC value?</a:t>
            </a:r>
            <a:br>
              <a:rPr lang="en-US" dirty="0"/>
            </a:br>
            <a:r>
              <a:rPr lang="en-US" sz="3200" dirty="0"/>
              <a:t>(i.e., </a:t>
            </a:r>
            <a:r>
              <a:rPr lang="en-US" sz="3200" i="1" dirty="0"/>
              <a:t>good</a:t>
            </a:r>
            <a:r>
              <a:rPr lang="en-US" sz="3200" dirty="0"/>
              <a:t> performance)?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A9CD-6B0E-233F-23CC-053E0213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927"/>
            <a:ext cx="10515600" cy="484949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We’ll start to answer this question by taking a look at </a:t>
            </a:r>
            <a:r>
              <a:rPr lang="en-US" i="1" dirty="0"/>
              <a:t>bad</a:t>
            </a:r>
            <a:r>
              <a:rPr lang="en-US" dirty="0"/>
              <a:t>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654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00"/>
    </mc:Choice>
    <mc:Fallback xmlns="">
      <p:transition spd="slow" advTm="16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E935-F99D-75F5-5A08-E6013AA4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Suppose our features contain no information about the outcome. What might predictions look like?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07669-DF58-BBA5-A5DB-9E58B88CE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7" y="2014905"/>
            <a:ext cx="5940553" cy="4571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9D9219-073A-E8A0-4143-3664BD8BAF52}"/>
              </a:ext>
            </a:extLst>
          </p:cNvPr>
          <p:cNvSpPr txBox="1"/>
          <p:nvPr/>
        </p:nvSpPr>
        <p:spPr>
          <a:xfrm>
            <a:off x="1575317" y="3035533"/>
            <a:ext cx="2866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distributions between positive and negative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predicted value tells you nothing about which one it’s more likely to be.</a:t>
            </a:r>
          </a:p>
        </p:txBody>
      </p:sp>
    </p:spTree>
    <p:extLst>
      <p:ext uri="{BB962C8B-B14F-4D97-AF65-F5344CB8AC3E}">
        <p14:creationId xmlns:p14="http://schemas.microsoft.com/office/powerpoint/2010/main" val="2490831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2338-E670-7EAC-7E95-4D92C69E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E38F-85F0-8DF4-101C-A483D385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Suppose our features contain no information about the outcome. What might predictions look like?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DAFEB-542F-7DBA-302D-1F1B0B072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7" y="2014905"/>
            <a:ext cx="5940553" cy="4571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DB1769-E7A4-BBED-A88C-BFF85B7907A7}"/>
              </a:ext>
            </a:extLst>
          </p:cNvPr>
          <p:cNvSpPr txBox="1"/>
          <p:nvPr/>
        </p:nvSpPr>
        <p:spPr>
          <a:xfrm>
            <a:off x="1873894" y="3281347"/>
            <a:ext cx="2471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the:</a:t>
            </a:r>
          </a:p>
          <a:p>
            <a:endParaRPr lang="en-US" dirty="0"/>
          </a:p>
          <a:p>
            <a:pPr marL="342900" indent="-342900">
              <a:buAutoNum type="alphaLcParenBoth"/>
            </a:pPr>
            <a:r>
              <a:rPr lang="en-US" dirty="0"/>
              <a:t>TPR (sensitivity)?</a:t>
            </a:r>
          </a:p>
          <a:p>
            <a:pPr marL="342900" indent="-342900">
              <a:buAutoNum type="alphaLcParenBoth"/>
            </a:pPr>
            <a:r>
              <a:rPr lang="en-US" dirty="0"/>
              <a:t>FPR (1 – specificity)?</a:t>
            </a:r>
          </a:p>
          <a:p>
            <a:pPr marL="342900" indent="-342900">
              <a:buAutoNum type="alphaLcParenBoth"/>
            </a:pPr>
            <a:r>
              <a:rPr lang="en-US" dirty="0"/>
              <a:t>PPV?</a:t>
            </a:r>
          </a:p>
        </p:txBody>
      </p:sp>
    </p:spTree>
    <p:extLst>
      <p:ext uri="{BB962C8B-B14F-4D97-AF65-F5344CB8AC3E}">
        <p14:creationId xmlns:p14="http://schemas.microsoft.com/office/powerpoint/2010/main" val="1770068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negative negatives and negatives&#10;&#10;AI-generated content may be incorrect.">
            <a:extLst>
              <a:ext uri="{FF2B5EF4-FFF2-40B4-BE49-F238E27FC236}">
                <a16:creationId xmlns:a16="http://schemas.microsoft.com/office/drawing/2014/main" id="{CD5E000F-06C6-090C-76E8-BF6C67C69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0" y="1027906"/>
            <a:ext cx="10678000" cy="4271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2629E9-B23B-EED9-AA0D-F7E0FC09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“no information” predictive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AB642-EE70-0BCD-6126-9CE3902E8671}"/>
              </a:ext>
            </a:extLst>
          </p:cNvPr>
          <p:cNvSpPr txBox="1"/>
          <p:nvPr/>
        </p:nvSpPr>
        <p:spPr>
          <a:xfrm>
            <a:off x="1919773" y="5569545"/>
            <a:ext cx="8352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TPR and FPR always match (why?)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distributions of positive and negative cases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corresponding CDFs match</a:t>
            </a:r>
          </a:p>
        </p:txBody>
      </p:sp>
    </p:spTree>
    <p:extLst>
      <p:ext uri="{BB962C8B-B14F-4D97-AF65-F5344CB8AC3E}">
        <p14:creationId xmlns:p14="http://schemas.microsoft.com/office/powerpoint/2010/main" val="1369940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40B5-4A65-E95A-089B-060816A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“no information”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9183F-3DF8-76AD-8725-282881EFB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0810"/>
            <a:ext cx="4643846" cy="3934320"/>
          </a:xfrm>
        </p:spPr>
        <p:txBody>
          <a:bodyPr/>
          <a:lstStyle/>
          <a:p>
            <a:r>
              <a:rPr lang="en-US" dirty="0"/>
              <a:t>AUC is 0.5</a:t>
            </a:r>
          </a:p>
          <a:p>
            <a:endParaRPr lang="en-US" dirty="0"/>
          </a:p>
          <a:p>
            <a:r>
              <a:rPr lang="en-US" dirty="0"/>
              <a:t>Do we ever see AUC &lt; 0.5?</a:t>
            </a:r>
          </a:p>
          <a:p>
            <a:endParaRPr lang="en-US" dirty="0"/>
          </a:p>
          <a:p>
            <a:r>
              <a:rPr lang="en-US" dirty="0"/>
              <a:t>If so, what can we infer about the distributions of our predictions for positive and negative samples?</a:t>
            </a:r>
          </a:p>
        </p:txBody>
      </p:sp>
      <p:pic>
        <p:nvPicPr>
          <p:cNvPr id="6" name="Picture 5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7429A8F6-BE74-75C2-0D36-8B220E8500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8618" y="1533934"/>
            <a:ext cx="5307874" cy="506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1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86"/>
    </mc:Choice>
    <mc:Fallback xmlns="">
      <p:transition spd="slow" advTm="3018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9AEF-C5E6-CA2C-A9D1-D8BAE97A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what’s a </a:t>
            </a:r>
            <a:r>
              <a:rPr lang="en-US" i="1" dirty="0"/>
              <a:t>good</a:t>
            </a:r>
            <a:r>
              <a:rPr lang="en-US" dirty="0"/>
              <a:t> AUC value?</a:t>
            </a:r>
            <a:br>
              <a:rPr lang="en-US" dirty="0"/>
            </a:br>
            <a:r>
              <a:rPr lang="en-US" sz="3200" dirty="0"/>
              <a:t>(i.e., </a:t>
            </a:r>
            <a:r>
              <a:rPr lang="en-US" sz="3200" i="1" dirty="0"/>
              <a:t>good</a:t>
            </a:r>
            <a:r>
              <a:rPr lang="en-US" sz="3200" dirty="0"/>
              <a:t> performance)?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A9CD-6B0E-233F-23CC-053E02137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927"/>
            <a:ext cx="10515600" cy="4849495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It depends.</a:t>
            </a:r>
          </a:p>
          <a:p>
            <a:r>
              <a:rPr lang="en-US" sz="2400" dirty="0"/>
              <a:t>Are predictions better than random?</a:t>
            </a:r>
          </a:p>
          <a:p>
            <a:r>
              <a:rPr lang="en-US" sz="2400" dirty="0"/>
              <a:t>Are predictions than the previous best performing model?</a:t>
            </a:r>
          </a:p>
          <a:p>
            <a:r>
              <a:rPr lang="en-US" sz="2400" dirty="0"/>
              <a:t>Are predictions better than expert performance?</a:t>
            </a:r>
          </a:p>
          <a:p>
            <a:r>
              <a:rPr lang="en-US" sz="2400" dirty="0"/>
              <a:t>Does performance exceed our (informed) expectations?</a:t>
            </a:r>
          </a:p>
          <a:p>
            <a:endParaRPr lang="en-US" sz="2400" dirty="0"/>
          </a:p>
          <a:p>
            <a:r>
              <a:rPr lang="en-US" sz="2400" b="1" u="sng" dirty="0"/>
              <a:t>Is the model clinically useful?</a:t>
            </a:r>
          </a:p>
          <a:p>
            <a:endParaRPr lang="en-US" sz="2400" b="1" u="sng" dirty="0"/>
          </a:p>
          <a:p>
            <a:r>
              <a:rPr lang="en-US" sz="2400" u="sng" dirty="0"/>
              <a:t>Different expectations for risk prediction vs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91607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032"/>
    </mc:Choice>
    <mc:Fallback xmlns="">
      <p:transition spd="slow" advTm="9203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0780-DFF6-2C79-D664-08DBF0F1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say about prediction performance when distributions match?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56C79-9A7A-764D-D03C-6433BBD56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0727"/>
            <a:ext cx="10515600" cy="409623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When distributions of </a:t>
            </a:r>
            <a:r>
              <a:rPr lang="en-US" sz="2400" u="sng" dirty="0"/>
              <a:t>predictions</a:t>
            </a:r>
            <a:r>
              <a:rPr lang="en-US" sz="2400" dirty="0"/>
              <a:t> match between pos/neg:</a:t>
            </a:r>
          </a:p>
          <a:p>
            <a:pPr lvl="1"/>
            <a:r>
              <a:rPr lang="en-US" sz="2000" dirty="0"/>
              <a:t>predictions provide no information about the outcome</a:t>
            </a:r>
          </a:p>
          <a:p>
            <a:pPr lvl="1"/>
            <a:r>
              <a:rPr lang="en-US" sz="2000" dirty="0"/>
              <a:t>i.e. random guessing</a:t>
            </a:r>
          </a:p>
          <a:p>
            <a:endParaRPr lang="en-US" sz="2400" dirty="0"/>
          </a:p>
          <a:p>
            <a:r>
              <a:rPr lang="en-US" sz="2400" dirty="0"/>
              <a:t>When distributions of </a:t>
            </a:r>
            <a:r>
              <a:rPr lang="en-US" sz="2400" u="sng" dirty="0"/>
              <a:t>features</a:t>
            </a:r>
            <a:r>
              <a:rPr lang="en-US" sz="2400" dirty="0"/>
              <a:t> (observed or latent) match between pos/neg:</a:t>
            </a:r>
          </a:p>
          <a:p>
            <a:pPr lvl="1"/>
            <a:r>
              <a:rPr lang="en-US" sz="2000" dirty="0"/>
              <a:t>features contain no information about the outcome</a:t>
            </a:r>
          </a:p>
          <a:p>
            <a:endParaRPr lang="en-US" sz="2400" dirty="0"/>
          </a:p>
          <a:p>
            <a:r>
              <a:rPr lang="en-US" sz="2400" dirty="0"/>
              <a:t>Note that adversarial methods operate on this principle:</a:t>
            </a:r>
            <a:endParaRPr lang="en-US" sz="2000" dirty="0"/>
          </a:p>
          <a:p>
            <a:pPr lvl="1"/>
            <a:r>
              <a:rPr lang="en-US" sz="2000" dirty="0"/>
              <a:t>Train a </a:t>
            </a:r>
            <a:r>
              <a:rPr lang="en-US" sz="2000" i="1" dirty="0"/>
              <a:t>discriminator</a:t>
            </a:r>
            <a:r>
              <a:rPr lang="en-US" sz="2000" dirty="0"/>
              <a:t> that predicts pos/neg (or real/fake)</a:t>
            </a:r>
            <a:endParaRPr lang="en-US" sz="2400" dirty="0"/>
          </a:p>
          <a:p>
            <a:pPr lvl="1"/>
            <a:r>
              <a:rPr lang="en-US" sz="2000" dirty="0"/>
              <a:t>Train a </a:t>
            </a:r>
            <a:r>
              <a:rPr lang="en-US" sz="2000" i="1" dirty="0"/>
              <a:t>generator</a:t>
            </a:r>
            <a:r>
              <a:rPr lang="en-US" sz="2000" dirty="0"/>
              <a:t> whose goal is to </a:t>
            </a:r>
            <a:r>
              <a:rPr lang="en-US" sz="2000" u="sng" dirty="0"/>
              <a:t>increase</a:t>
            </a:r>
            <a:r>
              <a:rPr lang="en-US" sz="2000" dirty="0"/>
              <a:t> the discriminator’s loss (many variations on this)</a:t>
            </a:r>
            <a:endParaRPr lang="en-US" sz="2400" dirty="0"/>
          </a:p>
          <a:p>
            <a:pPr lvl="1"/>
            <a:r>
              <a:rPr lang="en-US" sz="2000" dirty="0"/>
              <a:t>Result? Distribution matching</a:t>
            </a:r>
          </a:p>
        </p:txBody>
      </p:sp>
    </p:spTree>
    <p:extLst>
      <p:ext uri="{BB962C8B-B14F-4D97-AF65-F5344CB8AC3E}">
        <p14:creationId xmlns:p14="http://schemas.microsoft.com/office/powerpoint/2010/main" val="1325577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CE39-153B-1F9E-C1E1-AE3CD6B7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overview of generative adversarial networks (GANs)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6DFA6A-4B91-7031-711B-843505F9E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71213"/>
            <a:ext cx="6677609" cy="202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9D26D13-1D85-2C8A-E523-35C5B4CE8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664" y="2203946"/>
            <a:ext cx="3769568" cy="376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lue-objective-function">
            <a:extLst>
              <a:ext uri="{FF2B5EF4-FFF2-40B4-BE49-F238E27FC236}">
                <a16:creationId xmlns:a16="http://schemas.microsoft.com/office/drawing/2014/main" id="{E4F6A506-6FCC-AAFD-52E4-C842769A3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402403"/>
            <a:ext cx="6638123" cy="38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8E84E8-DD4B-4C0B-5FCA-D0BFFEA6FED0}"/>
              </a:ext>
            </a:extLst>
          </p:cNvPr>
          <p:cNvSpPr txBox="1"/>
          <p:nvPr/>
        </p:nvSpPr>
        <p:spPr>
          <a:xfrm>
            <a:off x="1849405" y="6398327"/>
            <a:ext cx="84931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Taken from: https://</a:t>
            </a:r>
            <a:r>
              <a:rPr lang="en-US" sz="1100" dirty="0" err="1"/>
              <a:t>blog.ovhcloud.com</a:t>
            </a:r>
            <a:r>
              <a:rPr lang="en-US" sz="1100" dirty="0"/>
              <a:t>/understanding-image-generation-beginner-guide-generative-adversarial-networks-gan/</a:t>
            </a:r>
          </a:p>
        </p:txBody>
      </p:sp>
    </p:spTree>
    <p:extLst>
      <p:ext uri="{BB962C8B-B14F-4D97-AF65-F5344CB8AC3E}">
        <p14:creationId xmlns:p14="http://schemas.microsoft.com/office/powerpoint/2010/main" val="3854738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9E06-6EE7-2044-9326-D9806054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quantified performance across all thresholds, but how do we use the model?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5D34D2-540F-0447-B227-F95E5D773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6483534" y="1822268"/>
            <a:ext cx="4670607" cy="46706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658CFB-0C09-253E-AA29-6E1CCF62AF5D}"/>
              </a:ext>
            </a:extLst>
          </p:cNvPr>
          <p:cNvSpPr txBox="1"/>
          <p:nvPr/>
        </p:nvSpPr>
        <p:spPr>
          <a:xfrm>
            <a:off x="1037859" y="1822268"/>
            <a:ext cx="428244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Sometimes the predicted probability really is what we care about.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Example</a:t>
            </a:r>
            <a:r>
              <a:rPr lang="en-US" sz="2000" dirty="0"/>
              <a:t>: probability of heart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so, we need to make sure our model is </a:t>
            </a:r>
            <a:r>
              <a:rPr lang="en-US" sz="2000" i="1" dirty="0"/>
              <a:t>calibrated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/>
          </a:p>
          <a:p>
            <a:r>
              <a:rPr lang="en-US" sz="2000" dirty="0"/>
              <a:t>More often, we need to pick a threshold so we can decide whether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Alert a 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Get a biopsy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Refer the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etc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What threshold should we pick? What’s the right tradeoff?</a:t>
            </a:r>
          </a:p>
        </p:txBody>
      </p:sp>
    </p:spTree>
    <p:extLst>
      <p:ext uri="{BB962C8B-B14F-4D97-AF65-F5344CB8AC3E}">
        <p14:creationId xmlns:p14="http://schemas.microsoft.com/office/powerpoint/2010/main" val="177455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98"/>
    </mc:Choice>
    <mc:Fallback xmlns="">
      <p:transition spd="slow" advTm="4189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  <a:br>
              <a:rPr lang="en-US" dirty="0"/>
            </a:br>
            <a:r>
              <a:rPr lang="en-US" sz="3600" i="1" dirty="0"/>
              <a:t>Which performance metric is most important?</a:t>
            </a:r>
            <a:endParaRPr lang="en-US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4CE05D-B083-6933-46FB-097FF7CD928B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A computer vision model that detects carcinoma</a:t>
            </a:r>
          </a:p>
        </p:txBody>
      </p:sp>
    </p:spTree>
    <p:extLst>
      <p:ext uri="{BB962C8B-B14F-4D97-AF65-F5344CB8AC3E}">
        <p14:creationId xmlns:p14="http://schemas.microsoft.com/office/powerpoint/2010/main" val="241251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00"/>
    </mc:Choice>
    <mc:Fallback xmlns="">
      <p:transition spd="slow" advTm="28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947"/>
          <a:stretch/>
        </p:blipFill>
        <p:spPr>
          <a:xfrm>
            <a:off x="3894267" y="2666577"/>
            <a:ext cx="4061013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high sensitivity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6427037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5658864" y="286469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2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78"/>
    </mc:Choice>
    <mc:Fallback xmlns="">
      <p:transition spd="slow" advTm="11178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C668-9497-86E2-A1A6-C91697AB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Precision-Recall Curve</a:t>
            </a:r>
            <a:br>
              <a:rPr lang="en-US" dirty="0"/>
            </a:br>
            <a:r>
              <a:rPr lang="en-US" sz="3200" dirty="0"/>
              <a:t>(i.e., PPV-Sensitivity Curve)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CAC0-E156-9EFB-42F0-090E9D686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21825"/>
            <a:ext cx="4739640" cy="4351338"/>
          </a:xfrm>
        </p:spPr>
        <p:txBody>
          <a:bodyPr/>
          <a:lstStyle/>
          <a:p>
            <a:r>
              <a:rPr lang="en-US" sz="2400" dirty="0"/>
              <a:t>Some argue it has greater clinical relevance than the ROC curve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i="1" dirty="0"/>
              <a:t>no information </a:t>
            </a:r>
            <a:r>
              <a:rPr lang="en-US" sz="2400" dirty="0"/>
              <a:t>classifier always achieves PPV equal to the </a:t>
            </a:r>
            <a:r>
              <a:rPr lang="en-US" sz="2400" i="1" dirty="0"/>
              <a:t>base rate</a:t>
            </a:r>
            <a:r>
              <a:rPr lang="en-US" sz="2400" dirty="0"/>
              <a:t>, or </a:t>
            </a:r>
            <a:r>
              <a:rPr lang="en-US" sz="2400" i="1" dirty="0"/>
              <a:t>prevalence </a:t>
            </a:r>
            <a:r>
              <a:rPr lang="en-US" sz="2400" dirty="0"/>
              <a:t>(why?)</a:t>
            </a:r>
          </a:p>
          <a:p>
            <a:endParaRPr lang="en-US" sz="2400" dirty="0"/>
          </a:p>
          <a:p>
            <a:r>
              <a:rPr lang="en-US" sz="2400" dirty="0"/>
              <a:t>PPV as well as the area under this curve (average precision) must be interpreted relative to prevalence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51E2A-5A3A-6218-E39D-802C767BB3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087"/>
          <a:stretch/>
        </p:blipFill>
        <p:spPr>
          <a:xfrm>
            <a:off x="6256407" y="1498288"/>
            <a:ext cx="5097393" cy="50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189"/>
    </mc:Choice>
    <mc:Fallback xmlns="">
      <p:transition spd="slow" advTm="4318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267" y="2666577"/>
            <a:ext cx="8113377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high sensitivity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6427037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5658864" y="286469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00B6C1-790E-214F-B195-1B9CEE53D153}"/>
              </a:ext>
            </a:extLst>
          </p:cNvPr>
          <p:cNvSpPr/>
          <p:nvPr/>
        </p:nvSpPr>
        <p:spPr>
          <a:xfrm>
            <a:off x="11643082" y="3916978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4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85"/>
    </mc:Choice>
    <mc:Fallback xmlns="">
      <p:transition spd="slow" advTm="1208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73A7-560F-214F-84CC-6DA04B1F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computer vision model that detects carcinoma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An algorithm that detects atrial fibrillation in Apple Watch users</a:t>
            </a:r>
          </a:p>
        </p:txBody>
      </p:sp>
    </p:spTree>
    <p:extLst>
      <p:ext uri="{BB962C8B-B14F-4D97-AF65-F5344CB8AC3E}">
        <p14:creationId xmlns:p14="http://schemas.microsoft.com/office/powerpoint/2010/main" val="72873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76"/>
    </mc:Choice>
    <mc:Fallback xmlns="">
      <p:transition spd="slow" advTm="2137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267" y="2666577"/>
            <a:ext cx="8113377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high specificity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9954007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4570292" y="3880694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00B6C1-790E-214F-B195-1B9CEE53D153}"/>
              </a:ext>
            </a:extLst>
          </p:cNvPr>
          <p:cNvSpPr/>
          <p:nvPr/>
        </p:nvSpPr>
        <p:spPr>
          <a:xfrm>
            <a:off x="10598056" y="298806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1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44"/>
    </mc:Choice>
    <mc:Fallback xmlns="">
      <p:transition spd="slow" advTm="9344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73A7-560F-214F-84CC-6DA04B1F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computer vision model that detects carcinoma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algorithm that detects atrial fibrillation in Apple Watch users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An EHR-based model that monitors autism risk</a:t>
            </a:r>
          </a:p>
        </p:txBody>
      </p:sp>
    </p:spTree>
    <p:extLst>
      <p:ext uri="{BB962C8B-B14F-4D97-AF65-F5344CB8AC3E}">
        <p14:creationId xmlns:p14="http://schemas.microsoft.com/office/powerpoint/2010/main" val="327372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60"/>
    </mc:Choice>
    <mc:Fallback xmlns="">
      <p:transition spd="slow" advTm="3216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B5A59-BB16-1843-985C-20C7DF2E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5" y="243523"/>
            <a:ext cx="4663440" cy="2331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8B223-676B-534D-AF6E-6CD2B748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267" y="2666577"/>
            <a:ext cx="8113377" cy="4056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4A116-85E5-FE46-8077-FE6325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35436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Operating Point: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balanced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BCA38-7221-DD4E-8DBD-BDBD7BD3E988}"/>
              </a:ext>
            </a:extLst>
          </p:cNvPr>
          <p:cNvCxnSpPr>
            <a:cxnSpLocks/>
          </p:cNvCxnSpPr>
          <p:nvPr/>
        </p:nvCxnSpPr>
        <p:spPr>
          <a:xfrm>
            <a:off x="8183266" y="157459"/>
            <a:ext cx="0" cy="2312210"/>
          </a:xfrm>
          <a:prstGeom prst="line">
            <a:avLst/>
          </a:prstGeom>
          <a:ln w="57150">
            <a:solidFill>
              <a:srgbClr val="BE0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AC8512F-01D0-2A46-A9EF-F69CB284452C}"/>
              </a:ext>
            </a:extLst>
          </p:cNvPr>
          <p:cNvSpPr/>
          <p:nvPr/>
        </p:nvSpPr>
        <p:spPr>
          <a:xfrm>
            <a:off x="4889606" y="3217092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00B6C1-790E-214F-B195-1B9CEE53D153}"/>
              </a:ext>
            </a:extLst>
          </p:cNvPr>
          <p:cNvSpPr/>
          <p:nvPr/>
        </p:nvSpPr>
        <p:spPr>
          <a:xfrm>
            <a:off x="11265712" y="3278347"/>
            <a:ext cx="182880" cy="182880"/>
          </a:xfrm>
          <a:prstGeom prst="ellipse">
            <a:avLst/>
          </a:prstGeom>
          <a:noFill/>
          <a:ln w="38100">
            <a:solidFill>
              <a:srgbClr val="BE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2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73"/>
    </mc:Choice>
    <mc:Fallback xmlns="">
      <p:transition spd="slow" advTm="9973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3A3-7A9E-0C45-9780-C41A9E76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73A7-560F-214F-84CC-6DA04B1F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computer vision model that detects carcinoma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algorithm that detects atrial fibrillation in Apple Watch users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EHR-based model that monitors autism risk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Sometimes specificity and sensitivity are difficult to interpret, particularly for </a:t>
            </a:r>
            <a:r>
              <a:rPr lang="en-US" u="sng" dirty="0">
                <a:solidFill>
                  <a:schemeClr val="tx2"/>
                </a:solidFill>
              </a:rPr>
              <a:t>rare conditions or events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r>
              <a:rPr lang="en-US" dirty="0">
                <a:solidFill>
                  <a:schemeClr val="tx2"/>
                </a:solidFill>
              </a:rPr>
              <a:t>The most clinically relevant measure is often the </a:t>
            </a:r>
            <a:r>
              <a:rPr lang="en-US" u="sng" dirty="0">
                <a:solidFill>
                  <a:schemeClr val="tx2"/>
                </a:solidFill>
              </a:rPr>
              <a:t>positive predictive value</a:t>
            </a:r>
            <a:r>
              <a:rPr lang="en-US" dirty="0">
                <a:solidFill>
                  <a:schemeClr val="tx2"/>
                </a:solidFill>
              </a:rPr>
              <a:t> (or negative predictive value).</a:t>
            </a:r>
          </a:p>
        </p:txBody>
      </p:sp>
    </p:spTree>
    <p:extLst>
      <p:ext uri="{BB962C8B-B14F-4D97-AF65-F5344CB8AC3E}">
        <p14:creationId xmlns:p14="http://schemas.microsoft.com/office/powerpoint/2010/main" val="126068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72"/>
    </mc:Choice>
    <mc:Fallback xmlns="">
      <p:transition spd="slow" advTm="35072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1DEE-4667-F004-4F3C-F340EA99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65B17-2541-75EF-32A3-0DCEE2AE2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48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8466-7B1E-BA46-A508-2EBCADFA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Multi-class problems: “Confusion Matrix”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D7C9BEA-74BA-4948-92E9-E7728BEF76B0}"/>
              </a:ext>
            </a:extLst>
          </p:cNvPr>
          <p:cNvGraphicFramePr>
            <a:graphicFrameLocks noGrp="1"/>
          </p:cNvGraphicFramePr>
          <p:nvPr/>
        </p:nvGraphicFramePr>
        <p:xfrm>
          <a:off x="2571567" y="1690688"/>
          <a:ext cx="5011060" cy="465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12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723352028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339604044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1934251026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935223234"/>
                    </a:ext>
                  </a:extLst>
                </a:gridCol>
              </a:tblGrid>
              <a:tr h="93112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95813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59697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7148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96FFAE-7028-7E41-A6B7-D0D9E56A0392}"/>
              </a:ext>
            </a:extLst>
          </p:cNvPr>
          <p:cNvSpPr txBox="1"/>
          <p:nvPr/>
        </p:nvSpPr>
        <p:spPr>
          <a:xfrm>
            <a:off x="4021840" y="1229023"/>
            <a:ext cx="2110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Predicted Label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5FB58-6841-8749-9968-6DB30F2B13BF}"/>
              </a:ext>
            </a:extLst>
          </p:cNvPr>
          <p:cNvSpPr txBox="1"/>
          <p:nvPr/>
        </p:nvSpPr>
        <p:spPr>
          <a:xfrm rot="16200000">
            <a:off x="1429165" y="3791401"/>
            <a:ext cx="1472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True Label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AE228486-93C8-A44C-94CB-4DB254944887}"/>
              </a:ext>
            </a:extLst>
          </p:cNvPr>
          <p:cNvGraphicFramePr>
            <a:graphicFrameLocks noGrp="1"/>
          </p:cNvGraphicFramePr>
          <p:nvPr/>
        </p:nvGraphicFramePr>
        <p:xfrm>
          <a:off x="8482726" y="3548787"/>
          <a:ext cx="519283" cy="93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283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</a:tblGrid>
              <a:tr h="46970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4697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617D1A-20B1-EC4C-8925-68F509D8BFFC}"/>
              </a:ext>
            </a:extLst>
          </p:cNvPr>
          <p:cNvSpPr txBox="1"/>
          <p:nvPr/>
        </p:nvSpPr>
        <p:spPr>
          <a:xfrm>
            <a:off x="9002009" y="3548787"/>
            <a:ext cx="2451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108C2-BA6B-1C4A-A3EC-EF28D7BA3265}"/>
              </a:ext>
            </a:extLst>
          </p:cNvPr>
          <p:cNvSpPr txBox="1"/>
          <p:nvPr/>
        </p:nvSpPr>
        <p:spPr>
          <a:xfrm>
            <a:off x="9002009" y="4010452"/>
            <a:ext cx="265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 Prediction</a:t>
            </a:r>
          </a:p>
        </p:txBody>
      </p:sp>
    </p:spTree>
    <p:extLst>
      <p:ext uri="{BB962C8B-B14F-4D97-AF65-F5344CB8AC3E}">
        <p14:creationId xmlns:p14="http://schemas.microsoft.com/office/powerpoint/2010/main" val="421729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372"/>
    </mc:Choice>
    <mc:Fallback xmlns="">
      <p:transition spd="slow" advTm="90372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8466-7B1E-BA46-A508-2EBCADFA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Multi-class problems: Binary for Label 1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C6CB827A-B029-F241-88A2-F2DD30AC11DD}"/>
              </a:ext>
            </a:extLst>
          </p:cNvPr>
          <p:cNvGraphicFramePr>
            <a:graphicFrameLocks noGrp="1"/>
          </p:cNvGraphicFramePr>
          <p:nvPr/>
        </p:nvGraphicFramePr>
        <p:xfrm>
          <a:off x="2571567" y="1690688"/>
          <a:ext cx="5011060" cy="465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12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723352028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339604044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1934251026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935223234"/>
                    </a:ext>
                  </a:extLst>
                </a:gridCol>
              </a:tblGrid>
              <a:tr h="93112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95813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59697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7148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6DB2D6-84D6-1641-A8D6-025CDFB64A1A}"/>
              </a:ext>
            </a:extLst>
          </p:cNvPr>
          <p:cNvSpPr txBox="1"/>
          <p:nvPr/>
        </p:nvSpPr>
        <p:spPr>
          <a:xfrm>
            <a:off x="4021840" y="1229023"/>
            <a:ext cx="2110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Predicted Label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263A5-FAD4-3947-8329-FB5B488D4930}"/>
              </a:ext>
            </a:extLst>
          </p:cNvPr>
          <p:cNvSpPr txBox="1"/>
          <p:nvPr/>
        </p:nvSpPr>
        <p:spPr>
          <a:xfrm rot="16200000">
            <a:off x="1429165" y="3791401"/>
            <a:ext cx="1472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True Label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91ECC4A-E68A-5341-B331-8C965FA7CD8D}"/>
              </a:ext>
            </a:extLst>
          </p:cNvPr>
          <p:cNvGraphicFramePr>
            <a:graphicFrameLocks noGrp="1"/>
          </p:cNvGraphicFramePr>
          <p:nvPr/>
        </p:nvGraphicFramePr>
        <p:xfrm>
          <a:off x="8482726" y="3548787"/>
          <a:ext cx="519283" cy="93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283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</a:tblGrid>
              <a:tr h="46970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4697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A35E5E4-FCB5-FC47-A217-650893436E07}"/>
              </a:ext>
            </a:extLst>
          </p:cNvPr>
          <p:cNvSpPr txBox="1"/>
          <p:nvPr/>
        </p:nvSpPr>
        <p:spPr>
          <a:xfrm>
            <a:off x="9002009" y="3548787"/>
            <a:ext cx="2451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 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EEAC6-86FB-9E40-A989-F22711C73492}"/>
              </a:ext>
            </a:extLst>
          </p:cNvPr>
          <p:cNvSpPr txBox="1"/>
          <p:nvPr/>
        </p:nvSpPr>
        <p:spPr>
          <a:xfrm>
            <a:off x="9002009" y="4010452"/>
            <a:ext cx="265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677DE-BE53-594A-85F0-8EB610D26DC4}"/>
              </a:ext>
            </a:extLst>
          </p:cNvPr>
          <p:cNvSpPr txBox="1"/>
          <p:nvPr/>
        </p:nvSpPr>
        <p:spPr>
          <a:xfrm>
            <a:off x="2610756" y="1967687"/>
            <a:ext cx="94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TruePos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C66E5-4A04-C54D-A25D-DA128DE69F84}"/>
              </a:ext>
            </a:extLst>
          </p:cNvPr>
          <p:cNvSpPr txBox="1"/>
          <p:nvPr/>
        </p:nvSpPr>
        <p:spPr>
          <a:xfrm>
            <a:off x="4325613" y="1967687"/>
            <a:ext cx="2549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False Negatives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-&gt;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691DE-B5B7-3C42-ADAC-6CBB6F3B851C}"/>
              </a:ext>
            </a:extLst>
          </p:cNvPr>
          <p:cNvSpPr txBox="1"/>
          <p:nvPr/>
        </p:nvSpPr>
        <p:spPr>
          <a:xfrm>
            <a:off x="9297507" y="2481238"/>
            <a:ext cx="103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 Pos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D708C-EDC3-CB42-BEAD-17A3B3A3A346}"/>
              </a:ext>
            </a:extLst>
          </p:cNvPr>
          <p:cNvSpPr txBox="1"/>
          <p:nvPr/>
        </p:nvSpPr>
        <p:spPr>
          <a:xfrm rot="16200000">
            <a:off x="1854010" y="4329176"/>
            <a:ext cx="245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False Positives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-&gt;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49CD80-D4E2-3644-8A17-174B8340DA3D}"/>
              </a:ext>
            </a:extLst>
          </p:cNvPr>
          <p:cNvSpPr txBox="1"/>
          <p:nvPr/>
        </p:nvSpPr>
        <p:spPr>
          <a:xfrm>
            <a:off x="4802890" y="4056618"/>
            <a:ext cx="159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Negatives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61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27"/>
    </mc:Choice>
    <mc:Fallback xmlns="">
      <p:transition spd="slow" advTm="47827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8466-7B1E-BA46-A508-2EBCADFA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Multi-class problems: Binary for Label 2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9DC1063B-4C02-FE4D-B973-8DA66E72A3D4}"/>
              </a:ext>
            </a:extLst>
          </p:cNvPr>
          <p:cNvGraphicFramePr>
            <a:graphicFrameLocks noGrp="1"/>
          </p:cNvGraphicFramePr>
          <p:nvPr/>
        </p:nvGraphicFramePr>
        <p:xfrm>
          <a:off x="2571567" y="1690688"/>
          <a:ext cx="5011060" cy="465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12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723352028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339604044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1934251026"/>
                    </a:ext>
                  </a:extLst>
                </a:gridCol>
                <a:gridCol w="1002212">
                  <a:extLst>
                    <a:ext uri="{9D8B030D-6E8A-4147-A177-3AD203B41FA5}">
                      <a16:colId xmlns:a16="http://schemas.microsoft.com/office/drawing/2014/main" val="3935223234"/>
                    </a:ext>
                  </a:extLst>
                </a:gridCol>
              </a:tblGrid>
              <a:tr h="93112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95813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459697"/>
                  </a:ext>
                </a:extLst>
              </a:tr>
              <a:tr h="9311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7148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0ACB149-7DD0-CD43-9EEA-BBB062437EF4}"/>
              </a:ext>
            </a:extLst>
          </p:cNvPr>
          <p:cNvSpPr txBox="1"/>
          <p:nvPr/>
        </p:nvSpPr>
        <p:spPr>
          <a:xfrm>
            <a:off x="4021840" y="1229023"/>
            <a:ext cx="2110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Predicted Label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90858-7734-CD4A-BAFE-72EEF9B18D1B}"/>
              </a:ext>
            </a:extLst>
          </p:cNvPr>
          <p:cNvSpPr txBox="1"/>
          <p:nvPr/>
        </p:nvSpPr>
        <p:spPr>
          <a:xfrm rot="16200000">
            <a:off x="1429165" y="3791401"/>
            <a:ext cx="1472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True Label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4E48ADA7-0D43-D14A-AE45-8453C9C199C3}"/>
              </a:ext>
            </a:extLst>
          </p:cNvPr>
          <p:cNvGraphicFramePr>
            <a:graphicFrameLocks noGrp="1"/>
          </p:cNvGraphicFramePr>
          <p:nvPr/>
        </p:nvGraphicFramePr>
        <p:xfrm>
          <a:off x="8482726" y="3548787"/>
          <a:ext cx="519283" cy="93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283">
                  <a:extLst>
                    <a:ext uri="{9D8B030D-6E8A-4147-A177-3AD203B41FA5}">
                      <a16:colId xmlns:a16="http://schemas.microsoft.com/office/drawing/2014/main" val="2769383140"/>
                    </a:ext>
                  </a:extLst>
                </a:gridCol>
              </a:tblGrid>
              <a:tr h="46970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37502"/>
                  </a:ext>
                </a:extLst>
              </a:tr>
              <a:tr h="4697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1091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B8715AA-7BE8-C240-8214-112FC66CCE6E}"/>
              </a:ext>
            </a:extLst>
          </p:cNvPr>
          <p:cNvSpPr txBox="1"/>
          <p:nvPr/>
        </p:nvSpPr>
        <p:spPr>
          <a:xfrm>
            <a:off x="9002009" y="3548787"/>
            <a:ext cx="2451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 Prediction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168861-72D6-524C-9D32-1E6E44921BE1}"/>
              </a:ext>
            </a:extLst>
          </p:cNvPr>
          <p:cNvSpPr txBox="1"/>
          <p:nvPr/>
        </p:nvSpPr>
        <p:spPr>
          <a:xfrm>
            <a:off x="9002009" y="4010452"/>
            <a:ext cx="265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 Prediction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B8DD8-F85C-7F4C-A41C-7A85B53AEDB3}"/>
              </a:ext>
            </a:extLst>
          </p:cNvPr>
          <p:cNvSpPr txBox="1"/>
          <p:nvPr/>
        </p:nvSpPr>
        <p:spPr>
          <a:xfrm>
            <a:off x="5298762" y="4758237"/>
            <a:ext cx="159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Negatives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1D4D7-C653-9841-87DA-6D155A722D5E}"/>
              </a:ext>
            </a:extLst>
          </p:cNvPr>
          <p:cNvSpPr txBox="1"/>
          <p:nvPr/>
        </p:nvSpPr>
        <p:spPr>
          <a:xfrm>
            <a:off x="5298761" y="1967687"/>
            <a:ext cx="159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Negatives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087D3B-EFFB-7545-958C-B07300777D0D}"/>
              </a:ext>
            </a:extLst>
          </p:cNvPr>
          <p:cNvSpPr txBox="1"/>
          <p:nvPr/>
        </p:nvSpPr>
        <p:spPr>
          <a:xfrm rot="16200000">
            <a:off x="1969440" y="3937177"/>
            <a:ext cx="4200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False Positives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------                     ----&gt;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077703-FD41-4142-9B85-F4EEAF98B43C}"/>
              </a:ext>
            </a:extLst>
          </p:cNvPr>
          <p:cNvSpPr txBox="1"/>
          <p:nvPr/>
        </p:nvSpPr>
        <p:spPr>
          <a:xfrm>
            <a:off x="3599020" y="2894612"/>
            <a:ext cx="94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TruePos</a:t>
            </a:r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E7784-1DB9-5540-B447-CD222ADD6ECA}"/>
              </a:ext>
            </a:extLst>
          </p:cNvPr>
          <p:cNvSpPr txBox="1"/>
          <p:nvPr/>
        </p:nvSpPr>
        <p:spPr>
          <a:xfrm rot="16200000">
            <a:off x="923216" y="3937177"/>
            <a:ext cx="4241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</a:t>
            </a:r>
            <a:r>
              <a:rPr lang="en-US" b="1" dirty="0"/>
              <a:t>True Negatives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------                     ----&gt;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9E0909-7090-FB45-AD8D-2C7175194CBF}"/>
              </a:ext>
            </a:extLst>
          </p:cNvPr>
          <p:cNvSpPr txBox="1"/>
          <p:nvPr/>
        </p:nvSpPr>
        <p:spPr>
          <a:xfrm>
            <a:off x="2956657" y="2898493"/>
            <a:ext cx="450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&lt;----                        </a:t>
            </a:r>
            <a:r>
              <a:rPr lang="en-US" dirty="0"/>
              <a:t>---</a:t>
            </a:r>
            <a:r>
              <a:rPr lang="en-US" dirty="0">
                <a:sym typeface="Wingdings" pitchFamily="2" charset="2"/>
              </a:rPr>
              <a:t>-----  </a:t>
            </a:r>
            <a:r>
              <a:rPr lang="en-US" b="1" dirty="0"/>
              <a:t>False Negatives </a:t>
            </a:r>
            <a:r>
              <a:rPr lang="en-US" dirty="0">
                <a:sym typeface="Wingdings" pitchFamily="2" charset="2"/>
              </a:rPr>
              <a:t>----&gt;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2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11"/>
    </mc:Choice>
    <mc:Fallback xmlns="">
      <p:transition spd="slow" advTm="2241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1D3A-C6EB-D2B9-EFEC-E13B50F5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for Ms. 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22190-B4B5-155B-61D3-58B6688C5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After deciding to use the model, you see an 82 year-old woman with a new diagnosis of diastolic heart failure after a recent hospitalization. She had an echo and a </a:t>
            </a:r>
            <a:r>
              <a:rPr lang="en-US" dirty="0" err="1"/>
              <a:t>cath</a:t>
            </a:r>
            <a:r>
              <a:rPr lang="en-US" dirty="0"/>
              <a:t> showing left ventricular hypertrophy and grade 2 diastolic dysfunction with a preserved ejection fraction. She has a history of diabetes and retinopathy and neuropathy.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model predicts that she is 25% likely (95</a:t>
            </a:r>
            <a:r>
              <a:rPr lang="en-US" baseline="30000" dirty="0"/>
              <a:t>th</a:t>
            </a:r>
            <a:r>
              <a:rPr lang="en-US" dirty="0"/>
              <a:t> percentile) to progress to stage IV CKD within the next 2 years. This prediction is consistent with your clinical impression, so you consider whether to refer her to Nephrology.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Should you refer her? 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42324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7D7E-89C2-12C0-03E7-516466CF1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level of risk justifies referral?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2F2A5-12BA-EDFE-17A7-EFD158AF8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Ms. Z’s case leads you to wonder whether referral would be appropriate in more borderline cases.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make the process more streamlined and consistent, you decide you’d like to refer patients whose risk is above a particular threshold.</a:t>
            </a:r>
          </a:p>
          <a:p>
            <a:r>
              <a:rPr lang="en-US" dirty="0"/>
              <a:t>How do you decide on this threshold?</a:t>
            </a:r>
          </a:p>
          <a:p>
            <a:r>
              <a:rPr lang="en-US" dirty="0"/>
              <a:t>Should it be the same for everyone?</a:t>
            </a:r>
          </a:p>
          <a:p>
            <a:r>
              <a:rPr lang="en-US" dirty="0"/>
              <a:t>What does your decision say about cost/benefit?</a:t>
            </a:r>
          </a:p>
        </p:txBody>
      </p:sp>
    </p:spTree>
    <p:extLst>
      <p:ext uri="{BB962C8B-B14F-4D97-AF65-F5344CB8AC3E}">
        <p14:creationId xmlns:p14="http://schemas.microsoft.com/office/powerpoint/2010/main" val="17330101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6F17-E257-A947-CA44-A6EE3C7E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calibration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F88D8-67D7-1993-B320-724BA80E1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918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649A04-F8A2-084D-A266-0B4A75C3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637"/>
            <a:ext cx="10515600" cy="708780"/>
          </a:xfrm>
        </p:spPr>
        <p:txBody>
          <a:bodyPr/>
          <a:lstStyle/>
          <a:p>
            <a:pPr algn="ctr"/>
            <a:r>
              <a:rPr lang="en-US" dirty="0"/>
              <a:t>Assess Calibration Graphically</a:t>
            </a: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1BEE1F8E-A2F2-AE4E-B68D-765147F09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147" y="858417"/>
            <a:ext cx="8627706" cy="593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4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76"/>
    </mc:Choice>
    <mc:Fallback xmlns="">
      <p:transition spd="slow" advTm="34676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649A04-F8A2-084D-A266-0B4A75C3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637"/>
            <a:ext cx="10515600" cy="708780"/>
          </a:xfrm>
        </p:spPr>
        <p:txBody>
          <a:bodyPr/>
          <a:lstStyle/>
          <a:p>
            <a:pPr algn="ctr"/>
            <a:r>
              <a:rPr lang="en-US" dirty="0"/>
              <a:t>Assess Calibration Graphically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B54F1B-38FD-ED4A-8B3B-18DB4AC329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3872"/>
          <a:stretch/>
        </p:blipFill>
        <p:spPr bwMode="auto">
          <a:xfrm>
            <a:off x="2276280" y="909735"/>
            <a:ext cx="7639439" cy="5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0441EC-85CD-7E48-AE41-49756E206968}"/>
              </a:ext>
            </a:extLst>
          </p:cNvPr>
          <p:cNvSpPr/>
          <p:nvPr/>
        </p:nvSpPr>
        <p:spPr>
          <a:xfrm>
            <a:off x="4063455" y="5961506"/>
            <a:ext cx="40650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Model-Predicted Risk</a:t>
            </a:r>
          </a:p>
          <a:p>
            <a:endParaRPr lang="en-US" dirty="0"/>
          </a:p>
          <a:p>
            <a:r>
              <a:rPr lang="en-US" sz="1200" dirty="0"/>
              <a:t>From: https://scikit-</a:t>
            </a:r>
            <a:r>
              <a:rPr lang="en-US" sz="1200" dirty="0" err="1"/>
              <a:t>learn.org</a:t>
            </a:r>
            <a:r>
              <a:rPr lang="en-US" sz="1200" dirty="0"/>
              <a:t>/stable/modules/</a:t>
            </a:r>
            <a:r>
              <a:rPr lang="en-US" sz="1200" dirty="0" err="1"/>
              <a:t>calibration.html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197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92"/>
    </mc:Choice>
    <mc:Fallback xmlns="">
      <p:transition spd="slow" advTm="11792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5240-06DD-50DE-5F3C-881A1A0E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6D71-F5BF-04FB-4DD5-90909EB0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Investigating model predictions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26C3B-55E2-C5F1-1ADB-B199F48D5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inside the black box</a:t>
            </a:r>
          </a:p>
        </p:txBody>
      </p:sp>
    </p:spTree>
    <p:extLst>
      <p:ext uri="{BB962C8B-B14F-4D97-AF65-F5344CB8AC3E}">
        <p14:creationId xmlns:p14="http://schemas.microsoft.com/office/powerpoint/2010/main" val="1525559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56E8-27D3-0A4C-724A-7A181360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for Mr.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08EAB-0934-728F-10EE-F38E470BA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You’ve been using your stage IV prediction model for several months now and have found its predictions to be helpful and in line with your clinical judgment.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see a 32 year-old male patient with new significant hypertension (165/91). You check your model and see it predicts low stage IV CKD risk (&lt;2%). However, on physical exam there is puffiness around his eyes and 1+ edema to his mid-shin. On urinalysis you find significant proteinuria (3+).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model has been reliable thus far, and you wish to reconcile the findings you’re seeing with its predictions. 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/>
              <a:t>Report Back</a:t>
            </a:r>
            <a:r>
              <a:rPr lang="en-US" dirty="0"/>
              <a:t>: What can you do to investigate?</a:t>
            </a:r>
          </a:p>
        </p:txBody>
      </p:sp>
    </p:spTree>
    <p:extLst>
      <p:ext uri="{BB962C8B-B14F-4D97-AF65-F5344CB8AC3E}">
        <p14:creationId xmlns:p14="http://schemas.microsoft.com/office/powerpoint/2010/main" val="2764431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640E-3EB8-D6C6-BFC3-359E08A1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2405C-A82A-6CCE-2A7D-C93650098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information is available to the model?</a:t>
            </a:r>
          </a:p>
          <a:p>
            <a:pPr lvl="1"/>
            <a:r>
              <a:rPr lang="en-US" dirty="0"/>
              <a:t>Predictor groups</a:t>
            </a:r>
          </a:p>
          <a:p>
            <a:pPr lvl="1"/>
            <a:r>
              <a:rPr lang="en-US" dirty="0"/>
              <a:t>Timing of collection</a:t>
            </a:r>
          </a:p>
          <a:p>
            <a:pPr lvl="1"/>
            <a:r>
              <a:rPr lang="en-US" dirty="0"/>
              <a:t>Lab </a:t>
            </a:r>
            <a:r>
              <a:rPr lang="en-US" i="1" dirty="0"/>
              <a:t>ID</a:t>
            </a:r>
            <a:r>
              <a:rPr lang="en-US" dirty="0"/>
              <a:t> or lab </a:t>
            </a:r>
            <a:r>
              <a:rPr lang="en-US" i="1" dirty="0"/>
              <a:t>values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What population was used to train the model?</a:t>
            </a:r>
          </a:p>
          <a:p>
            <a:pPr lvl="1"/>
            <a:r>
              <a:rPr lang="en-US" dirty="0"/>
              <a:t>Relevant inclusion / exclusion criteria</a:t>
            </a:r>
          </a:p>
          <a:p>
            <a:pPr lvl="1"/>
            <a:r>
              <a:rPr lang="en-US" dirty="0"/>
              <a:t>Representation of specific demographics</a:t>
            </a:r>
          </a:p>
          <a:p>
            <a:pPr lvl="1"/>
            <a:endParaRPr lang="en-US" dirty="0"/>
          </a:p>
          <a:p>
            <a:r>
              <a:rPr lang="en-US" u="sng" dirty="0"/>
              <a:t>What do you know that the model doesn’t (or vice versa)?</a:t>
            </a:r>
          </a:p>
        </p:txBody>
      </p:sp>
    </p:spTree>
    <p:extLst>
      <p:ext uri="{BB962C8B-B14F-4D97-AF65-F5344CB8AC3E}">
        <p14:creationId xmlns:p14="http://schemas.microsoft.com/office/powerpoint/2010/main" val="31807753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D7AD87EC-E6C7-A367-8ABC-3AA2D438A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8730"/>
          <a:stretch/>
        </p:blipFill>
        <p:spPr bwMode="auto">
          <a:xfrm>
            <a:off x="355318" y="1906959"/>
            <a:ext cx="5622203" cy="364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ig. 1">
            <a:extLst>
              <a:ext uri="{FF2B5EF4-FFF2-40B4-BE49-F238E27FC236}">
                <a16:creationId xmlns:a16="http://schemas.microsoft.com/office/drawing/2014/main" id="{1A5AEFF2-7C44-96AE-7B4F-02DACB0E8B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9"/>
          <a:stretch/>
        </p:blipFill>
        <p:spPr bwMode="auto">
          <a:xfrm>
            <a:off x="6214480" y="1484555"/>
            <a:ext cx="5622203" cy="522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80C6E7-35E4-24E9-C70F-19B8C7F9B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520"/>
          </a:xfrm>
        </p:spPr>
        <p:txBody>
          <a:bodyPr>
            <a:normAutofit fontScale="90000"/>
          </a:bodyPr>
          <a:lstStyle/>
          <a:p>
            <a:r>
              <a:rPr lang="en-US" dirty="0"/>
              <a:t>Report Back: </a:t>
            </a:r>
            <a:br>
              <a:rPr lang="en-US" dirty="0"/>
            </a:br>
            <a:r>
              <a:rPr lang="en-US" dirty="0"/>
              <a:t>What else should you know to use the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B89DC-56F2-D121-EEF1-7869BE11315A}"/>
              </a:ext>
            </a:extLst>
          </p:cNvPr>
          <p:cNvSpPr txBox="1"/>
          <p:nvPr/>
        </p:nvSpPr>
        <p:spPr>
          <a:xfrm>
            <a:off x="314818" y="5831502"/>
            <a:ext cx="5703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Sendak, M.P., Gao, M., 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Brajer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N.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et al.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Presenting machine learning model information to clinical end users with model facts labels. </a:t>
            </a:r>
            <a:r>
              <a:rPr lang="en-US" sz="1200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npj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 Digit. Med.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sz="1200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41 (2020). https://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doi.org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/10.1038/s41746-020-0253-3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2807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3544</Words>
  <Application>Microsoft Macintosh PowerPoint</Application>
  <PresentationFormat>Widescreen</PresentationFormat>
  <Paragraphs>430</Paragraphs>
  <Slides>47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-apple-system</vt:lpstr>
      <vt:lpstr>Arial</vt:lpstr>
      <vt:lpstr>Calibri</vt:lpstr>
      <vt:lpstr>Calibri Light</vt:lpstr>
      <vt:lpstr>Wingdings</vt:lpstr>
      <vt:lpstr>Office Theme</vt:lpstr>
      <vt:lpstr>Practical Predictive AI Evaluation</vt:lpstr>
      <vt:lpstr>Overview</vt:lpstr>
      <vt:lpstr>Predictive AI</vt:lpstr>
      <vt:lpstr>New Stage IV Risk Prediction Model</vt:lpstr>
      <vt:lpstr>Prediction: Probability of a Binary Outcome</vt:lpstr>
      <vt:lpstr>Discrimination   vs   Calibration</vt:lpstr>
      <vt:lpstr>Assessing model discrimination</vt:lpstr>
      <vt:lpstr>Suppose our features are highly informative. What might our model’s predictions look like?</vt:lpstr>
      <vt:lpstr>Suppose our features are highly informative. What might our model’s predictions look like?</vt:lpstr>
      <vt:lpstr>Suppose our features are highly informative. What might our model’s predictions look like?</vt:lpstr>
      <vt:lpstr>Suppose our features are highly informative. What might our model’s predictions look like?</vt:lpstr>
      <vt:lpstr>Suppose our features are highly informative. What might our model’s predictions look like?</vt:lpstr>
      <vt:lpstr>Consider: how does each metric change as we vary the threshold?</vt:lpstr>
      <vt:lpstr>Consider: how does each metric change as we vary class balance?</vt:lpstr>
      <vt:lpstr>Consider: how does each metric change as we vary the threshold?</vt:lpstr>
      <vt:lpstr>Receiver Operating Characteristic Curve</vt:lpstr>
      <vt:lpstr>So, what’s a good AUC value? (i.e., good performance)?</vt:lpstr>
      <vt:lpstr>Suppose our features contain no information about the outcome. What might predictions look like?</vt:lpstr>
      <vt:lpstr>Suppose our features contain no information about the outcome. What might predictions look like?</vt:lpstr>
      <vt:lpstr>Our “no information” predictive model</vt:lpstr>
      <vt:lpstr>Our “no information” model</vt:lpstr>
      <vt:lpstr>So, what’s a good AUC value? (i.e., good performance)?</vt:lpstr>
      <vt:lpstr>What can we say about prediction performance when distributions match?</vt:lpstr>
      <vt:lpstr>Brief overview of generative adversarial networks (GANs)</vt:lpstr>
      <vt:lpstr>We’ve quantified performance across all thresholds, but how do we use the model?</vt:lpstr>
      <vt:lpstr>Healthcare Scenarios Which performance metric is most important?</vt:lpstr>
      <vt:lpstr>Operating Point:  high sensitivity</vt:lpstr>
      <vt:lpstr>The Precision-Recall Curve (i.e., PPV-Sensitivity Curve)</vt:lpstr>
      <vt:lpstr>Operating Point:  high sensitivity</vt:lpstr>
      <vt:lpstr>Healthcare Scenarios</vt:lpstr>
      <vt:lpstr>Operating Point:  high specificity</vt:lpstr>
      <vt:lpstr>Healthcare Scenarios</vt:lpstr>
      <vt:lpstr>Operating Point:  balanced</vt:lpstr>
      <vt:lpstr>Healthcare Scenarios</vt:lpstr>
      <vt:lpstr>Multi-class problems</vt:lpstr>
      <vt:lpstr>Multi-class problems: “Confusion Matrix”</vt:lpstr>
      <vt:lpstr>Multi-class problems: Binary for Label 1</vt:lpstr>
      <vt:lpstr>Multi-class problems: Binary for Label 2</vt:lpstr>
      <vt:lpstr>Prediction for Ms. Z</vt:lpstr>
      <vt:lpstr>What level of risk justifies referral?</vt:lpstr>
      <vt:lpstr>Assessing calibration</vt:lpstr>
      <vt:lpstr>Assess Calibration Graphically</vt:lpstr>
      <vt:lpstr>Assess Calibration Graphically</vt:lpstr>
      <vt:lpstr>Investigating model predictions</vt:lpstr>
      <vt:lpstr>Prediction for Mr. X</vt:lpstr>
      <vt:lpstr>Key Questions</vt:lpstr>
      <vt:lpstr>Report Back:  What else should you know to use the model?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Engelhard, M.D., Ph.D.</dc:creator>
  <cp:lastModifiedBy>Matthew Engelhard, M.D., Ph.D.</cp:lastModifiedBy>
  <cp:revision>30</cp:revision>
  <dcterms:created xsi:type="dcterms:W3CDTF">2023-10-25T18:29:18Z</dcterms:created>
  <dcterms:modified xsi:type="dcterms:W3CDTF">2026-05-29T22:11:27Z</dcterms:modified>
</cp:coreProperties>
</file>