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0"/>
  </p:notesMasterIdLst>
  <p:sldIdLst>
    <p:sldId id="256" r:id="rId2"/>
    <p:sldId id="2147477872" r:id="rId3"/>
    <p:sldId id="2147477929" r:id="rId4"/>
    <p:sldId id="2147477880" r:id="rId5"/>
    <p:sldId id="2147477881" r:id="rId6"/>
    <p:sldId id="2147477882" r:id="rId7"/>
    <p:sldId id="2147477924" r:id="rId8"/>
    <p:sldId id="2147477925" r:id="rId9"/>
    <p:sldId id="2147477926" r:id="rId10"/>
    <p:sldId id="2147477883" r:id="rId11"/>
    <p:sldId id="2147477940" r:id="rId12"/>
    <p:sldId id="2147477967" r:id="rId13"/>
    <p:sldId id="2147477939" r:id="rId14"/>
    <p:sldId id="2147477938" r:id="rId15"/>
    <p:sldId id="2147477931" r:id="rId16"/>
    <p:sldId id="893" r:id="rId17"/>
    <p:sldId id="2147477930" r:id="rId18"/>
    <p:sldId id="2147477941" r:id="rId19"/>
    <p:sldId id="2147477942" r:id="rId20"/>
    <p:sldId id="2147477943" r:id="rId21"/>
    <p:sldId id="2147477944" r:id="rId22"/>
    <p:sldId id="913" r:id="rId23"/>
    <p:sldId id="906" r:id="rId24"/>
    <p:sldId id="2147477945" r:id="rId25"/>
    <p:sldId id="2147477974" r:id="rId26"/>
    <p:sldId id="907" r:id="rId27"/>
    <p:sldId id="2147477961" r:id="rId28"/>
    <p:sldId id="2147477970" r:id="rId29"/>
    <p:sldId id="2147477971" r:id="rId30"/>
    <p:sldId id="2147477972" r:id="rId31"/>
    <p:sldId id="2147477969" r:id="rId32"/>
    <p:sldId id="2147477975" r:id="rId33"/>
    <p:sldId id="2147477973" r:id="rId34"/>
    <p:sldId id="908" r:id="rId35"/>
    <p:sldId id="2147477948" r:id="rId36"/>
    <p:sldId id="2147477947" r:id="rId37"/>
    <p:sldId id="2147477949" r:id="rId38"/>
    <p:sldId id="938" r:id="rId39"/>
    <p:sldId id="2147477950" r:id="rId40"/>
    <p:sldId id="2147477951" r:id="rId41"/>
    <p:sldId id="2147477953" r:id="rId42"/>
    <p:sldId id="2147477954" r:id="rId43"/>
    <p:sldId id="2147477955" r:id="rId44"/>
    <p:sldId id="2147477957" r:id="rId45"/>
    <p:sldId id="2147477956" r:id="rId46"/>
    <p:sldId id="2147477958" r:id="rId47"/>
    <p:sldId id="2147477959" r:id="rId48"/>
    <p:sldId id="2147477960" r:id="rId49"/>
    <p:sldId id="2147477937" r:id="rId50"/>
    <p:sldId id="2147477936" r:id="rId51"/>
    <p:sldId id="2147477976" r:id="rId52"/>
    <p:sldId id="2147477965" r:id="rId53"/>
    <p:sldId id="2147477962" r:id="rId54"/>
    <p:sldId id="2147477963" r:id="rId55"/>
    <p:sldId id="2147477964" r:id="rId56"/>
    <p:sldId id="2147477966" r:id="rId57"/>
    <p:sldId id="2147477932" r:id="rId58"/>
    <p:sldId id="2147477968" r:id="rId59"/>
    <p:sldId id="2147477885" r:id="rId60"/>
    <p:sldId id="891" r:id="rId61"/>
    <p:sldId id="2147477927" r:id="rId62"/>
    <p:sldId id="2147477928" r:id="rId63"/>
    <p:sldId id="898" r:id="rId64"/>
    <p:sldId id="899" r:id="rId65"/>
    <p:sldId id="900" r:id="rId66"/>
    <p:sldId id="902" r:id="rId67"/>
    <p:sldId id="901" r:id="rId68"/>
    <p:sldId id="903" r:id="rId6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1"/>
    <p:restoredTop sz="84521"/>
  </p:normalViewPr>
  <p:slideViewPr>
    <p:cSldViewPr snapToGrid="0">
      <p:cViewPr varScale="1">
        <p:scale>
          <a:sx n="106" d="100"/>
          <a:sy n="106" d="100"/>
        </p:scale>
        <p:origin x="13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1DB165-4AA5-C74B-B92C-8112284ED01E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4473FC-0C5D-CC45-9E3C-24DA0A6AE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289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input, block for encoder stack, prediction head</a:t>
            </a:r>
          </a:p>
          <a:p>
            <a:r>
              <a:rPr lang="en-US" dirty="0"/>
              <a:t>Note weight tying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473FC-0C5D-CC45-9E3C-24DA0A6AE79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4944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zero-shot, discuss how this can be done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473FC-0C5D-CC45-9E3C-24DA0A6AE79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3802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Now, what parts of this fairly complicated story -- and again, this is the super simple, quick and dirty version coming from a non-clinician – which parts are going to make it into the structured data?</a:t>
            </a:r>
          </a:p>
          <a:p>
            <a:endParaRPr lang="en-US" dirty="0"/>
          </a:p>
          <a:p>
            <a:r>
              <a:rPr lang="en-US" dirty="0"/>
              <a:t>Well, we’ll see who the patient is -- their age, sex, race</a:t>
            </a:r>
          </a:p>
          <a:p>
            <a:r>
              <a:rPr lang="en-US" dirty="0"/>
              <a:t>We’ll see that they came to the emergency department, and that they were admitted from the ED</a:t>
            </a:r>
          </a:p>
          <a:p>
            <a:endParaRPr lang="en-US" dirty="0"/>
          </a:p>
          <a:p>
            <a:r>
              <a:rPr lang="en-US" dirty="0"/>
              <a:t>We’ll see diagnosis codes, so we SHOULD end up seeing codes related to pulmonary embolism, supposing that ends up being the issue</a:t>
            </a:r>
          </a:p>
          <a:p>
            <a:r>
              <a:rPr lang="en-US" dirty="0"/>
              <a:t>And we’ll see procedure codes – we’ll see that they got a CT, for example</a:t>
            </a:r>
          </a:p>
          <a:p>
            <a:endParaRPr lang="en-US" dirty="0"/>
          </a:p>
          <a:p>
            <a:r>
              <a:rPr lang="en-US" dirty="0"/>
              <a:t>We’ll even see the details of those labs – the exact electrolyte values, their white cell count, and so on</a:t>
            </a:r>
          </a:p>
          <a:p>
            <a:endParaRPr lang="en-US" dirty="0"/>
          </a:p>
          <a:p>
            <a:r>
              <a:rPr lang="en-US" dirty="0"/>
              <a:t>So, that’s a lot of information. But it is really a comprehensive summary of the encounter?</a:t>
            </a:r>
          </a:p>
          <a:p>
            <a:r>
              <a:rPr lang="en-US" dirty="0"/>
              <a:t>Let’s thing about what we WON’T see.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87938A-5C4B-C644-A452-8D4D784107A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3929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the important thing to understand is that by applying a deep neural network to medical images</a:t>
            </a:r>
          </a:p>
          <a:p>
            <a:r>
              <a:rPr lang="en-US" dirty="0"/>
              <a:t>We can extract a set of numeric values that quantify the degree to which specific patterns – patterns that may be clinically relevant – are present in our images</a:t>
            </a:r>
          </a:p>
          <a:p>
            <a:r>
              <a:rPr lang="en-US" dirty="0"/>
              <a:t>We usually call these values a feature vector</a:t>
            </a:r>
          </a:p>
          <a:p>
            <a:endParaRPr lang="en-US" dirty="0"/>
          </a:p>
          <a:p>
            <a:r>
              <a:rPr lang="en-US" dirty="0"/>
              <a:t>And we can call this neural network an encoder</a:t>
            </a:r>
          </a:p>
          <a:p>
            <a:r>
              <a:rPr lang="en-US" dirty="0"/>
              <a:t>it takes our images and ENCODES them into a fairly small feature vector of say, 1000 or so values, which is much smaller than the number of pixels in our original image</a:t>
            </a:r>
          </a:p>
          <a:p>
            <a:endParaRPr lang="en-US" dirty="0"/>
          </a:p>
          <a:p>
            <a:r>
              <a:rPr lang="en-US" dirty="0"/>
              <a:t>Then, we can use a very simple model – usually logistic regression – to predict our outcome – in this case, retinopathy – from that feature vector</a:t>
            </a:r>
          </a:p>
          <a:p>
            <a:endParaRPr lang="en-US" dirty="0"/>
          </a:p>
          <a:p>
            <a:r>
              <a:rPr lang="en-US" dirty="0"/>
              <a:t>If we have enough data, we can use it to fine-tune our encoder to make sure it’s extracting the best, most predictive features possible</a:t>
            </a:r>
          </a:p>
          <a:p>
            <a:r>
              <a:rPr lang="en-US" dirty="0"/>
              <a:t>But, if we have less data, it’s often quite effective to simply apply an encoder that was shown to be effective for a different, ideally related medical image processing task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CDE58F-843A-8447-AF7F-7BD31329CDC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7233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contrast all this with a simpler prediction task</a:t>
            </a:r>
          </a:p>
          <a:p>
            <a:endParaRPr lang="en-US" dirty="0"/>
          </a:p>
          <a:p>
            <a:r>
              <a:rPr lang="en-US" dirty="0"/>
              <a:t>Let’s say we have a vector of clinical variables for each patient in a study of long-term cardiovascular health, and from those variables we want to predict the probability of heart attack within the next 10 years</a:t>
            </a:r>
          </a:p>
          <a:p>
            <a:endParaRPr lang="en-US" dirty="0"/>
          </a:p>
          <a:p>
            <a:r>
              <a:rPr lang="en-US" dirty="0"/>
              <a:t>Here we can simply train a logistic regression model to predict the outcome directly from our variables, and then we might want to evaluate out-of-sample prediction performance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CDE58F-843A-8447-AF7F-7BD31329CDC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911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Now, imagine that instead of clinical variables, we instead had a fundoscopic image for each study participant.</a:t>
            </a:r>
          </a:p>
          <a:p>
            <a:endParaRPr lang="en-US" dirty="0"/>
          </a:p>
          <a:p>
            <a:r>
              <a:rPr lang="en-US" dirty="0"/>
              <a:t>Applying logistic regression directly to the pixels in the image isn’t going to work here.</a:t>
            </a:r>
          </a:p>
          <a:p>
            <a:r>
              <a:rPr lang="en-US" dirty="0"/>
              <a:t>Instead, we can apply an encoder – in this case, a convolutional neural network – to each image.</a:t>
            </a:r>
          </a:p>
          <a:p>
            <a:endParaRPr lang="en-US" dirty="0"/>
          </a:p>
          <a:p>
            <a:r>
              <a:rPr lang="en-US" dirty="0"/>
              <a:t>This will give us a feature vector that describes the degree to which 1000 or so complex patterns – patterns that are known to be important for other prediction tasks – are present in the image</a:t>
            </a:r>
          </a:p>
          <a:p>
            <a:r>
              <a:rPr lang="en-US" dirty="0"/>
              <a:t>We can then use logistic regression to predict the probability of heart attack from these feature vectors</a:t>
            </a:r>
          </a:p>
          <a:p>
            <a:endParaRPr lang="en-US" dirty="0"/>
          </a:p>
          <a:p>
            <a:r>
              <a:rPr lang="en-US" dirty="0"/>
              <a:t>As before, after training our logistic regression model, we’ll usually want to evaluate out-of-sample prediction performance</a:t>
            </a:r>
          </a:p>
          <a:p>
            <a:r>
              <a:rPr lang="en-US" dirty="0"/>
              <a:t>If we happen to have thousands of images, we can consider a more involved training process to fine-tune our CNN encoder to make sure the features we’re extracting are the best possible features for our prediction task</a:t>
            </a:r>
          </a:p>
          <a:p>
            <a:r>
              <a:rPr lang="en-US" dirty="0"/>
              <a:t>More often, we don’t have enough data to do this, so we just use the same encoder that was used in a different – hopefully somewhat related -- task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CDE58F-843A-8447-AF7F-7BD31329CDC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6823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really understand all the nuances of how this is done, again I’d recommend an additional course in machine learning or natural language processing</a:t>
            </a:r>
          </a:p>
          <a:p>
            <a:endParaRPr lang="en-US" dirty="0"/>
          </a:p>
          <a:p>
            <a:r>
              <a:rPr lang="en-US" dirty="0"/>
              <a:t>But what’s important is that we have a process by which documents can be encoded as a feature vector</a:t>
            </a:r>
          </a:p>
          <a:p>
            <a:r>
              <a:rPr lang="en-US" dirty="0"/>
              <a:t>In our image processing example, the elements of this feature vector corresponded to high level motifs, or patterns, that might be present in the images</a:t>
            </a:r>
          </a:p>
          <a:p>
            <a:r>
              <a:rPr lang="en-US" dirty="0"/>
              <a:t>This time, the elements of this feature vector correspond to counts of words in a document</a:t>
            </a:r>
          </a:p>
          <a:p>
            <a:endParaRPr lang="en-US" dirty="0"/>
          </a:p>
          <a:p>
            <a:r>
              <a:rPr lang="en-US" dirty="0"/>
              <a:t>In both cases, at the end of the day we have a feature vector that we can use to predict an outcome of interest via logistic regression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CDE58F-843A-8447-AF7F-7BD31329CDC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6957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important, general principle to understand</a:t>
            </a:r>
          </a:p>
          <a:p>
            <a:endParaRPr lang="en-US" dirty="0"/>
          </a:p>
          <a:p>
            <a:r>
              <a:rPr lang="en-US" dirty="0"/>
              <a:t>The details of the encoder are going to be modality-specific and potentially complex</a:t>
            </a:r>
          </a:p>
          <a:p>
            <a:endParaRPr lang="en-US" dirty="0"/>
          </a:p>
          <a:p>
            <a:r>
              <a:rPr lang="en-US" dirty="0"/>
              <a:t>But, the general rule when working with unstructured data is that you’ll need to identify and use encoders appropriate for each modality</a:t>
            </a:r>
          </a:p>
          <a:p>
            <a:endParaRPr lang="en-US" dirty="0"/>
          </a:p>
          <a:p>
            <a:r>
              <a:rPr lang="en-US" dirty="0"/>
              <a:t>If you’re working with EEG data, you’ll need an encoder designed for EEG data</a:t>
            </a:r>
          </a:p>
          <a:p>
            <a:r>
              <a:rPr lang="en-US" dirty="0"/>
              <a:t>If you’re working with digital health data, you’ll need an encoder designed for digital health data</a:t>
            </a:r>
          </a:p>
          <a:p>
            <a:endParaRPr lang="en-US" dirty="0"/>
          </a:p>
          <a:p>
            <a:r>
              <a:rPr lang="en-US" dirty="0"/>
              <a:t>Currently, many of the most effective encoders are neural network based, but this is not necessarily or always the case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CDE58F-843A-8447-AF7F-7BD31329CDC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106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F6E48-7810-C35B-274C-33068CFF1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0FDCE8-34BE-8AAD-2185-70E92157FE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7C38DF-DDA9-FB5E-2733-6472F08CA5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important, general principle to understand</a:t>
            </a:r>
          </a:p>
          <a:p>
            <a:endParaRPr lang="en-US" dirty="0"/>
          </a:p>
          <a:p>
            <a:r>
              <a:rPr lang="en-US" dirty="0"/>
              <a:t>The details of the encoder are going to be modality-specific and potentially complex</a:t>
            </a:r>
          </a:p>
          <a:p>
            <a:endParaRPr lang="en-US" dirty="0"/>
          </a:p>
          <a:p>
            <a:r>
              <a:rPr lang="en-US" dirty="0"/>
              <a:t>But, the general rule when working with unstructured data is that you’ll need to identify and use encoders appropriate for each modality</a:t>
            </a:r>
          </a:p>
          <a:p>
            <a:endParaRPr lang="en-US" dirty="0"/>
          </a:p>
          <a:p>
            <a:r>
              <a:rPr lang="en-US" dirty="0"/>
              <a:t>If you’re working with EEG data, you’ll need an encoder designed for EEG data</a:t>
            </a:r>
          </a:p>
          <a:p>
            <a:r>
              <a:rPr lang="en-US" dirty="0"/>
              <a:t>If you’re working with digital health data, you’ll need an encoder designed for digital health data</a:t>
            </a:r>
          </a:p>
          <a:p>
            <a:endParaRPr lang="en-US" dirty="0"/>
          </a:p>
          <a:p>
            <a:r>
              <a:rPr lang="en-US" dirty="0"/>
              <a:t>Currently, many of the most effective encoders are neural network based, but this is not necessarily or always the case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E58D99-F0A1-C83F-355D-8045F89E87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CDE58F-843A-8447-AF7F-7BD31329CDC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956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 predicting the same outcome with (a) clinical variables, (b) a relevant image, or (c) a text document</a:t>
            </a:r>
          </a:p>
          <a:p>
            <a:endParaRPr lang="en-US" dirty="0"/>
          </a:p>
          <a:p>
            <a:r>
              <a:rPr lang="en-US" dirty="0"/>
              <a:t>With the clinical variables, we can use logistic regression – or whatever generalized linear model is appropriate for our outcome – to predict the outcome directly</a:t>
            </a:r>
          </a:p>
          <a:p>
            <a:r>
              <a:rPr lang="en-US" dirty="0"/>
              <a:t>With the image, we can use a convolutional neural network to encode the image as a feature vector, then use a generalized linear model to predict the outcome from that feature vector</a:t>
            </a:r>
          </a:p>
          <a:p>
            <a:r>
              <a:rPr lang="en-US" dirty="0" err="1"/>
              <a:t>Wtih</a:t>
            </a:r>
            <a:r>
              <a:rPr lang="en-US" dirty="0"/>
              <a:t> the document, we can use an NLP encoder, which might be counts-based, or it might be word vector based, to encode the image into document features, then use a generalized linear model to predict the outcome from that feature vector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CDE58F-843A-8447-AF7F-7BD31329CDC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8095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F5302-7842-2C98-91C2-373E671AB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7E56C9-5DBF-B271-6B9A-C28396D0BA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6E8489-8014-743D-CA00-6423E85D3F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 predicting the same outcome with (a) clinical variables, (b) a relevant image, or (c) a text document</a:t>
            </a:r>
          </a:p>
          <a:p>
            <a:endParaRPr lang="en-US" dirty="0"/>
          </a:p>
          <a:p>
            <a:r>
              <a:rPr lang="en-US" dirty="0"/>
              <a:t>With the clinical variables, we can use logistic regression – or whatever generalized linear model is appropriate for our outcome – to predict the outcome directly</a:t>
            </a:r>
          </a:p>
          <a:p>
            <a:r>
              <a:rPr lang="en-US" dirty="0"/>
              <a:t>With the image, we can use a convolutional neural network to encode the image as a feature vector, then use a generalized linear model to predict the outcome from that feature vector</a:t>
            </a:r>
          </a:p>
          <a:p>
            <a:r>
              <a:rPr lang="en-US" dirty="0" err="1"/>
              <a:t>Wtih</a:t>
            </a:r>
            <a:r>
              <a:rPr lang="en-US" dirty="0"/>
              <a:t> the document, we can use an NLP encoder, which might be counts-based, or it might be word vector based, to encode the image into document features, then use a generalized linear model to predict the outcome from that feature vector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A362BC-C4B6-F38E-9A79-BAC018921B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CDE58F-843A-8447-AF7F-7BD31329CDC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5515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CC991-B362-B5D7-FE73-5A871F0E0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FA0A78-3AC5-ED33-8BA5-BA96DD748D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FEE2A2-45A5-9016-F3C4-9F1590CAA6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 predicting the same outcome with (a) clinical variables, (b) a relevant image, or (c) a text document</a:t>
            </a:r>
          </a:p>
          <a:p>
            <a:endParaRPr lang="en-US" dirty="0"/>
          </a:p>
          <a:p>
            <a:r>
              <a:rPr lang="en-US" dirty="0"/>
              <a:t>With the clinical variables, we can use logistic regression – or whatever generalized linear model is appropriate for our outcome – to predict the outcome directly</a:t>
            </a:r>
          </a:p>
          <a:p>
            <a:r>
              <a:rPr lang="en-US" dirty="0"/>
              <a:t>With the image, we can use a convolutional neural network to encode the image as a feature vector, then use a generalized linear model to predict the outcome from that feature vector</a:t>
            </a:r>
          </a:p>
          <a:p>
            <a:r>
              <a:rPr lang="en-US" dirty="0" err="1"/>
              <a:t>Wtih</a:t>
            </a:r>
            <a:r>
              <a:rPr lang="en-US" dirty="0"/>
              <a:t> the document, we can use an NLP encoder, which might be counts-based, or it might be word vector based, to encode the image into document features, then use a generalized linear model to predict the outcome from that feature vector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7F2A0E-C3C8-9774-F113-CF5EDB5BD8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CDE58F-843A-8447-AF7F-7BD31329CDC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2035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A977E-C252-BFD6-EEC2-9C5A73AF6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ED01D6-0907-BE2D-6D03-908C5B9C99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95B601-FEA9-9C7B-03F3-521AF6F2B6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 predicting the same outcome with (a) clinical variables, (b) a relevant image, or (c) a text document</a:t>
            </a:r>
          </a:p>
          <a:p>
            <a:endParaRPr lang="en-US" dirty="0"/>
          </a:p>
          <a:p>
            <a:r>
              <a:rPr lang="en-US" dirty="0"/>
              <a:t>With the clinical variables, we can use logistic regression – or whatever generalized linear model is appropriate for our outcome – to predict the outcome directly</a:t>
            </a:r>
          </a:p>
          <a:p>
            <a:r>
              <a:rPr lang="en-US" dirty="0"/>
              <a:t>With the image, we can use a convolutional neural network to encode the image as a feature vector, then use a generalized linear model to predict the outcome from that feature vector</a:t>
            </a:r>
          </a:p>
          <a:p>
            <a:r>
              <a:rPr lang="en-US" dirty="0" err="1"/>
              <a:t>Wtih</a:t>
            </a:r>
            <a:r>
              <a:rPr lang="en-US" dirty="0"/>
              <a:t> the document, we can use an NLP encoder, which might be counts-based, or it might be word vector based, to encode the image into document features, then use a generalized linear model to predict the outcome from that feature vector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56799A-3C90-FB32-C8BA-EE960E9677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CDE58F-843A-8447-AF7F-7BD31329CDC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786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3F431-05FC-53F8-8DC3-2BC694A9E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898CB7-2F8D-1DD9-B821-7D97DBA25B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EF8B7D-ABF7-5A93-B863-85F68570F2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 predicting the same outcome with (a) clinical variables, (b) a relevant image, or (c) a text document</a:t>
            </a:r>
          </a:p>
          <a:p>
            <a:endParaRPr lang="en-US" dirty="0"/>
          </a:p>
          <a:p>
            <a:r>
              <a:rPr lang="en-US" dirty="0"/>
              <a:t>With the clinical variables, we can use logistic regression – or whatever generalized linear model is appropriate for our outcome – to predict the outcome directly</a:t>
            </a:r>
          </a:p>
          <a:p>
            <a:r>
              <a:rPr lang="en-US" dirty="0"/>
              <a:t>With the image, we can use a convolutional neural network to encode the image as a feature vector, then use a generalized linear model to predict the outcome from that feature vector</a:t>
            </a:r>
          </a:p>
          <a:p>
            <a:r>
              <a:rPr lang="en-US" dirty="0" err="1"/>
              <a:t>Wtih</a:t>
            </a:r>
            <a:r>
              <a:rPr lang="en-US" dirty="0"/>
              <a:t> the document, we can use an NLP encoder, which might be counts-based, or it might be word vector based, to encode the image into document features, then use a generalized linear model to predict the outcome from that feature vector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12C77B-9BE0-B2D4-A64E-C139B27E48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CDE58F-843A-8447-AF7F-7BD31329CDC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4471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07E3A-89AA-26CC-69D2-D3064022E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3B7E4D-F95D-CBF8-0C5C-5EBE7DDC0E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93C416-E1BB-5782-EBE6-71070C385C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 predicting the same outcome with (a) clinical variables, (b) a relevant image, or (c) a text document</a:t>
            </a:r>
          </a:p>
          <a:p>
            <a:endParaRPr lang="en-US" dirty="0"/>
          </a:p>
          <a:p>
            <a:r>
              <a:rPr lang="en-US" dirty="0"/>
              <a:t>With the clinical variables, we can use logistic regression – or whatever generalized linear model is appropriate for our outcome – to predict the outcome directly</a:t>
            </a:r>
          </a:p>
          <a:p>
            <a:r>
              <a:rPr lang="en-US" dirty="0"/>
              <a:t>With the image, we can use a convolutional neural network to encode the image as a feature vector, then use a generalized linear model to predict the outcome from that feature vector</a:t>
            </a:r>
          </a:p>
          <a:p>
            <a:r>
              <a:rPr lang="en-US" dirty="0" err="1"/>
              <a:t>Wtih</a:t>
            </a:r>
            <a:r>
              <a:rPr lang="en-US" dirty="0"/>
              <a:t> the document, we can use an NLP encoder, which might be counts-based, or it might be word vector based, to encode the image into document features, then use a generalized linear model to predict the outcome from that feature vector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CEE0EF-DF20-C980-CE35-9232D1CB40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CDE58F-843A-8447-AF7F-7BD31329CDC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5967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40342-F46E-65B4-0E14-410D16126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81C0DF-35CD-FFB0-2717-4B538E331A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4A6B37-2BF8-1DE8-DEE3-BF8B9ADAB7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 predicting the same outcome with (a) clinical variables, (b) a relevant image, or (c) a text document</a:t>
            </a:r>
          </a:p>
          <a:p>
            <a:endParaRPr lang="en-US" dirty="0"/>
          </a:p>
          <a:p>
            <a:r>
              <a:rPr lang="en-US" dirty="0"/>
              <a:t>With the clinical variables, we can use logistic regression – or whatever generalized linear model is appropriate for our outcome – to predict the outcome directly</a:t>
            </a:r>
          </a:p>
          <a:p>
            <a:r>
              <a:rPr lang="en-US" dirty="0"/>
              <a:t>With the image, we can use a convolutional neural network to encode the image as a feature vector, then use a generalized linear model to predict the outcome from that feature vector</a:t>
            </a:r>
          </a:p>
          <a:p>
            <a:r>
              <a:rPr lang="en-US" dirty="0" err="1"/>
              <a:t>Wtih</a:t>
            </a:r>
            <a:r>
              <a:rPr lang="en-US" dirty="0"/>
              <a:t> the document, we can use an NLP encoder, which might be counts-based, or it might be word vector based, to encode the image into document features, then use a generalized linear model to predict the outcome from that feature vector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C52CBB-9F43-20F5-0049-D01C58B5F1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CDE58F-843A-8447-AF7F-7BD31329CDC1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5041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what if we want to make predictions from all three types of data, together?</a:t>
            </a:r>
          </a:p>
          <a:p>
            <a:endParaRPr lang="en-US" dirty="0"/>
          </a:p>
          <a:p>
            <a:r>
              <a:rPr lang="en-US" dirty="0"/>
              <a:t>As this diagram suggests, we can approach this by simply concatenating – in other words stacking – all of our feature vectors together. We can combine our clinical variables with our extracted image features and extracted NLP features.</a:t>
            </a:r>
          </a:p>
          <a:p>
            <a:endParaRPr lang="en-US" dirty="0"/>
          </a:p>
          <a:p>
            <a:r>
              <a:rPr lang="en-US" dirty="0"/>
              <a:t>Of course, this is the obvious thing to do once you understand the concept of an encoder, but having effective encoders for some of these data types – notably image data – is still a fairly recent development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CDE58F-843A-8447-AF7F-7BD31329CDC1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6826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49BC3-E883-D769-4EA5-AFF33F24E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1E485B-E2B4-9EE1-90A3-62BAD194E5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AD1D0D-C7E9-9E91-82B0-862F27F9D7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what if we want to make predictions from all three types of data, together?</a:t>
            </a:r>
          </a:p>
          <a:p>
            <a:endParaRPr lang="en-US" dirty="0"/>
          </a:p>
          <a:p>
            <a:r>
              <a:rPr lang="en-US" dirty="0"/>
              <a:t>As this diagram suggests, we can approach this by simply concatenating – in other words stacking – all of our feature vectors together. We can combine our clinical variables with our extracted image features and extracted NLP features.</a:t>
            </a:r>
          </a:p>
          <a:p>
            <a:endParaRPr lang="en-US" dirty="0"/>
          </a:p>
          <a:p>
            <a:r>
              <a:rPr lang="en-US" dirty="0"/>
              <a:t>Of course, this is the obvious thing to do once you understand the concept of an encoder, but having effective encoders for some of these data types – notably image data – is still a fairly recent development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7E38CD-0888-0D20-D240-032C4DB2C8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CDE58F-843A-8447-AF7F-7BD31329CDC1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2537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51EF1-60C5-005C-0525-4E808752D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CFAE08-D6F0-BBAE-48E0-15AC6A76F6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50BE3B-C3D0-C7D3-0B2F-E8D09C8B87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what if we want to make predictions from all three types of data, together?</a:t>
            </a:r>
          </a:p>
          <a:p>
            <a:endParaRPr lang="en-US" dirty="0"/>
          </a:p>
          <a:p>
            <a:r>
              <a:rPr lang="en-US" dirty="0"/>
              <a:t>As this diagram suggests, we can approach this by simply concatenating – in other words stacking – all of our feature vectors together. We can combine our clinical variables with our extracted image features and extracted NLP features.</a:t>
            </a:r>
          </a:p>
          <a:p>
            <a:endParaRPr lang="en-US" dirty="0"/>
          </a:p>
          <a:p>
            <a:r>
              <a:rPr lang="en-US" dirty="0"/>
              <a:t>Of course, this is the obvious thing to do once you understand the concept of an encoder, but having effective encoders for some of these data types – notably image data – is still a fairly recent development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12543A-B01C-B371-663C-38285949A9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CDE58F-843A-8447-AF7F-7BD31329CDC1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1364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0315A-737B-5136-9A9B-F93E7D817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EB4E79-5325-D074-9D71-DE7AC88E72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FE8D4A-D9FA-3E7F-6152-EF48B0BBD3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what if we want to make predictions from all three types of data, together?</a:t>
            </a:r>
          </a:p>
          <a:p>
            <a:endParaRPr lang="en-US" dirty="0"/>
          </a:p>
          <a:p>
            <a:r>
              <a:rPr lang="en-US" dirty="0"/>
              <a:t>As this diagram suggests, we can approach this by simply concatenating – in other words stacking – all of our feature vectors together. We can combine our clinical variables with our extracted image features and extracted NLP features.</a:t>
            </a:r>
          </a:p>
          <a:p>
            <a:endParaRPr lang="en-US" dirty="0"/>
          </a:p>
          <a:p>
            <a:r>
              <a:rPr lang="en-US" dirty="0"/>
              <a:t>Of course, this is the obvious thing to do once you understand the concept of an encoder, but having effective encoders for some of these data types – notably image data – is still a fairly recent development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15BD7-7268-ECCE-C6BB-24E1DEAB9B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CDE58F-843A-8447-AF7F-7BD31329CDC1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5644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ADB28-A242-4239-9204-E7C379D03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4D775A-19CA-53BA-03D8-0D52C1F626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43E7C3-C625-7BA1-6842-6F4E86C0F3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 predicting the same outcome with (a) clinical variables, (b) a relevant image, or (c) a text document</a:t>
            </a:r>
          </a:p>
          <a:p>
            <a:endParaRPr lang="en-US" dirty="0"/>
          </a:p>
          <a:p>
            <a:r>
              <a:rPr lang="en-US" dirty="0"/>
              <a:t>With the clinical variables, we can use logistic regression – or whatever generalized linear model is appropriate for our outcome – to predict the outcome directly</a:t>
            </a:r>
          </a:p>
          <a:p>
            <a:r>
              <a:rPr lang="en-US" dirty="0"/>
              <a:t>With the image, we can use a convolutional neural network to encode the image as a feature vector, then use a generalized linear model to predict the outcome from that feature vector</a:t>
            </a:r>
          </a:p>
          <a:p>
            <a:r>
              <a:rPr lang="en-US" dirty="0" err="1"/>
              <a:t>Wtih</a:t>
            </a:r>
            <a:r>
              <a:rPr lang="en-US" dirty="0"/>
              <a:t> the document, we can use an NLP encoder, which might be counts-based, or it might be word vector based, to encode the image into document features, then use a generalized linear model to predict the outcome from that feature vector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EBC5C2-8806-8B1D-E84A-840CF93C64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CDE58F-843A-8447-AF7F-7BD31329CDC1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3006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91D4E-7AE4-672F-8D02-9E87BB162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5EB331-54DA-C869-CEAF-B034C13F77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0A10FE-D880-5CE7-ADC0-AE110E52DD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what if we want to make predictions from all three types of data, together?</a:t>
            </a:r>
          </a:p>
          <a:p>
            <a:endParaRPr lang="en-US" dirty="0"/>
          </a:p>
          <a:p>
            <a:r>
              <a:rPr lang="en-US" dirty="0"/>
              <a:t>As this diagram suggests, we can approach this by simply concatenating – in other words stacking – all of our feature vectors together. We can combine our clinical variables with our extracted image features and extracted NLP features.</a:t>
            </a:r>
          </a:p>
          <a:p>
            <a:endParaRPr lang="en-US" dirty="0"/>
          </a:p>
          <a:p>
            <a:r>
              <a:rPr lang="en-US" dirty="0"/>
              <a:t>Of course, this is the obvious thing to do once you understand the concept of an encoder, but having effective encoders for some of these data types – notably image data – is still a fairly recent development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5D2321-89E1-0165-C85B-0B5A10CD11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CDE58F-843A-8447-AF7F-7BD31329CDC1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1178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79150-F068-3EC2-EB2F-5C77A2D24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BEC804-7594-8788-DCC1-C67B9B51EE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0F328D-24AD-C7E9-1B04-A0CD5DBA31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what if we want to make predictions from all three types of data, together?</a:t>
            </a:r>
          </a:p>
          <a:p>
            <a:endParaRPr lang="en-US" dirty="0"/>
          </a:p>
          <a:p>
            <a:r>
              <a:rPr lang="en-US" dirty="0"/>
              <a:t>As this diagram suggests, we can approach this by simply concatenating – in other words stacking – all of our feature vectors together. We can combine our clinical variables with our extracted image features and extracted NLP features.</a:t>
            </a:r>
          </a:p>
          <a:p>
            <a:endParaRPr lang="en-US" dirty="0"/>
          </a:p>
          <a:p>
            <a:r>
              <a:rPr lang="en-US" dirty="0"/>
              <a:t>Of course, this is the obvious thing to do once you understand the concept of an encoder, but having effective encoders for some of these data types – notably image data – is still a fairly recent development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BE0F07-A596-7219-10BA-9A743833AE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CDE58F-843A-8447-AF7F-7BD31329CDC1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3444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52B4B-407E-AF9B-D1E1-D022426FB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20F10D-6528-82D7-D43A-BD499625DE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04C1C0-B511-ECD4-64B9-49224AA84A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what if we want to make predictions from all three types of data, together?</a:t>
            </a:r>
          </a:p>
          <a:p>
            <a:endParaRPr lang="en-US" dirty="0"/>
          </a:p>
          <a:p>
            <a:r>
              <a:rPr lang="en-US" dirty="0"/>
              <a:t>As this diagram suggests, we can approach this by simply concatenating – in other words stacking – all of our feature vectors together. We can combine our clinical variables with our extracted image features and extracted NLP features.</a:t>
            </a:r>
          </a:p>
          <a:p>
            <a:endParaRPr lang="en-US" dirty="0"/>
          </a:p>
          <a:p>
            <a:r>
              <a:rPr lang="en-US" dirty="0"/>
              <a:t>Of course, this is the obvious thing to do once you understand the concept of an encoder, but having effective encoders for some of these data types – notably image data – is still a fairly recent development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9AAB69-419D-0FD7-B314-F082D77891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CDE58F-843A-8447-AF7F-7BD31329CDC1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42816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162D5-C939-1FD7-2016-B052FDDC3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2CAE53-8E38-23A1-C3D5-D9CF0107BD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7508B1-85B6-A3A5-AB1E-C0DB2AF774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what if we want to make predictions from all three types of data, together?</a:t>
            </a:r>
          </a:p>
          <a:p>
            <a:endParaRPr lang="en-US" dirty="0"/>
          </a:p>
          <a:p>
            <a:r>
              <a:rPr lang="en-US" dirty="0"/>
              <a:t>As this diagram suggests, we can approach this by simply concatenating – in other words stacking – all of our feature vectors together. We can combine our clinical variables with our extracted image features and extracted NLP features.</a:t>
            </a:r>
          </a:p>
          <a:p>
            <a:endParaRPr lang="en-US" dirty="0"/>
          </a:p>
          <a:p>
            <a:r>
              <a:rPr lang="en-US" dirty="0"/>
              <a:t>Of course, this is the obvious thing to do once you understand the concept of an encoder, but having effective encoders for some of these data types – notably image data – is still a fairly recent development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AAEF07-533B-9462-4A24-F8EB268214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CDE58F-843A-8447-AF7F-7BD31329CDC1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07646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AF588-43C2-1F2F-642F-507095FC0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2FB86E-8714-C4B1-B494-2EF970CBB0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C1D069-4591-66AF-3286-0D1A9E37E1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what if we want to make predictions from all three types of data, together?</a:t>
            </a:r>
          </a:p>
          <a:p>
            <a:endParaRPr lang="en-US" dirty="0"/>
          </a:p>
          <a:p>
            <a:r>
              <a:rPr lang="en-US" dirty="0"/>
              <a:t>As this diagram suggests, we can approach this by simply concatenating – in other words stacking – all of our feature vectors together. We can combine our clinical variables with our extracted image features and extracted NLP features.</a:t>
            </a:r>
          </a:p>
          <a:p>
            <a:endParaRPr lang="en-US" dirty="0"/>
          </a:p>
          <a:p>
            <a:r>
              <a:rPr lang="en-US" dirty="0"/>
              <a:t>Of course, this is the obvious thing to do once you understand the concept of an encoder, but having effective encoders for some of these data types – notably image data – is still a fairly recent development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39CA0-D676-B449-4D62-423845F796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CDE58F-843A-8447-AF7F-7BD31329CDC1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3963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CE758-316D-967A-315D-875259840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CC7E1D-8951-B78D-95E3-49BEFD44AC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855ECE-61CD-D127-BA0F-5E0E6BFDF1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what if we want to make predictions from all three types of data, together?</a:t>
            </a:r>
          </a:p>
          <a:p>
            <a:endParaRPr lang="en-US" dirty="0"/>
          </a:p>
          <a:p>
            <a:r>
              <a:rPr lang="en-US" dirty="0"/>
              <a:t>As this diagram suggests, we can approach this by simply concatenating – in other words stacking – all of our feature vectors together. We can combine our clinical variables with our extracted image features and extracted NLP features.</a:t>
            </a:r>
          </a:p>
          <a:p>
            <a:endParaRPr lang="en-US" dirty="0"/>
          </a:p>
          <a:p>
            <a:r>
              <a:rPr lang="en-US" dirty="0"/>
              <a:t>Of course, this is the obvious thing to do once you understand the concept of an encoder, but having effective encoders for some of these data types – notably image data – is still a fairly recent development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383001-817C-1885-83CC-E750678241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CDE58F-843A-8447-AF7F-7BD31329CDC1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76825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F5FC0-C20E-752A-14C3-0AE823B69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4C56FB-E2D3-98DB-CA46-9EBD37745A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1AD109-49CB-B631-0E0F-721534607B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what if we want to make predictions from all three types of data, together?</a:t>
            </a:r>
          </a:p>
          <a:p>
            <a:endParaRPr lang="en-US" dirty="0"/>
          </a:p>
          <a:p>
            <a:r>
              <a:rPr lang="en-US" dirty="0"/>
              <a:t>As this diagram suggests, we can approach this by simply concatenating – in other words stacking – all of our feature vectors together. We can combine our clinical variables with our extracted image features and extracted NLP features.</a:t>
            </a:r>
          </a:p>
          <a:p>
            <a:endParaRPr lang="en-US" dirty="0"/>
          </a:p>
          <a:p>
            <a:r>
              <a:rPr lang="en-US" dirty="0"/>
              <a:t>Of course, this is the obvious thing to do once you understand the concept of an encoder, but having effective encoders for some of these data types – notably image data – is still a fairly recent development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C8598-B175-7351-D1DB-20540038D0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CDE58F-843A-8447-AF7F-7BD31329CDC1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10286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7006F-5ACB-CC53-0482-95142AA72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4917AD-4D73-7900-8CEA-0295483095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0F4295-F1DE-CCDD-5B5A-ADD319E794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what if we want to make predictions from all three types of data, together?</a:t>
            </a:r>
          </a:p>
          <a:p>
            <a:endParaRPr lang="en-US" dirty="0"/>
          </a:p>
          <a:p>
            <a:r>
              <a:rPr lang="en-US" dirty="0"/>
              <a:t>As this diagram suggests, we can approach this by simply concatenating – in other words stacking – all of our feature vectors together. We can combine our clinical variables with our extracted image features and extracted NLP features.</a:t>
            </a:r>
          </a:p>
          <a:p>
            <a:endParaRPr lang="en-US" dirty="0"/>
          </a:p>
          <a:p>
            <a:r>
              <a:rPr lang="en-US" dirty="0"/>
              <a:t>Of course, this is the obvious thing to do once you understand the concept of an encoder, but having effective encoders for some of these data types – notably image data – is still a fairly recent development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44FA7E-404C-93DD-81B3-45102E1970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CDE58F-843A-8447-AF7F-7BD31329CDC1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31906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98E2C-B677-A446-AB17-7238E7436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D809F3-641A-EB42-B15A-27830D7D0A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15DEC1-1903-1253-9517-848000AE8D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what if we want to make predictions from all three types of data, together?</a:t>
            </a:r>
          </a:p>
          <a:p>
            <a:endParaRPr lang="en-US" dirty="0"/>
          </a:p>
          <a:p>
            <a:r>
              <a:rPr lang="en-US" dirty="0"/>
              <a:t>As this diagram suggests, we can approach this by simply concatenating – in other words stacking – all of our feature vectors together. We can combine our clinical variables with our extracted image features and extracted NLP features.</a:t>
            </a:r>
          </a:p>
          <a:p>
            <a:endParaRPr lang="en-US" dirty="0"/>
          </a:p>
          <a:p>
            <a:r>
              <a:rPr lang="en-US" dirty="0"/>
              <a:t>Of course, this is the obvious thing to do once you understand the concept of an encoder, but having effective encoders for some of these data types – notably image data – is still a fairly recent development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400E28-B11E-D58C-00AA-28BF750B41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CDE58F-843A-8447-AF7F-7BD31329CDC1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1793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Lupus is one where late fusion might be good!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473FC-0C5D-CC45-9E3C-24DA0A6AE799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70007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Question: *should we* be using generative models for all NLP tasks?</a:t>
            </a:r>
          </a:p>
          <a:p>
            <a:endParaRPr lang="en-US" dirty="0"/>
          </a:p>
          <a:p>
            <a:r>
              <a:rPr lang="en-US" dirty="0"/>
              <a:t>Advantages?</a:t>
            </a:r>
          </a:p>
          <a:p>
            <a:pPr marL="171450" indent="-171450">
              <a:buFontTx/>
              <a:buChar char="-"/>
            </a:pPr>
            <a:r>
              <a:rPr lang="en-US" dirty="0"/>
              <a:t>zero-shot</a:t>
            </a:r>
          </a:p>
          <a:p>
            <a:pPr marL="171450" indent="-171450">
              <a:buFontTx/>
              <a:buChar char="-"/>
            </a:pPr>
            <a:r>
              <a:rPr lang="en-US" dirty="0"/>
              <a:t>convenient</a:t>
            </a:r>
          </a:p>
          <a:p>
            <a:endParaRPr lang="en-US" dirty="0"/>
          </a:p>
          <a:p>
            <a:r>
              <a:rPr lang="en-US" dirty="0"/>
              <a:t>Disadvantages?</a:t>
            </a:r>
          </a:p>
          <a:p>
            <a:r>
              <a:rPr lang="en-US" dirty="0"/>
              <a:t>- expensive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333E9F-084A-8543-BC6F-0AE70009C29B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98695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BF20E-3BC5-B04B-193D-B959B2B64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D0D52D-C9DB-AB56-0025-FC613C0711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210B38-D8FC-FC02-56C7-86E8AE429F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Question: *should we* be using generative models for all NLP tasks?</a:t>
            </a:r>
          </a:p>
          <a:p>
            <a:endParaRPr lang="en-US" dirty="0"/>
          </a:p>
          <a:p>
            <a:r>
              <a:rPr lang="en-US" dirty="0"/>
              <a:t>Advantages?</a:t>
            </a:r>
          </a:p>
          <a:p>
            <a:pPr marL="171450" indent="-171450">
              <a:buFontTx/>
              <a:buChar char="-"/>
            </a:pPr>
            <a:r>
              <a:rPr lang="en-US" dirty="0"/>
              <a:t>zero-shot</a:t>
            </a:r>
          </a:p>
          <a:p>
            <a:pPr marL="171450" indent="-171450">
              <a:buFontTx/>
              <a:buChar char="-"/>
            </a:pPr>
            <a:r>
              <a:rPr lang="en-US" dirty="0"/>
              <a:t>convenient</a:t>
            </a:r>
          </a:p>
          <a:p>
            <a:endParaRPr lang="en-US" dirty="0"/>
          </a:p>
          <a:p>
            <a:r>
              <a:rPr lang="en-US" dirty="0"/>
              <a:t>Disadvantages?</a:t>
            </a:r>
          </a:p>
          <a:p>
            <a:r>
              <a:rPr lang="en-US" dirty="0"/>
              <a:t>- expensive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51BF3-91CE-FD32-41F4-C391532ADE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333E9F-084A-8543-BC6F-0AE70009C29B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86893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333E9F-084A-8543-BC6F-0AE70009C29B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49398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we treat this as a translation (i.e., sequence to sequence) problem? Or a text generation problem?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333E9F-084A-8543-BC6F-0AE70009C29B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7493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group – how would you evaluate a generative model?</a:t>
            </a:r>
          </a:p>
          <a:p>
            <a:r>
              <a:rPr lang="en-US" dirty="0"/>
              <a:t>What approaches have you seen?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333E9F-084A-8543-BC6F-0AE70009C29B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650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09C65-5B45-8A8E-6F68-DB8813D503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6E2F5E-2C3B-665A-18F6-A5AF96FEEA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6FB75-BBF9-CE7A-F8BC-4A975F76B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541D-DF74-9A4A-9DDD-A2AC91D32397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45DBA-D53D-DED5-4E2C-190805F09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A64D7B-969D-60F7-CDF7-A966A5F21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BBE80-09B7-C740-84E9-B93072B5D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024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7EF66-0BC9-C007-D01E-330C25179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2B056-3BB2-F08D-F24E-F2C0B17E7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3EACD-7C53-904F-0E01-F1DB58491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541D-DF74-9A4A-9DDD-A2AC91D32397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DDF4B-8F12-53F1-E4C6-DFC885E1B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9FDE48-BB3A-E427-0C8A-B97FDDC4C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BBE80-09B7-C740-84E9-B93072B5D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927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C3C34-9191-AD4A-C4D6-100A0B0BC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BAE5B1-C421-6E73-5A75-C04B26240B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EB455-2B87-1B0B-FA70-8A3453E34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541D-DF74-9A4A-9DDD-A2AC91D32397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CAC2CF-D42D-1BF8-F030-24EE4ADBF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F3628-B960-5FE2-011C-85E058909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BBE80-09B7-C740-84E9-B93072B5D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745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2FFA7-397A-6E63-FC55-D9668AFF6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4170B-F1C5-11BB-20E0-E9699D451F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ECAAF1-9250-AD2F-C51A-A78E677E0A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286B45-3211-583C-DF75-47252F0BC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541D-DF74-9A4A-9DDD-A2AC91D32397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C31E91-6B3B-755B-CE41-9B75BDBAB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8B5F32-A309-D240-CB50-57E43BA1C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BBE80-09B7-C740-84E9-B93072B5D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521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B7221-B97C-6314-F438-79602B8BB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26F021-5F22-9058-D110-9A74E0C84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85EB17-6288-7281-3ADB-17B184363A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97BA09-1256-9494-8429-EAACB830FD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41BAFA-5849-1CA3-93C4-0E0CC07E59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0A1979-1DAE-5C10-C622-2CE01FEF4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541D-DF74-9A4A-9DDD-A2AC91D32397}" type="datetimeFigureOut">
              <a:rPr lang="en-US" smtClean="0"/>
              <a:t>4/13/26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E6B46C-4D21-239D-2521-1162C2AE7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986F83-168C-95EB-7D14-E3688EBDE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BBE80-09B7-C740-84E9-B93072B5D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399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DD26B-E9A1-3F78-07BE-12F68AEF8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B52216-19C3-F20F-68E3-2807ADCBB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541D-DF74-9A4A-9DDD-A2AC91D32397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7B7522-A8CF-AE06-7314-DFB38F3EF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EBBECA-8707-07CD-F6C8-89230DDDA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BBE80-09B7-C740-84E9-B93072B5D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107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895EE6-5846-34B2-5F48-58D488640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541D-DF74-9A4A-9DDD-A2AC91D32397}" type="datetimeFigureOut">
              <a:rPr lang="en-US" smtClean="0"/>
              <a:t>4/13/26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9984D-E134-3A92-44D9-041363607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87603B-9DE5-A74C-2F20-3369369E1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BBE80-09B7-C740-84E9-B93072B5D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122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11BE3-8E4E-2548-60A5-CF825841E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7EF94-6CD9-16E1-1403-5D1E5A954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C7406-E7F9-AD81-EDD0-C57E579D54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0A3DFC-13F3-4E97-7137-2BFAAF41E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541D-DF74-9A4A-9DDD-A2AC91D32397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3ADD85-0360-E355-6310-E2CBB985F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328605-A981-E96F-DE9C-8424CA61F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BBE80-09B7-C740-84E9-B93072B5D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867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7009E-3A38-F2E3-7BE9-1E3749A34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3B96A2-B800-193B-88C3-7BA63CAE6A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76064E-3B32-923B-0173-2F57430CAC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7F01D6-BC17-0865-3C73-42C4E68A7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541D-DF74-9A4A-9DDD-A2AC91D32397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0742DC-DB0B-5F5E-E8D0-EB07844AD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713C2E-6930-E83E-2376-857E7828E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BBE80-09B7-C740-84E9-B93072B5D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806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B1369-B521-5906-A0D1-FA20E9297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331B2F-3ECC-961C-E937-FB747625D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2B5D81-608C-B992-E941-A6B950380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541D-DF74-9A4A-9DDD-A2AC91D32397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E6592-1BEC-1698-7399-87760AB00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80BFC-4464-56E4-DEEF-522083408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BBE80-09B7-C740-84E9-B93072B5D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759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8731FE-4280-E0BB-D446-746C9576AE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A6D82F-F998-F323-C5F8-05C549B96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752F0-6F92-F51A-D0A3-8408F3F62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541D-DF74-9A4A-9DDD-A2AC91D32397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227BF9-90B7-C63E-4455-CB7F68D39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F073A-BF42-7766-BCF6-51B966723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BBE80-09B7-C740-84E9-B93072B5D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074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C94FBE-4498-3B81-33D2-EE3DBE4B8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81CF58-C00C-244D-09DF-22EEAAF8B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FB298-49D7-5942-8949-D5E8B8668C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F3541D-DF74-9A4A-9DDD-A2AC91D32397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F8894-C5CA-3AC9-C7B9-BAA7CF8201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CDD15-3388-C785-5462-3CAF010DB1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7BBE80-09B7-C740-84E9-B93072B5DD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627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e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emf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e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emf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hyperlink" Target="https://physionet.org/content/symile-mimic/1.0.0/" TargetMode="Externa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jpeg"/><Relationship Id="rId4" Type="http://schemas.openxmlformats.org/officeDocument/2006/relationships/image" Target="../media/image29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0F423-A3DA-87A1-1809-981A5D713F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Multimodal data fusion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B9D3A7-5D22-0854-6C55-AB68BF9E2B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Matt Engelhard</a:t>
            </a:r>
          </a:p>
        </p:txBody>
      </p:sp>
    </p:spTree>
    <p:extLst>
      <p:ext uri="{BB962C8B-B14F-4D97-AF65-F5344CB8AC3E}">
        <p14:creationId xmlns:p14="http://schemas.microsoft.com/office/powerpoint/2010/main" val="3635733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7F649-EE2F-DB76-29CF-E64C1A916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training and use of Transformer architectures for text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13715F-12E6-7E24-8A96-538F77B18BDA}"/>
              </a:ext>
            </a:extLst>
          </p:cNvPr>
          <p:cNvSpPr txBox="1"/>
          <p:nvPr/>
        </p:nvSpPr>
        <p:spPr>
          <a:xfrm>
            <a:off x="3044637" y="6123543"/>
            <a:ext cx="7996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Even       the  smallest  person  can    change    the     course     of          the      future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71B22F6-1E9D-6EC3-67A0-655FD2513930}"/>
              </a:ext>
            </a:extLst>
          </p:cNvPr>
          <p:cNvSpPr/>
          <p:nvPr/>
        </p:nvSpPr>
        <p:spPr>
          <a:xfrm>
            <a:off x="2697639" y="4157221"/>
            <a:ext cx="8644379" cy="1536569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Transformer Encoder</a:t>
            </a:r>
          </a:p>
          <a:p>
            <a:pPr algn="ctr"/>
            <a:r>
              <a:rPr lang="en-US" dirty="0"/>
              <a:t>(token embeddings + positional encodings -&gt; (encoder layer) x N)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DE7B97D-C6DF-1764-87A0-8EA25D78416B}"/>
              </a:ext>
            </a:extLst>
          </p:cNvPr>
          <p:cNvCxnSpPr/>
          <p:nvPr/>
        </p:nvCxnSpPr>
        <p:spPr>
          <a:xfrm flipV="1">
            <a:off x="3393652" y="569379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1D84CC5-ADE6-3541-6041-249B8152BBC5}"/>
              </a:ext>
            </a:extLst>
          </p:cNvPr>
          <p:cNvCxnSpPr/>
          <p:nvPr/>
        </p:nvCxnSpPr>
        <p:spPr>
          <a:xfrm flipV="1">
            <a:off x="6244946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F0975FD-13E1-A21E-08AF-518086D22678}"/>
              </a:ext>
            </a:extLst>
          </p:cNvPr>
          <p:cNvCxnSpPr/>
          <p:nvPr/>
        </p:nvCxnSpPr>
        <p:spPr>
          <a:xfrm flipV="1">
            <a:off x="6957769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6207160-076D-7976-6DE5-95D4C3FA52F9}"/>
              </a:ext>
            </a:extLst>
          </p:cNvPr>
          <p:cNvCxnSpPr/>
          <p:nvPr/>
        </p:nvCxnSpPr>
        <p:spPr>
          <a:xfrm flipV="1">
            <a:off x="7670592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821CE78-EEEA-1AD4-C53A-6E963414618B}"/>
              </a:ext>
            </a:extLst>
          </p:cNvPr>
          <p:cNvCxnSpPr/>
          <p:nvPr/>
        </p:nvCxnSpPr>
        <p:spPr>
          <a:xfrm flipV="1">
            <a:off x="8383415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0ADC90F-0137-7439-5DA2-429A74D39550}"/>
              </a:ext>
            </a:extLst>
          </p:cNvPr>
          <p:cNvCxnSpPr/>
          <p:nvPr/>
        </p:nvCxnSpPr>
        <p:spPr>
          <a:xfrm flipV="1">
            <a:off x="9096238" y="569379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35FEEF2-835A-647C-D4BC-D86F07CB7DCE}"/>
              </a:ext>
            </a:extLst>
          </p:cNvPr>
          <p:cNvCxnSpPr/>
          <p:nvPr/>
        </p:nvCxnSpPr>
        <p:spPr>
          <a:xfrm flipV="1">
            <a:off x="9809061" y="569379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45D9FD2-1C1A-4DD4-CE40-1715EA891917}"/>
              </a:ext>
            </a:extLst>
          </p:cNvPr>
          <p:cNvCxnSpPr/>
          <p:nvPr/>
        </p:nvCxnSpPr>
        <p:spPr>
          <a:xfrm flipV="1">
            <a:off x="10521887" y="569379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FA7259D-6BC2-7639-A1F4-3A6D1AEDCF33}"/>
              </a:ext>
            </a:extLst>
          </p:cNvPr>
          <p:cNvCxnSpPr/>
          <p:nvPr/>
        </p:nvCxnSpPr>
        <p:spPr>
          <a:xfrm flipV="1">
            <a:off x="4819300" y="56937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B0ED1C8-BDA4-7E95-C1AD-7E03AAFAD152}"/>
              </a:ext>
            </a:extLst>
          </p:cNvPr>
          <p:cNvCxnSpPr/>
          <p:nvPr/>
        </p:nvCxnSpPr>
        <p:spPr>
          <a:xfrm flipV="1">
            <a:off x="5532123" y="5700075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7082AFB-FC64-1CE1-61D0-5A90376B3797}"/>
              </a:ext>
            </a:extLst>
          </p:cNvPr>
          <p:cNvCxnSpPr/>
          <p:nvPr/>
        </p:nvCxnSpPr>
        <p:spPr>
          <a:xfrm flipV="1">
            <a:off x="4106476" y="569378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4D15A01-6DB6-FDF6-88F1-DA86F2F40066}"/>
              </a:ext>
            </a:extLst>
          </p:cNvPr>
          <p:cNvCxnSpPr/>
          <p:nvPr/>
        </p:nvCxnSpPr>
        <p:spPr>
          <a:xfrm flipV="1">
            <a:off x="3393652" y="372746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C458C8D-AD0C-23FE-C876-C78699AC61A3}"/>
              </a:ext>
            </a:extLst>
          </p:cNvPr>
          <p:cNvCxnSpPr/>
          <p:nvPr/>
        </p:nvCxnSpPr>
        <p:spPr>
          <a:xfrm flipV="1">
            <a:off x="6244946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178ABC6-CCF3-666A-C835-E64C7986ABE0}"/>
              </a:ext>
            </a:extLst>
          </p:cNvPr>
          <p:cNvCxnSpPr/>
          <p:nvPr/>
        </p:nvCxnSpPr>
        <p:spPr>
          <a:xfrm flipV="1">
            <a:off x="6957769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C813FF7-453E-4AA5-6927-66A822984429}"/>
              </a:ext>
            </a:extLst>
          </p:cNvPr>
          <p:cNvCxnSpPr/>
          <p:nvPr/>
        </p:nvCxnSpPr>
        <p:spPr>
          <a:xfrm flipV="1">
            <a:off x="7670592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F1CEA1B-0459-A95F-BC14-A4A96C6C2295}"/>
              </a:ext>
            </a:extLst>
          </p:cNvPr>
          <p:cNvCxnSpPr/>
          <p:nvPr/>
        </p:nvCxnSpPr>
        <p:spPr>
          <a:xfrm flipV="1">
            <a:off x="8383415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081F150-B7C6-A3B6-A018-E3863DD1A8BB}"/>
              </a:ext>
            </a:extLst>
          </p:cNvPr>
          <p:cNvCxnSpPr/>
          <p:nvPr/>
        </p:nvCxnSpPr>
        <p:spPr>
          <a:xfrm flipV="1">
            <a:off x="9096238" y="372746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F0ABC4D-8276-4E4D-EFF0-E9EF807BB14D}"/>
              </a:ext>
            </a:extLst>
          </p:cNvPr>
          <p:cNvCxnSpPr/>
          <p:nvPr/>
        </p:nvCxnSpPr>
        <p:spPr>
          <a:xfrm flipV="1">
            <a:off x="9809061" y="372746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1DA84BC-0B5F-BC32-7F03-15B0A90193A2}"/>
              </a:ext>
            </a:extLst>
          </p:cNvPr>
          <p:cNvCxnSpPr/>
          <p:nvPr/>
        </p:nvCxnSpPr>
        <p:spPr>
          <a:xfrm flipV="1">
            <a:off x="10521887" y="372746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B0AD738-BA2C-9FBC-D62B-4A554ACC0D85}"/>
              </a:ext>
            </a:extLst>
          </p:cNvPr>
          <p:cNvCxnSpPr/>
          <p:nvPr/>
        </p:nvCxnSpPr>
        <p:spPr>
          <a:xfrm flipV="1">
            <a:off x="4819300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62A0970-351D-C5D4-7E47-2EC27D5F05BA}"/>
              </a:ext>
            </a:extLst>
          </p:cNvPr>
          <p:cNvCxnSpPr/>
          <p:nvPr/>
        </p:nvCxnSpPr>
        <p:spPr>
          <a:xfrm flipV="1">
            <a:off x="5532123" y="3733754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7A332DA-AD37-952A-DDF5-D8177999296C}"/>
              </a:ext>
            </a:extLst>
          </p:cNvPr>
          <p:cNvCxnSpPr/>
          <p:nvPr/>
        </p:nvCxnSpPr>
        <p:spPr>
          <a:xfrm flipV="1">
            <a:off x="4106476" y="3727467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DA38D9B-DF39-BD29-63FF-F611BDFB0980}"/>
                  </a:ext>
                </a:extLst>
              </p:cNvPr>
              <p:cNvSpPr txBox="1"/>
              <p:nvPr/>
            </p:nvSpPr>
            <p:spPr>
              <a:xfrm>
                <a:off x="3164068" y="3358135"/>
                <a:ext cx="459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DA38D9B-DF39-BD29-63FF-F611BDFB09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4068" y="3358135"/>
                <a:ext cx="459165" cy="369332"/>
              </a:xfrm>
              <a:prstGeom prst="rect">
                <a:avLst/>
              </a:prstGeom>
              <a:blipFill>
                <a:blip r:embed="rId3"/>
                <a:stretch>
                  <a:fillRect t="-6667" r="-1621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D2689F7-2EEF-C979-A952-6FACBFFA54F7}"/>
                  </a:ext>
                </a:extLst>
              </p:cNvPr>
              <p:cNvSpPr txBox="1"/>
              <p:nvPr/>
            </p:nvSpPr>
            <p:spPr>
              <a:xfrm>
                <a:off x="3888906" y="3353200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D2689F7-2EEF-C979-A952-6FACBFFA54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8906" y="3353200"/>
                <a:ext cx="464486" cy="369332"/>
              </a:xfrm>
              <a:prstGeom prst="rect">
                <a:avLst/>
              </a:prstGeom>
              <a:blipFill>
                <a:blip r:embed="rId4"/>
                <a:stretch>
                  <a:fillRect t="-6667" r="-1621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43FF81F-E465-1FF7-D5F9-20965A084A74}"/>
                  </a:ext>
                </a:extLst>
              </p:cNvPr>
              <p:cNvSpPr txBox="1"/>
              <p:nvPr/>
            </p:nvSpPr>
            <p:spPr>
              <a:xfrm>
                <a:off x="4594093" y="3353200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43FF81F-E465-1FF7-D5F9-20965A084A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4093" y="3353200"/>
                <a:ext cx="464486" cy="369332"/>
              </a:xfrm>
              <a:prstGeom prst="rect">
                <a:avLst/>
              </a:prstGeom>
              <a:blipFill>
                <a:blip r:embed="rId5"/>
                <a:stretch>
                  <a:fillRect t="-6667" r="-15789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750CF69-A7B2-3FD8-76A8-E509ADF32497}"/>
                  </a:ext>
                </a:extLst>
              </p:cNvPr>
              <p:cNvSpPr txBox="1"/>
              <p:nvPr/>
            </p:nvSpPr>
            <p:spPr>
              <a:xfrm>
                <a:off x="8153820" y="3351851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750CF69-A7B2-3FD8-76A8-E509ADF324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3820" y="3351851"/>
                <a:ext cx="464486" cy="369332"/>
              </a:xfrm>
              <a:prstGeom prst="rect">
                <a:avLst/>
              </a:prstGeom>
              <a:blipFill>
                <a:blip r:embed="rId6"/>
                <a:stretch>
                  <a:fillRect t="-10345" r="-16216" b="-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D2A66F7-EEF8-5940-E8A0-7804608FA9E8}"/>
                  </a:ext>
                </a:extLst>
              </p:cNvPr>
              <p:cNvSpPr txBox="1"/>
              <p:nvPr/>
            </p:nvSpPr>
            <p:spPr>
              <a:xfrm>
                <a:off x="8866647" y="3351852"/>
                <a:ext cx="4596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D2A66F7-EEF8-5940-E8A0-7804608FA9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6647" y="3351852"/>
                <a:ext cx="459677" cy="369332"/>
              </a:xfrm>
              <a:prstGeom prst="rect">
                <a:avLst/>
              </a:prstGeom>
              <a:blipFill>
                <a:blip r:embed="rId7"/>
                <a:stretch>
                  <a:fillRect t="-10345" r="-16216" b="-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0E3BAF8-E145-979F-7084-B111EC6324B7}"/>
                  </a:ext>
                </a:extLst>
              </p:cNvPr>
              <p:cNvSpPr txBox="1"/>
              <p:nvPr/>
            </p:nvSpPr>
            <p:spPr>
              <a:xfrm>
                <a:off x="9579474" y="3353200"/>
                <a:ext cx="5569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0E3BAF8-E145-979F-7084-B111EC6324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9474" y="3353200"/>
                <a:ext cx="556947" cy="369332"/>
              </a:xfrm>
              <a:prstGeom prst="rect">
                <a:avLst/>
              </a:prstGeom>
              <a:blipFill>
                <a:blip r:embed="rId8"/>
                <a:stretch>
                  <a:fillRect t="-6667" r="-1333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FF0397F-BF85-9797-E8DD-8F6BDB48EB5B}"/>
                  </a:ext>
                </a:extLst>
              </p:cNvPr>
              <p:cNvSpPr txBox="1"/>
              <p:nvPr/>
            </p:nvSpPr>
            <p:spPr>
              <a:xfrm>
                <a:off x="10292301" y="3353200"/>
                <a:ext cx="5569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FF0397F-BF85-9797-E8DD-8F6BDB48EB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2301" y="3353200"/>
                <a:ext cx="556947" cy="369332"/>
              </a:xfrm>
              <a:prstGeom prst="rect">
                <a:avLst/>
              </a:prstGeom>
              <a:blipFill>
                <a:blip r:embed="rId9"/>
                <a:stretch>
                  <a:fillRect t="-6667" r="-1333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24AB007-0C4B-7AC1-A49B-035B1E79BB68}"/>
                  </a:ext>
                </a:extLst>
              </p:cNvPr>
              <p:cNvSpPr txBox="1"/>
              <p:nvPr/>
            </p:nvSpPr>
            <p:spPr>
              <a:xfrm>
                <a:off x="5302512" y="3346526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24AB007-0C4B-7AC1-A49B-035B1E79BB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2512" y="3346526"/>
                <a:ext cx="464486" cy="369332"/>
              </a:xfrm>
              <a:prstGeom prst="rect">
                <a:avLst/>
              </a:prstGeom>
              <a:blipFill>
                <a:blip r:embed="rId10"/>
                <a:stretch>
                  <a:fillRect t="-6667" r="-1315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528BA81-BE4B-34C0-1045-1B07BDD31C3F}"/>
                  </a:ext>
                </a:extLst>
              </p:cNvPr>
              <p:cNvSpPr txBox="1"/>
              <p:nvPr/>
            </p:nvSpPr>
            <p:spPr>
              <a:xfrm>
                <a:off x="6015339" y="3346527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528BA81-BE4B-34C0-1045-1B07BDD31C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5339" y="3346527"/>
                <a:ext cx="464486" cy="369332"/>
              </a:xfrm>
              <a:prstGeom prst="rect">
                <a:avLst/>
              </a:prstGeom>
              <a:blipFill>
                <a:blip r:embed="rId11"/>
                <a:stretch>
                  <a:fillRect t="-6667" r="-1315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4CF9B856-EB7A-4DBD-5B36-388C9AA1FC85}"/>
                  </a:ext>
                </a:extLst>
              </p:cNvPr>
              <p:cNvSpPr txBox="1"/>
              <p:nvPr/>
            </p:nvSpPr>
            <p:spPr>
              <a:xfrm>
                <a:off x="6728166" y="3347875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4CF9B856-EB7A-4DBD-5B36-388C9AA1FC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8166" y="3347875"/>
                <a:ext cx="464486" cy="369332"/>
              </a:xfrm>
              <a:prstGeom prst="rect">
                <a:avLst/>
              </a:prstGeom>
              <a:blipFill>
                <a:blip r:embed="rId12"/>
                <a:stretch>
                  <a:fillRect t="-6667" r="-1578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439BC19-A600-5D26-6199-B1EA4515BFBA}"/>
                  </a:ext>
                </a:extLst>
              </p:cNvPr>
              <p:cNvSpPr txBox="1"/>
              <p:nvPr/>
            </p:nvSpPr>
            <p:spPr>
              <a:xfrm>
                <a:off x="7440993" y="3347875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439BC19-A600-5D26-6199-B1EA4515BF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0993" y="3347875"/>
                <a:ext cx="464486" cy="369332"/>
              </a:xfrm>
              <a:prstGeom prst="rect">
                <a:avLst/>
              </a:prstGeom>
              <a:blipFill>
                <a:blip r:embed="rId13"/>
                <a:stretch>
                  <a:fillRect t="-6667" r="-1621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57">
            <a:extLst>
              <a:ext uri="{FF2B5EF4-FFF2-40B4-BE49-F238E27FC236}">
                <a16:creationId xmlns:a16="http://schemas.microsoft.com/office/drawing/2014/main" id="{7368DF25-656C-A19B-F089-891A0BD0D855}"/>
              </a:ext>
            </a:extLst>
          </p:cNvPr>
          <p:cNvSpPr txBox="1"/>
          <p:nvPr/>
        </p:nvSpPr>
        <p:spPr>
          <a:xfrm>
            <a:off x="568548" y="6123541"/>
            <a:ext cx="1418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tokens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A0E7888-667E-2D9C-DD2B-CD10EBC6DD36}"/>
              </a:ext>
            </a:extLst>
          </p:cNvPr>
          <p:cNvSpPr txBox="1"/>
          <p:nvPr/>
        </p:nvSpPr>
        <p:spPr>
          <a:xfrm>
            <a:off x="566794" y="3214700"/>
            <a:ext cx="17575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  <a:p>
            <a:r>
              <a:rPr lang="en-US" dirty="0"/>
              <a:t>representations</a:t>
            </a:r>
          </a:p>
        </p:txBody>
      </p:sp>
    </p:spTree>
    <p:extLst>
      <p:ext uri="{BB962C8B-B14F-4D97-AF65-F5344CB8AC3E}">
        <p14:creationId xmlns:p14="http://schemas.microsoft.com/office/powerpoint/2010/main" val="4279542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F9477-BB8F-5EBC-E940-7ECD20A95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241A2-75B0-1C55-526A-214D2D4D6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Transformers for EHR</a:t>
            </a:r>
          </a:p>
          <a:p>
            <a:endParaRPr lang="en-US" dirty="0"/>
          </a:p>
          <a:p>
            <a:r>
              <a:rPr lang="en-US" dirty="0"/>
              <a:t>Multimodal data fusion</a:t>
            </a:r>
          </a:p>
          <a:p>
            <a:pPr lvl="1"/>
            <a:r>
              <a:rPr lang="en-US" dirty="0"/>
              <a:t>Why?</a:t>
            </a:r>
          </a:p>
          <a:p>
            <a:pPr lvl="1"/>
            <a:r>
              <a:rPr lang="en-US" dirty="0"/>
              <a:t>How?</a:t>
            </a:r>
          </a:p>
          <a:p>
            <a:pPr lvl="2"/>
            <a:r>
              <a:rPr lang="en-US" dirty="0"/>
              <a:t>Late fusion</a:t>
            </a:r>
          </a:p>
          <a:p>
            <a:pPr lvl="2"/>
            <a:r>
              <a:rPr lang="en-US" dirty="0"/>
              <a:t>Joint fusion</a:t>
            </a:r>
          </a:p>
          <a:p>
            <a:pPr lvl="2"/>
            <a:r>
              <a:rPr lang="en-US" dirty="0"/>
              <a:t>Early fusion</a:t>
            </a:r>
          </a:p>
          <a:p>
            <a:pPr lvl="1"/>
            <a:r>
              <a:rPr lang="en-US" dirty="0"/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3841256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02948-873D-6E70-121E-675E6E0B6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Moving to the EHR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2CABB7-2E5B-A6C7-74C4-F62AC7135B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foundation model for EHR data</a:t>
            </a:r>
          </a:p>
        </p:txBody>
      </p:sp>
    </p:spTree>
    <p:extLst>
      <p:ext uri="{BB962C8B-B14F-4D97-AF65-F5344CB8AC3E}">
        <p14:creationId xmlns:p14="http://schemas.microsoft.com/office/powerpoint/2010/main" val="2955625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C17A5-9744-F348-6A6E-2B78D8FE5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for structured EHR data:</a:t>
            </a:r>
            <a:br>
              <a:rPr lang="en-US" dirty="0"/>
            </a:br>
            <a:r>
              <a:rPr lang="en-US" sz="3200" dirty="0"/>
              <a:t>the “language” of the EHR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50FE0-89F6-B346-5236-0194DD8DB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9055"/>
            <a:ext cx="10515600" cy="418790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story about the progression of diabetes…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(“E11.65”, “E11.42”, “I10”, “N18.3”)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E11.65</a:t>
            </a:r>
            <a:r>
              <a:rPr lang="en-US" dirty="0"/>
              <a:t> — Type 2 diabetes mellitus with hyperglycemia </a:t>
            </a:r>
          </a:p>
          <a:p>
            <a:r>
              <a:rPr lang="en-US" b="1" dirty="0"/>
              <a:t>E11.42</a:t>
            </a:r>
            <a:r>
              <a:rPr lang="en-US" dirty="0"/>
              <a:t> — Type 2 diabetes mellitus with diabetic polyneuropathy </a:t>
            </a:r>
          </a:p>
          <a:p>
            <a:r>
              <a:rPr lang="en-US" b="1" dirty="0"/>
              <a:t>I10</a:t>
            </a:r>
            <a:r>
              <a:rPr lang="en-US" dirty="0"/>
              <a:t> — Essential (primary) hypertension </a:t>
            </a:r>
          </a:p>
          <a:p>
            <a:r>
              <a:rPr lang="en-US" b="1" dirty="0"/>
              <a:t>N18.3</a:t>
            </a:r>
            <a:r>
              <a:rPr lang="en-US" dirty="0"/>
              <a:t> — Chronic kidney disease, stage 3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0564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0E837-E066-C122-D730-1CA30AE06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Transformers for Electronic Health Records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039C67-C758-6592-E5EC-3BC7C854D3B7}"/>
              </a:ext>
            </a:extLst>
          </p:cNvPr>
          <p:cNvSpPr txBox="1"/>
          <p:nvPr/>
        </p:nvSpPr>
        <p:spPr>
          <a:xfrm>
            <a:off x="6096000" y="6262042"/>
            <a:ext cx="60991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u="none" strike="noStrike" dirty="0">
                <a:solidFill>
                  <a:srgbClr val="222222"/>
                </a:solidFill>
                <a:effectLst/>
              </a:rPr>
              <a:t>Li, Y., Rao, S., Solares, J.R.A. </a:t>
            </a:r>
            <a:r>
              <a:rPr lang="en-US" sz="1200" b="0" i="1" u="none" strike="noStrike" dirty="0">
                <a:solidFill>
                  <a:srgbClr val="222222"/>
                </a:solidFill>
                <a:effectLst/>
              </a:rPr>
              <a:t>et al.</a:t>
            </a:r>
            <a:r>
              <a:rPr lang="en-US" sz="1200" b="0" i="0" u="none" strike="noStrike" dirty="0">
                <a:solidFill>
                  <a:srgbClr val="222222"/>
                </a:solidFill>
                <a:effectLst/>
              </a:rPr>
              <a:t> BEHRT: Transformer for Electronic Health Records. </a:t>
            </a:r>
            <a:r>
              <a:rPr lang="en-US" sz="1200" b="0" i="1" u="none" strike="noStrike" dirty="0">
                <a:solidFill>
                  <a:srgbClr val="222222"/>
                </a:solidFill>
                <a:effectLst/>
              </a:rPr>
              <a:t>Sci Rep</a:t>
            </a:r>
            <a:r>
              <a:rPr lang="en-US" sz="1200" b="0" i="0" u="none" strike="noStrike" dirty="0">
                <a:solidFill>
                  <a:srgbClr val="222222"/>
                </a:solidFill>
                <a:effectLst/>
              </a:rPr>
              <a:t> </a:t>
            </a:r>
            <a:r>
              <a:rPr lang="en-US" sz="1200" b="1" i="0" u="none" strike="noStrike" dirty="0">
                <a:solidFill>
                  <a:srgbClr val="222222"/>
                </a:solidFill>
                <a:effectLst/>
              </a:rPr>
              <a:t>10</a:t>
            </a:r>
            <a:r>
              <a:rPr lang="en-US" sz="1200" b="0" i="0" u="none" strike="noStrike" dirty="0">
                <a:solidFill>
                  <a:srgbClr val="222222"/>
                </a:solidFill>
                <a:effectLst/>
              </a:rPr>
              <a:t>, 7155 (2020). https://</a:t>
            </a:r>
            <a:r>
              <a:rPr lang="en-US" sz="1200" b="0" i="0" u="none" strike="noStrike" dirty="0" err="1">
                <a:solidFill>
                  <a:srgbClr val="222222"/>
                </a:solidFill>
                <a:effectLst/>
              </a:rPr>
              <a:t>doi.org</a:t>
            </a:r>
            <a:r>
              <a:rPr lang="en-US" sz="1200" b="0" i="0" u="none" strike="noStrike" dirty="0">
                <a:solidFill>
                  <a:srgbClr val="222222"/>
                </a:solidFill>
                <a:effectLst/>
              </a:rPr>
              <a:t>/10.1038/s41598-020-62922-y</a:t>
            </a:r>
            <a:endParaRPr 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C19371-F8A6-C067-C6C4-B1540940BD75}"/>
              </a:ext>
            </a:extLst>
          </p:cNvPr>
          <p:cNvSpPr txBox="1"/>
          <p:nvPr/>
        </p:nvSpPr>
        <p:spPr>
          <a:xfrm>
            <a:off x="3187601" y="5589356"/>
            <a:ext cx="3534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E11.65      E11.42        I10         N18.3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65ECCAF-E262-76B4-7BBD-FC49BA27FD07}"/>
              </a:ext>
            </a:extLst>
          </p:cNvPr>
          <p:cNvSpPr/>
          <p:nvPr/>
        </p:nvSpPr>
        <p:spPr>
          <a:xfrm>
            <a:off x="2969045" y="3629320"/>
            <a:ext cx="8644379" cy="1536569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Transformer Encoder</a:t>
            </a:r>
          </a:p>
          <a:p>
            <a:pPr algn="ctr"/>
            <a:r>
              <a:rPr lang="en-US" dirty="0"/>
              <a:t>(token embeddings + positional encodings -&gt; (encoder layer) x N)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DB8AC8C-5637-4AB4-1410-0AE7287A7B83}"/>
              </a:ext>
            </a:extLst>
          </p:cNvPr>
          <p:cNvCxnSpPr/>
          <p:nvPr/>
        </p:nvCxnSpPr>
        <p:spPr>
          <a:xfrm flipV="1">
            <a:off x="3665058" y="51658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A93C1B2-1683-CC67-2998-D0F414707CAD}"/>
              </a:ext>
            </a:extLst>
          </p:cNvPr>
          <p:cNvCxnSpPr/>
          <p:nvPr/>
        </p:nvCxnSpPr>
        <p:spPr>
          <a:xfrm flipV="1">
            <a:off x="7229174" y="516588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B0A676E-11CC-5627-A8B0-B0269A76EA03}"/>
              </a:ext>
            </a:extLst>
          </p:cNvPr>
          <p:cNvCxnSpPr/>
          <p:nvPr/>
        </p:nvCxnSpPr>
        <p:spPr>
          <a:xfrm flipV="1">
            <a:off x="8120203" y="516588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B4E9DC2-621B-5DA9-AE82-D75CA9641E1A}"/>
              </a:ext>
            </a:extLst>
          </p:cNvPr>
          <p:cNvCxnSpPr/>
          <p:nvPr/>
        </p:nvCxnSpPr>
        <p:spPr>
          <a:xfrm flipV="1">
            <a:off x="9011232" y="51658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76C503-5729-59DF-B1BA-2D988783E1AF}"/>
              </a:ext>
            </a:extLst>
          </p:cNvPr>
          <p:cNvCxnSpPr/>
          <p:nvPr/>
        </p:nvCxnSpPr>
        <p:spPr>
          <a:xfrm flipV="1">
            <a:off x="9902261" y="51658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751F560-ACF7-820F-6909-7EE152B6275C}"/>
              </a:ext>
            </a:extLst>
          </p:cNvPr>
          <p:cNvCxnSpPr/>
          <p:nvPr/>
        </p:nvCxnSpPr>
        <p:spPr>
          <a:xfrm flipV="1">
            <a:off x="10793293" y="51658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BA09137-E01C-AAD7-0835-433CB4125B14}"/>
              </a:ext>
            </a:extLst>
          </p:cNvPr>
          <p:cNvCxnSpPr/>
          <p:nvPr/>
        </p:nvCxnSpPr>
        <p:spPr>
          <a:xfrm flipV="1">
            <a:off x="5447116" y="516588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A92F6CD-FC57-FE4D-D0D4-960C4D7D6D9E}"/>
              </a:ext>
            </a:extLst>
          </p:cNvPr>
          <p:cNvCxnSpPr/>
          <p:nvPr/>
        </p:nvCxnSpPr>
        <p:spPr>
          <a:xfrm flipV="1">
            <a:off x="6338145" y="5172174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07A2360-A8A4-897C-CC79-D1454DF95864}"/>
              </a:ext>
            </a:extLst>
          </p:cNvPr>
          <p:cNvCxnSpPr/>
          <p:nvPr/>
        </p:nvCxnSpPr>
        <p:spPr>
          <a:xfrm flipV="1">
            <a:off x="4556087" y="5165887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98E52A6-9A74-C656-02AA-DBF8ED5FC1D1}"/>
                  </a:ext>
                </a:extLst>
              </p:cNvPr>
              <p:cNvSpPr txBox="1"/>
              <p:nvPr/>
            </p:nvSpPr>
            <p:spPr>
              <a:xfrm>
                <a:off x="3435474" y="2830234"/>
                <a:ext cx="459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98E52A6-9A74-C656-02AA-DBF8ED5FC1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5474" y="2830234"/>
                <a:ext cx="459165" cy="369332"/>
              </a:xfrm>
              <a:prstGeom prst="rect">
                <a:avLst/>
              </a:prstGeom>
              <a:blipFill>
                <a:blip r:embed="rId2"/>
                <a:stretch>
                  <a:fillRect t="-6452" r="-16216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8F89BA2-0FD4-083F-8B88-0D95FD47F3FA}"/>
                  </a:ext>
                </a:extLst>
              </p:cNvPr>
              <p:cNvSpPr txBox="1"/>
              <p:nvPr/>
            </p:nvSpPr>
            <p:spPr>
              <a:xfrm>
                <a:off x="4318942" y="2825299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8F89BA2-0FD4-083F-8B88-0D95FD47F3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8942" y="2825299"/>
                <a:ext cx="464486" cy="369332"/>
              </a:xfrm>
              <a:prstGeom prst="rect">
                <a:avLst/>
              </a:prstGeom>
              <a:blipFill>
                <a:blip r:embed="rId3"/>
                <a:stretch>
                  <a:fillRect t="-6667" r="-1578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DA663DB-2274-0383-AB01-EC1A3F071C3C}"/>
                  </a:ext>
                </a:extLst>
              </p:cNvPr>
              <p:cNvSpPr txBox="1"/>
              <p:nvPr/>
            </p:nvSpPr>
            <p:spPr>
              <a:xfrm>
                <a:off x="5207731" y="2825299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DA663DB-2274-0383-AB01-EC1A3F071C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7731" y="2825299"/>
                <a:ext cx="464486" cy="369332"/>
              </a:xfrm>
              <a:prstGeom prst="rect">
                <a:avLst/>
              </a:prstGeom>
              <a:blipFill>
                <a:blip r:embed="rId4"/>
                <a:stretch>
                  <a:fillRect t="-6667" r="-1578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7EA3ADF-1459-A24D-1635-888EDADE73C4}"/>
                  </a:ext>
                </a:extLst>
              </p:cNvPr>
              <p:cNvSpPr txBox="1"/>
              <p:nvPr/>
            </p:nvSpPr>
            <p:spPr>
              <a:xfrm>
                <a:off x="9651676" y="2823950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7EA3ADF-1459-A24D-1635-888EDADE73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1676" y="2823950"/>
                <a:ext cx="464486" cy="369332"/>
              </a:xfrm>
              <a:prstGeom prst="rect">
                <a:avLst/>
              </a:prstGeom>
              <a:blipFill>
                <a:blip r:embed="rId5"/>
                <a:stretch>
                  <a:fillRect t="-6667" r="-1578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3755525-4BA0-7F74-962A-EF2C132F2D8D}"/>
                  </a:ext>
                </a:extLst>
              </p:cNvPr>
              <p:cNvSpPr txBox="1"/>
              <p:nvPr/>
            </p:nvSpPr>
            <p:spPr>
              <a:xfrm>
                <a:off x="10540466" y="2824352"/>
                <a:ext cx="4596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3755525-4BA0-7F74-962A-EF2C132F2D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0466" y="2824352"/>
                <a:ext cx="459677" cy="369332"/>
              </a:xfrm>
              <a:prstGeom prst="rect">
                <a:avLst/>
              </a:prstGeom>
              <a:blipFill>
                <a:blip r:embed="rId6"/>
                <a:stretch>
                  <a:fillRect t="-6667" r="-1891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647CD48-9242-65D3-A981-673254AA42B1}"/>
                  </a:ext>
                </a:extLst>
              </p:cNvPr>
              <p:cNvSpPr txBox="1"/>
              <p:nvPr/>
            </p:nvSpPr>
            <p:spPr>
              <a:xfrm>
                <a:off x="6096520" y="2818625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647CD48-9242-65D3-A981-673254AA42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520" y="2818625"/>
                <a:ext cx="464486" cy="369332"/>
              </a:xfrm>
              <a:prstGeom prst="rect">
                <a:avLst/>
              </a:prstGeom>
              <a:blipFill>
                <a:blip r:embed="rId7"/>
                <a:stretch>
                  <a:fillRect t="-6452" r="-16216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DA5F0BF-A375-E542-FD01-BD6876B5FEAA}"/>
                  </a:ext>
                </a:extLst>
              </p:cNvPr>
              <p:cNvSpPr txBox="1"/>
              <p:nvPr/>
            </p:nvSpPr>
            <p:spPr>
              <a:xfrm>
                <a:off x="6985309" y="2818626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DA5F0BF-A375-E542-FD01-BD6876B5FE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309" y="2818626"/>
                <a:ext cx="464486" cy="369332"/>
              </a:xfrm>
              <a:prstGeom prst="rect">
                <a:avLst/>
              </a:prstGeom>
              <a:blipFill>
                <a:blip r:embed="rId8"/>
                <a:stretch>
                  <a:fillRect t="-6452" r="-16216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23B278E-B1EE-40F4-2F61-A78E282939F8}"/>
                  </a:ext>
                </a:extLst>
              </p:cNvPr>
              <p:cNvSpPr txBox="1"/>
              <p:nvPr/>
            </p:nvSpPr>
            <p:spPr>
              <a:xfrm>
                <a:off x="7874098" y="2819974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23B278E-B1EE-40F4-2F61-A78E282939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098" y="2819974"/>
                <a:ext cx="464486" cy="369332"/>
              </a:xfrm>
              <a:prstGeom prst="rect">
                <a:avLst/>
              </a:prstGeom>
              <a:blipFill>
                <a:blip r:embed="rId9"/>
                <a:stretch>
                  <a:fillRect t="-10000" r="-1621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3A63078-427C-EB35-6F7A-70C26B413423}"/>
                  </a:ext>
                </a:extLst>
              </p:cNvPr>
              <p:cNvSpPr txBox="1"/>
              <p:nvPr/>
            </p:nvSpPr>
            <p:spPr>
              <a:xfrm>
                <a:off x="8762887" y="2819974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3A63078-427C-EB35-6F7A-70C26B4134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2887" y="2819974"/>
                <a:ext cx="464486" cy="369332"/>
              </a:xfrm>
              <a:prstGeom prst="rect">
                <a:avLst/>
              </a:prstGeom>
              <a:blipFill>
                <a:blip r:embed="rId10"/>
                <a:stretch>
                  <a:fillRect t="-10000" r="-15789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B397F2B0-8884-008A-C65F-BC78E636D432}"/>
              </a:ext>
            </a:extLst>
          </p:cNvPr>
          <p:cNvSpPr txBox="1"/>
          <p:nvPr/>
        </p:nvSpPr>
        <p:spPr>
          <a:xfrm>
            <a:off x="839954" y="5595640"/>
            <a:ext cx="1418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tokens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FC9F085-2F6D-CC85-8B39-47F5507325F7}"/>
              </a:ext>
            </a:extLst>
          </p:cNvPr>
          <p:cNvSpPr txBox="1"/>
          <p:nvPr/>
        </p:nvSpPr>
        <p:spPr>
          <a:xfrm>
            <a:off x="838200" y="2686799"/>
            <a:ext cx="17575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  <a:p>
            <a:r>
              <a:rPr lang="en-US" dirty="0"/>
              <a:t>representations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D925136-F14D-0389-8DB5-38E61DC1B3A5}"/>
              </a:ext>
            </a:extLst>
          </p:cNvPr>
          <p:cNvCxnSpPr/>
          <p:nvPr/>
        </p:nvCxnSpPr>
        <p:spPr>
          <a:xfrm flipV="1">
            <a:off x="3642073" y="31995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DDACC4D-0601-BA88-A2B0-F95930ED4558}"/>
              </a:ext>
            </a:extLst>
          </p:cNvPr>
          <p:cNvCxnSpPr/>
          <p:nvPr/>
        </p:nvCxnSpPr>
        <p:spPr>
          <a:xfrm flipV="1">
            <a:off x="7206189" y="3199567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94A323B-D544-7475-F91C-B1390968813B}"/>
              </a:ext>
            </a:extLst>
          </p:cNvPr>
          <p:cNvCxnSpPr/>
          <p:nvPr/>
        </p:nvCxnSpPr>
        <p:spPr>
          <a:xfrm flipV="1">
            <a:off x="8097218" y="3199567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09FF8ED-5BCF-30E8-397A-80F800C69740}"/>
              </a:ext>
            </a:extLst>
          </p:cNvPr>
          <p:cNvCxnSpPr/>
          <p:nvPr/>
        </p:nvCxnSpPr>
        <p:spPr>
          <a:xfrm flipV="1">
            <a:off x="8988247" y="31995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5D0002B-CDF9-9096-39EE-594C49F4DD98}"/>
              </a:ext>
            </a:extLst>
          </p:cNvPr>
          <p:cNvCxnSpPr/>
          <p:nvPr/>
        </p:nvCxnSpPr>
        <p:spPr>
          <a:xfrm flipV="1">
            <a:off x="9879276" y="31995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B0CDDF0-8C2D-963F-48C6-99561E9FF6E9}"/>
              </a:ext>
            </a:extLst>
          </p:cNvPr>
          <p:cNvCxnSpPr/>
          <p:nvPr/>
        </p:nvCxnSpPr>
        <p:spPr>
          <a:xfrm flipV="1">
            <a:off x="10770308" y="31995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2060614-E8F8-4FB2-F04B-3F24CC2B6CD0}"/>
              </a:ext>
            </a:extLst>
          </p:cNvPr>
          <p:cNvCxnSpPr/>
          <p:nvPr/>
        </p:nvCxnSpPr>
        <p:spPr>
          <a:xfrm flipV="1">
            <a:off x="5424131" y="3199567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3A1B7D7-AA60-338A-EDBB-2779593C9AA5}"/>
              </a:ext>
            </a:extLst>
          </p:cNvPr>
          <p:cNvCxnSpPr/>
          <p:nvPr/>
        </p:nvCxnSpPr>
        <p:spPr>
          <a:xfrm flipV="1">
            <a:off x="6315160" y="3205853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05B42C0-A417-D10D-85A7-9A15262BD617}"/>
              </a:ext>
            </a:extLst>
          </p:cNvPr>
          <p:cNvCxnSpPr/>
          <p:nvPr/>
        </p:nvCxnSpPr>
        <p:spPr>
          <a:xfrm flipV="1">
            <a:off x="4533102" y="3199566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0524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3E121-F91C-2820-2003-D16B91417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513E6-FE59-0DB8-FA89-D510FF6CE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Transformers for Electronic Health Records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FD9848-973D-4026-CBC9-799FFE3B4B99}"/>
              </a:ext>
            </a:extLst>
          </p:cNvPr>
          <p:cNvSpPr txBox="1"/>
          <p:nvPr/>
        </p:nvSpPr>
        <p:spPr>
          <a:xfrm>
            <a:off x="6096000" y="6262042"/>
            <a:ext cx="60991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u="none" strike="noStrike" dirty="0">
                <a:solidFill>
                  <a:srgbClr val="222222"/>
                </a:solidFill>
                <a:effectLst/>
              </a:rPr>
              <a:t>Li, Y., Rao, S., Solares, J.R.A. </a:t>
            </a:r>
            <a:r>
              <a:rPr lang="en-US" sz="1200" b="0" i="1" u="none" strike="noStrike" dirty="0">
                <a:solidFill>
                  <a:srgbClr val="222222"/>
                </a:solidFill>
                <a:effectLst/>
              </a:rPr>
              <a:t>et al.</a:t>
            </a:r>
            <a:r>
              <a:rPr lang="en-US" sz="1200" b="0" i="0" u="none" strike="noStrike" dirty="0">
                <a:solidFill>
                  <a:srgbClr val="222222"/>
                </a:solidFill>
                <a:effectLst/>
              </a:rPr>
              <a:t> BEHRT: Transformer for Electronic Health Records. </a:t>
            </a:r>
            <a:r>
              <a:rPr lang="en-US" sz="1200" b="0" i="1" u="none" strike="noStrike" dirty="0">
                <a:solidFill>
                  <a:srgbClr val="222222"/>
                </a:solidFill>
                <a:effectLst/>
              </a:rPr>
              <a:t>Sci Rep</a:t>
            </a:r>
            <a:r>
              <a:rPr lang="en-US" sz="1200" b="0" i="0" u="none" strike="noStrike" dirty="0">
                <a:solidFill>
                  <a:srgbClr val="222222"/>
                </a:solidFill>
                <a:effectLst/>
              </a:rPr>
              <a:t> </a:t>
            </a:r>
            <a:r>
              <a:rPr lang="en-US" sz="1200" b="1" i="0" u="none" strike="noStrike" dirty="0">
                <a:solidFill>
                  <a:srgbClr val="222222"/>
                </a:solidFill>
                <a:effectLst/>
              </a:rPr>
              <a:t>10</a:t>
            </a:r>
            <a:r>
              <a:rPr lang="en-US" sz="1200" b="0" i="0" u="none" strike="noStrike" dirty="0">
                <a:solidFill>
                  <a:srgbClr val="222222"/>
                </a:solidFill>
                <a:effectLst/>
              </a:rPr>
              <a:t>, 7155 (2020). https://</a:t>
            </a:r>
            <a:r>
              <a:rPr lang="en-US" sz="1200" b="0" i="0" u="none" strike="noStrike" dirty="0" err="1">
                <a:solidFill>
                  <a:srgbClr val="222222"/>
                </a:solidFill>
                <a:effectLst/>
              </a:rPr>
              <a:t>doi.org</a:t>
            </a:r>
            <a:r>
              <a:rPr lang="en-US" sz="1200" b="0" i="0" u="none" strike="noStrike" dirty="0">
                <a:solidFill>
                  <a:srgbClr val="222222"/>
                </a:solidFill>
                <a:effectLst/>
              </a:rPr>
              <a:t>/10.1038/s41598-020-62922-y</a:t>
            </a:r>
            <a:endParaRPr 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0202F2-2D83-5E07-AB43-2D12682A0B06}"/>
              </a:ext>
            </a:extLst>
          </p:cNvPr>
          <p:cNvSpPr txBox="1"/>
          <p:nvPr/>
        </p:nvSpPr>
        <p:spPr>
          <a:xfrm>
            <a:off x="3187601" y="5589356"/>
            <a:ext cx="3534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E11.65      E11.42        I10         N18.3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34840E0-DFDC-4BE2-994E-2F4C7DEE74E7}"/>
              </a:ext>
            </a:extLst>
          </p:cNvPr>
          <p:cNvSpPr/>
          <p:nvPr/>
        </p:nvSpPr>
        <p:spPr>
          <a:xfrm>
            <a:off x="2969045" y="3629320"/>
            <a:ext cx="8644379" cy="1536569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Transformer Encoder</a:t>
            </a:r>
          </a:p>
          <a:p>
            <a:pPr algn="ctr"/>
            <a:r>
              <a:rPr lang="en-US" dirty="0"/>
              <a:t>(token embeddings + positional encodings -&gt; (encoder layer) x N)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FEF19BF-B4DA-B387-17E0-40AC2AEFE895}"/>
              </a:ext>
            </a:extLst>
          </p:cNvPr>
          <p:cNvCxnSpPr/>
          <p:nvPr/>
        </p:nvCxnSpPr>
        <p:spPr>
          <a:xfrm flipV="1">
            <a:off x="3665058" y="51658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62A519E-0475-6C89-9D33-3E8D45683AA0}"/>
              </a:ext>
            </a:extLst>
          </p:cNvPr>
          <p:cNvCxnSpPr/>
          <p:nvPr/>
        </p:nvCxnSpPr>
        <p:spPr>
          <a:xfrm flipV="1">
            <a:off x="7229174" y="516588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64D9152-9AA5-E0E7-39A6-F33FFFC0653E}"/>
              </a:ext>
            </a:extLst>
          </p:cNvPr>
          <p:cNvCxnSpPr/>
          <p:nvPr/>
        </p:nvCxnSpPr>
        <p:spPr>
          <a:xfrm flipV="1">
            <a:off x="8120203" y="516588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55F5E20-CD92-315D-A6F2-32C19BF698DF}"/>
              </a:ext>
            </a:extLst>
          </p:cNvPr>
          <p:cNvCxnSpPr/>
          <p:nvPr/>
        </p:nvCxnSpPr>
        <p:spPr>
          <a:xfrm flipV="1">
            <a:off x="9011232" y="51658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190492E-A5D5-EB7B-85A1-3AD5C2ACC99A}"/>
              </a:ext>
            </a:extLst>
          </p:cNvPr>
          <p:cNvCxnSpPr/>
          <p:nvPr/>
        </p:nvCxnSpPr>
        <p:spPr>
          <a:xfrm flipV="1">
            <a:off x="9902261" y="51658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5CB5911-A15A-E0DF-F8D8-C2C7C598A797}"/>
              </a:ext>
            </a:extLst>
          </p:cNvPr>
          <p:cNvCxnSpPr/>
          <p:nvPr/>
        </p:nvCxnSpPr>
        <p:spPr>
          <a:xfrm flipV="1">
            <a:off x="10793293" y="51658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377FC67-99CF-BCF0-A69A-786FFE2E9871}"/>
              </a:ext>
            </a:extLst>
          </p:cNvPr>
          <p:cNvCxnSpPr/>
          <p:nvPr/>
        </p:nvCxnSpPr>
        <p:spPr>
          <a:xfrm flipV="1">
            <a:off x="5447116" y="516588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63D70C9-1763-93BD-E01C-B0C08F15A486}"/>
              </a:ext>
            </a:extLst>
          </p:cNvPr>
          <p:cNvCxnSpPr/>
          <p:nvPr/>
        </p:nvCxnSpPr>
        <p:spPr>
          <a:xfrm flipV="1">
            <a:off x="6338145" y="5172174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92C66C3-3A39-AB08-69A8-A951FB8288E6}"/>
              </a:ext>
            </a:extLst>
          </p:cNvPr>
          <p:cNvCxnSpPr/>
          <p:nvPr/>
        </p:nvCxnSpPr>
        <p:spPr>
          <a:xfrm flipV="1">
            <a:off x="4556087" y="5165887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FEA91A5-4B00-ADA9-FDBA-E536D66C667B}"/>
                  </a:ext>
                </a:extLst>
              </p:cNvPr>
              <p:cNvSpPr txBox="1"/>
              <p:nvPr/>
            </p:nvSpPr>
            <p:spPr>
              <a:xfrm>
                <a:off x="3435474" y="2830234"/>
                <a:ext cx="459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FEA91A5-4B00-ADA9-FDBA-E536D66C6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5474" y="2830234"/>
                <a:ext cx="459165" cy="369332"/>
              </a:xfrm>
              <a:prstGeom prst="rect">
                <a:avLst/>
              </a:prstGeom>
              <a:blipFill>
                <a:blip r:embed="rId2"/>
                <a:stretch>
                  <a:fillRect t="-6452" r="-16216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14A77E3-F989-81AD-31CE-C0CACAB919D4}"/>
                  </a:ext>
                </a:extLst>
              </p:cNvPr>
              <p:cNvSpPr txBox="1"/>
              <p:nvPr/>
            </p:nvSpPr>
            <p:spPr>
              <a:xfrm>
                <a:off x="4318942" y="2825299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14A77E3-F989-81AD-31CE-C0CACAB91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8942" y="2825299"/>
                <a:ext cx="464486" cy="369332"/>
              </a:xfrm>
              <a:prstGeom prst="rect">
                <a:avLst/>
              </a:prstGeom>
              <a:blipFill>
                <a:blip r:embed="rId3"/>
                <a:stretch>
                  <a:fillRect t="-6667" r="-1578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469DB26-4733-4008-426E-C22A0E35BF6B}"/>
                  </a:ext>
                </a:extLst>
              </p:cNvPr>
              <p:cNvSpPr txBox="1"/>
              <p:nvPr/>
            </p:nvSpPr>
            <p:spPr>
              <a:xfrm>
                <a:off x="5207731" y="2825299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469DB26-4733-4008-426E-C22A0E35B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7731" y="2825299"/>
                <a:ext cx="464486" cy="369332"/>
              </a:xfrm>
              <a:prstGeom prst="rect">
                <a:avLst/>
              </a:prstGeom>
              <a:blipFill>
                <a:blip r:embed="rId4"/>
                <a:stretch>
                  <a:fillRect t="-6667" r="-1578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EFA7A4F-9D00-6E4C-A76E-29785F27CDF0}"/>
                  </a:ext>
                </a:extLst>
              </p:cNvPr>
              <p:cNvSpPr txBox="1"/>
              <p:nvPr/>
            </p:nvSpPr>
            <p:spPr>
              <a:xfrm>
                <a:off x="9651676" y="2823950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EFA7A4F-9D00-6E4C-A76E-29785F27CD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1676" y="2823950"/>
                <a:ext cx="464486" cy="369332"/>
              </a:xfrm>
              <a:prstGeom prst="rect">
                <a:avLst/>
              </a:prstGeom>
              <a:blipFill>
                <a:blip r:embed="rId5"/>
                <a:stretch>
                  <a:fillRect t="-6667" r="-1578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AE1A3EA-5665-5196-99AE-BEC67989B8B5}"/>
                  </a:ext>
                </a:extLst>
              </p:cNvPr>
              <p:cNvSpPr txBox="1"/>
              <p:nvPr/>
            </p:nvSpPr>
            <p:spPr>
              <a:xfrm>
                <a:off x="10540466" y="2824352"/>
                <a:ext cx="4596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AE1A3EA-5665-5196-99AE-BEC67989B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0466" y="2824352"/>
                <a:ext cx="459677" cy="369332"/>
              </a:xfrm>
              <a:prstGeom prst="rect">
                <a:avLst/>
              </a:prstGeom>
              <a:blipFill>
                <a:blip r:embed="rId6"/>
                <a:stretch>
                  <a:fillRect t="-6667" r="-1891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BB61AA6-E8C9-0198-54C8-F1B25FE17D31}"/>
                  </a:ext>
                </a:extLst>
              </p:cNvPr>
              <p:cNvSpPr txBox="1"/>
              <p:nvPr/>
            </p:nvSpPr>
            <p:spPr>
              <a:xfrm>
                <a:off x="6096520" y="2818625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BB61AA6-E8C9-0198-54C8-F1B25FE17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520" y="2818625"/>
                <a:ext cx="464486" cy="369332"/>
              </a:xfrm>
              <a:prstGeom prst="rect">
                <a:avLst/>
              </a:prstGeom>
              <a:blipFill>
                <a:blip r:embed="rId7"/>
                <a:stretch>
                  <a:fillRect t="-6452" r="-16216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A3104C5-AC11-B5E3-F85B-EEFC40CED192}"/>
                  </a:ext>
                </a:extLst>
              </p:cNvPr>
              <p:cNvSpPr txBox="1"/>
              <p:nvPr/>
            </p:nvSpPr>
            <p:spPr>
              <a:xfrm>
                <a:off x="6985309" y="2818626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A3104C5-AC11-B5E3-F85B-EEFC40CED1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309" y="2818626"/>
                <a:ext cx="464486" cy="369332"/>
              </a:xfrm>
              <a:prstGeom prst="rect">
                <a:avLst/>
              </a:prstGeom>
              <a:blipFill>
                <a:blip r:embed="rId8"/>
                <a:stretch>
                  <a:fillRect t="-6452" r="-16216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708423F-DA9D-591D-7835-0135460B6751}"/>
                  </a:ext>
                </a:extLst>
              </p:cNvPr>
              <p:cNvSpPr txBox="1"/>
              <p:nvPr/>
            </p:nvSpPr>
            <p:spPr>
              <a:xfrm>
                <a:off x="7874098" y="2819974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708423F-DA9D-591D-7835-0135460B67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098" y="2819974"/>
                <a:ext cx="464486" cy="369332"/>
              </a:xfrm>
              <a:prstGeom prst="rect">
                <a:avLst/>
              </a:prstGeom>
              <a:blipFill>
                <a:blip r:embed="rId9"/>
                <a:stretch>
                  <a:fillRect t="-10000" r="-1621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BB5412F-B3D2-ABE9-BE7E-A1A2A1E33496}"/>
                  </a:ext>
                </a:extLst>
              </p:cNvPr>
              <p:cNvSpPr txBox="1"/>
              <p:nvPr/>
            </p:nvSpPr>
            <p:spPr>
              <a:xfrm>
                <a:off x="8762887" y="2819974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BB5412F-B3D2-ABE9-BE7E-A1A2A1E334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2887" y="2819974"/>
                <a:ext cx="464486" cy="369332"/>
              </a:xfrm>
              <a:prstGeom prst="rect">
                <a:avLst/>
              </a:prstGeom>
              <a:blipFill>
                <a:blip r:embed="rId10"/>
                <a:stretch>
                  <a:fillRect t="-10000" r="-15789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76414B11-0029-6378-41EB-CC295D852962}"/>
              </a:ext>
            </a:extLst>
          </p:cNvPr>
          <p:cNvSpPr txBox="1"/>
          <p:nvPr/>
        </p:nvSpPr>
        <p:spPr>
          <a:xfrm>
            <a:off x="839954" y="5595640"/>
            <a:ext cx="1418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tokens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C4C55A9-A631-D80F-19D9-5216009C0DC6}"/>
              </a:ext>
            </a:extLst>
          </p:cNvPr>
          <p:cNvSpPr txBox="1"/>
          <p:nvPr/>
        </p:nvSpPr>
        <p:spPr>
          <a:xfrm>
            <a:off x="838200" y="2686799"/>
            <a:ext cx="17575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  <a:p>
            <a:r>
              <a:rPr lang="en-US" dirty="0"/>
              <a:t>representations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BC68928-CC4F-5BC9-C858-C30111975446}"/>
              </a:ext>
            </a:extLst>
          </p:cNvPr>
          <p:cNvCxnSpPr/>
          <p:nvPr/>
        </p:nvCxnSpPr>
        <p:spPr>
          <a:xfrm flipV="1">
            <a:off x="3642073" y="31995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3256CFC-1C70-C298-634F-33B407C9D9DF}"/>
              </a:ext>
            </a:extLst>
          </p:cNvPr>
          <p:cNvCxnSpPr/>
          <p:nvPr/>
        </p:nvCxnSpPr>
        <p:spPr>
          <a:xfrm flipV="1">
            <a:off x="7206189" y="3199567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CC84200-1102-499B-4622-E398EAABF5A9}"/>
              </a:ext>
            </a:extLst>
          </p:cNvPr>
          <p:cNvCxnSpPr/>
          <p:nvPr/>
        </p:nvCxnSpPr>
        <p:spPr>
          <a:xfrm flipV="1">
            <a:off x="8097218" y="3199567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0FC1798-4F1D-75DA-9FAC-44BE329EB395}"/>
              </a:ext>
            </a:extLst>
          </p:cNvPr>
          <p:cNvCxnSpPr/>
          <p:nvPr/>
        </p:nvCxnSpPr>
        <p:spPr>
          <a:xfrm flipV="1">
            <a:off x="8988247" y="31995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A984EC9-7D22-201F-000F-AA21984C3447}"/>
              </a:ext>
            </a:extLst>
          </p:cNvPr>
          <p:cNvCxnSpPr/>
          <p:nvPr/>
        </p:nvCxnSpPr>
        <p:spPr>
          <a:xfrm flipV="1">
            <a:off x="9879276" y="31995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7EBE855-9F3E-ABC7-1D3F-D95773E96520}"/>
              </a:ext>
            </a:extLst>
          </p:cNvPr>
          <p:cNvCxnSpPr/>
          <p:nvPr/>
        </p:nvCxnSpPr>
        <p:spPr>
          <a:xfrm flipV="1">
            <a:off x="10770308" y="31995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3EC1013-54EE-164B-797A-08E4ED800BB6}"/>
              </a:ext>
            </a:extLst>
          </p:cNvPr>
          <p:cNvCxnSpPr/>
          <p:nvPr/>
        </p:nvCxnSpPr>
        <p:spPr>
          <a:xfrm flipV="1">
            <a:off x="5424131" y="3199567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78CDD02-8EBC-3FA2-1038-D87C12785AAF}"/>
              </a:ext>
            </a:extLst>
          </p:cNvPr>
          <p:cNvCxnSpPr/>
          <p:nvPr/>
        </p:nvCxnSpPr>
        <p:spPr>
          <a:xfrm flipV="1">
            <a:off x="6315160" y="3205853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3AFCD23-2792-BA27-9196-AECBF6A42A24}"/>
              </a:ext>
            </a:extLst>
          </p:cNvPr>
          <p:cNvCxnSpPr/>
          <p:nvPr/>
        </p:nvCxnSpPr>
        <p:spPr>
          <a:xfrm flipV="1">
            <a:off x="4533102" y="3199566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88C4902-199E-77A5-BD3D-D6638257EB1C}"/>
              </a:ext>
            </a:extLst>
          </p:cNvPr>
          <p:cNvSpPr txBox="1"/>
          <p:nvPr/>
        </p:nvSpPr>
        <p:spPr>
          <a:xfrm>
            <a:off x="1338606" y="1671317"/>
            <a:ext cx="578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Unique consideration 1</a:t>
            </a:r>
            <a:r>
              <a:rPr lang="en-US" dirty="0"/>
              <a:t>: we have </a:t>
            </a:r>
            <a:r>
              <a:rPr lang="en-US" b="1" dirty="0"/>
              <a:t>position</a:t>
            </a:r>
            <a:r>
              <a:rPr lang="en-US" dirty="0"/>
              <a:t>, </a:t>
            </a:r>
            <a:r>
              <a:rPr lang="en-US" b="1" dirty="0"/>
              <a:t>age</a:t>
            </a:r>
            <a:r>
              <a:rPr lang="en-US" dirty="0"/>
              <a:t>, and </a:t>
            </a:r>
            <a:r>
              <a:rPr lang="en-US" b="1" dirty="0"/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933531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91834-0635-862C-D590-94A9E7B3B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E1DB3-5244-4250-0206-351FEF725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Transformers for Electronic Health Records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ED2C41-0F33-DEC0-5D53-16F44A1218D3}"/>
              </a:ext>
            </a:extLst>
          </p:cNvPr>
          <p:cNvSpPr txBox="1"/>
          <p:nvPr/>
        </p:nvSpPr>
        <p:spPr>
          <a:xfrm>
            <a:off x="6096000" y="6262042"/>
            <a:ext cx="60991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u="none" strike="noStrike" dirty="0">
                <a:solidFill>
                  <a:srgbClr val="222222"/>
                </a:solidFill>
                <a:effectLst/>
              </a:rPr>
              <a:t>Li, Y., Rao, S., Solares, J.R.A. </a:t>
            </a:r>
            <a:r>
              <a:rPr lang="en-US" sz="1200" b="0" i="1" u="none" strike="noStrike" dirty="0">
                <a:solidFill>
                  <a:srgbClr val="222222"/>
                </a:solidFill>
                <a:effectLst/>
              </a:rPr>
              <a:t>et al.</a:t>
            </a:r>
            <a:r>
              <a:rPr lang="en-US" sz="1200" b="0" i="0" u="none" strike="noStrike" dirty="0">
                <a:solidFill>
                  <a:srgbClr val="222222"/>
                </a:solidFill>
                <a:effectLst/>
              </a:rPr>
              <a:t> BEHRT: Transformer for Electronic Health Records. </a:t>
            </a:r>
            <a:r>
              <a:rPr lang="en-US" sz="1200" b="0" i="1" u="none" strike="noStrike" dirty="0">
                <a:solidFill>
                  <a:srgbClr val="222222"/>
                </a:solidFill>
                <a:effectLst/>
              </a:rPr>
              <a:t>Sci Rep</a:t>
            </a:r>
            <a:r>
              <a:rPr lang="en-US" sz="1200" b="0" i="0" u="none" strike="noStrike" dirty="0">
                <a:solidFill>
                  <a:srgbClr val="222222"/>
                </a:solidFill>
                <a:effectLst/>
              </a:rPr>
              <a:t> </a:t>
            </a:r>
            <a:r>
              <a:rPr lang="en-US" sz="1200" b="1" i="0" u="none" strike="noStrike" dirty="0">
                <a:solidFill>
                  <a:srgbClr val="222222"/>
                </a:solidFill>
                <a:effectLst/>
              </a:rPr>
              <a:t>10</a:t>
            </a:r>
            <a:r>
              <a:rPr lang="en-US" sz="1200" b="0" i="0" u="none" strike="noStrike" dirty="0">
                <a:solidFill>
                  <a:srgbClr val="222222"/>
                </a:solidFill>
                <a:effectLst/>
              </a:rPr>
              <a:t>, 7155 (2020). https://</a:t>
            </a:r>
            <a:r>
              <a:rPr lang="en-US" sz="1200" b="0" i="0" u="none" strike="noStrike" dirty="0" err="1">
                <a:solidFill>
                  <a:srgbClr val="222222"/>
                </a:solidFill>
                <a:effectLst/>
              </a:rPr>
              <a:t>doi.org</a:t>
            </a:r>
            <a:r>
              <a:rPr lang="en-US" sz="1200" b="0" i="0" u="none" strike="noStrike" dirty="0">
                <a:solidFill>
                  <a:srgbClr val="222222"/>
                </a:solidFill>
                <a:effectLst/>
              </a:rPr>
              <a:t>/10.1038/s41598-020-62922-y</a:t>
            </a:r>
            <a:endParaRPr 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214351-3673-2AE1-5ADA-82EE818E47A1}"/>
              </a:ext>
            </a:extLst>
          </p:cNvPr>
          <p:cNvSpPr txBox="1"/>
          <p:nvPr/>
        </p:nvSpPr>
        <p:spPr>
          <a:xfrm>
            <a:off x="3187601" y="5589356"/>
            <a:ext cx="3534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E11.65      E11.42        I10         N18.3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C2E6F49-9189-288C-5086-D3E8497FD125}"/>
              </a:ext>
            </a:extLst>
          </p:cNvPr>
          <p:cNvSpPr/>
          <p:nvPr/>
        </p:nvSpPr>
        <p:spPr>
          <a:xfrm>
            <a:off x="2969045" y="3629320"/>
            <a:ext cx="8644379" cy="1536569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Transformer Encoder</a:t>
            </a:r>
          </a:p>
          <a:p>
            <a:pPr algn="ctr"/>
            <a:r>
              <a:rPr lang="en-US" dirty="0"/>
              <a:t>(token embeddings + positional encodings -&gt; (encoder layer) x N)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325CFE6-1C9B-785A-DBFE-5DD2C2EA30BE}"/>
              </a:ext>
            </a:extLst>
          </p:cNvPr>
          <p:cNvCxnSpPr/>
          <p:nvPr/>
        </p:nvCxnSpPr>
        <p:spPr>
          <a:xfrm flipV="1">
            <a:off x="3665058" y="51658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FD80DF7-0642-F83B-FF2C-42A95D0AB535}"/>
              </a:ext>
            </a:extLst>
          </p:cNvPr>
          <p:cNvCxnSpPr/>
          <p:nvPr/>
        </p:nvCxnSpPr>
        <p:spPr>
          <a:xfrm flipV="1">
            <a:off x="7229174" y="516588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3BCCB60-96A2-E2F4-3D3B-3D4F401B51DD}"/>
              </a:ext>
            </a:extLst>
          </p:cNvPr>
          <p:cNvCxnSpPr/>
          <p:nvPr/>
        </p:nvCxnSpPr>
        <p:spPr>
          <a:xfrm flipV="1">
            <a:off x="8120203" y="516588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0EBA1-D44E-8E2F-DE43-9D796AE84143}"/>
              </a:ext>
            </a:extLst>
          </p:cNvPr>
          <p:cNvCxnSpPr/>
          <p:nvPr/>
        </p:nvCxnSpPr>
        <p:spPr>
          <a:xfrm flipV="1">
            <a:off x="9011232" y="51658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FD9C9C3-70ED-8938-BC6B-C0ABAF7B89DD}"/>
              </a:ext>
            </a:extLst>
          </p:cNvPr>
          <p:cNvCxnSpPr/>
          <p:nvPr/>
        </p:nvCxnSpPr>
        <p:spPr>
          <a:xfrm flipV="1">
            <a:off x="9902261" y="51658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E4F05B7-9E41-068B-865D-3073FF538154}"/>
              </a:ext>
            </a:extLst>
          </p:cNvPr>
          <p:cNvCxnSpPr/>
          <p:nvPr/>
        </p:nvCxnSpPr>
        <p:spPr>
          <a:xfrm flipV="1">
            <a:off x="10793293" y="51658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3C277B2-36BB-1805-FBFC-67B8A709443E}"/>
              </a:ext>
            </a:extLst>
          </p:cNvPr>
          <p:cNvCxnSpPr/>
          <p:nvPr/>
        </p:nvCxnSpPr>
        <p:spPr>
          <a:xfrm flipV="1">
            <a:off x="5447116" y="516588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9D6BB80-01AE-5BC6-5438-65E16760516B}"/>
              </a:ext>
            </a:extLst>
          </p:cNvPr>
          <p:cNvCxnSpPr/>
          <p:nvPr/>
        </p:nvCxnSpPr>
        <p:spPr>
          <a:xfrm flipV="1">
            <a:off x="6338145" y="5172174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8498F35-F1AB-2108-0819-B1C73802F16E}"/>
              </a:ext>
            </a:extLst>
          </p:cNvPr>
          <p:cNvCxnSpPr/>
          <p:nvPr/>
        </p:nvCxnSpPr>
        <p:spPr>
          <a:xfrm flipV="1">
            <a:off x="4556087" y="5165887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5E9B5EE-DCB5-81B2-48A0-BBC409740A51}"/>
                  </a:ext>
                </a:extLst>
              </p:cNvPr>
              <p:cNvSpPr txBox="1"/>
              <p:nvPr/>
            </p:nvSpPr>
            <p:spPr>
              <a:xfrm>
                <a:off x="3435474" y="2830234"/>
                <a:ext cx="459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5E9B5EE-DCB5-81B2-48A0-BBC409740A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5474" y="2830234"/>
                <a:ext cx="459165" cy="369332"/>
              </a:xfrm>
              <a:prstGeom prst="rect">
                <a:avLst/>
              </a:prstGeom>
              <a:blipFill>
                <a:blip r:embed="rId2"/>
                <a:stretch>
                  <a:fillRect t="-6452" r="-16216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60B10CB-BBA3-3022-1199-8EFD7802940E}"/>
                  </a:ext>
                </a:extLst>
              </p:cNvPr>
              <p:cNvSpPr txBox="1"/>
              <p:nvPr/>
            </p:nvSpPr>
            <p:spPr>
              <a:xfrm>
                <a:off x="4318942" y="2825299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60B10CB-BBA3-3022-1199-8EFD780294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8942" y="2825299"/>
                <a:ext cx="464486" cy="369332"/>
              </a:xfrm>
              <a:prstGeom prst="rect">
                <a:avLst/>
              </a:prstGeom>
              <a:blipFill>
                <a:blip r:embed="rId3"/>
                <a:stretch>
                  <a:fillRect t="-6667" r="-1578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A682126-64EC-9505-4775-E4EE02F7BBF1}"/>
                  </a:ext>
                </a:extLst>
              </p:cNvPr>
              <p:cNvSpPr txBox="1"/>
              <p:nvPr/>
            </p:nvSpPr>
            <p:spPr>
              <a:xfrm>
                <a:off x="5207731" y="2825299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A682126-64EC-9505-4775-E4EE02F7BB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7731" y="2825299"/>
                <a:ext cx="464486" cy="369332"/>
              </a:xfrm>
              <a:prstGeom prst="rect">
                <a:avLst/>
              </a:prstGeom>
              <a:blipFill>
                <a:blip r:embed="rId4"/>
                <a:stretch>
                  <a:fillRect t="-6667" r="-1578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83C010A-8925-6AA5-B197-90A8FB5042EC}"/>
                  </a:ext>
                </a:extLst>
              </p:cNvPr>
              <p:cNvSpPr txBox="1"/>
              <p:nvPr/>
            </p:nvSpPr>
            <p:spPr>
              <a:xfrm>
                <a:off x="9651676" y="2823950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83C010A-8925-6AA5-B197-90A8FB5042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1676" y="2823950"/>
                <a:ext cx="464486" cy="369332"/>
              </a:xfrm>
              <a:prstGeom prst="rect">
                <a:avLst/>
              </a:prstGeom>
              <a:blipFill>
                <a:blip r:embed="rId5"/>
                <a:stretch>
                  <a:fillRect t="-6667" r="-1578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C33E0D0-4527-94AD-F09E-76B02CE488CC}"/>
                  </a:ext>
                </a:extLst>
              </p:cNvPr>
              <p:cNvSpPr txBox="1"/>
              <p:nvPr/>
            </p:nvSpPr>
            <p:spPr>
              <a:xfrm>
                <a:off x="10540466" y="2824352"/>
                <a:ext cx="4596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C33E0D0-4527-94AD-F09E-76B02CE488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0466" y="2824352"/>
                <a:ext cx="459677" cy="369332"/>
              </a:xfrm>
              <a:prstGeom prst="rect">
                <a:avLst/>
              </a:prstGeom>
              <a:blipFill>
                <a:blip r:embed="rId6"/>
                <a:stretch>
                  <a:fillRect t="-6667" r="-1891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70DDF15-53E0-27B8-439D-D708FAA1D6B6}"/>
                  </a:ext>
                </a:extLst>
              </p:cNvPr>
              <p:cNvSpPr txBox="1"/>
              <p:nvPr/>
            </p:nvSpPr>
            <p:spPr>
              <a:xfrm>
                <a:off x="6096520" y="2818625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70DDF15-53E0-27B8-439D-D708FAA1D6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520" y="2818625"/>
                <a:ext cx="464486" cy="369332"/>
              </a:xfrm>
              <a:prstGeom prst="rect">
                <a:avLst/>
              </a:prstGeom>
              <a:blipFill>
                <a:blip r:embed="rId7"/>
                <a:stretch>
                  <a:fillRect t="-6452" r="-16216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2A622A8-E43F-D564-F4FB-CBFE1E1C154B}"/>
                  </a:ext>
                </a:extLst>
              </p:cNvPr>
              <p:cNvSpPr txBox="1"/>
              <p:nvPr/>
            </p:nvSpPr>
            <p:spPr>
              <a:xfrm>
                <a:off x="6985309" y="2818626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2A622A8-E43F-D564-F4FB-CBFE1E1C15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309" y="2818626"/>
                <a:ext cx="464486" cy="369332"/>
              </a:xfrm>
              <a:prstGeom prst="rect">
                <a:avLst/>
              </a:prstGeom>
              <a:blipFill>
                <a:blip r:embed="rId8"/>
                <a:stretch>
                  <a:fillRect t="-6452" r="-16216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88E7671-C816-CE23-32B4-329FC2607061}"/>
                  </a:ext>
                </a:extLst>
              </p:cNvPr>
              <p:cNvSpPr txBox="1"/>
              <p:nvPr/>
            </p:nvSpPr>
            <p:spPr>
              <a:xfrm>
                <a:off x="7874098" y="2819974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88E7671-C816-CE23-32B4-329FC26070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098" y="2819974"/>
                <a:ext cx="464486" cy="369332"/>
              </a:xfrm>
              <a:prstGeom prst="rect">
                <a:avLst/>
              </a:prstGeom>
              <a:blipFill>
                <a:blip r:embed="rId9"/>
                <a:stretch>
                  <a:fillRect t="-10000" r="-1621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CAE7051-1A9F-C72C-D3AC-541B1EF710C5}"/>
                  </a:ext>
                </a:extLst>
              </p:cNvPr>
              <p:cNvSpPr txBox="1"/>
              <p:nvPr/>
            </p:nvSpPr>
            <p:spPr>
              <a:xfrm>
                <a:off x="8762887" y="2819974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CAE7051-1A9F-C72C-D3AC-541B1EF710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2887" y="2819974"/>
                <a:ext cx="464486" cy="369332"/>
              </a:xfrm>
              <a:prstGeom prst="rect">
                <a:avLst/>
              </a:prstGeom>
              <a:blipFill>
                <a:blip r:embed="rId10"/>
                <a:stretch>
                  <a:fillRect t="-10000" r="-15789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555059BE-D395-962F-8854-486280B3F19E}"/>
              </a:ext>
            </a:extLst>
          </p:cNvPr>
          <p:cNvSpPr txBox="1"/>
          <p:nvPr/>
        </p:nvSpPr>
        <p:spPr>
          <a:xfrm>
            <a:off x="839954" y="5595640"/>
            <a:ext cx="1418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tokens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61DDD2F-B49C-8BFB-3780-62EA7A30FC41}"/>
              </a:ext>
            </a:extLst>
          </p:cNvPr>
          <p:cNvSpPr txBox="1"/>
          <p:nvPr/>
        </p:nvSpPr>
        <p:spPr>
          <a:xfrm>
            <a:off x="838200" y="2686799"/>
            <a:ext cx="17575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  <a:p>
            <a:r>
              <a:rPr lang="en-US" dirty="0"/>
              <a:t>representations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2CAF2CD-F8F5-A058-EBDB-AB33E8BA3434}"/>
              </a:ext>
            </a:extLst>
          </p:cNvPr>
          <p:cNvCxnSpPr/>
          <p:nvPr/>
        </p:nvCxnSpPr>
        <p:spPr>
          <a:xfrm flipV="1">
            <a:off x="3642073" y="31995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07F5933-45B9-49B9-DD54-A0252BD48336}"/>
              </a:ext>
            </a:extLst>
          </p:cNvPr>
          <p:cNvCxnSpPr/>
          <p:nvPr/>
        </p:nvCxnSpPr>
        <p:spPr>
          <a:xfrm flipV="1">
            <a:off x="7206189" y="3199567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B9E656D-F13D-7BFC-54FB-D1A231CF775C}"/>
              </a:ext>
            </a:extLst>
          </p:cNvPr>
          <p:cNvCxnSpPr/>
          <p:nvPr/>
        </p:nvCxnSpPr>
        <p:spPr>
          <a:xfrm flipV="1">
            <a:off x="8097218" y="3199567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7820A44-5FF9-56F7-B76E-C44B3A37E2A3}"/>
              </a:ext>
            </a:extLst>
          </p:cNvPr>
          <p:cNvCxnSpPr/>
          <p:nvPr/>
        </p:nvCxnSpPr>
        <p:spPr>
          <a:xfrm flipV="1">
            <a:off x="8988247" y="31995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7FA4279-6F81-4D98-6DA6-15666E836F98}"/>
              </a:ext>
            </a:extLst>
          </p:cNvPr>
          <p:cNvCxnSpPr/>
          <p:nvPr/>
        </p:nvCxnSpPr>
        <p:spPr>
          <a:xfrm flipV="1">
            <a:off x="9879276" y="31995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F040B36-7E4C-97F1-C46C-528DB8F1E06C}"/>
              </a:ext>
            </a:extLst>
          </p:cNvPr>
          <p:cNvCxnSpPr/>
          <p:nvPr/>
        </p:nvCxnSpPr>
        <p:spPr>
          <a:xfrm flipV="1">
            <a:off x="10770308" y="31995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0F2AACA-9267-62C7-F734-E9394E5EE756}"/>
              </a:ext>
            </a:extLst>
          </p:cNvPr>
          <p:cNvCxnSpPr/>
          <p:nvPr/>
        </p:nvCxnSpPr>
        <p:spPr>
          <a:xfrm flipV="1">
            <a:off x="5424131" y="3199567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D07B9E23-9F1B-2F07-BBE9-A16E69821C6E}"/>
              </a:ext>
            </a:extLst>
          </p:cNvPr>
          <p:cNvCxnSpPr/>
          <p:nvPr/>
        </p:nvCxnSpPr>
        <p:spPr>
          <a:xfrm flipV="1">
            <a:off x="6315160" y="3205853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6BC3CEA-57B1-6DF6-CF5F-D28930347998}"/>
              </a:ext>
            </a:extLst>
          </p:cNvPr>
          <p:cNvCxnSpPr/>
          <p:nvPr/>
        </p:nvCxnSpPr>
        <p:spPr>
          <a:xfrm flipV="1">
            <a:off x="4533102" y="3199566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3D5B9BC-B779-EE00-14E2-2B047E396A08}"/>
              </a:ext>
            </a:extLst>
          </p:cNvPr>
          <p:cNvSpPr txBox="1"/>
          <p:nvPr/>
        </p:nvSpPr>
        <p:spPr>
          <a:xfrm>
            <a:off x="1338606" y="1671317"/>
            <a:ext cx="7878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Unique consideration 2</a:t>
            </a:r>
            <a:r>
              <a:rPr lang="en-US" dirty="0"/>
              <a:t>: some tokens have associated values (e.g., labs, vitals)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72111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D731B-66B1-CB96-637A-F5C753CDF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DE0DF-B6F5-9BEB-4EA5-ADDC61637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Transformers for Electronic Health Records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2E4AA4-A99D-E678-8544-F6FB4FF682FB}"/>
              </a:ext>
            </a:extLst>
          </p:cNvPr>
          <p:cNvSpPr txBox="1"/>
          <p:nvPr/>
        </p:nvSpPr>
        <p:spPr>
          <a:xfrm>
            <a:off x="3187601" y="5589356"/>
            <a:ext cx="3534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E11.65      E11.42        I10         N18.3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8F4ECB5-C845-6A43-539D-D509E3C84FD8}"/>
              </a:ext>
            </a:extLst>
          </p:cNvPr>
          <p:cNvSpPr/>
          <p:nvPr/>
        </p:nvSpPr>
        <p:spPr>
          <a:xfrm>
            <a:off x="2969045" y="3629320"/>
            <a:ext cx="8644379" cy="1536569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Transformer Encoder</a:t>
            </a:r>
          </a:p>
          <a:p>
            <a:pPr algn="ctr"/>
            <a:r>
              <a:rPr lang="en-US" dirty="0"/>
              <a:t>(token embeddings + positional encodings -&gt; (encoder layer) x N)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77F8289-BF41-29C1-3144-F8650156BF72}"/>
              </a:ext>
            </a:extLst>
          </p:cNvPr>
          <p:cNvCxnSpPr/>
          <p:nvPr/>
        </p:nvCxnSpPr>
        <p:spPr>
          <a:xfrm flipV="1">
            <a:off x="3665058" y="51658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F086A8D-7552-3E12-A5AD-1D210D374E06}"/>
              </a:ext>
            </a:extLst>
          </p:cNvPr>
          <p:cNvCxnSpPr/>
          <p:nvPr/>
        </p:nvCxnSpPr>
        <p:spPr>
          <a:xfrm flipV="1">
            <a:off x="7229174" y="516588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FA7D128-0720-87F9-C6D1-57DCBC239BB1}"/>
              </a:ext>
            </a:extLst>
          </p:cNvPr>
          <p:cNvCxnSpPr/>
          <p:nvPr/>
        </p:nvCxnSpPr>
        <p:spPr>
          <a:xfrm flipV="1">
            <a:off x="8120203" y="516588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6CFDF11-2078-C727-1678-76FBB1A5269E}"/>
              </a:ext>
            </a:extLst>
          </p:cNvPr>
          <p:cNvCxnSpPr/>
          <p:nvPr/>
        </p:nvCxnSpPr>
        <p:spPr>
          <a:xfrm flipV="1">
            <a:off x="9011232" y="51658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DDB7526-72C6-8304-16CE-947FFAC404D5}"/>
              </a:ext>
            </a:extLst>
          </p:cNvPr>
          <p:cNvCxnSpPr/>
          <p:nvPr/>
        </p:nvCxnSpPr>
        <p:spPr>
          <a:xfrm flipV="1">
            <a:off x="9902261" y="51658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E232584-EE8F-897F-1D3C-D26E923DBEBE}"/>
              </a:ext>
            </a:extLst>
          </p:cNvPr>
          <p:cNvCxnSpPr/>
          <p:nvPr/>
        </p:nvCxnSpPr>
        <p:spPr>
          <a:xfrm flipV="1">
            <a:off x="10793293" y="5165889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77F511B-2E0E-A9BD-9FF3-6B466A3231C7}"/>
              </a:ext>
            </a:extLst>
          </p:cNvPr>
          <p:cNvCxnSpPr/>
          <p:nvPr/>
        </p:nvCxnSpPr>
        <p:spPr>
          <a:xfrm flipV="1">
            <a:off x="5447116" y="516588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C9755B1-9888-FBDF-A66F-DD71BD53DD7D}"/>
              </a:ext>
            </a:extLst>
          </p:cNvPr>
          <p:cNvCxnSpPr/>
          <p:nvPr/>
        </p:nvCxnSpPr>
        <p:spPr>
          <a:xfrm flipV="1">
            <a:off x="6338145" y="5172174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36FA675-A676-EEB5-A203-5D0B97D43E02}"/>
              </a:ext>
            </a:extLst>
          </p:cNvPr>
          <p:cNvCxnSpPr/>
          <p:nvPr/>
        </p:nvCxnSpPr>
        <p:spPr>
          <a:xfrm flipV="1">
            <a:off x="4556087" y="5165887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E2A8F18-FD4D-F03B-2486-0720985F5FE3}"/>
                  </a:ext>
                </a:extLst>
              </p:cNvPr>
              <p:cNvSpPr txBox="1"/>
              <p:nvPr/>
            </p:nvSpPr>
            <p:spPr>
              <a:xfrm>
                <a:off x="3435474" y="2830234"/>
                <a:ext cx="459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E2A8F18-FD4D-F03B-2486-0720985F5F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5474" y="2830234"/>
                <a:ext cx="459165" cy="369332"/>
              </a:xfrm>
              <a:prstGeom prst="rect">
                <a:avLst/>
              </a:prstGeom>
              <a:blipFill>
                <a:blip r:embed="rId2"/>
                <a:stretch>
                  <a:fillRect t="-6452" r="-16216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38556B2-5D4F-F63E-9A64-3304E63DC337}"/>
                  </a:ext>
                </a:extLst>
              </p:cNvPr>
              <p:cNvSpPr txBox="1"/>
              <p:nvPr/>
            </p:nvSpPr>
            <p:spPr>
              <a:xfrm>
                <a:off x="4318942" y="2825299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38556B2-5D4F-F63E-9A64-3304E63DC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8942" y="2825299"/>
                <a:ext cx="464486" cy="369332"/>
              </a:xfrm>
              <a:prstGeom prst="rect">
                <a:avLst/>
              </a:prstGeom>
              <a:blipFill>
                <a:blip r:embed="rId3"/>
                <a:stretch>
                  <a:fillRect t="-6667" r="-1578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0DB5A4E-349C-862B-341F-9ACC9A0CA73D}"/>
                  </a:ext>
                </a:extLst>
              </p:cNvPr>
              <p:cNvSpPr txBox="1"/>
              <p:nvPr/>
            </p:nvSpPr>
            <p:spPr>
              <a:xfrm>
                <a:off x="5207731" y="2825299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0DB5A4E-349C-862B-341F-9ACC9A0CA7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7731" y="2825299"/>
                <a:ext cx="464486" cy="369332"/>
              </a:xfrm>
              <a:prstGeom prst="rect">
                <a:avLst/>
              </a:prstGeom>
              <a:blipFill>
                <a:blip r:embed="rId4"/>
                <a:stretch>
                  <a:fillRect t="-6667" r="-1578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DA4514F-D9DC-E984-9AD2-D69B9BA5EDA8}"/>
                  </a:ext>
                </a:extLst>
              </p:cNvPr>
              <p:cNvSpPr txBox="1"/>
              <p:nvPr/>
            </p:nvSpPr>
            <p:spPr>
              <a:xfrm>
                <a:off x="9651676" y="2823950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DA4514F-D9DC-E984-9AD2-D69B9BA5E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1676" y="2823950"/>
                <a:ext cx="464486" cy="369332"/>
              </a:xfrm>
              <a:prstGeom prst="rect">
                <a:avLst/>
              </a:prstGeom>
              <a:blipFill>
                <a:blip r:embed="rId5"/>
                <a:stretch>
                  <a:fillRect t="-6667" r="-1578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CB4F04D-F251-6786-CC73-A21F61473C8B}"/>
                  </a:ext>
                </a:extLst>
              </p:cNvPr>
              <p:cNvSpPr txBox="1"/>
              <p:nvPr/>
            </p:nvSpPr>
            <p:spPr>
              <a:xfrm>
                <a:off x="10540466" y="2824352"/>
                <a:ext cx="4596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CB4F04D-F251-6786-CC73-A21F61473C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0466" y="2824352"/>
                <a:ext cx="459677" cy="369332"/>
              </a:xfrm>
              <a:prstGeom prst="rect">
                <a:avLst/>
              </a:prstGeom>
              <a:blipFill>
                <a:blip r:embed="rId6"/>
                <a:stretch>
                  <a:fillRect t="-6667" r="-1891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747AE64-077D-E0B9-15B0-5BFA37F4F6A2}"/>
                  </a:ext>
                </a:extLst>
              </p:cNvPr>
              <p:cNvSpPr txBox="1"/>
              <p:nvPr/>
            </p:nvSpPr>
            <p:spPr>
              <a:xfrm>
                <a:off x="6096520" y="2818625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747AE64-077D-E0B9-15B0-5BFA37F4F6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520" y="2818625"/>
                <a:ext cx="464486" cy="369332"/>
              </a:xfrm>
              <a:prstGeom prst="rect">
                <a:avLst/>
              </a:prstGeom>
              <a:blipFill>
                <a:blip r:embed="rId7"/>
                <a:stretch>
                  <a:fillRect t="-6452" r="-16216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AD5CEEA-B555-22A5-82C9-881589ECABC8}"/>
                  </a:ext>
                </a:extLst>
              </p:cNvPr>
              <p:cNvSpPr txBox="1"/>
              <p:nvPr/>
            </p:nvSpPr>
            <p:spPr>
              <a:xfrm>
                <a:off x="6985309" y="2818626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AD5CEEA-B555-22A5-82C9-881589ECAB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309" y="2818626"/>
                <a:ext cx="464486" cy="369332"/>
              </a:xfrm>
              <a:prstGeom prst="rect">
                <a:avLst/>
              </a:prstGeom>
              <a:blipFill>
                <a:blip r:embed="rId8"/>
                <a:stretch>
                  <a:fillRect t="-6452" r="-16216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4D58159-C729-D933-4C3B-FDE83779EA74}"/>
                  </a:ext>
                </a:extLst>
              </p:cNvPr>
              <p:cNvSpPr txBox="1"/>
              <p:nvPr/>
            </p:nvSpPr>
            <p:spPr>
              <a:xfrm>
                <a:off x="7874098" y="2819974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4D58159-C729-D933-4C3B-FDE83779EA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098" y="2819974"/>
                <a:ext cx="464486" cy="369332"/>
              </a:xfrm>
              <a:prstGeom prst="rect">
                <a:avLst/>
              </a:prstGeom>
              <a:blipFill>
                <a:blip r:embed="rId9"/>
                <a:stretch>
                  <a:fillRect t="-10000" r="-1621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2E674B8-69C6-9910-3230-1DCB125A9B8E}"/>
                  </a:ext>
                </a:extLst>
              </p:cNvPr>
              <p:cNvSpPr txBox="1"/>
              <p:nvPr/>
            </p:nvSpPr>
            <p:spPr>
              <a:xfrm>
                <a:off x="8762887" y="2819974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2E674B8-69C6-9910-3230-1DCB125A9B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2887" y="2819974"/>
                <a:ext cx="464486" cy="369332"/>
              </a:xfrm>
              <a:prstGeom prst="rect">
                <a:avLst/>
              </a:prstGeom>
              <a:blipFill>
                <a:blip r:embed="rId10"/>
                <a:stretch>
                  <a:fillRect t="-10000" r="-15789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A7D7738F-1E75-AAD6-E3C3-72DB038F9B24}"/>
              </a:ext>
            </a:extLst>
          </p:cNvPr>
          <p:cNvSpPr txBox="1"/>
          <p:nvPr/>
        </p:nvSpPr>
        <p:spPr>
          <a:xfrm>
            <a:off x="839954" y="5595640"/>
            <a:ext cx="1418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tokens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9D41DDC-8019-CD96-88FC-6ECC8FDF7069}"/>
              </a:ext>
            </a:extLst>
          </p:cNvPr>
          <p:cNvSpPr txBox="1"/>
          <p:nvPr/>
        </p:nvSpPr>
        <p:spPr>
          <a:xfrm>
            <a:off x="838200" y="2686799"/>
            <a:ext cx="17575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  <a:p>
            <a:r>
              <a:rPr lang="en-US" dirty="0"/>
              <a:t>representations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777E2B4-66AC-8407-6895-732885D54C3A}"/>
              </a:ext>
            </a:extLst>
          </p:cNvPr>
          <p:cNvCxnSpPr/>
          <p:nvPr/>
        </p:nvCxnSpPr>
        <p:spPr>
          <a:xfrm flipV="1">
            <a:off x="3642073" y="31995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4C5FF77-85C9-4A6C-8D32-CF13F19A765B}"/>
              </a:ext>
            </a:extLst>
          </p:cNvPr>
          <p:cNvCxnSpPr/>
          <p:nvPr/>
        </p:nvCxnSpPr>
        <p:spPr>
          <a:xfrm flipV="1">
            <a:off x="7206189" y="3199567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9F47D76-507F-3BA1-65E1-2EEF0F8A5FE8}"/>
              </a:ext>
            </a:extLst>
          </p:cNvPr>
          <p:cNvCxnSpPr/>
          <p:nvPr/>
        </p:nvCxnSpPr>
        <p:spPr>
          <a:xfrm flipV="1">
            <a:off x="8097218" y="3199567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5D31909-C66B-BA9D-773F-D9CDFE76CB58}"/>
              </a:ext>
            </a:extLst>
          </p:cNvPr>
          <p:cNvCxnSpPr/>
          <p:nvPr/>
        </p:nvCxnSpPr>
        <p:spPr>
          <a:xfrm flipV="1">
            <a:off x="8988247" y="31995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8E66AF5-1B8B-79FC-75C3-5EF4D878C971}"/>
              </a:ext>
            </a:extLst>
          </p:cNvPr>
          <p:cNvCxnSpPr/>
          <p:nvPr/>
        </p:nvCxnSpPr>
        <p:spPr>
          <a:xfrm flipV="1">
            <a:off x="9879276" y="31995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6528CB2-7BE3-D313-F049-FEA9DB4174B7}"/>
              </a:ext>
            </a:extLst>
          </p:cNvPr>
          <p:cNvCxnSpPr/>
          <p:nvPr/>
        </p:nvCxnSpPr>
        <p:spPr>
          <a:xfrm flipV="1">
            <a:off x="10770308" y="31995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723D0C9-3F0F-D510-CD7D-083A81C5D061}"/>
              </a:ext>
            </a:extLst>
          </p:cNvPr>
          <p:cNvCxnSpPr/>
          <p:nvPr/>
        </p:nvCxnSpPr>
        <p:spPr>
          <a:xfrm flipV="1">
            <a:off x="5424131" y="3199567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FA70301-9B5E-3036-762B-AB8C44602708}"/>
              </a:ext>
            </a:extLst>
          </p:cNvPr>
          <p:cNvCxnSpPr/>
          <p:nvPr/>
        </p:nvCxnSpPr>
        <p:spPr>
          <a:xfrm flipV="1">
            <a:off x="6315160" y="3205853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A539C3E7-A94C-8051-8E53-782F9E0D174C}"/>
              </a:ext>
            </a:extLst>
          </p:cNvPr>
          <p:cNvCxnSpPr/>
          <p:nvPr/>
        </p:nvCxnSpPr>
        <p:spPr>
          <a:xfrm flipV="1">
            <a:off x="4533102" y="3199566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FF846E1-16FD-CEC0-A9DE-8DA02AFD9C52}"/>
              </a:ext>
            </a:extLst>
          </p:cNvPr>
          <p:cNvSpPr txBox="1"/>
          <p:nvPr/>
        </p:nvSpPr>
        <p:spPr>
          <a:xfrm>
            <a:off x="1281993" y="1532247"/>
            <a:ext cx="79453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Unique consideration 2</a:t>
            </a:r>
            <a:r>
              <a:rPr lang="en-US" dirty="0"/>
              <a:t>: some tokens have associated values (e.g., labs, vitals)</a:t>
            </a:r>
          </a:p>
          <a:p>
            <a:endParaRPr lang="en-US" b="1" dirty="0"/>
          </a:p>
          <a:p>
            <a:r>
              <a:rPr lang="en-US" b="1" dirty="0"/>
              <a:t>One approach to this is shown below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962C71-5121-0C12-85B6-FA3759E244DF}"/>
              </a:ext>
            </a:extLst>
          </p:cNvPr>
          <p:cNvSpPr txBox="1"/>
          <p:nvPr/>
        </p:nvSpPr>
        <p:spPr>
          <a:xfrm>
            <a:off x="6757054" y="5589356"/>
            <a:ext cx="8699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LAB ID</a:t>
            </a:r>
          </a:p>
          <a:p>
            <a:pPr algn="ctr"/>
            <a:r>
              <a:rPr lang="en-US" b="1" dirty="0"/>
              <a:t>token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F23A3D-2D77-65B6-191B-F558789B2145}"/>
              </a:ext>
            </a:extLst>
          </p:cNvPr>
          <p:cNvSpPr txBox="1"/>
          <p:nvPr/>
        </p:nvSpPr>
        <p:spPr>
          <a:xfrm>
            <a:off x="7592652" y="5589356"/>
            <a:ext cx="10550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result</a:t>
            </a:r>
          </a:p>
          <a:p>
            <a:pPr algn="ctr"/>
            <a:r>
              <a:rPr lang="en-US" b="1" dirty="0"/>
              <a:t>quantile</a:t>
            </a:r>
          </a:p>
          <a:p>
            <a:pPr algn="ctr"/>
            <a:r>
              <a:rPr lang="en-US" b="1" dirty="0"/>
              <a:t>token</a:t>
            </a:r>
          </a:p>
        </p:txBody>
      </p:sp>
    </p:spTree>
    <p:extLst>
      <p:ext uri="{BB962C8B-B14F-4D97-AF65-F5344CB8AC3E}">
        <p14:creationId xmlns:p14="http://schemas.microsoft.com/office/powerpoint/2010/main" val="2211913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B48A5-EC69-46D2-E21D-30F54CA5E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 diagnosis risk from structured EHRs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F105B-ADB7-A5C4-474F-C82979C03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Suppose we wish to predict which children are most likely to be diagnosed with asthma based on EHRs from early life</a:t>
            </a:r>
          </a:p>
          <a:p>
            <a:endParaRPr lang="en-US" dirty="0"/>
          </a:p>
          <a:p>
            <a:r>
              <a:rPr lang="en-US" dirty="0"/>
              <a:t>How would we do this </a:t>
            </a:r>
            <a:r>
              <a:rPr lang="en-US" b="1" dirty="0"/>
              <a:t>without</a:t>
            </a:r>
            <a:r>
              <a:rPr lang="en-US" dirty="0"/>
              <a:t> a transformer-based foundation model?</a:t>
            </a:r>
          </a:p>
          <a:p>
            <a:endParaRPr lang="en-US" dirty="0"/>
          </a:p>
          <a:p>
            <a:r>
              <a:rPr lang="en-US" dirty="0"/>
              <a:t>How would we do this </a:t>
            </a:r>
            <a:r>
              <a:rPr lang="en-US" b="1" dirty="0"/>
              <a:t>with</a:t>
            </a:r>
            <a:r>
              <a:rPr lang="en-US" dirty="0"/>
              <a:t> a transformer-based foundation model?</a:t>
            </a:r>
          </a:p>
          <a:p>
            <a:endParaRPr lang="en-US" dirty="0"/>
          </a:p>
          <a:p>
            <a:r>
              <a:rPr lang="en-US" dirty="0"/>
              <a:t>What are the advantages of the latter approach?</a:t>
            </a:r>
          </a:p>
        </p:txBody>
      </p:sp>
    </p:spTree>
    <p:extLst>
      <p:ext uri="{BB962C8B-B14F-4D97-AF65-F5344CB8AC3E}">
        <p14:creationId xmlns:p14="http://schemas.microsoft.com/office/powerpoint/2010/main" val="2523604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6DB92-8DB7-091C-4749-52BD180E6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Zero-shot prediction via EHR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49E16-8668-B126-A926-71E235C9F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3678723" cy="4351338"/>
          </a:xfrm>
        </p:spPr>
        <p:txBody>
          <a:bodyPr>
            <a:normAutofit/>
          </a:bodyPr>
          <a:lstStyle/>
          <a:p>
            <a:r>
              <a:rPr lang="en-US" sz="1800" dirty="0"/>
              <a:t>Suppose we wish to predict which children are most likely to be diagnosed with asthma based on EHRs from early life</a:t>
            </a:r>
          </a:p>
          <a:p>
            <a:endParaRPr lang="en-US" sz="1800" dirty="0"/>
          </a:p>
          <a:p>
            <a:r>
              <a:rPr lang="en-US" sz="1800" dirty="0"/>
              <a:t>We don’t have any task-specific data; we only have a decoder-only foundation model trained to predict the next token/event</a:t>
            </a:r>
          </a:p>
          <a:p>
            <a:endParaRPr lang="en-US" sz="1800" dirty="0"/>
          </a:p>
          <a:p>
            <a:r>
              <a:rPr lang="en-US" sz="1800" dirty="0"/>
              <a:t>How might we use this to perform zero-shot asthma prediction?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800C3E6-FF8D-6BBB-6F70-122A3CA9C194}"/>
              </a:ext>
            </a:extLst>
          </p:cNvPr>
          <p:cNvSpPr/>
          <p:nvPr/>
        </p:nvSpPr>
        <p:spPr>
          <a:xfrm>
            <a:off x="5318291" y="4157221"/>
            <a:ext cx="6279510" cy="1536569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Transformer Decoder</a:t>
            </a:r>
          </a:p>
          <a:p>
            <a:pPr algn="ctr"/>
            <a:r>
              <a:rPr lang="en-US" b="1" dirty="0"/>
              <a:t>Important</a:t>
            </a:r>
            <a:r>
              <a:rPr lang="en-US" dirty="0"/>
              <a:t>: requires application of a causal mask</a:t>
            </a:r>
          </a:p>
          <a:p>
            <a:pPr algn="ctr"/>
            <a:r>
              <a:rPr lang="en-US" sz="1400" dirty="0"/>
              <a:t>[typically by setting inputs to </a:t>
            </a:r>
            <a:r>
              <a:rPr lang="en-US" sz="1400" dirty="0" err="1"/>
              <a:t>softmax</a:t>
            </a:r>
            <a:r>
              <a:rPr lang="en-US" sz="1400" dirty="0"/>
              <a:t> in attention heads to –inf]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4F9CEE5-EC3D-99B0-20CE-84ECA10E47C8}"/>
              </a:ext>
            </a:extLst>
          </p:cNvPr>
          <p:cNvCxnSpPr/>
          <p:nvPr/>
        </p:nvCxnSpPr>
        <p:spPr>
          <a:xfrm flipV="1">
            <a:off x="6865282" y="569379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739F2A8-9BF9-10AB-7AA0-AF66DD163F81}"/>
              </a:ext>
            </a:extLst>
          </p:cNvPr>
          <p:cNvCxnSpPr/>
          <p:nvPr/>
        </p:nvCxnSpPr>
        <p:spPr>
          <a:xfrm flipV="1">
            <a:off x="8640768" y="5693787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C0FE0A6-80FD-74B0-9895-0F7522EF429B}"/>
              </a:ext>
            </a:extLst>
          </p:cNvPr>
          <p:cNvCxnSpPr/>
          <p:nvPr/>
        </p:nvCxnSpPr>
        <p:spPr>
          <a:xfrm flipV="1">
            <a:off x="9528512" y="5693786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CE37BF6-B998-E18B-FFAA-102D6517E210}"/>
              </a:ext>
            </a:extLst>
          </p:cNvPr>
          <p:cNvCxnSpPr/>
          <p:nvPr/>
        </p:nvCxnSpPr>
        <p:spPr>
          <a:xfrm flipV="1">
            <a:off x="7753025" y="569378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66B09C5-915F-B3AE-144F-5A743C4210A5}"/>
              </a:ext>
            </a:extLst>
          </p:cNvPr>
          <p:cNvCxnSpPr/>
          <p:nvPr/>
        </p:nvCxnSpPr>
        <p:spPr>
          <a:xfrm flipV="1">
            <a:off x="6823458" y="3714084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64FF5A3-AFAD-A9CD-D43E-A88922331BE3}"/>
              </a:ext>
            </a:extLst>
          </p:cNvPr>
          <p:cNvCxnSpPr/>
          <p:nvPr/>
        </p:nvCxnSpPr>
        <p:spPr>
          <a:xfrm flipV="1">
            <a:off x="8607034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9E3E851-5CD3-4C5D-7E3C-728FF2BD0786}"/>
              </a:ext>
            </a:extLst>
          </p:cNvPr>
          <p:cNvCxnSpPr/>
          <p:nvPr/>
        </p:nvCxnSpPr>
        <p:spPr>
          <a:xfrm flipV="1">
            <a:off x="9498823" y="371585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0EC0C90-0940-9AA0-02DE-32F82A50619A}"/>
              </a:ext>
            </a:extLst>
          </p:cNvPr>
          <p:cNvCxnSpPr/>
          <p:nvPr/>
        </p:nvCxnSpPr>
        <p:spPr>
          <a:xfrm flipV="1">
            <a:off x="7715246" y="3727467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39A4A32-884D-5C9A-A50C-5337F59CB375}"/>
                  </a:ext>
                </a:extLst>
              </p:cNvPr>
              <p:cNvSpPr txBox="1"/>
              <p:nvPr/>
            </p:nvSpPr>
            <p:spPr>
              <a:xfrm>
                <a:off x="6604854" y="3358135"/>
                <a:ext cx="459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39A4A32-884D-5C9A-A50C-5337F59CB3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854" y="3358135"/>
                <a:ext cx="459165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82B18E8-54F0-7DFA-F3D8-9B943DBFF9A9}"/>
                  </a:ext>
                </a:extLst>
              </p:cNvPr>
              <p:cNvSpPr txBox="1"/>
              <p:nvPr/>
            </p:nvSpPr>
            <p:spPr>
              <a:xfrm>
                <a:off x="7488549" y="3353200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82B18E8-54F0-7DFA-F3D8-9B943DBFF9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8549" y="3353200"/>
                <a:ext cx="46448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A31F715-0D4F-1CF2-3F1A-7CF49EFF9B63}"/>
                  </a:ext>
                </a:extLst>
              </p:cNvPr>
              <p:cNvSpPr txBox="1"/>
              <p:nvPr/>
            </p:nvSpPr>
            <p:spPr>
              <a:xfrm>
                <a:off x="8377565" y="3353200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A31F715-0D4F-1CF2-3F1A-7CF49EFF9B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7565" y="3353200"/>
                <a:ext cx="46448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A5A3395-066D-27DE-44C8-74AAD98C69CD}"/>
                  </a:ext>
                </a:extLst>
              </p:cNvPr>
              <p:cNvSpPr txBox="1"/>
              <p:nvPr/>
            </p:nvSpPr>
            <p:spPr>
              <a:xfrm>
                <a:off x="9266580" y="3358135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A5A3395-066D-27DE-44C8-74AAD98C69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6580" y="3358135"/>
                <a:ext cx="46448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9C86A5B5-814F-2ACB-CE0A-9526B40EA0EB}"/>
              </a:ext>
            </a:extLst>
          </p:cNvPr>
          <p:cNvSpPr txBox="1"/>
          <p:nvPr/>
        </p:nvSpPr>
        <p:spPr>
          <a:xfrm>
            <a:off x="10201369" y="6119655"/>
            <a:ext cx="1418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tokens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09F93D6-2EDC-45C3-FBCD-E4F9FEB0BB54}"/>
              </a:ext>
            </a:extLst>
          </p:cNvPr>
          <p:cNvSpPr txBox="1"/>
          <p:nvPr/>
        </p:nvSpPr>
        <p:spPr>
          <a:xfrm>
            <a:off x="10201369" y="3282629"/>
            <a:ext cx="17575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  <a:p>
            <a:r>
              <a:rPr lang="en-US" dirty="0"/>
              <a:t>representations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F3B06897-6A61-391C-9BE5-88077CE24BC1}"/>
              </a:ext>
            </a:extLst>
          </p:cNvPr>
          <p:cNvSpPr/>
          <p:nvPr/>
        </p:nvSpPr>
        <p:spPr>
          <a:xfrm>
            <a:off x="6481845" y="2405530"/>
            <a:ext cx="700292" cy="57116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TPH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B27A4DD-8939-B561-440B-1BC1CF58F71F}"/>
              </a:ext>
            </a:extLst>
          </p:cNvPr>
          <p:cNvCxnSpPr/>
          <p:nvPr/>
        </p:nvCxnSpPr>
        <p:spPr>
          <a:xfrm flipV="1">
            <a:off x="6823458" y="2979163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880BBDD4-09EF-AB10-8D5B-3E312DC5F204}"/>
              </a:ext>
            </a:extLst>
          </p:cNvPr>
          <p:cNvSpPr/>
          <p:nvPr/>
        </p:nvSpPr>
        <p:spPr>
          <a:xfrm>
            <a:off x="7367549" y="2405530"/>
            <a:ext cx="705187" cy="57116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TPH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E1536E8-033C-EBF8-2819-41C936C3A3B7}"/>
              </a:ext>
            </a:extLst>
          </p:cNvPr>
          <p:cNvCxnSpPr/>
          <p:nvPr/>
        </p:nvCxnSpPr>
        <p:spPr>
          <a:xfrm flipV="1">
            <a:off x="7715246" y="2979163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F08AB29E-23F0-5178-09B2-3ED5F32D832D}"/>
              </a:ext>
            </a:extLst>
          </p:cNvPr>
          <p:cNvSpPr/>
          <p:nvPr/>
        </p:nvSpPr>
        <p:spPr>
          <a:xfrm>
            <a:off x="8258148" y="2405530"/>
            <a:ext cx="700292" cy="57116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TPH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9BDB4B6-E978-084D-C1E9-E35C02872419}"/>
              </a:ext>
            </a:extLst>
          </p:cNvPr>
          <p:cNvCxnSpPr/>
          <p:nvPr/>
        </p:nvCxnSpPr>
        <p:spPr>
          <a:xfrm flipV="1">
            <a:off x="8607034" y="2979163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3E48A11B-4A36-EFBF-EBB1-63C6EE6359F4}"/>
              </a:ext>
            </a:extLst>
          </p:cNvPr>
          <p:cNvSpPr/>
          <p:nvPr/>
        </p:nvSpPr>
        <p:spPr>
          <a:xfrm>
            <a:off x="9143852" y="2396388"/>
            <a:ext cx="705187" cy="57116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TPH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D0AA7E7-AE47-97AD-8395-5E32DC5B1927}"/>
              </a:ext>
            </a:extLst>
          </p:cNvPr>
          <p:cNvCxnSpPr/>
          <p:nvPr/>
        </p:nvCxnSpPr>
        <p:spPr>
          <a:xfrm flipV="1">
            <a:off x="9498823" y="2979163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4E738B4C-E764-558E-3DA0-CCE6C96FB495}"/>
              </a:ext>
            </a:extLst>
          </p:cNvPr>
          <p:cNvCxnSpPr>
            <a:cxnSpLocks/>
            <a:stCxn id="41" idx="0"/>
          </p:cNvCxnSpPr>
          <p:nvPr/>
        </p:nvCxnSpPr>
        <p:spPr>
          <a:xfrm flipV="1">
            <a:off x="6831991" y="2190901"/>
            <a:ext cx="192162" cy="2146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521C9A47-78D8-88B3-97C9-55EF44589665}"/>
              </a:ext>
            </a:extLst>
          </p:cNvPr>
          <p:cNvCxnSpPr>
            <a:cxnSpLocks/>
          </p:cNvCxnSpPr>
          <p:nvPr/>
        </p:nvCxnSpPr>
        <p:spPr>
          <a:xfrm flipV="1">
            <a:off x="7736267" y="2190901"/>
            <a:ext cx="192162" cy="2146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F3CC4ED4-B0A6-D606-85A3-2B100727FB21}"/>
              </a:ext>
            </a:extLst>
          </p:cNvPr>
          <p:cNvCxnSpPr>
            <a:cxnSpLocks/>
          </p:cNvCxnSpPr>
          <p:nvPr/>
        </p:nvCxnSpPr>
        <p:spPr>
          <a:xfrm flipV="1">
            <a:off x="8609808" y="2173636"/>
            <a:ext cx="192162" cy="2146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EC5E5309-3303-59BC-CFF4-2B9FE6999C2E}"/>
              </a:ext>
            </a:extLst>
          </p:cNvPr>
          <p:cNvCxnSpPr>
            <a:cxnSpLocks/>
          </p:cNvCxnSpPr>
          <p:nvPr/>
        </p:nvCxnSpPr>
        <p:spPr>
          <a:xfrm flipV="1">
            <a:off x="9506720" y="2181757"/>
            <a:ext cx="192162" cy="2146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68C50C9A-48B1-319F-FE4D-B8A8C8D778BA}"/>
              </a:ext>
            </a:extLst>
          </p:cNvPr>
          <p:cNvSpPr txBox="1"/>
          <p:nvPr/>
        </p:nvSpPr>
        <p:spPr>
          <a:xfrm>
            <a:off x="6396567" y="6123541"/>
            <a:ext cx="3534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E11.65      E11.42        I10         N18.3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2237175-F6AD-FA80-4687-B9C0A5C2D681}"/>
              </a:ext>
            </a:extLst>
          </p:cNvPr>
          <p:cNvSpPr txBox="1"/>
          <p:nvPr/>
        </p:nvSpPr>
        <p:spPr>
          <a:xfrm>
            <a:off x="6586213" y="1797630"/>
            <a:ext cx="4227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E11.42        I10         N18.3.    [NEXT TOKEN]</a:t>
            </a:r>
          </a:p>
        </p:txBody>
      </p:sp>
    </p:spTree>
    <p:extLst>
      <p:ext uri="{BB962C8B-B14F-4D97-AF65-F5344CB8AC3E}">
        <p14:creationId xmlns:p14="http://schemas.microsoft.com/office/powerpoint/2010/main" val="814034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792E0-8818-2EAA-DC89-BB361E639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5D534-20B3-F392-6960-C45C596B3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Zero-shot prediction via EHR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D814F-709D-85E5-0A9A-01D70527AD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3678723" cy="4351338"/>
          </a:xfrm>
        </p:spPr>
        <p:txBody>
          <a:bodyPr>
            <a:normAutofit fontScale="92500" lnSpcReduction="10000"/>
          </a:bodyPr>
          <a:lstStyle/>
          <a:p>
            <a:r>
              <a:rPr lang="en-US" sz="1800" dirty="0"/>
              <a:t>Suppose we wish to predict which children are most likely to be diagnosed with asthma based on EHRs from early life</a:t>
            </a:r>
          </a:p>
          <a:p>
            <a:endParaRPr lang="en-US" sz="1800" dirty="0"/>
          </a:p>
          <a:p>
            <a:r>
              <a:rPr lang="en-US" sz="1800" dirty="0"/>
              <a:t>How might we use this to perform zero-shot asthma prediction?</a:t>
            </a:r>
          </a:p>
          <a:p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Generate many sequences conditioned on the observed history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Count how many sequences contain asthma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Predicted prob is the proportion that contain asthma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54C31E6-1CA2-0FC5-F9FD-D803AA7D7499}"/>
              </a:ext>
            </a:extLst>
          </p:cNvPr>
          <p:cNvSpPr/>
          <p:nvPr/>
        </p:nvSpPr>
        <p:spPr>
          <a:xfrm>
            <a:off x="5318291" y="4157221"/>
            <a:ext cx="6279510" cy="1536569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Transformer Decoder</a:t>
            </a:r>
          </a:p>
          <a:p>
            <a:pPr algn="ctr"/>
            <a:r>
              <a:rPr lang="en-US" b="1" dirty="0"/>
              <a:t>Important</a:t>
            </a:r>
            <a:r>
              <a:rPr lang="en-US" dirty="0"/>
              <a:t>: requires application of a causal mask</a:t>
            </a:r>
          </a:p>
          <a:p>
            <a:pPr algn="ctr"/>
            <a:r>
              <a:rPr lang="en-US" sz="1400" dirty="0"/>
              <a:t>[typically by setting inputs to </a:t>
            </a:r>
            <a:r>
              <a:rPr lang="en-US" sz="1400" dirty="0" err="1"/>
              <a:t>softmax</a:t>
            </a:r>
            <a:r>
              <a:rPr lang="en-US" sz="1400" dirty="0"/>
              <a:t> in attention heads to –inf]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EBB1279-2043-00DB-1CE9-9E1E458EB123}"/>
              </a:ext>
            </a:extLst>
          </p:cNvPr>
          <p:cNvCxnSpPr/>
          <p:nvPr/>
        </p:nvCxnSpPr>
        <p:spPr>
          <a:xfrm flipV="1">
            <a:off x="6865282" y="5693790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DBB7CE8-3D6B-9B88-E01F-77EAF43F8FBE}"/>
              </a:ext>
            </a:extLst>
          </p:cNvPr>
          <p:cNvCxnSpPr/>
          <p:nvPr/>
        </p:nvCxnSpPr>
        <p:spPr>
          <a:xfrm flipV="1">
            <a:off x="8640768" y="5693787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81049DD-C49E-A611-31B8-16E60D9F7DCB}"/>
              </a:ext>
            </a:extLst>
          </p:cNvPr>
          <p:cNvCxnSpPr/>
          <p:nvPr/>
        </p:nvCxnSpPr>
        <p:spPr>
          <a:xfrm flipV="1">
            <a:off x="9528512" y="5693786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C1EABAC-FC06-1229-AAE3-AA2D58BB7C4E}"/>
              </a:ext>
            </a:extLst>
          </p:cNvPr>
          <p:cNvCxnSpPr/>
          <p:nvPr/>
        </p:nvCxnSpPr>
        <p:spPr>
          <a:xfrm flipV="1">
            <a:off x="7753025" y="569378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0D95B08-AD65-AFF4-A240-805D3C2B8649}"/>
              </a:ext>
            </a:extLst>
          </p:cNvPr>
          <p:cNvCxnSpPr/>
          <p:nvPr/>
        </p:nvCxnSpPr>
        <p:spPr>
          <a:xfrm flipV="1">
            <a:off x="6823458" y="3714084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26AE866-A19E-9D97-A5E0-3066E191621E}"/>
              </a:ext>
            </a:extLst>
          </p:cNvPr>
          <p:cNvCxnSpPr/>
          <p:nvPr/>
        </p:nvCxnSpPr>
        <p:spPr>
          <a:xfrm flipV="1">
            <a:off x="8607034" y="372746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893158E-72C3-8F93-D025-17487D46F0EA}"/>
              </a:ext>
            </a:extLst>
          </p:cNvPr>
          <p:cNvCxnSpPr/>
          <p:nvPr/>
        </p:nvCxnSpPr>
        <p:spPr>
          <a:xfrm flipV="1">
            <a:off x="9498823" y="3715858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3D7C29C-7FF9-2080-0326-A48033CF6386}"/>
              </a:ext>
            </a:extLst>
          </p:cNvPr>
          <p:cNvCxnSpPr/>
          <p:nvPr/>
        </p:nvCxnSpPr>
        <p:spPr>
          <a:xfrm flipV="1">
            <a:off x="7715246" y="3727467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3856AF6-4331-2FE7-28C8-A6DE44961605}"/>
                  </a:ext>
                </a:extLst>
              </p:cNvPr>
              <p:cNvSpPr txBox="1"/>
              <p:nvPr/>
            </p:nvSpPr>
            <p:spPr>
              <a:xfrm>
                <a:off x="6604854" y="3358135"/>
                <a:ext cx="459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3856AF6-4331-2FE7-28C8-A6DE449616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854" y="3358135"/>
                <a:ext cx="459165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60AADF7-B40A-555C-96F4-B98FCF250695}"/>
                  </a:ext>
                </a:extLst>
              </p:cNvPr>
              <p:cNvSpPr txBox="1"/>
              <p:nvPr/>
            </p:nvSpPr>
            <p:spPr>
              <a:xfrm>
                <a:off x="7488549" y="3353200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60AADF7-B40A-555C-96F4-B98FCF2506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8549" y="3353200"/>
                <a:ext cx="46448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A87155F-5D95-3349-C04A-A79F97CE4CB9}"/>
                  </a:ext>
                </a:extLst>
              </p:cNvPr>
              <p:cNvSpPr txBox="1"/>
              <p:nvPr/>
            </p:nvSpPr>
            <p:spPr>
              <a:xfrm>
                <a:off x="8377565" y="3353200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A87155F-5D95-3349-C04A-A79F97CE4C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7565" y="3353200"/>
                <a:ext cx="46448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33E1182-A56B-D15C-3DF7-0C43ADDB31EE}"/>
                  </a:ext>
                </a:extLst>
              </p:cNvPr>
              <p:cNvSpPr txBox="1"/>
              <p:nvPr/>
            </p:nvSpPr>
            <p:spPr>
              <a:xfrm>
                <a:off x="9266580" y="3358135"/>
                <a:ext cx="4644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33E1182-A56B-D15C-3DF7-0C43ADDB31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6580" y="3358135"/>
                <a:ext cx="46448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8F64313C-F18E-946A-EE85-E62247DE18D1}"/>
              </a:ext>
            </a:extLst>
          </p:cNvPr>
          <p:cNvSpPr txBox="1"/>
          <p:nvPr/>
        </p:nvSpPr>
        <p:spPr>
          <a:xfrm>
            <a:off x="10201369" y="6119655"/>
            <a:ext cx="1418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tokens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8DB585A-E447-1215-07DB-85B30EC45F19}"/>
              </a:ext>
            </a:extLst>
          </p:cNvPr>
          <p:cNvSpPr txBox="1"/>
          <p:nvPr/>
        </p:nvSpPr>
        <p:spPr>
          <a:xfrm>
            <a:off x="10201369" y="3282629"/>
            <a:ext cx="17575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  <a:p>
            <a:r>
              <a:rPr lang="en-US" dirty="0"/>
              <a:t>representations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81750A25-A27E-D3CD-1C6F-8889ED47D36E}"/>
              </a:ext>
            </a:extLst>
          </p:cNvPr>
          <p:cNvSpPr/>
          <p:nvPr/>
        </p:nvSpPr>
        <p:spPr>
          <a:xfrm>
            <a:off x="6481845" y="2405530"/>
            <a:ext cx="700292" cy="57116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TPH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2AA04EE-60AA-58D4-AD97-54465D7967CC}"/>
              </a:ext>
            </a:extLst>
          </p:cNvPr>
          <p:cNvCxnSpPr/>
          <p:nvPr/>
        </p:nvCxnSpPr>
        <p:spPr>
          <a:xfrm flipV="1">
            <a:off x="6823458" y="2979163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619849DC-B764-1F9B-15CD-98797BE45C13}"/>
              </a:ext>
            </a:extLst>
          </p:cNvPr>
          <p:cNvSpPr/>
          <p:nvPr/>
        </p:nvSpPr>
        <p:spPr>
          <a:xfrm>
            <a:off x="7367549" y="2405530"/>
            <a:ext cx="705187" cy="57116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TPH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3BA465E-A0F0-FF7A-64EC-9921860CD776}"/>
              </a:ext>
            </a:extLst>
          </p:cNvPr>
          <p:cNvCxnSpPr/>
          <p:nvPr/>
        </p:nvCxnSpPr>
        <p:spPr>
          <a:xfrm flipV="1">
            <a:off x="7715246" y="2979163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FFD51DBC-6729-96E8-36D0-687541CE9ADC}"/>
              </a:ext>
            </a:extLst>
          </p:cNvPr>
          <p:cNvSpPr/>
          <p:nvPr/>
        </p:nvSpPr>
        <p:spPr>
          <a:xfrm>
            <a:off x="8258148" y="2405530"/>
            <a:ext cx="700292" cy="57116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TPH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AA7E741-B4D8-D654-443D-9DA61B9E927F}"/>
              </a:ext>
            </a:extLst>
          </p:cNvPr>
          <p:cNvCxnSpPr/>
          <p:nvPr/>
        </p:nvCxnSpPr>
        <p:spPr>
          <a:xfrm flipV="1">
            <a:off x="8607034" y="2979163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A0B24D2C-CEE7-1889-3865-C2ED8CF5C027}"/>
              </a:ext>
            </a:extLst>
          </p:cNvPr>
          <p:cNvSpPr/>
          <p:nvPr/>
        </p:nvSpPr>
        <p:spPr>
          <a:xfrm>
            <a:off x="9143852" y="2396388"/>
            <a:ext cx="705187" cy="57116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TPH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B1DA196-2111-4B4B-5D08-7952FE0E971C}"/>
              </a:ext>
            </a:extLst>
          </p:cNvPr>
          <p:cNvCxnSpPr/>
          <p:nvPr/>
        </p:nvCxnSpPr>
        <p:spPr>
          <a:xfrm flipV="1">
            <a:off x="9498823" y="2979163"/>
            <a:ext cx="0" cy="4297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5396AB8-1BED-AC1C-684E-F22E859AFEBA}"/>
              </a:ext>
            </a:extLst>
          </p:cNvPr>
          <p:cNvCxnSpPr>
            <a:cxnSpLocks/>
            <a:stCxn id="41" idx="0"/>
          </p:cNvCxnSpPr>
          <p:nvPr/>
        </p:nvCxnSpPr>
        <p:spPr>
          <a:xfrm flipV="1">
            <a:off x="6831991" y="2190901"/>
            <a:ext cx="192162" cy="2146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472DE72-A546-5571-4F75-6BAF0BEC6217}"/>
              </a:ext>
            </a:extLst>
          </p:cNvPr>
          <p:cNvCxnSpPr>
            <a:cxnSpLocks/>
          </p:cNvCxnSpPr>
          <p:nvPr/>
        </p:nvCxnSpPr>
        <p:spPr>
          <a:xfrm flipV="1">
            <a:off x="7736267" y="2190901"/>
            <a:ext cx="192162" cy="2146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C92F48D-4F64-ACAD-CF22-DA4395B38ED7}"/>
              </a:ext>
            </a:extLst>
          </p:cNvPr>
          <p:cNvCxnSpPr>
            <a:cxnSpLocks/>
          </p:cNvCxnSpPr>
          <p:nvPr/>
        </p:nvCxnSpPr>
        <p:spPr>
          <a:xfrm flipV="1">
            <a:off x="8609808" y="2173636"/>
            <a:ext cx="192162" cy="2146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761A40EF-637A-21D3-CAE9-3E8ADFA70B4B}"/>
              </a:ext>
            </a:extLst>
          </p:cNvPr>
          <p:cNvCxnSpPr>
            <a:cxnSpLocks/>
          </p:cNvCxnSpPr>
          <p:nvPr/>
        </p:nvCxnSpPr>
        <p:spPr>
          <a:xfrm flipV="1">
            <a:off x="9506720" y="2181757"/>
            <a:ext cx="192162" cy="2146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158B61CD-EA87-5110-D26B-1CD75EA5E289}"/>
              </a:ext>
            </a:extLst>
          </p:cNvPr>
          <p:cNvSpPr txBox="1"/>
          <p:nvPr/>
        </p:nvSpPr>
        <p:spPr>
          <a:xfrm>
            <a:off x="6396567" y="6123541"/>
            <a:ext cx="3534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E11.65      E11.42        I10         N18.3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F73E1A7-6517-E53D-E911-7AA738E44976}"/>
              </a:ext>
            </a:extLst>
          </p:cNvPr>
          <p:cNvSpPr txBox="1"/>
          <p:nvPr/>
        </p:nvSpPr>
        <p:spPr>
          <a:xfrm>
            <a:off x="6586213" y="1797630"/>
            <a:ext cx="4227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E11.42        I10         N18.3.    [NEXT TOKEN]</a:t>
            </a:r>
          </a:p>
        </p:txBody>
      </p:sp>
    </p:spTree>
    <p:extLst>
      <p:ext uri="{BB962C8B-B14F-4D97-AF65-F5344CB8AC3E}">
        <p14:creationId xmlns:p14="http://schemas.microsoft.com/office/powerpoint/2010/main" val="38797389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36D41-267B-0862-BA35-A56D2E70D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the benefits of a </a:t>
            </a:r>
            <a:r>
              <a:rPr lang="en-US" i="1" dirty="0"/>
              <a:t>foundation model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E43C7-0159-EC03-BC70-49A69AEB40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General-purpose, effective representations that can be used for a wide range of tasks</a:t>
            </a:r>
          </a:p>
          <a:p>
            <a:endParaRPr lang="en-US" dirty="0"/>
          </a:p>
          <a:p>
            <a:r>
              <a:rPr lang="en-US" dirty="0"/>
              <a:t>Improved performance on downstream tasks</a:t>
            </a:r>
          </a:p>
          <a:p>
            <a:pPr lvl="1"/>
            <a:r>
              <a:rPr lang="en-US" dirty="0"/>
              <a:t>Many-shot</a:t>
            </a:r>
          </a:p>
          <a:p>
            <a:pPr lvl="1"/>
            <a:r>
              <a:rPr lang="en-US" dirty="0"/>
              <a:t>Few-shot</a:t>
            </a:r>
          </a:p>
          <a:p>
            <a:pPr lvl="1"/>
            <a:endParaRPr lang="en-US" dirty="0"/>
          </a:p>
          <a:p>
            <a:r>
              <a:rPr lang="en-US" dirty="0"/>
              <a:t>Allows zero-shot prediction (similar to text models)</a:t>
            </a:r>
          </a:p>
        </p:txBody>
      </p:sp>
    </p:spTree>
    <p:extLst>
      <p:ext uri="{BB962C8B-B14F-4D97-AF65-F5344CB8AC3E}">
        <p14:creationId xmlns:p14="http://schemas.microsoft.com/office/powerpoint/2010/main" val="9223120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9BD06-8A61-9442-8AB0-3A80838C0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foundation models generalize?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0F5220-311F-DE62-D4A3-AD393BCF9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9505" y="1690688"/>
            <a:ext cx="7088171" cy="51956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9ED8038-F4C6-DEA1-6BD8-490D55DC06EE}"/>
              </a:ext>
            </a:extLst>
          </p:cNvPr>
          <p:cNvSpPr txBox="1"/>
          <p:nvPr/>
        </p:nvSpPr>
        <p:spPr>
          <a:xfrm>
            <a:off x="838201" y="2083325"/>
            <a:ext cx="30362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 we need these models to generalize?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View 1: FM should work everywhere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View 2: FM is a recipe that can be used anywhere</a:t>
            </a:r>
          </a:p>
        </p:txBody>
      </p:sp>
    </p:spTree>
    <p:extLst>
      <p:ext uri="{BB962C8B-B14F-4D97-AF65-F5344CB8AC3E}">
        <p14:creationId xmlns:p14="http://schemas.microsoft.com/office/powerpoint/2010/main" val="29021484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69A6F-689E-34C6-E754-86AA95224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multimodal fusion?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F09342-A0E7-4495-641F-DB27D1D112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713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63950-B144-A74A-9DB3-545D6E33D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will we find in the structured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826EF-54F8-934E-BB1C-B4E684ABA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Encounter details (ED admission)</a:t>
            </a:r>
          </a:p>
          <a:p>
            <a:r>
              <a:rPr lang="en-US" dirty="0"/>
              <a:t>Labs (BMP, CBC)</a:t>
            </a:r>
          </a:p>
          <a:p>
            <a:r>
              <a:rPr lang="en-US" dirty="0"/>
              <a:t>Vital signs</a:t>
            </a:r>
          </a:p>
          <a:p>
            <a:r>
              <a:rPr lang="en-US" dirty="0"/>
              <a:t>Procedure codes (CT)</a:t>
            </a:r>
          </a:p>
          <a:p>
            <a:r>
              <a:rPr lang="en-US" dirty="0"/>
              <a:t>Diagnosis codes (PE)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…what </a:t>
            </a:r>
            <a:r>
              <a:rPr lang="en-US" i="1" dirty="0"/>
              <a:t>won’t</a:t>
            </a:r>
            <a:r>
              <a:rPr lang="en-US" dirty="0"/>
              <a:t> we find?</a:t>
            </a:r>
          </a:p>
        </p:txBody>
      </p:sp>
    </p:spTree>
    <p:extLst>
      <p:ext uri="{BB962C8B-B14F-4D97-AF65-F5344CB8AC3E}">
        <p14:creationId xmlns:p14="http://schemas.microsoft.com/office/powerpoint/2010/main" val="1794435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289"/>
    </mc:Choice>
    <mc:Fallback xmlns="">
      <p:transition spd="slow" advTm="53289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07CBC-7A50-6A52-9C0E-C5F7D3854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do we need many modalities?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882DDE-EFBE-EBC1-8D45-A523E6687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8751" y="1719815"/>
            <a:ext cx="7553688" cy="132556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2A7445-1FE8-D2FC-ADD2-7DCE14EEF97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976" t="10928" r="11177"/>
          <a:stretch/>
        </p:blipFill>
        <p:spPr>
          <a:xfrm>
            <a:off x="838200" y="4767521"/>
            <a:ext cx="6581103" cy="98716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B91536F-8DE6-F60D-FED7-6D73937D03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690688"/>
            <a:ext cx="2709380" cy="2709380"/>
          </a:xfrm>
          <a:prstGeom prst="rect">
            <a:avLst/>
          </a:prstGeom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D4FC6F8-152C-5D24-80C0-228C90158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2450" y="3708210"/>
            <a:ext cx="3679989" cy="211862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35C90A-1EAE-EB21-167C-F15277D0B9CF}"/>
              </a:ext>
            </a:extLst>
          </p:cNvPr>
          <p:cNvSpPr txBox="1"/>
          <p:nvPr/>
        </p:nvSpPr>
        <p:spPr>
          <a:xfrm>
            <a:off x="4128751" y="3043499"/>
            <a:ext cx="2219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Structured EHR 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DECF6F-4B7F-AD4A-11AA-D521643E6EA4}"/>
              </a:ext>
            </a:extLst>
          </p:cNvPr>
          <p:cNvSpPr txBox="1"/>
          <p:nvPr/>
        </p:nvSpPr>
        <p:spPr>
          <a:xfrm>
            <a:off x="3592436" y="4029797"/>
            <a:ext cx="970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F3237D-97DC-B382-EDDD-0B8202FDDB23}"/>
              </a:ext>
            </a:extLst>
          </p:cNvPr>
          <p:cNvSpPr txBox="1"/>
          <p:nvPr/>
        </p:nvSpPr>
        <p:spPr>
          <a:xfrm>
            <a:off x="5868173" y="4398189"/>
            <a:ext cx="1551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Clinical notes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EADE59-EB84-11C9-3708-A13473EA3E99}"/>
              </a:ext>
            </a:extLst>
          </p:cNvPr>
          <p:cNvSpPr txBox="1"/>
          <p:nvPr/>
        </p:nvSpPr>
        <p:spPr>
          <a:xfrm>
            <a:off x="7869179" y="5927472"/>
            <a:ext cx="3946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EKG and other physiologic time-series</a:t>
            </a:r>
          </a:p>
        </p:txBody>
      </p:sp>
    </p:spTree>
    <p:extLst>
      <p:ext uri="{BB962C8B-B14F-4D97-AF65-F5344CB8AC3E}">
        <p14:creationId xmlns:p14="http://schemas.microsoft.com/office/powerpoint/2010/main" val="27915335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165FB-D6C2-7BBA-9CBD-CE1A49C3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do multimodal fusion?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D76759-37D5-80CB-5824-525DFD11E7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1358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0F8ED1D-42C3-9141-AE77-27407422E154}"/>
              </a:ext>
            </a:extLst>
          </p:cNvPr>
          <p:cNvSpPr txBox="1"/>
          <p:nvPr/>
        </p:nvSpPr>
        <p:spPr>
          <a:xfrm>
            <a:off x="1720404" y="5277331"/>
            <a:ext cx="1729425" cy="522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7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004C370-95FF-1047-B986-B06FCDF88F5F}"/>
              </a:ext>
            </a:extLst>
          </p:cNvPr>
          <p:cNvCxnSpPr>
            <a:cxnSpLocks/>
          </p:cNvCxnSpPr>
          <p:nvPr/>
        </p:nvCxnSpPr>
        <p:spPr>
          <a:xfrm>
            <a:off x="4172616" y="3706373"/>
            <a:ext cx="87243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2B0503-A697-0A47-A3DA-5DB2A3779506}"/>
              </a:ext>
            </a:extLst>
          </p:cNvPr>
          <p:cNvCxnSpPr>
            <a:cxnSpLocks/>
          </p:cNvCxnSpPr>
          <p:nvPr/>
        </p:nvCxnSpPr>
        <p:spPr>
          <a:xfrm>
            <a:off x="6774479" y="3706373"/>
            <a:ext cx="107849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C8318157-3D08-CA40-95C1-7D7B363C163A}"/>
              </a:ext>
            </a:extLst>
          </p:cNvPr>
          <p:cNvSpPr/>
          <p:nvPr/>
        </p:nvSpPr>
        <p:spPr>
          <a:xfrm>
            <a:off x="998953" y="2102733"/>
            <a:ext cx="3175002" cy="324219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Cover">
            <a:extLst>
              <a:ext uri="{FF2B5EF4-FFF2-40B4-BE49-F238E27FC236}">
                <a16:creationId xmlns:a16="http://schemas.microsoft.com/office/drawing/2014/main" id="{ED9D5C98-47B5-7C42-A5BD-6A3014F64B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52072" y="2199873"/>
            <a:ext cx="3027413" cy="3001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E1FAC8BA-4E0B-8546-91E3-DB4FD3DE1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/>
          <a:lstStyle/>
          <a:p>
            <a:pPr algn="ctr"/>
            <a:r>
              <a:rPr lang="en-US" dirty="0"/>
              <a:t>Image </a:t>
            </a:r>
            <a:r>
              <a:rPr lang="en-US" b="1" u="sng" dirty="0"/>
              <a:t>Encoder</a:t>
            </a:r>
            <a:endParaRPr lang="en-US" dirty="0"/>
          </a:p>
        </p:txBody>
      </p:sp>
      <p:graphicFrame>
        <p:nvGraphicFramePr>
          <p:cNvPr id="12" name="Table 13">
            <a:extLst>
              <a:ext uri="{FF2B5EF4-FFF2-40B4-BE49-F238E27FC236}">
                <a16:creationId xmlns:a16="http://schemas.microsoft.com/office/drawing/2014/main" id="{66DE0EB4-5271-E145-8A0D-9F253C4AA1EA}"/>
              </a:ext>
            </a:extLst>
          </p:cNvPr>
          <p:cNvGraphicFramePr>
            <a:graphicFrameLocks noGrp="1"/>
          </p:cNvGraphicFramePr>
          <p:nvPr/>
        </p:nvGraphicFramePr>
        <p:xfrm>
          <a:off x="8060928" y="2417293"/>
          <a:ext cx="442976" cy="2613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72353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7729035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7D47EF31-DD2B-2242-BB8A-C5F5B01D1AAB}"/>
              </a:ext>
            </a:extLst>
          </p:cNvPr>
          <p:cNvSpPr txBox="1"/>
          <p:nvPr/>
        </p:nvSpPr>
        <p:spPr>
          <a:xfrm>
            <a:off x="9962970" y="4284731"/>
            <a:ext cx="1354410" cy="522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7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118C239F-A05F-DF4A-834B-75B7272EF7B6}"/>
              </a:ext>
            </a:extLst>
          </p:cNvPr>
          <p:cNvGraphicFramePr>
            <a:graphicFrameLocks noGrp="1"/>
          </p:cNvGraphicFramePr>
          <p:nvPr/>
        </p:nvGraphicFramePr>
        <p:xfrm>
          <a:off x="9563657" y="3369902"/>
          <a:ext cx="1535116" cy="7078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5116">
                  <a:extLst>
                    <a:ext uri="{9D8B030D-6E8A-4147-A177-3AD203B41FA5}">
                      <a16:colId xmlns:a16="http://schemas.microsoft.com/office/drawing/2014/main" val="4002730172"/>
                    </a:ext>
                  </a:extLst>
                </a:gridCol>
              </a:tblGrid>
              <a:tr h="70785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retinopathy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152605"/>
                  </a:ext>
                </a:extLst>
              </a:tr>
            </a:tbl>
          </a:graphicData>
        </a:graphic>
      </p:graphicFrame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E1D92D3-E56B-A746-824F-E5BE7353B5A0}"/>
              </a:ext>
            </a:extLst>
          </p:cNvPr>
          <p:cNvCxnSpPr>
            <a:cxnSpLocks/>
          </p:cNvCxnSpPr>
          <p:nvPr/>
        </p:nvCxnSpPr>
        <p:spPr>
          <a:xfrm flipV="1">
            <a:off x="8711860" y="3723829"/>
            <a:ext cx="690523" cy="14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D512111-B34C-D745-96B1-4A83D0CAAA5D}"/>
              </a:ext>
            </a:extLst>
          </p:cNvPr>
          <p:cNvSpPr txBox="1"/>
          <p:nvPr/>
        </p:nvSpPr>
        <p:spPr>
          <a:xfrm>
            <a:off x="6086914" y="5117376"/>
            <a:ext cx="4521105" cy="953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7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of features </a:t>
            </a:r>
          </a:p>
          <a:p>
            <a:pPr algn="ctr"/>
            <a:r>
              <a:rPr lang="en-US" sz="27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(indicating high-level motifs)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5A2CF5A5-D42C-AA4E-B601-1A156AD1315E}"/>
              </a:ext>
            </a:extLst>
          </p:cNvPr>
          <p:cNvSpPr/>
          <p:nvPr/>
        </p:nvSpPr>
        <p:spPr>
          <a:xfrm>
            <a:off x="5045054" y="3229722"/>
            <a:ext cx="1729425" cy="941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CNN</a:t>
            </a:r>
          </a:p>
          <a:p>
            <a:pPr algn="ctr"/>
            <a:r>
              <a:rPr lang="en-US" dirty="0"/>
              <a:t>Encoder</a:t>
            </a:r>
          </a:p>
        </p:txBody>
      </p:sp>
    </p:spTree>
    <p:extLst>
      <p:ext uri="{BB962C8B-B14F-4D97-AF65-F5344CB8AC3E}">
        <p14:creationId xmlns:p14="http://schemas.microsoft.com/office/powerpoint/2010/main" val="2933453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910"/>
    </mc:Choice>
    <mc:Fallback xmlns="">
      <p:transition spd="slow" advTm="6691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E1FAC8BA-4E0B-8546-91E3-DB4FD3DE1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/>
          <a:lstStyle/>
          <a:p>
            <a:pPr algn="ctr"/>
            <a:r>
              <a:rPr lang="en-US" dirty="0"/>
              <a:t>A typical prediction model</a:t>
            </a:r>
          </a:p>
        </p:txBody>
      </p:sp>
      <p:graphicFrame>
        <p:nvGraphicFramePr>
          <p:cNvPr id="12" name="Table 13">
            <a:extLst>
              <a:ext uri="{FF2B5EF4-FFF2-40B4-BE49-F238E27FC236}">
                <a16:creationId xmlns:a16="http://schemas.microsoft.com/office/drawing/2014/main" id="{66DE0EB4-5271-E145-8A0D-9F253C4AA1EA}"/>
              </a:ext>
            </a:extLst>
          </p:cNvPr>
          <p:cNvGraphicFramePr>
            <a:graphicFrameLocks noGrp="1"/>
          </p:cNvGraphicFramePr>
          <p:nvPr/>
        </p:nvGraphicFramePr>
        <p:xfrm>
          <a:off x="8060928" y="2417293"/>
          <a:ext cx="442976" cy="2613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72353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7729035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7D47EF31-DD2B-2242-BB8A-C5F5B01D1AAB}"/>
              </a:ext>
            </a:extLst>
          </p:cNvPr>
          <p:cNvSpPr txBox="1"/>
          <p:nvPr/>
        </p:nvSpPr>
        <p:spPr>
          <a:xfrm>
            <a:off x="9962970" y="4284731"/>
            <a:ext cx="1354410" cy="522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7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118C239F-A05F-DF4A-834B-75B7272EF7B6}"/>
              </a:ext>
            </a:extLst>
          </p:cNvPr>
          <p:cNvGraphicFramePr>
            <a:graphicFrameLocks noGrp="1"/>
          </p:cNvGraphicFramePr>
          <p:nvPr/>
        </p:nvGraphicFramePr>
        <p:xfrm>
          <a:off x="9563657" y="3369902"/>
          <a:ext cx="1535116" cy="7078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5116">
                  <a:extLst>
                    <a:ext uri="{9D8B030D-6E8A-4147-A177-3AD203B41FA5}">
                      <a16:colId xmlns:a16="http://schemas.microsoft.com/office/drawing/2014/main" val="4002730172"/>
                    </a:ext>
                  </a:extLst>
                </a:gridCol>
              </a:tblGrid>
              <a:tr h="70785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outcome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152605"/>
                  </a:ext>
                </a:extLst>
              </a:tr>
            </a:tbl>
          </a:graphicData>
        </a:graphic>
      </p:graphicFrame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E1D92D3-E56B-A746-824F-E5BE7353B5A0}"/>
              </a:ext>
            </a:extLst>
          </p:cNvPr>
          <p:cNvCxnSpPr>
            <a:cxnSpLocks/>
          </p:cNvCxnSpPr>
          <p:nvPr/>
        </p:nvCxnSpPr>
        <p:spPr>
          <a:xfrm flipV="1">
            <a:off x="8711860" y="3723829"/>
            <a:ext cx="690523" cy="14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D512111-B34C-D745-96B1-4A83D0CAAA5D}"/>
              </a:ext>
            </a:extLst>
          </p:cNvPr>
          <p:cNvSpPr txBox="1"/>
          <p:nvPr/>
        </p:nvSpPr>
        <p:spPr>
          <a:xfrm>
            <a:off x="6086914" y="5117376"/>
            <a:ext cx="4521105" cy="953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7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of clinical variables </a:t>
            </a:r>
          </a:p>
          <a:p>
            <a:pPr algn="ctr"/>
            <a:r>
              <a:rPr lang="en-US" sz="27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(e.g. age, sex, BP, HR)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9161F2-26BD-1945-9980-E1F4BC9A93EE}"/>
              </a:ext>
            </a:extLst>
          </p:cNvPr>
          <p:cNvSpPr txBox="1"/>
          <p:nvPr/>
        </p:nvSpPr>
        <p:spPr>
          <a:xfrm>
            <a:off x="8378970" y="3728835"/>
            <a:ext cx="1356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</a:p>
        </p:txBody>
      </p:sp>
    </p:spTree>
    <p:extLst>
      <p:ext uri="{BB962C8B-B14F-4D97-AF65-F5344CB8AC3E}">
        <p14:creationId xmlns:p14="http://schemas.microsoft.com/office/powerpoint/2010/main" val="1766433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948"/>
    </mc:Choice>
    <mc:Fallback xmlns="">
      <p:transition spd="slow" advTm="32948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0F8ED1D-42C3-9141-AE77-27407422E154}"/>
              </a:ext>
            </a:extLst>
          </p:cNvPr>
          <p:cNvSpPr txBox="1"/>
          <p:nvPr/>
        </p:nvSpPr>
        <p:spPr>
          <a:xfrm>
            <a:off x="1720404" y="5277331"/>
            <a:ext cx="1729425" cy="522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7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004C370-95FF-1047-B986-B06FCDF88F5F}"/>
              </a:ext>
            </a:extLst>
          </p:cNvPr>
          <p:cNvCxnSpPr>
            <a:cxnSpLocks/>
          </p:cNvCxnSpPr>
          <p:nvPr/>
        </p:nvCxnSpPr>
        <p:spPr>
          <a:xfrm>
            <a:off x="4172616" y="3706373"/>
            <a:ext cx="87243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2B0503-A697-0A47-A3DA-5DB2A3779506}"/>
              </a:ext>
            </a:extLst>
          </p:cNvPr>
          <p:cNvCxnSpPr>
            <a:cxnSpLocks/>
          </p:cNvCxnSpPr>
          <p:nvPr/>
        </p:nvCxnSpPr>
        <p:spPr>
          <a:xfrm>
            <a:off x="6774479" y="3706373"/>
            <a:ext cx="107849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C8318157-3D08-CA40-95C1-7D7B363C163A}"/>
              </a:ext>
            </a:extLst>
          </p:cNvPr>
          <p:cNvSpPr/>
          <p:nvPr/>
        </p:nvSpPr>
        <p:spPr>
          <a:xfrm>
            <a:off x="998953" y="2102733"/>
            <a:ext cx="3175002" cy="324219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Cover">
            <a:extLst>
              <a:ext uri="{FF2B5EF4-FFF2-40B4-BE49-F238E27FC236}">
                <a16:creationId xmlns:a16="http://schemas.microsoft.com/office/drawing/2014/main" id="{ED9D5C98-47B5-7C42-A5BD-6A3014F64B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52072" y="2199873"/>
            <a:ext cx="3027413" cy="3001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E1FAC8BA-4E0B-8546-91E3-DB4FD3DE1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/>
          <a:lstStyle/>
          <a:p>
            <a:pPr algn="ctr"/>
            <a:r>
              <a:rPr lang="en-US" dirty="0"/>
              <a:t>A prediction model for </a:t>
            </a:r>
            <a:r>
              <a:rPr lang="en-US" u="sng" dirty="0"/>
              <a:t>images</a:t>
            </a:r>
          </a:p>
        </p:txBody>
      </p:sp>
      <p:graphicFrame>
        <p:nvGraphicFramePr>
          <p:cNvPr id="12" name="Table 13">
            <a:extLst>
              <a:ext uri="{FF2B5EF4-FFF2-40B4-BE49-F238E27FC236}">
                <a16:creationId xmlns:a16="http://schemas.microsoft.com/office/drawing/2014/main" id="{66DE0EB4-5271-E145-8A0D-9F253C4AA1EA}"/>
              </a:ext>
            </a:extLst>
          </p:cNvPr>
          <p:cNvGraphicFramePr>
            <a:graphicFrameLocks noGrp="1"/>
          </p:cNvGraphicFramePr>
          <p:nvPr/>
        </p:nvGraphicFramePr>
        <p:xfrm>
          <a:off x="8060928" y="2417293"/>
          <a:ext cx="442976" cy="2613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72353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7729035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7D47EF31-DD2B-2242-BB8A-C5F5B01D1AAB}"/>
              </a:ext>
            </a:extLst>
          </p:cNvPr>
          <p:cNvSpPr txBox="1"/>
          <p:nvPr/>
        </p:nvSpPr>
        <p:spPr>
          <a:xfrm>
            <a:off x="9962970" y="4284731"/>
            <a:ext cx="1354410" cy="522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7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118C239F-A05F-DF4A-834B-75B7272EF7B6}"/>
              </a:ext>
            </a:extLst>
          </p:cNvPr>
          <p:cNvGraphicFramePr>
            <a:graphicFrameLocks noGrp="1"/>
          </p:cNvGraphicFramePr>
          <p:nvPr/>
        </p:nvGraphicFramePr>
        <p:xfrm>
          <a:off x="9563657" y="3369902"/>
          <a:ext cx="1535116" cy="7078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5116">
                  <a:extLst>
                    <a:ext uri="{9D8B030D-6E8A-4147-A177-3AD203B41FA5}">
                      <a16:colId xmlns:a16="http://schemas.microsoft.com/office/drawing/2014/main" val="4002730172"/>
                    </a:ext>
                  </a:extLst>
                </a:gridCol>
              </a:tblGrid>
              <a:tr h="70785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outcome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152605"/>
                  </a:ext>
                </a:extLst>
              </a:tr>
            </a:tbl>
          </a:graphicData>
        </a:graphic>
      </p:graphicFrame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E1D92D3-E56B-A746-824F-E5BE7353B5A0}"/>
              </a:ext>
            </a:extLst>
          </p:cNvPr>
          <p:cNvCxnSpPr>
            <a:cxnSpLocks/>
          </p:cNvCxnSpPr>
          <p:nvPr/>
        </p:nvCxnSpPr>
        <p:spPr>
          <a:xfrm flipV="1">
            <a:off x="8711860" y="3723829"/>
            <a:ext cx="690523" cy="14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D512111-B34C-D745-96B1-4A83D0CAAA5D}"/>
              </a:ext>
            </a:extLst>
          </p:cNvPr>
          <p:cNvSpPr txBox="1"/>
          <p:nvPr/>
        </p:nvSpPr>
        <p:spPr>
          <a:xfrm>
            <a:off x="6086914" y="5117376"/>
            <a:ext cx="4521105" cy="953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7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of features </a:t>
            </a:r>
          </a:p>
          <a:p>
            <a:pPr algn="ctr"/>
            <a:r>
              <a:rPr lang="en-US" sz="27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(indicating high-level motifs)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B07BE4-C006-D347-A2C3-BD834F0C57A5}"/>
              </a:ext>
            </a:extLst>
          </p:cNvPr>
          <p:cNvSpPr txBox="1"/>
          <p:nvPr/>
        </p:nvSpPr>
        <p:spPr>
          <a:xfrm>
            <a:off x="8378970" y="3728835"/>
            <a:ext cx="1356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5431BE6-6553-FA42-BE8A-2BE53F94DFFE}"/>
              </a:ext>
            </a:extLst>
          </p:cNvPr>
          <p:cNvSpPr/>
          <p:nvPr/>
        </p:nvSpPr>
        <p:spPr>
          <a:xfrm>
            <a:off x="5045054" y="3229722"/>
            <a:ext cx="1729425" cy="941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CNN</a:t>
            </a:r>
          </a:p>
          <a:p>
            <a:pPr algn="ctr"/>
            <a:r>
              <a:rPr lang="en-US" dirty="0"/>
              <a:t>Encoder</a:t>
            </a:r>
          </a:p>
        </p:txBody>
      </p:sp>
    </p:spTree>
    <p:extLst>
      <p:ext uri="{BB962C8B-B14F-4D97-AF65-F5344CB8AC3E}">
        <p14:creationId xmlns:p14="http://schemas.microsoft.com/office/powerpoint/2010/main" val="2163357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998"/>
    </mc:Choice>
    <mc:Fallback xmlns="">
      <p:transition spd="slow" advTm="76998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0F8ED1D-42C3-9141-AE77-27407422E154}"/>
              </a:ext>
            </a:extLst>
          </p:cNvPr>
          <p:cNvSpPr txBox="1"/>
          <p:nvPr/>
        </p:nvSpPr>
        <p:spPr>
          <a:xfrm>
            <a:off x="1725121" y="5566642"/>
            <a:ext cx="1729425" cy="522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7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004C370-95FF-1047-B986-B06FCDF88F5F}"/>
              </a:ext>
            </a:extLst>
          </p:cNvPr>
          <p:cNvCxnSpPr>
            <a:cxnSpLocks/>
          </p:cNvCxnSpPr>
          <p:nvPr/>
        </p:nvCxnSpPr>
        <p:spPr>
          <a:xfrm>
            <a:off x="4172616" y="3706373"/>
            <a:ext cx="87243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2B0503-A697-0A47-A3DA-5DB2A3779506}"/>
              </a:ext>
            </a:extLst>
          </p:cNvPr>
          <p:cNvCxnSpPr>
            <a:cxnSpLocks/>
          </p:cNvCxnSpPr>
          <p:nvPr/>
        </p:nvCxnSpPr>
        <p:spPr>
          <a:xfrm>
            <a:off x="6774479" y="3706373"/>
            <a:ext cx="107849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E1FAC8BA-4E0B-8546-91E3-DB4FD3DE1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/>
          <a:lstStyle/>
          <a:p>
            <a:pPr algn="ctr"/>
            <a:r>
              <a:rPr lang="en-US" dirty="0"/>
              <a:t>A prediction model for </a:t>
            </a:r>
            <a:r>
              <a:rPr lang="en-US" u="sng" dirty="0"/>
              <a:t>documents</a:t>
            </a:r>
          </a:p>
        </p:txBody>
      </p:sp>
      <p:graphicFrame>
        <p:nvGraphicFramePr>
          <p:cNvPr id="12" name="Table 13">
            <a:extLst>
              <a:ext uri="{FF2B5EF4-FFF2-40B4-BE49-F238E27FC236}">
                <a16:creationId xmlns:a16="http://schemas.microsoft.com/office/drawing/2014/main" id="{66DE0EB4-5271-E145-8A0D-9F253C4AA1EA}"/>
              </a:ext>
            </a:extLst>
          </p:cNvPr>
          <p:cNvGraphicFramePr>
            <a:graphicFrameLocks noGrp="1"/>
          </p:cNvGraphicFramePr>
          <p:nvPr/>
        </p:nvGraphicFramePr>
        <p:xfrm>
          <a:off x="8060928" y="2417293"/>
          <a:ext cx="442976" cy="2613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72353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7729035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7D47EF31-DD2B-2242-BB8A-C5F5B01D1AAB}"/>
              </a:ext>
            </a:extLst>
          </p:cNvPr>
          <p:cNvSpPr txBox="1"/>
          <p:nvPr/>
        </p:nvSpPr>
        <p:spPr>
          <a:xfrm>
            <a:off x="9962970" y="4284731"/>
            <a:ext cx="1354410" cy="522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7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118C239F-A05F-DF4A-834B-75B7272EF7B6}"/>
              </a:ext>
            </a:extLst>
          </p:cNvPr>
          <p:cNvGraphicFramePr>
            <a:graphicFrameLocks noGrp="1"/>
          </p:cNvGraphicFramePr>
          <p:nvPr/>
        </p:nvGraphicFramePr>
        <p:xfrm>
          <a:off x="9563657" y="3369902"/>
          <a:ext cx="1535116" cy="7078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5116">
                  <a:extLst>
                    <a:ext uri="{9D8B030D-6E8A-4147-A177-3AD203B41FA5}">
                      <a16:colId xmlns:a16="http://schemas.microsoft.com/office/drawing/2014/main" val="4002730172"/>
                    </a:ext>
                  </a:extLst>
                </a:gridCol>
              </a:tblGrid>
              <a:tr h="70785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pulmonary embolism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152605"/>
                  </a:ext>
                </a:extLst>
              </a:tr>
            </a:tbl>
          </a:graphicData>
        </a:graphic>
      </p:graphicFrame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E1D92D3-E56B-A746-824F-E5BE7353B5A0}"/>
              </a:ext>
            </a:extLst>
          </p:cNvPr>
          <p:cNvCxnSpPr>
            <a:cxnSpLocks/>
          </p:cNvCxnSpPr>
          <p:nvPr/>
        </p:nvCxnSpPr>
        <p:spPr>
          <a:xfrm flipV="1">
            <a:off x="8711860" y="3723829"/>
            <a:ext cx="690523" cy="14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D512111-B34C-D745-96B1-4A83D0CAAA5D}"/>
              </a:ext>
            </a:extLst>
          </p:cNvPr>
          <p:cNvSpPr txBox="1"/>
          <p:nvPr/>
        </p:nvSpPr>
        <p:spPr>
          <a:xfrm>
            <a:off x="6086914" y="5117376"/>
            <a:ext cx="4521105" cy="953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7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of features </a:t>
            </a:r>
          </a:p>
          <a:p>
            <a:pPr algn="ctr"/>
            <a:r>
              <a:rPr lang="en-US" sz="27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(indicating word counts)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B07BE4-C006-D347-A2C3-BD834F0C57A5}"/>
              </a:ext>
            </a:extLst>
          </p:cNvPr>
          <p:cNvSpPr txBox="1"/>
          <p:nvPr/>
        </p:nvSpPr>
        <p:spPr>
          <a:xfrm>
            <a:off x="8378970" y="3728835"/>
            <a:ext cx="1356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B1173DC-64A2-004E-8A9D-D35675648E4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976" t="10927" r="11177" b="12059"/>
          <a:stretch/>
        </p:blipFill>
        <p:spPr>
          <a:xfrm>
            <a:off x="1194367" y="1896565"/>
            <a:ext cx="2790934" cy="361961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49F2FB6-3F78-DD43-9479-942F29CA0DD3}"/>
              </a:ext>
            </a:extLst>
          </p:cNvPr>
          <p:cNvSpPr/>
          <p:nvPr/>
        </p:nvSpPr>
        <p:spPr>
          <a:xfrm>
            <a:off x="5045054" y="3229722"/>
            <a:ext cx="1729425" cy="94140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NLP</a:t>
            </a:r>
          </a:p>
          <a:p>
            <a:pPr algn="ctr"/>
            <a:r>
              <a:rPr lang="en-US" dirty="0"/>
              <a:t>Encoder</a:t>
            </a:r>
          </a:p>
        </p:txBody>
      </p:sp>
    </p:spTree>
    <p:extLst>
      <p:ext uri="{BB962C8B-B14F-4D97-AF65-F5344CB8AC3E}">
        <p14:creationId xmlns:p14="http://schemas.microsoft.com/office/powerpoint/2010/main" val="3847714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504"/>
    </mc:Choice>
    <mc:Fallback xmlns="">
      <p:transition spd="slow" advTm="36504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0F8ED1D-42C3-9141-AE77-27407422E154}"/>
              </a:ext>
            </a:extLst>
          </p:cNvPr>
          <p:cNvSpPr txBox="1"/>
          <p:nvPr/>
        </p:nvSpPr>
        <p:spPr>
          <a:xfrm>
            <a:off x="1546873" y="4855990"/>
            <a:ext cx="1729425" cy="522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7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004C370-95FF-1047-B986-B06FCDF88F5F}"/>
              </a:ext>
            </a:extLst>
          </p:cNvPr>
          <p:cNvCxnSpPr>
            <a:cxnSpLocks/>
          </p:cNvCxnSpPr>
          <p:nvPr/>
        </p:nvCxnSpPr>
        <p:spPr>
          <a:xfrm>
            <a:off x="3720764" y="3706373"/>
            <a:ext cx="41139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2B0503-A697-0A47-A3DA-5DB2A3779506}"/>
              </a:ext>
            </a:extLst>
          </p:cNvPr>
          <p:cNvCxnSpPr>
            <a:cxnSpLocks/>
          </p:cNvCxnSpPr>
          <p:nvPr/>
        </p:nvCxnSpPr>
        <p:spPr>
          <a:xfrm>
            <a:off x="7040697" y="3706373"/>
            <a:ext cx="81851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E1FAC8BA-4E0B-8546-91E3-DB4FD3DE1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/>
          <a:lstStyle/>
          <a:p>
            <a:pPr algn="ctr"/>
            <a:r>
              <a:rPr lang="en-US" dirty="0"/>
              <a:t>A prediction model for </a:t>
            </a:r>
            <a:r>
              <a:rPr lang="en-US" u="sng" dirty="0"/>
              <a:t>unstructured data</a:t>
            </a:r>
          </a:p>
        </p:txBody>
      </p:sp>
      <p:graphicFrame>
        <p:nvGraphicFramePr>
          <p:cNvPr id="12" name="Table 13">
            <a:extLst>
              <a:ext uri="{FF2B5EF4-FFF2-40B4-BE49-F238E27FC236}">
                <a16:creationId xmlns:a16="http://schemas.microsoft.com/office/drawing/2014/main" id="{66DE0EB4-5271-E145-8A0D-9F253C4AA1EA}"/>
              </a:ext>
            </a:extLst>
          </p:cNvPr>
          <p:cNvGraphicFramePr>
            <a:graphicFrameLocks noGrp="1"/>
          </p:cNvGraphicFramePr>
          <p:nvPr/>
        </p:nvGraphicFramePr>
        <p:xfrm>
          <a:off x="8060928" y="2417293"/>
          <a:ext cx="442976" cy="2613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72353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7729035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7D47EF31-DD2B-2242-BB8A-C5F5B01D1AAB}"/>
              </a:ext>
            </a:extLst>
          </p:cNvPr>
          <p:cNvSpPr txBox="1"/>
          <p:nvPr/>
        </p:nvSpPr>
        <p:spPr>
          <a:xfrm>
            <a:off x="9962970" y="4284731"/>
            <a:ext cx="1354410" cy="522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7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118C239F-A05F-DF4A-834B-75B7272EF7B6}"/>
              </a:ext>
            </a:extLst>
          </p:cNvPr>
          <p:cNvGraphicFramePr>
            <a:graphicFrameLocks noGrp="1"/>
          </p:cNvGraphicFramePr>
          <p:nvPr/>
        </p:nvGraphicFramePr>
        <p:xfrm>
          <a:off x="9563657" y="3369902"/>
          <a:ext cx="1535116" cy="7078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5116">
                  <a:extLst>
                    <a:ext uri="{9D8B030D-6E8A-4147-A177-3AD203B41FA5}">
                      <a16:colId xmlns:a16="http://schemas.microsoft.com/office/drawing/2014/main" val="4002730172"/>
                    </a:ext>
                  </a:extLst>
                </a:gridCol>
              </a:tblGrid>
              <a:tr h="70785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outcome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152605"/>
                  </a:ext>
                </a:extLst>
              </a:tr>
            </a:tbl>
          </a:graphicData>
        </a:graphic>
      </p:graphicFrame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E1D92D3-E56B-A746-824F-E5BE7353B5A0}"/>
              </a:ext>
            </a:extLst>
          </p:cNvPr>
          <p:cNvCxnSpPr>
            <a:cxnSpLocks/>
          </p:cNvCxnSpPr>
          <p:nvPr/>
        </p:nvCxnSpPr>
        <p:spPr>
          <a:xfrm flipV="1">
            <a:off x="8711860" y="3723829"/>
            <a:ext cx="690523" cy="14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D512111-B34C-D745-96B1-4A83D0CAAA5D}"/>
              </a:ext>
            </a:extLst>
          </p:cNvPr>
          <p:cNvSpPr txBox="1"/>
          <p:nvPr/>
        </p:nvSpPr>
        <p:spPr>
          <a:xfrm>
            <a:off x="6086914" y="5117376"/>
            <a:ext cx="4521105" cy="522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7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of features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B07BE4-C006-D347-A2C3-BD834F0C57A5}"/>
              </a:ext>
            </a:extLst>
          </p:cNvPr>
          <p:cNvSpPr txBox="1"/>
          <p:nvPr/>
        </p:nvSpPr>
        <p:spPr>
          <a:xfrm>
            <a:off x="8378970" y="3728835"/>
            <a:ext cx="1356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8412E34F-7A97-DD4B-85B5-2A1DA3772FB3}"/>
                  </a:ext>
                </a:extLst>
              </p:cNvPr>
              <p:cNvSpPr/>
              <p:nvPr/>
            </p:nvSpPr>
            <p:spPr>
              <a:xfrm>
                <a:off x="1263683" y="2631258"/>
                <a:ext cx="2295807" cy="2150230"/>
              </a:xfrm>
              <a:prstGeom prst="roundRect">
                <a:avLst>
                  <a:gd name="adj" fmla="val 0"/>
                </a:avLst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Unstructured data</a:t>
                </a:r>
              </a:p>
              <a:p>
                <a:pPr algn="ctr"/>
                <a:r>
                  <a:rPr lang="en-US" dirty="0"/>
                  <a:t>for patient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r>
                  <a:rPr lang="en-US" dirty="0"/>
                  <a:t>(or case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8412E34F-7A97-DD4B-85B5-2A1DA3772F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3683" y="2631258"/>
                <a:ext cx="2295807" cy="2150230"/>
              </a:xfrm>
              <a:prstGeom prst="roundRect">
                <a:avLst>
                  <a:gd name="adj" fmla="val 0"/>
                </a:avLst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DB94585-8210-7A49-B293-45239394B84D}"/>
              </a:ext>
            </a:extLst>
          </p:cNvPr>
          <p:cNvSpPr/>
          <p:nvPr/>
        </p:nvSpPr>
        <p:spPr>
          <a:xfrm>
            <a:off x="4333880" y="3229722"/>
            <a:ext cx="2440599" cy="941409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Modality-Specific</a:t>
            </a:r>
          </a:p>
          <a:p>
            <a:pPr algn="ctr"/>
            <a:r>
              <a:rPr lang="en-US" dirty="0"/>
              <a:t>Encoder</a:t>
            </a:r>
          </a:p>
        </p:txBody>
      </p:sp>
    </p:spTree>
    <p:extLst>
      <p:ext uri="{BB962C8B-B14F-4D97-AF65-F5344CB8AC3E}">
        <p14:creationId xmlns:p14="http://schemas.microsoft.com/office/powerpoint/2010/main" val="4131617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940"/>
    </mc:Choice>
    <mc:Fallback xmlns="">
      <p:transition spd="slow" advTm="3194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C8970-23FD-52C4-3570-471D51BA5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1E13E98-4983-442B-2045-372B6E8FE7F0}"/>
              </a:ext>
            </a:extLst>
          </p:cNvPr>
          <p:cNvSpPr txBox="1"/>
          <p:nvPr/>
        </p:nvSpPr>
        <p:spPr>
          <a:xfrm>
            <a:off x="1393360" y="4507593"/>
            <a:ext cx="1729425" cy="522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7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EKG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B4B04EF-320B-A18C-8426-B0925DEAC405}"/>
              </a:ext>
            </a:extLst>
          </p:cNvPr>
          <p:cNvCxnSpPr>
            <a:cxnSpLocks/>
          </p:cNvCxnSpPr>
          <p:nvPr/>
        </p:nvCxnSpPr>
        <p:spPr>
          <a:xfrm>
            <a:off x="3720764" y="3706373"/>
            <a:ext cx="41139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CF43D43-6A7D-4BDF-3829-9F54E20505F3}"/>
              </a:ext>
            </a:extLst>
          </p:cNvPr>
          <p:cNvCxnSpPr>
            <a:cxnSpLocks/>
          </p:cNvCxnSpPr>
          <p:nvPr/>
        </p:nvCxnSpPr>
        <p:spPr>
          <a:xfrm>
            <a:off x="7040697" y="3706373"/>
            <a:ext cx="81851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A35F0A86-744E-6BDA-FF8B-C8F79012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/>
          <a:lstStyle/>
          <a:p>
            <a:pPr algn="ctr"/>
            <a:r>
              <a:rPr lang="en-US" dirty="0"/>
              <a:t>A prediction model for </a:t>
            </a:r>
            <a:r>
              <a:rPr lang="en-US" u="sng" dirty="0"/>
              <a:t>unstructured data</a:t>
            </a:r>
          </a:p>
        </p:txBody>
      </p:sp>
      <p:graphicFrame>
        <p:nvGraphicFramePr>
          <p:cNvPr id="12" name="Table 13">
            <a:extLst>
              <a:ext uri="{FF2B5EF4-FFF2-40B4-BE49-F238E27FC236}">
                <a16:creationId xmlns:a16="http://schemas.microsoft.com/office/drawing/2014/main" id="{8F223974-420D-463E-941B-434BBDB4C2D0}"/>
              </a:ext>
            </a:extLst>
          </p:cNvPr>
          <p:cNvGraphicFramePr>
            <a:graphicFrameLocks noGrp="1"/>
          </p:cNvGraphicFramePr>
          <p:nvPr/>
        </p:nvGraphicFramePr>
        <p:xfrm>
          <a:off x="8060928" y="2417293"/>
          <a:ext cx="442976" cy="2613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72353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7729035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12AC13DD-E180-C2E6-85BE-9843E223766B}"/>
              </a:ext>
            </a:extLst>
          </p:cNvPr>
          <p:cNvSpPr txBox="1"/>
          <p:nvPr/>
        </p:nvSpPr>
        <p:spPr>
          <a:xfrm>
            <a:off x="9962970" y="4284731"/>
            <a:ext cx="1354410" cy="522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7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5FB00C6D-D41D-B4E7-81BE-5B82A95A557E}"/>
              </a:ext>
            </a:extLst>
          </p:cNvPr>
          <p:cNvGraphicFramePr>
            <a:graphicFrameLocks noGrp="1"/>
          </p:cNvGraphicFramePr>
          <p:nvPr/>
        </p:nvGraphicFramePr>
        <p:xfrm>
          <a:off x="9563657" y="3369902"/>
          <a:ext cx="1535116" cy="7078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5116">
                  <a:extLst>
                    <a:ext uri="{9D8B030D-6E8A-4147-A177-3AD203B41FA5}">
                      <a16:colId xmlns:a16="http://schemas.microsoft.com/office/drawing/2014/main" val="4002730172"/>
                    </a:ext>
                  </a:extLst>
                </a:gridCol>
              </a:tblGrid>
              <a:tr h="70785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outcome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152605"/>
                  </a:ext>
                </a:extLst>
              </a:tr>
            </a:tbl>
          </a:graphicData>
        </a:graphic>
      </p:graphicFrame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DD4EAF4-78F4-2B9B-684A-95C383EDCAE9}"/>
              </a:ext>
            </a:extLst>
          </p:cNvPr>
          <p:cNvCxnSpPr>
            <a:cxnSpLocks/>
          </p:cNvCxnSpPr>
          <p:nvPr/>
        </p:nvCxnSpPr>
        <p:spPr>
          <a:xfrm flipV="1">
            <a:off x="8711860" y="3723829"/>
            <a:ext cx="690523" cy="14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36BB45E9-9F4E-4E50-432E-8470D676FEFB}"/>
              </a:ext>
            </a:extLst>
          </p:cNvPr>
          <p:cNvSpPr txBox="1"/>
          <p:nvPr/>
        </p:nvSpPr>
        <p:spPr>
          <a:xfrm>
            <a:off x="6086914" y="5117376"/>
            <a:ext cx="4521105" cy="522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7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of features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3931BA-18F1-30D6-4091-6E41CCD68CF1}"/>
              </a:ext>
            </a:extLst>
          </p:cNvPr>
          <p:cNvSpPr txBox="1"/>
          <p:nvPr/>
        </p:nvSpPr>
        <p:spPr>
          <a:xfrm>
            <a:off x="8378970" y="3728835"/>
            <a:ext cx="1356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558DB6D-0895-D00D-1615-11C6F091FB27}"/>
              </a:ext>
            </a:extLst>
          </p:cNvPr>
          <p:cNvSpPr/>
          <p:nvPr/>
        </p:nvSpPr>
        <p:spPr>
          <a:xfrm>
            <a:off x="4333880" y="3229722"/>
            <a:ext cx="2440599" cy="941409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Modality-Specific</a:t>
            </a:r>
          </a:p>
          <a:p>
            <a:pPr algn="ctr"/>
            <a:r>
              <a:rPr lang="en-US" dirty="0"/>
              <a:t>Encoder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87A0DE4D-DDE0-370B-F2B2-61E53B7F0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657" y="2951182"/>
            <a:ext cx="2602833" cy="149848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5810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940"/>
    </mc:Choice>
    <mc:Fallback xmlns="">
      <p:transition spd="slow" advTm="3194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5EC82-7447-E31D-4F99-3AC5E89BF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Late fusion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13A057-50CA-75B4-4AC3-7C0F9AC0E8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6905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3">
            <a:extLst>
              <a:ext uri="{FF2B5EF4-FFF2-40B4-BE49-F238E27FC236}">
                <a16:creationId xmlns:a16="http://schemas.microsoft.com/office/drawing/2014/main" id="{66DE0EB4-5271-E145-8A0D-9F253C4AA1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656785"/>
              </p:ext>
            </p:extLst>
          </p:nvPr>
        </p:nvGraphicFramePr>
        <p:xfrm>
          <a:off x="7941122" y="260953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E1D92D3-E56B-A746-824F-E5BE7353B5A0}"/>
              </a:ext>
            </a:extLst>
          </p:cNvPr>
          <p:cNvCxnSpPr>
            <a:cxnSpLocks/>
          </p:cNvCxnSpPr>
          <p:nvPr/>
        </p:nvCxnSpPr>
        <p:spPr>
          <a:xfrm flipV="1">
            <a:off x="8592055" y="1131977"/>
            <a:ext cx="690523" cy="14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D512111-B34C-D745-96B1-4A83D0CAAA5D}"/>
              </a:ext>
            </a:extLst>
          </p:cNvPr>
          <p:cNvSpPr txBox="1"/>
          <p:nvPr/>
        </p:nvSpPr>
        <p:spPr>
          <a:xfrm>
            <a:off x="7461657" y="2027034"/>
            <a:ext cx="1401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variables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9161F2-26BD-1945-9980-E1F4BC9A93EE}"/>
              </a:ext>
            </a:extLst>
          </p:cNvPr>
          <p:cNvSpPr txBox="1"/>
          <p:nvPr/>
        </p:nvSpPr>
        <p:spPr>
          <a:xfrm>
            <a:off x="8259165" y="1136983"/>
            <a:ext cx="1356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</a:p>
        </p:txBody>
      </p:sp>
      <p:graphicFrame>
        <p:nvGraphicFramePr>
          <p:cNvPr id="9" name="Table 13">
            <a:extLst>
              <a:ext uri="{FF2B5EF4-FFF2-40B4-BE49-F238E27FC236}">
                <a16:creationId xmlns:a16="http://schemas.microsoft.com/office/drawing/2014/main" id="{746AD1A7-A8CE-B04A-AC5B-3670F8BE0D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8315447"/>
              </p:ext>
            </p:extLst>
          </p:nvPr>
        </p:nvGraphicFramePr>
        <p:xfrm>
          <a:off x="7941122" y="2474678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F9F3082-9CCF-E74D-9FAE-329BF39FBD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9769250"/>
              </p:ext>
            </p:extLst>
          </p:nvPr>
        </p:nvGraphicFramePr>
        <p:xfrm>
          <a:off x="9458467" y="3089220"/>
          <a:ext cx="2343891" cy="522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3891">
                  <a:extLst>
                    <a:ext uri="{9D8B030D-6E8A-4147-A177-3AD203B41FA5}">
                      <a16:colId xmlns:a16="http://schemas.microsoft.com/office/drawing/2014/main" val="4002730172"/>
                    </a:ext>
                  </a:extLst>
                </a:gridCol>
              </a:tblGrid>
              <a:tr h="5227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P(outcome | data)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152605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7F4FB97-E33B-AA44-94E1-17E5647B4662}"/>
              </a:ext>
            </a:extLst>
          </p:cNvPr>
          <p:cNvCxnSpPr>
            <a:cxnSpLocks/>
          </p:cNvCxnSpPr>
          <p:nvPr/>
        </p:nvCxnSpPr>
        <p:spPr>
          <a:xfrm flipV="1">
            <a:off x="8592055" y="3345702"/>
            <a:ext cx="690523" cy="14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426209E-433A-4D44-800F-BE31B016EC5C}"/>
              </a:ext>
            </a:extLst>
          </p:cNvPr>
          <p:cNvSpPr txBox="1"/>
          <p:nvPr/>
        </p:nvSpPr>
        <p:spPr>
          <a:xfrm>
            <a:off x="7461657" y="4240759"/>
            <a:ext cx="1401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features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68B05A-3B90-0B48-BA3D-E339296AD7AA}"/>
              </a:ext>
            </a:extLst>
          </p:cNvPr>
          <p:cNvSpPr txBox="1"/>
          <p:nvPr/>
        </p:nvSpPr>
        <p:spPr>
          <a:xfrm>
            <a:off x="8259165" y="3350708"/>
            <a:ext cx="1356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</a:p>
        </p:txBody>
      </p:sp>
      <p:graphicFrame>
        <p:nvGraphicFramePr>
          <p:cNvPr id="16" name="Table 13">
            <a:extLst>
              <a:ext uri="{FF2B5EF4-FFF2-40B4-BE49-F238E27FC236}">
                <a16:creationId xmlns:a16="http://schemas.microsoft.com/office/drawing/2014/main" id="{AB988508-78BB-F84A-851B-C1F7A549B7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370656"/>
              </p:ext>
            </p:extLst>
          </p:nvPr>
        </p:nvGraphicFramePr>
        <p:xfrm>
          <a:off x="7925670" y="4622622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5BC25AC-EB6E-3641-818D-4F75C7054429}"/>
              </a:ext>
            </a:extLst>
          </p:cNvPr>
          <p:cNvCxnSpPr>
            <a:cxnSpLocks/>
          </p:cNvCxnSpPr>
          <p:nvPr/>
        </p:nvCxnSpPr>
        <p:spPr>
          <a:xfrm flipV="1">
            <a:off x="8576603" y="5493646"/>
            <a:ext cx="690523" cy="14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B0E48F9-4EF4-1E44-818A-008E9B5007DE}"/>
              </a:ext>
            </a:extLst>
          </p:cNvPr>
          <p:cNvSpPr txBox="1"/>
          <p:nvPr/>
        </p:nvSpPr>
        <p:spPr>
          <a:xfrm>
            <a:off x="7373613" y="6364670"/>
            <a:ext cx="15779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 features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6D16C9-1DB4-AB4E-81AF-B726618D7396}"/>
              </a:ext>
            </a:extLst>
          </p:cNvPr>
          <p:cNvSpPr txBox="1"/>
          <p:nvPr/>
        </p:nvSpPr>
        <p:spPr>
          <a:xfrm>
            <a:off x="8243713" y="5498652"/>
            <a:ext cx="1356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99D15D1-E5B8-8A4A-B14D-A552AF8EC658}"/>
              </a:ext>
            </a:extLst>
          </p:cNvPr>
          <p:cNvCxnSpPr>
            <a:cxnSpLocks/>
            <a:stCxn id="24" idx="3"/>
            <a:endCxn id="25" idx="1"/>
          </p:cNvCxnSpPr>
          <p:nvPr/>
        </p:nvCxnSpPr>
        <p:spPr>
          <a:xfrm>
            <a:off x="3769961" y="5516180"/>
            <a:ext cx="135191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5A12126E-7EBD-954C-8299-8B118E3FC41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976" t="10927" r="11177" b="12059"/>
          <a:stretch/>
        </p:blipFill>
        <p:spPr>
          <a:xfrm>
            <a:off x="2342322" y="4590414"/>
            <a:ext cx="1427639" cy="18515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4C309093-0E21-4D4F-BE06-75B99E7D29B9}"/>
              </a:ext>
            </a:extLst>
          </p:cNvPr>
          <p:cNvSpPr/>
          <p:nvPr/>
        </p:nvSpPr>
        <p:spPr>
          <a:xfrm>
            <a:off x="5121875" y="5045475"/>
            <a:ext cx="1729425" cy="94140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NLP</a:t>
            </a:r>
          </a:p>
          <a:p>
            <a:pPr algn="ctr"/>
            <a:r>
              <a:rPr lang="en-US" dirty="0"/>
              <a:t>Encoder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F45BFD6-0CBF-9842-A1F5-3BE048C3FCEA}"/>
              </a:ext>
            </a:extLst>
          </p:cNvPr>
          <p:cNvCxnSpPr>
            <a:cxnSpLocks/>
          </p:cNvCxnSpPr>
          <p:nvPr/>
        </p:nvCxnSpPr>
        <p:spPr>
          <a:xfrm>
            <a:off x="6964439" y="5493646"/>
            <a:ext cx="87243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CBB8291-5B14-B047-BE26-91988F66D549}"/>
              </a:ext>
            </a:extLst>
          </p:cNvPr>
          <p:cNvSpPr txBox="1"/>
          <p:nvPr/>
        </p:nvSpPr>
        <p:spPr>
          <a:xfrm>
            <a:off x="2578663" y="6464323"/>
            <a:ext cx="9549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7E107A1-9D4E-C944-9AC7-C01A699C0805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769961" y="3345702"/>
            <a:ext cx="135191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D45898F-E116-994B-9529-1300831A2303}"/>
              </a:ext>
            </a:extLst>
          </p:cNvPr>
          <p:cNvCxnSpPr>
            <a:cxnSpLocks/>
          </p:cNvCxnSpPr>
          <p:nvPr/>
        </p:nvCxnSpPr>
        <p:spPr>
          <a:xfrm>
            <a:off x="6964439" y="3345702"/>
            <a:ext cx="87243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148725C9-17B3-D84E-A6DC-ECCF2CD51CE5}"/>
              </a:ext>
            </a:extLst>
          </p:cNvPr>
          <p:cNvSpPr/>
          <p:nvPr/>
        </p:nvSpPr>
        <p:spPr>
          <a:xfrm>
            <a:off x="5121874" y="2901070"/>
            <a:ext cx="1729425" cy="941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CNN</a:t>
            </a:r>
          </a:p>
          <a:p>
            <a:pPr algn="ctr"/>
            <a:r>
              <a:rPr lang="en-US" dirty="0"/>
              <a:t>Encoder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2900C6-26A5-4F44-BA06-071D9E41C0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2322" y="2614819"/>
            <a:ext cx="1427639" cy="1461765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DB9491BB-25CA-834B-A7FF-4828D4B79ECA}"/>
              </a:ext>
            </a:extLst>
          </p:cNvPr>
          <p:cNvSpPr txBox="1"/>
          <p:nvPr/>
        </p:nvSpPr>
        <p:spPr>
          <a:xfrm>
            <a:off x="2355188" y="4086870"/>
            <a:ext cx="1401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48855032-C654-1F4A-8DAB-F5374D2A0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072187" y="-26405"/>
            <a:ext cx="12192000" cy="1325563"/>
          </a:xfrm>
        </p:spPr>
        <p:txBody>
          <a:bodyPr/>
          <a:lstStyle/>
          <a:p>
            <a:pPr algn="ctr"/>
            <a:r>
              <a:rPr lang="en-US" dirty="0"/>
              <a:t>Separate Prediction Models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94F2BF3-FD1D-AF21-C126-42B7A91338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8159786"/>
              </p:ext>
            </p:extLst>
          </p:nvPr>
        </p:nvGraphicFramePr>
        <p:xfrm>
          <a:off x="9458467" y="5238937"/>
          <a:ext cx="2343891" cy="522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3891">
                  <a:extLst>
                    <a:ext uri="{9D8B030D-6E8A-4147-A177-3AD203B41FA5}">
                      <a16:colId xmlns:a16="http://schemas.microsoft.com/office/drawing/2014/main" val="4002730172"/>
                    </a:ext>
                  </a:extLst>
                </a:gridCol>
              </a:tblGrid>
              <a:tr h="5227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P(outcome | data)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152605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E56D288-D739-F17A-51CE-CFD04D5169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2695629"/>
              </p:ext>
            </p:extLst>
          </p:nvPr>
        </p:nvGraphicFramePr>
        <p:xfrm>
          <a:off x="9458467" y="873825"/>
          <a:ext cx="2343891" cy="522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3891">
                  <a:extLst>
                    <a:ext uri="{9D8B030D-6E8A-4147-A177-3AD203B41FA5}">
                      <a16:colId xmlns:a16="http://schemas.microsoft.com/office/drawing/2014/main" val="4002730172"/>
                    </a:ext>
                  </a:extLst>
                </a:gridCol>
              </a:tblGrid>
              <a:tr h="5227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P(outcome | data)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1526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5202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479"/>
    </mc:Choice>
    <mc:Fallback xmlns="">
      <p:transition spd="slow" advTm="48479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333BA-3537-984C-3499-086BB2606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3">
            <a:extLst>
              <a:ext uri="{FF2B5EF4-FFF2-40B4-BE49-F238E27FC236}">
                <a16:creationId xmlns:a16="http://schemas.microsoft.com/office/drawing/2014/main" id="{B6F20DAE-2CC0-913D-D166-4E584640FD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4499768"/>
              </p:ext>
            </p:extLst>
          </p:nvPr>
        </p:nvGraphicFramePr>
        <p:xfrm>
          <a:off x="4924546" y="260953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EB88F8E-8595-2D8B-F95E-8C843F9F99E3}"/>
              </a:ext>
            </a:extLst>
          </p:cNvPr>
          <p:cNvCxnSpPr>
            <a:cxnSpLocks/>
          </p:cNvCxnSpPr>
          <p:nvPr/>
        </p:nvCxnSpPr>
        <p:spPr>
          <a:xfrm flipV="1">
            <a:off x="5575479" y="1131977"/>
            <a:ext cx="690523" cy="14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5AA8506-78A1-7E2A-2D19-2AF19E318C86}"/>
              </a:ext>
            </a:extLst>
          </p:cNvPr>
          <p:cNvSpPr txBox="1"/>
          <p:nvPr/>
        </p:nvSpPr>
        <p:spPr>
          <a:xfrm>
            <a:off x="4445081" y="2027034"/>
            <a:ext cx="1401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variables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1990AF-AF15-50FC-07A3-ED06221BCA44}"/>
              </a:ext>
            </a:extLst>
          </p:cNvPr>
          <p:cNvSpPr txBox="1"/>
          <p:nvPr/>
        </p:nvSpPr>
        <p:spPr>
          <a:xfrm>
            <a:off x="5242589" y="1136983"/>
            <a:ext cx="1356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</a:p>
        </p:txBody>
      </p:sp>
      <p:graphicFrame>
        <p:nvGraphicFramePr>
          <p:cNvPr id="9" name="Table 13">
            <a:extLst>
              <a:ext uri="{FF2B5EF4-FFF2-40B4-BE49-F238E27FC236}">
                <a16:creationId xmlns:a16="http://schemas.microsoft.com/office/drawing/2014/main" id="{D5D4F9A1-868D-A8AA-6B30-7E0405B87F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2078079"/>
              </p:ext>
            </p:extLst>
          </p:nvPr>
        </p:nvGraphicFramePr>
        <p:xfrm>
          <a:off x="4924546" y="2474678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3B1C01F-309C-BBBA-959D-7F524C430B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0853304"/>
              </p:ext>
            </p:extLst>
          </p:nvPr>
        </p:nvGraphicFramePr>
        <p:xfrm>
          <a:off x="6441891" y="3089220"/>
          <a:ext cx="2343891" cy="522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3891">
                  <a:extLst>
                    <a:ext uri="{9D8B030D-6E8A-4147-A177-3AD203B41FA5}">
                      <a16:colId xmlns:a16="http://schemas.microsoft.com/office/drawing/2014/main" val="4002730172"/>
                    </a:ext>
                  </a:extLst>
                </a:gridCol>
              </a:tblGrid>
              <a:tr h="5227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P(outcome | data)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152605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CE0A288-3247-63E0-57BA-32A7CB520ED9}"/>
              </a:ext>
            </a:extLst>
          </p:cNvPr>
          <p:cNvCxnSpPr>
            <a:cxnSpLocks/>
          </p:cNvCxnSpPr>
          <p:nvPr/>
        </p:nvCxnSpPr>
        <p:spPr>
          <a:xfrm flipV="1">
            <a:off x="5575479" y="3345702"/>
            <a:ext cx="690523" cy="14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4060DEC-C238-8FBD-52DD-9863AA95D13B}"/>
              </a:ext>
            </a:extLst>
          </p:cNvPr>
          <p:cNvSpPr txBox="1"/>
          <p:nvPr/>
        </p:nvSpPr>
        <p:spPr>
          <a:xfrm>
            <a:off x="4445081" y="4240759"/>
            <a:ext cx="1401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features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DB2621-D181-DEF1-AE0F-C8375466E1A0}"/>
              </a:ext>
            </a:extLst>
          </p:cNvPr>
          <p:cNvSpPr txBox="1"/>
          <p:nvPr/>
        </p:nvSpPr>
        <p:spPr>
          <a:xfrm>
            <a:off x="5242589" y="3350708"/>
            <a:ext cx="1356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</a:p>
        </p:txBody>
      </p:sp>
      <p:graphicFrame>
        <p:nvGraphicFramePr>
          <p:cNvPr id="16" name="Table 13">
            <a:extLst>
              <a:ext uri="{FF2B5EF4-FFF2-40B4-BE49-F238E27FC236}">
                <a16:creationId xmlns:a16="http://schemas.microsoft.com/office/drawing/2014/main" id="{595A633E-DD00-8498-9A55-2317A9F970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8657584"/>
              </p:ext>
            </p:extLst>
          </p:nvPr>
        </p:nvGraphicFramePr>
        <p:xfrm>
          <a:off x="4909094" y="4622622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D828A71-CDB5-4846-7C0C-AA3FCB25B2B2}"/>
              </a:ext>
            </a:extLst>
          </p:cNvPr>
          <p:cNvCxnSpPr>
            <a:cxnSpLocks/>
          </p:cNvCxnSpPr>
          <p:nvPr/>
        </p:nvCxnSpPr>
        <p:spPr>
          <a:xfrm flipV="1">
            <a:off x="5560027" y="5493646"/>
            <a:ext cx="690523" cy="14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1DD1481-CB05-01EF-227F-383F6A679260}"/>
              </a:ext>
            </a:extLst>
          </p:cNvPr>
          <p:cNvSpPr txBox="1"/>
          <p:nvPr/>
        </p:nvSpPr>
        <p:spPr>
          <a:xfrm>
            <a:off x="4357037" y="6364670"/>
            <a:ext cx="15779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 features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F8EA0E-C0DE-0B5F-EF31-E3D0203E5471}"/>
              </a:ext>
            </a:extLst>
          </p:cNvPr>
          <p:cNvSpPr txBox="1"/>
          <p:nvPr/>
        </p:nvSpPr>
        <p:spPr>
          <a:xfrm>
            <a:off x="5227137" y="5498652"/>
            <a:ext cx="1356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89EF0B7-7E50-EE3F-9DB1-A4CE57175A90}"/>
              </a:ext>
            </a:extLst>
          </p:cNvPr>
          <p:cNvCxnSpPr>
            <a:cxnSpLocks/>
            <a:stCxn id="24" idx="3"/>
            <a:endCxn id="25" idx="1"/>
          </p:cNvCxnSpPr>
          <p:nvPr/>
        </p:nvCxnSpPr>
        <p:spPr>
          <a:xfrm>
            <a:off x="753385" y="5516180"/>
            <a:ext cx="135191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93D22926-3D4D-80CE-4E8F-72E7ACFFFAB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976" t="10927" r="11177" b="12059"/>
          <a:stretch/>
        </p:blipFill>
        <p:spPr>
          <a:xfrm>
            <a:off x="-674254" y="4590414"/>
            <a:ext cx="1427639" cy="18515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D67BDF14-D2CB-B2F9-844B-42EBE69C74EB}"/>
              </a:ext>
            </a:extLst>
          </p:cNvPr>
          <p:cNvSpPr/>
          <p:nvPr/>
        </p:nvSpPr>
        <p:spPr>
          <a:xfrm>
            <a:off x="2105299" y="5045475"/>
            <a:ext cx="1729425" cy="94140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NLP</a:t>
            </a:r>
          </a:p>
          <a:p>
            <a:pPr algn="ctr"/>
            <a:r>
              <a:rPr lang="en-US" dirty="0"/>
              <a:t>Encoder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1A82E6A-5051-34A3-E05B-AE1E56D20175}"/>
              </a:ext>
            </a:extLst>
          </p:cNvPr>
          <p:cNvCxnSpPr>
            <a:cxnSpLocks/>
          </p:cNvCxnSpPr>
          <p:nvPr/>
        </p:nvCxnSpPr>
        <p:spPr>
          <a:xfrm>
            <a:off x="3947863" y="5493646"/>
            <a:ext cx="87243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E49FA7-003C-8D21-7004-3D4546FB894F}"/>
              </a:ext>
            </a:extLst>
          </p:cNvPr>
          <p:cNvSpPr txBox="1"/>
          <p:nvPr/>
        </p:nvSpPr>
        <p:spPr>
          <a:xfrm>
            <a:off x="-437913" y="6464323"/>
            <a:ext cx="9549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544559E-ACDE-C7CE-8ED9-0022EF24A002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753385" y="3345702"/>
            <a:ext cx="135191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8AA4D16-16D6-79FD-234C-9CCC4479FE00}"/>
              </a:ext>
            </a:extLst>
          </p:cNvPr>
          <p:cNvCxnSpPr>
            <a:cxnSpLocks/>
          </p:cNvCxnSpPr>
          <p:nvPr/>
        </p:nvCxnSpPr>
        <p:spPr>
          <a:xfrm>
            <a:off x="3947863" y="3345702"/>
            <a:ext cx="87243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78D12D13-533E-9AD9-CBE3-8F041C3803C1}"/>
              </a:ext>
            </a:extLst>
          </p:cNvPr>
          <p:cNvSpPr/>
          <p:nvPr/>
        </p:nvSpPr>
        <p:spPr>
          <a:xfrm>
            <a:off x="2105298" y="2901070"/>
            <a:ext cx="1729425" cy="941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CNN</a:t>
            </a:r>
          </a:p>
          <a:p>
            <a:pPr algn="ctr"/>
            <a:r>
              <a:rPr lang="en-US" dirty="0"/>
              <a:t>Encoder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3024E2-0E4A-DF2F-1A69-436A5D9711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74254" y="2614819"/>
            <a:ext cx="1427639" cy="1461765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444E6E7C-C119-958E-C545-9FB24BE66D60}"/>
              </a:ext>
            </a:extLst>
          </p:cNvPr>
          <p:cNvSpPr txBox="1"/>
          <p:nvPr/>
        </p:nvSpPr>
        <p:spPr>
          <a:xfrm>
            <a:off x="-661388" y="4086870"/>
            <a:ext cx="1401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B2F0DE7D-4AAF-8534-1E7D-7A9A24280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043" y="481191"/>
            <a:ext cx="5512969" cy="1325563"/>
          </a:xfrm>
        </p:spPr>
        <p:txBody>
          <a:bodyPr/>
          <a:lstStyle/>
          <a:p>
            <a:r>
              <a:rPr lang="en-US" dirty="0"/>
              <a:t>Late fusion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7B27284-3C53-E399-A5B3-1B6935F60B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084670"/>
              </p:ext>
            </p:extLst>
          </p:nvPr>
        </p:nvGraphicFramePr>
        <p:xfrm>
          <a:off x="6441891" y="5238937"/>
          <a:ext cx="2343891" cy="522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3891">
                  <a:extLst>
                    <a:ext uri="{9D8B030D-6E8A-4147-A177-3AD203B41FA5}">
                      <a16:colId xmlns:a16="http://schemas.microsoft.com/office/drawing/2014/main" val="4002730172"/>
                    </a:ext>
                  </a:extLst>
                </a:gridCol>
              </a:tblGrid>
              <a:tr h="5227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P(outcome | data)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152605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B20C8F0-548C-4F1B-32DF-54FD5D9FEB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2353712"/>
              </p:ext>
            </p:extLst>
          </p:nvPr>
        </p:nvGraphicFramePr>
        <p:xfrm>
          <a:off x="6441891" y="873825"/>
          <a:ext cx="2343891" cy="522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3891">
                  <a:extLst>
                    <a:ext uri="{9D8B030D-6E8A-4147-A177-3AD203B41FA5}">
                      <a16:colId xmlns:a16="http://schemas.microsoft.com/office/drawing/2014/main" val="4002730172"/>
                    </a:ext>
                  </a:extLst>
                </a:gridCol>
              </a:tblGrid>
              <a:tr h="5227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P(outcome | data)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152605"/>
                  </a:ext>
                </a:extLst>
              </a:tr>
            </a:tbl>
          </a:graphicData>
        </a:graphic>
      </p:graphicFrame>
      <p:sp>
        <p:nvSpPr>
          <p:cNvPr id="4" name="Left Brace 3">
            <a:extLst>
              <a:ext uri="{FF2B5EF4-FFF2-40B4-BE49-F238E27FC236}">
                <a16:creationId xmlns:a16="http://schemas.microsoft.com/office/drawing/2014/main" id="{EA30288C-7807-DF41-14CC-9586B85B12B3}"/>
              </a:ext>
            </a:extLst>
          </p:cNvPr>
          <p:cNvSpPr/>
          <p:nvPr/>
        </p:nvSpPr>
        <p:spPr>
          <a:xfrm rot="10800000">
            <a:off x="8961671" y="873825"/>
            <a:ext cx="329938" cy="4887884"/>
          </a:xfrm>
          <a:prstGeom prst="leftBrace">
            <a:avLst>
              <a:gd name="adj1" fmla="val 8333"/>
              <a:gd name="adj2" fmla="val 8220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AE8143-1A9D-A3AA-6996-5B911A1C8B24}"/>
              </a:ext>
            </a:extLst>
          </p:cNvPr>
          <p:cNvSpPr txBox="1"/>
          <p:nvPr/>
        </p:nvSpPr>
        <p:spPr>
          <a:xfrm>
            <a:off x="9291608" y="1546636"/>
            <a:ext cx="2595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aggregate predictions</a:t>
            </a:r>
          </a:p>
        </p:txBody>
      </p:sp>
    </p:spTree>
    <p:extLst>
      <p:ext uri="{BB962C8B-B14F-4D97-AF65-F5344CB8AC3E}">
        <p14:creationId xmlns:p14="http://schemas.microsoft.com/office/powerpoint/2010/main" val="1541353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479"/>
    </mc:Choice>
    <mc:Fallback xmlns="">
      <p:transition spd="slow" advTm="48479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8DECE-19D4-C2EC-A2BA-AAE46F460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3">
            <a:extLst>
              <a:ext uri="{FF2B5EF4-FFF2-40B4-BE49-F238E27FC236}">
                <a16:creationId xmlns:a16="http://schemas.microsoft.com/office/drawing/2014/main" id="{11CAFFDE-0F20-2612-4260-860A3194D3E3}"/>
              </a:ext>
            </a:extLst>
          </p:cNvPr>
          <p:cNvGraphicFramePr>
            <a:graphicFrameLocks noGrp="1"/>
          </p:cNvGraphicFramePr>
          <p:nvPr/>
        </p:nvGraphicFramePr>
        <p:xfrm>
          <a:off x="4924546" y="260953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289B69B-0A06-48C0-C2B1-55CD24C62C28}"/>
              </a:ext>
            </a:extLst>
          </p:cNvPr>
          <p:cNvCxnSpPr>
            <a:cxnSpLocks/>
          </p:cNvCxnSpPr>
          <p:nvPr/>
        </p:nvCxnSpPr>
        <p:spPr>
          <a:xfrm flipV="1">
            <a:off x="5575479" y="1131977"/>
            <a:ext cx="690523" cy="14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9DD97CE-5ACF-AF44-4CD1-660143E2EDF2}"/>
              </a:ext>
            </a:extLst>
          </p:cNvPr>
          <p:cNvSpPr txBox="1"/>
          <p:nvPr/>
        </p:nvSpPr>
        <p:spPr>
          <a:xfrm>
            <a:off x="4445081" y="2027034"/>
            <a:ext cx="1401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variables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C21618-6443-8A2F-4A7E-C5F95F418297}"/>
              </a:ext>
            </a:extLst>
          </p:cNvPr>
          <p:cNvSpPr txBox="1"/>
          <p:nvPr/>
        </p:nvSpPr>
        <p:spPr>
          <a:xfrm>
            <a:off x="5242589" y="1136983"/>
            <a:ext cx="1356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</a:p>
        </p:txBody>
      </p:sp>
      <p:graphicFrame>
        <p:nvGraphicFramePr>
          <p:cNvPr id="9" name="Table 13">
            <a:extLst>
              <a:ext uri="{FF2B5EF4-FFF2-40B4-BE49-F238E27FC236}">
                <a16:creationId xmlns:a16="http://schemas.microsoft.com/office/drawing/2014/main" id="{FBD57D6D-7AE3-EB78-A685-C3C1B7607D29}"/>
              </a:ext>
            </a:extLst>
          </p:cNvPr>
          <p:cNvGraphicFramePr>
            <a:graphicFrameLocks noGrp="1"/>
          </p:cNvGraphicFramePr>
          <p:nvPr/>
        </p:nvGraphicFramePr>
        <p:xfrm>
          <a:off x="4924546" y="2474678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7E1A6C6-E37A-DA17-9FF8-A73417AAD45E}"/>
              </a:ext>
            </a:extLst>
          </p:cNvPr>
          <p:cNvGraphicFramePr>
            <a:graphicFrameLocks noGrp="1"/>
          </p:cNvGraphicFramePr>
          <p:nvPr/>
        </p:nvGraphicFramePr>
        <p:xfrm>
          <a:off x="6441891" y="3089220"/>
          <a:ext cx="2343891" cy="522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3891">
                  <a:extLst>
                    <a:ext uri="{9D8B030D-6E8A-4147-A177-3AD203B41FA5}">
                      <a16:colId xmlns:a16="http://schemas.microsoft.com/office/drawing/2014/main" val="4002730172"/>
                    </a:ext>
                  </a:extLst>
                </a:gridCol>
              </a:tblGrid>
              <a:tr h="5227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P(outcome | data)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152605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0DA074F-D5FC-E7E3-5DED-5610EDF371F2}"/>
              </a:ext>
            </a:extLst>
          </p:cNvPr>
          <p:cNvCxnSpPr>
            <a:cxnSpLocks/>
          </p:cNvCxnSpPr>
          <p:nvPr/>
        </p:nvCxnSpPr>
        <p:spPr>
          <a:xfrm flipV="1">
            <a:off x="5575479" y="3345702"/>
            <a:ext cx="690523" cy="14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E993A56-37CB-C1A7-AB07-AE5BE3DA2040}"/>
              </a:ext>
            </a:extLst>
          </p:cNvPr>
          <p:cNvSpPr txBox="1"/>
          <p:nvPr/>
        </p:nvSpPr>
        <p:spPr>
          <a:xfrm>
            <a:off x="4445081" y="4240759"/>
            <a:ext cx="1401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features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F5EBBF-1724-0E67-C5A5-349A47B7B64D}"/>
              </a:ext>
            </a:extLst>
          </p:cNvPr>
          <p:cNvSpPr txBox="1"/>
          <p:nvPr/>
        </p:nvSpPr>
        <p:spPr>
          <a:xfrm>
            <a:off x="5242589" y="3350708"/>
            <a:ext cx="1356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</a:p>
        </p:txBody>
      </p:sp>
      <p:graphicFrame>
        <p:nvGraphicFramePr>
          <p:cNvPr id="16" name="Table 13">
            <a:extLst>
              <a:ext uri="{FF2B5EF4-FFF2-40B4-BE49-F238E27FC236}">
                <a16:creationId xmlns:a16="http://schemas.microsoft.com/office/drawing/2014/main" id="{BF47659F-A4A3-F0DA-D3A3-33FC3BDD2816}"/>
              </a:ext>
            </a:extLst>
          </p:cNvPr>
          <p:cNvGraphicFramePr>
            <a:graphicFrameLocks noGrp="1"/>
          </p:cNvGraphicFramePr>
          <p:nvPr/>
        </p:nvGraphicFramePr>
        <p:xfrm>
          <a:off x="4909094" y="4622622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4781F01-AB15-1FC7-8986-45CA8E24A262}"/>
              </a:ext>
            </a:extLst>
          </p:cNvPr>
          <p:cNvCxnSpPr>
            <a:cxnSpLocks/>
          </p:cNvCxnSpPr>
          <p:nvPr/>
        </p:nvCxnSpPr>
        <p:spPr>
          <a:xfrm flipV="1">
            <a:off x="5560027" y="5493646"/>
            <a:ext cx="690523" cy="14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4150503-5398-AD2C-716D-9A4A0BD87785}"/>
              </a:ext>
            </a:extLst>
          </p:cNvPr>
          <p:cNvSpPr txBox="1"/>
          <p:nvPr/>
        </p:nvSpPr>
        <p:spPr>
          <a:xfrm>
            <a:off x="4357037" y="6364670"/>
            <a:ext cx="15779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 features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411950-ACCB-4262-9D6E-E54DFBEB4501}"/>
              </a:ext>
            </a:extLst>
          </p:cNvPr>
          <p:cNvSpPr txBox="1"/>
          <p:nvPr/>
        </p:nvSpPr>
        <p:spPr>
          <a:xfrm>
            <a:off x="5227137" y="5498652"/>
            <a:ext cx="1356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565401C-58BA-BFC2-FCF3-E6DCA77AD393}"/>
              </a:ext>
            </a:extLst>
          </p:cNvPr>
          <p:cNvCxnSpPr>
            <a:cxnSpLocks/>
            <a:stCxn id="24" idx="3"/>
            <a:endCxn id="25" idx="1"/>
          </p:cNvCxnSpPr>
          <p:nvPr/>
        </p:nvCxnSpPr>
        <p:spPr>
          <a:xfrm>
            <a:off x="753385" y="5516180"/>
            <a:ext cx="135191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1604AB70-240C-5E5E-378D-F96B845E3ED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976" t="10927" r="11177" b="12059"/>
          <a:stretch/>
        </p:blipFill>
        <p:spPr>
          <a:xfrm>
            <a:off x="-674254" y="4590414"/>
            <a:ext cx="1427639" cy="18515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CAE2D82D-F03E-6A52-9AB9-25280CB8A471}"/>
              </a:ext>
            </a:extLst>
          </p:cNvPr>
          <p:cNvSpPr/>
          <p:nvPr/>
        </p:nvSpPr>
        <p:spPr>
          <a:xfrm>
            <a:off x="2105299" y="5045475"/>
            <a:ext cx="1729425" cy="94140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NLP</a:t>
            </a:r>
          </a:p>
          <a:p>
            <a:pPr algn="ctr"/>
            <a:r>
              <a:rPr lang="en-US" dirty="0"/>
              <a:t>Encoder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C599A02-E876-BEAD-9B46-E14611399D2D}"/>
              </a:ext>
            </a:extLst>
          </p:cNvPr>
          <p:cNvCxnSpPr>
            <a:cxnSpLocks/>
          </p:cNvCxnSpPr>
          <p:nvPr/>
        </p:nvCxnSpPr>
        <p:spPr>
          <a:xfrm>
            <a:off x="3947863" y="5493646"/>
            <a:ext cx="87243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961DD3A-B196-970D-6501-9195ACAE0766}"/>
              </a:ext>
            </a:extLst>
          </p:cNvPr>
          <p:cNvSpPr txBox="1"/>
          <p:nvPr/>
        </p:nvSpPr>
        <p:spPr>
          <a:xfrm>
            <a:off x="-437913" y="6464323"/>
            <a:ext cx="9549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FC6D136-30BA-6B73-D5DB-F9F8829FAFBB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753385" y="3345702"/>
            <a:ext cx="135191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117AC66-250F-947F-CAF3-A1C763FCE02C}"/>
              </a:ext>
            </a:extLst>
          </p:cNvPr>
          <p:cNvCxnSpPr>
            <a:cxnSpLocks/>
          </p:cNvCxnSpPr>
          <p:nvPr/>
        </p:nvCxnSpPr>
        <p:spPr>
          <a:xfrm>
            <a:off x="3947863" y="3345702"/>
            <a:ext cx="87243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A9196142-B1CA-7177-9744-E2D1CC729F2B}"/>
              </a:ext>
            </a:extLst>
          </p:cNvPr>
          <p:cNvSpPr/>
          <p:nvPr/>
        </p:nvSpPr>
        <p:spPr>
          <a:xfrm>
            <a:off x="2105298" y="2901070"/>
            <a:ext cx="1729425" cy="941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CNN</a:t>
            </a:r>
          </a:p>
          <a:p>
            <a:pPr algn="ctr"/>
            <a:r>
              <a:rPr lang="en-US" dirty="0"/>
              <a:t>Encoder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30FBBD-C0EA-3A44-2F5C-FFEE2278C2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74254" y="2614819"/>
            <a:ext cx="1427639" cy="1461765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510D6DCC-4050-6746-DE50-397C31D93FA9}"/>
              </a:ext>
            </a:extLst>
          </p:cNvPr>
          <p:cNvSpPr txBox="1"/>
          <p:nvPr/>
        </p:nvSpPr>
        <p:spPr>
          <a:xfrm>
            <a:off x="-661388" y="4086870"/>
            <a:ext cx="1401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16129F35-B409-AE7D-D3FF-D831A45FF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043" y="481191"/>
            <a:ext cx="5512969" cy="1325563"/>
          </a:xfrm>
        </p:spPr>
        <p:txBody>
          <a:bodyPr/>
          <a:lstStyle/>
          <a:p>
            <a:r>
              <a:rPr lang="en-US" dirty="0"/>
              <a:t>Late fusion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37DB52E-958F-9829-06ED-0B6F5036125C}"/>
              </a:ext>
            </a:extLst>
          </p:cNvPr>
          <p:cNvGraphicFramePr>
            <a:graphicFrameLocks noGrp="1"/>
          </p:cNvGraphicFramePr>
          <p:nvPr/>
        </p:nvGraphicFramePr>
        <p:xfrm>
          <a:off x="6441891" y="5238937"/>
          <a:ext cx="2343891" cy="522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3891">
                  <a:extLst>
                    <a:ext uri="{9D8B030D-6E8A-4147-A177-3AD203B41FA5}">
                      <a16:colId xmlns:a16="http://schemas.microsoft.com/office/drawing/2014/main" val="4002730172"/>
                    </a:ext>
                  </a:extLst>
                </a:gridCol>
              </a:tblGrid>
              <a:tr h="5227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P(outcome | data)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152605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F32657F-8AE7-E8D7-DF7F-444743FDB0A7}"/>
              </a:ext>
            </a:extLst>
          </p:cNvPr>
          <p:cNvGraphicFramePr>
            <a:graphicFrameLocks noGrp="1"/>
          </p:cNvGraphicFramePr>
          <p:nvPr/>
        </p:nvGraphicFramePr>
        <p:xfrm>
          <a:off x="6441891" y="873825"/>
          <a:ext cx="2343891" cy="522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3891">
                  <a:extLst>
                    <a:ext uri="{9D8B030D-6E8A-4147-A177-3AD203B41FA5}">
                      <a16:colId xmlns:a16="http://schemas.microsoft.com/office/drawing/2014/main" val="4002730172"/>
                    </a:ext>
                  </a:extLst>
                </a:gridCol>
              </a:tblGrid>
              <a:tr h="5227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P(outcome | data)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152605"/>
                  </a:ext>
                </a:extLst>
              </a:tr>
            </a:tbl>
          </a:graphicData>
        </a:graphic>
      </p:graphicFrame>
      <p:sp>
        <p:nvSpPr>
          <p:cNvPr id="4" name="Left Brace 3">
            <a:extLst>
              <a:ext uri="{FF2B5EF4-FFF2-40B4-BE49-F238E27FC236}">
                <a16:creationId xmlns:a16="http://schemas.microsoft.com/office/drawing/2014/main" id="{C567EE26-46DA-AB86-AF07-2B6C14723F1D}"/>
              </a:ext>
            </a:extLst>
          </p:cNvPr>
          <p:cNvSpPr/>
          <p:nvPr/>
        </p:nvSpPr>
        <p:spPr>
          <a:xfrm rot="10800000">
            <a:off x="8961671" y="873825"/>
            <a:ext cx="329938" cy="4887884"/>
          </a:xfrm>
          <a:prstGeom prst="leftBrace">
            <a:avLst>
              <a:gd name="adj1" fmla="val 8333"/>
              <a:gd name="adj2" fmla="val 8220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888A29-F2F0-3B75-6AC1-E9854BD4BA5C}"/>
              </a:ext>
            </a:extLst>
          </p:cNvPr>
          <p:cNvSpPr txBox="1"/>
          <p:nvPr/>
        </p:nvSpPr>
        <p:spPr>
          <a:xfrm>
            <a:off x="9291608" y="1546636"/>
            <a:ext cx="259559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aggregate predictions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Average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en-US" dirty="0"/>
              <a:t>(good default strategy; assumes all modalities are equally informative)</a:t>
            </a:r>
          </a:p>
        </p:txBody>
      </p:sp>
    </p:spTree>
    <p:extLst>
      <p:ext uri="{BB962C8B-B14F-4D97-AF65-F5344CB8AC3E}">
        <p14:creationId xmlns:p14="http://schemas.microsoft.com/office/powerpoint/2010/main" val="3996627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479"/>
    </mc:Choice>
    <mc:Fallback xmlns="">
      <p:transition spd="slow" advTm="48479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32E41-6220-6A34-0717-58357C5E9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3">
            <a:extLst>
              <a:ext uri="{FF2B5EF4-FFF2-40B4-BE49-F238E27FC236}">
                <a16:creationId xmlns:a16="http://schemas.microsoft.com/office/drawing/2014/main" id="{0AEAE3A5-21F7-0229-B12D-3A466DFA9679}"/>
              </a:ext>
            </a:extLst>
          </p:cNvPr>
          <p:cNvGraphicFramePr>
            <a:graphicFrameLocks noGrp="1"/>
          </p:cNvGraphicFramePr>
          <p:nvPr/>
        </p:nvGraphicFramePr>
        <p:xfrm>
          <a:off x="4924546" y="260953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1AC1BBD-8893-3779-F9AA-BF5E7BF05F42}"/>
              </a:ext>
            </a:extLst>
          </p:cNvPr>
          <p:cNvCxnSpPr>
            <a:cxnSpLocks/>
          </p:cNvCxnSpPr>
          <p:nvPr/>
        </p:nvCxnSpPr>
        <p:spPr>
          <a:xfrm flipV="1">
            <a:off x="5575479" y="1131977"/>
            <a:ext cx="690523" cy="14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3FFF3B6-5C87-E2B5-6462-B72C2276C3CD}"/>
              </a:ext>
            </a:extLst>
          </p:cNvPr>
          <p:cNvSpPr txBox="1"/>
          <p:nvPr/>
        </p:nvSpPr>
        <p:spPr>
          <a:xfrm>
            <a:off x="4445081" y="2027034"/>
            <a:ext cx="1401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variables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305186-C0F3-DFB1-A942-37FB3FE2493E}"/>
              </a:ext>
            </a:extLst>
          </p:cNvPr>
          <p:cNvSpPr txBox="1"/>
          <p:nvPr/>
        </p:nvSpPr>
        <p:spPr>
          <a:xfrm>
            <a:off x="5242589" y="1136983"/>
            <a:ext cx="1356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</a:p>
        </p:txBody>
      </p:sp>
      <p:graphicFrame>
        <p:nvGraphicFramePr>
          <p:cNvPr id="9" name="Table 13">
            <a:extLst>
              <a:ext uri="{FF2B5EF4-FFF2-40B4-BE49-F238E27FC236}">
                <a16:creationId xmlns:a16="http://schemas.microsoft.com/office/drawing/2014/main" id="{6FC614B0-8D6D-42F6-9D52-42DCC1CB10BE}"/>
              </a:ext>
            </a:extLst>
          </p:cNvPr>
          <p:cNvGraphicFramePr>
            <a:graphicFrameLocks noGrp="1"/>
          </p:cNvGraphicFramePr>
          <p:nvPr/>
        </p:nvGraphicFramePr>
        <p:xfrm>
          <a:off x="4924546" y="2474678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7FA8728-95BA-CD4F-91FA-F57BBA4DE03C}"/>
              </a:ext>
            </a:extLst>
          </p:cNvPr>
          <p:cNvGraphicFramePr>
            <a:graphicFrameLocks noGrp="1"/>
          </p:cNvGraphicFramePr>
          <p:nvPr/>
        </p:nvGraphicFramePr>
        <p:xfrm>
          <a:off x="6441891" y="3089220"/>
          <a:ext cx="2343891" cy="522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3891">
                  <a:extLst>
                    <a:ext uri="{9D8B030D-6E8A-4147-A177-3AD203B41FA5}">
                      <a16:colId xmlns:a16="http://schemas.microsoft.com/office/drawing/2014/main" val="4002730172"/>
                    </a:ext>
                  </a:extLst>
                </a:gridCol>
              </a:tblGrid>
              <a:tr h="5227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P(outcome | data)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152605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45CCABA-A7DF-6B22-625E-D0551D4864AA}"/>
              </a:ext>
            </a:extLst>
          </p:cNvPr>
          <p:cNvCxnSpPr>
            <a:cxnSpLocks/>
          </p:cNvCxnSpPr>
          <p:nvPr/>
        </p:nvCxnSpPr>
        <p:spPr>
          <a:xfrm flipV="1">
            <a:off x="5575479" y="3345702"/>
            <a:ext cx="690523" cy="14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9D440E3-8D3F-8963-573B-F8DCCF54B492}"/>
              </a:ext>
            </a:extLst>
          </p:cNvPr>
          <p:cNvSpPr txBox="1"/>
          <p:nvPr/>
        </p:nvSpPr>
        <p:spPr>
          <a:xfrm>
            <a:off x="4445081" y="4240759"/>
            <a:ext cx="1401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features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4CC1E9-633D-FBF8-2E54-3816EB4D44A5}"/>
              </a:ext>
            </a:extLst>
          </p:cNvPr>
          <p:cNvSpPr txBox="1"/>
          <p:nvPr/>
        </p:nvSpPr>
        <p:spPr>
          <a:xfrm>
            <a:off x="5242589" y="3350708"/>
            <a:ext cx="1356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</a:p>
        </p:txBody>
      </p:sp>
      <p:graphicFrame>
        <p:nvGraphicFramePr>
          <p:cNvPr id="16" name="Table 13">
            <a:extLst>
              <a:ext uri="{FF2B5EF4-FFF2-40B4-BE49-F238E27FC236}">
                <a16:creationId xmlns:a16="http://schemas.microsoft.com/office/drawing/2014/main" id="{2A6935C5-081F-43D6-8F77-945219947C67}"/>
              </a:ext>
            </a:extLst>
          </p:cNvPr>
          <p:cNvGraphicFramePr>
            <a:graphicFrameLocks noGrp="1"/>
          </p:cNvGraphicFramePr>
          <p:nvPr/>
        </p:nvGraphicFramePr>
        <p:xfrm>
          <a:off x="4909094" y="4622622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9418E53-7082-874D-4F53-283AF57715E5}"/>
              </a:ext>
            </a:extLst>
          </p:cNvPr>
          <p:cNvCxnSpPr>
            <a:cxnSpLocks/>
          </p:cNvCxnSpPr>
          <p:nvPr/>
        </p:nvCxnSpPr>
        <p:spPr>
          <a:xfrm flipV="1">
            <a:off x="5560027" y="5493646"/>
            <a:ext cx="690523" cy="14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A857028-3D6A-E4CA-3A4D-0A033626BF70}"/>
              </a:ext>
            </a:extLst>
          </p:cNvPr>
          <p:cNvSpPr txBox="1"/>
          <p:nvPr/>
        </p:nvSpPr>
        <p:spPr>
          <a:xfrm>
            <a:off x="4357037" y="6364670"/>
            <a:ext cx="15779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 features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BDD159-AC2E-AFE5-40AA-AD4DC99A3B37}"/>
              </a:ext>
            </a:extLst>
          </p:cNvPr>
          <p:cNvSpPr txBox="1"/>
          <p:nvPr/>
        </p:nvSpPr>
        <p:spPr>
          <a:xfrm>
            <a:off x="5227137" y="5498652"/>
            <a:ext cx="1356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F7D4C85-E28A-AE51-EEEB-41301522603A}"/>
              </a:ext>
            </a:extLst>
          </p:cNvPr>
          <p:cNvCxnSpPr>
            <a:cxnSpLocks/>
            <a:stCxn id="24" idx="3"/>
            <a:endCxn id="25" idx="1"/>
          </p:cNvCxnSpPr>
          <p:nvPr/>
        </p:nvCxnSpPr>
        <p:spPr>
          <a:xfrm>
            <a:off x="753385" y="5516180"/>
            <a:ext cx="135191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B0C007B3-0BC2-BAB3-D722-79112B22F5A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976" t="10927" r="11177" b="12059"/>
          <a:stretch/>
        </p:blipFill>
        <p:spPr>
          <a:xfrm>
            <a:off x="-674254" y="4590414"/>
            <a:ext cx="1427639" cy="18515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F9AE0392-E661-38E2-D349-8FB4548BDE81}"/>
              </a:ext>
            </a:extLst>
          </p:cNvPr>
          <p:cNvSpPr/>
          <p:nvPr/>
        </p:nvSpPr>
        <p:spPr>
          <a:xfrm>
            <a:off x="2105299" y="5045475"/>
            <a:ext cx="1729425" cy="94140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NLP</a:t>
            </a:r>
          </a:p>
          <a:p>
            <a:pPr algn="ctr"/>
            <a:r>
              <a:rPr lang="en-US" dirty="0"/>
              <a:t>Encoder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A49666E-EEB5-30A6-510C-B542D5FC29CB}"/>
              </a:ext>
            </a:extLst>
          </p:cNvPr>
          <p:cNvCxnSpPr>
            <a:cxnSpLocks/>
          </p:cNvCxnSpPr>
          <p:nvPr/>
        </p:nvCxnSpPr>
        <p:spPr>
          <a:xfrm>
            <a:off x="3947863" y="5493646"/>
            <a:ext cx="87243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004C65A-1BA5-7FC6-2606-0881B9A5AD97}"/>
              </a:ext>
            </a:extLst>
          </p:cNvPr>
          <p:cNvSpPr txBox="1"/>
          <p:nvPr/>
        </p:nvSpPr>
        <p:spPr>
          <a:xfrm>
            <a:off x="-437913" y="6464323"/>
            <a:ext cx="9549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968456C-366A-934E-B965-1DCD7F442C72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753385" y="3345702"/>
            <a:ext cx="135191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BBFA07B-2E15-55FE-C421-FF4AA09662AB}"/>
              </a:ext>
            </a:extLst>
          </p:cNvPr>
          <p:cNvCxnSpPr>
            <a:cxnSpLocks/>
          </p:cNvCxnSpPr>
          <p:nvPr/>
        </p:nvCxnSpPr>
        <p:spPr>
          <a:xfrm>
            <a:off x="3947863" y="3345702"/>
            <a:ext cx="87243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F5EBF3A3-5709-548E-DDE4-77C0A760C583}"/>
              </a:ext>
            </a:extLst>
          </p:cNvPr>
          <p:cNvSpPr/>
          <p:nvPr/>
        </p:nvSpPr>
        <p:spPr>
          <a:xfrm>
            <a:off x="2105298" y="2901070"/>
            <a:ext cx="1729425" cy="941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CNN</a:t>
            </a:r>
          </a:p>
          <a:p>
            <a:pPr algn="ctr"/>
            <a:r>
              <a:rPr lang="en-US" dirty="0"/>
              <a:t>Encoder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F9D2C9-1ECA-B36F-1253-97E0B0EF3A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74254" y="2614819"/>
            <a:ext cx="1427639" cy="1461765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0707A901-D68A-1090-7497-E0A7A7661D51}"/>
              </a:ext>
            </a:extLst>
          </p:cNvPr>
          <p:cNvSpPr txBox="1"/>
          <p:nvPr/>
        </p:nvSpPr>
        <p:spPr>
          <a:xfrm>
            <a:off x="-661388" y="4086870"/>
            <a:ext cx="1401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6FEC48D1-B1D1-DF57-CBBC-BCBF94694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043" y="481191"/>
            <a:ext cx="5512969" cy="1325563"/>
          </a:xfrm>
        </p:spPr>
        <p:txBody>
          <a:bodyPr/>
          <a:lstStyle/>
          <a:p>
            <a:r>
              <a:rPr lang="en-US" dirty="0"/>
              <a:t>Late fusion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E373421-0482-8D9B-20AC-B58415F5DD82}"/>
              </a:ext>
            </a:extLst>
          </p:cNvPr>
          <p:cNvGraphicFramePr>
            <a:graphicFrameLocks noGrp="1"/>
          </p:cNvGraphicFramePr>
          <p:nvPr/>
        </p:nvGraphicFramePr>
        <p:xfrm>
          <a:off x="6441891" y="5238937"/>
          <a:ext cx="2343891" cy="522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3891">
                  <a:extLst>
                    <a:ext uri="{9D8B030D-6E8A-4147-A177-3AD203B41FA5}">
                      <a16:colId xmlns:a16="http://schemas.microsoft.com/office/drawing/2014/main" val="4002730172"/>
                    </a:ext>
                  </a:extLst>
                </a:gridCol>
              </a:tblGrid>
              <a:tr h="5227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P(outcome | data)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152605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EF5FA14-15FD-2E99-78B9-45DEBF424527}"/>
              </a:ext>
            </a:extLst>
          </p:cNvPr>
          <p:cNvGraphicFramePr>
            <a:graphicFrameLocks noGrp="1"/>
          </p:cNvGraphicFramePr>
          <p:nvPr/>
        </p:nvGraphicFramePr>
        <p:xfrm>
          <a:off x="6441891" y="873825"/>
          <a:ext cx="2343891" cy="522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3891">
                  <a:extLst>
                    <a:ext uri="{9D8B030D-6E8A-4147-A177-3AD203B41FA5}">
                      <a16:colId xmlns:a16="http://schemas.microsoft.com/office/drawing/2014/main" val="4002730172"/>
                    </a:ext>
                  </a:extLst>
                </a:gridCol>
              </a:tblGrid>
              <a:tr h="5227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P(outcome | data)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152605"/>
                  </a:ext>
                </a:extLst>
              </a:tr>
            </a:tbl>
          </a:graphicData>
        </a:graphic>
      </p:graphicFrame>
      <p:sp>
        <p:nvSpPr>
          <p:cNvPr id="4" name="Left Brace 3">
            <a:extLst>
              <a:ext uri="{FF2B5EF4-FFF2-40B4-BE49-F238E27FC236}">
                <a16:creationId xmlns:a16="http://schemas.microsoft.com/office/drawing/2014/main" id="{BCA820D5-6C57-832A-8B12-BD8B20BFA83D}"/>
              </a:ext>
            </a:extLst>
          </p:cNvPr>
          <p:cNvSpPr/>
          <p:nvPr/>
        </p:nvSpPr>
        <p:spPr>
          <a:xfrm rot="10800000">
            <a:off x="8961671" y="873825"/>
            <a:ext cx="329938" cy="4887884"/>
          </a:xfrm>
          <a:prstGeom prst="leftBrace">
            <a:avLst>
              <a:gd name="adj1" fmla="val 8333"/>
              <a:gd name="adj2" fmla="val 8220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28F928-77BF-2408-30C8-11B604E3BA10}"/>
              </a:ext>
            </a:extLst>
          </p:cNvPr>
          <p:cNvSpPr txBox="1"/>
          <p:nvPr/>
        </p:nvSpPr>
        <p:spPr>
          <a:xfrm>
            <a:off x="9291608" y="1546636"/>
            <a:ext cx="259559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aggregate predictions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Average</a:t>
            </a:r>
          </a:p>
          <a:p>
            <a:pPr marL="285750" indent="-285750">
              <a:buFontTx/>
              <a:buChar char="-"/>
            </a:pPr>
            <a:r>
              <a:rPr lang="en-US" dirty="0"/>
              <a:t>Max</a:t>
            </a:r>
          </a:p>
          <a:p>
            <a:endParaRPr lang="en-US" dirty="0"/>
          </a:p>
          <a:p>
            <a:r>
              <a:rPr lang="en-US" dirty="0"/>
              <a:t>(used in multiple-instance learning; makes sense when the relevant signal might be present only in a single modality)</a:t>
            </a:r>
          </a:p>
        </p:txBody>
      </p:sp>
    </p:spTree>
    <p:extLst>
      <p:ext uri="{BB962C8B-B14F-4D97-AF65-F5344CB8AC3E}">
        <p14:creationId xmlns:p14="http://schemas.microsoft.com/office/powerpoint/2010/main" val="2906538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479"/>
    </mc:Choice>
    <mc:Fallback xmlns="">
      <p:transition spd="slow" advTm="48479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9AFF4-8212-A824-97BA-171A8D4C0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3">
            <a:extLst>
              <a:ext uri="{FF2B5EF4-FFF2-40B4-BE49-F238E27FC236}">
                <a16:creationId xmlns:a16="http://schemas.microsoft.com/office/drawing/2014/main" id="{7331B775-E611-0FFF-892D-455B3829C3DE}"/>
              </a:ext>
            </a:extLst>
          </p:cNvPr>
          <p:cNvGraphicFramePr>
            <a:graphicFrameLocks noGrp="1"/>
          </p:cNvGraphicFramePr>
          <p:nvPr/>
        </p:nvGraphicFramePr>
        <p:xfrm>
          <a:off x="4924546" y="260953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E677F7F-E8F9-F083-CE08-F3DF407FEF21}"/>
              </a:ext>
            </a:extLst>
          </p:cNvPr>
          <p:cNvCxnSpPr>
            <a:cxnSpLocks/>
          </p:cNvCxnSpPr>
          <p:nvPr/>
        </p:nvCxnSpPr>
        <p:spPr>
          <a:xfrm flipV="1">
            <a:off x="5575479" y="1131977"/>
            <a:ext cx="690523" cy="14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E806527-79F1-C7B3-F8DC-5DC6CAF5C484}"/>
              </a:ext>
            </a:extLst>
          </p:cNvPr>
          <p:cNvSpPr txBox="1"/>
          <p:nvPr/>
        </p:nvSpPr>
        <p:spPr>
          <a:xfrm>
            <a:off x="4445081" y="2027034"/>
            <a:ext cx="1401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variables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8C23E2-8FD1-D4EB-CFBD-2133B6E72E11}"/>
              </a:ext>
            </a:extLst>
          </p:cNvPr>
          <p:cNvSpPr txBox="1"/>
          <p:nvPr/>
        </p:nvSpPr>
        <p:spPr>
          <a:xfrm>
            <a:off x="5242589" y="1136983"/>
            <a:ext cx="1356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</a:p>
        </p:txBody>
      </p:sp>
      <p:graphicFrame>
        <p:nvGraphicFramePr>
          <p:cNvPr id="9" name="Table 13">
            <a:extLst>
              <a:ext uri="{FF2B5EF4-FFF2-40B4-BE49-F238E27FC236}">
                <a16:creationId xmlns:a16="http://schemas.microsoft.com/office/drawing/2014/main" id="{60BF0578-E915-3BDF-11ED-B5B0C0495BFE}"/>
              </a:ext>
            </a:extLst>
          </p:cNvPr>
          <p:cNvGraphicFramePr>
            <a:graphicFrameLocks noGrp="1"/>
          </p:cNvGraphicFramePr>
          <p:nvPr/>
        </p:nvGraphicFramePr>
        <p:xfrm>
          <a:off x="4924546" y="2474678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D8082E0-D255-30BB-0874-8788AFDFCD5D}"/>
              </a:ext>
            </a:extLst>
          </p:cNvPr>
          <p:cNvGraphicFramePr>
            <a:graphicFrameLocks noGrp="1"/>
          </p:cNvGraphicFramePr>
          <p:nvPr/>
        </p:nvGraphicFramePr>
        <p:xfrm>
          <a:off x="6441891" y="3089220"/>
          <a:ext cx="2343891" cy="522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3891">
                  <a:extLst>
                    <a:ext uri="{9D8B030D-6E8A-4147-A177-3AD203B41FA5}">
                      <a16:colId xmlns:a16="http://schemas.microsoft.com/office/drawing/2014/main" val="4002730172"/>
                    </a:ext>
                  </a:extLst>
                </a:gridCol>
              </a:tblGrid>
              <a:tr h="5227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P(outcome | data)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152605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2E36C94-8C84-68D1-7501-D907DFFD2224}"/>
              </a:ext>
            </a:extLst>
          </p:cNvPr>
          <p:cNvCxnSpPr>
            <a:cxnSpLocks/>
          </p:cNvCxnSpPr>
          <p:nvPr/>
        </p:nvCxnSpPr>
        <p:spPr>
          <a:xfrm flipV="1">
            <a:off x="5575479" y="3345702"/>
            <a:ext cx="690523" cy="14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05C4E99-9FD1-EF2C-C863-9C8658A7CD82}"/>
              </a:ext>
            </a:extLst>
          </p:cNvPr>
          <p:cNvSpPr txBox="1"/>
          <p:nvPr/>
        </p:nvSpPr>
        <p:spPr>
          <a:xfrm>
            <a:off x="4445081" y="4240759"/>
            <a:ext cx="1401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features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17F2DC-F86D-B06E-5621-A251DE2E1946}"/>
              </a:ext>
            </a:extLst>
          </p:cNvPr>
          <p:cNvSpPr txBox="1"/>
          <p:nvPr/>
        </p:nvSpPr>
        <p:spPr>
          <a:xfrm>
            <a:off x="5242589" y="3350708"/>
            <a:ext cx="1356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</a:p>
        </p:txBody>
      </p:sp>
      <p:graphicFrame>
        <p:nvGraphicFramePr>
          <p:cNvPr id="16" name="Table 13">
            <a:extLst>
              <a:ext uri="{FF2B5EF4-FFF2-40B4-BE49-F238E27FC236}">
                <a16:creationId xmlns:a16="http://schemas.microsoft.com/office/drawing/2014/main" id="{41B18A41-E635-79F2-2ED6-20B27E5CEEA2}"/>
              </a:ext>
            </a:extLst>
          </p:cNvPr>
          <p:cNvGraphicFramePr>
            <a:graphicFrameLocks noGrp="1"/>
          </p:cNvGraphicFramePr>
          <p:nvPr/>
        </p:nvGraphicFramePr>
        <p:xfrm>
          <a:off x="4909094" y="4622622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A240480-3B14-8BC0-8798-DDA819D132FF}"/>
              </a:ext>
            </a:extLst>
          </p:cNvPr>
          <p:cNvCxnSpPr>
            <a:cxnSpLocks/>
          </p:cNvCxnSpPr>
          <p:nvPr/>
        </p:nvCxnSpPr>
        <p:spPr>
          <a:xfrm flipV="1">
            <a:off x="5560027" y="5493646"/>
            <a:ext cx="690523" cy="14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8D51978-6DC4-06B1-2E36-706793A6A39B}"/>
              </a:ext>
            </a:extLst>
          </p:cNvPr>
          <p:cNvSpPr txBox="1"/>
          <p:nvPr/>
        </p:nvSpPr>
        <p:spPr>
          <a:xfrm>
            <a:off x="4357037" y="6364670"/>
            <a:ext cx="15779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 features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711B9D-C7A7-771E-3178-809C131DFEC6}"/>
              </a:ext>
            </a:extLst>
          </p:cNvPr>
          <p:cNvSpPr txBox="1"/>
          <p:nvPr/>
        </p:nvSpPr>
        <p:spPr>
          <a:xfrm>
            <a:off x="5227137" y="5498652"/>
            <a:ext cx="1356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F9E3BE3-7AC6-49F8-0ED7-62FCCAB446DC}"/>
              </a:ext>
            </a:extLst>
          </p:cNvPr>
          <p:cNvCxnSpPr>
            <a:cxnSpLocks/>
            <a:stCxn id="24" idx="3"/>
            <a:endCxn id="25" idx="1"/>
          </p:cNvCxnSpPr>
          <p:nvPr/>
        </p:nvCxnSpPr>
        <p:spPr>
          <a:xfrm>
            <a:off x="753385" y="5516180"/>
            <a:ext cx="135191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468FCB93-F112-B616-533A-6461C7288F1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976" t="10927" r="11177" b="12059"/>
          <a:stretch/>
        </p:blipFill>
        <p:spPr>
          <a:xfrm>
            <a:off x="-674254" y="4590414"/>
            <a:ext cx="1427639" cy="18515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3D37EF00-6B66-22C6-0465-07FE233D5CE1}"/>
              </a:ext>
            </a:extLst>
          </p:cNvPr>
          <p:cNvSpPr/>
          <p:nvPr/>
        </p:nvSpPr>
        <p:spPr>
          <a:xfrm>
            <a:off x="2105299" y="5045475"/>
            <a:ext cx="1729425" cy="94140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NLP</a:t>
            </a:r>
          </a:p>
          <a:p>
            <a:pPr algn="ctr"/>
            <a:r>
              <a:rPr lang="en-US" dirty="0"/>
              <a:t>Encoder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FE3F0A0-8140-766C-F4A6-0F6E0A078D48}"/>
              </a:ext>
            </a:extLst>
          </p:cNvPr>
          <p:cNvCxnSpPr>
            <a:cxnSpLocks/>
          </p:cNvCxnSpPr>
          <p:nvPr/>
        </p:nvCxnSpPr>
        <p:spPr>
          <a:xfrm>
            <a:off x="3947863" y="5493646"/>
            <a:ext cx="87243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A28E977-9556-EB16-993E-19F837C083EC}"/>
              </a:ext>
            </a:extLst>
          </p:cNvPr>
          <p:cNvSpPr txBox="1"/>
          <p:nvPr/>
        </p:nvSpPr>
        <p:spPr>
          <a:xfrm>
            <a:off x="-437913" y="6464323"/>
            <a:ext cx="9549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B822F1A-C1B6-3F16-51C1-512585581AB2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753385" y="3345702"/>
            <a:ext cx="135191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7F7C039-48EC-BE61-47C4-9EA5ADC062F4}"/>
              </a:ext>
            </a:extLst>
          </p:cNvPr>
          <p:cNvCxnSpPr>
            <a:cxnSpLocks/>
          </p:cNvCxnSpPr>
          <p:nvPr/>
        </p:nvCxnSpPr>
        <p:spPr>
          <a:xfrm>
            <a:off x="3947863" y="3345702"/>
            <a:ext cx="87243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D83A3F5E-918C-32EB-D685-F20722905B50}"/>
              </a:ext>
            </a:extLst>
          </p:cNvPr>
          <p:cNvSpPr/>
          <p:nvPr/>
        </p:nvSpPr>
        <p:spPr>
          <a:xfrm>
            <a:off x="2105298" y="2901070"/>
            <a:ext cx="1729425" cy="941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CNN</a:t>
            </a:r>
          </a:p>
          <a:p>
            <a:pPr algn="ctr"/>
            <a:r>
              <a:rPr lang="en-US" dirty="0"/>
              <a:t>Encoder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748235-F06A-CCEF-12C2-434A606E95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74254" y="2614819"/>
            <a:ext cx="1427639" cy="1461765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D655D3A0-E84C-8AF8-AE3C-C6A73BEF6566}"/>
              </a:ext>
            </a:extLst>
          </p:cNvPr>
          <p:cNvSpPr txBox="1"/>
          <p:nvPr/>
        </p:nvSpPr>
        <p:spPr>
          <a:xfrm>
            <a:off x="-661388" y="4086870"/>
            <a:ext cx="1401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9A212625-1EBE-A028-C66A-02B4771FD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043" y="481191"/>
            <a:ext cx="5512969" cy="1325563"/>
          </a:xfrm>
        </p:spPr>
        <p:txBody>
          <a:bodyPr/>
          <a:lstStyle/>
          <a:p>
            <a:r>
              <a:rPr lang="en-US" dirty="0"/>
              <a:t>Late fusion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A80DF4C-77E3-9B6D-54BA-7AB2280ADD7A}"/>
              </a:ext>
            </a:extLst>
          </p:cNvPr>
          <p:cNvGraphicFramePr>
            <a:graphicFrameLocks noGrp="1"/>
          </p:cNvGraphicFramePr>
          <p:nvPr/>
        </p:nvGraphicFramePr>
        <p:xfrm>
          <a:off x="6441891" y="5238937"/>
          <a:ext cx="2343891" cy="522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3891">
                  <a:extLst>
                    <a:ext uri="{9D8B030D-6E8A-4147-A177-3AD203B41FA5}">
                      <a16:colId xmlns:a16="http://schemas.microsoft.com/office/drawing/2014/main" val="4002730172"/>
                    </a:ext>
                  </a:extLst>
                </a:gridCol>
              </a:tblGrid>
              <a:tr h="5227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P(outcome | data)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152605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28FC171-1616-5261-4F31-6ADA9A2B0E98}"/>
              </a:ext>
            </a:extLst>
          </p:cNvPr>
          <p:cNvGraphicFramePr>
            <a:graphicFrameLocks noGrp="1"/>
          </p:cNvGraphicFramePr>
          <p:nvPr/>
        </p:nvGraphicFramePr>
        <p:xfrm>
          <a:off x="6441891" y="873825"/>
          <a:ext cx="2343891" cy="522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3891">
                  <a:extLst>
                    <a:ext uri="{9D8B030D-6E8A-4147-A177-3AD203B41FA5}">
                      <a16:colId xmlns:a16="http://schemas.microsoft.com/office/drawing/2014/main" val="4002730172"/>
                    </a:ext>
                  </a:extLst>
                </a:gridCol>
              </a:tblGrid>
              <a:tr h="5227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P(outcome | data)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152605"/>
                  </a:ext>
                </a:extLst>
              </a:tr>
            </a:tbl>
          </a:graphicData>
        </a:graphic>
      </p:graphicFrame>
      <p:sp>
        <p:nvSpPr>
          <p:cNvPr id="4" name="Left Brace 3">
            <a:extLst>
              <a:ext uri="{FF2B5EF4-FFF2-40B4-BE49-F238E27FC236}">
                <a16:creationId xmlns:a16="http://schemas.microsoft.com/office/drawing/2014/main" id="{C9410120-117B-C276-7AE8-2AEFE3FE9410}"/>
              </a:ext>
            </a:extLst>
          </p:cNvPr>
          <p:cNvSpPr/>
          <p:nvPr/>
        </p:nvSpPr>
        <p:spPr>
          <a:xfrm rot="10800000">
            <a:off x="8961671" y="873825"/>
            <a:ext cx="329938" cy="4887884"/>
          </a:xfrm>
          <a:prstGeom prst="leftBrace">
            <a:avLst>
              <a:gd name="adj1" fmla="val 8333"/>
              <a:gd name="adj2" fmla="val 8220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8CB2A0-DBE5-920D-9E9D-1ACB70F4A072}"/>
              </a:ext>
            </a:extLst>
          </p:cNvPr>
          <p:cNvSpPr txBox="1"/>
          <p:nvPr/>
        </p:nvSpPr>
        <p:spPr>
          <a:xfrm>
            <a:off x="9291608" y="1546636"/>
            <a:ext cx="259559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aggregate predictions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Average</a:t>
            </a:r>
          </a:p>
          <a:p>
            <a:pPr marL="285750" indent="-285750">
              <a:buFontTx/>
              <a:buChar char="-"/>
            </a:pPr>
            <a:r>
              <a:rPr lang="en-US" dirty="0"/>
              <a:t>Max (e.g., MIL)</a:t>
            </a:r>
          </a:p>
          <a:p>
            <a:pPr marL="285750" indent="-285750">
              <a:buFontTx/>
              <a:buChar char="-"/>
            </a:pPr>
            <a:r>
              <a:rPr lang="en-US" dirty="0"/>
              <a:t>Meta-predictor (this is called </a:t>
            </a:r>
            <a:r>
              <a:rPr lang="en-US" i="1" dirty="0"/>
              <a:t>stacking</a:t>
            </a:r>
            <a:r>
              <a:rPr lang="en-US" dirty="0"/>
              <a:t>)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en-US" dirty="0"/>
              <a:t>(flexible approach but does require additional training, at which point joint fusion might be better)</a:t>
            </a:r>
          </a:p>
        </p:txBody>
      </p:sp>
    </p:spTree>
    <p:extLst>
      <p:ext uri="{BB962C8B-B14F-4D97-AF65-F5344CB8AC3E}">
        <p14:creationId xmlns:p14="http://schemas.microsoft.com/office/powerpoint/2010/main" val="1443184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479"/>
    </mc:Choice>
    <mc:Fallback xmlns="">
      <p:transition spd="slow" advTm="48479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8CAC4-61C7-77DD-565C-419C0C62B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3">
            <a:extLst>
              <a:ext uri="{FF2B5EF4-FFF2-40B4-BE49-F238E27FC236}">
                <a16:creationId xmlns:a16="http://schemas.microsoft.com/office/drawing/2014/main" id="{EF9DB2FE-44FE-2064-9A30-941B7121C29F}"/>
              </a:ext>
            </a:extLst>
          </p:cNvPr>
          <p:cNvGraphicFramePr>
            <a:graphicFrameLocks noGrp="1"/>
          </p:cNvGraphicFramePr>
          <p:nvPr/>
        </p:nvGraphicFramePr>
        <p:xfrm>
          <a:off x="4924546" y="260953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1C4C3FD-28BA-90B7-F9D1-679D14C7223B}"/>
              </a:ext>
            </a:extLst>
          </p:cNvPr>
          <p:cNvCxnSpPr>
            <a:cxnSpLocks/>
          </p:cNvCxnSpPr>
          <p:nvPr/>
        </p:nvCxnSpPr>
        <p:spPr>
          <a:xfrm flipV="1">
            <a:off x="5575479" y="1131977"/>
            <a:ext cx="690523" cy="14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2225A43-76C9-BAD5-9416-A73328B62D80}"/>
              </a:ext>
            </a:extLst>
          </p:cNvPr>
          <p:cNvSpPr txBox="1"/>
          <p:nvPr/>
        </p:nvSpPr>
        <p:spPr>
          <a:xfrm>
            <a:off x="4445081" y="2027034"/>
            <a:ext cx="1401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variables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F6E349-38B8-88F0-2AA4-F88DD63A76CE}"/>
              </a:ext>
            </a:extLst>
          </p:cNvPr>
          <p:cNvSpPr txBox="1"/>
          <p:nvPr/>
        </p:nvSpPr>
        <p:spPr>
          <a:xfrm>
            <a:off x="5242589" y="1136983"/>
            <a:ext cx="1356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</a:p>
        </p:txBody>
      </p:sp>
      <p:graphicFrame>
        <p:nvGraphicFramePr>
          <p:cNvPr id="9" name="Table 13">
            <a:extLst>
              <a:ext uri="{FF2B5EF4-FFF2-40B4-BE49-F238E27FC236}">
                <a16:creationId xmlns:a16="http://schemas.microsoft.com/office/drawing/2014/main" id="{B6B5BA4C-7402-2520-B7FE-3D5BB47AE30F}"/>
              </a:ext>
            </a:extLst>
          </p:cNvPr>
          <p:cNvGraphicFramePr>
            <a:graphicFrameLocks noGrp="1"/>
          </p:cNvGraphicFramePr>
          <p:nvPr/>
        </p:nvGraphicFramePr>
        <p:xfrm>
          <a:off x="4924546" y="2474678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80F1334-B351-0498-41E0-7A97C78CD8A0}"/>
              </a:ext>
            </a:extLst>
          </p:cNvPr>
          <p:cNvGraphicFramePr>
            <a:graphicFrameLocks noGrp="1"/>
          </p:cNvGraphicFramePr>
          <p:nvPr/>
        </p:nvGraphicFramePr>
        <p:xfrm>
          <a:off x="6441891" y="3089220"/>
          <a:ext cx="2343891" cy="522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3891">
                  <a:extLst>
                    <a:ext uri="{9D8B030D-6E8A-4147-A177-3AD203B41FA5}">
                      <a16:colId xmlns:a16="http://schemas.microsoft.com/office/drawing/2014/main" val="4002730172"/>
                    </a:ext>
                  </a:extLst>
                </a:gridCol>
              </a:tblGrid>
              <a:tr h="5227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P(outcome | data)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152605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E0CC344-9B28-3D91-1325-03E783CE6F86}"/>
              </a:ext>
            </a:extLst>
          </p:cNvPr>
          <p:cNvCxnSpPr>
            <a:cxnSpLocks/>
          </p:cNvCxnSpPr>
          <p:nvPr/>
        </p:nvCxnSpPr>
        <p:spPr>
          <a:xfrm flipV="1">
            <a:off x="5575479" y="3345702"/>
            <a:ext cx="690523" cy="14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30E205F-6954-036F-2A64-8639A3C33A13}"/>
              </a:ext>
            </a:extLst>
          </p:cNvPr>
          <p:cNvSpPr txBox="1"/>
          <p:nvPr/>
        </p:nvSpPr>
        <p:spPr>
          <a:xfrm>
            <a:off x="4445081" y="4240759"/>
            <a:ext cx="1401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features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93AD6F-4828-9F7C-8B6A-F407FE644B32}"/>
              </a:ext>
            </a:extLst>
          </p:cNvPr>
          <p:cNvSpPr txBox="1"/>
          <p:nvPr/>
        </p:nvSpPr>
        <p:spPr>
          <a:xfrm>
            <a:off x="5242589" y="3350708"/>
            <a:ext cx="1356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</a:p>
        </p:txBody>
      </p:sp>
      <p:graphicFrame>
        <p:nvGraphicFramePr>
          <p:cNvPr id="16" name="Table 13">
            <a:extLst>
              <a:ext uri="{FF2B5EF4-FFF2-40B4-BE49-F238E27FC236}">
                <a16:creationId xmlns:a16="http://schemas.microsoft.com/office/drawing/2014/main" id="{88982548-26D7-8DEF-796C-BF1CD04DE0DA}"/>
              </a:ext>
            </a:extLst>
          </p:cNvPr>
          <p:cNvGraphicFramePr>
            <a:graphicFrameLocks noGrp="1"/>
          </p:cNvGraphicFramePr>
          <p:nvPr/>
        </p:nvGraphicFramePr>
        <p:xfrm>
          <a:off x="4909094" y="4622622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B5856AD-190A-3B66-68DE-538E7AB0DD48}"/>
              </a:ext>
            </a:extLst>
          </p:cNvPr>
          <p:cNvCxnSpPr>
            <a:cxnSpLocks/>
          </p:cNvCxnSpPr>
          <p:nvPr/>
        </p:nvCxnSpPr>
        <p:spPr>
          <a:xfrm flipV="1">
            <a:off x="5560027" y="5493646"/>
            <a:ext cx="690523" cy="14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317E2C9-4080-B19D-14E7-C4C8D977B327}"/>
              </a:ext>
            </a:extLst>
          </p:cNvPr>
          <p:cNvSpPr txBox="1"/>
          <p:nvPr/>
        </p:nvSpPr>
        <p:spPr>
          <a:xfrm>
            <a:off x="4357037" y="6364670"/>
            <a:ext cx="15779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 features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36D2C9-F028-0185-A941-18229757AF6B}"/>
              </a:ext>
            </a:extLst>
          </p:cNvPr>
          <p:cNvSpPr txBox="1"/>
          <p:nvPr/>
        </p:nvSpPr>
        <p:spPr>
          <a:xfrm>
            <a:off x="5227137" y="5498652"/>
            <a:ext cx="1356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E3F5C9D-A35F-8CF1-7A77-AD2117AE0DBD}"/>
              </a:ext>
            </a:extLst>
          </p:cNvPr>
          <p:cNvCxnSpPr>
            <a:cxnSpLocks/>
            <a:stCxn id="24" idx="3"/>
            <a:endCxn id="25" idx="1"/>
          </p:cNvCxnSpPr>
          <p:nvPr/>
        </p:nvCxnSpPr>
        <p:spPr>
          <a:xfrm>
            <a:off x="753385" y="5516180"/>
            <a:ext cx="135191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04E8665A-2FB6-91B5-44EA-DFB20147C33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976" t="10927" r="11177" b="12059"/>
          <a:stretch/>
        </p:blipFill>
        <p:spPr>
          <a:xfrm>
            <a:off x="-674254" y="4590414"/>
            <a:ext cx="1427639" cy="18515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31B50083-D0AD-4399-3C04-0926F2285B2F}"/>
              </a:ext>
            </a:extLst>
          </p:cNvPr>
          <p:cNvSpPr/>
          <p:nvPr/>
        </p:nvSpPr>
        <p:spPr>
          <a:xfrm>
            <a:off x="2105299" y="5045475"/>
            <a:ext cx="1729425" cy="94140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NLP</a:t>
            </a:r>
          </a:p>
          <a:p>
            <a:pPr algn="ctr"/>
            <a:r>
              <a:rPr lang="en-US" dirty="0"/>
              <a:t>Encoder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78A6A29-E63C-7A68-B046-5130FA696213}"/>
              </a:ext>
            </a:extLst>
          </p:cNvPr>
          <p:cNvCxnSpPr>
            <a:cxnSpLocks/>
          </p:cNvCxnSpPr>
          <p:nvPr/>
        </p:nvCxnSpPr>
        <p:spPr>
          <a:xfrm>
            <a:off x="3947863" y="5493646"/>
            <a:ext cx="87243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8C7A54A-AD84-0C41-FB57-1AC124FCE447}"/>
              </a:ext>
            </a:extLst>
          </p:cNvPr>
          <p:cNvSpPr txBox="1"/>
          <p:nvPr/>
        </p:nvSpPr>
        <p:spPr>
          <a:xfrm>
            <a:off x="-437913" y="6464323"/>
            <a:ext cx="9549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0B5A558-6A9D-E426-B64E-7548596A03F5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753385" y="3345702"/>
            <a:ext cx="135191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489AB73-6105-77F7-DD76-3AB9CD8B9EDD}"/>
              </a:ext>
            </a:extLst>
          </p:cNvPr>
          <p:cNvCxnSpPr>
            <a:cxnSpLocks/>
          </p:cNvCxnSpPr>
          <p:nvPr/>
        </p:nvCxnSpPr>
        <p:spPr>
          <a:xfrm>
            <a:off x="3947863" y="3345702"/>
            <a:ext cx="87243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50C41C05-57AC-D749-D4F0-D19731F67ACD}"/>
              </a:ext>
            </a:extLst>
          </p:cNvPr>
          <p:cNvSpPr/>
          <p:nvPr/>
        </p:nvSpPr>
        <p:spPr>
          <a:xfrm>
            <a:off x="2105298" y="2901070"/>
            <a:ext cx="1729425" cy="941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CNN</a:t>
            </a:r>
          </a:p>
          <a:p>
            <a:pPr algn="ctr"/>
            <a:r>
              <a:rPr lang="en-US" dirty="0"/>
              <a:t>Encoder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8B9B13-8CBE-B25B-6C61-6148AC370E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74254" y="2614819"/>
            <a:ext cx="1427639" cy="1461765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8F40CC7A-9049-9757-2315-98EA063A9F21}"/>
              </a:ext>
            </a:extLst>
          </p:cNvPr>
          <p:cNvSpPr txBox="1"/>
          <p:nvPr/>
        </p:nvSpPr>
        <p:spPr>
          <a:xfrm>
            <a:off x="-661388" y="4086870"/>
            <a:ext cx="1401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4418A75E-2513-0FFA-F69A-C5B50AF18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043" y="481191"/>
            <a:ext cx="5512969" cy="1325563"/>
          </a:xfrm>
        </p:spPr>
        <p:txBody>
          <a:bodyPr/>
          <a:lstStyle/>
          <a:p>
            <a:r>
              <a:rPr lang="en-US" dirty="0"/>
              <a:t>Late fusion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2F54601-F8E0-DAAC-5725-3F0B87DC9C38}"/>
              </a:ext>
            </a:extLst>
          </p:cNvPr>
          <p:cNvGraphicFramePr>
            <a:graphicFrameLocks noGrp="1"/>
          </p:cNvGraphicFramePr>
          <p:nvPr/>
        </p:nvGraphicFramePr>
        <p:xfrm>
          <a:off x="6441891" y="5238937"/>
          <a:ext cx="2343891" cy="522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3891">
                  <a:extLst>
                    <a:ext uri="{9D8B030D-6E8A-4147-A177-3AD203B41FA5}">
                      <a16:colId xmlns:a16="http://schemas.microsoft.com/office/drawing/2014/main" val="4002730172"/>
                    </a:ext>
                  </a:extLst>
                </a:gridCol>
              </a:tblGrid>
              <a:tr h="5227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P(outcome | data)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152605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1961005-0F57-CA91-A9D9-6FFD1B72F541}"/>
              </a:ext>
            </a:extLst>
          </p:cNvPr>
          <p:cNvGraphicFramePr>
            <a:graphicFrameLocks noGrp="1"/>
          </p:cNvGraphicFramePr>
          <p:nvPr/>
        </p:nvGraphicFramePr>
        <p:xfrm>
          <a:off x="6441891" y="873825"/>
          <a:ext cx="2343891" cy="522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3891">
                  <a:extLst>
                    <a:ext uri="{9D8B030D-6E8A-4147-A177-3AD203B41FA5}">
                      <a16:colId xmlns:a16="http://schemas.microsoft.com/office/drawing/2014/main" val="4002730172"/>
                    </a:ext>
                  </a:extLst>
                </a:gridCol>
              </a:tblGrid>
              <a:tr h="5227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P(outcome | data)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152605"/>
                  </a:ext>
                </a:extLst>
              </a:tr>
            </a:tbl>
          </a:graphicData>
        </a:graphic>
      </p:graphicFrame>
      <p:sp>
        <p:nvSpPr>
          <p:cNvPr id="4" name="Left Brace 3">
            <a:extLst>
              <a:ext uri="{FF2B5EF4-FFF2-40B4-BE49-F238E27FC236}">
                <a16:creationId xmlns:a16="http://schemas.microsoft.com/office/drawing/2014/main" id="{45CB0E17-C0AE-2556-E55B-5EACB8A6C5FF}"/>
              </a:ext>
            </a:extLst>
          </p:cNvPr>
          <p:cNvSpPr/>
          <p:nvPr/>
        </p:nvSpPr>
        <p:spPr>
          <a:xfrm rot="10800000">
            <a:off x="8961671" y="873825"/>
            <a:ext cx="329938" cy="4887884"/>
          </a:xfrm>
          <a:prstGeom prst="leftBrace">
            <a:avLst>
              <a:gd name="adj1" fmla="val 8333"/>
              <a:gd name="adj2" fmla="val 8220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53C207-3DB0-4444-C212-A10798213B0F}"/>
              </a:ext>
            </a:extLst>
          </p:cNvPr>
          <p:cNvSpPr txBox="1"/>
          <p:nvPr/>
        </p:nvSpPr>
        <p:spPr>
          <a:xfrm>
            <a:off x="9291608" y="1546636"/>
            <a:ext cx="259559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aggregate predictions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Average</a:t>
            </a:r>
          </a:p>
          <a:p>
            <a:pPr marL="285750" indent="-285750">
              <a:buFontTx/>
              <a:buChar char="-"/>
            </a:pPr>
            <a:r>
              <a:rPr lang="en-US" dirty="0"/>
              <a:t>Max (e.g., MIL)</a:t>
            </a:r>
          </a:p>
          <a:p>
            <a:pPr marL="285750" indent="-285750">
              <a:buFontTx/>
              <a:buChar char="-"/>
            </a:pPr>
            <a:r>
              <a:rPr lang="en-US" dirty="0"/>
              <a:t>Meta-predictor (this is called </a:t>
            </a:r>
            <a:r>
              <a:rPr lang="en-US" i="1" dirty="0"/>
              <a:t>stacking</a:t>
            </a:r>
            <a:r>
              <a:rPr lang="en-US" dirty="0"/>
              <a:t>)</a:t>
            </a:r>
          </a:p>
          <a:p>
            <a:pPr marL="285750" indent="-285750">
              <a:buFontTx/>
              <a:buChar char="-"/>
            </a:pPr>
            <a:r>
              <a:rPr lang="en-US" dirty="0"/>
              <a:t>Bayesian fusion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en-US" dirty="0"/>
              <a:t>(incorporates uncertainty about outcome from each modality when aggregating; this is beyond our scope)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059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479"/>
    </mc:Choice>
    <mc:Fallback xmlns="">
      <p:transition spd="slow" advTm="48479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42BA0-D445-0F78-4EC9-EF377EB62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BB1AD-8626-D12F-4DBD-AA24F9180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Joint fusion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45BA24-7788-9E99-ECD6-8F601335BB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2909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22A21-FC5D-9018-8989-94218FE94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3">
            <a:extLst>
              <a:ext uri="{FF2B5EF4-FFF2-40B4-BE49-F238E27FC236}">
                <a16:creationId xmlns:a16="http://schemas.microsoft.com/office/drawing/2014/main" id="{77336BD4-79B2-5F8F-8FF9-68A6A72BCAED}"/>
              </a:ext>
            </a:extLst>
          </p:cNvPr>
          <p:cNvGraphicFramePr>
            <a:graphicFrameLocks noGrp="1"/>
          </p:cNvGraphicFramePr>
          <p:nvPr/>
        </p:nvGraphicFramePr>
        <p:xfrm>
          <a:off x="7941122" y="260953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BB0ADAB-5ACB-104A-4033-A2EC123EE790}"/>
              </a:ext>
            </a:extLst>
          </p:cNvPr>
          <p:cNvCxnSpPr>
            <a:cxnSpLocks/>
          </p:cNvCxnSpPr>
          <p:nvPr/>
        </p:nvCxnSpPr>
        <p:spPr>
          <a:xfrm flipV="1">
            <a:off x="8592055" y="1131977"/>
            <a:ext cx="690523" cy="14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61C2B9FA-15FD-874E-FD28-51FDF2FC485E}"/>
              </a:ext>
            </a:extLst>
          </p:cNvPr>
          <p:cNvSpPr txBox="1"/>
          <p:nvPr/>
        </p:nvSpPr>
        <p:spPr>
          <a:xfrm>
            <a:off x="7461657" y="2027034"/>
            <a:ext cx="1401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variables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0DED21-5A82-FE7D-0D2E-137ACCE13EB7}"/>
              </a:ext>
            </a:extLst>
          </p:cNvPr>
          <p:cNvSpPr txBox="1"/>
          <p:nvPr/>
        </p:nvSpPr>
        <p:spPr>
          <a:xfrm>
            <a:off x="8259165" y="1136983"/>
            <a:ext cx="1356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</a:p>
        </p:txBody>
      </p:sp>
      <p:graphicFrame>
        <p:nvGraphicFramePr>
          <p:cNvPr id="9" name="Table 13">
            <a:extLst>
              <a:ext uri="{FF2B5EF4-FFF2-40B4-BE49-F238E27FC236}">
                <a16:creationId xmlns:a16="http://schemas.microsoft.com/office/drawing/2014/main" id="{B66DDBF6-4ACC-CC36-1C6B-5E9360FBFA4E}"/>
              </a:ext>
            </a:extLst>
          </p:cNvPr>
          <p:cNvGraphicFramePr>
            <a:graphicFrameLocks noGrp="1"/>
          </p:cNvGraphicFramePr>
          <p:nvPr/>
        </p:nvGraphicFramePr>
        <p:xfrm>
          <a:off x="7941122" y="2474678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BA258C7-C8C5-3371-C78D-4EAAA622958A}"/>
              </a:ext>
            </a:extLst>
          </p:cNvPr>
          <p:cNvGraphicFramePr>
            <a:graphicFrameLocks noGrp="1"/>
          </p:cNvGraphicFramePr>
          <p:nvPr/>
        </p:nvGraphicFramePr>
        <p:xfrm>
          <a:off x="9458467" y="3089220"/>
          <a:ext cx="2343891" cy="522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3891">
                  <a:extLst>
                    <a:ext uri="{9D8B030D-6E8A-4147-A177-3AD203B41FA5}">
                      <a16:colId xmlns:a16="http://schemas.microsoft.com/office/drawing/2014/main" val="4002730172"/>
                    </a:ext>
                  </a:extLst>
                </a:gridCol>
              </a:tblGrid>
              <a:tr h="5227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P(outcome | data)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152605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36F9FF7-5FFF-9B99-E512-EA7D601800DC}"/>
              </a:ext>
            </a:extLst>
          </p:cNvPr>
          <p:cNvCxnSpPr>
            <a:cxnSpLocks/>
          </p:cNvCxnSpPr>
          <p:nvPr/>
        </p:nvCxnSpPr>
        <p:spPr>
          <a:xfrm flipV="1">
            <a:off x="8592055" y="3345702"/>
            <a:ext cx="690523" cy="14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22ECCB9-0FCE-845A-AE15-1574974B3BD5}"/>
              </a:ext>
            </a:extLst>
          </p:cNvPr>
          <p:cNvSpPr txBox="1"/>
          <p:nvPr/>
        </p:nvSpPr>
        <p:spPr>
          <a:xfrm>
            <a:off x="7461657" y="4240759"/>
            <a:ext cx="1401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features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635E2A-63A1-173A-BD1F-E63A874CEE8D}"/>
              </a:ext>
            </a:extLst>
          </p:cNvPr>
          <p:cNvSpPr txBox="1"/>
          <p:nvPr/>
        </p:nvSpPr>
        <p:spPr>
          <a:xfrm>
            <a:off x="8259165" y="3350708"/>
            <a:ext cx="1356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</a:p>
        </p:txBody>
      </p:sp>
      <p:graphicFrame>
        <p:nvGraphicFramePr>
          <p:cNvPr id="16" name="Table 13">
            <a:extLst>
              <a:ext uri="{FF2B5EF4-FFF2-40B4-BE49-F238E27FC236}">
                <a16:creationId xmlns:a16="http://schemas.microsoft.com/office/drawing/2014/main" id="{1F45E71E-D89B-A00D-F089-A13286266034}"/>
              </a:ext>
            </a:extLst>
          </p:cNvPr>
          <p:cNvGraphicFramePr>
            <a:graphicFrameLocks noGrp="1"/>
          </p:cNvGraphicFramePr>
          <p:nvPr/>
        </p:nvGraphicFramePr>
        <p:xfrm>
          <a:off x="7925670" y="4622622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9B7CCFD-2E25-A81B-74A8-D190607543BE}"/>
              </a:ext>
            </a:extLst>
          </p:cNvPr>
          <p:cNvCxnSpPr>
            <a:cxnSpLocks/>
          </p:cNvCxnSpPr>
          <p:nvPr/>
        </p:nvCxnSpPr>
        <p:spPr>
          <a:xfrm flipV="1">
            <a:off x="8576603" y="5493646"/>
            <a:ext cx="690523" cy="14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AFE79A5-640F-35F5-2D61-2E65AB17D57B}"/>
              </a:ext>
            </a:extLst>
          </p:cNvPr>
          <p:cNvSpPr txBox="1"/>
          <p:nvPr/>
        </p:nvSpPr>
        <p:spPr>
          <a:xfrm>
            <a:off x="7373613" y="6364670"/>
            <a:ext cx="15779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 features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09E283-6EA5-5162-5AE4-2EF7BCF8E1D5}"/>
              </a:ext>
            </a:extLst>
          </p:cNvPr>
          <p:cNvSpPr txBox="1"/>
          <p:nvPr/>
        </p:nvSpPr>
        <p:spPr>
          <a:xfrm>
            <a:off x="8243713" y="5498652"/>
            <a:ext cx="1356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E7B606E-1C3D-42E5-AAAA-85C0D3B88178}"/>
              </a:ext>
            </a:extLst>
          </p:cNvPr>
          <p:cNvCxnSpPr>
            <a:cxnSpLocks/>
            <a:stCxn id="24" idx="3"/>
            <a:endCxn id="25" idx="1"/>
          </p:cNvCxnSpPr>
          <p:nvPr/>
        </p:nvCxnSpPr>
        <p:spPr>
          <a:xfrm>
            <a:off x="3769961" y="5516180"/>
            <a:ext cx="135191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12110914-7B46-79CB-62AF-3211729D2E6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976" t="10927" r="11177" b="12059"/>
          <a:stretch/>
        </p:blipFill>
        <p:spPr>
          <a:xfrm>
            <a:off x="2342322" y="4590414"/>
            <a:ext cx="1427639" cy="18515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91088066-5265-6F5B-7573-D6850CA3F0C6}"/>
              </a:ext>
            </a:extLst>
          </p:cNvPr>
          <p:cNvSpPr/>
          <p:nvPr/>
        </p:nvSpPr>
        <p:spPr>
          <a:xfrm>
            <a:off x="5121875" y="5045475"/>
            <a:ext cx="1729425" cy="94140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NLP</a:t>
            </a:r>
          </a:p>
          <a:p>
            <a:pPr algn="ctr"/>
            <a:r>
              <a:rPr lang="en-US" dirty="0"/>
              <a:t>Encoder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674466C-6A8A-D4DC-F1DF-505615CAC700}"/>
              </a:ext>
            </a:extLst>
          </p:cNvPr>
          <p:cNvCxnSpPr>
            <a:cxnSpLocks/>
          </p:cNvCxnSpPr>
          <p:nvPr/>
        </p:nvCxnSpPr>
        <p:spPr>
          <a:xfrm>
            <a:off x="6964439" y="5493646"/>
            <a:ext cx="87243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2D1CFF3-5431-A5C7-81B0-E510C2F71057}"/>
              </a:ext>
            </a:extLst>
          </p:cNvPr>
          <p:cNvSpPr txBox="1"/>
          <p:nvPr/>
        </p:nvSpPr>
        <p:spPr>
          <a:xfrm>
            <a:off x="2578663" y="6464323"/>
            <a:ext cx="9549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3D9266E-6707-F3B6-E43A-F0A96DD9A811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769961" y="3345702"/>
            <a:ext cx="135191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EFD3461-E586-1365-8FAB-28EA3A7F26CD}"/>
              </a:ext>
            </a:extLst>
          </p:cNvPr>
          <p:cNvCxnSpPr>
            <a:cxnSpLocks/>
          </p:cNvCxnSpPr>
          <p:nvPr/>
        </p:nvCxnSpPr>
        <p:spPr>
          <a:xfrm>
            <a:off x="6964439" y="3345702"/>
            <a:ext cx="87243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1B9E1A26-570E-3F57-B132-0E0F3E5D15E9}"/>
              </a:ext>
            </a:extLst>
          </p:cNvPr>
          <p:cNvSpPr/>
          <p:nvPr/>
        </p:nvSpPr>
        <p:spPr>
          <a:xfrm>
            <a:off x="5121874" y="2901070"/>
            <a:ext cx="1729425" cy="941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CNN</a:t>
            </a:r>
          </a:p>
          <a:p>
            <a:pPr algn="ctr"/>
            <a:r>
              <a:rPr lang="en-US" dirty="0"/>
              <a:t>Encoder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E06E1C-F966-BEE6-21F0-FF047798E4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2322" y="2614819"/>
            <a:ext cx="1427639" cy="1461765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A2CC406A-6ECD-FEF0-02C7-8E76B5699CBB}"/>
              </a:ext>
            </a:extLst>
          </p:cNvPr>
          <p:cNvSpPr txBox="1"/>
          <p:nvPr/>
        </p:nvSpPr>
        <p:spPr>
          <a:xfrm>
            <a:off x="2355188" y="4086870"/>
            <a:ext cx="1401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A8B5A5BD-87AD-F823-8179-3E37E629D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390" y="332481"/>
            <a:ext cx="4132904" cy="1325563"/>
          </a:xfrm>
        </p:spPr>
        <p:txBody>
          <a:bodyPr>
            <a:normAutofit/>
          </a:bodyPr>
          <a:lstStyle/>
          <a:p>
            <a:r>
              <a:rPr lang="en-US" dirty="0"/>
              <a:t>Separate models -&gt; Joint fusion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7EA06F1-17C2-A1FF-EC95-A0C97E613903}"/>
              </a:ext>
            </a:extLst>
          </p:cNvPr>
          <p:cNvGraphicFramePr>
            <a:graphicFrameLocks noGrp="1"/>
          </p:cNvGraphicFramePr>
          <p:nvPr/>
        </p:nvGraphicFramePr>
        <p:xfrm>
          <a:off x="9458467" y="5238937"/>
          <a:ext cx="2343891" cy="522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3891">
                  <a:extLst>
                    <a:ext uri="{9D8B030D-6E8A-4147-A177-3AD203B41FA5}">
                      <a16:colId xmlns:a16="http://schemas.microsoft.com/office/drawing/2014/main" val="4002730172"/>
                    </a:ext>
                  </a:extLst>
                </a:gridCol>
              </a:tblGrid>
              <a:tr h="5227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P(outcome | data)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152605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CDA2F39-10F4-1B39-9BEA-5F86A7665BCB}"/>
              </a:ext>
            </a:extLst>
          </p:cNvPr>
          <p:cNvGraphicFramePr>
            <a:graphicFrameLocks noGrp="1"/>
          </p:cNvGraphicFramePr>
          <p:nvPr/>
        </p:nvGraphicFramePr>
        <p:xfrm>
          <a:off x="9458467" y="873825"/>
          <a:ext cx="2343891" cy="522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3891">
                  <a:extLst>
                    <a:ext uri="{9D8B030D-6E8A-4147-A177-3AD203B41FA5}">
                      <a16:colId xmlns:a16="http://schemas.microsoft.com/office/drawing/2014/main" val="4002730172"/>
                    </a:ext>
                  </a:extLst>
                </a:gridCol>
              </a:tblGrid>
              <a:tr h="5227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P(outcome | data)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1526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7864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479"/>
    </mc:Choice>
    <mc:Fallback xmlns="">
      <p:transition spd="slow" advTm="48479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E1FAC8BA-4E0B-8546-91E3-DB4FD3DE1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68" y="221171"/>
            <a:ext cx="6672467" cy="1591351"/>
          </a:xfrm>
        </p:spPr>
        <p:txBody>
          <a:bodyPr/>
          <a:lstStyle/>
          <a:p>
            <a:r>
              <a:rPr lang="en-US" dirty="0"/>
              <a:t>Joint fusion by feature concatenation</a:t>
            </a:r>
          </a:p>
        </p:txBody>
      </p:sp>
      <p:graphicFrame>
        <p:nvGraphicFramePr>
          <p:cNvPr id="12" name="Table 13">
            <a:extLst>
              <a:ext uri="{FF2B5EF4-FFF2-40B4-BE49-F238E27FC236}">
                <a16:creationId xmlns:a16="http://schemas.microsoft.com/office/drawing/2014/main" id="{66DE0EB4-5271-E145-8A0D-9F253C4AA1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5178596"/>
              </p:ext>
            </p:extLst>
          </p:nvPr>
        </p:nvGraphicFramePr>
        <p:xfrm>
          <a:off x="7884561" y="737636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graphicFrame>
        <p:nvGraphicFramePr>
          <p:cNvPr id="9" name="Table 13">
            <a:extLst>
              <a:ext uri="{FF2B5EF4-FFF2-40B4-BE49-F238E27FC236}">
                <a16:creationId xmlns:a16="http://schemas.microsoft.com/office/drawing/2014/main" id="{746AD1A7-A8CE-B04A-AC5B-3670F8BE0D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4644147"/>
              </p:ext>
            </p:extLst>
          </p:nvPr>
        </p:nvGraphicFramePr>
        <p:xfrm>
          <a:off x="7884561" y="2474678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7F4FB97-E33B-AA44-94E1-17E5647B4662}"/>
              </a:ext>
            </a:extLst>
          </p:cNvPr>
          <p:cNvCxnSpPr>
            <a:cxnSpLocks/>
          </p:cNvCxnSpPr>
          <p:nvPr/>
        </p:nvCxnSpPr>
        <p:spPr>
          <a:xfrm flipV="1">
            <a:off x="8535494" y="3345702"/>
            <a:ext cx="690523" cy="14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068B05A-3B90-0B48-BA3D-E339296AD7AA}"/>
              </a:ext>
            </a:extLst>
          </p:cNvPr>
          <p:cNvSpPr txBox="1"/>
          <p:nvPr/>
        </p:nvSpPr>
        <p:spPr>
          <a:xfrm>
            <a:off x="8202604" y="3350708"/>
            <a:ext cx="1356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</a:p>
        </p:txBody>
      </p:sp>
      <p:graphicFrame>
        <p:nvGraphicFramePr>
          <p:cNvPr id="16" name="Table 13">
            <a:extLst>
              <a:ext uri="{FF2B5EF4-FFF2-40B4-BE49-F238E27FC236}">
                <a16:creationId xmlns:a16="http://schemas.microsoft.com/office/drawing/2014/main" id="{AB988508-78BB-F84A-851B-C1F7A549B7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423609"/>
              </p:ext>
            </p:extLst>
          </p:nvPr>
        </p:nvGraphicFramePr>
        <p:xfrm>
          <a:off x="7884559" y="4218269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DB0E48F9-4EF4-1E44-818A-008E9B5007DE}"/>
              </a:ext>
            </a:extLst>
          </p:cNvPr>
          <p:cNvSpPr txBox="1"/>
          <p:nvPr/>
        </p:nvSpPr>
        <p:spPr>
          <a:xfrm>
            <a:off x="7317051" y="6072614"/>
            <a:ext cx="15779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concatenated, multi-modal features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99D15D1-E5B8-8A4A-B14D-A552AF8EC658}"/>
              </a:ext>
            </a:extLst>
          </p:cNvPr>
          <p:cNvCxnSpPr>
            <a:cxnSpLocks/>
            <a:stCxn id="24" idx="3"/>
            <a:endCxn id="25" idx="1"/>
          </p:cNvCxnSpPr>
          <p:nvPr/>
        </p:nvCxnSpPr>
        <p:spPr>
          <a:xfrm>
            <a:off x="3713400" y="5516180"/>
            <a:ext cx="135191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5A12126E-7EBD-954C-8299-8B118E3FC41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976" t="10927" r="11177" b="12059"/>
          <a:stretch/>
        </p:blipFill>
        <p:spPr>
          <a:xfrm>
            <a:off x="2285761" y="4590414"/>
            <a:ext cx="1427639" cy="18515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4C309093-0E21-4D4F-BE06-75B99E7D29B9}"/>
              </a:ext>
            </a:extLst>
          </p:cNvPr>
          <p:cNvSpPr/>
          <p:nvPr/>
        </p:nvSpPr>
        <p:spPr>
          <a:xfrm>
            <a:off x="5065314" y="5045475"/>
            <a:ext cx="1729425" cy="94140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NLP</a:t>
            </a:r>
          </a:p>
          <a:p>
            <a:pPr algn="ctr"/>
            <a:r>
              <a:rPr lang="en-US" dirty="0"/>
              <a:t>Encoder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F45BFD6-0CBF-9842-A1F5-3BE048C3FCEA}"/>
              </a:ext>
            </a:extLst>
          </p:cNvPr>
          <p:cNvCxnSpPr>
            <a:cxnSpLocks/>
          </p:cNvCxnSpPr>
          <p:nvPr/>
        </p:nvCxnSpPr>
        <p:spPr>
          <a:xfrm flipV="1">
            <a:off x="6907878" y="5089293"/>
            <a:ext cx="872438" cy="4043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CBB8291-5B14-B047-BE26-91988F66D549}"/>
              </a:ext>
            </a:extLst>
          </p:cNvPr>
          <p:cNvSpPr txBox="1"/>
          <p:nvPr/>
        </p:nvSpPr>
        <p:spPr>
          <a:xfrm>
            <a:off x="2522102" y="6464323"/>
            <a:ext cx="9549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7E107A1-9D4E-C944-9AC7-C01A699C0805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713400" y="3345702"/>
            <a:ext cx="135191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D45898F-E116-994B-9529-1300831A2303}"/>
              </a:ext>
            </a:extLst>
          </p:cNvPr>
          <p:cNvCxnSpPr>
            <a:cxnSpLocks/>
          </p:cNvCxnSpPr>
          <p:nvPr/>
        </p:nvCxnSpPr>
        <p:spPr>
          <a:xfrm>
            <a:off x="6907878" y="3345702"/>
            <a:ext cx="87243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148725C9-17B3-D84E-A6DC-ECCF2CD51CE5}"/>
              </a:ext>
            </a:extLst>
          </p:cNvPr>
          <p:cNvSpPr/>
          <p:nvPr/>
        </p:nvSpPr>
        <p:spPr>
          <a:xfrm>
            <a:off x="5065313" y="2901070"/>
            <a:ext cx="1729425" cy="941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CNN</a:t>
            </a:r>
          </a:p>
          <a:p>
            <a:pPr algn="ctr"/>
            <a:r>
              <a:rPr lang="en-US" dirty="0"/>
              <a:t>Encoder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2900C6-26A5-4F44-BA06-071D9E41C0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5761" y="2614819"/>
            <a:ext cx="1427639" cy="1461765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DB9491BB-25CA-834B-A7FF-4828D4B79ECA}"/>
              </a:ext>
            </a:extLst>
          </p:cNvPr>
          <p:cNvSpPr txBox="1"/>
          <p:nvPr/>
        </p:nvSpPr>
        <p:spPr>
          <a:xfrm>
            <a:off x="2298627" y="4086870"/>
            <a:ext cx="1401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2B94FBE-5390-AA04-48BA-960209D30B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07831"/>
              </p:ext>
            </p:extLst>
          </p:nvPr>
        </p:nvGraphicFramePr>
        <p:xfrm>
          <a:off x="9417360" y="3084315"/>
          <a:ext cx="2343891" cy="522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3891">
                  <a:extLst>
                    <a:ext uri="{9D8B030D-6E8A-4147-A177-3AD203B41FA5}">
                      <a16:colId xmlns:a16="http://schemas.microsoft.com/office/drawing/2014/main" val="4002730172"/>
                    </a:ext>
                  </a:extLst>
                </a:gridCol>
              </a:tblGrid>
              <a:tr h="5227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P(outcome | data)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1526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2738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188"/>
    </mc:Choice>
    <mc:Fallback xmlns="">
      <p:transition spd="slow" advTm="34188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F813D-1B3D-2D67-775D-AC40F099A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8CFD0196-2FFB-3970-FF86-D24C8DA14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68" y="221171"/>
            <a:ext cx="6672467" cy="1591351"/>
          </a:xfrm>
        </p:spPr>
        <p:txBody>
          <a:bodyPr/>
          <a:lstStyle/>
          <a:p>
            <a:r>
              <a:rPr lang="en-US" dirty="0"/>
              <a:t>Joint fusion by feature concatenation</a:t>
            </a:r>
          </a:p>
        </p:txBody>
      </p:sp>
      <p:graphicFrame>
        <p:nvGraphicFramePr>
          <p:cNvPr id="12" name="Table 13">
            <a:extLst>
              <a:ext uri="{FF2B5EF4-FFF2-40B4-BE49-F238E27FC236}">
                <a16:creationId xmlns:a16="http://schemas.microsoft.com/office/drawing/2014/main" id="{537725EC-B56A-BB5F-17EC-84EE2EE19E2F}"/>
              </a:ext>
            </a:extLst>
          </p:cNvPr>
          <p:cNvGraphicFramePr>
            <a:graphicFrameLocks noGrp="1"/>
          </p:cNvGraphicFramePr>
          <p:nvPr/>
        </p:nvGraphicFramePr>
        <p:xfrm>
          <a:off x="7884561" y="737636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graphicFrame>
        <p:nvGraphicFramePr>
          <p:cNvPr id="9" name="Table 13">
            <a:extLst>
              <a:ext uri="{FF2B5EF4-FFF2-40B4-BE49-F238E27FC236}">
                <a16:creationId xmlns:a16="http://schemas.microsoft.com/office/drawing/2014/main" id="{8BBA70CE-E370-BD2F-E21F-8619F823AF55}"/>
              </a:ext>
            </a:extLst>
          </p:cNvPr>
          <p:cNvGraphicFramePr>
            <a:graphicFrameLocks noGrp="1"/>
          </p:cNvGraphicFramePr>
          <p:nvPr/>
        </p:nvGraphicFramePr>
        <p:xfrm>
          <a:off x="7884561" y="2474678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3A445AE-78F3-5DE3-30AF-C28EF6C8F9DB}"/>
              </a:ext>
            </a:extLst>
          </p:cNvPr>
          <p:cNvCxnSpPr>
            <a:cxnSpLocks/>
          </p:cNvCxnSpPr>
          <p:nvPr/>
        </p:nvCxnSpPr>
        <p:spPr>
          <a:xfrm flipV="1">
            <a:off x="8535494" y="3345702"/>
            <a:ext cx="690523" cy="14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EB5C06E-7BBE-E28E-882B-B07BCEB98445}"/>
              </a:ext>
            </a:extLst>
          </p:cNvPr>
          <p:cNvSpPr txBox="1"/>
          <p:nvPr/>
        </p:nvSpPr>
        <p:spPr>
          <a:xfrm>
            <a:off x="8202604" y="3350708"/>
            <a:ext cx="1356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</a:p>
        </p:txBody>
      </p:sp>
      <p:graphicFrame>
        <p:nvGraphicFramePr>
          <p:cNvPr id="16" name="Table 13">
            <a:extLst>
              <a:ext uri="{FF2B5EF4-FFF2-40B4-BE49-F238E27FC236}">
                <a16:creationId xmlns:a16="http://schemas.microsoft.com/office/drawing/2014/main" id="{E776791C-D53B-993F-0D0C-693075A11C9B}"/>
              </a:ext>
            </a:extLst>
          </p:cNvPr>
          <p:cNvGraphicFramePr>
            <a:graphicFrameLocks noGrp="1"/>
          </p:cNvGraphicFramePr>
          <p:nvPr/>
        </p:nvGraphicFramePr>
        <p:xfrm>
          <a:off x="7884559" y="4218269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074463D7-F643-F848-BC3F-5F4136C9397B}"/>
              </a:ext>
            </a:extLst>
          </p:cNvPr>
          <p:cNvSpPr txBox="1"/>
          <p:nvPr/>
        </p:nvSpPr>
        <p:spPr>
          <a:xfrm>
            <a:off x="7317051" y="6072614"/>
            <a:ext cx="15779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concatenated, multi-modal features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682C01D-FB7A-1020-5D48-6D8F27290C95}"/>
              </a:ext>
            </a:extLst>
          </p:cNvPr>
          <p:cNvCxnSpPr>
            <a:cxnSpLocks/>
            <a:stCxn id="24" idx="3"/>
            <a:endCxn id="25" idx="1"/>
          </p:cNvCxnSpPr>
          <p:nvPr/>
        </p:nvCxnSpPr>
        <p:spPr>
          <a:xfrm>
            <a:off x="3713400" y="5516180"/>
            <a:ext cx="135191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D531C879-376E-F3D0-DD37-56C27BA33A5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976" t="10927" r="11177" b="12059"/>
          <a:stretch/>
        </p:blipFill>
        <p:spPr>
          <a:xfrm>
            <a:off x="2285761" y="4590414"/>
            <a:ext cx="1427639" cy="18515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2DE4CDB7-F78F-0727-85B7-78175B81DB4D}"/>
              </a:ext>
            </a:extLst>
          </p:cNvPr>
          <p:cNvSpPr/>
          <p:nvPr/>
        </p:nvSpPr>
        <p:spPr>
          <a:xfrm>
            <a:off x="5065314" y="5045475"/>
            <a:ext cx="1729425" cy="94140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NLP</a:t>
            </a:r>
          </a:p>
          <a:p>
            <a:pPr algn="ctr"/>
            <a:r>
              <a:rPr lang="en-US" dirty="0"/>
              <a:t>Encoder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4D77E12-23F6-5692-1374-B9838F4DF643}"/>
              </a:ext>
            </a:extLst>
          </p:cNvPr>
          <p:cNvCxnSpPr>
            <a:cxnSpLocks/>
          </p:cNvCxnSpPr>
          <p:nvPr/>
        </p:nvCxnSpPr>
        <p:spPr>
          <a:xfrm flipV="1">
            <a:off x="6907878" y="5089293"/>
            <a:ext cx="872438" cy="4043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BE766FB-7B26-0F1E-DE7E-E4169693B8A8}"/>
              </a:ext>
            </a:extLst>
          </p:cNvPr>
          <p:cNvSpPr txBox="1"/>
          <p:nvPr/>
        </p:nvSpPr>
        <p:spPr>
          <a:xfrm>
            <a:off x="2522102" y="6464323"/>
            <a:ext cx="9549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E7D4C57-6D3F-51E0-C4E0-AC89C6726E44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713400" y="3345702"/>
            <a:ext cx="135191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73918A1-51C9-0814-946D-2EC18B2646F6}"/>
              </a:ext>
            </a:extLst>
          </p:cNvPr>
          <p:cNvCxnSpPr>
            <a:cxnSpLocks/>
          </p:cNvCxnSpPr>
          <p:nvPr/>
        </p:nvCxnSpPr>
        <p:spPr>
          <a:xfrm>
            <a:off x="6907878" y="3345702"/>
            <a:ext cx="87243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70A7424B-2DAB-AB85-BD8E-65D4ECAC9E6B}"/>
              </a:ext>
            </a:extLst>
          </p:cNvPr>
          <p:cNvSpPr/>
          <p:nvPr/>
        </p:nvSpPr>
        <p:spPr>
          <a:xfrm>
            <a:off x="5065313" y="2901070"/>
            <a:ext cx="1729425" cy="941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CNN</a:t>
            </a:r>
          </a:p>
          <a:p>
            <a:pPr algn="ctr"/>
            <a:r>
              <a:rPr lang="en-US" dirty="0"/>
              <a:t>Encoder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A23E94-F1A3-C95F-3692-B8C0BE28C8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5761" y="2614819"/>
            <a:ext cx="1427639" cy="1461765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6889947E-BCBC-E9D6-5806-5F2B1EA2D929}"/>
              </a:ext>
            </a:extLst>
          </p:cNvPr>
          <p:cNvSpPr txBox="1"/>
          <p:nvPr/>
        </p:nvSpPr>
        <p:spPr>
          <a:xfrm>
            <a:off x="2298627" y="4086870"/>
            <a:ext cx="1401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A5B2737-8AB2-B385-F4BC-38842424C95E}"/>
              </a:ext>
            </a:extLst>
          </p:cNvPr>
          <p:cNvGraphicFramePr>
            <a:graphicFrameLocks noGrp="1"/>
          </p:cNvGraphicFramePr>
          <p:nvPr/>
        </p:nvGraphicFramePr>
        <p:xfrm>
          <a:off x="9417360" y="3084315"/>
          <a:ext cx="2343891" cy="522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3891">
                  <a:extLst>
                    <a:ext uri="{9D8B030D-6E8A-4147-A177-3AD203B41FA5}">
                      <a16:colId xmlns:a16="http://schemas.microsoft.com/office/drawing/2014/main" val="4002730172"/>
                    </a:ext>
                  </a:extLst>
                </a:gridCol>
              </a:tblGrid>
              <a:tr h="5227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P(outcome | data)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15260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105CF4D-F25E-E247-663B-E412EB8BEBB0}"/>
              </a:ext>
            </a:extLst>
          </p:cNvPr>
          <p:cNvSpPr txBox="1"/>
          <p:nvPr/>
        </p:nvSpPr>
        <p:spPr>
          <a:xfrm>
            <a:off x="8840124" y="486507"/>
            <a:ext cx="29211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Train independently</a:t>
            </a:r>
          </a:p>
          <a:p>
            <a:pPr marL="342900" indent="-342900">
              <a:buAutoNum type="arabicPeriod"/>
            </a:pPr>
            <a:r>
              <a:rPr lang="en-US" dirty="0"/>
              <a:t>Concatenate</a:t>
            </a:r>
          </a:p>
          <a:p>
            <a:pPr marL="342900" indent="-342900">
              <a:buFontTx/>
              <a:buAutoNum type="arabicPeriod"/>
            </a:pPr>
            <a:r>
              <a:rPr lang="en-US" dirty="0"/>
              <a:t>Train together</a:t>
            </a:r>
          </a:p>
        </p:txBody>
      </p:sp>
    </p:spTree>
    <p:extLst>
      <p:ext uri="{BB962C8B-B14F-4D97-AF65-F5344CB8AC3E}">
        <p14:creationId xmlns:p14="http://schemas.microsoft.com/office/powerpoint/2010/main" val="2063640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188"/>
    </mc:Choice>
    <mc:Fallback xmlns="">
      <p:transition spd="slow" advTm="34188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67591-16BC-7BE3-A088-7DCB3E09D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73114C14-9495-C360-06FE-3C8FF4ECC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68" y="221171"/>
            <a:ext cx="6672467" cy="1591351"/>
          </a:xfrm>
        </p:spPr>
        <p:txBody>
          <a:bodyPr/>
          <a:lstStyle/>
          <a:p>
            <a:r>
              <a:rPr lang="en-US" dirty="0"/>
              <a:t>Joint fusion by feature concatenation</a:t>
            </a:r>
          </a:p>
        </p:txBody>
      </p:sp>
      <p:graphicFrame>
        <p:nvGraphicFramePr>
          <p:cNvPr id="12" name="Table 13">
            <a:extLst>
              <a:ext uri="{FF2B5EF4-FFF2-40B4-BE49-F238E27FC236}">
                <a16:creationId xmlns:a16="http://schemas.microsoft.com/office/drawing/2014/main" id="{4D9393AE-9C4B-BB58-C5A3-CECCD7DB2168}"/>
              </a:ext>
            </a:extLst>
          </p:cNvPr>
          <p:cNvGraphicFramePr>
            <a:graphicFrameLocks noGrp="1"/>
          </p:cNvGraphicFramePr>
          <p:nvPr/>
        </p:nvGraphicFramePr>
        <p:xfrm>
          <a:off x="7884561" y="737636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graphicFrame>
        <p:nvGraphicFramePr>
          <p:cNvPr id="9" name="Table 13">
            <a:extLst>
              <a:ext uri="{FF2B5EF4-FFF2-40B4-BE49-F238E27FC236}">
                <a16:creationId xmlns:a16="http://schemas.microsoft.com/office/drawing/2014/main" id="{7A90DC3B-4535-BA74-4F8F-20BF0F62ACBE}"/>
              </a:ext>
            </a:extLst>
          </p:cNvPr>
          <p:cNvGraphicFramePr>
            <a:graphicFrameLocks noGrp="1"/>
          </p:cNvGraphicFramePr>
          <p:nvPr/>
        </p:nvGraphicFramePr>
        <p:xfrm>
          <a:off x="7884561" y="2474678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54F03F1-824A-AEE4-AA8D-302491C361E2}"/>
              </a:ext>
            </a:extLst>
          </p:cNvPr>
          <p:cNvCxnSpPr>
            <a:cxnSpLocks/>
          </p:cNvCxnSpPr>
          <p:nvPr/>
        </p:nvCxnSpPr>
        <p:spPr>
          <a:xfrm flipV="1">
            <a:off x="8535494" y="3345702"/>
            <a:ext cx="690523" cy="14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3F838CE-9388-6C9A-FA51-4F41D6B1C752}"/>
              </a:ext>
            </a:extLst>
          </p:cNvPr>
          <p:cNvSpPr txBox="1"/>
          <p:nvPr/>
        </p:nvSpPr>
        <p:spPr>
          <a:xfrm>
            <a:off x="8202604" y="3350708"/>
            <a:ext cx="13563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" name="Table 13">
            <a:extLst>
              <a:ext uri="{FF2B5EF4-FFF2-40B4-BE49-F238E27FC236}">
                <a16:creationId xmlns:a16="http://schemas.microsoft.com/office/drawing/2014/main" id="{281E81C4-B823-04E5-80C4-4672A099DBFB}"/>
              </a:ext>
            </a:extLst>
          </p:cNvPr>
          <p:cNvGraphicFramePr>
            <a:graphicFrameLocks noGrp="1"/>
          </p:cNvGraphicFramePr>
          <p:nvPr/>
        </p:nvGraphicFramePr>
        <p:xfrm>
          <a:off x="7884559" y="4218269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001D8C99-BCD8-C4BD-7DFD-DDAA1214BA02}"/>
              </a:ext>
            </a:extLst>
          </p:cNvPr>
          <p:cNvSpPr txBox="1"/>
          <p:nvPr/>
        </p:nvSpPr>
        <p:spPr>
          <a:xfrm>
            <a:off x="7317051" y="6072614"/>
            <a:ext cx="15779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concatenated, multi-modal features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9CFD2E6-DDAD-0B00-1683-88F9DE5CB35A}"/>
              </a:ext>
            </a:extLst>
          </p:cNvPr>
          <p:cNvCxnSpPr>
            <a:cxnSpLocks/>
            <a:stCxn id="24" idx="3"/>
            <a:endCxn id="25" idx="1"/>
          </p:cNvCxnSpPr>
          <p:nvPr/>
        </p:nvCxnSpPr>
        <p:spPr>
          <a:xfrm>
            <a:off x="3713400" y="5516180"/>
            <a:ext cx="135191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D2ACE333-1E84-B0C0-A61F-8759C2905EC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976" t="10927" r="11177" b="12059"/>
          <a:stretch/>
        </p:blipFill>
        <p:spPr>
          <a:xfrm>
            <a:off x="2285761" y="4590414"/>
            <a:ext cx="1427639" cy="18515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B5D34784-5831-98A7-5DEA-3821B8200F29}"/>
              </a:ext>
            </a:extLst>
          </p:cNvPr>
          <p:cNvSpPr/>
          <p:nvPr/>
        </p:nvSpPr>
        <p:spPr>
          <a:xfrm>
            <a:off x="5065314" y="5045475"/>
            <a:ext cx="1729425" cy="94140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NLP</a:t>
            </a:r>
          </a:p>
          <a:p>
            <a:pPr algn="ctr"/>
            <a:r>
              <a:rPr lang="en-US" dirty="0"/>
              <a:t>Encoder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11E3B3A-824A-4393-F0E6-6FFB568E9F1A}"/>
              </a:ext>
            </a:extLst>
          </p:cNvPr>
          <p:cNvCxnSpPr>
            <a:cxnSpLocks/>
          </p:cNvCxnSpPr>
          <p:nvPr/>
        </p:nvCxnSpPr>
        <p:spPr>
          <a:xfrm flipV="1">
            <a:off x="6907878" y="5089293"/>
            <a:ext cx="872438" cy="4043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CA65819-2BD6-BF2C-1FA6-7566A4F5B197}"/>
              </a:ext>
            </a:extLst>
          </p:cNvPr>
          <p:cNvSpPr txBox="1"/>
          <p:nvPr/>
        </p:nvSpPr>
        <p:spPr>
          <a:xfrm>
            <a:off x="2522102" y="6464323"/>
            <a:ext cx="9549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BE058A5-72DB-BACB-CB6B-FFDEBC04AFFB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713400" y="3345702"/>
            <a:ext cx="135191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EBEB52A-1969-1D27-CCE5-5485DEB9CD67}"/>
              </a:ext>
            </a:extLst>
          </p:cNvPr>
          <p:cNvCxnSpPr>
            <a:cxnSpLocks/>
          </p:cNvCxnSpPr>
          <p:nvPr/>
        </p:nvCxnSpPr>
        <p:spPr>
          <a:xfrm>
            <a:off x="6907878" y="3345702"/>
            <a:ext cx="87243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652F4120-5DD1-5FBB-3DCA-620551B5693C}"/>
              </a:ext>
            </a:extLst>
          </p:cNvPr>
          <p:cNvSpPr/>
          <p:nvPr/>
        </p:nvSpPr>
        <p:spPr>
          <a:xfrm>
            <a:off x="5065313" y="2901070"/>
            <a:ext cx="1729425" cy="941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CNN</a:t>
            </a:r>
          </a:p>
          <a:p>
            <a:pPr algn="ctr"/>
            <a:r>
              <a:rPr lang="en-US" dirty="0"/>
              <a:t>Encoder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9F4C0F-7A86-1AFE-282B-BFEC288454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5761" y="2614819"/>
            <a:ext cx="1427639" cy="1461765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A34F684A-0F16-4D6C-85EE-ECB3C98C2EA1}"/>
              </a:ext>
            </a:extLst>
          </p:cNvPr>
          <p:cNvSpPr txBox="1"/>
          <p:nvPr/>
        </p:nvSpPr>
        <p:spPr>
          <a:xfrm>
            <a:off x="2298627" y="4086870"/>
            <a:ext cx="1401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803A350-3E64-709B-B2B6-872880182527}"/>
              </a:ext>
            </a:extLst>
          </p:cNvPr>
          <p:cNvGraphicFramePr>
            <a:graphicFrameLocks noGrp="1"/>
          </p:cNvGraphicFramePr>
          <p:nvPr/>
        </p:nvGraphicFramePr>
        <p:xfrm>
          <a:off x="9417360" y="3084315"/>
          <a:ext cx="2343891" cy="522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3891">
                  <a:extLst>
                    <a:ext uri="{9D8B030D-6E8A-4147-A177-3AD203B41FA5}">
                      <a16:colId xmlns:a16="http://schemas.microsoft.com/office/drawing/2014/main" val="4002730172"/>
                    </a:ext>
                  </a:extLst>
                </a:gridCol>
              </a:tblGrid>
              <a:tr h="5227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P(outcome | data)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15260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236E1E24-59B6-0729-56F3-77B0F30E2D08}"/>
              </a:ext>
            </a:extLst>
          </p:cNvPr>
          <p:cNvSpPr txBox="1"/>
          <p:nvPr/>
        </p:nvSpPr>
        <p:spPr>
          <a:xfrm>
            <a:off x="8840124" y="486507"/>
            <a:ext cx="292112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Train independently</a:t>
            </a:r>
          </a:p>
          <a:p>
            <a:pPr marL="342900" indent="-342900">
              <a:buAutoNum type="arabicPeriod"/>
            </a:pPr>
            <a:r>
              <a:rPr lang="en-US" dirty="0"/>
              <a:t>Concatenate</a:t>
            </a:r>
          </a:p>
          <a:p>
            <a:pPr marL="342900" indent="-342900">
              <a:buAutoNum type="arabicPeriod"/>
            </a:pPr>
            <a:r>
              <a:rPr lang="en-US" b="1" dirty="0"/>
              <a:t>Add a fully-connected layer</a:t>
            </a:r>
          </a:p>
          <a:p>
            <a:pPr marL="342900" indent="-342900">
              <a:buFontTx/>
              <a:buAutoNum type="arabicPeriod"/>
            </a:pPr>
            <a:r>
              <a:rPr lang="en-US" dirty="0"/>
              <a:t>Train together</a:t>
            </a:r>
          </a:p>
          <a:p>
            <a:pPr marL="342900" indent="-342900">
              <a:buFontTx/>
              <a:buAutoNum type="arabicPeriod"/>
            </a:pPr>
            <a:r>
              <a:rPr lang="en-US" b="1" dirty="0"/>
              <a:t>Fine-tune the whole model</a:t>
            </a:r>
          </a:p>
        </p:txBody>
      </p:sp>
    </p:spTree>
    <p:extLst>
      <p:ext uri="{BB962C8B-B14F-4D97-AF65-F5344CB8AC3E}">
        <p14:creationId xmlns:p14="http://schemas.microsoft.com/office/powerpoint/2010/main" val="1759985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188"/>
    </mc:Choice>
    <mc:Fallback xmlns="">
      <p:transition spd="slow" advTm="34188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02B0E-DADE-051B-CEA2-D99A3792F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B7AEA481-251D-4619-F197-9C5F31E12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68" y="221171"/>
            <a:ext cx="6672467" cy="1591351"/>
          </a:xfrm>
        </p:spPr>
        <p:txBody>
          <a:bodyPr/>
          <a:lstStyle/>
          <a:p>
            <a:r>
              <a:rPr lang="en-US" dirty="0"/>
              <a:t>Joint fusion by feature concatenation</a:t>
            </a:r>
          </a:p>
        </p:txBody>
      </p:sp>
      <p:graphicFrame>
        <p:nvGraphicFramePr>
          <p:cNvPr id="12" name="Table 13">
            <a:extLst>
              <a:ext uri="{FF2B5EF4-FFF2-40B4-BE49-F238E27FC236}">
                <a16:creationId xmlns:a16="http://schemas.microsoft.com/office/drawing/2014/main" id="{C5747F30-4C8E-0BB7-55EF-70A5A7964270}"/>
              </a:ext>
            </a:extLst>
          </p:cNvPr>
          <p:cNvGraphicFramePr>
            <a:graphicFrameLocks noGrp="1"/>
          </p:cNvGraphicFramePr>
          <p:nvPr/>
        </p:nvGraphicFramePr>
        <p:xfrm>
          <a:off x="7884561" y="737636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graphicFrame>
        <p:nvGraphicFramePr>
          <p:cNvPr id="9" name="Table 13">
            <a:extLst>
              <a:ext uri="{FF2B5EF4-FFF2-40B4-BE49-F238E27FC236}">
                <a16:creationId xmlns:a16="http://schemas.microsoft.com/office/drawing/2014/main" id="{DCA8A7BB-FAED-97F7-7E4A-74AC9D7D2B5A}"/>
              </a:ext>
            </a:extLst>
          </p:cNvPr>
          <p:cNvGraphicFramePr>
            <a:graphicFrameLocks noGrp="1"/>
          </p:cNvGraphicFramePr>
          <p:nvPr/>
        </p:nvGraphicFramePr>
        <p:xfrm>
          <a:off x="7884561" y="2474678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09035B6-4F4B-FD01-8FE3-613AFE4C2AE1}"/>
              </a:ext>
            </a:extLst>
          </p:cNvPr>
          <p:cNvCxnSpPr>
            <a:cxnSpLocks/>
          </p:cNvCxnSpPr>
          <p:nvPr/>
        </p:nvCxnSpPr>
        <p:spPr>
          <a:xfrm flipV="1">
            <a:off x="8535494" y="3345702"/>
            <a:ext cx="690523" cy="14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526B352-D9D0-46C1-C108-B90F89697BCA}"/>
              </a:ext>
            </a:extLst>
          </p:cNvPr>
          <p:cNvSpPr txBox="1"/>
          <p:nvPr/>
        </p:nvSpPr>
        <p:spPr>
          <a:xfrm>
            <a:off x="8202604" y="3350708"/>
            <a:ext cx="13563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" name="Table 13">
            <a:extLst>
              <a:ext uri="{FF2B5EF4-FFF2-40B4-BE49-F238E27FC236}">
                <a16:creationId xmlns:a16="http://schemas.microsoft.com/office/drawing/2014/main" id="{72FD47E0-0498-6E1E-170C-12A9345067D4}"/>
              </a:ext>
            </a:extLst>
          </p:cNvPr>
          <p:cNvGraphicFramePr>
            <a:graphicFrameLocks noGrp="1"/>
          </p:cNvGraphicFramePr>
          <p:nvPr/>
        </p:nvGraphicFramePr>
        <p:xfrm>
          <a:off x="7884559" y="4218269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D670A5BF-84D3-8172-3269-E45568D24E5B}"/>
              </a:ext>
            </a:extLst>
          </p:cNvPr>
          <p:cNvSpPr txBox="1"/>
          <p:nvPr/>
        </p:nvSpPr>
        <p:spPr>
          <a:xfrm>
            <a:off x="7317051" y="6072614"/>
            <a:ext cx="15779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concatenated, multi-modal features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5245A36-CEF2-02B3-77CB-8FEDABAE192D}"/>
              </a:ext>
            </a:extLst>
          </p:cNvPr>
          <p:cNvCxnSpPr>
            <a:cxnSpLocks/>
            <a:stCxn id="24" idx="3"/>
            <a:endCxn id="25" idx="1"/>
          </p:cNvCxnSpPr>
          <p:nvPr/>
        </p:nvCxnSpPr>
        <p:spPr>
          <a:xfrm>
            <a:off x="3713400" y="5516180"/>
            <a:ext cx="135191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FBA2FA11-CE7B-8342-B500-CE9D1238052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976" t="10927" r="11177" b="12059"/>
          <a:stretch/>
        </p:blipFill>
        <p:spPr>
          <a:xfrm>
            <a:off x="2285761" y="4590414"/>
            <a:ext cx="1427639" cy="18515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D95C3A75-A8CF-28DE-6134-5822704190A3}"/>
              </a:ext>
            </a:extLst>
          </p:cNvPr>
          <p:cNvSpPr/>
          <p:nvPr/>
        </p:nvSpPr>
        <p:spPr>
          <a:xfrm>
            <a:off x="5065314" y="5045475"/>
            <a:ext cx="1729425" cy="94140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NLP</a:t>
            </a:r>
          </a:p>
          <a:p>
            <a:pPr algn="ctr"/>
            <a:r>
              <a:rPr lang="en-US" dirty="0"/>
              <a:t>Encoder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A333042-309D-FC63-57F5-1FD789F832D5}"/>
              </a:ext>
            </a:extLst>
          </p:cNvPr>
          <p:cNvCxnSpPr>
            <a:cxnSpLocks/>
          </p:cNvCxnSpPr>
          <p:nvPr/>
        </p:nvCxnSpPr>
        <p:spPr>
          <a:xfrm flipV="1">
            <a:off x="6907878" y="5089293"/>
            <a:ext cx="872438" cy="40435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AD7B3AF-FA69-125D-7816-5A1BD773AE18}"/>
              </a:ext>
            </a:extLst>
          </p:cNvPr>
          <p:cNvSpPr txBox="1"/>
          <p:nvPr/>
        </p:nvSpPr>
        <p:spPr>
          <a:xfrm>
            <a:off x="2522102" y="6464323"/>
            <a:ext cx="9549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3129472-F0CC-B01D-88B4-F240AEDB1439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713400" y="3345702"/>
            <a:ext cx="135191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6DFB611-2718-0EA1-307B-CE2D7E01B2CE}"/>
              </a:ext>
            </a:extLst>
          </p:cNvPr>
          <p:cNvCxnSpPr>
            <a:cxnSpLocks/>
          </p:cNvCxnSpPr>
          <p:nvPr/>
        </p:nvCxnSpPr>
        <p:spPr>
          <a:xfrm>
            <a:off x="6907878" y="3345702"/>
            <a:ext cx="87243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1D8C9BD9-62D8-8C71-90AE-63246517B5BE}"/>
              </a:ext>
            </a:extLst>
          </p:cNvPr>
          <p:cNvSpPr/>
          <p:nvPr/>
        </p:nvSpPr>
        <p:spPr>
          <a:xfrm>
            <a:off x="5065313" y="2901070"/>
            <a:ext cx="1729425" cy="941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CNN</a:t>
            </a:r>
          </a:p>
          <a:p>
            <a:pPr algn="ctr"/>
            <a:r>
              <a:rPr lang="en-US" dirty="0"/>
              <a:t>Encoder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8EEDEB-27F3-D49B-5CB4-EA5C04F043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5761" y="2614819"/>
            <a:ext cx="1427639" cy="1461765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9575E55C-FA63-3F2D-C70A-2D82CE2132E5}"/>
              </a:ext>
            </a:extLst>
          </p:cNvPr>
          <p:cNvSpPr txBox="1"/>
          <p:nvPr/>
        </p:nvSpPr>
        <p:spPr>
          <a:xfrm>
            <a:off x="2298627" y="4086870"/>
            <a:ext cx="1401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E50BAF6-893E-9E47-6710-CAC0280E5EB5}"/>
              </a:ext>
            </a:extLst>
          </p:cNvPr>
          <p:cNvGraphicFramePr>
            <a:graphicFrameLocks noGrp="1"/>
          </p:cNvGraphicFramePr>
          <p:nvPr/>
        </p:nvGraphicFramePr>
        <p:xfrm>
          <a:off x="9417360" y="3084315"/>
          <a:ext cx="2343891" cy="522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3891">
                  <a:extLst>
                    <a:ext uri="{9D8B030D-6E8A-4147-A177-3AD203B41FA5}">
                      <a16:colId xmlns:a16="http://schemas.microsoft.com/office/drawing/2014/main" val="4002730172"/>
                    </a:ext>
                  </a:extLst>
                </a:gridCol>
              </a:tblGrid>
              <a:tr h="5227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P(outcome | data)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15260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7DE534D-BA7B-D0C5-1B5E-6B9989AF565B}"/>
              </a:ext>
            </a:extLst>
          </p:cNvPr>
          <p:cNvSpPr txBox="1"/>
          <p:nvPr/>
        </p:nvSpPr>
        <p:spPr>
          <a:xfrm>
            <a:off x="8840124" y="486507"/>
            <a:ext cx="292112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Train independently</a:t>
            </a:r>
          </a:p>
          <a:p>
            <a:pPr marL="342900" indent="-342900">
              <a:buAutoNum type="arabicPeriod"/>
            </a:pPr>
            <a:r>
              <a:rPr lang="en-US" dirty="0"/>
              <a:t>Concatenate</a:t>
            </a:r>
          </a:p>
          <a:p>
            <a:pPr marL="342900" indent="-342900">
              <a:buAutoNum type="arabicPeriod"/>
            </a:pPr>
            <a:r>
              <a:rPr lang="en-US" b="1" dirty="0"/>
              <a:t>Add a fully-connected layer</a:t>
            </a:r>
          </a:p>
          <a:p>
            <a:pPr marL="342900" indent="-342900">
              <a:buFontTx/>
              <a:buAutoNum type="arabicPeriod"/>
            </a:pPr>
            <a:r>
              <a:rPr lang="en-US" dirty="0"/>
              <a:t>Train together</a:t>
            </a:r>
          </a:p>
          <a:p>
            <a:pPr marL="342900" indent="-342900">
              <a:buFontTx/>
              <a:buAutoNum type="arabicPeriod"/>
            </a:pPr>
            <a:r>
              <a:rPr lang="en-US" b="1" dirty="0"/>
              <a:t>Fine-tune the whole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9C5386-6A99-A406-BB49-48DD35D2E73E}"/>
              </a:ext>
            </a:extLst>
          </p:cNvPr>
          <p:cNvSpPr txBox="1"/>
          <p:nvPr/>
        </p:nvSpPr>
        <p:spPr>
          <a:xfrm>
            <a:off x="8840124" y="4240758"/>
            <a:ext cx="2764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Why is it important that this be an MLP?</a:t>
            </a:r>
          </a:p>
        </p:txBody>
      </p:sp>
    </p:spTree>
    <p:extLst>
      <p:ext uri="{BB962C8B-B14F-4D97-AF65-F5344CB8AC3E}">
        <p14:creationId xmlns:p14="http://schemas.microsoft.com/office/powerpoint/2010/main" val="3996704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188"/>
    </mc:Choice>
    <mc:Fallback xmlns="">
      <p:transition spd="slow" advTm="34188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7AC15-F176-1BBC-97BA-FE891BDAD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fusion via contrastive learning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EE640E-F0E5-B0DC-871D-DEAACF39E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518" y="1567029"/>
            <a:ext cx="9718964" cy="5046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8428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902C1-53A9-762A-7AEA-A177430CD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13">
            <a:extLst>
              <a:ext uri="{FF2B5EF4-FFF2-40B4-BE49-F238E27FC236}">
                <a16:creationId xmlns:a16="http://schemas.microsoft.com/office/drawing/2014/main" id="{C6678093-FC7E-862C-A561-47A20DF9E75E}"/>
              </a:ext>
            </a:extLst>
          </p:cNvPr>
          <p:cNvGraphicFramePr>
            <a:graphicFrameLocks noGrp="1"/>
          </p:cNvGraphicFramePr>
          <p:nvPr/>
        </p:nvGraphicFramePr>
        <p:xfrm>
          <a:off x="7941122" y="2474678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6CE8CC1-AED9-30EA-96DF-497032814656}"/>
              </a:ext>
            </a:extLst>
          </p:cNvPr>
          <p:cNvGraphicFramePr>
            <a:graphicFrameLocks noGrp="1"/>
          </p:cNvGraphicFramePr>
          <p:nvPr/>
        </p:nvGraphicFramePr>
        <p:xfrm>
          <a:off x="9458467" y="3089220"/>
          <a:ext cx="2343891" cy="522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3891">
                  <a:extLst>
                    <a:ext uri="{9D8B030D-6E8A-4147-A177-3AD203B41FA5}">
                      <a16:colId xmlns:a16="http://schemas.microsoft.com/office/drawing/2014/main" val="4002730172"/>
                    </a:ext>
                  </a:extLst>
                </a:gridCol>
              </a:tblGrid>
              <a:tr h="5227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P(outcome | data)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152605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0A40E2D-9BC0-B19C-2CB6-F0BD3778DE21}"/>
              </a:ext>
            </a:extLst>
          </p:cNvPr>
          <p:cNvCxnSpPr>
            <a:cxnSpLocks/>
          </p:cNvCxnSpPr>
          <p:nvPr/>
        </p:nvCxnSpPr>
        <p:spPr>
          <a:xfrm flipV="1">
            <a:off x="8592055" y="3345702"/>
            <a:ext cx="690523" cy="14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BC2E38D-44D4-ABEA-2FFD-1ED72CAA3DB9}"/>
              </a:ext>
            </a:extLst>
          </p:cNvPr>
          <p:cNvSpPr txBox="1"/>
          <p:nvPr/>
        </p:nvSpPr>
        <p:spPr>
          <a:xfrm>
            <a:off x="7461657" y="4240759"/>
            <a:ext cx="1401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features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C2583D-4418-5674-32A7-AA36325714D5}"/>
              </a:ext>
            </a:extLst>
          </p:cNvPr>
          <p:cNvSpPr txBox="1"/>
          <p:nvPr/>
        </p:nvSpPr>
        <p:spPr>
          <a:xfrm>
            <a:off x="8259165" y="3350708"/>
            <a:ext cx="1356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</a:p>
        </p:txBody>
      </p:sp>
      <p:graphicFrame>
        <p:nvGraphicFramePr>
          <p:cNvPr id="16" name="Table 13">
            <a:extLst>
              <a:ext uri="{FF2B5EF4-FFF2-40B4-BE49-F238E27FC236}">
                <a16:creationId xmlns:a16="http://schemas.microsoft.com/office/drawing/2014/main" id="{9E2CE271-FCAE-FDB1-91FC-6D1CB9B11DDB}"/>
              </a:ext>
            </a:extLst>
          </p:cNvPr>
          <p:cNvGraphicFramePr>
            <a:graphicFrameLocks noGrp="1"/>
          </p:cNvGraphicFramePr>
          <p:nvPr/>
        </p:nvGraphicFramePr>
        <p:xfrm>
          <a:off x="7925670" y="4622622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DF67421-38C9-7528-7E0D-0356E8AD7227}"/>
              </a:ext>
            </a:extLst>
          </p:cNvPr>
          <p:cNvCxnSpPr>
            <a:cxnSpLocks/>
          </p:cNvCxnSpPr>
          <p:nvPr/>
        </p:nvCxnSpPr>
        <p:spPr>
          <a:xfrm flipV="1">
            <a:off x="8576603" y="5493646"/>
            <a:ext cx="690523" cy="14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5891690-01FD-38B2-34D9-3F305301FBB4}"/>
              </a:ext>
            </a:extLst>
          </p:cNvPr>
          <p:cNvSpPr txBox="1"/>
          <p:nvPr/>
        </p:nvSpPr>
        <p:spPr>
          <a:xfrm>
            <a:off x="7373613" y="6364670"/>
            <a:ext cx="15779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 features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0F2581-B961-37D2-09D0-D82FBA73614C}"/>
              </a:ext>
            </a:extLst>
          </p:cNvPr>
          <p:cNvSpPr txBox="1"/>
          <p:nvPr/>
        </p:nvSpPr>
        <p:spPr>
          <a:xfrm>
            <a:off x="8243713" y="5498652"/>
            <a:ext cx="1356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</a:t>
            </a:r>
          </a:p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66B278F-5704-FCF3-6B73-E3013A8FA2CA}"/>
              </a:ext>
            </a:extLst>
          </p:cNvPr>
          <p:cNvCxnSpPr>
            <a:cxnSpLocks/>
            <a:stCxn id="24" idx="3"/>
            <a:endCxn id="25" idx="1"/>
          </p:cNvCxnSpPr>
          <p:nvPr/>
        </p:nvCxnSpPr>
        <p:spPr>
          <a:xfrm>
            <a:off x="3769961" y="5516180"/>
            <a:ext cx="135191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ECD71B47-ECD9-78D0-CBF9-5ED1F8D47F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976" t="10927" r="11177" b="12059"/>
          <a:stretch/>
        </p:blipFill>
        <p:spPr>
          <a:xfrm>
            <a:off x="2342322" y="4590414"/>
            <a:ext cx="1427639" cy="18515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5B921E92-F76E-44FE-9FFE-AEDB437EFFEB}"/>
              </a:ext>
            </a:extLst>
          </p:cNvPr>
          <p:cNvSpPr/>
          <p:nvPr/>
        </p:nvSpPr>
        <p:spPr>
          <a:xfrm>
            <a:off x="5121875" y="5045475"/>
            <a:ext cx="1729425" cy="94140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NLP</a:t>
            </a:r>
          </a:p>
          <a:p>
            <a:pPr algn="ctr"/>
            <a:r>
              <a:rPr lang="en-US" dirty="0"/>
              <a:t>Encoder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4A19813-CDCF-186B-E32D-5175F4F36379}"/>
              </a:ext>
            </a:extLst>
          </p:cNvPr>
          <p:cNvCxnSpPr>
            <a:cxnSpLocks/>
          </p:cNvCxnSpPr>
          <p:nvPr/>
        </p:nvCxnSpPr>
        <p:spPr>
          <a:xfrm>
            <a:off x="6964439" y="5493646"/>
            <a:ext cx="87243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74D39B2-7FB7-1687-1294-07FEA5D7E4DA}"/>
              </a:ext>
            </a:extLst>
          </p:cNvPr>
          <p:cNvSpPr txBox="1"/>
          <p:nvPr/>
        </p:nvSpPr>
        <p:spPr>
          <a:xfrm>
            <a:off x="2578663" y="6464323"/>
            <a:ext cx="9549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6166E4E-3364-6474-22BD-44283C9D7346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769961" y="3345702"/>
            <a:ext cx="135191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6B33E09-78D9-26D8-345A-CECD02CF84B3}"/>
              </a:ext>
            </a:extLst>
          </p:cNvPr>
          <p:cNvCxnSpPr>
            <a:cxnSpLocks/>
          </p:cNvCxnSpPr>
          <p:nvPr/>
        </p:nvCxnSpPr>
        <p:spPr>
          <a:xfrm>
            <a:off x="6964439" y="3345702"/>
            <a:ext cx="87243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A70F5264-E84B-BFF4-3D94-C76B028E71FB}"/>
              </a:ext>
            </a:extLst>
          </p:cNvPr>
          <p:cNvSpPr/>
          <p:nvPr/>
        </p:nvSpPr>
        <p:spPr>
          <a:xfrm>
            <a:off x="5121874" y="2901070"/>
            <a:ext cx="1729425" cy="941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CNN</a:t>
            </a:r>
          </a:p>
          <a:p>
            <a:pPr algn="ctr"/>
            <a:r>
              <a:rPr lang="en-US" dirty="0"/>
              <a:t>Encoder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5D6A28-EE9C-CDEB-D46B-6F9BA815A5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2322" y="2614819"/>
            <a:ext cx="1427639" cy="1461765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08554133-0C20-C409-A27A-E0A8FB28E089}"/>
              </a:ext>
            </a:extLst>
          </p:cNvPr>
          <p:cNvSpPr txBox="1"/>
          <p:nvPr/>
        </p:nvSpPr>
        <p:spPr>
          <a:xfrm>
            <a:off x="2355188" y="4086870"/>
            <a:ext cx="1401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1887D6D7-E580-DF20-761C-71D2AAAE2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072187" y="-26405"/>
            <a:ext cx="12192000" cy="1325563"/>
          </a:xfrm>
        </p:spPr>
        <p:txBody>
          <a:bodyPr/>
          <a:lstStyle/>
          <a:p>
            <a:pPr algn="ctr"/>
            <a:r>
              <a:rPr lang="en-US" dirty="0"/>
              <a:t>Separate Prediction Models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1A0B5D2-7DBE-4B55-2B80-285DDBC0301C}"/>
              </a:ext>
            </a:extLst>
          </p:cNvPr>
          <p:cNvGraphicFramePr>
            <a:graphicFrameLocks noGrp="1"/>
          </p:cNvGraphicFramePr>
          <p:nvPr/>
        </p:nvGraphicFramePr>
        <p:xfrm>
          <a:off x="9458467" y="5238937"/>
          <a:ext cx="2343891" cy="522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3891">
                  <a:extLst>
                    <a:ext uri="{9D8B030D-6E8A-4147-A177-3AD203B41FA5}">
                      <a16:colId xmlns:a16="http://schemas.microsoft.com/office/drawing/2014/main" val="4002730172"/>
                    </a:ext>
                  </a:extLst>
                </a:gridCol>
              </a:tblGrid>
              <a:tr h="5227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P(outcome | data)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1526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3319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479"/>
    </mc:Choice>
    <mc:Fallback xmlns="">
      <p:transition spd="slow" advTm="48479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9149B-1917-AA7A-7898-0F0204E46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C0773B6-E835-B48E-8730-41328654D8DC}"/>
              </a:ext>
            </a:extLst>
          </p:cNvPr>
          <p:cNvCxnSpPr>
            <a:cxnSpLocks/>
          </p:cNvCxnSpPr>
          <p:nvPr/>
        </p:nvCxnSpPr>
        <p:spPr>
          <a:xfrm flipV="1">
            <a:off x="5343029" y="4413865"/>
            <a:ext cx="1238775" cy="7498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4817AE8C-452E-71E4-7208-32BD48ADB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68" y="221171"/>
            <a:ext cx="6672467" cy="1591351"/>
          </a:xfrm>
        </p:spPr>
        <p:txBody>
          <a:bodyPr/>
          <a:lstStyle/>
          <a:p>
            <a:r>
              <a:rPr lang="en-US" dirty="0"/>
              <a:t>Joint fusion in shared representation space</a:t>
            </a:r>
          </a:p>
        </p:txBody>
      </p:sp>
      <p:graphicFrame>
        <p:nvGraphicFramePr>
          <p:cNvPr id="9" name="Table 13">
            <a:extLst>
              <a:ext uri="{FF2B5EF4-FFF2-40B4-BE49-F238E27FC236}">
                <a16:creationId xmlns:a16="http://schemas.microsoft.com/office/drawing/2014/main" id="{81F289B6-4FB4-51A3-77FD-73FD999B78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3315516"/>
              </p:ext>
            </p:extLst>
          </p:nvPr>
        </p:nvGraphicFramePr>
        <p:xfrm>
          <a:off x="5778771" y="3015762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829B2BE-E32A-99A1-6BD8-36D2BE7CF169}"/>
              </a:ext>
            </a:extLst>
          </p:cNvPr>
          <p:cNvCxnSpPr>
            <a:cxnSpLocks/>
          </p:cNvCxnSpPr>
          <p:nvPr/>
        </p:nvCxnSpPr>
        <p:spPr>
          <a:xfrm flipV="1">
            <a:off x="8401455" y="3877750"/>
            <a:ext cx="690523" cy="14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2230AA5-D757-68A0-4DFD-F03D74649B00}"/>
              </a:ext>
            </a:extLst>
          </p:cNvPr>
          <p:cNvSpPr txBox="1"/>
          <p:nvPr/>
        </p:nvSpPr>
        <p:spPr>
          <a:xfrm>
            <a:off x="8068566" y="3910819"/>
            <a:ext cx="1356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</a:t>
            </a:r>
          </a:p>
        </p:txBody>
      </p:sp>
      <p:graphicFrame>
        <p:nvGraphicFramePr>
          <p:cNvPr id="16" name="Table 13">
            <a:extLst>
              <a:ext uri="{FF2B5EF4-FFF2-40B4-BE49-F238E27FC236}">
                <a16:creationId xmlns:a16="http://schemas.microsoft.com/office/drawing/2014/main" id="{00ACB550-D0BB-E830-EDAB-CCC7D3DD96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3729996"/>
              </p:ext>
            </p:extLst>
          </p:nvPr>
        </p:nvGraphicFramePr>
        <p:xfrm>
          <a:off x="6754347" y="3010380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6305D8F7-2660-441E-09B1-9431C1A43DC2}"/>
              </a:ext>
            </a:extLst>
          </p:cNvPr>
          <p:cNvSpPr txBox="1"/>
          <p:nvPr/>
        </p:nvSpPr>
        <p:spPr>
          <a:xfrm>
            <a:off x="7197323" y="4899397"/>
            <a:ext cx="15779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multimodal</a:t>
            </a:r>
          </a:p>
          <a:p>
            <a:pPr algn="ctr"/>
            <a:r>
              <a:rPr lang="en-US" sz="1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8A99E4C-5F5C-0EE0-81BD-4F3E8A0D8917}"/>
              </a:ext>
            </a:extLst>
          </p:cNvPr>
          <p:cNvCxnSpPr>
            <a:cxnSpLocks/>
            <a:stCxn id="24" idx="3"/>
            <a:endCxn id="25" idx="1"/>
          </p:cNvCxnSpPr>
          <p:nvPr/>
        </p:nvCxnSpPr>
        <p:spPr>
          <a:xfrm>
            <a:off x="2148551" y="5186241"/>
            <a:ext cx="135191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7B37BE0A-0C0C-FDFF-E5D7-3F1B34B446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976" t="10927" r="11177" b="12059"/>
          <a:stretch/>
        </p:blipFill>
        <p:spPr>
          <a:xfrm>
            <a:off x="720912" y="4260475"/>
            <a:ext cx="1427639" cy="18515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2BC4267E-5493-A8B2-F528-8E6D5E4425E2}"/>
              </a:ext>
            </a:extLst>
          </p:cNvPr>
          <p:cNvSpPr/>
          <p:nvPr/>
        </p:nvSpPr>
        <p:spPr>
          <a:xfrm>
            <a:off x="3500465" y="4715536"/>
            <a:ext cx="1729425" cy="94140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NLP</a:t>
            </a:r>
          </a:p>
          <a:p>
            <a:pPr algn="ctr"/>
            <a:r>
              <a:rPr lang="en-US" dirty="0"/>
              <a:t>Encoder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34E5AB-74C5-3770-8EB9-172CBCE403D4}"/>
              </a:ext>
            </a:extLst>
          </p:cNvPr>
          <p:cNvSpPr txBox="1"/>
          <p:nvPr/>
        </p:nvSpPr>
        <p:spPr>
          <a:xfrm>
            <a:off x="957253" y="6134384"/>
            <a:ext cx="9549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DB25E98-9766-85B5-7891-728D01BCC3B7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148551" y="3015763"/>
            <a:ext cx="135191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606BDA9-E10D-CA57-F13B-7CA0ACE2CCF4}"/>
              </a:ext>
            </a:extLst>
          </p:cNvPr>
          <p:cNvCxnSpPr>
            <a:cxnSpLocks/>
          </p:cNvCxnSpPr>
          <p:nvPr/>
        </p:nvCxnSpPr>
        <p:spPr>
          <a:xfrm>
            <a:off x="5343029" y="3015763"/>
            <a:ext cx="331907" cy="41323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6E2F1C11-BD77-0564-A0F1-A8FF7DA6433E}"/>
              </a:ext>
            </a:extLst>
          </p:cNvPr>
          <p:cNvSpPr/>
          <p:nvPr/>
        </p:nvSpPr>
        <p:spPr>
          <a:xfrm>
            <a:off x="3500464" y="2571131"/>
            <a:ext cx="1729425" cy="941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CNN</a:t>
            </a:r>
          </a:p>
          <a:p>
            <a:pPr algn="ctr"/>
            <a:r>
              <a:rPr lang="en-US" dirty="0"/>
              <a:t>Encoder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A2A483-C65D-1611-E93A-43DA914AC8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912" y="2284880"/>
            <a:ext cx="1427639" cy="1461765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1162B9B1-3FB8-3B6F-2646-9F819CE4FEBB}"/>
              </a:ext>
            </a:extLst>
          </p:cNvPr>
          <p:cNvSpPr txBox="1"/>
          <p:nvPr/>
        </p:nvSpPr>
        <p:spPr>
          <a:xfrm>
            <a:off x="733778" y="3756931"/>
            <a:ext cx="1401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97C1145-23E7-D3DA-8AD1-AF868F0013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0501992"/>
              </p:ext>
            </p:extLst>
          </p:nvPr>
        </p:nvGraphicFramePr>
        <p:xfrm>
          <a:off x="9323091" y="3616364"/>
          <a:ext cx="2343891" cy="522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3891">
                  <a:extLst>
                    <a:ext uri="{9D8B030D-6E8A-4147-A177-3AD203B41FA5}">
                      <a16:colId xmlns:a16="http://schemas.microsoft.com/office/drawing/2014/main" val="4002730172"/>
                    </a:ext>
                  </a:extLst>
                </a:gridCol>
              </a:tblGrid>
              <a:tr h="5227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P(outcome | data)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15260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8184D23-CC28-B008-952B-88CA852DF28B}"/>
              </a:ext>
            </a:extLst>
          </p:cNvPr>
          <p:cNvSpPr txBox="1"/>
          <p:nvPr/>
        </p:nvSpPr>
        <p:spPr>
          <a:xfrm>
            <a:off x="6248068" y="3496683"/>
            <a:ext cx="4860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/>
              <a:t>+</a:t>
            </a:r>
          </a:p>
        </p:txBody>
      </p:sp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E2B8BD20-BC6E-EDAE-CD1B-E63322F5C4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4347272"/>
              </p:ext>
            </p:extLst>
          </p:nvPr>
        </p:nvGraphicFramePr>
        <p:xfrm>
          <a:off x="7727366" y="3010380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D8E0B35A-FBF5-3EA2-BF67-ED4A36EFF15A}"/>
              </a:ext>
            </a:extLst>
          </p:cNvPr>
          <p:cNvSpPr txBox="1"/>
          <p:nvPr/>
        </p:nvSpPr>
        <p:spPr>
          <a:xfrm>
            <a:off x="7220932" y="3496683"/>
            <a:ext cx="4860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/>
              <a:t>=</a:t>
            </a: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6B2451A1-2943-E8D8-C7BE-B7BCD9027BF2}"/>
              </a:ext>
            </a:extLst>
          </p:cNvPr>
          <p:cNvSpPr/>
          <p:nvPr/>
        </p:nvSpPr>
        <p:spPr>
          <a:xfrm rot="16200000">
            <a:off x="6342310" y="2027193"/>
            <a:ext cx="297546" cy="142351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115F7B-A0FD-5CE7-2853-5BC034DD507B}"/>
              </a:ext>
            </a:extLst>
          </p:cNvPr>
          <p:cNvSpPr txBox="1"/>
          <p:nvPr/>
        </p:nvSpPr>
        <p:spPr>
          <a:xfrm>
            <a:off x="6318617" y="2100214"/>
            <a:ext cx="3703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Contrastive (e.g., CLIP) loss applied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F53B9A-021B-4E7C-7076-C8D02D011BB5}"/>
              </a:ext>
            </a:extLst>
          </p:cNvPr>
          <p:cNvSpPr txBox="1"/>
          <p:nvPr/>
        </p:nvSpPr>
        <p:spPr>
          <a:xfrm>
            <a:off x="8964358" y="4779782"/>
            <a:ext cx="30613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Train independently to predict outcome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FontTx/>
              <a:buAutoNum type="arabicPeriod"/>
            </a:pPr>
            <a:r>
              <a:rPr lang="en-US" dirty="0"/>
              <a:t>Train together to (a) predict outcome, and (b) reduce contrastive loss</a:t>
            </a:r>
          </a:p>
        </p:txBody>
      </p:sp>
    </p:spTree>
    <p:extLst>
      <p:ext uri="{BB962C8B-B14F-4D97-AF65-F5344CB8AC3E}">
        <p14:creationId xmlns:p14="http://schemas.microsoft.com/office/powerpoint/2010/main" val="3204434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188"/>
    </mc:Choice>
    <mc:Fallback xmlns="">
      <p:transition spd="slow" advTm="34188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26136-E754-8014-7DCC-3D9C480D6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CDED086-F953-6086-A0B9-DDC769F1A5EE}"/>
              </a:ext>
            </a:extLst>
          </p:cNvPr>
          <p:cNvCxnSpPr>
            <a:cxnSpLocks/>
          </p:cNvCxnSpPr>
          <p:nvPr/>
        </p:nvCxnSpPr>
        <p:spPr>
          <a:xfrm flipV="1">
            <a:off x="5343029" y="4413865"/>
            <a:ext cx="1238775" cy="7498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A3C005A3-AB18-BA83-E379-1440A8D0A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68" y="221171"/>
            <a:ext cx="6672467" cy="1591351"/>
          </a:xfrm>
        </p:spPr>
        <p:txBody>
          <a:bodyPr/>
          <a:lstStyle/>
          <a:p>
            <a:r>
              <a:rPr lang="en-US" dirty="0"/>
              <a:t>Joint fusion in shared representation space</a:t>
            </a:r>
          </a:p>
        </p:txBody>
      </p:sp>
      <p:graphicFrame>
        <p:nvGraphicFramePr>
          <p:cNvPr id="9" name="Table 13">
            <a:extLst>
              <a:ext uri="{FF2B5EF4-FFF2-40B4-BE49-F238E27FC236}">
                <a16:creationId xmlns:a16="http://schemas.microsoft.com/office/drawing/2014/main" id="{21D861EA-CF79-2C74-DF31-014FD983198B}"/>
              </a:ext>
            </a:extLst>
          </p:cNvPr>
          <p:cNvGraphicFramePr>
            <a:graphicFrameLocks noGrp="1"/>
          </p:cNvGraphicFramePr>
          <p:nvPr/>
        </p:nvGraphicFramePr>
        <p:xfrm>
          <a:off x="5778771" y="3015762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A355CA9-F2C9-8618-25E3-E8054633C6F6}"/>
              </a:ext>
            </a:extLst>
          </p:cNvPr>
          <p:cNvCxnSpPr>
            <a:cxnSpLocks/>
          </p:cNvCxnSpPr>
          <p:nvPr/>
        </p:nvCxnSpPr>
        <p:spPr>
          <a:xfrm flipV="1">
            <a:off x="8401455" y="3877750"/>
            <a:ext cx="690523" cy="14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A103939-40D3-8FF6-C613-1F6F9CFE3256}"/>
              </a:ext>
            </a:extLst>
          </p:cNvPr>
          <p:cNvSpPr txBox="1"/>
          <p:nvPr/>
        </p:nvSpPr>
        <p:spPr>
          <a:xfrm>
            <a:off x="8068566" y="3910819"/>
            <a:ext cx="1356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</a:t>
            </a:r>
          </a:p>
        </p:txBody>
      </p:sp>
      <p:graphicFrame>
        <p:nvGraphicFramePr>
          <p:cNvPr id="16" name="Table 13">
            <a:extLst>
              <a:ext uri="{FF2B5EF4-FFF2-40B4-BE49-F238E27FC236}">
                <a16:creationId xmlns:a16="http://schemas.microsoft.com/office/drawing/2014/main" id="{F5041BAA-4522-0513-3A08-DC7BF44CBD17}"/>
              </a:ext>
            </a:extLst>
          </p:cNvPr>
          <p:cNvGraphicFramePr>
            <a:graphicFrameLocks noGrp="1"/>
          </p:cNvGraphicFramePr>
          <p:nvPr/>
        </p:nvGraphicFramePr>
        <p:xfrm>
          <a:off x="6754347" y="3010380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46EF8044-453B-55D6-9A44-9ED979E34D70}"/>
              </a:ext>
            </a:extLst>
          </p:cNvPr>
          <p:cNvSpPr txBox="1"/>
          <p:nvPr/>
        </p:nvSpPr>
        <p:spPr>
          <a:xfrm>
            <a:off x="7197323" y="4899397"/>
            <a:ext cx="15779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multimodal</a:t>
            </a:r>
          </a:p>
          <a:p>
            <a:pPr algn="ctr"/>
            <a:r>
              <a:rPr lang="en-US" sz="1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42AAD2D-542C-CECF-B8EB-377E80214CF4}"/>
              </a:ext>
            </a:extLst>
          </p:cNvPr>
          <p:cNvCxnSpPr>
            <a:cxnSpLocks/>
            <a:stCxn id="24" idx="3"/>
            <a:endCxn id="25" idx="1"/>
          </p:cNvCxnSpPr>
          <p:nvPr/>
        </p:nvCxnSpPr>
        <p:spPr>
          <a:xfrm>
            <a:off x="2148551" y="5186241"/>
            <a:ext cx="135191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948D0510-B0B9-99E8-93B9-43D6041D023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976" t="10927" r="11177" b="12059"/>
          <a:stretch/>
        </p:blipFill>
        <p:spPr>
          <a:xfrm>
            <a:off x="720912" y="4260475"/>
            <a:ext cx="1427639" cy="18515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C13FDD6D-8AF1-719D-7996-1BD9EE33E311}"/>
              </a:ext>
            </a:extLst>
          </p:cNvPr>
          <p:cNvSpPr/>
          <p:nvPr/>
        </p:nvSpPr>
        <p:spPr>
          <a:xfrm>
            <a:off x="3500465" y="4715536"/>
            <a:ext cx="1729425" cy="94140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NLP</a:t>
            </a:r>
          </a:p>
          <a:p>
            <a:pPr algn="ctr"/>
            <a:r>
              <a:rPr lang="en-US" dirty="0"/>
              <a:t>Encoder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D84B4EB-24F8-36F9-536B-F6C5720B52EF}"/>
              </a:ext>
            </a:extLst>
          </p:cNvPr>
          <p:cNvSpPr txBox="1"/>
          <p:nvPr/>
        </p:nvSpPr>
        <p:spPr>
          <a:xfrm>
            <a:off x="957253" y="6134384"/>
            <a:ext cx="9549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16B3156-0BD0-500E-6F26-7E57B90A40A8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148551" y="3015763"/>
            <a:ext cx="135191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810BAE4-3627-818A-106C-DB5957816C54}"/>
              </a:ext>
            </a:extLst>
          </p:cNvPr>
          <p:cNvCxnSpPr>
            <a:cxnSpLocks/>
          </p:cNvCxnSpPr>
          <p:nvPr/>
        </p:nvCxnSpPr>
        <p:spPr>
          <a:xfrm>
            <a:off x="5343029" y="3015763"/>
            <a:ext cx="331907" cy="41323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F602BA0F-646E-963D-B099-4E531171F132}"/>
              </a:ext>
            </a:extLst>
          </p:cNvPr>
          <p:cNvSpPr/>
          <p:nvPr/>
        </p:nvSpPr>
        <p:spPr>
          <a:xfrm>
            <a:off x="3500464" y="2571131"/>
            <a:ext cx="1729425" cy="941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CNN</a:t>
            </a:r>
          </a:p>
          <a:p>
            <a:pPr algn="ctr"/>
            <a:r>
              <a:rPr lang="en-US" dirty="0"/>
              <a:t>Encoder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4A6BE2-BE3F-A3D2-F2EC-9B5A73B305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912" y="2284880"/>
            <a:ext cx="1427639" cy="1461765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E223AEBD-6F59-6080-863D-CD132EE7BE2B}"/>
              </a:ext>
            </a:extLst>
          </p:cNvPr>
          <p:cNvSpPr txBox="1"/>
          <p:nvPr/>
        </p:nvSpPr>
        <p:spPr>
          <a:xfrm>
            <a:off x="733778" y="3756931"/>
            <a:ext cx="1401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0C3302A-7DA0-CAAA-61D3-52DE9E7D1785}"/>
              </a:ext>
            </a:extLst>
          </p:cNvPr>
          <p:cNvGraphicFramePr>
            <a:graphicFrameLocks noGrp="1"/>
          </p:cNvGraphicFramePr>
          <p:nvPr/>
        </p:nvGraphicFramePr>
        <p:xfrm>
          <a:off x="9323091" y="3616364"/>
          <a:ext cx="2343891" cy="522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3891">
                  <a:extLst>
                    <a:ext uri="{9D8B030D-6E8A-4147-A177-3AD203B41FA5}">
                      <a16:colId xmlns:a16="http://schemas.microsoft.com/office/drawing/2014/main" val="4002730172"/>
                    </a:ext>
                  </a:extLst>
                </a:gridCol>
              </a:tblGrid>
              <a:tr h="5227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P(outcome | data)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15260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F9D85BC-B563-42D2-6C5B-1E5DBB40504B}"/>
              </a:ext>
            </a:extLst>
          </p:cNvPr>
          <p:cNvSpPr txBox="1"/>
          <p:nvPr/>
        </p:nvSpPr>
        <p:spPr>
          <a:xfrm>
            <a:off x="6248068" y="3496683"/>
            <a:ext cx="4860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/>
              <a:t>+</a:t>
            </a:r>
          </a:p>
        </p:txBody>
      </p:sp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2B4AFDA3-3B2B-E260-B7F7-255EF4535F41}"/>
              </a:ext>
            </a:extLst>
          </p:cNvPr>
          <p:cNvGraphicFramePr>
            <a:graphicFrameLocks noGrp="1"/>
          </p:cNvGraphicFramePr>
          <p:nvPr/>
        </p:nvGraphicFramePr>
        <p:xfrm>
          <a:off x="7727366" y="3010380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81B0DF3A-366C-9024-C3E0-C29F0955ED4F}"/>
              </a:ext>
            </a:extLst>
          </p:cNvPr>
          <p:cNvSpPr txBox="1"/>
          <p:nvPr/>
        </p:nvSpPr>
        <p:spPr>
          <a:xfrm>
            <a:off x="7220932" y="3496683"/>
            <a:ext cx="4860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/>
              <a:t>=</a:t>
            </a: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29E27C42-EA13-BB15-1F41-9C77598AC002}"/>
              </a:ext>
            </a:extLst>
          </p:cNvPr>
          <p:cNvSpPr/>
          <p:nvPr/>
        </p:nvSpPr>
        <p:spPr>
          <a:xfrm rot="16200000">
            <a:off x="6342310" y="2027193"/>
            <a:ext cx="297546" cy="142351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7DB302-FAD6-C3A5-DD73-FD1D74263C2F}"/>
              </a:ext>
            </a:extLst>
          </p:cNvPr>
          <p:cNvSpPr txBox="1"/>
          <p:nvPr/>
        </p:nvSpPr>
        <p:spPr>
          <a:xfrm>
            <a:off x="6318617" y="2100214"/>
            <a:ext cx="3703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Contrastive (e.g., CLIP) loss applied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25C4ED-22E9-B695-4BD5-1C7F8423524A}"/>
              </a:ext>
            </a:extLst>
          </p:cNvPr>
          <p:cNvSpPr txBox="1"/>
          <p:nvPr/>
        </p:nvSpPr>
        <p:spPr>
          <a:xfrm>
            <a:off x="8964358" y="4779782"/>
            <a:ext cx="30613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Train independently to predict outcome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FontTx/>
              <a:buAutoNum type="arabicPeriod"/>
            </a:pPr>
            <a:r>
              <a:rPr lang="en-US" dirty="0"/>
              <a:t>Train together to (a) predict outcome, and (b) reduce contrastive loss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DFB1E7-95EE-6C49-E2EF-756FFFF9C6B5}"/>
              </a:ext>
            </a:extLst>
          </p:cNvPr>
          <p:cNvSpPr txBox="1"/>
          <p:nvPr/>
        </p:nvSpPr>
        <p:spPr>
          <a:xfrm>
            <a:off x="6754347" y="446833"/>
            <a:ext cx="4774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Q: What happens if we train to minimize the contrastive loss only?</a:t>
            </a:r>
          </a:p>
        </p:txBody>
      </p:sp>
    </p:spTree>
    <p:extLst>
      <p:ext uri="{BB962C8B-B14F-4D97-AF65-F5344CB8AC3E}">
        <p14:creationId xmlns:p14="http://schemas.microsoft.com/office/powerpoint/2010/main" val="635025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188"/>
    </mc:Choice>
    <mc:Fallback xmlns="">
      <p:transition spd="slow" advTm="34188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486E4-5B72-CBBC-E7E5-0E9634E3B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BEC9112-4CA8-CF2E-6CFD-2EB77300DC8C}"/>
              </a:ext>
            </a:extLst>
          </p:cNvPr>
          <p:cNvCxnSpPr>
            <a:cxnSpLocks/>
          </p:cNvCxnSpPr>
          <p:nvPr/>
        </p:nvCxnSpPr>
        <p:spPr>
          <a:xfrm flipV="1">
            <a:off x="5343029" y="4413865"/>
            <a:ext cx="1238775" cy="7498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2BAE921B-9DD8-E023-776E-17348AE08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68" y="221171"/>
            <a:ext cx="6672467" cy="1591351"/>
          </a:xfrm>
        </p:spPr>
        <p:txBody>
          <a:bodyPr/>
          <a:lstStyle/>
          <a:p>
            <a:r>
              <a:rPr lang="en-US" dirty="0"/>
              <a:t>Joint fusion in shared representation space</a:t>
            </a:r>
          </a:p>
        </p:txBody>
      </p:sp>
      <p:graphicFrame>
        <p:nvGraphicFramePr>
          <p:cNvPr id="9" name="Table 13">
            <a:extLst>
              <a:ext uri="{FF2B5EF4-FFF2-40B4-BE49-F238E27FC236}">
                <a16:creationId xmlns:a16="http://schemas.microsoft.com/office/drawing/2014/main" id="{D9921790-C6C1-7E80-C437-D17AEA7AF7BC}"/>
              </a:ext>
            </a:extLst>
          </p:cNvPr>
          <p:cNvGraphicFramePr>
            <a:graphicFrameLocks noGrp="1"/>
          </p:cNvGraphicFramePr>
          <p:nvPr/>
        </p:nvGraphicFramePr>
        <p:xfrm>
          <a:off x="5778771" y="3015762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1C8830B-4D84-6649-5C9E-B1B2A9275614}"/>
              </a:ext>
            </a:extLst>
          </p:cNvPr>
          <p:cNvCxnSpPr>
            <a:cxnSpLocks/>
          </p:cNvCxnSpPr>
          <p:nvPr/>
        </p:nvCxnSpPr>
        <p:spPr>
          <a:xfrm flipV="1">
            <a:off x="8401455" y="3877750"/>
            <a:ext cx="690523" cy="14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D16250E-1395-35D5-E6C4-47A55D4BBBFE}"/>
              </a:ext>
            </a:extLst>
          </p:cNvPr>
          <p:cNvSpPr txBox="1"/>
          <p:nvPr/>
        </p:nvSpPr>
        <p:spPr>
          <a:xfrm>
            <a:off x="8068566" y="3910819"/>
            <a:ext cx="1356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</a:t>
            </a:r>
          </a:p>
        </p:txBody>
      </p:sp>
      <p:graphicFrame>
        <p:nvGraphicFramePr>
          <p:cNvPr id="16" name="Table 13">
            <a:extLst>
              <a:ext uri="{FF2B5EF4-FFF2-40B4-BE49-F238E27FC236}">
                <a16:creationId xmlns:a16="http://schemas.microsoft.com/office/drawing/2014/main" id="{A6546F5F-D3A0-BB4B-9CF3-99FF5DCC5E31}"/>
              </a:ext>
            </a:extLst>
          </p:cNvPr>
          <p:cNvGraphicFramePr>
            <a:graphicFrameLocks noGrp="1"/>
          </p:cNvGraphicFramePr>
          <p:nvPr/>
        </p:nvGraphicFramePr>
        <p:xfrm>
          <a:off x="6754347" y="3010380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BC30CFE1-F62C-56E4-FDD3-3E6222785599}"/>
              </a:ext>
            </a:extLst>
          </p:cNvPr>
          <p:cNvSpPr txBox="1"/>
          <p:nvPr/>
        </p:nvSpPr>
        <p:spPr>
          <a:xfrm>
            <a:off x="7197323" y="4899397"/>
            <a:ext cx="15779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multimodal</a:t>
            </a:r>
          </a:p>
          <a:p>
            <a:pPr algn="ctr"/>
            <a:r>
              <a:rPr lang="en-US" sz="1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3D091EA-5547-028E-C97A-DF98654FAA00}"/>
              </a:ext>
            </a:extLst>
          </p:cNvPr>
          <p:cNvCxnSpPr>
            <a:cxnSpLocks/>
            <a:stCxn id="24" idx="3"/>
            <a:endCxn id="25" idx="1"/>
          </p:cNvCxnSpPr>
          <p:nvPr/>
        </p:nvCxnSpPr>
        <p:spPr>
          <a:xfrm>
            <a:off x="2148551" y="5186241"/>
            <a:ext cx="135191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81A2C182-6541-5277-AEF0-DD92E6CF6FF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976" t="10927" r="11177" b="12059"/>
          <a:stretch/>
        </p:blipFill>
        <p:spPr>
          <a:xfrm>
            <a:off x="720912" y="4260475"/>
            <a:ext cx="1427639" cy="18515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B9A1CC8-3662-C828-0033-3E8B95ED3488}"/>
              </a:ext>
            </a:extLst>
          </p:cNvPr>
          <p:cNvSpPr/>
          <p:nvPr/>
        </p:nvSpPr>
        <p:spPr>
          <a:xfrm>
            <a:off x="3500465" y="4715536"/>
            <a:ext cx="1729425" cy="94140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NLP</a:t>
            </a:r>
          </a:p>
          <a:p>
            <a:pPr algn="ctr"/>
            <a:r>
              <a:rPr lang="en-US" dirty="0"/>
              <a:t>Encoder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A418F4-D9B9-8624-D9D1-FEDF7738A564}"/>
              </a:ext>
            </a:extLst>
          </p:cNvPr>
          <p:cNvSpPr txBox="1"/>
          <p:nvPr/>
        </p:nvSpPr>
        <p:spPr>
          <a:xfrm>
            <a:off x="957253" y="6134384"/>
            <a:ext cx="9549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BEBF86C-03F4-9FD7-3381-60E3382F1A41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148551" y="3015763"/>
            <a:ext cx="135191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7545382-6EAF-4DA7-7DF0-092F52EBEDF4}"/>
              </a:ext>
            </a:extLst>
          </p:cNvPr>
          <p:cNvCxnSpPr>
            <a:cxnSpLocks/>
          </p:cNvCxnSpPr>
          <p:nvPr/>
        </p:nvCxnSpPr>
        <p:spPr>
          <a:xfrm>
            <a:off x="5343029" y="3015763"/>
            <a:ext cx="331907" cy="41323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BD9453A6-2495-82C1-A2B1-20401ADC08F1}"/>
              </a:ext>
            </a:extLst>
          </p:cNvPr>
          <p:cNvSpPr/>
          <p:nvPr/>
        </p:nvSpPr>
        <p:spPr>
          <a:xfrm>
            <a:off x="3500464" y="2571131"/>
            <a:ext cx="1729425" cy="941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CNN</a:t>
            </a:r>
          </a:p>
          <a:p>
            <a:pPr algn="ctr"/>
            <a:r>
              <a:rPr lang="en-US" dirty="0"/>
              <a:t>Encoder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78D1C0-2075-C1AD-3D60-1F4BEB69A3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912" y="2284880"/>
            <a:ext cx="1427639" cy="1461765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8A0DF1F0-7746-94E5-C556-410C3A0E3982}"/>
              </a:ext>
            </a:extLst>
          </p:cNvPr>
          <p:cNvSpPr txBox="1"/>
          <p:nvPr/>
        </p:nvSpPr>
        <p:spPr>
          <a:xfrm>
            <a:off x="733778" y="3756931"/>
            <a:ext cx="1401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9D32D39-B45E-32CF-AEB9-F92799B70968}"/>
              </a:ext>
            </a:extLst>
          </p:cNvPr>
          <p:cNvGraphicFramePr>
            <a:graphicFrameLocks noGrp="1"/>
          </p:cNvGraphicFramePr>
          <p:nvPr/>
        </p:nvGraphicFramePr>
        <p:xfrm>
          <a:off x="9323091" y="3616364"/>
          <a:ext cx="2343891" cy="522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3891">
                  <a:extLst>
                    <a:ext uri="{9D8B030D-6E8A-4147-A177-3AD203B41FA5}">
                      <a16:colId xmlns:a16="http://schemas.microsoft.com/office/drawing/2014/main" val="4002730172"/>
                    </a:ext>
                  </a:extLst>
                </a:gridCol>
              </a:tblGrid>
              <a:tr h="5227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P(outcome | data)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15260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31B7E53-3FFB-333B-EABB-D2EF9DDF5626}"/>
              </a:ext>
            </a:extLst>
          </p:cNvPr>
          <p:cNvSpPr txBox="1"/>
          <p:nvPr/>
        </p:nvSpPr>
        <p:spPr>
          <a:xfrm>
            <a:off x="6248068" y="3496683"/>
            <a:ext cx="4860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/>
              <a:t>+</a:t>
            </a:r>
          </a:p>
        </p:txBody>
      </p:sp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C2E0CE37-CED1-C406-00FD-CF76C77F00E2}"/>
              </a:ext>
            </a:extLst>
          </p:cNvPr>
          <p:cNvGraphicFramePr>
            <a:graphicFrameLocks noGrp="1"/>
          </p:cNvGraphicFramePr>
          <p:nvPr/>
        </p:nvGraphicFramePr>
        <p:xfrm>
          <a:off x="7727366" y="3010380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EA418A67-28D9-4EB4-F595-AA4A7FBC1C10}"/>
              </a:ext>
            </a:extLst>
          </p:cNvPr>
          <p:cNvSpPr txBox="1"/>
          <p:nvPr/>
        </p:nvSpPr>
        <p:spPr>
          <a:xfrm>
            <a:off x="7220932" y="3496683"/>
            <a:ext cx="4860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/>
              <a:t>=</a:t>
            </a: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40BDD189-C82A-85A1-C516-1C9BE809F6F1}"/>
              </a:ext>
            </a:extLst>
          </p:cNvPr>
          <p:cNvSpPr/>
          <p:nvPr/>
        </p:nvSpPr>
        <p:spPr>
          <a:xfrm rot="16200000">
            <a:off x="6342310" y="2027193"/>
            <a:ext cx="297546" cy="142351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D86E54-BD7A-ADF5-173D-F44178BC1F06}"/>
              </a:ext>
            </a:extLst>
          </p:cNvPr>
          <p:cNvSpPr txBox="1"/>
          <p:nvPr/>
        </p:nvSpPr>
        <p:spPr>
          <a:xfrm>
            <a:off x="6318617" y="2100214"/>
            <a:ext cx="3703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Contrastive (e.g., CLIP) loss applied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1BE900-5D7D-3506-2A81-9F55042101A9}"/>
              </a:ext>
            </a:extLst>
          </p:cNvPr>
          <p:cNvSpPr txBox="1"/>
          <p:nvPr/>
        </p:nvSpPr>
        <p:spPr>
          <a:xfrm>
            <a:off x="8964358" y="4779782"/>
            <a:ext cx="30613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Train independently to predict outcome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FontTx/>
              <a:buAutoNum type="arabicPeriod"/>
            </a:pPr>
            <a:r>
              <a:rPr lang="en-US" dirty="0"/>
              <a:t>Train together to (a) predict outcome, and (b) reduce contrastive loss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EE780E-C6C9-8D15-FF18-6766C59B23CC}"/>
              </a:ext>
            </a:extLst>
          </p:cNvPr>
          <p:cNvSpPr txBox="1"/>
          <p:nvPr/>
        </p:nvSpPr>
        <p:spPr>
          <a:xfrm>
            <a:off x="6754347" y="446833"/>
            <a:ext cx="47748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Q: What happens if we train to minimize the contrastive loss only?</a:t>
            </a:r>
          </a:p>
          <a:p>
            <a:endParaRPr lang="en-US" dirty="0"/>
          </a:p>
          <a:p>
            <a:r>
              <a:rPr lang="en-US" dirty="0"/>
              <a:t>A: we will lose </a:t>
            </a:r>
            <a:r>
              <a:rPr lang="en-US" i="1" dirty="0"/>
              <a:t>distinct</a:t>
            </a:r>
            <a:r>
              <a:rPr lang="en-US" dirty="0"/>
              <a:t> information between modalities that is predictive of the outcome</a:t>
            </a:r>
          </a:p>
        </p:txBody>
      </p:sp>
    </p:spTree>
    <p:extLst>
      <p:ext uri="{BB962C8B-B14F-4D97-AF65-F5344CB8AC3E}">
        <p14:creationId xmlns:p14="http://schemas.microsoft.com/office/powerpoint/2010/main" val="4178399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188"/>
    </mc:Choice>
    <mc:Fallback xmlns="">
      <p:transition spd="slow" advTm="34188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C2DF5-F7E4-0C75-403A-1DE19F259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DBF2FB1-E5D5-2103-7F25-68B7DA7923F8}"/>
              </a:ext>
            </a:extLst>
          </p:cNvPr>
          <p:cNvCxnSpPr>
            <a:cxnSpLocks/>
          </p:cNvCxnSpPr>
          <p:nvPr/>
        </p:nvCxnSpPr>
        <p:spPr>
          <a:xfrm flipV="1">
            <a:off x="5343029" y="4413865"/>
            <a:ext cx="1238775" cy="7498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AA01165D-4C18-D6AF-6CF2-66A3EBEC3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68" y="221171"/>
            <a:ext cx="6672467" cy="1591351"/>
          </a:xfrm>
        </p:spPr>
        <p:txBody>
          <a:bodyPr/>
          <a:lstStyle/>
          <a:p>
            <a:r>
              <a:rPr lang="en-US" dirty="0"/>
              <a:t>Joint fusion in shared representation space</a:t>
            </a:r>
          </a:p>
        </p:txBody>
      </p:sp>
      <p:graphicFrame>
        <p:nvGraphicFramePr>
          <p:cNvPr id="9" name="Table 13">
            <a:extLst>
              <a:ext uri="{FF2B5EF4-FFF2-40B4-BE49-F238E27FC236}">
                <a16:creationId xmlns:a16="http://schemas.microsoft.com/office/drawing/2014/main" id="{0423729D-AC80-CC2D-F780-87E97F174335}"/>
              </a:ext>
            </a:extLst>
          </p:cNvPr>
          <p:cNvGraphicFramePr>
            <a:graphicFrameLocks noGrp="1"/>
          </p:cNvGraphicFramePr>
          <p:nvPr/>
        </p:nvGraphicFramePr>
        <p:xfrm>
          <a:off x="5778771" y="3015762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8A39D2D-536F-4A25-0CEA-E5BF56A03F60}"/>
              </a:ext>
            </a:extLst>
          </p:cNvPr>
          <p:cNvCxnSpPr>
            <a:cxnSpLocks/>
          </p:cNvCxnSpPr>
          <p:nvPr/>
        </p:nvCxnSpPr>
        <p:spPr>
          <a:xfrm flipV="1">
            <a:off x="8401455" y="3877750"/>
            <a:ext cx="690523" cy="14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EB0B421-E48D-B284-138E-360CE6AD6DE2}"/>
              </a:ext>
            </a:extLst>
          </p:cNvPr>
          <p:cNvSpPr txBox="1"/>
          <p:nvPr/>
        </p:nvSpPr>
        <p:spPr>
          <a:xfrm>
            <a:off x="8068566" y="3910819"/>
            <a:ext cx="1356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</a:t>
            </a:r>
          </a:p>
        </p:txBody>
      </p:sp>
      <p:graphicFrame>
        <p:nvGraphicFramePr>
          <p:cNvPr id="16" name="Table 13">
            <a:extLst>
              <a:ext uri="{FF2B5EF4-FFF2-40B4-BE49-F238E27FC236}">
                <a16:creationId xmlns:a16="http://schemas.microsoft.com/office/drawing/2014/main" id="{A22CAACB-05B0-7C20-F9E9-6915E732546B}"/>
              </a:ext>
            </a:extLst>
          </p:cNvPr>
          <p:cNvGraphicFramePr>
            <a:graphicFrameLocks noGrp="1"/>
          </p:cNvGraphicFramePr>
          <p:nvPr/>
        </p:nvGraphicFramePr>
        <p:xfrm>
          <a:off x="6754347" y="3010380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7F4B6CA7-AC18-03E2-5769-35D93E5E6062}"/>
              </a:ext>
            </a:extLst>
          </p:cNvPr>
          <p:cNvSpPr txBox="1"/>
          <p:nvPr/>
        </p:nvSpPr>
        <p:spPr>
          <a:xfrm>
            <a:off x="7197323" y="4899397"/>
            <a:ext cx="15779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multimodal</a:t>
            </a:r>
          </a:p>
          <a:p>
            <a:pPr algn="ctr"/>
            <a:r>
              <a:rPr lang="en-US" sz="1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D759869-7384-D311-B096-C2FC154D954E}"/>
              </a:ext>
            </a:extLst>
          </p:cNvPr>
          <p:cNvCxnSpPr>
            <a:cxnSpLocks/>
            <a:stCxn id="24" idx="3"/>
            <a:endCxn id="25" idx="1"/>
          </p:cNvCxnSpPr>
          <p:nvPr/>
        </p:nvCxnSpPr>
        <p:spPr>
          <a:xfrm>
            <a:off x="2148551" y="5186241"/>
            <a:ext cx="135191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796F5A22-9846-F3C9-9E76-0782C587354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976" t="10927" r="11177" b="12059"/>
          <a:stretch/>
        </p:blipFill>
        <p:spPr>
          <a:xfrm>
            <a:off x="720912" y="4260475"/>
            <a:ext cx="1427639" cy="18515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61F2BC7C-9EC3-6AEA-B338-B6AC2741C487}"/>
              </a:ext>
            </a:extLst>
          </p:cNvPr>
          <p:cNvSpPr/>
          <p:nvPr/>
        </p:nvSpPr>
        <p:spPr>
          <a:xfrm>
            <a:off x="3500465" y="4715536"/>
            <a:ext cx="1729425" cy="94140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NLP</a:t>
            </a:r>
          </a:p>
          <a:p>
            <a:pPr algn="ctr"/>
            <a:r>
              <a:rPr lang="en-US" dirty="0"/>
              <a:t>Encoder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AA48D1C-725F-F42C-2948-A9AA29560BC6}"/>
              </a:ext>
            </a:extLst>
          </p:cNvPr>
          <p:cNvSpPr txBox="1"/>
          <p:nvPr/>
        </p:nvSpPr>
        <p:spPr>
          <a:xfrm>
            <a:off x="957253" y="6134384"/>
            <a:ext cx="9549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84EE8AA-426F-B666-A431-B22B5A3FBE7D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148551" y="3015763"/>
            <a:ext cx="135191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0F91533-3107-D5DF-5567-CB6C94F5711F}"/>
              </a:ext>
            </a:extLst>
          </p:cNvPr>
          <p:cNvCxnSpPr>
            <a:cxnSpLocks/>
          </p:cNvCxnSpPr>
          <p:nvPr/>
        </p:nvCxnSpPr>
        <p:spPr>
          <a:xfrm>
            <a:off x="5343029" y="3015763"/>
            <a:ext cx="331907" cy="41323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42687E04-46D4-8323-15C5-6944A0CB75A1}"/>
              </a:ext>
            </a:extLst>
          </p:cNvPr>
          <p:cNvSpPr/>
          <p:nvPr/>
        </p:nvSpPr>
        <p:spPr>
          <a:xfrm>
            <a:off x="3500464" y="2571131"/>
            <a:ext cx="1729425" cy="941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CNN</a:t>
            </a:r>
          </a:p>
          <a:p>
            <a:pPr algn="ctr"/>
            <a:r>
              <a:rPr lang="en-US" dirty="0"/>
              <a:t>Encoder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FB813F-629A-D1E0-045A-2E5EB47326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912" y="2284880"/>
            <a:ext cx="1427639" cy="1461765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28F90551-AF3E-EBBC-89A4-69D1F37996A0}"/>
              </a:ext>
            </a:extLst>
          </p:cNvPr>
          <p:cNvSpPr txBox="1"/>
          <p:nvPr/>
        </p:nvSpPr>
        <p:spPr>
          <a:xfrm>
            <a:off x="733778" y="3756931"/>
            <a:ext cx="1401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536CE24-7E3A-6A5F-9ABC-4F8587F31FFC}"/>
              </a:ext>
            </a:extLst>
          </p:cNvPr>
          <p:cNvGraphicFramePr>
            <a:graphicFrameLocks noGrp="1"/>
          </p:cNvGraphicFramePr>
          <p:nvPr/>
        </p:nvGraphicFramePr>
        <p:xfrm>
          <a:off x="9323091" y="3616364"/>
          <a:ext cx="2343891" cy="522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3891">
                  <a:extLst>
                    <a:ext uri="{9D8B030D-6E8A-4147-A177-3AD203B41FA5}">
                      <a16:colId xmlns:a16="http://schemas.microsoft.com/office/drawing/2014/main" val="4002730172"/>
                    </a:ext>
                  </a:extLst>
                </a:gridCol>
              </a:tblGrid>
              <a:tr h="5227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P(outcome | data)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15260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0DC48B1-1DFB-F0AA-41B9-3EEE46BEDEA8}"/>
              </a:ext>
            </a:extLst>
          </p:cNvPr>
          <p:cNvSpPr txBox="1"/>
          <p:nvPr/>
        </p:nvSpPr>
        <p:spPr>
          <a:xfrm>
            <a:off x="6248068" y="3496683"/>
            <a:ext cx="4860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/>
              <a:t>+</a:t>
            </a:r>
          </a:p>
        </p:txBody>
      </p:sp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DCCB69A7-4856-F8AE-DD74-E5CA6701E1B9}"/>
              </a:ext>
            </a:extLst>
          </p:cNvPr>
          <p:cNvGraphicFramePr>
            <a:graphicFrameLocks noGrp="1"/>
          </p:cNvGraphicFramePr>
          <p:nvPr/>
        </p:nvGraphicFramePr>
        <p:xfrm>
          <a:off x="7727366" y="3010380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310007AD-1A03-1510-A2B4-7388F8448F69}"/>
              </a:ext>
            </a:extLst>
          </p:cNvPr>
          <p:cNvSpPr txBox="1"/>
          <p:nvPr/>
        </p:nvSpPr>
        <p:spPr>
          <a:xfrm>
            <a:off x="7220932" y="3496683"/>
            <a:ext cx="4860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/>
              <a:t>=</a:t>
            </a: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5DB71121-A456-4FB6-3D1A-7B453AFD2F8C}"/>
              </a:ext>
            </a:extLst>
          </p:cNvPr>
          <p:cNvSpPr/>
          <p:nvPr/>
        </p:nvSpPr>
        <p:spPr>
          <a:xfrm rot="16200000">
            <a:off x="6342310" y="2027193"/>
            <a:ext cx="297546" cy="142351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1E3FAC-CBBD-5516-82D2-9DC0B6CB0C8B}"/>
              </a:ext>
            </a:extLst>
          </p:cNvPr>
          <p:cNvSpPr txBox="1"/>
          <p:nvPr/>
        </p:nvSpPr>
        <p:spPr>
          <a:xfrm>
            <a:off x="6318617" y="2100214"/>
            <a:ext cx="3703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Contrastive (e.g., CLIP) loss applied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09284C-44DC-B0C8-0A63-239D63D2F23B}"/>
              </a:ext>
            </a:extLst>
          </p:cNvPr>
          <p:cNvSpPr txBox="1"/>
          <p:nvPr/>
        </p:nvSpPr>
        <p:spPr>
          <a:xfrm>
            <a:off x="8964358" y="4779782"/>
            <a:ext cx="30613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Train independently to predict outcome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FontTx/>
              <a:buAutoNum type="arabicPeriod"/>
            </a:pPr>
            <a:r>
              <a:rPr lang="en-US" dirty="0"/>
              <a:t>Train together to (a) predict outcome, and (b) reduce contrastive loss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8BDCC0-6AFF-F1F4-C547-8F16311499A8}"/>
              </a:ext>
            </a:extLst>
          </p:cNvPr>
          <p:cNvSpPr txBox="1"/>
          <p:nvPr/>
        </p:nvSpPr>
        <p:spPr>
          <a:xfrm>
            <a:off x="6754347" y="446833"/>
            <a:ext cx="4774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Q: Does this allow interactions between modalities?</a:t>
            </a:r>
          </a:p>
        </p:txBody>
      </p:sp>
    </p:spTree>
    <p:extLst>
      <p:ext uri="{BB962C8B-B14F-4D97-AF65-F5344CB8AC3E}">
        <p14:creationId xmlns:p14="http://schemas.microsoft.com/office/powerpoint/2010/main" val="1381640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188"/>
    </mc:Choice>
    <mc:Fallback xmlns="">
      <p:transition spd="slow" advTm="34188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9B8F0-F449-7520-B66F-FB238F826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CE91F8E-F5FA-F74B-FA18-A8AF0C5F257C}"/>
              </a:ext>
            </a:extLst>
          </p:cNvPr>
          <p:cNvCxnSpPr>
            <a:cxnSpLocks/>
          </p:cNvCxnSpPr>
          <p:nvPr/>
        </p:nvCxnSpPr>
        <p:spPr>
          <a:xfrm flipV="1">
            <a:off x="5343029" y="4413865"/>
            <a:ext cx="1238775" cy="7498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41A67E16-617B-24E1-5980-9DB419E2C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68" y="221171"/>
            <a:ext cx="6672467" cy="1591351"/>
          </a:xfrm>
        </p:spPr>
        <p:txBody>
          <a:bodyPr/>
          <a:lstStyle/>
          <a:p>
            <a:r>
              <a:rPr lang="en-US" dirty="0"/>
              <a:t>Joint fusion in shared representation space</a:t>
            </a:r>
          </a:p>
        </p:txBody>
      </p:sp>
      <p:graphicFrame>
        <p:nvGraphicFramePr>
          <p:cNvPr id="9" name="Table 13">
            <a:extLst>
              <a:ext uri="{FF2B5EF4-FFF2-40B4-BE49-F238E27FC236}">
                <a16:creationId xmlns:a16="http://schemas.microsoft.com/office/drawing/2014/main" id="{3BCCD4A8-3204-2EA8-6E2B-16CA444FE37C}"/>
              </a:ext>
            </a:extLst>
          </p:cNvPr>
          <p:cNvGraphicFramePr>
            <a:graphicFrameLocks noGrp="1"/>
          </p:cNvGraphicFramePr>
          <p:nvPr/>
        </p:nvGraphicFramePr>
        <p:xfrm>
          <a:off x="5778771" y="3015762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E3C938F-D0CF-F4F1-804E-9867E04CAEDC}"/>
              </a:ext>
            </a:extLst>
          </p:cNvPr>
          <p:cNvCxnSpPr>
            <a:cxnSpLocks/>
          </p:cNvCxnSpPr>
          <p:nvPr/>
        </p:nvCxnSpPr>
        <p:spPr>
          <a:xfrm flipV="1">
            <a:off x="8401455" y="3877750"/>
            <a:ext cx="690523" cy="14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BEA2B01-7319-37B7-2C1D-E179A118136C}"/>
              </a:ext>
            </a:extLst>
          </p:cNvPr>
          <p:cNvSpPr txBox="1"/>
          <p:nvPr/>
        </p:nvSpPr>
        <p:spPr>
          <a:xfrm>
            <a:off x="8068566" y="3910819"/>
            <a:ext cx="1356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</a:t>
            </a:r>
          </a:p>
        </p:txBody>
      </p:sp>
      <p:graphicFrame>
        <p:nvGraphicFramePr>
          <p:cNvPr id="16" name="Table 13">
            <a:extLst>
              <a:ext uri="{FF2B5EF4-FFF2-40B4-BE49-F238E27FC236}">
                <a16:creationId xmlns:a16="http://schemas.microsoft.com/office/drawing/2014/main" id="{6E79CD9B-9A0D-503C-13CA-D0ADA9E2876C}"/>
              </a:ext>
            </a:extLst>
          </p:cNvPr>
          <p:cNvGraphicFramePr>
            <a:graphicFrameLocks noGrp="1"/>
          </p:cNvGraphicFramePr>
          <p:nvPr/>
        </p:nvGraphicFramePr>
        <p:xfrm>
          <a:off x="6754347" y="3010380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9EDA8733-3800-C67F-D56F-97B0B703D7DE}"/>
              </a:ext>
            </a:extLst>
          </p:cNvPr>
          <p:cNvSpPr txBox="1"/>
          <p:nvPr/>
        </p:nvSpPr>
        <p:spPr>
          <a:xfrm>
            <a:off x="7197323" y="4899397"/>
            <a:ext cx="15779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multimodal</a:t>
            </a:r>
          </a:p>
          <a:p>
            <a:pPr algn="ctr"/>
            <a:r>
              <a:rPr lang="en-US" sz="1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F0ABFB2-F5C9-359D-E758-3C31030E7059}"/>
              </a:ext>
            </a:extLst>
          </p:cNvPr>
          <p:cNvCxnSpPr>
            <a:cxnSpLocks/>
            <a:stCxn id="24" idx="3"/>
            <a:endCxn id="25" idx="1"/>
          </p:cNvCxnSpPr>
          <p:nvPr/>
        </p:nvCxnSpPr>
        <p:spPr>
          <a:xfrm>
            <a:off x="2148551" y="5186241"/>
            <a:ext cx="135191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0068920E-D978-9BFB-0F64-A15A137CDB3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976" t="10927" r="11177" b="12059"/>
          <a:stretch/>
        </p:blipFill>
        <p:spPr>
          <a:xfrm>
            <a:off x="720912" y="4260475"/>
            <a:ext cx="1427639" cy="18515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93776C1-6755-8FED-C0C1-6D7D37BF7BBD}"/>
              </a:ext>
            </a:extLst>
          </p:cNvPr>
          <p:cNvSpPr/>
          <p:nvPr/>
        </p:nvSpPr>
        <p:spPr>
          <a:xfrm>
            <a:off x="3500465" y="4715536"/>
            <a:ext cx="1729425" cy="94140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NLP</a:t>
            </a:r>
          </a:p>
          <a:p>
            <a:pPr algn="ctr"/>
            <a:r>
              <a:rPr lang="en-US" dirty="0"/>
              <a:t>Encoder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5C661E1-1CAC-A760-7056-C24FA045E027}"/>
              </a:ext>
            </a:extLst>
          </p:cNvPr>
          <p:cNvSpPr txBox="1"/>
          <p:nvPr/>
        </p:nvSpPr>
        <p:spPr>
          <a:xfrm>
            <a:off x="957253" y="6134384"/>
            <a:ext cx="9549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0F1A262-A4D5-4B42-46AA-557AC09B166A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148551" y="3015763"/>
            <a:ext cx="135191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32DB3CB-4F88-0193-7B0A-0FA1BA413453}"/>
              </a:ext>
            </a:extLst>
          </p:cNvPr>
          <p:cNvCxnSpPr>
            <a:cxnSpLocks/>
          </p:cNvCxnSpPr>
          <p:nvPr/>
        </p:nvCxnSpPr>
        <p:spPr>
          <a:xfrm>
            <a:off x="5343029" y="3015763"/>
            <a:ext cx="331907" cy="41323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69757399-9CB3-CD1C-7FF4-322A8C9E58C9}"/>
              </a:ext>
            </a:extLst>
          </p:cNvPr>
          <p:cNvSpPr/>
          <p:nvPr/>
        </p:nvSpPr>
        <p:spPr>
          <a:xfrm>
            <a:off x="3500464" y="2571131"/>
            <a:ext cx="1729425" cy="941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CNN</a:t>
            </a:r>
          </a:p>
          <a:p>
            <a:pPr algn="ctr"/>
            <a:r>
              <a:rPr lang="en-US" dirty="0"/>
              <a:t>Encoder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8A2742-DF79-FF59-8A13-F45F1D8DE5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912" y="2284880"/>
            <a:ext cx="1427639" cy="1461765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7280169F-BDB1-5F0E-A215-59E48CB8E7F1}"/>
              </a:ext>
            </a:extLst>
          </p:cNvPr>
          <p:cNvSpPr txBox="1"/>
          <p:nvPr/>
        </p:nvSpPr>
        <p:spPr>
          <a:xfrm>
            <a:off x="733778" y="3756931"/>
            <a:ext cx="1401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A05D418-6123-CAEA-F24E-EE15800E4F18}"/>
              </a:ext>
            </a:extLst>
          </p:cNvPr>
          <p:cNvGraphicFramePr>
            <a:graphicFrameLocks noGrp="1"/>
          </p:cNvGraphicFramePr>
          <p:nvPr/>
        </p:nvGraphicFramePr>
        <p:xfrm>
          <a:off x="9323091" y="3616364"/>
          <a:ext cx="2343891" cy="522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3891">
                  <a:extLst>
                    <a:ext uri="{9D8B030D-6E8A-4147-A177-3AD203B41FA5}">
                      <a16:colId xmlns:a16="http://schemas.microsoft.com/office/drawing/2014/main" val="4002730172"/>
                    </a:ext>
                  </a:extLst>
                </a:gridCol>
              </a:tblGrid>
              <a:tr h="5227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P(outcome | data)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15260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D2721A2-2558-87FE-F4D2-E8DCB1A8BB64}"/>
              </a:ext>
            </a:extLst>
          </p:cNvPr>
          <p:cNvSpPr txBox="1"/>
          <p:nvPr/>
        </p:nvSpPr>
        <p:spPr>
          <a:xfrm>
            <a:off x="6248068" y="3496683"/>
            <a:ext cx="4860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/>
              <a:t>+</a:t>
            </a:r>
          </a:p>
        </p:txBody>
      </p:sp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A4099986-1A04-6F3E-22F7-B786614EDDEB}"/>
              </a:ext>
            </a:extLst>
          </p:cNvPr>
          <p:cNvGraphicFramePr>
            <a:graphicFrameLocks noGrp="1"/>
          </p:cNvGraphicFramePr>
          <p:nvPr/>
        </p:nvGraphicFramePr>
        <p:xfrm>
          <a:off x="7727366" y="3010380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6DB0E3D9-9241-7E30-C396-A06C68E95896}"/>
              </a:ext>
            </a:extLst>
          </p:cNvPr>
          <p:cNvSpPr txBox="1"/>
          <p:nvPr/>
        </p:nvSpPr>
        <p:spPr>
          <a:xfrm>
            <a:off x="7220932" y="3496683"/>
            <a:ext cx="4860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/>
              <a:t>=</a:t>
            </a: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58250CBF-176C-59CF-4D3F-3D529B7328C6}"/>
              </a:ext>
            </a:extLst>
          </p:cNvPr>
          <p:cNvSpPr/>
          <p:nvPr/>
        </p:nvSpPr>
        <p:spPr>
          <a:xfrm rot="16200000">
            <a:off x="6342310" y="2027193"/>
            <a:ext cx="297546" cy="142351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65AA85-ABB8-FD04-38E4-3AAB9FD24E2D}"/>
              </a:ext>
            </a:extLst>
          </p:cNvPr>
          <p:cNvSpPr txBox="1"/>
          <p:nvPr/>
        </p:nvSpPr>
        <p:spPr>
          <a:xfrm>
            <a:off x="6318617" y="2100214"/>
            <a:ext cx="3703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Contrastive (e.g., CLIP) loss applied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9E8F50-DA55-B9AB-B224-CD2C8D2509AC}"/>
              </a:ext>
            </a:extLst>
          </p:cNvPr>
          <p:cNvSpPr txBox="1"/>
          <p:nvPr/>
        </p:nvSpPr>
        <p:spPr>
          <a:xfrm>
            <a:off x="8964358" y="4779782"/>
            <a:ext cx="30613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Train independently to predict outcome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FontTx/>
              <a:buAutoNum type="arabicPeriod"/>
            </a:pPr>
            <a:r>
              <a:rPr lang="en-US" dirty="0"/>
              <a:t>Train together to (a) predict outcome, and (b) reduce contrastive loss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DA80A-E794-5D88-D29A-D3885DB30977}"/>
              </a:ext>
            </a:extLst>
          </p:cNvPr>
          <p:cNvSpPr txBox="1"/>
          <p:nvPr/>
        </p:nvSpPr>
        <p:spPr>
          <a:xfrm>
            <a:off x="6754347" y="446833"/>
            <a:ext cx="47748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Q: Does this allow interactions between modalities?</a:t>
            </a:r>
          </a:p>
          <a:p>
            <a:endParaRPr lang="en-US" b="1" dirty="0"/>
          </a:p>
          <a:p>
            <a:r>
              <a:rPr lang="en-US" dirty="0"/>
              <a:t>A: Yes, because distinct information between modalities can go in separate channels</a:t>
            </a:r>
          </a:p>
        </p:txBody>
      </p:sp>
    </p:spTree>
    <p:extLst>
      <p:ext uri="{BB962C8B-B14F-4D97-AF65-F5344CB8AC3E}">
        <p14:creationId xmlns:p14="http://schemas.microsoft.com/office/powerpoint/2010/main" val="1559129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188"/>
    </mc:Choice>
    <mc:Fallback xmlns="">
      <p:transition spd="slow" advTm="34188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12685-30C2-F989-A54F-8FB1949BC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4EFCEE7-9C56-8E93-9DBA-9B201D099839}"/>
              </a:ext>
            </a:extLst>
          </p:cNvPr>
          <p:cNvCxnSpPr>
            <a:cxnSpLocks/>
          </p:cNvCxnSpPr>
          <p:nvPr/>
        </p:nvCxnSpPr>
        <p:spPr>
          <a:xfrm flipV="1">
            <a:off x="5343029" y="4413865"/>
            <a:ext cx="1238775" cy="7498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6EBA7058-CABF-C52D-DC47-91B7BCBDE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68" y="221171"/>
            <a:ext cx="6672467" cy="1591351"/>
          </a:xfrm>
        </p:spPr>
        <p:txBody>
          <a:bodyPr/>
          <a:lstStyle/>
          <a:p>
            <a:r>
              <a:rPr lang="en-US" dirty="0"/>
              <a:t>Joint fusion in shared representation space</a:t>
            </a:r>
          </a:p>
        </p:txBody>
      </p:sp>
      <p:graphicFrame>
        <p:nvGraphicFramePr>
          <p:cNvPr id="9" name="Table 13">
            <a:extLst>
              <a:ext uri="{FF2B5EF4-FFF2-40B4-BE49-F238E27FC236}">
                <a16:creationId xmlns:a16="http://schemas.microsoft.com/office/drawing/2014/main" id="{B41D1AC4-6744-98A9-B2FD-6B1EB7D41545}"/>
              </a:ext>
            </a:extLst>
          </p:cNvPr>
          <p:cNvGraphicFramePr>
            <a:graphicFrameLocks noGrp="1"/>
          </p:cNvGraphicFramePr>
          <p:nvPr/>
        </p:nvGraphicFramePr>
        <p:xfrm>
          <a:off x="5778771" y="3015762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CD68EC8-7A1F-E707-8428-641B8395CAC5}"/>
              </a:ext>
            </a:extLst>
          </p:cNvPr>
          <p:cNvCxnSpPr>
            <a:cxnSpLocks/>
          </p:cNvCxnSpPr>
          <p:nvPr/>
        </p:nvCxnSpPr>
        <p:spPr>
          <a:xfrm flipV="1">
            <a:off x="8401455" y="3877750"/>
            <a:ext cx="690523" cy="14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1E2C669-1A7E-8DBA-026D-FC93219340A0}"/>
              </a:ext>
            </a:extLst>
          </p:cNvPr>
          <p:cNvSpPr txBox="1"/>
          <p:nvPr/>
        </p:nvSpPr>
        <p:spPr>
          <a:xfrm>
            <a:off x="8068566" y="3910819"/>
            <a:ext cx="1356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</a:t>
            </a:r>
          </a:p>
        </p:txBody>
      </p:sp>
      <p:graphicFrame>
        <p:nvGraphicFramePr>
          <p:cNvPr id="16" name="Table 13">
            <a:extLst>
              <a:ext uri="{FF2B5EF4-FFF2-40B4-BE49-F238E27FC236}">
                <a16:creationId xmlns:a16="http://schemas.microsoft.com/office/drawing/2014/main" id="{D0904261-ABE7-5CC3-9597-6F25F5DE8ECB}"/>
              </a:ext>
            </a:extLst>
          </p:cNvPr>
          <p:cNvGraphicFramePr>
            <a:graphicFrameLocks noGrp="1"/>
          </p:cNvGraphicFramePr>
          <p:nvPr/>
        </p:nvGraphicFramePr>
        <p:xfrm>
          <a:off x="6754347" y="3010380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10BD7D01-FBE7-709C-DDE6-03DE74A3FAD8}"/>
              </a:ext>
            </a:extLst>
          </p:cNvPr>
          <p:cNvSpPr txBox="1"/>
          <p:nvPr/>
        </p:nvSpPr>
        <p:spPr>
          <a:xfrm>
            <a:off x="7197323" y="4899397"/>
            <a:ext cx="15779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multimodal</a:t>
            </a:r>
          </a:p>
          <a:p>
            <a:pPr algn="ctr"/>
            <a:r>
              <a:rPr lang="en-US" sz="1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C74805B-E441-F629-CEEC-C5853C29C97B}"/>
              </a:ext>
            </a:extLst>
          </p:cNvPr>
          <p:cNvCxnSpPr>
            <a:cxnSpLocks/>
            <a:stCxn id="24" idx="3"/>
            <a:endCxn id="25" idx="1"/>
          </p:cNvCxnSpPr>
          <p:nvPr/>
        </p:nvCxnSpPr>
        <p:spPr>
          <a:xfrm>
            <a:off x="2148551" y="5186241"/>
            <a:ext cx="135191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0ADBDFC3-FEAD-E1E3-7494-DD56D8BCD89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976" t="10927" r="11177" b="12059"/>
          <a:stretch/>
        </p:blipFill>
        <p:spPr>
          <a:xfrm>
            <a:off x="720912" y="4260475"/>
            <a:ext cx="1427639" cy="18515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69CB8597-9AE4-F9A5-399A-69DAA30636E6}"/>
              </a:ext>
            </a:extLst>
          </p:cNvPr>
          <p:cNvSpPr/>
          <p:nvPr/>
        </p:nvSpPr>
        <p:spPr>
          <a:xfrm>
            <a:off x="3500465" y="4715536"/>
            <a:ext cx="1729425" cy="94140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NLP</a:t>
            </a:r>
          </a:p>
          <a:p>
            <a:pPr algn="ctr"/>
            <a:r>
              <a:rPr lang="en-US" dirty="0"/>
              <a:t>Encoder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6A9BF7C-4090-0216-2204-4BA687EE7406}"/>
              </a:ext>
            </a:extLst>
          </p:cNvPr>
          <p:cNvSpPr txBox="1"/>
          <p:nvPr/>
        </p:nvSpPr>
        <p:spPr>
          <a:xfrm>
            <a:off x="957253" y="6134384"/>
            <a:ext cx="9549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52693A6-0DD6-17DE-6188-5FAB956028A0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148551" y="3015763"/>
            <a:ext cx="135191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6094C01-7800-FC94-C0FE-60709FE1A5AD}"/>
              </a:ext>
            </a:extLst>
          </p:cNvPr>
          <p:cNvCxnSpPr>
            <a:cxnSpLocks/>
          </p:cNvCxnSpPr>
          <p:nvPr/>
        </p:nvCxnSpPr>
        <p:spPr>
          <a:xfrm>
            <a:off x="5343029" y="3015763"/>
            <a:ext cx="331907" cy="41323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F968911F-4CF2-42F1-966F-36D302BF906D}"/>
              </a:ext>
            </a:extLst>
          </p:cNvPr>
          <p:cNvSpPr/>
          <p:nvPr/>
        </p:nvSpPr>
        <p:spPr>
          <a:xfrm>
            <a:off x="3500464" y="2571131"/>
            <a:ext cx="1729425" cy="941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CNN</a:t>
            </a:r>
          </a:p>
          <a:p>
            <a:pPr algn="ctr"/>
            <a:r>
              <a:rPr lang="en-US" dirty="0"/>
              <a:t>Encoder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BD092E-118D-02A5-3E78-94D3CC5784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912" y="2284880"/>
            <a:ext cx="1427639" cy="1461765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0080056A-C98D-EA57-B267-6254F88C77F8}"/>
              </a:ext>
            </a:extLst>
          </p:cNvPr>
          <p:cNvSpPr txBox="1"/>
          <p:nvPr/>
        </p:nvSpPr>
        <p:spPr>
          <a:xfrm>
            <a:off x="733778" y="3756931"/>
            <a:ext cx="1401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DF52E60-6ECD-B39C-2096-B81E0DDCAFC4}"/>
              </a:ext>
            </a:extLst>
          </p:cNvPr>
          <p:cNvGraphicFramePr>
            <a:graphicFrameLocks noGrp="1"/>
          </p:cNvGraphicFramePr>
          <p:nvPr/>
        </p:nvGraphicFramePr>
        <p:xfrm>
          <a:off x="9323091" y="3616364"/>
          <a:ext cx="2343891" cy="522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3891">
                  <a:extLst>
                    <a:ext uri="{9D8B030D-6E8A-4147-A177-3AD203B41FA5}">
                      <a16:colId xmlns:a16="http://schemas.microsoft.com/office/drawing/2014/main" val="4002730172"/>
                    </a:ext>
                  </a:extLst>
                </a:gridCol>
              </a:tblGrid>
              <a:tr h="5227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P(outcome | data)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15260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285A8A2-C445-F09B-7F36-747F726522A5}"/>
              </a:ext>
            </a:extLst>
          </p:cNvPr>
          <p:cNvSpPr txBox="1"/>
          <p:nvPr/>
        </p:nvSpPr>
        <p:spPr>
          <a:xfrm>
            <a:off x="6248068" y="3496683"/>
            <a:ext cx="4860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/>
              <a:t>+</a:t>
            </a:r>
          </a:p>
        </p:txBody>
      </p:sp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4C8F3D57-D1F2-721B-E5BB-E1B281A17E84}"/>
              </a:ext>
            </a:extLst>
          </p:cNvPr>
          <p:cNvGraphicFramePr>
            <a:graphicFrameLocks noGrp="1"/>
          </p:cNvGraphicFramePr>
          <p:nvPr/>
        </p:nvGraphicFramePr>
        <p:xfrm>
          <a:off x="7727366" y="3010380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699B34F4-D3E6-4C4C-B463-1F37BE6A623A}"/>
              </a:ext>
            </a:extLst>
          </p:cNvPr>
          <p:cNvSpPr txBox="1"/>
          <p:nvPr/>
        </p:nvSpPr>
        <p:spPr>
          <a:xfrm>
            <a:off x="7220932" y="3496683"/>
            <a:ext cx="4860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/>
              <a:t>=</a:t>
            </a: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81C12D29-1679-03E6-4179-2FDFC9A52D7A}"/>
              </a:ext>
            </a:extLst>
          </p:cNvPr>
          <p:cNvSpPr/>
          <p:nvPr/>
        </p:nvSpPr>
        <p:spPr>
          <a:xfrm rot="16200000">
            <a:off x="6342310" y="2027193"/>
            <a:ext cx="297546" cy="142351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477FF2-B219-07B6-6AEF-E11A2CB59556}"/>
              </a:ext>
            </a:extLst>
          </p:cNvPr>
          <p:cNvSpPr txBox="1"/>
          <p:nvPr/>
        </p:nvSpPr>
        <p:spPr>
          <a:xfrm>
            <a:off x="6318617" y="2100214"/>
            <a:ext cx="3703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Contrastive (e.g., CLIP) loss applied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3CB74D-5874-4CA6-BDB8-97B53DBA1F68}"/>
              </a:ext>
            </a:extLst>
          </p:cNvPr>
          <p:cNvSpPr txBox="1"/>
          <p:nvPr/>
        </p:nvSpPr>
        <p:spPr>
          <a:xfrm>
            <a:off x="8964358" y="4779782"/>
            <a:ext cx="30613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Train independently to predict outcome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FontTx/>
              <a:buAutoNum type="arabicPeriod"/>
            </a:pPr>
            <a:r>
              <a:rPr lang="en-US" dirty="0"/>
              <a:t>Train together to (a) predict outcome, and (b) reduce contrastive loss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517B25-A05A-E398-33EF-114382C9F0F1}"/>
              </a:ext>
            </a:extLst>
          </p:cNvPr>
          <p:cNvSpPr txBox="1"/>
          <p:nvPr/>
        </p:nvSpPr>
        <p:spPr>
          <a:xfrm>
            <a:off x="6754347" y="446833"/>
            <a:ext cx="4774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Q: Does adding result in loss of information?</a:t>
            </a:r>
          </a:p>
        </p:txBody>
      </p:sp>
    </p:spTree>
    <p:extLst>
      <p:ext uri="{BB962C8B-B14F-4D97-AF65-F5344CB8AC3E}">
        <p14:creationId xmlns:p14="http://schemas.microsoft.com/office/powerpoint/2010/main" val="739012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188"/>
    </mc:Choice>
    <mc:Fallback xmlns="">
      <p:transition spd="slow" advTm="34188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7E667-B55A-15DF-DA52-1D23EEEC4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B6D06F6-1E11-8C58-B618-6E4CBFC5D346}"/>
              </a:ext>
            </a:extLst>
          </p:cNvPr>
          <p:cNvCxnSpPr>
            <a:cxnSpLocks/>
          </p:cNvCxnSpPr>
          <p:nvPr/>
        </p:nvCxnSpPr>
        <p:spPr>
          <a:xfrm flipV="1">
            <a:off x="5343029" y="4413865"/>
            <a:ext cx="1238775" cy="7498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6188D327-2DB9-EA05-9BC5-068BA074C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68" y="221171"/>
            <a:ext cx="6672467" cy="1591351"/>
          </a:xfrm>
        </p:spPr>
        <p:txBody>
          <a:bodyPr/>
          <a:lstStyle/>
          <a:p>
            <a:r>
              <a:rPr lang="en-US" dirty="0"/>
              <a:t>Joint fusion in shared representation space</a:t>
            </a:r>
          </a:p>
        </p:txBody>
      </p:sp>
      <p:graphicFrame>
        <p:nvGraphicFramePr>
          <p:cNvPr id="9" name="Table 13">
            <a:extLst>
              <a:ext uri="{FF2B5EF4-FFF2-40B4-BE49-F238E27FC236}">
                <a16:creationId xmlns:a16="http://schemas.microsoft.com/office/drawing/2014/main" id="{2B0658D8-171B-C0B5-0E81-FE6CC92987E5}"/>
              </a:ext>
            </a:extLst>
          </p:cNvPr>
          <p:cNvGraphicFramePr>
            <a:graphicFrameLocks noGrp="1"/>
          </p:cNvGraphicFramePr>
          <p:nvPr/>
        </p:nvGraphicFramePr>
        <p:xfrm>
          <a:off x="5778771" y="3015762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DDCE098-F74E-E263-2D73-BEF84100F426}"/>
              </a:ext>
            </a:extLst>
          </p:cNvPr>
          <p:cNvCxnSpPr>
            <a:cxnSpLocks/>
          </p:cNvCxnSpPr>
          <p:nvPr/>
        </p:nvCxnSpPr>
        <p:spPr>
          <a:xfrm flipV="1">
            <a:off x="8401455" y="3877750"/>
            <a:ext cx="690523" cy="14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D08B3E0-4628-F1AE-C4D9-B76DF7209FB6}"/>
              </a:ext>
            </a:extLst>
          </p:cNvPr>
          <p:cNvSpPr txBox="1"/>
          <p:nvPr/>
        </p:nvSpPr>
        <p:spPr>
          <a:xfrm>
            <a:off x="8068566" y="3910819"/>
            <a:ext cx="1356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</a:t>
            </a:r>
          </a:p>
        </p:txBody>
      </p:sp>
      <p:graphicFrame>
        <p:nvGraphicFramePr>
          <p:cNvPr id="16" name="Table 13">
            <a:extLst>
              <a:ext uri="{FF2B5EF4-FFF2-40B4-BE49-F238E27FC236}">
                <a16:creationId xmlns:a16="http://schemas.microsoft.com/office/drawing/2014/main" id="{3D513189-F435-5B58-B856-4C5CDE63FB7A}"/>
              </a:ext>
            </a:extLst>
          </p:cNvPr>
          <p:cNvGraphicFramePr>
            <a:graphicFrameLocks noGrp="1"/>
          </p:cNvGraphicFramePr>
          <p:nvPr/>
        </p:nvGraphicFramePr>
        <p:xfrm>
          <a:off x="6754347" y="3010380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4407B22C-7794-7C52-1B3F-9B28B53F24EC}"/>
              </a:ext>
            </a:extLst>
          </p:cNvPr>
          <p:cNvSpPr txBox="1"/>
          <p:nvPr/>
        </p:nvSpPr>
        <p:spPr>
          <a:xfrm>
            <a:off x="7197323" y="4899397"/>
            <a:ext cx="15779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multimodal</a:t>
            </a:r>
          </a:p>
          <a:p>
            <a:pPr algn="ctr"/>
            <a:r>
              <a:rPr lang="en-US" sz="1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C625BC5-A200-EAA4-163F-9C7BA55D9835}"/>
              </a:ext>
            </a:extLst>
          </p:cNvPr>
          <p:cNvCxnSpPr>
            <a:cxnSpLocks/>
            <a:stCxn id="24" idx="3"/>
            <a:endCxn id="25" idx="1"/>
          </p:cNvCxnSpPr>
          <p:nvPr/>
        </p:nvCxnSpPr>
        <p:spPr>
          <a:xfrm>
            <a:off x="2148551" y="5186241"/>
            <a:ext cx="135191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273FAFF6-1307-0B75-F12E-5CC18FCE0AA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976" t="10927" r="11177" b="12059"/>
          <a:stretch/>
        </p:blipFill>
        <p:spPr>
          <a:xfrm>
            <a:off x="720912" y="4260475"/>
            <a:ext cx="1427639" cy="18515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000ECA5F-CA35-B85B-5023-4641077A4510}"/>
              </a:ext>
            </a:extLst>
          </p:cNvPr>
          <p:cNvSpPr/>
          <p:nvPr/>
        </p:nvSpPr>
        <p:spPr>
          <a:xfrm>
            <a:off x="3500465" y="4715536"/>
            <a:ext cx="1729425" cy="94140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NLP</a:t>
            </a:r>
          </a:p>
          <a:p>
            <a:pPr algn="ctr"/>
            <a:r>
              <a:rPr lang="en-US" dirty="0"/>
              <a:t>Encoder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0F1E143-CA3A-3A95-F717-203F13DC2A50}"/>
              </a:ext>
            </a:extLst>
          </p:cNvPr>
          <p:cNvSpPr txBox="1"/>
          <p:nvPr/>
        </p:nvSpPr>
        <p:spPr>
          <a:xfrm>
            <a:off x="957253" y="6134384"/>
            <a:ext cx="9549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7942A8D-8384-E22A-16A8-4ADEE4F533D7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148551" y="3015763"/>
            <a:ext cx="135191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F9DC4E2-0406-C63D-838A-FD97D5C9C95C}"/>
              </a:ext>
            </a:extLst>
          </p:cNvPr>
          <p:cNvCxnSpPr>
            <a:cxnSpLocks/>
          </p:cNvCxnSpPr>
          <p:nvPr/>
        </p:nvCxnSpPr>
        <p:spPr>
          <a:xfrm>
            <a:off x="5343029" y="3015763"/>
            <a:ext cx="331907" cy="41323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D2A47C04-7F1F-20D3-9ED8-CF8BC0A734FD}"/>
              </a:ext>
            </a:extLst>
          </p:cNvPr>
          <p:cNvSpPr/>
          <p:nvPr/>
        </p:nvSpPr>
        <p:spPr>
          <a:xfrm>
            <a:off x="3500464" y="2571131"/>
            <a:ext cx="1729425" cy="941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CNN</a:t>
            </a:r>
          </a:p>
          <a:p>
            <a:pPr algn="ctr"/>
            <a:r>
              <a:rPr lang="en-US" dirty="0"/>
              <a:t>Encoder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030EC5-8B4A-EDD9-AF9B-BB11E2C44F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912" y="2284880"/>
            <a:ext cx="1427639" cy="1461765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5B6A0F72-1B5F-0BED-7EC1-6B54B54A3230}"/>
              </a:ext>
            </a:extLst>
          </p:cNvPr>
          <p:cNvSpPr txBox="1"/>
          <p:nvPr/>
        </p:nvSpPr>
        <p:spPr>
          <a:xfrm>
            <a:off x="733778" y="3756931"/>
            <a:ext cx="1401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DB28EC3-BF8F-D185-C01A-415AE88377E8}"/>
              </a:ext>
            </a:extLst>
          </p:cNvPr>
          <p:cNvGraphicFramePr>
            <a:graphicFrameLocks noGrp="1"/>
          </p:cNvGraphicFramePr>
          <p:nvPr/>
        </p:nvGraphicFramePr>
        <p:xfrm>
          <a:off x="9323091" y="3616364"/>
          <a:ext cx="2343891" cy="522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3891">
                  <a:extLst>
                    <a:ext uri="{9D8B030D-6E8A-4147-A177-3AD203B41FA5}">
                      <a16:colId xmlns:a16="http://schemas.microsoft.com/office/drawing/2014/main" val="4002730172"/>
                    </a:ext>
                  </a:extLst>
                </a:gridCol>
              </a:tblGrid>
              <a:tr h="5227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P(outcome | data)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15260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1FAE342-E773-E0E4-ECCA-C9C8B8DD34F5}"/>
              </a:ext>
            </a:extLst>
          </p:cNvPr>
          <p:cNvSpPr txBox="1"/>
          <p:nvPr/>
        </p:nvSpPr>
        <p:spPr>
          <a:xfrm>
            <a:off x="6248068" y="3496683"/>
            <a:ext cx="4860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/>
              <a:t>+</a:t>
            </a:r>
          </a:p>
        </p:txBody>
      </p:sp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502AAAC4-69B2-1EC8-D06E-B7D727F210D1}"/>
              </a:ext>
            </a:extLst>
          </p:cNvPr>
          <p:cNvGraphicFramePr>
            <a:graphicFrameLocks noGrp="1"/>
          </p:cNvGraphicFramePr>
          <p:nvPr/>
        </p:nvGraphicFramePr>
        <p:xfrm>
          <a:off x="7727366" y="3010380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C98CE905-3A41-3490-3EBB-6294ACD4EB26}"/>
              </a:ext>
            </a:extLst>
          </p:cNvPr>
          <p:cNvSpPr txBox="1"/>
          <p:nvPr/>
        </p:nvSpPr>
        <p:spPr>
          <a:xfrm>
            <a:off x="7220932" y="3496683"/>
            <a:ext cx="4860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/>
              <a:t>=</a:t>
            </a: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C983F391-61A3-EBEF-4FA5-B5AD5D3CF98D}"/>
              </a:ext>
            </a:extLst>
          </p:cNvPr>
          <p:cNvSpPr/>
          <p:nvPr/>
        </p:nvSpPr>
        <p:spPr>
          <a:xfrm rot="16200000">
            <a:off x="6342310" y="2027193"/>
            <a:ext cx="297546" cy="142351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8C950B-6373-E9E2-61F7-1609DF47601B}"/>
              </a:ext>
            </a:extLst>
          </p:cNvPr>
          <p:cNvSpPr txBox="1"/>
          <p:nvPr/>
        </p:nvSpPr>
        <p:spPr>
          <a:xfrm>
            <a:off x="6318617" y="2100214"/>
            <a:ext cx="3703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Contrastive (e.g., CLIP) loss applied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F9ABDE-7374-7B57-7B87-C7A9A685F182}"/>
              </a:ext>
            </a:extLst>
          </p:cNvPr>
          <p:cNvSpPr txBox="1"/>
          <p:nvPr/>
        </p:nvSpPr>
        <p:spPr>
          <a:xfrm>
            <a:off x="8964358" y="4779782"/>
            <a:ext cx="30613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Train independently to predict outcome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FontTx/>
              <a:buAutoNum type="arabicPeriod"/>
            </a:pPr>
            <a:r>
              <a:rPr lang="en-US" dirty="0"/>
              <a:t>Train together to (a) predict outcome, and (b) reduce contrastive loss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FC2A70-C91F-6886-7B6D-8FA5CFC19DD3}"/>
              </a:ext>
            </a:extLst>
          </p:cNvPr>
          <p:cNvSpPr txBox="1"/>
          <p:nvPr/>
        </p:nvSpPr>
        <p:spPr>
          <a:xfrm>
            <a:off x="6754347" y="446833"/>
            <a:ext cx="47748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Q: Does adding result in loss of information?</a:t>
            </a:r>
          </a:p>
          <a:p>
            <a:endParaRPr lang="en-US" b="1" dirty="0"/>
          </a:p>
          <a:p>
            <a:r>
              <a:rPr lang="en-US" dirty="0"/>
              <a:t>A: Not necessarily, because distinct information can go in separate channels. </a:t>
            </a:r>
            <a:r>
              <a:rPr lang="en-US" u="sng" dirty="0"/>
              <a:t>Prediction loss helps ensure info is retained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7456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188"/>
    </mc:Choice>
    <mc:Fallback xmlns="">
      <p:transition spd="slow" advTm="34188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15679-0C60-6CF8-699E-DBFD93A62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F6A485E-E6A6-9AD4-FB19-C6B55EA361BE}"/>
              </a:ext>
            </a:extLst>
          </p:cNvPr>
          <p:cNvCxnSpPr>
            <a:cxnSpLocks/>
          </p:cNvCxnSpPr>
          <p:nvPr/>
        </p:nvCxnSpPr>
        <p:spPr>
          <a:xfrm flipV="1">
            <a:off x="5343029" y="4413865"/>
            <a:ext cx="1238775" cy="7498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4D703D08-1070-8F59-C018-A26948225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68" y="221171"/>
            <a:ext cx="6672467" cy="1591351"/>
          </a:xfrm>
        </p:spPr>
        <p:txBody>
          <a:bodyPr/>
          <a:lstStyle/>
          <a:p>
            <a:r>
              <a:rPr lang="en-US" dirty="0"/>
              <a:t>Joint fusion in shared representation space</a:t>
            </a:r>
          </a:p>
        </p:txBody>
      </p:sp>
      <p:graphicFrame>
        <p:nvGraphicFramePr>
          <p:cNvPr id="9" name="Table 13">
            <a:extLst>
              <a:ext uri="{FF2B5EF4-FFF2-40B4-BE49-F238E27FC236}">
                <a16:creationId xmlns:a16="http://schemas.microsoft.com/office/drawing/2014/main" id="{4E38BE83-ED96-E76F-BE77-CB842AD4CF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4091295"/>
              </p:ext>
            </p:extLst>
          </p:nvPr>
        </p:nvGraphicFramePr>
        <p:xfrm>
          <a:off x="5778771" y="3015762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 dirty="0">
                        <a:highlight>
                          <a:srgbClr val="00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>
                        <a:highlight>
                          <a:srgbClr val="00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137E805-57EA-11AE-2AEA-46E93C768C8A}"/>
              </a:ext>
            </a:extLst>
          </p:cNvPr>
          <p:cNvCxnSpPr>
            <a:cxnSpLocks/>
          </p:cNvCxnSpPr>
          <p:nvPr/>
        </p:nvCxnSpPr>
        <p:spPr>
          <a:xfrm flipV="1">
            <a:off x="8401455" y="3877750"/>
            <a:ext cx="690523" cy="14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ADDB683-F208-DB49-D90E-65AEAC7F3E07}"/>
              </a:ext>
            </a:extLst>
          </p:cNvPr>
          <p:cNvSpPr txBox="1"/>
          <p:nvPr/>
        </p:nvSpPr>
        <p:spPr>
          <a:xfrm>
            <a:off x="8068566" y="3910819"/>
            <a:ext cx="1356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</a:t>
            </a:r>
          </a:p>
        </p:txBody>
      </p:sp>
      <p:graphicFrame>
        <p:nvGraphicFramePr>
          <p:cNvPr id="16" name="Table 13">
            <a:extLst>
              <a:ext uri="{FF2B5EF4-FFF2-40B4-BE49-F238E27FC236}">
                <a16:creationId xmlns:a16="http://schemas.microsoft.com/office/drawing/2014/main" id="{D1B84A4B-FA3A-26EC-4347-BC76A37CCF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8632091"/>
              </p:ext>
            </p:extLst>
          </p:nvPr>
        </p:nvGraphicFramePr>
        <p:xfrm>
          <a:off x="6754347" y="3010380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D509BF02-1BF8-6CE1-99C2-53F8F929E6A4}"/>
              </a:ext>
            </a:extLst>
          </p:cNvPr>
          <p:cNvSpPr txBox="1"/>
          <p:nvPr/>
        </p:nvSpPr>
        <p:spPr>
          <a:xfrm>
            <a:off x="7197323" y="4899397"/>
            <a:ext cx="15779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multimodal</a:t>
            </a:r>
          </a:p>
          <a:p>
            <a:pPr algn="ctr"/>
            <a:r>
              <a:rPr lang="en-US" sz="1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45E4FEB-E124-2850-4CBA-7A0498F7640C}"/>
              </a:ext>
            </a:extLst>
          </p:cNvPr>
          <p:cNvCxnSpPr>
            <a:cxnSpLocks/>
            <a:stCxn id="24" idx="3"/>
            <a:endCxn id="25" idx="1"/>
          </p:cNvCxnSpPr>
          <p:nvPr/>
        </p:nvCxnSpPr>
        <p:spPr>
          <a:xfrm>
            <a:off x="2148551" y="5186241"/>
            <a:ext cx="135191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1C34B199-DC17-102C-6003-661FACB527C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976" t="10927" r="11177" b="12059"/>
          <a:stretch/>
        </p:blipFill>
        <p:spPr>
          <a:xfrm>
            <a:off x="720912" y="4260475"/>
            <a:ext cx="1427639" cy="18515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6E920FAD-A08A-D61B-E0B7-79080A5599A2}"/>
              </a:ext>
            </a:extLst>
          </p:cNvPr>
          <p:cNvSpPr/>
          <p:nvPr/>
        </p:nvSpPr>
        <p:spPr>
          <a:xfrm>
            <a:off x="3500465" y="4715536"/>
            <a:ext cx="1729425" cy="94140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NLP</a:t>
            </a:r>
          </a:p>
          <a:p>
            <a:pPr algn="ctr"/>
            <a:r>
              <a:rPr lang="en-US" dirty="0"/>
              <a:t>Encoder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69662D8-EB22-FAD5-A9C2-166591FC175B}"/>
              </a:ext>
            </a:extLst>
          </p:cNvPr>
          <p:cNvSpPr txBox="1"/>
          <p:nvPr/>
        </p:nvSpPr>
        <p:spPr>
          <a:xfrm>
            <a:off x="957253" y="6134384"/>
            <a:ext cx="9549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6260FB4-1B77-E69B-8AA5-4AF6B1A438F5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148551" y="3015763"/>
            <a:ext cx="135191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CF4A2BD-D8A0-8E60-8F27-AAB72D956DBF}"/>
              </a:ext>
            </a:extLst>
          </p:cNvPr>
          <p:cNvCxnSpPr>
            <a:cxnSpLocks/>
          </p:cNvCxnSpPr>
          <p:nvPr/>
        </p:nvCxnSpPr>
        <p:spPr>
          <a:xfrm>
            <a:off x="5343029" y="3015763"/>
            <a:ext cx="331907" cy="41323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C1B35C45-9F70-2572-0B93-6D5BC0D1BCFA}"/>
              </a:ext>
            </a:extLst>
          </p:cNvPr>
          <p:cNvSpPr/>
          <p:nvPr/>
        </p:nvSpPr>
        <p:spPr>
          <a:xfrm>
            <a:off x="3500464" y="2571131"/>
            <a:ext cx="1729425" cy="941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CNN</a:t>
            </a:r>
          </a:p>
          <a:p>
            <a:pPr algn="ctr"/>
            <a:r>
              <a:rPr lang="en-US" dirty="0"/>
              <a:t>Encoder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5558AA-6C60-717D-0AC6-FBD2ECA41D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912" y="2284880"/>
            <a:ext cx="1427639" cy="1461765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CCEEC2C8-CD67-708D-6624-F77C864AD283}"/>
              </a:ext>
            </a:extLst>
          </p:cNvPr>
          <p:cNvSpPr txBox="1"/>
          <p:nvPr/>
        </p:nvSpPr>
        <p:spPr>
          <a:xfrm>
            <a:off x="733778" y="3756931"/>
            <a:ext cx="1401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F6B40E4-AC64-3961-4076-C4A4D2C7D7EF}"/>
              </a:ext>
            </a:extLst>
          </p:cNvPr>
          <p:cNvGraphicFramePr>
            <a:graphicFrameLocks noGrp="1"/>
          </p:cNvGraphicFramePr>
          <p:nvPr/>
        </p:nvGraphicFramePr>
        <p:xfrm>
          <a:off x="9323091" y="3616364"/>
          <a:ext cx="2343891" cy="522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3891">
                  <a:extLst>
                    <a:ext uri="{9D8B030D-6E8A-4147-A177-3AD203B41FA5}">
                      <a16:colId xmlns:a16="http://schemas.microsoft.com/office/drawing/2014/main" val="4002730172"/>
                    </a:ext>
                  </a:extLst>
                </a:gridCol>
              </a:tblGrid>
              <a:tr h="5227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P(outcome | data)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15260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AE260DF-FABA-5AB2-A1AD-9F7FBE0A10F9}"/>
              </a:ext>
            </a:extLst>
          </p:cNvPr>
          <p:cNvSpPr txBox="1"/>
          <p:nvPr/>
        </p:nvSpPr>
        <p:spPr>
          <a:xfrm>
            <a:off x="6248068" y="3496683"/>
            <a:ext cx="4860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/>
              <a:t>+</a:t>
            </a:r>
          </a:p>
        </p:txBody>
      </p:sp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0DA62D3F-0E52-45E9-2B62-0A9AFBAC97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65954"/>
              </p:ext>
            </p:extLst>
          </p:nvPr>
        </p:nvGraphicFramePr>
        <p:xfrm>
          <a:off x="7727366" y="3010380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7BBFDD1C-58F3-A22B-9F0A-D72CE41552C2}"/>
              </a:ext>
            </a:extLst>
          </p:cNvPr>
          <p:cNvSpPr txBox="1"/>
          <p:nvPr/>
        </p:nvSpPr>
        <p:spPr>
          <a:xfrm>
            <a:off x="7220932" y="3496683"/>
            <a:ext cx="4860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/>
              <a:t>=</a:t>
            </a: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498CC832-9803-01A0-8084-DD121ED93C8F}"/>
              </a:ext>
            </a:extLst>
          </p:cNvPr>
          <p:cNvSpPr/>
          <p:nvPr/>
        </p:nvSpPr>
        <p:spPr>
          <a:xfrm rot="16200000">
            <a:off x="6342310" y="2027193"/>
            <a:ext cx="297546" cy="142351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369AA0-F234-1D84-0D3A-6B3A8B045794}"/>
              </a:ext>
            </a:extLst>
          </p:cNvPr>
          <p:cNvSpPr txBox="1"/>
          <p:nvPr/>
        </p:nvSpPr>
        <p:spPr>
          <a:xfrm>
            <a:off x="6318617" y="2100214"/>
            <a:ext cx="3703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Contrastive (e.g., CLIP) loss applied</a:t>
            </a:r>
          </a:p>
        </p:txBody>
      </p:sp>
      <p:graphicFrame>
        <p:nvGraphicFramePr>
          <p:cNvPr id="4" name="Table 13">
            <a:extLst>
              <a:ext uri="{FF2B5EF4-FFF2-40B4-BE49-F238E27FC236}">
                <a16:creationId xmlns:a16="http://schemas.microsoft.com/office/drawing/2014/main" id="{421D703D-2721-B17F-BCFF-B0960A99DA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9980137"/>
              </p:ext>
            </p:extLst>
          </p:nvPr>
        </p:nvGraphicFramePr>
        <p:xfrm>
          <a:off x="9203380" y="4788786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C6E6B6A-1DCE-75A9-8A68-2B089A710C44}"/>
              </a:ext>
            </a:extLst>
          </p:cNvPr>
          <p:cNvSpPr txBox="1"/>
          <p:nvPr/>
        </p:nvSpPr>
        <p:spPr>
          <a:xfrm>
            <a:off x="9646356" y="4953245"/>
            <a:ext cx="154952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Shared info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Image-only info</a:t>
            </a:r>
          </a:p>
          <a:p>
            <a:endParaRPr lang="en-US" sz="1600" dirty="0"/>
          </a:p>
          <a:p>
            <a:r>
              <a:rPr lang="en-US" sz="1600" dirty="0"/>
              <a:t>Text-only info</a:t>
            </a:r>
          </a:p>
        </p:txBody>
      </p:sp>
    </p:spTree>
    <p:extLst>
      <p:ext uri="{BB962C8B-B14F-4D97-AF65-F5344CB8AC3E}">
        <p14:creationId xmlns:p14="http://schemas.microsoft.com/office/powerpoint/2010/main" val="3953115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188"/>
    </mc:Choice>
    <mc:Fallback xmlns="">
      <p:transition spd="slow" advTm="34188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C07FF-1917-0261-0E3B-027EDCBC2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D6EB3CD-1F08-6878-26B0-57084369D8B6}"/>
              </a:ext>
            </a:extLst>
          </p:cNvPr>
          <p:cNvCxnSpPr>
            <a:cxnSpLocks/>
          </p:cNvCxnSpPr>
          <p:nvPr/>
        </p:nvCxnSpPr>
        <p:spPr>
          <a:xfrm flipV="1">
            <a:off x="5343029" y="4413865"/>
            <a:ext cx="1238775" cy="7498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78227ED9-A13B-6166-770E-6AA2FB540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68" y="221171"/>
            <a:ext cx="6672467" cy="1591351"/>
          </a:xfrm>
        </p:spPr>
        <p:txBody>
          <a:bodyPr/>
          <a:lstStyle/>
          <a:p>
            <a:r>
              <a:rPr lang="en-US" dirty="0"/>
              <a:t>Joint fusion in shared representation space</a:t>
            </a:r>
          </a:p>
        </p:txBody>
      </p:sp>
      <p:graphicFrame>
        <p:nvGraphicFramePr>
          <p:cNvPr id="9" name="Table 13">
            <a:extLst>
              <a:ext uri="{FF2B5EF4-FFF2-40B4-BE49-F238E27FC236}">
                <a16:creationId xmlns:a16="http://schemas.microsoft.com/office/drawing/2014/main" id="{E1F98251-D62E-04FE-D0A7-68152442F233}"/>
              </a:ext>
            </a:extLst>
          </p:cNvPr>
          <p:cNvGraphicFramePr>
            <a:graphicFrameLocks noGrp="1"/>
          </p:cNvGraphicFramePr>
          <p:nvPr/>
        </p:nvGraphicFramePr>
        <p:xfrm>
          <a:off x="5778771" y="3015762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 dirty="0">
                        <a:highlight>
                          <a:srgbClr val="00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>
                        <a:highlight>
                          <a:srgbClr val="00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075EF3E-6EEF-D526-7C4B-6E854DE906FE}"/>
              </a:ext>
            </a:extLst>
          </p:cNvPr>
          <p:cNvCxnSpPr>
            <a:cxnSpLocks/>
          </p:cNvCxnSpPr>
          <p:nvPr/>
        </p:nvCxnSpPr>
        <p:spPr>
          <a:xfrm flipV="1">
            <a:off x="8401455" y="3877750"/>
            <a:ext cx="690523" cy="14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8EE7CB5-2CF4-29C3-08BF-0AB9E2618FC0}"/>
              </a:ext>
            </a:extLst>
          </p:cNvPr>
          <p:cNvSpPr txBox="1"/>
          <p:nvPr/>
        </p:nvSpPr>
        <p:spPr>
          <a:xfrm>
            <a:off x="8068566" y="3910819"/>
            <a:ext cx="1356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</a:t>
            </a:r>
          </a:p>
        </p:txBody>
      </p:sp>
      <p:graphicFrame>
        <p:nvGraphicFramePr>
          <p:cNvPr id="16" name="Table 13">
            <a:extLst>
              <a:ext uri="{FF2B5EF4-FFF2-40B4-BE49-F238E27FC236}">
                <a16:creationId xmlns:a16="http://schemas.microsoft.com/office/drawing/2014/main" id="{EA753E6E-5CAB-3CD2-9A40-6063F998DF4D}"/>
              </a:ext>
            </a:extLst>
          </p:cNvPr>
          <p:cNvGraphicFramePr>
            <a:graphicFrameLocks noGrp="1"/>
          </p:cNvGraphicFramePr>
          <p:nvPr/>
        </p:nvGraphicFramePr>
        <p:xfrm>
          <a:off x="6754347" y="3010380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42904034-2B96-458A-77F9-8E066C4C6A9D}"/>
              </a:ext>
            </a:extLst>
          </p:cNvPr>
          <p:cNvSpPr txBox="1"/>
          <p:nvPr/>
        </p:nvSpPr>
        <p:spPr>
          <a:xfrm>
            <a:off x="7197323" y="4899397"/>
            <a:ext cx="15779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multimodal</a:t>
            </a:r>
          </a:p>
          <a:p>
            <a:pPr algn="ctr"/>
            <a:r>
              <a:rPr lang="en-US" sz="1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8EC7C34-423C-4AFE-EB7D-6B94EAE5D9F3}"/>
              </a:ext>
            </a:extLst>
          </p:cNvPr>
          <p:cNvCxnSpPr>
            <a:cxnSpLocks/>
            <a:stCxn id="24" idx="3"/>
            <a:endCxn id="25" idx="1"/>
          </p:cNvCxnSpPr>
          <p:nvPr/>
        </p:nvCxnSpPr>
        <p:spPr>
          <a:xfrm>
            <a:off x="2148551" y="5186241"/>
            <a:ext cx="135191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A801565C-2FD3-A6D8-957B-BC324DD5CDE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976" t="10927" r="11177" b="12059"/>
          <a:stretch/>
        </p:blipFill>
        <p:spPr>
          <a:xfrm>
            <a:off x="720912" y="4260475"/>
            <a:ext cx="1427639" cy="18515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F964E139-118D-9FB0-A6DF-B574CB4896C4}"/>
              </a:ext>
            </a:extLst>
          </p:cNvPr>
          <p:cNvSpPr/>
          <p:nvPr/>
        </p:nvSpPr>
        <p:spPr>
          <a:xfrm>
            <a:off x="3500465" y="4715536"/>
            <a:ext cx="1729425" cy="94140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NLP</a:t>
            </a:r>
          </a:p>
          <a:p>
            <a:pPr algn="ctr"/>
            <a:r>
              <a:rPr lang="en-US" dirty="0"/>
              <a:t>Encoder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FFA1DD2-211E-CB8C-5450-3B4A32D627CD}"/>
              </a:ext>
            </a:extLst>
          </p:cNvPr>
          <p:cNvSpPr txBox="1"/>
          <p:nvPr/>
        </p:nvSpPr>
        <p:spPr>
          <a:xfrm>
            <a:off x="957253" y="6134384"/>
            <a:ext cx="9549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4FC2851-363A-3E59-D04C-6C833E7CCF73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148551" y="3015763"/>
            <a:ext cx="135191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C8FFB45-F440-9A44-C4D6-929F61E98003}"/>
              </a:ext>
            </a:extLst>
          </p:cNvPr>
          <p:cNvCxnSpPr>
            <a:cxnSpLocks/>
          </p:cNvCxnSpPr>
          <p:nvPr/>
        </p:nvCxnSpPr>
        <p:spPr>
          <a:xfrm>
            <a:off x="5343029" y="3015763"/>
            <a:ext cx="331907" cy="41323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171D7ADA-8EE9-E7AD-B133-399D4C2672C0}"/>
              </a:ext>
            </a:extLst>
          </p:cNvPr>
          <p:cNvSpPr/>
          <p:nvPr/>
        </p:nvSpPr>
        <p:spPr>
          <a:xfrm>
            <a:off x="3500464" y="2571131"/>
            <a:ext cx="1729425" cy="941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CNN</a:t>
            </a:r>
          </a:p>
          <a:p>
            <a:pPr algn="ctr"/>
            <a:r>
              <a:rPr lang="en-US" dirty="0"/>
              <a:t>Encoder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D3BAF4-7B59-22C0-0D46-8D0CD55983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912" y="2284880"/>
            <a:ext cx="1427639" cy="1461765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E8BC6D11-126E-C554-8CDD-168DA5C91049}"/>
              </a:ext>
            </a:extLst>
          </p:cNvPr>
          <p:cNvSpPr txBox="1"/>
          <p:nvPr/>
        </p:nvSpPr>
        <p:spPr>
          <a:xfrm>
            <a:off x="733778" y="3756931"/>
            <a:ext cx="1401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206D5B8-F547-5943-0C91-895BCBE18A36}"/>
              </a:ext>
            </a:extLst>
          </p:cNvPr>
          <p:cNvGraphicFramePr>
            <a:graphicFrameLocks noGrp="1"/>
          </p:cNvGraphicFramePr>
          <p:nvPr/>
        </p:nvGraphicFramePr>
        <p:xfrm>
          <a:off x="9323091" y="3616364"/>
          <a:ext cx="2343891" cy="522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3891">
                  <a:extLst>
                    <a:ext uri="{9D8B030D-6E8A-4147-A177-3AD203B41FA5}">
                      <a16:colId xmlns:a16="http://schemas.microsoft.com/office/drawing/2014/main" val="4002730172"/>
                    </a:ext>
                  </a:extLst>
                </a:gridCol>
              </a:tblGrid>
              <a:tr h="52277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P(outcome | data)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15260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E90D492-E644-BA0B-A327-FBF9D46DDA2A}"/>
              </a:ext>
            </a:extLst>
          </p:cNvPr>
          <p:cNvSpPr txBox="1"/>
          <p:nvPr/>
        </p:nvSpPr>
        <p:spPr>
          <a:xfrm>
            <a:off x="6248068" y="3496683"/>
            <a:ext cx="4860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/>
              <a:t>+</a:t>
            </a:r>
          </a:p>
        </p:txBody>
      </p:sp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854E059F-5FB9-99BD-4E64-F03F9FAAC116}"/>
              </a:ext>
            </a:extLst>
          </p:cNvPr>
          <p:cNvGraphicFramePr>
            <a:graphicFrameLocks noGrp="1"/>
          </p:cNvGraphicFramePr>
          <p:nvPr/>
        </p:nvGraphicFramePr>
        <p:xfrm>
          <a:off x="7727366" y="3010380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EB7602C4-6B80-93AA-EF81-58987CB73FEC}"/>
              </a:ext>
            </a:extLst>
          </p:cNvPr>
          <p:cNvSpPr txBox="1"/>
          <p:nvPr/>
        </p:nvSpPr>
        <p:spPr>
          <a:xfrm>
            <a:off x="7220932" y="3496683"/>
            <a:ext cx="4860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/>
              <a:t>=</a:t>
            </a: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1A464D3C-06A6-7602-18D5-4A166F86D0B9}"/>
              </a:ext>
            </a:extLst>
          </p:cNvPr>
          <p:cNvSpPr/>
          <p:nvPr/>
        </p:nvSpPr>
        <p:spPr>
          <a:xfrm rot="16200000">
            <a:off x="6342310" y="2027193"/>
            <a:ext cx="297546" cy="142351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4AAAC7-ED58-E6BA-CFC5-2821D0750668}"/>
              </a:ext>
            </a:extLst>
          </p:cNvPr>
          <p:cNvSpPr txBox="1"/>
          <p:nvPr/>
        </p:nvSpPr>
        <p:spPr>
          <a:xfrm>
            <a:off x="6318617" y="2100214"/>
            <a:ext cx="3703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Contrastive (e.g., CLIP) loss applied</a:t>
            </a:r>
          </a:p>
        </p:txBody>
      </p:sp>
      <p:graphicFrame>
        <p:nvGraphicFramePr>
          <p:cNvPr id="4" name="Table 13">
            <a:extLst>
              <a:ext uri="{FF2B5EF4-FFF2-40B4-BE49-F238E27FC236}">
                <a16:creationId xmlns:a16="http://schemas.microsoft.com/office/drawing/2014/main" id="{D423F7FB-A9CA-B6DB-F3F0-835BD8332C61}"/>
              </a:ext>
            </a:extLst>
          </p:cNvPr>
          <p:cNvGraphicFramePr>
            <a:graphicFrameLocks noGrp="1"/>
          </p:cNvGraphicFramePr>
          <p:nvPr/>
        </p:nvGraphicFramePr>
        <p:xfrm>
          <a:off x="9203380" y="4788786"/>
          <a:ext cx="442976" cy="17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76">
                  <a:extLst>
                    <a:ext uri="{9D8B030D-6E8A-4147-A177-3AD203B41FA5}">
                      <a16:colId xmlns:a16="http://schemas.microsoft.com/office/drawing/2014/main" val="1738843382"/>
                    </a:ext>
                  </a:extLst>
                </a:gridCol>
              </a:tblGrid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26735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615053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241076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90451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C788B8F-1D6E-67EE-C02A-0818369FCD0F}"/>
              </a:ext>
            </a:extLst>
          </p:cNvPr>
          <p:cNvSpPr txBox="1"/>
          <p:nvPr/>
        </p:nvSpPr>
        <p:spPr>
          <a:xfrm>
            <a:off x="9646356" y="4953245"/>
            <a:ext cx="154952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Shared info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Image-only info</a:t>
            </a:r>
          </a:p>
          <a:p>
            <a:endParaRPr lang="en-US" sz="1600" dirty="0"/>
          </a:p>
          <a:p>
            <a:r>
              <a:rPr lang="en-US" sz="1600" dirty="0"/>
              <a:t>Text-only info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8C2DAC-BE90-A6D3-BA86-412E706D7D22}"/>
              </a:ext>
            </a:extLst>
          </p:cNvPr>
          <p:cNvSpPr txBox="1"/>
          <p:nvPr/>
        </p:nvSpPr>
        <p:spPr>
          <a:xfrm>
            <a:off x="5789176" y="535367"/>
            <a:ext cx="59722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Contrastive loss encourages shared info between modalities to concentrate in a subset of channels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Prediction loss prevents distinct info from being lost</a:t>
            </a:r>
          </a:p>
        </p:txBody>
      </p:sp>
    </p:spTree>
    <p:extLst>
      <p:ext uri="{BB962C8B-B14F-4D97-AF65-F5344CB8AC3E}">
        <p14:creationId xmlns:p14="http://schemas.microsoft.com/office/powerpoint/2010/main" val="584466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188"/>
    </mc:Choice>
    <mc:Fallback xmlns="">
      <p:transition spd="slow" advTm="34188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48DC1-A097-1F7B-27A5-39AB472EC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happens with &gt;2 modalities?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D5956-46CA-CC5A-FDBE-75828AC43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Define CLIP loss for each pair of modalities (usually fine)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Define a *primary* modality</a:t>
            </a:r>
          </a:p>
          <a:p>
            <a:pPr lvl="1"/>
            <a:r>
              <a:rPr lang="en-US" dirty="0"/>
              <a:t>Depends on the nature of the problem</a:t>
            </a:r>
          </a:p>
          <a:p>
            <a:pPr lvl="1"/>
            <a:r>
              <a:rPr lang="en-US" dirty="0"/>
              <a:t>Works best if one modality is particularly information rich; often text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Consider alternative loss structures</a:t>
            </a:r>
          </a:p>
          <a:p>
            <a:pPr lvl="1"/>
            <a:r>
              <a:rPr lang="en-US" dirty="0"/>
              <a:t>For example, </a:t>
            </a:r>
            <a:r>
              <a:rPr lang="en-US" dirty="0">
                <a:hlinkClick r:id="rId2"/>
              </a:rPr>
              <a:t>Symile-MIMIC</a:t>
            </a:r>
            <a:r>
              <a:rPr lang="en-US" dirty="0"/>
              <a:t> considers pairwise and higher-order information</a:t>
            </a:r>
          </a:p>
          <a:p>
            <a:pPr lvl="1"/>
            <a:r>
              <a:rPr lang="en-US" dirty="0"/>
              <a:t>Training objective maximizes a lower bound on the total correlation</a:t>
            </a:r>
          </a:p>
          <a:p>
            <a:pPr lvl="1"/>
            <a:r>
              <a:rPr lang="en-US" dirty="0"/>
              <a:t>Number of loss terms scales linearly rather than quadratically in the number of modalities</a:t>
            </a:r>
          </a:p>
        </p:txBody>
      </p:sp>
    </p:spTree>
    <p:extLst>
      <p:ext uri="{BB962C8B-B14F-4D97-AF65-F5344CB8AC3E}">
        <p14:creationId xmlns:p14="http://schemas.microsoft.com/office/powerpoint/2010/main" val="39467746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C1981-D74A-6A9A-B28B-6802544B8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 interactions between modalities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F5C1B72-1AE4-6BB6-B94E-5E76C91B8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Late fusion does not allow interactions!</a:t>
            </a:r>
          </a:p>
          <a:p>
            <a:endParaRPr lang="en-US" dirty="0"/>
          </a:p>
          <a:p>
            <a:r>
              <a:rPr lang="en-US" dirty="0"/>
              <a:t>Joint fusion does allow interactions, but flexibility is limited, as this happens only at the end of feature extraction</a:t>
            </a:r>
          </a:p>
          <a:p>
            <a:endParaRPr lang="en-US" dirty="0"/>
          </a:p>
          <a:p>
            <a:r>
              <a:rPr lang="en-US" dirty="0"/>
              <a:t>Recall: this is similar to the concern that motivated the Transformer, namely that some interactions* were only possible in later layers of the model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				*namely, long-distance interactions</a:t>
            </a:r>
          </a:p>
        </p:txBody>
      </p:sp>
    </p:spTree>
    <p:extLst>
      <p:ext uri="{BB962C8B-B14F-4D97-AF65-F5344CB8AC3E}">
        <p14:creationId xmlns:p14="http://schemas.microsoft.com/office/powerpoint/2010/main" val="131193782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F5E07-A17C-F96D-89A6-F5B729EF7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1F1BA-D040-3F06-9D5A-12A37FA0F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Early fusion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AC96EE-21A4-3D8F-61D9-15AF0AA5DE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26942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6E972-37FB-BC91-B822-46E20779A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Frontier models have moved to early fusion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EA2509-A2F9-DBC5-6E65-3E5167F28B46}"/>
              </a:ext>
            </a:extLst>
          </p:cNvPr>
          <p:cNvSpPr txBox="1"/>
          <p:nvPr/>
        </p:nvSpPr>
        <p:spPr>
          <a:xfrm>
            <a:off x="1669154" y="5846544"/>
            <a:ext cx="56922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Akbari, H., Yuan, L., Qian, R., Chuang, W.-H., Chang, S.-F., Cui, Y., &amp; Gong, B. (2021). VATT: Transformers for Multimodal Self-Supervised Learning from Raw Video, Audio and Text. </a:t>
            </a:r>
            <a:r>
              <a:rPr lang="en-US" sz="1200" i="1" dirty="0"/>
              <a:t>Advances in Neural Information Processing Systems (</a:t>
            </a:r>
            <a:r>
              <a:rPr lang="en-US" sz="1200" i="1" dirty="0" err="1"/>
              <a:t>NeurIPS</a:t>
            </a:r>
            <a:r>
              <a:rPr lang="en-US" sz="1200" i="1" dirty="0"/>
              <a:t>) 34</a:t>
            </a:r>
            <a:r>
              <a:rPr lang="en-US" sz="1200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C7D453-4D3F-D003-562B-930D46036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47426"/>
            <a:ext cx="7354126" cy="30635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119AE5-FEA2-2047-EC9A-EAD374ECFD0F}"/>
              </a:ext>
            </a:extLst>
          </p:cNvPr>
          <p:cNvSpPr txBox="1"/>
          <p:nvPr/>
        </p:nvSpPr>
        <p:spPr>
          <a:xfrm>
            <a:off x="8851770" y="2347426"/>
            <a:ext cx="273377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Distinct linear projections map raw pixels and waveforms to a shared input embedding space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Contrastive loss is applied to encourage output representations to be similar across modalities</a:t>
            </a:r>
          </a:p>
        </p:txBody>
      </p:sp>
    </p:spTree>
    <p:extLst>
      <p:ext uri="{BB962C8B-B14F-4D97-AF65-F5344CB8AC3E}">
        <p14:creationId xmlns:p14="http://schemas.microsoft.com/office/powerpoint/2010/main" val="390252658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51E55-925E-5FE5-6DDB-9307C5213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D60B2-B847-2573-28CE-89675CA10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fusion methods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865D6F-8CD1-FC04-F853-8A65DC4AA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0775"/>
            <a:ext cx="10515600" cy="421618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Late fusion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Joint fusion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Early fusion</a:t>
            </a:r>
          </a:p>
        </p:txBody>
      </p:sp>
      <p:sp>
        <p:nvSpPr>
          <p:cNvPr id="6" name="Up Arrow 5">
            <a:extLst>
              <a:ext uri="{FF2B5EF4-FFF2-40B4-BE49-F238E27FC236}">
                <a16:creationId xmlns:a16="http://schemas.microsoft.com/office/drawing/2014/main" id="{B12C5EC8-AA6F-990E-4847-1787D78A02F4}"/>
              </a:ext>
            </a:extLst>
          </p:cNvPr>
          <p:cNvSpPr/>
          <p:nvPr/>
        </p:nvSpPr>
        <p:spPr>
          <a:xfrm>
            <a:off x="4251487" y="1862997"/>
            <a:ext cx="1008669" cy="4411744"/>
          </a:xfrm>
          <a:prstGeom prst="up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FE1A15-50FF-6B52-83EE-74325E0CF317}"/>
              </a:ext>
            </a:extLst>
          </p:cNvPr>
          <p:cNvSpPr txBox="1"/>
          <p:nvPr/>
        </p:nvSpPr>
        <p:spPr>
          <a:xfrm>
            <a:off x="5260156" y="3745703"/>
            <a:ext cx="1867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ease of </a:t>
            </a:r>
          </a:p>
          <a:p>
            <a:r>
              <a:rPr lang="en-US" b="1" dirty="0"/>
              <a:t>implementation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DD4F13-6E0F-5353-B019-EE3F27F1E0A3}"/>
              </a:ext>
            </a:extLst>
          </p:cNvPr>
          <p:cNvSpPr txBox="1"/>
          <p:nvPr/>
        </p:nvSpPr>
        <p:spPr>
          <a:xfrm>
            <a:off x="5260156" y="1862996"/>
            <a:ext cx="904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easiest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7A25D1-8CCE-9C39-7402-C6E2E336C595}"/>
              </a:ext>
            </a:extLst>
          </p:cNvPr>
          <p:cNvSpPr txBox="1"/>
          <p:nvPr/>
        </p:nvSpPr>
        <p:spPr>
          <a:xfrm>
            <a:off x="5260156" y="5905409"/>
            <a:ext cx="94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hardest</a:t>
            </a:r>
          </a:p>
        </p:txBody>
      </p:sp>
    </p:spTree>
    <p:extLst>
      <p:ext uri="{BB962C8B-B14F-4D97-AF65-F5344CB8AC3E}">
        <p14:creationId xmlns:p14="http://schemas.microsoft.com/office/powerpoint/2010/main" val="308469798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8CD9A-CF52-45FD-84BF-2F4BF8823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CFB4B-C08B-F2CF-3721-164DD89FF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fusion methods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A3534C-8B2F-382A-7275-C9DDE35BC1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0775"/>
            <a:ext cx="10515600" cy="421618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Late fusion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Joint fusion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Early fusion</a:t>
            </a:r>
          </a:p>
        </p:txBody>
      </p:sp>
      <p:sp>
        <p:nvSpPr>
          <p:cNvPr id="6" name="Up Arrow 5">
            <a:extLst>
              <a:ext uri="{FF2B5EF4-FFF2-40B4-BE49-F238E27FC236}">
                <a16:creationId xmlns:a16="http://schemas.microsoft.com/office/drawing/2014/main" id="{94E6CD8D-2808-1CEB-4D73-F66DBC7FA27C}"/>
              </a:ext>
            </a:extLst>
          </p:cNvPr>
          <p:cNvSpPr/>
          <p:nvPr/>
        </p:nvSpPr>
        <p:spPr>
          <a:xfrm>
            <a:off x="4251487" y="1862997"/>
            <a:ext cx="1008669" cy="4411744"/>
          </a:xfrm>
          <a:prstGeom prst="up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782522-C391-F675-D12A-9849EC1A5B89}"/>
              </a:ext>
            </a:extLst>
          </p:cNvPr>
          <p:cNvSpPr txBox="1"/>
          <p:nvPr/>
        </p:nvSpPr>
        <p:spPr>
          <a:xfrm>
            <a:off x="5260156" y="3745703"/>
            <a:ext cx="27040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training difficulty and</a:t>
            </a:r>
          </a:p>
          <a:p>
            <a:r>
              <a:rPr lang="en-US" b="1" dirty="0"/>
              <a:t>amount of data required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BD56AF-B45D-6E74-46EC-280730D0F781}"/>
              </a:ext>
            </a:extLst>
          </p:cNvPr>
          <p:cNvSpPr txBox="1"/>
          <p:nvPr/>
        </p:nvSpPr>
        <p:spPr>
          <a:xfrm>
            <a:off x="5260156" y="1862996"/>
            <a:ext cx="675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least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9934B5-722A-322F-3130-61507DCBD610}"/>
              </a:ext>
            </a:extLst>
          </p:cNvPr>
          <p:cNvSpPr txBox="1"/>
          <p:nvPr/>
        </p:nvSpPr>
        <p:spPr>
          <a:xfrm>
            <a:off x="5260156" y="5905409"/>
            <a:ext cx="694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most</a:t>
            </a:r>
          </a:p>
        </p:txBody>
      </p:sp>
    </p:spTree>
    <p:extLst>
      <p:ext uri="{BB962C8B-B14F-4D97-AF65-F5344CB8AC3E}">
        <p14:creationId xmlns:p14="http://schemas.microsoft.com/office/powerpoint/2010/main" val="328594696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79181-1D7F-07A9-4747-0C1A08A82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DE163-9E8E-51A3-27BD-25C3F8C30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fusion methods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914FB-0892-2C3F-F27C-85A8B58ED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0775"/>
            <a:ext cx="10515600" cy="421618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Late fusion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Joint fusion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Early fusion</a:t>
            </a:r>
          </a:p>
        </p:txBody>
      </p:sp>
      <p:sp>
        <p:nvSpPr>
          <p:cNvPr id="6" name="Up Arrow 5">
            <a:extLst>
              <a:ext uri="{FF2B5EF4-FFF2-40B4-BE49-F238E27FC236}">
                <a16:creationId xmlns:a16="http://schemas.microsoft.com/office/drawing/2014/main" id="{B4B27D92-12C4-2C57-FCA2-632BAE4F65FB}"/>
              </a:ext>
            </a:extLst>
          </p:cNvPr>
          <p:cNvSpPr/>
          <p:nvPr/>
        </p:nvSpPr>
        <p:spPr>
          <a:xfrm rot="10800000">
            <a:off x="4251487" y="1862997"/>
            <a:ext cx="1008669" cy="4411744"/>
          </a:xfrm>
          <a:prstGeom prst="up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F61823-903E-1CBF-88C6-F8ABAE14F58D}"/>
              </a:ext>
            </a:extLst>
          </p:cNvPr>
          <p:cNvSpPr txBox="1"/>
          <p:nvPr/>
        </p:nvSpPr>
        <p:spPr>
          <a:xfrm>
            <a:off x="5260156" y="3745703"/>
            <a:ext cx="28222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flexibility of</a:t>
            </a:r>
          </a:p>
          <a:p>
            <a:r>
              <a:rPr lang="en-US" b="1" dirty="0"/>
              <a:t>cross-modal interactions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B00645-7433-763D-2FE9-1CBF96EC1809}"/>
              </a:ext>
            </a:extLst>
          </p:cNvPr>
          <p:cNvSpPr txBox="1"/>
          <p:nvPr/>
        </p:nvSpPr>
        <p:spPr>
          <a:xfrm>
            <a:off x="5260156" y="1862996"/>
            <a:ext cx="3162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least flexible (no interactions)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6CC666-9ECD-DC98-A40D-D2F31CB86B56}"/>
              </a:ext>
            </a:extLst>
          </p:cNvPr>
          <p:cNvSpPr txBox="1"/>
          <p:nvPr/>
        </p:nvSpPr>
        <p:spPr>
          <a:xfrm>
            <a:off x="5260156" y="5905409"/>
            <a:ext cx="1455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most flexible</a:t>
            </a:r>
          </a:p>
        </p:txBody>
      </p:sp>
    </p:spTree>
    <p:extLst>
      <p:ext uri="{BB962C8B-B14F-4D97-AF65-F5344CB8AC3E}">
        <p14:creationId xmlns:p14="http://schemas.microsoft.com/office/powerpoint/2010/main" val="314566937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9DD2C-E08B-248D-AF7C-19427090A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between fusion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AFF49-CC65-85AA-A9EA-3F7D7A904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most cases, your choice will be between:</a:t>
            </a:r>
          </a:p>
          <a:p>
            <a:pPr lvl="1"/>
            <a:r>
              <a:rPr lang="en-US" dirty="0"/>
              <a:t>Late fusion</a:t>
            </a:r>
          </a:p>
          <a:p>
            <a:pPr lvl="1"/>
            <a:r>
              <a:rPr lang="en-US" dirty="0"/>
              <a:t>Joint fusion</a:t>
            </a:r>
          </a:p>
          <a:p>
            <a:pPr lvl="1"/>
            <a:endParaRPr lang="en-US" dirty="0"/>
          </a:p>
          <a:p>
            <a:r>
              <a:rPr lang="en-US" dirty="0"/>
              <a:t>Joint fusion requires more data but is usually feasible with health datasets</a:t>
            </a:r>
          </a:p>
          <a:p>
            <a:endParaRPr lang="en-US" dirty="0"/>
          </a:p>
          <a:p>
            <a:r>
              <a:rPr lang="en-US" dirty="0"/>
              <a:t>Early fusion is likely needed to maximize performance, but it is only realistic with large data and self-supervision</a:t>
            </a:r>
          </a:p>
        </p:txBody>
      </p:sp>
    </p:spTree>
    <p:extLst>
      <p:ext uri="{BB962C8B-B14F-4D97-AF65-F5344CB8AC3E}">
        <p14:creationId xmlns:p14="http://schemas.microsoft.com/office/powerpoint/2010/main" val="420274556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6EF30-83BE-7115-6C98-8BE383876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fusion method to choose?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8416F-CEB5-9E82-81D6-F0AE2C7214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Prediction of retinopathy with </a:t>
            </a:r>
            <a:r>
              <a:rPr lang="en-US" i="1" dirty="0"/>
              <a:t>side</a:t>
            </a:r>
            <a:r>
              <a:rPr lang="en-US" dirty="0"/>
              <a:t> information (e.g., demographics)</a:t>
            </a:r>
          </a:p>
          <a:p>
            <a:endParaRPr lang="en-US" dirty="0"/>
          </a:p>
          <a:p>
            <a:r>
              <a:rPr lang="en-US" dirty="0"/>
              <a:t>Prediction of lupus from information about multiple organ systems (e.g., kidneys, skin, joints)</a:t>
            </a:r>
          </a:p>
          <a:p>
            <a:endParaRPr lang="en-US" dirty="0"/>
          </a:p>
          <a:p>
            <a:r>
              <a:rPr lang="en-US" dirty="0"/>
              <a:t>Early diagnosis prediction from EHRs</a:t>
            </a:r>
          </a:p>
          <a:p>
            <a:endParaRPr lang="en-US" dirty="0"/>
          </a:p>
          <a:p>
            <a:r>
              <a:rPr lang="en-US" dirty="0"/>
              <a:t>Cardiovascular event prediction from multiple wearables</a:t>
            </a:r>
          </a:p>
          <a:p>
            <a:endParaRPr lang="en-US" dirty="0"/>
          </a:p>
          <a:p>
            <a:r>
              <a:rPr lang="en-US" dirty="0"/>
              <a:t>Share examples you have seen in your work!</a:t>
            </a:r>
          </a:p>
        </p:txBody>
      </p:sp>
    </p:spTree>
    <p:extLst>
      <p:ext uri="{BB962C8B-B14F-4D97-AF65-F5344CB8AC3E}">
        <p14:creationId xmlns:p14="http://schemas.microsoft.com/office/powerpoint/2010/main" val="388327470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EEC67-84FE-B08F-6B9C-E09F7B516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 Coding Assignment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E5FDD-5DB7-7BE5-3243-989FF4BC27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needed</a:t>
            </a:r>
          </a:p>
        </p:txBody>
      </p:sp>
    </p:spTree>
    <p:extLst>
      <p:ext uri="{BB962C8B-B14F-4D97-AF65-F5344CB8AC3E}">
        <p14:creationId xmlns:p14="http://schemas.microsoft.com/office/powerpoint/2010/main" val="388030241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E2FC2-5CF3-BD45-BAED-89722F376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current directions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90D5F3-CFC0-D7E2-5607-A667EE47F8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(optional content)</a:t>
            </a:r>
          </a:p>
        </p:txBody>
      </p:sp>
    </p:spTree>
    <p:extLst>
      <p:ext uri="{BB962C8B-B14F-4D97-AF65-F5344CB8AC3E}">
        <p14:creationId xmlns:p14="http://schemas.microsoft.com/office/powerpoint/2010/main" val="344007002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7D113-C35E-46A2-CBB6-137821601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Recall: are all tasks special cases of text generation?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4AEDE3-343A-975E-CD12-FC7778CCD80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59316" y="1440749"/>
            <a:ext cx="7873369" cy="548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83625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4FBB9-F87B-5A19-FB76-72C7E1687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1CC2E-1EE9-C538-717F-D51135DFD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Generative LLMs enable “zero-shot” prediction:</a:t>
            </a:r>
            <a:br>
              <a:rPr lang="en-US" sz="3600" dirty="0"/>
            </a:br>
            <a:r>
              <a:rPr lang="en-US" sz="2000" dirty="0"/>
              <a:t>i.e. prediction without task-specific training</a:t>
            </a:r>
            <a:endParaRPr lang="en-US" sz="3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F994C0-CB5F-C25F-446C-35C0179FBAD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59316" y="1440749"/>
            <a:ext cx="7873369" cy="548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65222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C7193-0C4D-D54F-17ED-0D5CB7DD9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we still need predictive AI?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15EEAB-75C4-A4D7-B484-0B8F4E8B6B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task-specific models?</a:t>
            </a:r>
          </a:p>
        </p:txBody>
      </p:sp>
    </p:spTree>
    <p:extLst>
      <p:ext uri="{BB962C8B-B14F-4D97-AF65-F5344CB8AC3E}">
        <p14:creationId xmlns:p14="http://schemas.microsoft.com/office/powerpoint/2010/main" val="35596408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861B132-5A80-4F26-B05B-B03B027B1F9A}"/>
              </a:ext>
            </a:extLst>
          </p:cNvPr>
          <p:cNvSpPr txBox="1">
            <a:spLocks/>
          </p:cNvSpPr>
          <p:nvPr/>
        </p:nvSpPr>
        <p:spPr>
          <a:xfrm>
            <a:off x="537904" y="274639"/>
            <a:ext cx="10972800" cy="1143000"/>
          </a:xfrm>
          <a:prstGeom prst="rect">
            <a:avLst/>
          </a:prstGeom>
        </p:spPr>
        <p:txBody>
          <a:bodyPr vert="horz" lIns="121920" tIns="60960" rIns="121920" bIns="6096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800" b="0" i="0" kern="1200">
                <a:solidFill>
                  <a:schemeClr val="tx1"/>
                </a:solidFill>
                <a:latin typeface="Lato Regular" charset="0"/>
                <a:ea typeface="+mj-ea"/>
                <a:cs typeface="+mj-cs"/>
              </a:defRPr>
            </a:lvl1pPr>
          </a:lstStyle>
          <a:p>
            <a:endParaRPr lang="en-US" sz="3200" b="1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EE9D253-A74A-9C4F-9FFE-3E91395E3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267" dirty="0"/>
              <a:t>Often predictive and generative models are complementary.</a:t>
            </a:r>
            <a:endParaRPr lang="en-US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4DC748-D2C5-5844-8205-BDDC87302464}"/>
              </a:ext>
            </a:extLst>
          </p:cNvPr>
          <p:cNvSpPr txBox="1"/>
          <p:nvPr/>
        </p:nvSpPr>
        <p:spPr>
          <a:xfrm>
            <a:off x="5422233" y="6464969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3BFB6B-820A-37EA-F8B0-714D13947A8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68365" y="2088007"/>
            <a:ext cx="4027007" cy="26819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45B9CB-89F2-7B61-030E-0309E9D5664A}"/>
              </a:ext>
            </a:extLst>
          </p:cNvPr>
          <p:cNvSpPr txBox="1"/>
          <p:nvPr/>
        </p:nvSpPr>
        <p:spPr>
          <a:xfrm>
            <a:off x="838201" y="1940921"/>
            <a:ext cx="4457807" cy="3785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Maternal health response system</a:t>
            </a:r>
            <a:r>
              <a:rPr lang="en-US" sz="2400" dirty="0"/>
              <a:t>: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133" dirty="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133" dirty="0"/>
              <a:t>Speech to text (predictive)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133" dirty="0"/>
              <a:t>Translation (predictive)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133" dirty="0"/>
              <a:t>Identification of key concepts and topics (predictive)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133" dirty="0"/>
              <a:t>Triage (predictive)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133" dirty="0"/>
              <a:t>Generation of template and/or complete responses in specific cases (generative)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22140D-F658-F518-7A4F-CFFD40142D5E}"/>
              </a:ext>
            </a:extLst>
          </p:cNvPr>
          <p:cNvSpPr txBox="1"/>
          <p:nvPr/>
        </p:nvSpPr>
        <p:spPr>
          <a:xfrm>
            <a:off x="838201" y="5638252"/>
            <a:ext cx="10236201" cy="748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33" i="1" dirty="0"/>
              <a:t>It is much easier to evaluate the performance of predictive models, and in turn to know when and how much to trust them.</a:t>
            </a:r>
          </a:p>
        </p:txBody>
      </p:sp>
    </p:spTree>
    <p:extLst>
      <p:ext uri="{BB962C8B-B14F-4D97-AF65-F5344CB8AC3E}">
        <p14:creationId xmlns:p14="http://schemas.microsoft.com/office/powerpoint/2010/main" val="334562047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062AA-5528-5939-D554-B0B18C0C4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some cases, however, generative models have superseded predictive models.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D23C06-B318-4180-129A-D13DE33C0C6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27600" y="2683933"/>
            <a:ext cx="6553200" cy="3276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445B87-803B-73CF-304D-8CBA61C94D03}"/>
              </a:ext>
            </a:extLst>
          </p:cNvPr>
          <p:cNvSpPr txBox="1"/>
          <p:nvPr/>
        </p:nvSpPr>
        <p:spPr>
          <a:xfrm>
            <a:off x="711200" y="2116296"/>
            <a:ext cx="3505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“Translation” of discharge notes into plain language using GPT4 substantially improves patients’ ability to comprehend them.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2F0903-D96D-23E8-BEB5-A6F278B8728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31680" y="4511675"/>
            <a:ext cx="1161387" cy="1557867"/>
          </a:xfrm>
          <a:prstGeom prst="rect">
            <a:avLst/>
          </a:prstGeom>
        </p:spPr>
      </p:pic>
      <p:pic>
        <p:nvPicPr>
          <p:cNvPr id="2050" name="Picture 2" descr="Anivarya Kumar | Trent Center for Bioethics, Humanities &amp; History of  Medicine">
            <a:extLst>
              <a:ext uri="{FF2B5EF4-FFF2-40B4-BE49-F238E27FC236}">
                <a16:creationId xmlns:a16="http://schemas.microsoft.com/office/drawing/2014/main" id="{93800175-D763-6669-2C93-F8D525B564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16453" y="4511675"/>
            <a:ext cx="1161387" cy="1557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B5260A-6BD7-1F61-CE5E-7074EE8BBFC3}"/>
              </a:ext>
            </a:extLst>
          </p:cNvPr>
          <p:cNvSpPr txBox="1"/>
          <p:nvPr/>
        </p:nvSpPr>
        <p:spPr>
          <a:xfrm>
            <a:off x="796955" y="6162788"/>
            <a:ext cx="13943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Anivarya</a:t>
            </a:r>
            <a:r>
              <a:rPr lang="en-US" sz="1400" dirty="0"/>
              <a:t> Kumar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918CE1-CD0A-4E51-46D8-4F824247A4B5}"/>
              </a:ext>
            </a:extLst>
          </p:cNvPr>
          <p:cNvSpPr txBox="1"/>
          <p:nvPr/>
        </p:nvSpPr>
        <p:spPr>
          <a:xfrm>
            <a:off x="2580576" y="6170308"/>
            <a:ext cx="12704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Isabella Wang</a:t>
            </a:r>
          </a:p>
        </p:txBody>
      </p:sp>
    </p:spTree>
    <p:extLst>
      <p:ext uri="{BB962C8B-B14F-4D97-AF65-F5344CB8AC3E}">
        <p14:creationId xmlns:p14="http://schemas.microsoft.com/office/powerpoint/2010/main" val="255557768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22440-B83D-188B-3B7B-C225E2697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Extracting specific info from documents: predictive or generative?</a:t>
            </a:r>
          </a:p>
        </p:txBody>
      </p:sp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9CB68C24-32A8-6033-81C6-4BFF854373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2048935"/>
            <a:ext cx="4815792" cy="2897243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4A879E6-7F06-6B60-FAD9-3A0ED136F118}"/>
              </a:ext>
            </a:extLst>
          </p:cNvPr>
          <p:cNvGraphicFramePr>
            <a:graphicFrameLocks noGrp="1"/>
          </p:cNvGraphicFramePr>
          <p:nvPr/>
        </p:nvGraphicFramePr>
        <p:xfrm>
          <a:off x="6096001" y="2048935"/>
          <a:ext cx="5435431" cy="2366444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5435431">
                  <a:extLst>
                    <a:ext uri="{9D8B030D-6E8A-4147-A177-3AD203B41FA5}">
                      <a16:colId xmlns:a16="http://schemas.microsoft.com/office/drawing/2014/main" val="3950672317"/>
                    </a:ext>
                  </a:extLst>
                </a:gridCol>
              </a:tblGrid>
              <a:tr h="25137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Data needed to determine scheduling needs 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813" marR="80813" marT="0" marB="0" anchor="ctr"/>
                </a:tc>
                <a:extLst>
                  <a:ext uri="{0D108BD9-81ED-4DB2-BD59-A6C34878D82A}">
                    <a16:rowId xmlns:a16="http://schemas.microsoft.com/office/drawing/2014/main" val="1589736975"/>
                  </a:ext>
                </a:extLst>
              </a:tr>
              <a:tr h="25137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</a:rPr>
                        <a:t>ICD-10</a:t>
                      </a:r>
                      <a:endParaRPr lang="en-US" sz="1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813" marR="80813" marT="0" marB="0" anchor="ctr"/>
                </a:tc>
                <a:extLst>
                  <a:ext uri="{0D108BD9-81ED-4DB2-BD59-A6C34878D82A}">
                    <a16:rowId xmlns:a16="http://schemas.microsoft.com/office/drawing/2014/main" val="898899989"/>
                  </a:ext>
                </a:extLst>
              </a:tr>
              <a:tr h="26237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</a:rPr>
                        <a:t>Stage</a:t>
                      </a:r>
                      <a:endParaRPr lang="en-US" sz="1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813" marR="80813" marT="0" marB="0" anchor="ctr"/>
                </a:tc>
                <a:extLst>
                  <a:ext uri="{0D108BD9-81ED-4DB2-BD59-A6C34878D82A}">
                    <a16:rowId xmlns:a16="http://schemas.microsoft.com/office/drawing/2014/main" val="868141245"/>
                  </a:ext>
                </a:extLst>
              </a:tr>
              <a:tr h="25137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</a:rPr>
                        <a:t>Age</a:t>
                      </a:r>
                      <a:endParaRPr lang="en-US" sz="1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813" marR="80813" marT="0" marB="0" anchor="ctr"/>
                </a:tc>
                <a:extLst>
                  <a:ext uri="{0D108BD9-81ED-4DB2-BD59-A6C34878D82A}">
                    <a16:rowId xmlns:a16="http://schemas.microsoft.com/office/drawing/2014/main" val="3940548945"/>
                  </a:ext>
                </a:extLst>
              </a:tr>
              <a:tr h="26837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</a:rPr>
                        <a:t>Date of Dx</a:t>
                      </a:r>
                      <a:endParaRPr lang="en-US" sz="1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813" marR="80813" marT="0" marB="0" anchor="ctr"/>
                </a:tc>
                <a:extLst>
                  <a:ext uri="{0D108BD9-81ED-4DB2-BD59-A6C34878D82A}">
                    <a16:rowId xmlns:a16="http://schemas.microsoft.com/office/drawing/2014/main" val="4241941698"/>
                  </a:ext>
                </a:extLst>
              </a:tr>
              <a:tr h="25137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</a:rPr>
                        <a:t>Hormone Receptors and molecular biomarkers</a:t>
                      </a:r>
                      <a:endParaRPr lang="en-US" sz="1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813" marR="80813" marT="0" marB="0" anchor="ctr"/>
                </a:tc>
                <a:extLst>
                  <a:ext uri="{0D108BD9-81ED-4DB2-BD59-A6C34878D82A}">
                    <a16:rowId xmlns:a16="http://schemas.microsoft.com/office/drawing/2014/main" val="1683349164"/>
                  </a:ext>
                </a:extLst>
              </a:tr>
              <a:tr h="31778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</a:rPr>
                        <a:t>History of Treatment (med, surg, rad)</a:t>
                      </a:r>
                      <a:endParaRPr lang="en-US" sz="1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813" marR="80813" marT="0" marB="0" anchor="ctr"/>
                </a:tc>
                <a:extLst>
                  <a:ext uri="{0D108BD9-81ED-4DB2-BD59-A6C34878D82A}">
                    <a16:rowId xmlns:a16="http://schemas.microsoft.com/office/drawing/2014/main" val="4189573858"/>
                  </a:ext>
                </a:extLst>
              </a:tr>
              <a:tr h="51231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</a:rPr>
                        <a:t>Undiagnosed patients only: </a:t>
                      </a: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</a:rPr>
                        <a:t>Review of symptoms</a:t>
                      </a:r>
                      <a:endParaRPr lang="en-US" sz="1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813" marR="80813" marT="0" marB="0" anchor="ctr"/>
                </a:tc>
                <a:extLst>
                  <a:ext uri="{0D108BD9-81ED-4DB2-BD59-A6C34878D82A}">
                    <a16:rowId xmlns:a16="http://schemas.microsoft.com/office/drawing/2014/main" val="184800848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3D23DE7-4028-E0B6-48CF-C90ECD3A51FA}"/>
              </a:ext>
            </a:extLst>
          </p:cNvPr>
          <p:cNvSpPr txBox="1"/>
          <p:nvPr/>
        </p:nvSpPr>
        <p:spPr>
          <a:xfrm>
            <a:off x="838200" y="5304424"/>
            <a:ext cx="712893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While a predictive approach might be more trustworthy in principle, generative models can perform many tasks “zero-shot”, i.e. without task-specific training.</a:t>
            </a:r>
          </a:p>
        </p:txBody>
      </p:sp>
      <p:pic>
        <p:nvPicPr>
          <p:cNvPr id="1026" name="Picture 2" descr="DIHI logo_news">
            <a:extLst>
              <a:ext uri="{FF2B5EF4-FFF2-40B4-BE49-F238E27FC236}">
                <a16:creationId xmlns:a16="http://schemas.microsoft.com/office/drawing/2014/main" id="{49985DF7-8A4D-AB3D-262F-847302BA69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057297" y="4692840"/>
            <a:ext cx="1474135" cy="1511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5A99B1B-35E2-FBAD-E9B9-EA38F3D29271}"/>
              </a:ext>
            </a:extLst>
          </p:cNvPr>
          <p:cNvSpPr txBox="1"/>
          <p:nvPr/>
        </p:nvSpPr>
        <p:spPr>
          <a:xfrm>
            <a:off x="8813715" y="6330345"/>
            <a:ext cx="3279680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67" dirty="0"/>
              <a:t>DIHI ‘24, led by Emily </a:t>
            </a:r>
            <a:r>
              <a:rPr lang="en-US" sz="1867" dirty="0" err="1"/>
              <a:t>Norboge</a:t>
            </a:r>
            <a:endParaRPr lang="en-US" sz="1867" dirty="0"/>
          </a:p>
        </p:txBody>
      </p:sp>
    </p:spTree>
    <p:extLst>
      <p:ext uri="{BB962C8B-B14F-4D97-AF65-F5344CB8AC3E}">
        <p14:creationId xmlns:p14="http://schemas.microsoft.com/office/powerpoint/2010/main" val="307551636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FD694-A072-0700-218E-07288FA1A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directions: RAG vs long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5DE7B-2372-B71E-DDF3-D666C33C09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Suppose we wish to answer questions or extract information from a large collection of documents (e.g., all clinical notes for a given patient)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How do we use an LLM to do this?</a:t>
            </a:r>
          </a:p>
          <a:p>
            <a:pPr>
              <a:buFontTx/>
              <a:buChar char="-"/>
            </a:pPr>
            <a:r>
              <a:rPr lang="en-US" dirty="0"/>
              <a:t>Option 1: </a:t>
            </a:r>
            <a:r>
              <a:rPr lang="en-US" i="1" dirty="0"/>
              <a:t>very</a:t>
            </a:r>
            <a:r>
              <a:rPr lang="en-US" dirty="0"/>
              <a:t> long context window</a:t>
            </a:r>
          </a:p>
          <a:p>
            <a:pPr>
              <a:buFontTx/>
              <a:buChar char="-"/>
            </a:pPr>
            <a:r>
              <a:rPr lang="en-US" dirty="0"/>
              <a:t>Option 2: retrieval augmented generation (RAG)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/>
              <a:t>Currently, RAG is commonly used because it is effective and scalable, and it (partly) addresses LLM pitfalls, including hallucinations.</a:t>
            </a:r>
          </a:p>
        </p:txBody>
      </p:sp>
    </p:spTree>
    <p:extLst>
      <p:ext uri="{BB962C8B-B14F-4D97-AF65-F5344CB8AC3E}">
        <p14:creationId xmlns:p14="http://schemas.microsoft.com/office/powerpoint/2010/main" val="191484670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16C9F-6BFF-2438-1A26-8677F60DC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directions: agentic AI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159647-3680-0D50-849D-75065D4EBCD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400" y="1335031"/>
            <a:ext cx="10363200" cy="37037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DA0345-26B6-9AC1-922E-6C467AFCCA01}"/>
              </a:ext>
            </a:extLst>
          </p:cNvPr>
          <p:cNvSpPr txBox="1"/>
          <p:nvPr/>
        </p:nvSpPr>
        <p:spPr>
          <a:xfrm>
            <a:off x="6754185" y="6415931"/>
            <a:ext cx="5680914" cy="318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67" dirty="0"/>
              <a:t>Choi, Palumbo, et al.; submitted to </a:t>
            </a:r>
            <a:r>
              <a:rPr lang="en-US" sz="1467" i="1" dirty="0"/>
              <a:t>Machine Learning for Healthcare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CB93B4-DAA3-D09C-8EE7-0929953DE5AC}"/>
              </a:ext>
            </a:extLst>
          </p:cNvPr>
          <p:cNvSpPr txBox="1"/>
          <p:nvPr/>
        </p:nvSpPr>
        <p:spPr>
          <a:xfrm>
            <a:off x="914400" y="5324501"/>
            <a:ext cx="6132749" cy="1241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67" u="sng" dirty="0"/>
              <a:t>Multi-LLM-agent systems including</a:t>
            </a:r>
            <a:r>
              <a:rPr lang="en-US" sz="1867" dirty="0"/>
              <a:t>:</a:t>
            </a:r>
          </a:p>
          <a:p>
            <a:pPr marL="380990" indent="-380990">
              <a:buFontTx/>
              <a:buChar char="-"/>
            </a:pPr>
            <a:r>
              <a:rPr lang="en-US" sz="1867" dirty="0"/>
              <a:t>An orchestrator agent</a:t>
            </a:r>
          </a:p>
          <a:p>
            <a:pPr marL="380990" indent="-380990">
              <a:buFontTx/>
              <a:buChar char="-"/>
            </a:pPr>
            <a:r>
              <a:rPr lang="en-US" sz="1867" dirty="0"/>
              <a:t>Task-specific agents (e.g. </a:t>
            </a:r>
            <a:r>
              <a:rPr lang="en-US" sz="1867" dirty="0" err="1"/>
              <a:t>DocChat</a:t>
            </a:r>
            <a:r>
              <a:rPr lang="en-US" sz="1867" dirty="0"/>
              <a:t>, </a:t>
            </a:r>
            <a:r>
              <a:rPr lang="en-US" sz="1867" dirty="0" err="1"/>
              <a:t>SQLchat</a:t>
            </a:r>
            <a:endParaRPr lang="en-US" sz="1867" dirty="0"/>
          </a:p>
          <a:p>
            <a:pPr marL="380990" indent="-380990">
              <a:buFontTx/>
              <a:buChar char="-"/>
            </a:pPr>
            <a:r>
              <a:rPr lang="en-US" sz="1867" dirty="0"/>
              <a:t>Critic agents</a:t>
            </a:r>
          </a:p>
        </p:txBody>
      </p:sp>
    </p:spTree>
    <p:extLst>
      <p:ext uri="{BB962C8B-B14F-4D97-AF65-F5344CB8AC3E}">
        <p14:creationId xmlns:p14="http://schemas.microsoft.com/office/powerpoint/2010/main" val="266822066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CAA21-D45C-A58E-C2D9-0EB4D1D58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directions: evaluation of generative models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90E9FDF-5609-18C3-5497-82431609A2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4691" y="1960023"/>
            <a:ext cx="6882859" cy="3871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1BABE78-3B6D-99B5-2D14-AB974FF6C022}"/>
              </a:ext>
            </a:extLst>
          </p:cNvPr>
          <p:cNvSpPr txBox="1"/>
          <p:nvPr/>
        </p:nvSpPr>
        <p:spPr>
          <a:xfrm>
            <a:off x="674451" y="1960023"/>
            <a:ext cx="3519252" cy="4031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33" u="sng" dirty="0"/>
              <a:t>Open questions include</a:t>
            </a:r>
            <a:r>
              <a:rPr lang="en-US" sz="2133" dirty="0"/>
              <a:t>:</a:t>
            </a:r>
          </a:p>
          <a:p>
            <a:endParaRPr lang="en-US" sz="2133" dirty="0"/>
          </a:p>
          <a:p>
            <a:pPr marL="380990" indent="-380990">
              <a:buFontTx/>
              <a:buChar char="-"/>
            </a:pPr>
            <a:r>
              <a:rPr lang="en-US" sz="2133" dirty="0"/>
              <a:t>Can we trust models to evaluate other models?</a:t>
            </a:r>
          </a:p>
          <a:p>
            <a:pPr marL="380990" indent="-380990">
              <a:buFontTx/>
              <a:buChar char="-"/>
            </a:pPr>
            <a:endParaRPr lang="en-US" sz="2133" dirty="0"/>
          </a:p>
          <a:p>
            <a:pPr marL="380990" indent="-380990">
              <a:buFontTx/>
              <a:buChar char="-"/>
            </a:pPr>
            <a:r>
              <a:rPr lang="en-US" sz="2133" dirty="0"/>
              <a:t>How can models </a:t>
            </a:r>
            <a:r>
              <a:rPr lang="en-US" sz="2133" i="1" dirty="0"/>
              <a:t>learn when to defer </a:t>
            </a:r>
            <a:r>
              <a:rPr lang="en-US" sz="2133" dirty="0"/>
              <a:t>to human experts?</a:t>
            </a:r>
          </a:p>
          <a:p>
            <a:pPr marL="380990" indent="-380990">
              <a:buFontTx/>
              <a:buChar char="-"/>
            </a:pPr>
            <a:endParaRPr lang="en-US" sz="2133" dirty="0"/>
          </a:p>
          <a:p>
            <a:pPr marL="380990" indent="-380990">
              <a:buFontTx/>
              <a:buChar char="-"/>
            </a:pPr>
            <a:r>
              <a:rPr lang="en-US" sz="2133" dirty="0"/>
              <a:t>How can we identify LLM biases? (more on this in PIONEER sessions)</a:t>
            </a:r>
          </a:p>
        </p:txBody>
      </p:sp>
    </p:spTree>
    <p:extLst>
      <p:ext uri="{BB962C8B-B14F-4D97-AF65-F5344CB8AC3E}">
        <p14:creationId xmlns:p14="http://schemas.microsoft.com/office/powerpoint/2010/main" val="36391893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2175</TotalTime>
  <Words>6435</Words>
  <Application>Microsoft Macintosh PowerPoint</Application>
  <PresentationFormat>Widescreen</PresentationFormat>
  <Paragraphs>1036</Paragraphs>
  <Slides>68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5" baseType="lpstr">
      <vt:lpstr>Aptos</vt:lpstr>
      <vt:lpstr>Aptos Display</vt:lpstr>
      <vt:lpstr>Arial</vt:lpstr>
      <vt:lpstr>Calibri</vt:lpstr>
      <vt:lpstr>Cambria Math</vt:lpstr>
      <vt:lpstr>Times New Roman</vt:lpstr>
      <vt:lpstr>Office Theme</vt:lpstr>
      <vt:lpstr>Multimodal data fusion</vt:lpstr>
      <vt:lpstr>Recall: training and use of Transformer architectures for text</vt:lpstr>
      <vt:lpstr>Today</vt:lpstr>
      <vt:lpstr>Moving to the EHR</vt:lpstr>
      <vt:lpstr>Models for structured EHR data: the “language” of the EHR</vt:lpstr>
      <vt:lpstr>Transformers for Electronic Health Records</vt:lpstr>
      <vt:lpstr>Transformers for Electronic Health Records</vt:lpstr>
      <vt:lpstr>Transformers for Electronic Health Records</vt:lpstr>
      <vt:lpstr>Transformers for Electronic Health Records</vt:lpstr>
      <vt:lpstr>Predict diagnosis risk from structured EHRs</vt:lpstr>
      <vt:lpstr>Zero-shot prediction via EHR generation</vt:lpstr>
      <vt:lpstr>Zero-shot prediction via EHR generation</vt:lpstr>
      <vt:lpstr>What are the benefits of a foundation model?</vt:lpstr>
      <vt:lpstr>Do foundation models generalize?</vt:lpstr>
      <vt:lpstr>Why multimodal fusion?</vt:lpstr>
      <vt:lpstr>What will we find in the structured data?</vt:lpstr>
      <vt:lpstr>Why do we need many modalities?</vt:lpstr>
      <vt:lpstr>How do we do multimodal fusion?</vt:lpstr>
      <vt:lpstr>Image Encoder</vt:lpstr>
      <vt:lpstr>A typical prediction model</vt:lpstr>
      <vt:lpstr>A prediction model for images</vt:lpstr>
      <vt:lpstr>A prediction model for documents</vt:lpstr>
      <vt:lpstr>A prediction model for unstructured data</vt:lpstr>
      <vt:lpstr>A prediction model for unstructured data</vt:lpstr>
      <vt:lpstr>1. Late fusion</vt:lpstr>
      <vt:lpstr>Separate Prediction Models</vt:lpstr>
      <vt:lpstr>Late fusion</vt:lpstr>
      <vt:lpstr>Late fusion</vt:lpstr>
      <vt:lpstr>Late fusion</vt:lpstr>
      <vt:lpstr>Late fusion</vt:lpstr>
      <vt:lpstr>Late fusion</vt:lpstr>
      <vt:lpstr>2. Joint fusion</vt:lpstr>
      <vt:lpstr>Separate models -&gt; Joint fusion</vt:lpstr>
      <vt:lpstr>Joint fusion by feature concatenation</vt:lpstr>
      <vt:lpstr>Joint fusion by feature concatenation</vt:lpstr>
      <vt:lpstr>Joint fusion by feature concatenation</vt:lpstr>
      <vt:lpstr>Joint fusion by feature concatenation</vt:lpstr>
      <vt:lpstr>Joint fusion via contrastive learning</vt:lpstr>
      <vt:lpstr>Separate Prediction Models</vt:lpstr>
      <vt:lpstr>Joint fusion in shared representation space</vt:lpstr>
      <vt:lpstr>Joint fusion in shared representation space</vt:lpstr>
      <vt:lpstr>Joint fusion in shared representation space</vt:lpstr>
      <vt:lpstr>Joint fusion in shared representation space</vt:lpstr>
      <vt:lpstr>Joint fusion in shared representation space</vt:lpstr>
      <vt:lpstr>Joint fusion in shared representation space</vt:lpstr>
      <vt:lpstr>Joint fusion in shared representation space</vt:lpstr>
      <vt:lpstr>Joint fusion in shared representation space</vt:lpstr>
      <vt:lpstr>Joint fusion in shared representation space</vt:lpstr>
      <vt:lpstr>What happens with &gt;2 modalities?</vt:lpstr>
      <vt:lpstr>On interactions between modalities</vt:lpstr>
      <vt:lpstr>3. Early fusion</vt:lpstr>
      <vt:lpstr>Frontier models have moved to early fusion</vt:lpstr>
      <vt:lpstr>Comparing fusion methods</vt:lpstr>
      <vt:lpstr>Comparing fusion methods</vt:lpstr>
      <vt:lpstr>Comparing fusion methods</vt:lpstr>
      <vt:lpstr>Choosing between fusion strategies</vt:lpstr>
      <vt:lpstr>Which fusion method to choose?</vt:lpstr>
      <vt:lpstr>Discuss Coding Assignment 3</vt:lpstr>
      <vt:lpstr>Some current directions</vt:lpstr>
      <vt:lpstr>Recall: are all tasks special cases of text generation?</vt:lpstr>
      <vt:lpstr>Generative LLMs enable “zero-shot” prediction: i.e. prediction without task-specific training</vt:lpstr>
      <vt:lpstr>Do we still need predictive AI?</vt:lpstr>
      <vt:lpstr>Often predictive and generative models are complementary.</vt:lpstr>
      <vt:lpstr>In some cases, however, generative models have superseded predictive models.</vt:lpstr>
      <vt:lpstr>Extracting specific info from documents: predictive or generative?</vt:lpstr>
      <vt:lpstr>Current directions: RAG vs long context</vt:lpstr>
      <vt:lpstr>Current directions: agentic AI</vt:lpstr>
      <vt:lpstr>Current directions: evaluation of generative models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Engelhard, M.D., Ph.D.</dc:creator>
  <cp:lastModifiedBy>Matthew Engelhard, M.D., Ph.D.</cp:lastModifiedBy>
  <cp:revision>22</cp:revision>
  <dcterms:created xsi:type="dcterms:W3CDTF">2026-03-18T17:28:24Z</dcterms:created>
  <dcterms:modified xsi:type="dcterms:W3CDTF">2026-04-14T00:28:09Z</dcterms:modified>
</cp:coreProperties>
</file>