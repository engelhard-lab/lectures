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3"/>
  </p:notesMasterIdLst>
  <p:sldIdLst>
    <p:sldId id="506" r:id="rId2"/>
    <p:sldId id="925" r:id="rId3"/>
    <p:sldId id="915" r:id="rId4"/>
    <p:sldId id="926" r:id="rId5"/>
    <p:sldId id="919" r:id="rId6"/>
    <p:sldId id="833" r:id="rId7"/>
    <p:sldId id="326" r:id="rId8"/>
    <p:sldId id="327" r:id="rId9"/>
    <p:sldId id="851" r:id="rId10"/>
    <p:sldId id="927" r:id="rId11"/>
    <p:sldId id="836" r:id="rId12"/>
    <p:sldId id="837" r:id="rId13"/>
    <p:sldId id="621" r:id="rId14"/>
    <p:sldId id="570" r:id="rId15"/>
    <p:sldId id="931" r:id="rId16"/>
    <p:sldId id="932" r:id="rId17"/>
    <p:sldId id="940" r:id="rId18"/>
    <p:sldId id="579" r:id="rId19"/>
    <p:sldId id="941" r:id="rId20"/>
    <p:sldId id="593" r:id="rId21"/>
    <p:sldId id="583" r:id="rId22"/>
    <p:sldId id="589" r:id="rId23"/>
    <p:sldId id="590" r:id="rId24"/>
    <p:sldId id="591" r:id="rId25"/>
    <p:sldId id="592" r:id="rId26"/>
    <p:sldId id="588" r:id="rId27"/>
    <p:sldId id="594" r:id="rId28"/>
    <p:sldId id="595" r:id="rId29"/>
    <p:sldId id="942" r:id="rId30"/>
    <p:sldId id="596" r:id="rId31"/>
    <p:sldId id="597" r:id="rId32"/>
    <p:sldId id="598" r:id="rId33"/>
    <p:sldId id="599" r:id="rId34"/>
    <p:sldId id="600" r:id="rId35"/>
    <p:sldId id="933" r:id="rId36"/>
    <p:sldId id="934" r:id="rId37"/>
    <p:sldId id="929" r:id="rId38"/>
    <p:sldId id="936" r:id="rId39"/>
    <p:sldId id="602" r:id="rId40"/>
    <p:sldId id="937" r:id="rId41"/>
    <p:sldId id="834" r:id="rId42"/>
    <p:sldId id="852" r:id="rId43"/>
    <p:sldId id="943" r:id="rId44"/>
    <p:sldId id="483" r:id="rId45"/>
    <p:sldId id="884" r:id="rId46"/>
    <p:sldId id="924" r:id="rId47"/>
    <p:sldId id="944" r:id="rId48"/>
    <p:sldId id="569" r:id="rId49"/>
    <p:sldId id="938" r:id="rId50"/>
    <p:sldId id="945" r:id="rId51"/>
    <p:sldId id="939" r:id="rId52"/>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11" autoAdjust="0"/>
    <p:restoredTop sz="61732" autoAdjust="0"/>
  </p:normalViewPr>
  <p:slideViewPr>
    <p:cSldViewPr snapToGrid="0">
      <p:cViewPr varScale="1">
        <p:scale>
          <a:sx n="117" d="100"/>
          <a:sy n="117" d="100"/>
        </p:scale>
        <p:origin x="2432" y="1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D80BB8C7-C9FE-451A-AFD5-884AA006ED43}" type="datetimeFigureOut">
              <a:rPr lang="en-US" smtClean="0"/>
              <a:t>3/25/26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1223B2E0-F841-4DF0-86E7-486D3B83D04F}" type="slidenum">
              <a:rPr lang="en-US" smtClean="0"/>
              <a:t>‹#›</a:t>
            </a:fld>
            <a:endParaRPr lang="en-US"/>
          </a:p>
        </p:txBody>
      </p:sp>
    </p:spTree>
    <p:extLst>
      <p:ext uri="{BB962C8B-B14F-4D97-AF65-F5344CB8AC3E}">
        <p14:creationId xmlns:p14="http://schemas.microsoft.com/office/powerpoint/2010/main" val="3879414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Last time, we talked about what word embeddings are and why they’re useful,</a:t>
            </a:r>
          </a:p>
          <a:p>
            <a:pPr marL="0" indent="0">
              <a:buFontTx/>
              <a:buNone/>
            </a:pPr>
            <a:r>
              <a:rPr lang="en-US" dirty="0"/>
              <a:t>and then we took a look at VSWEM, a very simple word embedding based model.</a:t>
            </a:r>
          </a:p>
          <a:p>
            <a:pPr marL="0" indent="0">
              <a:buFontTx/>
              <a:buNone/>
            </a:pPr>
            <a:r>
              <a:rPr lang="en-US" dirty="0"/>
              <a:t>Now that we have word embeddings, we can convert text to a sequence of vectors, </a:t>
            </a:r>
          </a:p>
          <a:p>
            <a:pPr marL="0" indent="0">
              <a:buFontTx/>
              <a:buNone/>
            </a:pPr>
            <a:r>
              <a:rPr lang="en-US" dirty="0"/>
              <a:t>making NLP very similar to other sequence and time-series prediction tasks. We’ll explore that in a later lecture.</a:t>
            </a:r>
          </a:p>
          <a:p>
            <a:pPr marL="0" indent="0">
              <a:buFontTx/>
              <a:buNone/>
            </a:pPr>
            <a:endParaRPr lang="en-US" dirty="0"/>
          </a:p>
          <a:p>
            <a:pPr marL="0" indent="0">
              <a:buFontTx/>
              <a:buNone/>
            </a:pPr>
            <a:r>
              <a:rPr lang="en-US" dirty="0"/>
              <a:t>In this lecture, we’ll dig deeper into the question of what word embeddings are</a:t>
            </a:r>
          </a:p>
          <a:p>
            <a:pPr marL="0" indent="0">
              <a:buFontTx/>
              <a:buNone/>
            </a:pPr>
            <a:r>
              <a:rPr lang="en-US" dirty="0"/>
              <a:t>by exploring how they’re learned; and of course, these two things are very closely related.</a:t>
            </a:r>
          </a:p>
        </p:txBody>
      </p:sp>
      <p:sp>
        <p:nvSpPr>
          <p:cNvPr id="4" name="Slide Number Placeholder 3"/>
          <p:cNvSpPr>
            <a:spLocks noGrp="1"/>
          </p:cNvSpPr>
          <p:nvPr>
            <p:ph type="sldNum" sz="quarter" idx="10"/>
          </p:nvPr>
        </p:nvSpPr>
        <p:spPr/>
        <p:txBody>
          <a:bodyPr/>
          <a:lstStyle/>
          <a:p>
            <a:fld id="{0175F3A6-6971-5D47-A3A5-1EDC47BAF5FB}" type="slidenum">
              <a:rPr lang="en-US" smtClean="0"/>
              <a:t>1</a:t>
            </a:fld>
            <a:endParaRPr lang="en-US"/>
          </a:p>
        </p:txBody>
      </p:sp>
    </p:spTree>
    <p:extLst>
      <p:ext uri="{BB962C8B-B14F-4D97-AF65-F5344CB8AC3E}">
        <p14:creationId xmlns:p14="http://schemas.microsoft.com/office/powerpoint/2010/main" val="293630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but important</a:t>
            </a:r>
          </a:p>
        </p:txBody>
      </p:sp>
      <p:sp>
        <p:nvSpPr>
          <p:cNvPr id="4" name="Slide Number Placeholder 3"/>
          <p:cNvSpPr>
            <a:spLocks noGrp="1"/>
          </p:cNvSpPr>
          <p:nvPr>
            <p:ph type="sldNum" sz="quarter" idx="5"/>
          </p:nvPr>
        </p:nvSpPr>
        <p:spPr/>
        <p:txBody>
          <a:bodyPr/>
          <a:lstStyle/>
          <a:p>
            <a:fld id="{DB333E9F-084A-8543-BC6F-0AE70009C29B}" type="slidenum">
              <a:rPr lang="en-US" smtClean="0"/>
              <a:t>5</a:t>
            </a:fld>
            <a:endParaRPr lang="en-US"/>
          </a:p>
        </p:txBody>
      </p:sp>
    </p:spTree>
    <p:extLst>
      <p:ext uri="{BB962C8B-B14F-4D97-AF65-F5344CB8AC3E}">
        <p14:creationId xmlns:p14="http://schemas.microsoft.com/office/powerpoint/2010/main" val="155103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6</a:t>
            </a:fld>
            <a:endParaRPr lang="en-US"/>
          </a:p>
        </p:txBody>
      </p:sp>
    </p:spTree>
    <p:extLst>
      <p:ext uri="{BB962C8B-B14F-4D97-AF65-F5344CB8AC3E}">
        <p14:creationId xmlns:p14="http://schemas.microsoft.com/office/powerpoint/2010/main" val="62647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doesn’t know all this stuff – too many grocery items!</a:t>
            </a:r>
          </a:p>
        </p:txBody>
      </p:sp>
      <p:sp>
        <p:nvSpPr>
          <p:cNvPr id="4" name="Slide Number Placeholder 3"/>
          <p:cNvSpPr>
            <a:spLocks noGrp="1"/>
          </p:cNvSpPr>
          <p:nvPr>
            <p:ph type="sldNum" sz="quarter" idx="5"/>
          </p:nvPr>
        </p:nvSpPr>
        <p:spPr/>
        <p:txBody>
          <a:bodyPr/>
          <a:lstStyle/>
          <a:p>
            <a:fld id="{DB333E9F-084A-8543-BC6F-0AE70009C29B}" type="slidenum">
              <a:rPr lang="en-US" smtClean="0"/>
              <a:t>7</a:t>
            </a:fld>
            <a:endParaRPr lang="en-US"/>
          </a:p>
        </p:txBody>
      </p:sp>
    </p:spTree>
    <p:extLst>
      <p:ext uri="{BB962C8B-B14F-4D97-AF65-F5344CB8AC3E}">
        <p14:creationId xmlns:p14="http://schemas.microsoft.com/office/powerpoint/2010/main" val="3642303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(my) child: have the TV teach them!</a:t>
            </a:r>
          </a:p>
        </p:txBody>
      </p:sp>
      <p:sp>
        <p:nvSpPr>
          <p:cNvPr id="4" name="Slide Number Placeholder 3"/>
          <p:cNvSpPr>
            <a:spLocks noGrp="1"/>
          </p:cNvSpPr>
          <p:nvPr>
            <p:ph type="sldNum" sz="quarter" idx="5"/>
          </p:nvPr>
        </p:nvSpPr>
        <p:spPr/>
        <p:txBody>
          <a:bodyPr/>
          <a:lstStyle/>
          <a:p>
            <a:fld id="{1223B2E0-F841-4DF0-86E7-486D3B83D04F}" type="slidenum">
              <a:rPr lang="en-US" smtClean="0"/>
              <a:t>12</a:t>
            </a:fld>
            <a:endParaRPr lang="en-US"/>
          </a:p>
        </p:txBody>
      </p:sp>
    </p:spTree>
    <p:extLst>
      <p:ext uri="{BB962C8B-B14F-4D97-AF65-F5344CB8AC3E}">
        <p14:creationId xmlns:p14="http://schemas.microsoft.com/office/powerpoint/2010/main" val="1747610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our goal is to take an input word – in this example, ‘strolls’ – and predict the probability that each word in our vocabulary will appear in its context.</a:t>
            </a:r>
          </a:p>
          <a:p>
            <a:endParaRPr lang="en-US" dirty="0"/>
          </a:p>
          <a:p>
            <a:r>
              <a:rPr lang="en-US" dirty="0"/>
              <a:t>What is our training set?</a:t>
            </a:r>
          </a:p>
          <a:p>
            <a:r>
              <a:rPr lang="en-US" dirty="0"/>
              <a:t>We can crawl through a huge text corpus – it could be Wikipedia, Twitter, randomly collected internet sites, and so on – and sample pairs of words that appear near one another.</a:t>
            </a:r>
          </a:p>
          <a:p>
            <a:endParaRPr lang="en-US" dirty="0"/>
          </a:p>
          <a:p>
            <a:r>
              <a:rPr lang="en-US" dirty="0"/>
              <a:t>We find that strolls appears near man, so {strolls, man} becomes an input word, context word pair</a:t>
            </a:r>
          </a:p>
          <a:p>
            <a:r>
              <a:rPr lang="en-US" dirty="0"/>
              <a:t>Similarly, we find that ‘flies’ appears near ‘bird’, so {flies, bird} becomes an input word, context word pair</a:t>
            </a:r>
          </a:p>
          <a:p>
            <a:endParaRPr lang="en-US" dirty="0"/>
          </a:p>
          <a:p>
            <a:r>
              <a:rPr lang="en-US" dirty="0"/>
              <a:t>Note that {bird, flies} is also a valid input word, context word pair: if bird appears in the context of flies, then flies also appears in the context of bird – the relationship is symmetric.</a:t>
            </a:r>
          </a:p>
          <a:p>
            <a:endParaRPr lang="en-US" dirty="0"/>
          </a:p>
          <a:p>
            <a:r>
              <a:rPr lang="en-US" dirty="0"/>
              <a:t>We might use a ‘context window’ of length 5, as shown in the slide, so that the input words and context words can be separated by one intervening word at most</a:t>
            </a:r>
          </a:p>
          <a:p>
            <a:endParaRPr lang="en-US" dirty="0"/>
          </a:p>
          <a:p>
            <a:r>
              <a:rPr lang="en-US" dirty="0"/>
              <a:t>Now we’ll create a model that predicts input words from context words</a:t>
            </a:r>
          </a:p>
        </p:txBody>
      </p:sp>
      <p:sp>
        <p:nvSpPr>
          <p:cNvPr id="4" name="Slide Number Placeholder 3"/>
          <p:cNvSpPr>
            <a:spLocks noGrp="1"/>
          </p:cNvSpPr>
          <p:nvPr>
            <p:ph type="sldNum" sz="quarter" idx="5"/>
          </p:nvPr>
        </p:nvSpPr>
        <p:spPr/>
        <p:txBody>
          <a:bodyPr/>
          <a:lstStyle/>
          <a:p>
            <a:fld id="{1223B2E0-F841-4DF0-86E7-486D3B83D04F}" type="slidenum">
              <a:rPr lang="en-US" smtClean="0"/>
              <a:t>13</a:t>
            </a:fld>
            <a:endParaRPr lang="en-US"/>
          </a:p>
        </p:txBody>
      </p:sp>
    </p:spTree>
    <p:extLst>
      <p:ext uri="{BB962C8B-B14F-4D97-AF65-F5344CB8AC3E}">
        <p14:creationId xmlns:p14="http://schemas.microsoft.com/office/powerpoint/2010/main" val="1296338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p:cNvSpPr>
            <a:spLocks noGrp="1"/>
          </p:cNvSpPr>
          <p:nvPr>
            <p:ph type="sldNum" sz="quarter" idx="5"/>
          </p:nvPr>
        </p:nvSpPr>
        <p:spPr/>
        <p:txBody>
          <a:bodyPr/>
          <a:lstStyle/>
          <a:p>
            <a:fld id="{1223B2E0-F841-4DF0-86E7-486D3B83D04F}" type="slidenum">
              <a:rPr lang="en-US" smtClean="0"/>
              <a:t>14</a:t>
            </a:fld>
            <a:endParaRPr lang="en-US"/>
          </a:p>
        </p:txBody>
      </p:sp>
    </p:spTree>
    <p:extLst>
      <p:ext uri="{BB962C8B-B14F-4D97-AF65-F5344CB8AC3E}">
        <p14:creationId xmlns:p14="http://schemas.microsoft.com/office/powerpoint/2010/main" val="153685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F41D-7761-8FBA-7AD9-E04AD7140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02901-904C-F8BE-600C-D7B207586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AC01-9C02-45DC-4555-40DCBFE23CA4}"/>
              </a:ext>
            </a:extLst>
          </p:cNvPr>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a:extLst>
              <a:ext uri="{FF2B5EF4-FFF2-40B4-BE49-F238E27FC236}">
                <a16:creationId xmlns:a16="http://schemas.microsoft.com/office/drawing/2014/main" id="{0E70EC6A-90DA-440A-55C5-593D3CD25E05}"/>
              </a:ext>
            </a:extLst>
          </p:cNvPr>
          <p:cNvSpPr>
            <a:spLocks noGrp="1"/>
          </p:cNvSpPr>
          <p:nvPr>
            <p:ph type="sldNum" sz="quarter" idx="5"/>
          </p:nvPr>
        </p:nvSpPr>
        <p:spPr/>
        <p:txBody>
          <a:bodyPr/>
          <a:lstStyle/>
          <a:p>
            <a:fld id="{1223B2E0-F841-4DF0-86E7-486D3B83D04F}" type="slidenum">
              <a:rPr lang="en-US" smtClean="0"/>
              <a:t>15</a:t>
            </a:fld>
            <a:endParaRPr lang="en-US"/>
          </a:p>
        </p:txBody>
      </p:sp>
    </p:spTree>
    <p:extLst>
      <p:ext uri="{BB962C8B-B14F-4D97-AF65-F5344CB8AC3E}">
        <p14:creationId xmlns:p14="http://schemas.microsoft.com/office/powerpoint/2010/main" val="3470077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78E7-1A32-585A-3EB2-C47511375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C8798-0C72-9AE2-1A41-4648B2956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AA9E0-7C94-F3BB-520E-5CB3D00AA3D8}"/>
              </a:ext>
            </a:extLst>
          </p:cNvPr>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a:extLst>
              <a:ext uri="{FF2B5EF4-FFF2-40B4-BE49-F238E27FC236}">
                <a16:creationId xmlns:a16="http://schemas.microsoft.com/office/drawing/2014/main" id="{1C2380A0-C9E1-79F3-2D05-0759DD5B49D7}"/>
              </a:ext>
            </a:extLst>
          </p:cNvPr>
          <p:cNvSpPr>
            <a:spLocks noGrp="1"/>
          </p:cNvSpPr>
          <p:nvPr>
            <p:ph type="sldNum" sz="quarter" idx="5"/>
          </p:nvPr>
        </p:nvSpPr>
        <p:spPr/>
        <p:txBody>
          <a:bodyPr/>
          <a:lstStyle/>
          <a:p>
            <a:fld id="{1223B2E0-F841-4DF0-86E7-486D3B83D04F}" type="slidenum">
              <a:rPr lang="en-US" smtClean="0"/>
              <a:t>16</a:t>
            </a:fld>
            <a:endParaRPr lang="en-US"/>
          </a:p>
        </p:txBody>
      </p:sp>
    </p:spTree>
    <p:extLst>
      <p:ext uri="{BB962C8B-B14F-4D97-AF65-F5344CB8AC3E}">
        <p14:creationId xmlns:p14="http://schemas.microsoft.com/office/powerpoint/2010/main" val="2250894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23B2E0-F841-4DF0-86E7-486D3B83D04F}" type="slidenum">
              <a:rPr lang="en-US" smtClean="0"/>
              <a:t>17</a:t>
            </a:fld>
            <a:endParaRPr lang="en-US"/>
          </a:p>
        </p:txBody>
      </p:sp>
    </p:spTree>
    <p:extLst>
      <p:ext uri="{BB962C8B-B14F-4D97-AF65-F5344CB8AC3E}">
        <p14:creationId xmlns:p14="http://schemas.microsoft.com/office/powerpoint/2010/main" val="3369042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And then, instead of our more general notation, we’ll annotate the image to indicate that on the left, we have the vector for the word strolls, in the middle, we have all the log-odds scores for all our vocabulary words, and on the right, we have all the probabilities for all our vocabulary words</a:t>
            </a:r>
          </a:p>
        </p:txBody>
      </p:sp>
      <p:sp>
        <p:nvSpPr>
          <p:cNvPr id="4" name="Slide Number Placeholder 3"/>
          <p:cNvSpPr>
            <a:spLocks noGrp="1"/>
          </p:cNvSpPr>
          <p:nvPr>
            <p:ph type="sldNum" sz="quarter" idx="10"/>
          </p:nvPr>
        </p:nvSpPr>
        <p:spPr/>
        <p:txBody>
          <a:bodyPr/>
          <a:lstStyle/>
          <a:p>
            <a:fld id="{DB333E9F-084A-8543-BC6F-0AE70009C29B}" type="slidenum">
              <a:rPr lang="en-US" smtClean="0"/>
              <a:t>18</a:t>
            </a:fld>
            <a:endParaRPr lang="en-US"/>
          </a:p>
        </p:txBody>
      </p:sp>
    </p:spTree>
    <p:extLst>
      <p:ext uri="{BB962C8B-B14F-4D97-AF65-F5344CB8AC3E}">
        <p14:creationId xmlns:p14="http://schemas.microsoft.com/office/powerpoint/2010/main" val="3776496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79BB-34D1-140A-0B5E-1DD9FBDB5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666B7-A076-E0C7-BFDF-4B6451D7215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39096C1-817D-644C-238F-CF9D3CB56549}"/>
              </a:ext>
            </a:extLst>
          </p:cNvPr>
          <p:cNvSpPr>
            <a:spLocks noGrp="1"/>
          </p:cNvSpPr>
          <p:nvPr>
            <p:ph type="body" idx="1"/>
          </p:nvPr>
        </p:nvSpPr>
        <p:spPr/>
        <p:txBody>
          <a:bodyPr/>
          <a:lstStyle/>
          <a:p>
            <a:r>
              <a:rPr lang="en-US" dirty="0"/>
              <a:t>And then, instead of our more general notation, we’ll annotate the image to indicate that on the left, we have the vector for the word strolls, in the middle, we have all the log-odds scores for all our vocabulary words, and on the right, we have all the probabilities for all our vocabulary words</a:t>
            </a:r>
          </a:p>
        </p:txBody>
      </p:sp>
      <p:sp>
        <p:nvSpPr>
          <p:cNvPr id="4" name="Slide Number Placeholder 3">
            <a:extLst>
              <a:ext uri="{FF2B5EF4-FFF2-40B4-BE49-F238E27FC236}">
                <a16:creationId xmlns:a16="http://schemas.microsoft.com/office/drawing/2014/main" id="{23AFECBD-16B8-5D01-CACD-EF656FE6BEDD}"/>
              </a:ext>
            </a:extLst>
          </p:cNvPr>
          <p:cNvSpPr>
            <a:spLocks noGrp="1"/>
          </p:cNvSpPr>
          <p:nvPr>
            <p:ph type="sldNum" sz="quarter" idx="10"/>
          </p:nvPr>
        </p:nvSpPr>
        <p:spPr/>
        <p:txBody>
          <a:bodyPr/>
          <a:lstStyle/>
          <a:p>
            <a:fld id="{DB333E9F-084A-8543-BC6F-0AE70009C29B}" type="slidenum">
              <a:rPr lang="en-US" smtClean="0"/>
              <a:t>19</a:t>
            </a:fld>
            <a:endParaRPr lang="en-US"/>
          </a:p>
        </p:txBody>
      </p:sp>
    </p:spTree>
    <p:extLst>
      <p:ext uri="{BB962C8B-B14F-4D97-AF65-F5344CB8AC3E}">
        <p14:creationId xmlns:p14="http://schemas.microsoft.com/office/powerpoint/2010/main" val="3016229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We’ll represent our input word the same way we represented sentences in our bag of words lecture, namely by taking a vector of all zeros that’s the length of our vocabulary, then placing a 1 in the position that corresponds to that word. In this case, if ‘strolls’ is the one thousandth word in our vocabulary, we’d put a 1 in position one thousand.</a:t>
            </a:r>
          </a:p>
          <a:p>
            <a:endParaRPr lang="en-US" dirty="0"/>
          </a:p>
          <a:p>
            <a:r>
              <a:rPr lang="en-US" dirty="0"/>
              <a:t>Note that during training, our labels – in this case, the correct context word – are created in the exact same way.</a:t>
            </a:r>
          </a:p>
          <a:p>
            <a:endParaRPr lang="en-US" dirty="0"/>
          </a:p>
          <a:p>
            <a:r>
              <a:rPr lang="en-US" dirty="0"/>
              <a:t>Now we have the bare bones of a model that predicts the likely context word based on the input word – what remains is to choose how we connect the two.</a:t>
            </a:r>
          </a:p>
        </p:txBody>
      </p:sp>
      <p:sp>
        <p:nvSpPr>
          <p:cNvPr id="4" name="Slide Number Placeholder 3"/>
          <p:cNvSpPr>
            <a:spLocks noGrp="1"/>
          </p:cNvSpPr>
          <p:nvPr>
            <p:ph type="sldNum" sz="quarter" idx="10"/>
          </p:nvPr>
        </p:nvSpPr>
        <p:spPr/>
        <p:txBody>
          <a:bodyPr/>
          <a:lstStyle/>
          <a:p>
            <a:fld id="{DB333E9F-084A-8543-BC6F-0AE70009C29B}" type="slidenum">
              <a:rPr lang="en-US" smtClean="0"/>
              <a:t>20</a:t>
            </a:fld>
            <a:endParaRPr lang="en-US"/>
          </a:p>
        </p:txBody>
      </p:sp>
    </p:spTree>
    <p:extLst>
      <p:ext uri="{BB962C8B-B14F-4D97-AF65-F5344CB8AC3E}">
        <p14:creationId xmlns:p14="http://schemas.microsoft.com/office/powerpoint/2010/main" val="3980871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Once we’ve chosen how to connect them, we can use that training set we described before – the huge number of pairs, likely billions, of input words and context words.</a:t>
            </a:r>
          </a:p>
        </p:txBody>
      </p:sp>
      <p:sp>
        <p:nvSpPr>
          <p:cNvPr id="4" name="Slide Number Placeholder 3"/>
          <p:cNvSpPr>
            <a:spLocks noGrp="1"/>
          </p:cNvSpPr>
          <p:nvPr>
            <p:ph type="sldNum" sz="quarter" idx="10"/>
          </p:nvPr>
        </p:nvSpPr>
        <p:spPr/>
        <p:txBody>
          <a:bodyPr/>
          <a:lstStyle/>
          <a:p>
            <a:fld id="{DB333E9F-084A-8543-BC6F-0AE70009C29B}" type="slidenum">
              <a:rPr lang="en-US" smtClean="0"/>
              <a:t>21</a:t>
            </a:fld>
            <a:endParaRPr lang="en-US"/>
          </a:p>
        </p:txBody>
      </p:sp>
    </p:spTree>
    <p:extLst>
      <p:ext uri="{BB962C8B-B14F-4D97-AF65-F5344CB8AC3E}">
        <p14:creationId xmlns:p14="http://schemas.microsoft.com/office/powerpoint/2010/main" val="2077096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But remember, the input and output vectors for this problem are huge – they’re the size of our vocabulary, which will be many thousands of words.</a:t>
            </a:r>
          </a:p>
        </p:txBody>
      </p:sp>
      <p:sp>
        <p:nvSpPr>
          <p:cNvPr id="4" name="Slide Number Placeholder 3"/>
          <p:cNvSpPr>
            <a:spLocks noGrp="1"/>
          </p:cNvSpPr>
          <p:nvPr>
            <p:ph type="sldNum" sz="quarter" idx="10"/>
          </p:nvPr>
        </p:nvSpPr>
        <p:spPr/>
        <p:txBody>
          <a:bodyPr/>
          <a:lstStyle/>
          <a:p>
            <a:fld id="{DB333E9F-084A-8543-BC6F-0AE70009C29B}" type="slidenum">
              <a:rPr lang="en-US" smtClean="0"/>
              <a:t>22</a:t>
            </a:fld>
            <a:endParaRPr lang="en-US"/>
          </a:p>
        </p:txBody>
      </p:sp>
    </p:spTree>
    <p:extLst>
      <p:ext uri="{BB962C8B-B14F-4D97-AF65-F5344CB8AC3E}">
        <p14:creationId xmlns:p14="http://schemas.microsoft.com/office/powerpoint/2010/main" val="1610426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What’s the simplest possible way to connect the input to the output?</a:t>
            </a:r>
          </a:p>
          <a:p>
            <a:r>
              <a:rPr lang="en-US" dirty="0"/>
              <a:t>Well, we could simply connect them directly, as in logistic regression</a:t>
            </a:r>
          </a:p>
          <a:p>
            <a:endParaRPr lang="en-US" dirty="0"/>
          </a:p>
          <a:p>
            <a:r>
              <a:rPr lang="en-US" dirty="0"/>
              <a:t>This seems simple, but will it work?</a:t>
            </a:r>
          </a:p>
        </p:txBody>
      </p:sp>
      <p:sp>
        <p:nvSpPr>
          <p:cNvPr id="4" name="Slide Number Placeholder 3"/>
          <p:cNvSpPr>
            <a:spLocks noGrp="1"/>
          </p:cNvSpPr>
          <p:nvPr>
            <p:ph type="sldNum" sz="quarter" idx="10"/>
          </p:nvPr>
        </p:nvSpPr>
        <p:spPr/>
        <p:txBody>
          <a:bodyPr/>
          <a:lstStyle/>
          <a:p>
            <a:fld id="{DB333E9F-084A-8543-BC6F-0AE70009C29B}" type="slidenum">
              <a:rPr lang="en-US" smtClean="0"/>
              <a:t>23</a:t>
            </a:fld>
            <a:endParaRPr lang="en-US"/>
          </a:p>
        </p:txBody>
      </p:sp>
    </p:spTree>
    <p:extLst>
      <p:ext uri="{BB962C8B-B14F-4D97-AF65-F5344CB8AC3E}">
        <p14:creationId xmlns:p14="http://schemas.microsoft.com/office/powerpoint/2010/main" val="255326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problem is that our vocabulary is too large!</a:t>
            </a:r>
          </a:p>
          <a:p>
            <a:r>
              <a:rPr lang="en-US" dirty="0"/>
              <a:t>Let’s suppose we have 50,000 words in our vocabulary, which is about right – it’s estimated that the average native English speaker knows about 25,000 words</a:t>
            </a:r>
          </a:p>
          <a:p>
            <a:endParaRPr lang="en-US" dirty="0"/>
          </a:p>
          <a:p>
            <a:r>
              <a:rPr lang="en-US" dirty="0"/>
              <a:t>we need to connect all 50,000 input words to all 50,000 output words, so the number of parameters is 50,000 squared, </a:t>
            </a:r>
            <a:r>
              <a:rPr lang="en-US" dirty="0" err="1"/>
              <a:t>whcih</a:t>
            </a:r>
            <a:r>
              <a:rPr lang="en-US" dirty="0"/>
              <a:t> is 2.5 billion!</a:t>
            </a:r>
          </a:p>
          <a:p>
            <a:r>
              <a:rPr lang="en-US" dirty="0"/>
              <a:t>A model with 2.5 billion parameters actually might be achievable in 2021, but it wasn’t when word vectors were first created</a:t>
            </a:r>
          </a:p>
          <a:p>
            <a:r>
              <a:rPr lang="en-US" dirty="0"/>
              <a:t>And furthermore, it doesn’t really give us what we’re looking for, which is a compact, numeric vector that represents ‘strolls’</a:t>
            </a:r>
          </a:p>
        </p:txBody>
      </p:sp>
      <p:sp>
        <p:nvSpPr>
          <p:cNvPr id="4" name="Slide Number Placeholder 3"/>
          <p:cNvSpPr>
            <a:spLocks noGrp="1"/>
          </p:cNvSpPr>
          <p:nvPr>
            <p:ph type="sldNum" sz="quarter" idx="10"/>
          </p:nvPr>
        </p:nvSpPr>
        <p:spPr/>
        <p:txBody>
          <a:bodyPr/>
          <a:lstStyle/>
          <a:p>
            <a:fld id="{DB333E9F-084A-8543-BC6F-0AE70009C29B}" type="slidenum">
              <a:rPr lang="en-US" smtClean="0"/>
              <a:t>24</a:t>
            </a:fld>
            <a:endParaRPr lang="en-US"/>
          </a:p>
        </p:txBody>
      </p:sp>
    </p:spTree>
    <p:extLst>
      <p:ext uri="{BB962C8B-B14F-4D97-AF65-F5344CB8AC3E}">
        <p14:creationId xmlns:p14="http://schemas.microsoft.com/office/powerpoint/2010/main" val="1905345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what’s the next simplest thing we might consider?</a:t>
            </a:r>
          </a:p>
          <a:p>
            <a:r>
              <a:rPr lang="en-US" dirty="0"/>
              <a:t>Well, we could have a single hidden layer of size H, where H is much smaller than 50k – maybe something like 100.</a:t>
            </a:r>
          </a:p>
          <a:p>
            <a:endParaRPr lang="en-US" dirty="0"/>
          </a:p>
          <a:p>
            <a:r>
              <a:rPr lang="en-US" dirty="0"/>
              <a:t>How many parameters would be in such a model? Well, there would be V x H connections in the first layer – we’re connecting each vocabulary word to each of our hidden units – and there would be H x V connections in the second layer – we’re connecting each hidden unit to the log-odds corresponding to each context word.</a:t>
            </a:r>
          </a:p>
          <a:p>
            <a:endParaRPr lang="en-US" dirty="0"/>
          </a:p>
          <a:p>
            <a:r>
              <a:rPr lang="en-US" dirty="0"/>
              <a:t>For a vocabulary of size 50k and hidden layer of size 100, this gives us 10 million parameters, which is still big, but much less than 2.5 billion.</a:t>
            </a:r>
          </a:p>
        </p:txBody>
      </p:sp>
      <p:sp>
        <p:nvSpPr>
          <p:cNvPr id="4" name="Slide Number Placeholder 3"/>
          <p:cNvSpPr>
            <a:spLocks noGrp="1"/>
          </p:cNvSpPr>
          <p:nvPr>
            <p:ph type="sldNum" sz="quarter" idx="10"/>
          </p:nvPr>
        </p:nvSpPr>
        <p:spPr/>
        <p:txBody>
          <a:bodyPr/>
          <a:lstStyle/>
          <a:p>
            <a:fld id="{DB333E9F-084A-8543-BC6F-0AE70009C29B}" type="slidenum">
              <a:rPr lang="en-US" smtClean="0"/>
              <a:t>25</a:t>
            </a:fld>
            <a:endParaRPr lang="en-US"/>
          </a:p>
        </p:txBody>
      </p:sp>
    </p:spTree>
    <p:extLst>
      <p:ext uri="{BB962C8B-B14F-4D97-AF65-F5344CB8AC3E}">
        <p14:creationId xmlns:p14="http://schemas.microsoft.com/office/powerpoint/2010/main" val="4133952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let’s try it – here’s the architecture we have in mind, with 10 million parameters</a:t>
            </a:r>
          </a:p>
        </p:txBody>
      </p:sp>
      <p:sp>
        <p:nvSpPr>
          <p:cNvPr id="4" name="Slide Number Placeholder 3"/>
          <p:cNvSpPr>
            <a:spLocks noGrp="1"/>
          </p:cNvSpPr>
          <p:nvPr>
            <p:ph type="sldNum" sz="quarter" idx="10"/>
          </p:nvPr>
        </p:nvSpPr>
        <p:spPr/>
        <p:txBody>
          <a:bodyPr/>
          <a:lstStyle/>
          <a:p>
            <a:fld id="{DB333E9F-084A-8543-BC6F-0AE70009C29B}" type="slidenum">
              <a:rPr lang="en-US" smtClean="0"/>
              <a:t>26</a:t>
            </a:fld>
            <a:endParaRPr lang="en-US"/>
          </a:p>
        </p:txBody>
      </p:sp>
    </p:spTree>
    <p:extLst>
      <p:ext uri="{BB962C8B-B14F-4D97-AF65-F5344CB8AC3E}">
        <p14:creationId xmlns:p14="http://schemas.microsoft.com/office/powerpoint/2010/main" val="3244375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We’ll train it using all those training examples we collected from Wikipedia – those {input word, context word} pairs – to minimize the cross-entropy loss between the true context word and the predicted probabilities.</a:t>
            </a:r>
          </a:p>
        </p:txBody>
      </p:sp>
      <p:sp>
        <p:nvSpPr>
          <p:cNvPr id="4" name="Slide Number Placeholder 3"/>
          <p:cNvSpPr>
            <a:spLocks noGrp="1"/>
          </p:cNvSpPr>
          <p:nvPr>
            <p:ph type="sldNum" sz="quarter" idx="10"/>
          </p:nvPr>
        </p:nvSpPr>
        <p:spPr/>
        <p:txBody>
          <a:bodyPr/>
          <a:lstStyle/>
          <a:p>
            <a:fld id="{DB333E9F-084A-8543-BC6F-0AE70009C29B}" type="slidenum">
              <a:rPr lang="en-US" smtClean="0"/>
              <a:t>27</a:t>
            </a:fld>
            <a:endParaRPr lang="en-US"/>
          </a:p>
        </p:txBody>
      </p:sp>
    </p:spTree>
    <p:extLst>
      <p:ext uri="{BB962C8B-B14F-4D97-AF65-F5344CB8AC3E}">
        <p14:creationId xmlns:p14="http://schemas.microsoft.com/office/powerpoint/2010/main" val="1439101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There are two matrices of parameters in this model – we’ll call the first matrix W, and the second B</a:t>
            </a:r>
          </a:p>
          <a:p>
            <a:endParaRPr lang="en-US" dirty="0"/>
          </a:p>
          <a:p>
            <a:r>
              <a:rPr lang="en-US" dirty="0"/>
              <a:t>Note that sometimes E and U might be tied, i.e. U=E^T</a:t>
            </a:r>
          </a:p>
        </p:txBody>
      </p:sp>
      <p:sp>
        <p:nvSpPr>
          <p:cNvPr id="4" name="Slide Number Placeholder 3"/>
          <p:cNvSpPr>
            <a:spLocks noGrp="1"/>
          </p:cNvSpPr>
          <p:nvPr>
            <p:ph type="sldNum" sz="quarter" idx="10"/>
          </p:nvPr>
        </p:nvSpPr>
        <p:spPr/>
        <p:txBody>
          <a:bodyPr/>
          <a:lstStyle/>
          <a:p>
            <a:fld id="{DB333E9F-084A-8543-BC6F-0AE70009C29B}" type="slidenum">
              <a:rPr lang="en-US" smtClean="0"/>
              <a:t>28</a:t>
            </a:fld>
            <a:endParaRPr lang="en-US"/>
          </a:p>
        </p:txBody>
      </p:sp>
    </p:spTree>
    <p:extLst>
      <p:ext uri="{BB962C8B-B14F-4D97-AF65-F5344CB8AC3E}">
        <p14:creationId xmlns:p14="http://schemas.microsoft.com/office/powerpoint/2010/main" val="1992224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29834-304A-C274-B844-9E4AD713D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A5AAB-97F3-D8E5-6A06-20B8B93ABA4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7939C70-2969-E01F-93ED-AD0F4E2ADBED}"/>
              </a:ext>
            </a:extLst>
          </p:cNvPr>
          <p:cNvSpPr>
            <a:spLocks noGrp="1"/>
          </p:cNvSpPr>
          <p:nvPr>
            <p:ph type="body" idx="1"/>
          </p:nvPr>
        </p:nvSpPr>
        <p:spPr/>
        <p:txBody>
          <a:bodyPr/>
          <a:lstStyle/>
          <a:p>
            <a:r>
              <a:rPr lang="en-US" dirty="0"/>
              <a:t>There are two matrices of parameters in this model – we’ll call the first matrix W, and the second B</a:t>
            </a:r>
          </a:p>
          <a:p>
            <a:endParaRPr lang="en-US" dirty="0"/>
          </a:p>
          <a:p>
            <a:r>
              <a:rPr lang="en-US" dirty="0"/>
              <a:t>Note that sometimes E and U might be tied, i.e. U=E^T</a:t>
            </a:r>
          </a:p>
        </p:txBody>
      </p:sp>
      <p:sp>
        <p:nvSpPr>
          <p:cNvPr id="4" name="Slide Number Placeholder 3">
            <a:extLst>
              <a:ext uri="{FF2B5EF4-FFF2-40B4-BE49-F238E27FC236}">
                <a16:creationId xmlns:a16="http://schemas.microsoft.com/office/drawing/2014/main" id="{DB74AC92-09CD-B602-88A9-3275F85AA4EA}"/>
              </a:ext>
            </a:extLst>
          </p:cNvPr>
          <p:cNvSpPr>
            <a:spLocks noGrp="1"/>
          </p:cNvSpPr>
          <p:nvPr>
            <p:ph type="sldNum" sz="quarter" idx="10"/>
          </p:nvPr>
        </p:nvSpPr>
        <p:spPr/>
        <p:txBody>
          <a:bodyPr/>
          <a:lstStyle/>
          <a:p>
            <a:fld id="{DB333E9F-084A-8543-BC6F-0AE70009C29B}" type="slidenum">
              <a:rPr lang="en-US" smtClean="0"/>
              <a:t>29</a:t>
            </a:fld>
            <a:endParaRPr lang="en-US"/>
          </a:p>
        </p:txBody>
      </p:sp>
    </p:spTree>
    <p:extLst>
      <p:ext uri="{BB962C8B-B14F-4D97-AF65-F5344CB8AC3E}">
        <p14:creationId xmlns:p14="http://schemas.microsoft.com/office/powerpoint/2010/main" val="31005924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And now, if we step back, we see that the right side of this model looks like the logistic regression model we initially wanted…</a:t>
            </a:r>
          </a:p>
          <a:p>
            <a:endParaRPr lang="en-US" dirty="0"/>
          </a:p>
          <a:p>
            <a:r>
              <a:rPr lang="en-US" dirty="0"/>
              <a:t>The matrix W maps our input word to a small number of features, or attributes – and these features are used in turn to predict which context words are likely vs unlikely.</a:t>
            </a:r>
          </a:p>
          <a:p>
            <a:endParaRPr lang="en-US" dirty="0"/>
          </a:p>
          <a:p>
            <a:r>
              <a:rPr lang="en-US" dirty="0"/>
              <a:t>These features, or attributes – these are exactly what we were looking for – they’re attributes associated with the input word that allow us to predict its context. This is our word vector.</a:t>
            </a:r>
          </a:p>
        </p:txBody>
      </p:sp>
      <p:sp>
        <p:nvSpPr>
          <p:cNvPr id="4" name="Slide Number Placeholder 3"/>
          <p:cNvSpPr>
            <a:spLocks noGrp="1"/>
          </p:cNvSpPr>
          <p:nvPr>
            <p:ph type="sldNum" sz="quarter" idx="10"/>
          </p:nvPr>
        </p:nvSpPr>
        <p:spPr/>
        <p:txBody>
          <a:bodyPr/>
          <a:lstStyle/>
          <a:p>
            <a:fld id="{DB333E9F-084A-8543-BC6F-0AE70009C29B}" type="slidenum">
              <a:rPr lang="en-US" smtClean="0"/>
              <a:t>30</a:t>
            </a:fld>
            <a:endParaRPr lang="en-US"/>
          </a:p>
        </p:txBody>
      </p:sp>
    </p:spTree>
    <p:extLst>
      <p:ext uri="{BB962C8B-B14F-4D97-AF65-F5344CB8AC3E}">
        <p14:creationId xmlns:p14="http://schemas.microsoft.com/office/powerpoint/2010/main" val="1400928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if we think about W, finding this vector gets even a little bit easier.</a:t>
            </a:r>
          </a:p>
          <a:p>
            <a:r>
              <a:rPr lang="en-US" dirty="0"/>
              <a:t>Because when we multiply by our one-hot representation of the input word – again, this is a vector with zeros everywhere, except there’ s a 1 in position corresponding to our vocabulary word -- we’ll call that position I</a:t>
            </a:r>
          </a:p>
          <a:p>
            <a:endParaRPr lang="en-US" dirty="0"/>
          </a:p>
          <a:p>
            <a:r>
              <a:rPr lang="en-US" dirty="0"/>
              <a:t>When we do that multiplication, it’s simply selecting the </a:t>
            </a:r>
            <a:r>
              <a:rPr lang="en-US" dirty="0" err="1"/>
              <a:t>ith</a:t>
            </a:r>
            <a:r>
              <a:rPr lang="en-US" dirty="0"/>
              <a:t> column of our parameter matrix W</a:t>
            </a:r>
          </a:p>
        </p:txBody>
      </p:sp>
      <p:sp>
        <p:nvSpPr>
          <p:cNvPr id="4" name="Slide Number Placeholder 3"/>
          <p:cNvSpPr>
            <a:spLocks noGrp="1"/>
          </p:cNvSpPr>
          <p:nvPr>
            <p:ph type="sldNum" sz="quarter" idx="10"/>
          </p:nvPr>
        </p:nvSpPr>
        <p:spPr/>
        <p:txBody>
          <a:bodyPr/>
          <a:lstStyle/>
          <a:p>
            <a:fld id="{DB333E9F-084A-8543-BC6F-0AE70009C29B}" type="slidenum">
              <a:rPr lang="en-US" smtClean="0"/>
              <a:t>31</a:t>
            </a:fld>
            <a:endParaRPr lang="en-US"/>
          </a:p>
        </p:txBody>
      </p:sp>
    </p:spTree>
    <p:extLst>
      <p:ext uri="{BB962C8B-B14F-4D97-AF65-F5344CB8AC3E}">
        <p14:creationId xmlns:p14="http://schemas.microsoft.com/office/powerpoint/2010/main" val="3021012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zooming in on W – it’s a matrix with H rows and V columns, where V is the size of our vocabulary. And the vector we get when our input is our </a:t>
            </a:r>
            <a:r>
              <a:rPr lang="en-US" dirty="0" err="1"/>
              <a:t>ith</a:t>
            </a:r>
            <a:r>
              <a:rPr lang="en-US" dirty="0"/>
              <a:t> vocabulary word is simply the </a:t>
            </a:r>
            <a:r>
              <a:rPr lang="en-US" dirty="0" err="1"/>
              <a:t>ith</a:t>
            </a:r>
            <a:r>
              <a:rPr lang="en-US" dirty="0"/>
              <a:t> column of this matrix</a:t>
            </a:r>
          </a:p>
        </p:txBody>
      </p:sp>
      <p:sp>
        <p:nvSpPr>
          <p:cNvPr id="4" name="Slide Number Placeholder 3"/>
          <p:cNvSpPr>
            <a:spLocks noGrp="1"/>
          </p:cNvSpPr>
          <p:nvPr>
            <p:ph type="sldNum" sz="quarter" idx="10"/>
          </p:nvPr>
        </p:nvSpPr>
        <p:spPr/>
        <p:txBody>
          <a:bodyPr/>
          <a:lstStyle/>
          <a:p>
            <a:fld id="{DB333E9F-084A-8543-BC6F-0AE70009C29B}" type="slidenum">
              <a:rPr lang="en-US" smtClean="0"/>
              <a:t>32</a:t>
            </a:fld>
            <a:endParaRPr lang="en-US"/>
          </a:p>
        </p:txBody>
      </p:sp>
    </p:spTree>
    <p:extLst>
      <p:ext uri="{BB962C8B-B14F-4D97-AF65-F5344CB8AC3E}">
        <p14:creationId xmlns:p14="http://schemas.microsoft.com/office/powerpoint/2010/main" val="488127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Which is shown here.</a:t>
            </a:r>
          </a:p>
          <a:p>
            <a:endParaRPr lang="en-US" dirty="0"/>
          </a:p>
          <a:p>
            <a:r>
              <a:rPr lang="en-US" dirty="0"/>
              <a:t>This </a:t>
            </a:r>
            <a:r>
              <a:rPr lang="en-US" dirty="0" err="1"/>
              <a:t>ith</a:t>
            </a:r>
            <a:r>
              <a:rPr lang="en-US" dirty="0"/>
              <a:t> column – this is the word vector corresponding to word </a:t>
            </a:r>
            <a:r>
              <a:rPr lang="en-US" dirty="0" err="1"/>
              <a:t>i</a:t>
            </a:r>
            <a:r>
              <a:rPr lang="en-US" dirty="0"/>
              <a:t> in our vocabulary.</a:t>
            </a:r>
          </a:p>
        </p:txBody>
      </p:sp>
      <p:sp>
        <p:nvSpPr>
          <p:cNvPr id="4" name="Slide Number Placeholder 3"/>
          <p:cNvSpPr>
            <a:spLocks noGrp="1"/>
          </p:cNvSpPr>
          <p:nvPr>
            <p:ph type="sldNum" sz="quarter" idx="10"/>
          </p:nvPr>
        </p:nvSpPr>
        <p:spPr/>
        <p:txBody>
          <a:bodyPr/>
          <a:lstStyle/>
          <a:p>
            <a:fld id="{DB333E9F-084A-8543-BC6F-0AE70009C29B}" type="slidenum">
              <a:rPr lang="en-US" smtClean="0"/>
              <a:t>33</a:t>
            </a:fld>
            <a:endParaRPr lang="en-US"/>
          </a:p>
        </p:txBody>
      </p:sp>
    </p:spTree>
    <p:extLst>
      <p:ext uri="{BB962C8B-B14F-4D97-AF65-F5344CB8AC3E}">
        <p14:creationId xmlns:p14="http://schemas.microsoft.com/office/powerpoint/2010/main" val="3589583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that’s it! Now we have a compact set of attributes for each vocabulary word that suffices to predict the other words that are likely to be nearby!</a:t>
            </a:r>
          </a:p>
          <a:p>
            <a:endParaRPr lang="en-US" dirty="0"/>
          </a:p>
          <a:p>
            <a:r>
              <a:rPr lang="en-US" dirty="0"/>
              <a:t>If the vectors are similar, the predicted context words will be similar!</a:t>
            </a:r>
          </a:p>
          <a:p>
            <a:r>
              <a:rPr lang="en-US" dirty="0"/>
              <a:t>If the vectors are different, the predicted context words will be different!</a:t>
            </a:r>
          </a:p>
          <a:p>
            <a:endParaRPr lang="en-US" dirty="0"/>
          </a:p>
          <a:p>
            <a:r>
              <a:rPr lang="en-US" dirty="0"/>
              <a:t>And the degree of difference in two word vectors depends on the degree of difference in the average context for those two words</a:t>
            </a:r>
          </a:p>
          <a:p>
            <a:endParaRPr lang="en-US" dirty="0"/>
          </a:p>
          <a:p>
            <a:r>
              <a:rPr lang="en-US" dirty="0"/>
              <a:t>We can think of these vectors of a ‘dense representation’ of the likely context, meaning that it’s a small number of numeric values that allows us to predict all those context words</a:t>
            </a:r>
          </a:p>
          <a:p>
            <a:endParaRPr lang="en-US" dirty="0"/>
          </a:p>
          <a:p>
            <a:r>
              <a:rPr lang="en-US" dirty="0"/>
              <a:t>This is what is meant by saying that we’re defining words in terms of the context in which they appear.</a:t>
            </a:r>
          </a:p>
        </p:txBody>
      </p:sp>
      <p:sp>
        <p:nvSpPr>
          <p:cNvPr id="4" name="Slide Number Placeholder 3"/>
          <p:cNvSpPr>
            <a:spLocks noGrp="1"/>
          </p:cNvSpPr>
          <p:nvPr>
            <p:ph type="sldNum" sz="quarter" idx="10"/>
          </p:nvPr>
        </p:nvSpPr>
        <p:spPr/>
        <p:txBody>
          <a:bodyPr/>
          <a:lstStyle/>
          <a:p>
            <a:fld id="{DB333E9F-084A-8543-BC6F-0AE70009C29B}" type="slidenum">
              <a:rPr lang="en-US" smtClean="0"/>
              <a:t>34</a:t>
            </a:fld>
            <a:endParaRPr lang="en-US"/>
          </a:p>
        </p:txBody>
      </p:sp>
    </p:spTree>
    <p:extLst>
      <p:ext uri="{BB962C8B-B14F-4D97-AF65-F5344CB8AC3E}">
        <p14:creationId xmlns:p14="http://schemas.microsoft.com/office/powerpoint/2010/main" val="29744194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44</a:t>
            </a:fld>
            <a:endParaRPr lang="en-US"/>
          </a:p>
        </p:txBody>
      </p:sp>
    </p:spTree>
    <p:extLst>
      <p:ext uri="{BB962C8B-B14F-4D97-AF65-F5344CB8AC3E}">
        <p14:creationId xmlns:p14="http://schemas.microsoft.com/office/powerpoint/2010/main" val="3005168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like in deep learning, low-level semantic features are often shared across domains/tasks, but higher level features are more task specific. So again, we can reuse models trained in different domains.</a:t>
            </a:r>
          </a:p>
        </p:txBody>
      </p:sp>
      <p:sp>
        <p:nvSpPr>
          <p:cNvPr id="4" name="Slide Number Placeholder 3"/>
          <p:cNvSpPr>
            <a:spLocks noGrp="1"/>
          </p:cNvSpPr>
          <p:nvPr>
            <p:ph type="sldNum" sz="quarter" idx="5"/>
          </p:nvPr>
        </p:nvSpPr>
        <p:spPr/>
        <p:txBody>
          <a:bodyPr/>
          <a:lstStyle/>
          <a:p>
            <a:fld id="{9FCDE58F-843A-8447-AF7F-7BD31329CDC1}" type="slidenum">
              <a:rPr lang="en-US" smtClean="0"/>
              <a:t>45</a:t>
            </a:fld>
            <a:endParaRPr lang="en-US"/>
          </a:p>
        </p:txBody>
      </p:sp>
    </p:spTree>
    <p:extLst>
      <p:ext uri="{BB962C8B-B14F-4D97-AF65-F5344CB8AC3E}">
        <p14:creationId xmlns:p14="http://schemas.microsoft.com/office/powerpoint/2010/main" val="22674336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summary:</a:t>
            </a:r>
          </a:p>
        </p:txBody>
      </p:sp>
      <p:sp>
        <p:nvSpPr>
          <p:cNvPr id="4" name="Slide Number Placeholder 3"/>
          <p:cNvSpPr>
            <a:spLocks noGrp="1"/>
          </p:cNvSpPr>
          <p:nvPr>
            <p:ph type="sldNum" sz="quarter" idx="5"/>
          </p:nvPr>
        </p:nvSpPr>
        <p:spPr/>
        <p:txBody>
          <a:bodyPr/>
          <a:lstStyle/>
          <a:p>
            <a:fld id="{1223B2E0-F841-4DF0-86E7-486D3B83D04F}" type="slidenum">
              <a:rPr lang="en-US" smtClean="0"/>
              <a:t>48</a:t>
            </a:fld>
            <a:endParaRPr lang="en-US"/>
          </a:p>
        </p:txBody>
      </p:sp>
    </p:spTree>
    <p:extLst>
      <p:ext uri="{BB962C8B-B14F-4D97-AF65-F5344CB8AC3E}">
        <p14:creationId xmlns:p14="http://schemas.microsoft.com/office/powerpoint/2010/main" val="2900484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8C829-21FE-3131-54E6-9A47D8650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0C5E0-4817-9999-9416-AA9E74F96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7F850-3094-FA99-D438-CC836E283683}"/>
              </a:ext>
            </a:extLst>
          </p:cNvPr>
          <p:cNvSpPr>
            <a:spLocks noGrp="1"/>
          </p:cNvSpPr>
          <p:nvPr>
            <p:ph type="body" idx="1"/>
          </p:nvPr>
        </p:nvSpPr>
        <p:spPr/>
        <p:txBody>
          <a:bodyPr/>
          <a:lstStyle/>
          <a:p>
            <a:r>
              <a:rPr lang="en-US" dirty="0"/>
              <a:t>Again, our goal is to take an input word – in this example, ‘strolls’ – and predict the probability that each word in our vocabulary will appear in its context.</a:t>
            </a:r>
          </a:p>
          <a:p>
            <a:endParaRPr lang="en-US" dirty="0"/>
          </a:p>
          <a:p>
            <a:r>
              <a:rPr lang="en-US" dirty="0"/>
              <a:t>What is our training set?</a:t>
            </a:r>
          </a:p>
          <a:p>
            <a:r>
              <a:rPr lang="en-US" dirty="0"/>
              <a:t>We can crawl through a huge text corpus – it could be Wikipedia, Twitter, randomly collected internet sites, and so on – and sample pairs of words that appear near one another.</a:t>
            </a:r>
          </a:p>
          <a:p>
            <a:endParaRPr lang="en-US" dirty="0"/>
          </a:p>
          <a:p>
            <a:r>
              <a:rPr lang="en-US" dirty="0"/>
              <a:t>We find that strolls appears near man, so {strolls, man} becomes an input word, context word pair</a:t>
            </a:r>
          </a:p>
          <a:p>
            <a:r>
              <a:rPr lang="en-US" dirty="0"/>
              <a:t>Similarly, we find that ‘flies’ appears near ‘bird’, so {flies, bird} becomes an input word, context word pair</a:t>
            </a:r>
          </a:p>
          <a:p>
            <a:endParaRPr lang="en-US" dirty="0"/>
          </a:p>
          <a:p>
            <a:r>
              <a:rPr lang="en-US" dirty="0"/>
              <a:t>Note that {bird, flies} is also a valid input word, context word pair: if bird appears in the context of flies, then flies also appears in the context of bird – the relationship is symmetric.</a:t>
            </a:r>
          </a:p>
          <a:p>
            <a:endParaRPr lang="en-US" dirty="0"/>
          </a:p>
          <a:p>
            <a:r>
              <a:rPr lang="en-US" dirty="0"/>
              <a:t>We might use a ‘context window’ of length 5, as shown in the slide, so that the input words and context words can be separated by one intervening word at most</a:t>
            </a:r>
          </a:p>
          <a:p>
            <a:endParaRPr lang="en-US" dirty="0"/>
          </a:p>
          <a:p>
            <a:r>
              <a:rPr lang="en-US" dirty="0"/>
              <a:t>Now we’ll create a model that predicts input words from context words</a:t>
            </a:r>
          </a:p>
        </p:txBody>
      </p:sp>
      <p:sp>
        <p:nvSpPr>
          <p:cNvPr id="4" name="Slide Number Placeholder 3">
            <a:extLst>
              <a:ext uri="{FF2B5EF4-FFF2-40B4-BE49-F238E27FC236}">
                <a16:creationId xmlns:a16="http://schemas.microsoft.com/office/drawing/2014/main" id="{E7C2F3DF-11B0-EBAB-D1AF-CF87702D1A9D}"/>
              </a:ext>
            </a:extLst>
          </p:cNvPr>
          <p:cNvSpPr>
            <a:spLocks noGrp="1"/>
          </p:cNvSpPr>
          <p:nvPr>
            <p:ph type="sldNum" sz="quarter" idx="5"/>
          </p:nvPr>
        </p:nvSpPr>
        <p:spPr/>
        <p:txBody>
          <a:bodyPr/>
          <a:lstStyle/>
          <a:p>
            <a:fld id="{1223B2E0-F841-4DF0-86E7-486D3B83D04F}" type="slidenum">
              <a:rPr lang="en-US" smtClean="0"/>
              <a:t>50</a:t>
            </a:fld>
            <a:endParaRPr lang="en-US"/>
          </a:p>
        </p:txBody>
      </p:sp>
    </p:spTree>
    <p:extLst>
      <p:ext uri="{BB962C8B-B14F-4D97-AF65-F5344CB8AC3E}">
        <p14:creationId xmlns:p14="http://schemas.microsoft.com/office/powerpoint/2010/main" val="3217531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23D3-97BA-8344-B77C-C3C47F735D9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DBA69F-5897-5F44-92BC-479B55DE9F72}"/>
              </a:ext>
            </a:extLst>
          </p:cNvPr>
          <p:cNvSpPr>
            <a:spLocks noGrp="1"/>
          </p:cNvSpPr>
          <p:nvPr>
            <p:ph type="subTitle" idx="1"/>
          </p:nvPr>
        </p:nvSpPr>
        <p:spPr>
          <a:xfrm>
            <a:off x="1524000" y="3602037"/>
            <a:ext cx="9144000" cy="1655763"/>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4183729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44FE-227B-BB4B-AFCB-C70369A59A9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3E786AE-9738-E14C-9B4A-B463D9070E75}"/>
              </a:ext>
            </a:extLst>
          </p:cNvPr>
          <p:cNvSpPr>
            <a:spLocks noGrp="1"/>
          </p:cNvSpPr>
          <p:nvPr>
            <p:ph idx="1"/>
          </p:nvPr>
        </p:nvSpPr>
        <p:spPr>
          <a:xfrm>
            <a:off x="838200" y="1825625"/>
            <a:ext cx="10515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3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DC07-CABA-9E4D-9E3A-95E05BCB87D8}"/>
              </a:ext>
            </a:extLst>
          </p:cNvPr>
          <p:cNvSpPr>
            <a:spLocks noGrp="1"/>
          </p:cNvSpPr>
          <p:nvPr>
            <p:ph type="title"/>
          </p:nvPr>
        </p:nvSpPr>
        <p:spPr>
          <a:xfrm>
            <a:off x="831851" y="1709740"/>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8BD0F8-3355-CA42-8F79-D8191E4962BE}"/>
              </a:ext>
            </a:extLst>
          </p:cNvPr>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86378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6984-E4BA-284B-B7AF-D51BD0BDCBE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F353D1B-9EE2-4E4F-B36A-F0F237B8A8E4}"/>
              </a:ext>
            </a:extLst>
          </p:cNvPr>
          <p:cNvSpPr>
            <a:spLocks noGrp="1"/>
          </p:cNvSpPr>
          <p:nvPr>
            <p:ph sz="half" idx="1"/>
          </p:nvPr>
        </p:nvSpPr>
        <p:spPr>
          <a:xfrm>
            <a:off x="838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FBE0A-D618-A548-B1F3-E7BCD2D5715F}"/>
              </a:ext>
            </a:extLst>
          </p:cNvPr>
          <p:cNvSpPr>
            <a:spLocks noGrp="1"/>
          </p:cNvSpPr>
          <p:nvPr>
            <p:ph sz="half" idx="2"/>
          </p:nvPr>
        </p:nvSpPr>
        <p:spPr>
          <a:xfrm>
            <a:off x="6172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9996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8D306-FDF6-DE45-90F3-DD6E0A2416EE}"/>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E7B324-C8C1-B34B-93B4-5E52FB3E7B79}"/>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5C052-E346-7A4E-A53F-178DCAB9D312}"/>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0F207E-CBC1-6444-AE32-2D03AB9BEB81}"/>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C86491-5FF8-E448-A837-D74C6F85ECFD}"/>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7339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2B47-C6F1-2C47-83A6-7C9765DBB8C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1733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392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67C-A2EB-A742-BD60-241901035A2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484264-1CC0-ED47-9FC4-17EA9AEE949C}"/>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82311-296D-B54E-84F6-B91B4D004E05}"/>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164601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9CE1-388E-D644-BFC2-E3BA89CDFE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F9288A-BC67-054C-8D82-B775C7F3F0B2}"/>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FB7354F2-00A4-E440-B3B4-24D0906C1040}"/>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3919355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A9F9-9678-2743-B0D7-2303C7428E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213DE2-E1E8-8C40-8B00-91EF68139310}"/>
              </a:ext>
            </a:extLst>
          </p:cNvPr>
          <p:cNvSpPr>
            <a:spLocks noGrp="1"/>
          </p:cNvSpPr>
          <p:nvPr>
            <p:ph type="body" orient="vert" idx="1"/>
          </p:nvPr>
        </p:nvSpPr>
        <p:spPr>
          <a:xfrm>
            <a:off x="838200" y="1825625"/>
            <a:ext cx="10515600" cy="43513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3482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45086-DAA8-FA49-915F-8B28AFD11691}"/>
              </a:ext>
            </a:extLst>
          </p:cNvPr>
          <p:cNvSpPr>
            <a:spLocks noGrp="1"/>
          </p:cNvSpPr>
          <p:nvPr>
            <p:ph type="title" orient="vert"/>
          </p:nvPr>
        </p:nvSpPr>
        <p:spPr>
          <a:xfrm>
            <a:off x="8724901" y="365126"/>
            <a:ext cx="2628900" cy="581183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7C3AEF-AC20-C245-8112-195AA156825C}"/>
              </a:ext>
            </a:extLst>
          </p:cNvPr>
          <p:cNvSpPr>
            <a:spLocks noGrp="1"/>
          </p:cNvSpPr>
          <p:nvPr>
            <p:ph type="body" orient="vert" idx="1"/>
          </p:nvPr>
        </p:nvSpPr>
        <p:spPr>
          <a:xfrm>
            <a:off x="838201" y="365126"/>
            <a:ext cx="7734300" cy="58118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8305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137378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file:///C:\Local-Documents\git-docs\CI-Fellowship\Presentations\COVID-JC\2_pipeline\images\retail-robot-hospitality-1.jp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file:///C:\Local-Documents\git-docs\CI-Fellowship\Presentations\COVID-JC\2_pipeline\figs\roboshop_embedding.emf" TargetMode="External"/><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22.png"/></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6.png"/><Relationship Id="rId7"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11" Type="http://schemas.openxmlformats.org/officeDocument/2006/relationships/image" Target="../media/image25.png"/><Relationship Id="rId10" Type="http://schemas.openxmlformats.org/officeDocument/2006/relationships/image" Target="../media/image21.png"/><Relationship Id="rId9"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97903"/>
            <a:ext cx="10363200" cy="2704856"/>
          </a:xfrm>
        </p:spPr>
        <p:txBody>
          <a:bodyPr>
            <a:normAutofit/>
          </a:bodyPr>
          <a:lstStyle/>
          <a:p>
            <a:pPr>
              <a:spcAft>
                <a:spcPts val="1200"/>
              </a:spcAft>
            </a:pPr>
            <a:r>
              <a:rPr lang="en-US" dirty="0"/>
              <a:t>Word and Concept Embeddings</a:t>
            </a:r>
            <a:endParaRPr lang="en-US" sz="4800" dirty="0"/>
          </a:p>
        </p:txBody>
      </p:sp>
      <p:sp>
        <p:nvSpPr>
          <p:cNvPr id="3" name="Subtitle 2"/>
          <p:cNvSpPr>
            <a:spLocks noGrp="1"/>
          </p:cNvSpPr>
          <p:nvPr>
            <p:ph type="subTitle" idx="1"/>
          </p:nvPr>
        </p:nvSpPr>
        <p:spPr>
          <a:xfrm>
            <a:off x="3027219" y="4276881"/>
            <a:ext cx="6137564" cy="1655763"/>
          </a:xfrm>
        </p:spPr>
        <p:txBody>
          <a:bodyPr>
            <a:normAutofit/>
          </a:bodyPr>
          <a:lstStyle/>
          <a:p>
            <a:endParaRPr lang="en-US" sz="2400" dirty="0"/>
          </a:p>
          <a:p>
            <a:r>
              <a:rPr lang="en-US" sz="2400"/>
              <a:t>Matthew </a:t>
            </a:r>
            <a:r>
              <a:rPr lang="en-US" sz="2400" dirty="0"/>
              <a:t>Engelhard</a:t>
            </a:r>
          </a:p>
        </p:txBody>
      </p:sp>
    </p:spTree>
    <p:extLst>
      <p:ext uri="{BB962C8B-B14F-4D97-AF65-F5344CB8AC3E}">
        <p14:creationId xmlns:p14="http://schemas.microsoft.com/office/powerpoint/2010/main" val="1796833426"/>
      </p:ext>
    </p:extLst>
  </p:cSld>
  <p:clrMapOvr>
    <a:masterClrMapping/>
  </p:clrMapOvr>
  <mc:AlternateContent xmlns:mc="http://schemas.openxmlformats.org/markup-compatibility/2006" xmlns:p14="http://schemas.microsoft.com/office/powerpoint/2010/main">
    <mc:Choice Requires="p14">
      <p:transition spd="slow" p14:dur="2000" advTm="33429"/>
    </mc:Choice>
    <mc:Fallback xmlns="">
      <p:transition spd="slow" advTm="334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BF1B-70F3-F222-BE28-28C8ADF4C70B}"/>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7C4AE73E-9DD2-DA43-0E3E-476665A8BE7D}"/>
              </a:ext>
            </a:extLst>
          </p:cNvPr>
          <p:cNvSpPr>
            <a:spLocks noGrp="1"/>
          </p:cNvSpPr>
          <p:nvPr>
            <p:ph idx="1"/>
          </p:nvPr>
        </p:nvSpPr>
        <p:spPr/>
        <p:txBody>
          <a:bodyPr/>
          <a:lstStyle/>
          <a:p>
            <a:pPr marL="514350" indent="-514350">
              <a:buAutoNum type="arabicParenBoth"/>
            </a:pPr>
            <a:r>
              <a:rPr lang="en-US" dirty="0"/>
              <a:t>Review session on April 13</a:t>
            </a:r>
          </a:p>
          <a:p>
            <a:pPr marL="514350" indent="-514350">
              <a:buAutoNum type="arabicParenBoth"/>
            </a:pPr>
            <a:r>
              <a:rPr lang="en-US" dirty="0"/>
              <a:t>In-class final on April 15</a:t>
            </a:r>
          </a:p>
          <a:p>
            <a:pPr marL="514350" indent="-514350">
              <a:buAutoNum type="arabicParenBoth"/>
            </a:pPr>
            <a:r>
              <a:rPr lang="en-US" dirty="0"/>
              <a:t>Coding assignment 3 will be posted ASAP (likely this evening) and is due on May 2</a:t>
            </a:r>
          </a:p>
        </p:txBody>
      </p:sp>
    </p:spTree>
    <p:extLst>
      <p:ext uri="{BB962C8B-B14F-4D97-AF65-F5344CB8AC3E}">
        <p14:creationId xmlns:p14="http://schemas.microsoft.com/office/powerpoint/2010/main" val="912058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765705" y="2572265"/>
            <a:ext cx="2297160" cy="22971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Last time: “bag of words” models</a:t>
            </a:r>
          </a:p>
        </p:txBody>
      </p:sp>
      <p:sp>
        <p:nvSpPr>
          <p:cNvPr id="4" name="TextBox 3"/>
          <p:cNvSpPr txBox="1"/>
          <p:nvPr/>
        </p:nvSpPr>
        <p:spPr>
          <a:xfrm>
            <a:off x="9205617" y="3712600"/>
            <a:ext cx="660758" cy="369332"/>
          </a:xfrm>
          <a:prstGeom prst="rect">
            <a:avLst/>
          </a:prstGeom>
          <a:noFill/>
        </p:spPr>
        <p:txBody>
          <a:bodyPr wrap="none" rtlCol="0">
            <a:spAutoFit/>
          </a:bodyPr>
          <a:lstStyle/>
          <a:p>
            <a:r>
              <a:rPr lang="en-US" dirty="0"/>
              <a:t>clinic</a:t>
            </a:r>
          </a:p>
        </p:txBody>
      </p:sp>
      <p:sp>
        <p:nvSpPr>
          <p:cNvPr id="5" name="TextBox 4"/>
          <p:cNvSpPr txBox="1"/>
          <p:nvPr/>
        </p:nvSpPr>
        <p:spPr>
          <a:xfrm>
            <a:off x="9561467" y="4328124"/>
            <a:ext cx="327334" cy="369332"/>
          </a:xfrm>
          <a:prstGeom prst="rect">
            <a:avLst/>
          </a:prstGeom>
          <a:noFill/>
        </p:spPr>
        <p:txBody>
          <a:bodyPr wrap="none" rtlCol="0">
            <a:spAutoFit/>
          </a:bodyPr>
          <a:lstStyle/>
          <a:p>
            <a:r>
              <a:rPr lang="en-US" dirty="0"/>
              <a:t>is</a:t>
            </a:r>
          </a:p>
        </p:txBody>
      </p:sp>
      <p:sp>
        <p:nvSpPr>
          <p:cNvPr id="6" name="TextBox 5"/>
          <p:cNvSpPr txBox="1"/>
          <p:nvPr/>
        </p:nvSpPr>
        <p:spPr>
          <a:xfrm>
            <a:off x="9064375" y="4011741"/>
            <a:ext cx="779572" cy="369332"/>
          </a:xfrm>
          <a:prstGeom prst="rect">
            <a:avLst/>
          </a:prstGeom>
          <a:noFill/>
        </p:spPr>
        <p:txBody>
          <a:bodyPr wrap="none" rtlCol="0">
            <a:spAutoFit/>
          </a:bodyPr>
          <a:lstStyle/>
          <a:p>
            <a:r>
              <a:rPr lang="en-US" dirty="0"/>
              <a:t>where</a:t>
            </a:r>
          </a:p>
        </p:txBody>
      </p:sp>
      <p:sp>
        <p:nvSpPr>
          <p:cNvPr id="7" name="TextBox 6"/>
          <p:cNvSpPr txBox="1"/>
          <p:nvPr/>
        </p:nvSpPr>
        <p:spPr>
          <a:xfrm>
            <a:off x="9893571" y="4156153"/>
            <a:ext cx="498855" cy="369332"/>
          </a:xfrm>
          <a:prstGeom prst="rect">
            <a:avLst/>
          </a:prstGeom>
          <a:noFill/>
        </p:spPr>
        <p:txBody>
          <a:bodyPr wrap="none" rtlCol="0">
            <a:spAutoFit/>
          </a:bodyPr>
          <a:lstStyle/>
          <a:p>
            <a:r>
              <a:rPr lang="en-US" dirty="0"/>
              <a:t>the</a:t>
            </a:r>
          </a:p>
        </p:txBody>
      </p:sp>
      <p:sp>
        <p:nvSpPr>
          <p:cNvPr id="8" name="TextBox 7"/>
          <p:cNvSpPr txBox="1"/>
          <p:nvPr/>
        </p:nvSpPr>
        <p:spPr>
          <a:xfrm>
            <a:off x="9772701" y="3786821"/>
            <a:ext cx="889218" cy="369332"/>
          </a:xfrm>
          <a:prstGeom prst="rect">
            <a:avLst/>
          </a:prstGeom>
          <a:noFill/>
        </p:spPr>
        <p:txBody>
          <a:bodyPr wrap="none" rtlCol="0">
            <a:spAutoFit/>
          </a:bodyPr>
          <a:lstStyle/>
          <a:p>
            <a:r>
              <a:rPr lang="en-US" dirty="0"/>
              <a:t>nearest</a:t>
            </a:r>
          </a:p>
        </p:txBody>
      </p:sp>
      <p:sp>
        <p:nvSpPr>
          <p:cNvPr id="3" name="Content Placeholder 2">
            <a:extLst>
              <a:ext uri="{FF2B5EF4-FFF2-40B4-BE49-F238E27FC236}">
                <a16:creationId xmlns:a16="http://schemas.microsoft.com/office/drawing/2014/main" id="{5B83AEC1-9E0F-F164-4829-0CA5EFD6DEEB}"/>
              </a:ext>
            </a:extLst>
          </p:cNvPr>
          <p:cNvSpPr txBox="1">
            <a:spLocks/>
          </p:cNvSpPr>
          <p:nvPr/>
        </p:nvSpPr>
        <p:spPr>
          <a:xfrm>
            <a:off x="1129135" y="1840594"/>
            <a:ext cx="6444343" cy="4612140"/>
          </a:xfrm>
          <a:prstGeom prst="rect">
            <a:avLst/>
          </a:prstGeom>
        </p:spPr>
        <p:txBody>
          <a:bodyPr>
            <a:normAutofit fontScale="850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None/>
            </a:pPr>
            <a:r>
              <a:rPr lang="en-US" dirty="0"/>
              <a:t>(+) Count-based approaches are simple and work surprisingly well in practice</a:t>
            </a:r>
          </a:p>
          <a:p>
            <a:pPr marL="0" indent="0">
              <a:spcBef>
                <a:spcPts val="400"/>
              </a:spcBef>
              <a:buNone/>
            </a:pPr>
            <a:endParaRPr lang="en-US" dirty="0"/>
          </a:p>
          <a:p>
            <a:pPr marL="0" indent="0">
              <a:spcBef>
                <a:spcPts val="400"/>
              </a:spcBef>
              <a:buNone/>
            </a:pPr>
            <a:r>
              <a:rPr lang="en-US" dirty="0"/>
              <a:t>(+) Often the best approach with small datasets</a:t>
            </a:r>
          </a:p>
          <a:p>
            <a:pPr marL="0" indent="0">
              <a:spcBef>
                <a:spcPts val="400"/>
              </a:spcBef>
              <a:buNone/>
            </a:pPr>
            <a:endParaRPr lang="en-US" dirty="0"/>
          </a:p>
          <a:p>
            <a:pPr marL="0" indent="0">
              <a:spcBef>
                <a:spcPts val="400"/>
              </a:spcBef>
              <a:buNone/>
            </a:pPr>
            <a:r>
              <a:rPr lang="en-US" dirty="0"/>
              <a:t>(-) Word representations are highly sparse and therefore inefficient</a:t>
            </a:r>
          </a:p>
          <a:p>
            <a:pPr marL="0" indent="0">
              <a:spcBef>
                <a:spcPts val="400"/>
              </a:spcBef>
              <a:buNone/>
            </a:pPr>
            <a:endParaRPr lang="en-US" dirty="0"/>
          </a:p>
          <a:p>
            <a:pPr marL="0" indent="0">
              <a:spcBef>
                <a:spcPts val="400"/>
              </a:spcBef>
              <a:buNone/>
            </a:pPr>
            <a:r>
              <a:rPr lang="en-US" dirty="0"/>
              <a:t>(-) Does not capture word order or interpret words in context</a:t>
            </a:r>
          </a:p>
          <a:p>
            <a:pPr marL="0" indent="0">
              <a:spcBef>
                <a:spcPts val="400"/>
              </a:spcBef>
              <a:buNone/>
            </a:pPr>
            <a:endParaRPr lang="en-US" dirty="0"/>
          </a:p>
          <a:p>
            <a:pPr marL="0" indent="0">
              <a:spcBef>
                <a:spcPts val="400"/>
              </a:spcBef>
              <a:buNone/>
            </a:pPr>
            <a:r>
              <a:rPr lang="en-US" dirty="0"/>
              <a:t>(-) Does not group synonyms together or understand semantic relationships between words</a:t>
            </a:r>
          </a:p>
        </p:txBody>
      </p:sp>
    </p:spTree>
    <p:extLst>
      <p:ext uri="{BB962C8B-B14F-4D97-AF65-F5344CB8AC3E}">
        <p14:creationId xmlns:p14="http://schemas.microsoft.com/office/powerpoint/2010/main" val="133719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037A-D339-5A5E-0384-B5AE651DDD29}"/>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CAF4A7B0-877E-C320-1720-F6A6C262E023}"/>
              </a:ext>
            </a:extLst>
          </p:cNvPr>
          <p:cNvSpPr>
            <a:spLocks noGrp="1"/>
          </p:cNvSpPr>
          <p:nvPr>
            <p:ph idx="1"/>
          </p:nvPr>
        </p:nvSpPr>
        <p:spPr/>
        <p:txBody>
          <a:bodyPr/>
          <a:lstStyle/>
          <a:p>
            <a:r>
              <a:rPr lang="en-US" dirty="0"/>
              <a:t>Motivating word embeddings</a:t>
            </a:r>
          </a:p>
          <a:p>
            <a:r>
              <a:rPr lang="en-US" dirty="0"/>
              <a:t>How we learn word embeddings</a:t>
            </a:r>
          </a:p>
          <a:p>
            <a:r>
              <a:rPr lang="en-US" dirty="0"/>
              <a:t>What we can do now that we have word embeddings</a:t>
            </a:r>
          </a:p>
          <a:p>
            <a:pPr lvl="1"/>
            <a:r>
              <a:rPr lang="en-US" dirty="0"/>
              <a:t>Embedding-based models</a:t>
            </a:r>
          </a:p>
          <a:p>
            <a:pPr lvl="1"/>
            <a:r>
              <a:rPr lang="en-US" dirty="0"/>
              <a:t>Word/concept retrieval</a:t>
            </a:r>
          </a:p>
          <a:p>
            <a:pPr lvl="1"/>
            <a:endParaRPr lang="en-US" dirty="0"/>
          </a:p>
          <a:p>
            <a:r>
              <a:rPr lang="en-US" dirty="0"/>
              <a:t>Medical concept embeddings</a:t>
            </a:r>
          </a:p>
          <a:p>
            <a:endParaRPr lang="en-US" dirty="0"/>
          </a:p>
        </p:txBody>
      </p:sp>
    </p:spTree>
    <p:extLst>
      <p:ext uri="{BB962C8B-B14F-4D97-AF65-F5344CB8AC3E}">
        <p14:creationId xmlns:p14="http://schemas.microsoft.com/office/powerpoint/2010/main" val="41114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997F-E60F-5856-1B64-3DD36BD499AC}"/>
              </a:ext>
            </a:extLst>
          </p:cNvPr>
          <p:cNvSpPr>
            <a:spLocks noGrp="1"/>
          </p:cNvSpPr>
          <p:nvPr>
            <p:ph type="title"/>
          </p:nvPr>
        </p:nvSpPr>
        <p:spPr/>
        <p:txBody>
          <a:bodyPr/>
          <a:lstStyle/>
          <a:p>
            <a:r>
              <a:rPr lang="en-US" dirty="0"/>
              <a:t>Motivating word embeddings</a:t>
            </a:r>
          </a:p>
        </p:txBody>
      </p:sp>
      <p:sp>
        <p:nvSpPr>
          <p:cNvPr id="3" name="Text Placeholder 2">
            <a:extLst>
              <a:ext uri="{FF2B5EF4-FFF2-40B4-BE49-F238E27FC236}">
                <a16:creationId xmlns:a16="http://schemas.microsoft.com/office/drawing/2014/main" id="{93432DBE-FF27-4C7C-C0A9-FADD3C7F1810}"/>
              </a:ext>
            </a:extLst>
          </p:cNvPr>
          <p:cNvSpPr>
            <a:spLocks noGrp="1"/>
          </p:cNvSpPr>
          <p:nvPr>
            <p:ph type="body" idx="1"/>
          </p:nvPr>
        </p:nvSpPr>
        <p:spPr/>
        <p:txBody>
          <a:bodyPr/>
          <a:lstStyle/>
          <a:p>
            <a:r>
              <a:rPr lang="en-US" dirty="0"/>
              <a:t>Key problem: quantifying semantic relationships between words</a:t>
            </a:r>
          </a:p>
        </p:txBody>
      </p:sp>
    </p:spTree>
    <p:extLst>
      <p:ext uri="{BB962C8B-B14F-4D97-AF65-F5344CB8AC3E}">
        <p14:creationId xmlns:p14="http://schemas.microsoft.com/office/powerpoint/2010/main" val="302873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a:xfrm>
            <a:off x="609600" y="219461"/>
            <a:ext cx="10972800" cy="1143000"/>
          </a:xfrm>
        </p:spPr>
        <p:txBody>
          <a:bodyPr>
            <a:noAutofit/>
          </a:bodyPr>
          <a:lstStyle/>
          <a:p>
            <a:r>
              <a:rPr lang="en-US" sz="4000" dirty="0"/>
              <a:t>Word embedding: a numeric representation of a word that encodes its meaning</a:t>
            </a:r>
          </a:p>
        </p:txBody>
      </p:sp>
      <p:sp>
        <p:nvSpPr>
          <p:cNvPr id="16" name="TextBox 15">
            <a:extLst>
              <a:ext uri="{FF2B5EF4-FFF2-40B4-BE49-F238E27FC236}">
                <a16:creationId xmlns:a16="http://schemas.microsoft.com/office/drawing/2014/main" id="{45F1BB00-7856-7446-8C5E-2FBA67162D88}"/>
              </a:ext>
            </a:extLst>
          </p:cNvPr>
          <p:cNvSpPr txBox="1"/>
          <p:nvPr/>
        </p:nvSpPr>
        <p:spPr>
          <a:xfrm>
            <a:off x="7227316" y="3005934"/>
            <a:ext cx="2507683" cy="497957"/>
          </a:xfrm>
          <a:prstGeom prst="rect">
            <a:avLst/>
          </a:prstGeom>
          <a:noFill/>
        </p:spPr>
        <p:txBody>
          <a:bodyPr wrap="square" rtlCol="0">
            <a:spAutoFit/>
          </a:bodyPr>
          <a:lstStyle/>
          <a:p>
            <a:pPr algn="r"/>
            <a:r>
              <a:rPr lang="en-US" sz="2636" dirty="0">
                <a:solidFill>
                  <a:schemeClr val="tx2"/>
                </a:solidFill>
              </a:rPr>
              <a:t>happy</a:t>
            </a:r>
          </a:p>
        </p:txBody>
      </p:sp>
      <p:sp>
        <p:nvSpPr>
          <p:cNvPr id="17" name="TextBox 16">
            <a:extLst>
              <a:ext uri="{FF2B5EF4-FFF2-40B4-BE49-F238E27FC236}">
                <a16:creationId xmlns:a16="http://schemas.microsoft.com/office/drawing/2014/main" id="{98BFDD58-EB3C-C34E-BB34-451CCAD8F698}"/>
              </a:ext>
            </a:extLst>
          </p:cNvPr>
          <p:cNvSpPr txBox="1"/>
          <p:nvPr/>
        </p:nvSpPr>
        <p:spPr>
          <a:xfrm>
            <a:off x="5294943" y="3180022"/>
            <a:ext cx="2507683" cy="497957"/>
          </a:xfrm>
          <a:prstGeom prst="rect">
            <a:avLst/>
          </a:prstGeom>
          <a:noFill/>
        </p:spPr>
        <p:txBody>
          <a:bodyPr wrap="square" rtlCol="0">
            <a:spAutoFit/>
          </a:bodyPr>
          <a:lstStyle/>
          <a:p>
            <a:pPr algn="r"/>
            <a:r>
              <a:rPr lang="en-US" sz="2636" dirty="0">
                <a:solidFill>
                  <a:schemeClr val="tx2"/>
                </a:solidFill>
              </a:rPr>
              <a:t>content</a:t>
            </a:r>
          </a:p>
        </p:txBody>
      </p:sp>
      <p:sp>
        <p:nvSpPr>
          <p:cNvPr id="18" name="TextBox 17">
            <a:extLst>
              <a:ext uri="{FF2B5EF4-FFF2-40B4-BE49-F238E27FC236}">
                <a16:creationId xmlns:a16="http://schemas.microsoft.com/office/drawing/2014/main" id="{13818781-A770-454B-80A9-94744A7FF37F}"/>
              </a:ext>
            </a:extLst>
          </p:cNvPr>
          <p:cNvSpPr txBox="1"/>
          <p:nvPr/>
        </p:nvSpPr>
        <p:spPr>
          <a:xfrm>
            <a:off x="7948313" y="2592010"/>
            <a:ext cx="2507683" cy="497957"/>
          </a:xfrm>
          <a:prstGeom prst="rect">
            <a:avLst/>
          </a:prstGeom>
          <a:noFill/>
        </p:spPr>
        <p:txBody>
          <a:bodyPr wrap="square" rtlCol="0">
            <a:spAutoFit/>
          </a:bodyPr>
          <a:lstStyle/>
          <a:p>
            <a:pPr algn="r"/>
            <a:r>
              <a:rPr lang="en-US" sz="2636" dirty="0">
                <a:solidFill>
                  <a:schemeClr val="tx2"/>
                </a:solidFill>
              </a:rPr>
              <a:t>joyful</a:t>
            </a:r>
          </a:p>
        </p:txBody>
      </p:sp>
      <p:sp>
        <p:nvSpPr>
          <p:cNvPr id="19" name="TextBox 18">
            <a:extLst>
              <a:ext uri="{FF2B5EF4-FFF2-40B4-BE49-F238E27FC236}">
                <a16:creationId xmlns:a16="http://schemas.microsoft.com/office/drawing/2014/main" id="{171F8335-ECB2-7A4D-82D0-3DCE61D73934}"/>
              </a:ext>
            </a:extLst>
          </p:cNvPr>
          <p:cNvSpPr txBox="1"/>
          <p:nvPr/>
        </p:nvSpPr>
        <p:spPr>
          <a:xfrm>
            <a:off x="6096000" y="3599557"/>
            <a:ext cx="2507683" cy="497957"/>
          </a:xfrm>
          <a:prstGeom prst="rect">
            <a:avLst/>
          </a:prstGeom>
          <a:noFill/>
        </p:spPr>
        <p:txBody>
          <a:bodyPr wrap="square" rtlCol="0">
            <a:spAutoFit/>
          </a:bodyPr>
          <a:lstStyle/>
          <a:p>
            <a:pPr algn="r"/>
            <a:r>
              <a:rPr lang="en-US" sz="2636" dirty="0">
                <a:solidFill>
                  <a:schemeClr val="tx2"/>
                </a:solidFill>
              </a:rPr>
              <a:t>satisfied</a:t>
            </a:r>
          </a:p>
        </p:txBody>
      </p:sp>
      <p:sp>
        <p:nvSpPr>
          <p:cNvPr id="20" name="TextBox 19">
            <a:extLst>
              <a:ext uri="{FF2B5EF4-FFF2-40B4-BE49-F238E27FC236}">
                <a16:creationId xmlns:a16="http://schemas.microsoft.com/office/drawing/2014/main" id="{39A63E6B-5114-B340-BC65-DBD86141279A}"/>
              </a:ext>
            </a:extLst>
          </p:cNvPr>
          <p:cNvSpPr txBox="1"/>
          <p:nvPr/>
        </p:nvSpPr>
        <p:spPr>
          <a:xfrm>
            <a:off x="7369873" y="3845990"/>
            <a:ext cx="2507683" cy="497957"/>
          </a:xfrm>
          <a:prstGeom prst="rect">
            <a:avLst/>
          </a:prstGeom>
          <a:noFill/>
        </p:spPr>
        <p:txBody>
          <a:bodyPr wrap="square" rtlCol="0">
            <a:spAutoFit/>
          </a:bodyPr>
          <a:lstStyle/>
          <a:p>
            <a:pPr algn="r"/>
            <a:r>
              <a:rPr lang="en-US" sz="2636" dirty="0">
                <a:solidFill>
                  <a:schemeClr val="tx2"/>
                </a:solidFill>
              </a:rPr>
              <a:t>merry</a:t>
            </a:r>
          </a:p>
        </p:txBody>
      </p:sp>
      <p:sp>
        <p:nvSpPr>
          <p:cNvPr id="21" name="TextBox 20">
            <a:extLst>
              <a:ext uri="{FF2B5EF4-FFF2-40B4-BE49-F238E27FC236}">
                <a16:creationId xmlns:a16="http://schemas.microsoft.com/office/drawing/2014/main" id="{403C6FED-0EF4-B34D-9DD5-ED78AC7B4C80}"/>
              </a:ext>
            </a:extLst>
          </p:cNvPr>
          <p:cNvSpPr txBox="1"/>
          <p:nvPr/>
        </p:nvSpPr>
        <p:spPr>
          <a:xfrm>
            <a:off x="9074717" y="3848534"/>
            <a:ext cx="2507683" cy="497957"/>
          </a:xfrm>
          <a:prstGeom prst="rect">
            <a:avLst/>
          </a:prstGeom>
          <a:noFill/>
        </p:spPr>
        <p:txBody>
          <a:bodyPr wrap="square" rtlCol="0">
            <a:spAutoFit/>
          </a:bodyPr>
          <a:lstStyle/>
          <a:p>
            <a:pPr algn="r"/>
            <a:r>
              <a:rPr lang="en-US" sz="2636" dirty="0">
                <a:solidFill>
                  <a:schemeClr val="tx2"/>
                </a:solidFill>
              </a:rPr>
              <a:t>ecstatic</a:t>
            </a:r>
          </a:p>
        </p:txBody>
      </p:sp>
      <p:sp>
        <p:nvSpPr>
          <p:cNvPr id="22" name="TextBox 21">
            <a:extLst>
              <a:ext uri="{FF2B5EF4-FFF2-40B4-BE49-F238E27FC236}">
                <a16:creationId xmlns:a16="http://schemas.microsoft.com/office/drawing/2014/main" id="{B763DE9A-E18E-2C45-B7B8-FB7AB28B149B}"/>
              </a:ext>
            </a:extLst>
          </p:cNvPr>
          <p:cNvSpPr txBox="1"/>
          <p:nvPr/>
        </p:nvSpPr>
        <p:spPr>
          <a:xfrm>
            <a:off x="8221269" y="4395942"/>
            <a:ext cx="2507683" cy="497957"/>
          </a:xfrm>
          <a:prstGeom prst="rect">
            <a:avLst/>
          </a:prstGeom>
          <a:noFill/>
        </p:spPr>
        <p:txBody>
          <a:bodyPr wrap="square" rtlCol="0">
            <a:spAutoFit/>
          </a:bodyPr>
          <a:lstStyle/>
          <a:p>
            <a:pPr algn="r"/>
            <a:r>
              <a:rPr lang="en-US" sz="2636" dirty="0">
                <a:solidFill>
                  <a:schemeClr val="tx2"/>
                </a:solidFill>
              </a:rPr>
              <a:t>gleeful</a:t>
            </a:r>
          </a:p>
        </p:txBody>
      </p:sp>
      <p:sp>
        <p:nvSpPr>
          <p:cNvPr id="23" name="TextBox 22">
            <a:extLst>
              <a:ext uri="{FF2B5EF4-FFF2-40B4-BE49-F238E27FC236}">
                <a16:creationId xmlns:a16="http://schemas.microsoft.com/office/drawing/2014/main" id="{A174C37D-8A18-434E-873B-38FBA9E7BABB}"/>
              </a:ext>
            </a:extLst>
          </p:cNvPr>
          <p:cNvSpPr txBox="1"/>
          <p:nvPr/>
        </p:nvSpPr>
        <p:spPr>
          <a:xfrm>
            <a:off x="8889573" y="3184838"/>
            <a:ext cx="2507683" cy="497957"/>
          </a:xfrm>
          <a:prstGeom prst="rect">
            <a:avLst/>
          </a:prstGeom>
          <a:noFill/>
        </p:spPr>
        <p:txBody>
          <a:bodyPr wrap="square" rtlCol="0">
            <a:spAutoFit/>
          </a:bodyPr>
          <a:lstStyle/>
          <a:p>
            <a:pPr algn="r"/>
            <a:r>
              <a:rPr lang="en-US" sz="2636" dirty="0">
                <a:solidFill>
                  <a:schemeClr val="tx2"/>
                </a:solidFill>
              </a:rPr>
              <a:t>euphoric</a:t>
            </a:r>
          </a:p>
        </p:txBody>
      </p:sp>
      <p:cxnSp>
        <p:nvCxnSpPr>
          <p:cNvPr id="4" name="Straight Arrow Connector 3"/>
          <p:cNvCxnSpPr/>
          <p:nvPr/>
        </p:nvCxnSpPr>
        <p:spPr>
          <a:xfrm>
            <a:off x="609600" y="5190312"/>
            <a:ext cx="10972800" cy="0"/>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CFAA4EA2-C85E-C346-9E6E-A19BDB693D50}"/>
              </a:ext>
            </a:extLst>
          </p:cNvPr>
          <p:cNvSpPr txBox="1"/>
          <p:nvPr/>
        </p:nvSpPr>
        <p:spPr>
          <a:xfrm>
            <a:off x="140547" y="3577966"/>
            <a:ext cx="2507683" cy="497957"/>
          </a:xfrm>
          <a:prstGeom prst="rect">
            <a:avLst/>
          </a:prstGeom>
          <a:noFill/>
        </p:spPr>
        <p:txBody>
          <a:bodyPr wrap="square" rtlCol="0">
            <a:spAutoFit/>
          </a:bodyPr>
          <a:lstStyle/>
          <a:p>
            <a:pPr algn="r"/>
            <a:r>
              <a:rPr lang="en-US" sz="2636" dirty="0">
                <a:solidFill>
                  <a:schemeClr val="tx2"/>
                </a:solidFill>
              </a:rPr>
              <a:t>sad</a:t>
            </a:r>
          </a:p>
        </p:txBody>
      </p:sp>
      <p:sp>
        <p:nvSpPr>
          <p:cNvPr id="31" name="TextBox 30">
            <a:extLst>
              <a:ext uri="{FF2B5EF4-FFF2-40B4-BE49-F238E27FC236}">
                <a16:creationId xmlns:a16="http://schemas.microsoft.com/office/drawing/2014/main" id="{285C59C3-0EA7-354E-A742-DF89E8770A40}"/>
              </a:ext>
            </a:extLst>
          </p:cNvPr>
          <p:cNvSpPr txBox="1"/>
          <p:nvPr/>
        </p:nvSpPr>
        <p:spPr>
          <a:xfrm>
            <a:off x="2501369" y="3464302"/>
            <a:ext cx="2507683" cy="497957"/>
          </a:xfrm>
          <a:prstGeom prst="rect">
            <a:avLst/>
          </a:prstGeom>
          <a:noFill/>
        </p:spPr>
        <p:txBody>
          <a:bodyPr wrap="square" rtlCol="0">
            <a:spAutoFit/>
          </a:bodyPr>
          <a:lstStyle/>
          <a:p>
            <a:pPr algn="r"/>
            <a:r>
              <a:rPr lang="en-US" sz="2636" dirty="0">
                <a:solidFill>
                  <a:schemeClr val="tx2"/>
                </a:solidFill>
              </a:rPr>
              <a:t>unhappy</a:t>
            </a:r>
          </a:p>
        </p:txBody>
      </p:sp>
      <p:sp>
        <p:nvSpPr>
          <p:cNvPr id="32" name="TextBox 31">
            <a:extLst>
              <a:ext uri="{FF2B5EF4-FFF2-40B4-BE49-F238E27FC236}">
                <a16:creationId xmlns:a16="http://schemas.microsoft.com/office/drawing/2014/main" id="{DB167BFA-74D5-5844-A8A1-FD03EB76CF86}"/>
              </a:ext>
            </a:extLst>
          </p:cNvPr>
          <p:cNvSpPr txBox="1"/>
          <p:nvPr/>
        </p:nvSpPr>
        <p:spPr>
          <a:xfrm>
            <a:off x="1633771" y="3132037"/>
            <a:ext cx="2507683" cy="497957"/>
          </a:xfrm>
          <a:prstGeom prst="rect">
            <a:avLst/>
          </a:prstGeom>
          <a:noFill/>
        </p:spPr>
        <p:txBody>
          <a:bodyPr wrap="square" rtlCol="0">
            <a:spAutoFit/>
          </a:bodyPr>
          <a:lstStyle/>
          <a:p>
            <a:pPr algn="r"/>
            <a:r>
              <a:rPr lang="en-US" sz="2636" dirty="0">
                <a:solidFill>
                  <a:schemeClr val="tx2"/>
                </a:solidFill>
              </a:rPr>
              <a:t>melancholy</a:t>
            </a:r>
          </a:p>
        </p:txBody>
      </p:sp>
      <p:sp>
        <p:nvSpPr>
          <p:cNvPr id="33" name="TextBox 32">
            <a:extLst>
              <a:ext uri="{FF2B5EF4-FFF2-40B4-BE49-F238E27FC236}">
                <a16:creationId xmlns:a16="http://schemas.microsoft.com/office/drawing/2014/main" id="{1476BE74-3A95-BF4F-96B6-84E98BB0F0EE}"/>
              </a:ext>
            </a:extLst>
          </p:cNvPr>
          <p:cNvSpPr txBox="1"/>
          <p:nvPr/>
        </p:nvSpPr>
        <p:spPr>
          <a:xfrm>
            <a:off x="754280" y="4322722"/>
            <a:ext cx="2507683" cy="497957"/>
          </a:xfrm>
          <a:prstGeom prst="rect">
            <a:avLst/>
          </a:prstGeom>
          <a:noFill/>
        </p:spPr>
        <p:txBody>
          <a:bodyPr wrap="square" rtlCol="0">
            <a:spAutoFit/>
          </a:bodyPr>
          <a:lstStyle/>
          <a:p>
            <a:pPr algn="r"/>
            <a:r>
              <a:rPr lang="en-US" sz="2636" dirty="0">
                <a:solidFill>
                  <a:schemeClr val="tx2"/>
                </a:solidFill>
              </a:rPr>
              <a:t>depressed</a:t>
            </a:r>
          </a:p>
        </p:txBody>
      </p:sp>
      <p:sp>
        <p:nvSpPr>
          <p:cNvPr id="34" name="TextBox 33">
            <a:extLst>
              <a:ext uri="{FF2B5EF4-FFF2-40B4-BE49-F238E27FC236}">
                <a16:creationId xmlns:a16="http://schemas.microsoft.com/office/drawing/2014/main" id="{FDE39DBB-115B-9C4B-8938-2C0B7E94FBE3}"/>
              </a:ext>
            </a:extLst>
          </p:cNvPr>
          <p:cNvSpPr txBox="1"/>
          <p:nvPr/>
        </p:nvSpPr>
        <p:spPr>
          <a:xfrm>
            <a:off x="2778157" y="2628602"/>
            <a:ext cx="2507683" cy="497957"/>
          </a:xfrm>
          <a:prstGeom prst="rect">
            <a:avLst/>
          </a:prstGeom>
          <a:noFill/>
        </p:spPr>
        <p:txBody>
          <a:bodyPr wrap="square" rtlCol="0">
            <a:spAutoFit/>
          </a:bodyPr>
          <a:lstStyle/>
          <a:p>
            <a:pPr algn="r"/>
            <a:r>
              <a:rPr lang="en-US" sz="2636" dirty="0">
                <a:solidFill>
                  <a:schemeClr val="tx2"/>
                </a:solidFill>
              </a:rPr>
              <a:t>upset</a:t>
            </a:r>
          </a:p>
        </p:txBody>
      </p:sp>
      <p:sp>
        <p:nvSpPr>
          <p:cNvPr id="35" name="TextBox 34">
            <a:extLst>
              <a:ext uri="{FF2B5EF4-FFF2-40B4-BE49-F238E27FC236}">
                <a16:creationId xmlns:a16="http://schemas.microsoft.com/office/drawing/2014/main" id="{8A3FD563-9A1F-A64D-8148-B7A71BB2FECB}"/>
              </a:ext>
            </a:extLst>
          </p:cNvPr>
          <p:cNvSpPr txBox="1"/>
          <p:nvPr/>
        </p:nvSpPr>
        <p:spPr>
          <a:xfrm>
            <a:off x="3023531" y="4338886"/>
            <a:ext cx="2507683" cy="497957"/>
          </a:xfrm>
          <a:prstGeom prst="rect">
            <a:avLst/>
          </a:prstGeom>
          <a:noFill/>
        </p:spPr>
        <p:txBody>
          <a:bodyPr wrap="square" rtlCol="0">
            <a:spAutoFit/>
          </a:bodyPr>
          <a:lstStyle/>
          <a:p>
            <a:pPr algn="r"/>
            <a:r>
              <a:rPr lang="en-US" sz="2636" dirty="0">
                <a:solidFill>
                  <a:schemeClr val="tx2"/>
                </a:solidFill>
              </a:rPr>
              <a:t>down</a:t>
            </a:r>
          </a:p>
        </p:txBody>
      </p:sp>
      <p:sp>
        <p:nvSpPr>
          <p:cNvPr id="36" name="TextBox 35">
            <a:extLst>
              <a:ext uri="{FF2B5EF4-FFF2-40B4-BE49-F238E27FC236}">
                <a16:creationId xmlns:a16="http://schemas.microsoft.com/office/drawing/2014/main" id="{BCA77DE0-EF75-8644-84F9-639D3A6A3238}"/>
              </a:ext>
            </a:extLst>
          </p:cNvPr>
          <p:cNvSpPr txBox="1"/>
          <p:nvPr/>
        </p:nvSpPr>
        <p:spPr>
          <a:xfrm>
            <a:off x="272965" y="2700846"/>
            <a:ext cx="2507683" cy="497957"/>
          </a:xfrm>
          <a:prstGeom prst="rect">
            <a:avLst/>
          </a:prstGeom>
          <a:noFill/>
        </p:spPr>
        <p:txBody>
          <a:bodyPr wrap="square" rtlCol="0">
            <a:spAutoFit/>
          </a:bodyPr>
          <a:lstStyle/>
          <a:p>
            <a:pPr algn="r"/>
            <a:r>
              <a:rPr lang="en-US" sz="2636" dirty="0">
                <a:solidFill>
                  <a:schemeClr val="tx2"/>
                </a:solidFill>
              </a:rPr>
              <a:t>miserable</a:t>
            </a:r>
          </a:p>
        </p:txBody>
      </p:sp>
      <p:sp>
        <p:nvSpPr>
          <p:cNvPr id="37" name="TextBox 36">
            <a:extLst>
              <a:ext uri="{FF2B5EF4-FFF2-40B4-BE49-F238E27FC236}">
                <a16:creationId xmlns:a16="http://schemas.microsoft.com/office/drawing/2014/main" id="{E5367CAA-9E04-A64F-AC63-39365E080CA4}"/>
              </a:ext>
            </a:extLst>
          </p:cNvPr>
          <p:cNvSpPr txBox="1"/>
          <p:nvPr/>
        </p:nvSpPr>
        <p:spPr>
          <a:xfrm>
            <a:off x="1590857" y="4006619"/>
            <a:ext cx="2507683" cy="497957"/>
          </a:xfrm>
          <a:prstGeom prst="rect">
            <a:avLst/>
          </a:prstGeom>
          <a:noFill/>
        </p:spPr>
        <p:txBody>
          <a:bodyPr wrap="square" rtlCol="0">
            <a:spAutoFit/>
          </a:bodyPr>
          <a:lstStyle/>
          <a:p>
            <a:pPr algn="r"/>
            <a:r>
              <a:rPr lang="en-US" sz="2636" dirty="0">
                <a:solidFill>
                  <a:schemeClr val="tx2"/>
                </a:solidFill>
              </a:rPr>
              <a:t>sorrowful</a:t>
            </a:r>
          </a:p>
        </p:txBody>
      </p:sp>
      <p:sp>
        <p:nvSpPr>
          <p:cNvPr id="38" name="TextBox 37">
            <a:extLst>
              <a:ext uri="{FF2B5EF4-FFF2-40B4-BE49-F238E27FC236}">
                <a16:creationId xmlns:a16="http://schemas.microsoft.com/office/drawing/2014/main" id="{55C64BFC-4045-174C-A9BB-6A0E9A9F35EF}"/>
              </a:ext>
            </a:extLst>
          </p:cNvPr>
          <p:cNvSpPr txBox="1"/>
          <p:nvPr/>
        </p:nvSpPr>
        <p:spPr>
          <a:xfrm>
            <a:off x="1959130" y="5783142"/>
            <a:ext cx="8273740" cy="497957"/>
          </a:xfrm>
          <a:prstGeom prst="rect">
            <a:avLst/>
          </a:prstGeom>
          <a:noFill/>
        </p:spPr>
        <p:txBody>
          <a:bodyPr wrap="none" rtlCol="0">
            <a:spAutoFit/>
          </a:bodyPr>
          <a:lstStyle/>
          <a:p>
            <a:r>
              <a:rPr lang="en-US" sz="2636" dirty="0"/>
              <a:t>Numeric value indicating whether the word is happy or sad</a:t>
            </a:r>
          </a:p>
        </p:txBody>
      </p:sp>
      <p:sp>
        <p:nvSpPr>
          <p:cNvPr id="39" name="TextBox 38">
            <a:extLst>
              <a:ext uri="{FF2B5EF4-FFF2-40B4-BE49-F238E27FC236}">
                <a16:creationId xmlns:a16="http://schemas.microsoft.com/office/drawing/2014/main" id="{1B79F810-A784-9A47-9BA3-F53DCDD5C22C}"/>
              </a:ext>
            </a:extLst>
          </p:cNvPr>
          <p:cNvSpPr txBox="1"/>
          <p:nvPr/>
        </p:nvSpPr>
        <p:spPr>
          <a:xfrm>
            <a:off x="542568" y="5321476"/>
            <a:ext cx="1354858" cy="461665"/>
          </a:xfrm>
          <a:prstGeom prst="rect">
            <a:avLst/>
          </a:prstGeom>
          <a:noFill/>
        </p:spPr>
        <p:txBody>
          <a:bodyPr wrap="none" rtlCol="0">
            <a:spAutoFit/>
          </a:bodyPr>
          <a:lstStyle/>
          <a:p>
            <a:r>
              <a:rPr lang="en-US" sz="2400" dirty="0"/>
              <a:t>&lt;- sadder</a:t>
            </a:r>
          </a:p>
        </p:txBody>
      </p:sp>
      <p:sp>
        <p:nvSpPr>
          <p:cNvPr id="40" name="TextBox 39">
            <a:extLst>
              <a:ext uri="{FF2B5EF4-FFF2-40B4-BE49-F238E27FC236}">
                <a16:creationId xmlns:a16="http://schemas.microsoft.com/office/drawing/2014/main" id="{7F938FA2-06B0-344D-8D8E-95AFC96F9A3E}"/>
              </a:ext>
            </a:extLst>
          </p:cNvPr>
          <p:cNvSpPr txBox="1"/>
          <p:nvPr/>
        </p:nvSpPr>
        <p:spPr>
          <a:xfrm>
            <a:off x="10225337" y="5321476"/>
            <a:ext cx="1467068" cy="461665"/>
          </a:xfrm>
          <a:prstGeom prst="rect">
            <a:avLst/>
          </a:prstGeom>
          <a:noFill/>
        </p:spPr>
        <p:txBody>
          <a:bodyPr wrap="none" rtlCol="0">
            <a:spAutoFit/>
          </a:bodyPr>
          <a:lstStyle/>
          <a:p>
            <a:r>
              <a:rPr lang="en-US" sz="2400" dirty="0"/>
              <a:t>happier -&gt;</a:t>
            </a:r>
          </a:p>
        </p:txBody>
      </p:sp>
    </p:spTree>
    <p:extLst>
      <p:ext uri="{BB962C8B-B14F-4D97-AF65-F5344CB8AC3E}">
        <p14:creationId xmlns:p14="http://schemas.microsoft.com/office/powerpoint/2010/main" val="3173323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3648" y="2133606"/>
            <a:ext cx="2989528" cy="481429"/>
          </a:xfrm>
        </p:spPr>
        <p:style>
          <a:lnRef idx="1">
            <a:schemeClr val="accent1"/>
          </a:lnRef>
          <a:fillRef idx="2">
            <a:schemeClr val="accent1"/>
          </a:fillRef>
          <a:effectRef idx="1">
            <a:schemeClr val="accent1"/>
          </a:effectRef>
          <a:fontRef idx="minor">
            <a:schemeClr val="dk1"/>
          </a:fontRef>
        </p:style>
        <p:txBody>
          <a:bodyPr/>
          <a:lstStyle/>
          <a:p>
            <a:r>
              <a:rPr lang="en-US" sz="2133" dirty="0"/>
              <a:t>Grocery List</a:t>
            </a:r>
          </a:p>
        </p:txBody>
      </p:sp>
      <p:sp>
        <p:nvSpPr>
          <p:cNvPr id="3" name="Content Placeholder 2"/>
          <p:cNvSpPr>
            <a:spLocks noGrp="1"/>
          </p:cNvSpPr>
          <p:nvPr>
            <p:ph idx="1"/>
          </p:nvPr>
        </p:nvSpPr>
        <p:spPr>
          <a:xfrm>
            <a:off x="7633648" y="2615036"/>
            <a:ext cx="2989528" cy="2871369"/>
          </a:xfrm>
          <a:ln>
            <a:solidFill>
              <a:schemeClr val="tx1"/>
            </a:solidFill>
          </a:ln>
        </p:spPr>
        <p:txBody>
          <a:bodyPr lIns="548640" tIns="457200" numCol="1">
            <a:normAutofit/>
          </a:bodyPr>
          <a:lstStyle/>
          <a:p>
            <a:pPr>
              <a:buFont typeface="Wingdings" pitchFamily="2" charset="2"/>
              <a:buChar char="q"/>
            </a:pPr>
            <a:r>
              <a:rPr lang="en-US" sz="1600" dirty="0"/>
              <a:t>granulated sugar</a:t>
            </a:r>
          </a:p>
          <a:p>
            <a:pPr>
              <a:buFont typeface="Wingdings" pitchFamily="2" charset="2"/>
              <a:buChar char="q"/>
            </a:pPr>
            <a:r>
              <a:rPr lang="en-US" sz="1600" dirty="0"/>
              <a:t>vanilla extract</a:t>
            </a:r>
          </a:p>
          <a:p>
            <a:pPr>
              <a:buFont typeface="Wingdings" pitchFamily="2" charset="2"/>
              <a:buChar char="q"/>
            </a:pPr>
            <a:r>
              <a:rPr lang="en-US" sz="1600" dirty="0"/>
              <a:t>dark brown sugar</a:t>
            </a:r>
          </a:p>
          <a:p>
            <a:pPr>
              <a:buFont typeface="Wingdings" pitchFamily="2" charset="2"/>
              <a:buChar char="q"/>
            </a:pPr>
            <a:r>
              <a:rPr lang="en-US" sz="1600" dirty="0"/>
              <a:t>carrots</a:t>
            </a:r>
          </a:p>
          <a:p>
            <a:pPr>
              <a:buFont typeface="Wingdings" pitchFamily="2" charset="2"/>
              <a:buChar char="q"/>
            </a:pPr>
            <a:r>
              <a:rPr lang="en-US" sz="1600" dirty="0"/>
              <a:t>table salt</a:t>
            </a:r>
          </a:p>
          <a:p>
            <a:pPr>
              <a:buFont typeface="Wingdings" pitchFamily="2" charset="2"/>
              <a:buChar char="q"/>
            </a:pPr>
            <a:r>
              <a:rPr lang="en-US" sz="1600" dirty="0"/>
              <a:t>eggs</a:t>
            </a:r>
          </a:p>
        </p:txBody>
      </p:sp>
      <p:pic>
        <p:nvPicPr>
          <p:cNvPr id="11" name="Picture 10">
            <a:extLst>
              <a:ext uri="{FF2B5EF4-FFF2-40B4-BE49-F238E27FC236}">
                <a16:creationId xmlns:a16="http://schemas.microsoft.com/office/drawing/2014/main" id="{14784718-4162-F2A9-60A4-4F4F7E719371}"/>
              </a:ext>
            </a:extLst>
          </p:cNvPr>
          <p:cNvPicPr>
            <a:picLocks noChangeAspect="1"/>
          </p:cNvPicPr>
          <p:nvPr/>
        </p:nvPicPr>
        <p:blipFill>
          <a:blip r:embed="rId3" r:link="rId4" cstate="screen">
            <a:extLst>
              <a:ext uri="{28A0092B-C50C-407E-A947-70E740481C1C}">
                <a14:useLocalDpi xmlns:a14="http://schemas.microsoft.com/office/drawing/2010/main"/>
              </a:ext>
            </a:extLst>
          </a:blip>
          <a:stretch>
            <a:fillRect/>
          </a:stretch>
        </p:blipFill>
        <p:spPr>
          <a:xfrm>
            <a:off x="793973" y="2433062"/>
            <a:ext cx="5302027" cy="3031791"/>
          </a:xfrm>
          <a:prstGeom prst="rect">
            <a:avLst/>
          </a:prstGeom>
          <a:effectLst/>
        </p:spPr>
      </p:pic>
      <p:sp>
        <p:nvSpPr>
          <p:cNvPr id="12" name="TextBox 11">
            <a:extLst>
              <a:ext uri="{FF2B5EF4-FFF2-40B4-BE49-F238E27FC236}">
                <a16:creationId xmlns:a16="http://schemas.microsoft.com/office/drawing/2014/main" id="{5D35D2C7-9C34-DCF6-5034-B976E4042C54}"/>
              </a:ext>
            </a:extLst>
          </p:cNvPr>
          <p:cNvSpPr txBox="1"/>
          <p:nvPr/>
        </p:nvSpPr>
        <p:spPr>
          <a:xfrm>
            <a:off x="1571396" y="5599570"/>
            <a:ext cx="3672352" cy="318100"/>
          </a:xfrm>
          <a:prstGeom prst="rect">
            <a:avLst/>
          </a:prstGeom>
          <a:noFill/>
        </p:spPr>
        <p:txBody>
          <a:bodyPr wrap="none" rtlCol="0">
            <a:spAutoFit/>
          </a:bodyPr>
          <a:lstStyle/>
          <a:p>
            <a:r>
              <a:rPr lang="en-US" sz="1467" dirty="0"/>
              <a:t>Example from Anand Chowdhury, </a:t>
            </a:r>
            <a:r>
              <a:rPr lang="en-US" sz="1467" dirty="0" err="1"/>
              <a:t>MMCi</a:t>
            </a:r>
            <a:r>
              <a:rPr lang="en-US" sz="1467" dirty="0"/>
              <a:t> 2019</a:t>
            </a:r>
          </a:p>
        </p:txBody>
      </p:sp>
      <p:sp>
        <p:nvSpPr>
          <p:cNvPr id="13" name="Title 1">
            <a:extLst>
              <a:ext uri="{FF2B5EF4-FFF2-40B4-BE49-F238E27FC236}">
                <a16:creationId xmlns:a16="http://schemas.microsoft.com/office/drawing/2014/main" id="{0A5B7E91-49ED-0975-3355-6F22E86117C3}"/>
              </a:ext>
            </a:extLst>
          </p:cNvPr>
          <p:cNvSpPr txBox="1">
            <a:spLocks/>
          </p:cNvSpPr>
          <p:nvPr/>
        </p:nvSpPr>
        <p:spPr>
          <a:xfrm>
            <a:off x="609600" y="165457"/>
            <a:ext cx="10972800" cy="114300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400"/>
              <a:t>Training a robot to buy groceries</a:t>
            </a:r>
            <a:endParaRPr lang="en-US" sz="4400" dirty="0"/>
          </a:p>
        </p:txBody>
      </p:sp>
    </p:spTree>
    <p:extLst>
      <p:ext uri="{BB962C8B-B14F-4D97-AF65-F5344CB8AC3E}">
        <p14:creationId xmlns:p14="http://schemas.microsoft.com/office/powerpoint/2010/main" val="2937009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items by their attributes</a:t>
            </a:r>
            <a:br>
              <a:rPr lang="en-US" dirty="0"/>
            </a:br>
            <a:r>
              <a:rPr lang="en-US" sz="3200" dirty="0"/>
              <a:t>(including previously unseen items)</a:t>
            </a:r>
            <a:endParaRPr lang="en-US" dirty="0"/>
          </a:p>
        </p:txBody>
      </p:sp>
      <p:graphicFrame>
        <p:nvGraphicFramePr>
          <p:cNvPr id="5" name="Table 4"/>
          <p:cNvGraphicFramePr>
            <a:graphicFrameLocks noGrp="1"/>
          </p:cNvGraphicFramePr>
          <p:nvPr/>
        </p:nvGraphicFramePr>
        <p:xfrm>
          <a:off x="838201" y="2432774"/>
          <a:ext cx="4021794" cy="2626860"/>
        </p:xfrm>
        <a:graphic>
          <a:graphicData uri="http://schemas.openxmlformats.org/drawingml/2006/table">
            <a:tbl>
              <a:tblPr firstRow="1" bandRow="1">
                <a:tableStyleId>{5C22544A-7EE6-4342-B048-85BDC9FD1C3A}</a:tableStyleId>
              </a:tblPr>
              <a:tblGrid>
                <a:gridCol w="1159275">
                  <a:extLst>
                    <a:ext uri="{9D8B030D-6E8A-4147-A177-3AD203B41FA5}">
                      <a16:colId xmlns:a16="http://schemas.microsoft.com/office/drawing/2014/main" val="3653376953"/>
                    </a:ext>
                  </a:extLst>
                </a:gridCol>
                <a:gridCol w="1061075">
                  <a:extLst>
                    <a:ext uri="{9D8B030D-6E8A-4147-A177-3AD203B41FA5}">
                      <a16:colId xmlns:a16="http://schemas.microsoft.com/office/drawing/2014/main" val="4122058366"/>
                    </a:ext>
                  </a:extLst>
                </a:gridCol>
                <a:gridCol w="1801444">
                  <a:extLst>
                    <a:ext uri="{9D8B030D-6E8A-4147-A177-3AD203B41FA5}">
                      <a16:colId xmlns:a16="http://schemas.microsoft.com/office/drawing/2014/main" val="4069419051"/>
                    </a:ext>
                  </a:extLst>
                </a:gridCol>
              </a:tblGrid>
              <a:tr h="402237">
                <a:tc>
                  <a:txBody>
                    <a:bodyPr/>
                    <a:lstStyle/>
                    <a:p>
                      <a:r>
                        <a:rPr lang="en-US" sz="1300" dirty="0"/>
                        <a:t>Dimension</a:t>
                      </a:r>
                    </a:p>
                  </a:txBody>
                  <a:tcPr/>
                </a:tc>
                <a:tc>
                  <a:txBody>
                    <a:bodyPr/>
                    <a:lstStyle/>
                    <a:p>
                      <a:r>
                        <a:rPr lang="en-US" sz="1300" dirty="0"/>
                        <a:t>1</a:t>
                      </a:r>
                    </a:p>
                  </a:txBody>
                  <a:tcPr/>
                </a:tc>
                <a:tc>
                  <a:txBody>
                    <a:bodyPr/>
                    <a:lstStyle/>
                    <a:p>
                      <a:r>
                        <a:rPr lang="en-US" sz="1300" dirty="0"/>
                        <a:t>10</a:t>
                      </a:r>
                    </a:p>
                  </a:txBody>
                  <a:tcPr/>
                </a:tc>
                <a:extLst>
                  <a:ext uri="{0D108BD9-81ED-4DB2-BD59-A6C34878D82A}">
                    <a16:rowId xmlns:a16="http://schemas.microsoft.com/office/drawing/2014/main" val="440159440"/>
                  </a:ext>
                </a:extLst>
              </a:tr>
              <a:tr h="402237">
                <a:tc>
                  <a:txBody>
                    <a:bodyPr/>
                    <a:lstStyle/>
                    <a:p>
                      <a:r>
                        <a:rPr lang="en-US" sz="1300" dirty="0"/>
                        <a:t>State</a:t>
                      </a:r>
                    </a:p>
                  </a:txBody>
                  <a:tcPr/>
                </a:tc>
                <a:tc>
                  <a:txBody>
                    <a:bodyPr/>
                    <a:lstStyle/>
                    <a:p>
                      <a:r>
                        <a:rPr lang="en-US" sz="1300" dirty="0"/>
                        <a:t>Liquid</a:t>
                      </a:r>
                    </a:p>
                  </a:txBody>
                  <a:tcPr/>
                </a:tc>
                <a:tc>
                  <a:txBody>
                    <a:bodyPr/>
                    <a:lstStyle/>
                    <a:p>
                      <a:r>
                        <a:rPr lang="en-US" sz="1300" dirty="0"/>
                        <a:t>Solid</a:t>
                      </a:r>
                    </a:p>
                  </a:txBody>
                  <a:tcPr/>
                </a:tc>
                <a:extLst>
                  <a:ext uri="{0D108BD9-81ED-4DB2-BD59-A6C34878D82A}">
                    <a16:rowId xmlns:a16="http://schemas.microsoft.com/office/drawing/2014/main" val="3135632019"/>
                  </a:ext>
                </a:extLst>
              </a:tr>
              <a:tr h="402237">
                <a:tc>
                  <a:txBody>
                    <a:bodyPr/>
                    <a:lstStyle/>
                    <a:p>
                      <a:r>
                        <a:rPr lang="en-US" sz="1300" dirty="0"/>
                        <a:t>Sweetness</a:t>
                      </a:r>
                    </a:p>
                  </a:txBody>
                  <a:tcPr/>
                </a:tc>
                <a:tc>
                  <a:txBody>
                    <a:bodyPr/>
                    <a:lstStyle/>
                    <a:p>
                      <a:r>
                        <a:rPr lang="en-US" sz="1300" dirty="0"/>
                        <a:t>Bland</a:t>
                      </a:r>
                    </a:p>
                  </a:txBody>
                  <a:tcPr/>
                </a:tc>
                <a:tc>
                  <a:txBody>
                    <a:bodyPr/>
                    <a:lstStyle/>
                    <a:p>
                      <a:r>
                        <a:rPr lang="en-US" sz="1300" dirty="0"/>
                        <a:t>Sweet</a:t>
                      </a:r>
                    </a:p>
                  </a:txBody>
                  <a:tcPr/>
                </a:tc>
                <a:extLst>
                  <a:ext uri="{0D108BD9-81ED-4DB2-BD59-A6C34878D82A}">
                    <a16:rowId xmlns:a16="http://schemas.microsoft.com/office/drawing/2014/main" val="3282743723"/>
                  </a:ext>
                </a:extLst>
              </a:tr>
              <a:tr h="402237">
                <a:tc>
                  <a:txBody>
                    <a:bodyPr/>
                    <a:lstStyle/>
                    <a:p>
                      <a:r>
                        <a:rPr lang="en-US" sz="1300" dirty="0"/>
                        <a:t>Color</a:t>
                      </a:r>
                    </a:p>
                  </a:txBody>
                  <a:tcPr/>
                </a:tc>
                <a:tc>
                  <a:txBody>
                    <a:bodyPr/>
                    <a:lstStyle/>
                    <a:p>
                      <a:r>
                        <a:rPr lang="en-US" sz="1300" dirty="0"/>
                        <a:t>Light</a:t>
                      </a:r>
                    </a:p>
                  </a:txBody>
                  <a:tcPr/>
                </a:tc>
                <a:tc>
                  <a:txBody>
                    <a:bodyPr/>
                    <a:lstStyle/>
                    <a:p>
                      <a:r>
                        <a:rPr lang="en-US" sz="1300" dirty="0"/>
                        <a:t>Dark</a:t>
                      </a:r>
                    </a:p>
                  </a:txBody>
                  <a:tcPr/>
                </a:tc>
                <a:extLst>
                  <a:ext uri="{0D108BD9-81ED-4DB2-BD59-A6C34878D82A}">
                    <a16:rowId xmlns:a16="http://schemas.microsoft.com/office/drawing/2014/main" val="3011567883"/>
                  </a:ext>
                </a:extLst>
              </a:tr>
              <a:tr h="402237">
                <a:tc>
                  <a:txBody>
                    <a:bodyPr/>
                    <a:lstStyle/>
                    <a:p>
                      <a:r>
                        <a:rPr lang="en-US" sz="1300" dirty="0"/>
                        <a:t>Size</a:t>
                      </a:r>
                    </a:p>
                  </a:txBody>
                  <a:tcPr/>
                </a:tc>
                <a:tc>
                  <a:txBody>
                    <a:bodyPr/>
                    <a:lstStyle/>
                    <a:p>
                      <a:r>
                        <a:rPr lang="en-US" sz="1300" dirty="0"/>
                        <a:t>Small</a:t>
                      </a:r>
                    </a:p>
                  </a:txBody>
                  <a:tcPr/>
                </a:tc>
                <a:tc>
                  <a:txBody>
                    <a:bodyPr/>
                    <a:lstStyle/>
                    <a:p>
                      <a:r>
                        <a:rPr lang="en-US" sz="1300" dirty="0"/>
                        <a:t>Large</a:t>
                      </a:r>
                    </a:p>
                  </a:txBody>
                  <a:tcPr/>
                </a:tc>
                <a:extLst>
                  <a:ext uri="{0D108BD9-81ED-4DB2-BD59-A6C34878D82A}">
                    <a16:rowId xmlns:a16="http://schemas.microsoft.com/office/drawing/2014/main" val="470422314"/>
                  </a:ext>
                </a:extLst>
              </a:tr>
              <a:tr h="615675">
                <a:tc>
                  <a:txBody>
                    <a:bodyPr/>
                    <a:lstStyle/>
                    <a:p>
                      <a:r>
                        <a:rPr lang="en-US" sz="1300" dirty="0"/>
                        <a:t>Carrotness</a:t>
                      </a:r>
                    </a:p>
                  </a:txBody>
                  <a:tcPr/>
                </a:tc>
                <a:tc>
                  <a:txBody>
                    <a:bodyPr/>
                    <a:lstStyle/>
                    <a:p>
                      <a:r>
                        <a:rPr lang="en-US" sz="1300" dirty="0"/>
                        <a:t>Not really</a:t>
                      </a:r>
                    </a:p>
                  </a:txBody>
                  <a:tcPr/>
                </a:tc>
                <a:tc>
                  <a:txBody>
                    <a:bodyPr/>
                    <a:lstStyle/>
                    <a:p>
                      <a:r>
                        <a:rPr lang="en-US" sz="1300" dirty="0"/>
                        <a:t>Platonic essence of carrot</a:t>
                      </a:r>
                    </a:p>
                  </a:txBody>
                  <a:tcPr/>
                </a:tc>
                <a:extLst>
                  <a:ext uri="{0D108BD9-81ED-4DB2-BD59-A6C34878D82A}">
                    <a16:rowId xmlns:a16="http://schemas.microsoft.com/office/drawing/2014/main" val="207010204"/>
                  </a:ext>
                </a:extLst>
              </a:tr>
            </a:tbl>
          </a:graphicData>
        </a:graphic>
      </p:graphicFrame>
      <p:pic>
        <p:nvPicPr>
          <p:cNvPr id="6" name="Content Placeholder 3">
            <a:extLst>
              <a:ext uri="{FF2B5EF4-FFF2-40B4-BE49-F238E27FC236}">
                <a16:creationId xmlns:a16="http://schemas.microsoft.com/office/drawing/2014/main" id="{6A1322CC-C016-BC08-EE3A-FF9D9B030094}"/>
              </a:ext>
            </a:extLst>
          </p:cNvPr>
          <p:cNvPicPr>
            <a:picLocks noGrp="1" noChangeAspect="1"/>
          </p:cNvPicPr>
          <p:nvPr>
            <p:ph idx="1"/>
          </p:nvPr>
        </p:nvPicPr>
        <p:blipFill>
          <a:blip r:embed="rId2" r:link="rId3">
            <a:extLst>
              <a:ext uri="{28A0092B-C50C-407E-A947-70E740481C1C}">
                <a14:useLocalDpi xmlns:a14="http://schemas.microsoft.com/office/drawing/2010/main"/>
              </a:ext>
            </a:extLst>
          </a:blip>
          <a:stretch>
            <a:fillRect/>
          </a:stretch>
        </p:blipFill>
        <p:spPr>
          <a:xfrm>
            <a:off x="5553648" y="2426386"/>
            <a:ext cx="5800152" cy="2627335"/>
          </a:xfrm>
        </p:spPr>
      </p:pic>
    </p:spTree>
    <p:extLst>
      <p:ext uri="{BB962C8B-B14F-4D97-AF65-F5344CB8AC3E}">
        <p14:creationId xmlns:p14="http://schemas.microsoft.com/office/powerpoint/2010/main" val="387482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32A58-E845-673B-B4A3-C94E068E6CED}"/>
              </a:ext>
            </a:extLst>
          </p:cNvPr>
          <p:cNvSpPr>
            <a:spLocks noGrp="1"/>
          </p:cNvSpPr>
          <p:nvPr>
            <p:ph type="title"/>
          </p:nvPr>
        </p:nvSpPr>
        <p:spPr/>
        <p:txBody>
          <a:bodyPr/>
          <a:lstStyle/>
          <a:p>
            <a:r>
              <a:rPr lang="en-US" dirty="0"/>
              <a:t>Why does this help us?</a:t>
            </a:r>
          </a:p>
        </p:txBody>
      </p:sp>
      <p:sp>
        <p:nvSpPr>
          <p:cNvPr id="3" name="Content Placeholder 2">
            <a:extLst>
              <a:ext uri="{FF2B5EF4-FFF2-40B4-BE49-F238E27FC236}">
                <a16:creationId xmlns:a16="http://schemas.microsoft.com/office/drawing/2014/main" id="{BB02B16F-12B5-FCD0-4DC9-F5879E1326B5}"/>
              </a:ext>
            </a:extLst>
          </p:cNvPr>
          <p:cNvSpPr>
            <a:spLocks noGrp="1"/>
          </p:cNvSpPr>
          <p:nvPr>
            <p:ph idx="1"/>
          </p:nvPr>
        </p:nvSpPr>
        <p:spPr/>
        <p:txBody>
          <a:bodyPr/>
          <a:lstStyle/>
          <a:p>
            <a:r>
              <a:rPr lang="en-US" dirty="0"/>
              <a:t>The model can make sense of words it hasn’t seen before (weren’t used in training)</a:t>
            </a:r>
          </a:p>
          <a:p>
            <a:endParaRPr lang="en-US" dirty="0"/>
          </a:p>
          <a:p>
            <a:r>
              <a:rPr lang="en-US" dirty="0"/>
              <a:t>Similar words (e.g. synonyms) will have similar attributes, and therefore will have similar effect on model predictions</a:t>
            </a:r>
          </a:p>
          <a:p>
            <a:endParaRPr lang="en-US" dirty="0"/>
          </a:p>
          <a:p>
            <a:r>
              <a:rPr lang="en-US" dirty="0"/>
              <a:t>(more complicated) Now we can convert text to a sequence of vectors; and we were already very good at making predictions from sequences of vectors</a:t>
            </a:r>
          </a:p>
        </p:txBody>
      </p:sp>
    </p:spTree>
    <p:extLst>
      <p:ext uri="{BB962C8B-B14F-4D97-AF65-F5344CB8AC3E}">
        <p14:creationId xmlns:p14="http://schemas.microsoft.com/office/powerpoint/2010/main" val="189825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1A20-A3D4-9228-1C02-01F3D0F53613}"/>
              </a:ext>
            </a:extLst>
          </p:cNvPr>
          <p:cNvSpPr>
            <a:spLocks noGrp="1"/>
          </p:cNvSpPr>
          <p:nvPr>
            <p:ph type="title"/>
          </p:nvPr>
        </p:nvSpPr>
        <p:spPr/>
        <p:txBody>
          <a:bodyPr/>
          <a:lstStyle/>
          <a:p>
            <a:r>
              <a:rPr lang="en-US" dirty="0"/>
              <a:t>How do we learn word embeddings?</a:t>
            </a:r>
          </a:p>
        </p:txBody>
      </p:sp>
      <p:sp>
        <p:nvSpPr>
          <p:cNvPr id="3" name="Text Placeholder 2">
            <a:extLst>
              <a:ext uri="{FF2B5EF4-FFF2-40B4-BE49-F238E27FC236}">
                <a16:creationId xmlns:a16="http://schemas.microsoft.com/office/drawing/2014/main" id="{F1C3E6AC-9C8F-D1EE-9CF7-5F9F579ED022}"/>
              </a:ext>
            </a:extLst>
          </p:cNvPr>
          <p:cNvSpPr>
            <a:spLocks noGrp="1"/>
          </p:cNvSpPr>
          <p:nvPr>
            <p:ph type="body" idx="1"/>
          </p:nvPr>
        </p:nvSpPr>
        <p:spPr/>
        <p:txBody>
          <a:bodyPr/>
          <a:lstStyle/>
          <a:p>
            <a:r>
              <a:rPr lang="en-US" dirty="0"/>
              <a:t>Key idea: words are defined by the contexts in which they appear</a:t>
            </a:r>
          </a:p>
        </p:txBody>
      </p:sp>
    </p:spTree>
    <p:extLst>
      <p:ext uri="{BB962C8B-B14F-4D97-AF65-F5344CB8AC3E}">
        <p14:creationId xmlns:p14="http://schemas.microsoft.com/office/powerpoint/2010/main" val="2946038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2E69-5720-1C46-BD30-B879B34B6B39}"/>
              </a:ext>
            </a:extLst>
          </p:cNvPr>
          <p:cNvSpPr>
            <a:spLocks noGrp="1"/>
          </p:cNvSpPr>
          <p:nvPr>
            <p:ph type="title"/>
          </p:nvPr>
        </p:nvSpPr>
        <p:spPr>
          <a:xfrm>
            <a:off x="621168" y="376747"/>
            <a:ext cx="10058392" cy="1143000"/>
          </a:xfrm>
        </p:spPr>
        <p:txBody>
          <a:bodyPr anchor="ctr">
            <a:normAutofit/>
          </a:bodyPr>
          <a:lstStyle/>
          <a:p>
            <a:r>
              <a:rPr lang="en-US" sz="4000" dirty="0"/>
              <a:t>How do we learn these attributes?</a:t>
            </a:r>
          </a:p>
        </p:txBody>
      </p:sp>
      <p:sp>
        <p:nvSpPr>
          <p:cNvPr id="5" name="TextBox 4"/>
          <p:cNvSpPr txBox="1"/>
          <p:nvPr/>
        </p:nvSpPr>
        <p:spPr>
          <a:xfrm>
            <a:off x="621168" y="1519747"/>
            <a:ext cx="11109964" cy="584775"/>
          </a:xfrm>
          <a:prstGeom prst="rect">
            <a:avLst/>
          </a:prstGeom>
          <a:noFill/>
        </p:spPr>
        <p:txBody>
          <a:bodyPr wrap="none" rtlCol="0">
            <a:spAutoFit/>
          </a:bodyPr>
          <a:lstStyle/>
          <a:p>
            <a:r>
              <a:rPr lang="en-US" sz="3200" dirty="0">
                <a:solidFill>
                  <a:schemeClr val="accent2"/>
                </a:solidFill>
              </a:rPr>
              <a:t>KEY IDEA: words are </a:t>
            </a:r>
            <a:r>
              <a:rPr lang="en-US" sz="3200" i="1" dirty="0">
                <a:solidFill>
                  <a:schemeClr val="accent2"/>
                </a:solidFill>
              </a:rPr>
              <a:t>defined</a:t>
            </a:r>
            <a:r>
              <a:rPr lang="en-US" sz="3200" dirty="0">
                <a:solidFill>
                  <a:schemeClr val="accent2"/>
                </a:solidFill>
              </a:rPr>
              <a:t> by the </a:t>
            </a:r>
            <a:r>
              <a:rPr lang="en-US" sz="3200" u="sng" dirty="0">
                <a:solidFill>
                  <a:schemeClr val="accent2"/>
                </a:solidFill>
              </a:rPr>
              <a:t>contexts</a:t>
            </a:r>
            <a:r>
              <a:rPr lang="en-US" sz="3200" dirty="0">
                <a:solidFill>
                  <a:schemeClr val="accent2"/>
                </a:solidFill>
              </a:rPr>
              <a:t> in which they appear</a:t>
            </a:r>
          </a:p>
        </p:txBody>
      </p:sp>
      <p:sp>
        <p:nvSpPr>
          <p:cNvPr id="7" name="TextBox 6"/>
          <p:cNvSpPr txBox="1"/>
          <p:nvPr/>
        </p:nvSpPr>
        <p:spPr>
          <a:xfrm>
            <a:off x="1100400" y="2746941"/>
            <a:ext cx="3955698" cy="461665"/>
          </a:xfrm>
          <a:prstGeom prst="rect">
            <a:avLst/>
          </a:prstGeom>
          <a:noFill/>
        </p:spPr>
        <p:txBody>
          <a:bodyPr wrap="none" rtlCol="0">
            <a:spAutoFit/>
          </a:bodyPr>
          <a:lstStyle/>
          <a:p>
            <a:r>
              <a:rPr lang="en-US" sz="2400" b="1" dirty="0"/>
              <a:t>A </a:t>
            </a:r>
            <a:r>
              <a:rPr lang="en-US" sz="2400" b="1" dirty="0">
                <a:solidFill>
                  <a:schemeClr val="accent2">
                    <a:lumMod val="50000"/>
                  </a:schemeClr>
                </a:solidFill>
              </a:rPr>
              <a:t>man</a:t>
            </a:r>
            <a:r>
              <a:rPr lang="en-US" sz="2400" b="1" dirty="0"/>
              <a:t> strolls down the street</a:t>
            </a:r>
          </a:p>
        </p:txBody>
      </p:sp>
      <p:sp>
        <p:nvSpPr>
          <p:cNvPr id="9" name="TextBox 8"/>
          <p:cNvSpPr txBox="1"/>
          <p:nvPr/>
        </p:nvSpPr>
        <p:spPr>
          <a:xfrm>
            <a:off x="1100402" y="3343115"/>
            <a:ext cx="4347472" cy="461665"/>
          </a:xfrm>
          <a:prstGeom prst="rect">
            <a:avLst/>
          </a:prstGeom>
          <a:noFill/>
        </p:spPr>
        <p:txBody>
          <a:bodyPr wrap="none" rtlCol="0">
            <a:spAutoFit/>
          </a:bodyPr>
          <a:lstStyle/>
          <a:p>
            <a:r>
              <a:rPr lang="en-US" sz="2400" b="1" dirty="0"/>
              <a:t>A </a:t>
            </a:r>
            <a:r>
              <a:rPr lang="en-US" sz="2400" b="1" dirty="0">
                <a:solidFill>
                  <a:schemeClr val="accent2">
                    <a:lumMod val="50000"/>
                  </a:schemeClr>
                </a:solidFill>
              </a:rPr>
              <a:t>woman</a:t>
            </a:r>
            <a:r>
              <a:rPr lang="en-US" sz="2400" b="1" dirty="0"/>
              <a:t> strolls down the street</a:t>
            </a:r>
          </a:p>
        </p:txBody>
      </p:sp>
      <p:sp>
        <p:nvSpPr>
          <p:cNvPr id="10" name="TextBox 9"/>
          <p:cNvSpPr txBox="1"/>
          <p:nvPr/>
        </p:nvSpPr>
        <p:spPr>
          <a:xfrm>
            <a:off x="1100400" y="3939289"/>
            <a:ext cx="3997376" cy="461665"/>
          </a:xfrm>
          <a:prstGeom prst="rect">
            <a:avLst/>
          </a:prstGeom>
          <a:noFill/>
        </p:spPr>
        <p:txBody>
          <a:bodyPr wrap="none" rtlCol="0">
            <a:spAutoFit/>
          </a:bodyPr>
          <a:lstStyle/>
          <a:p>
            <a:r>
              <a:rPr lang="en-US" sz="2400" b="1" dirty="0"/>
              <a:t>A </a:t>
            </a:r>
            <a:r>
              <a:rPr lang="en-US" sz="2400" b="1" dirty="0">
                <a:solidFill>
                  <a:schemeClr val="accent2">
                    <a:lumMod val="75000"/>
                  </a:schemeClr>
                </a:solidFill>
              </a:rPr>
              <a:t>child</a:t>
            </a:r>
            <a:r>
              <a:rPr lang="en-US" sz="2400" b="1" dirty="0"/>
              <a:t> strolls down the street</a:t>
            </a:r>
          </a:p>
        </p:txBody>
      </p:sp>
      <p:sp>
        <p:nvSpPr>
          <p:cNvPr id="11" name="TextBox 10"/>
          <p:cNvSpPr txBox="1"/>
          <p:nvPr/>
        </p:nvSpPr>
        <p:spPr>
          <a:xfrm>
            <a:off x="1100400" y="4535463"/>
            <a:ext cx="4549964" cy="461665"/>
          </a:xfrm>
          <a:prstGeom prst="rect">
            <a:avLst/>
          </a:prstGeom>
          <a:noFill/>
        </p:spPr>
        <p:txBody>
          <a:bodyPr wrap="none" rtlCol="0">
            <a:spAutoFit/>
          </a:bodyPr>
          <a:lstStyle/>
          <a:p>
            <a:r>
              <a:rPr lang="en-US" sz="2400" b="1" dirty="0"/>
              <a:t>A </a:t>
            </a:r>
            <a:r>
              <a:rPr lang="en-US" sz="2400" b="1" dirty="0">
                <a:solidFill>
                  <a:schemeClr val="accent2">
                    <a:lumMod val="60000"/>
                    <a:lumOff val="40000"/>
                  </a:schemeClr>
                </a:solidFill>
              </a:rPr>
              <a:t>crocodile</a:t>
            </a:r>
            <a:r>
              <a:rPr lang="en-US" sz="2400" b="1" dirty="0">
                <a:solidFill>
                  <a:schemeClr val="accent5">
                    <a:lumMod val="60000"/>
                    <a:lumOff val="40000"/>
                  </a:schemeClr>
                </a:solidFill>
              </a:rPr>
              <a:t> </a:t>
            </a:r>
            <a:r>
              <a:rPr lang="en-US" sz="2400" b="1" dirty="0"/>
              <a:t>strolls down the street</a:t>
            </a:r>
          </a:p>
        </p:txBody>
      </p:sp>
      <p:sp>
        <p:nvSpPr>
          <p:cNvPr id="12" name="TextBox 11"/>
          <p:cNvSpPr txBox="1"/>
          <p:nvPr/>
        </p:nvSpPr>
        <p:spPr>
          <a:xfrm>
            <a:off x="1100402" y="5131637"/>
            <a:ext cx="4340419" cy="461665"/>
          </a:xfrm>
          <a:prstGeom prst="rect">
            <a:avLst/>
          </a:prstGeom>
          <a:noFill/>
        </p:spPr>
        <p:txBody>
          <a:bodyPr wrap="none" rtlCol="0">
            <a:spAutoFit/>
          </a:bodyPr>
          <a:lstStyle/>
          <a:p>
            <a:r>
              <a:rPr lang="en-US" sz="2400" b="1" dirty="0"/>
              <a:t>A </a:t>
            </a:r>
            <a:r>
              <a:rPr lang="en-US" sz="2400" b="1" dirty="0">
                <a:solidFill>
                  <a:schemeClr val="accent2">
                    <a:lumMod val="40000"/>
                    <a:lumOff val="60000"/>
                  </a:schemeClr>
                </a:solidFill>
              </a:rPr>
              <a:t>banana</a:t>
            </a:r>
            <a:r>
              <a:rPr lang="en-US" sz="2400" b="1" dirty="0">
                <a:solidFill>
                  <a:schemeClr val="accent5">
                    <a:lumMod val="60000"/>
                    <a:lumOff val="40000"/>
                  </a:schemeClr>
                </a:solidFill>
              </a:rPr>
              <a:t> </a:t>
            </a:r>
            <a:r>
              <a:rPr lang="en-US" sz="2400" b="1" dirty="0"/>
              <a:t>strolls down the street</a:t>
            </a:r>
          </a:p>
        </p:txBody>
      </p:sp>
      <p:sp>
        <p:nvSpPr>
          <p:cNvPr id="13" name="TextBox 12"/>
          <p:cNvSpPr txBox="1"/>
          <p:nvPr/>
        </p:nvSpPr>
        <p:spPr>
          <a:xfrm>
            <a:off x="1100399" y="5727811"/>
            <a:ext cx="4400244" cy="461665"/>
          </a:xfrm>
          <a:prstGeom prst="rect">
            <a:avLst/>
          </a:prstGeom>
          <a:noFill/>
        </p:spPr>
        <p:txBody>
          <a:bodyPr wrap="none" rtlCol="0">
            <a:spAutoFit/>
          </a:bodyPr>
          <a:lstStyle/>
          <a:p>
            <a:r>
              <a:rPr lang="en-US" sz="2400" b="1" dirty="0"/>
              <a:t>A </a:t>
            </a:r>
            <a:r>
              <a:rPr lang="en-US" sz="2400" b="1" dirty="0">
                <a:solidFill>
                  <a:schemeClr val="accent2">
                    <a:lumMod val="20000"/>
                    <a:lumOff val="80000"/>
                  </a:schemeClr>
                </a:solidFill>
              </a:rPr>
              <a:t>concept</a:t>
            </a:r>
            <a:r>
              <a:rPr lang="en-US" sz="2400" b="1" dirty="0">
                <a:solidFill>
                  <a:schemeClr val="accent5">
                    <a:lumMod val="60000"/>
                    <a:lumOff val="40000"/>
                  </a:schemeClr>
                </a:solidFill>
              </a:rPr>
              <a:t> </a:t>
            </a:r>
            <a:r>
              <a:rPr lang="en-US" sz="2400" b="1" dirty="0"/>
              <a:t>strolls down the street</a:t>
            </a:r>
          </a:p>
        </p:txBody>
      </p:sp>
      <p:sp>
        <p:nvSpPr>
          <p:cNvPr id="3" name="TextBox 2">
            <a:extLst>
              <a:ext uri="{FF2B5EF4-FFF2-40B4-BE49-F238E27FC236}">
                <a16:creationId xmlns:a16="http://schemas.microsoft.com/office/drawing/2014/main" id="{FE47BD00-388A-C81F-33F6-BCAD63BAD0F4}"/>
              </a:ext>
            </a:extLst>
          </p:cNvPr>
          <p:cNvSpPr txBox="1"/>
          <p:nvPr/>
        </p:nvSpPr>
        <p:spPr>
          <a:xfrm>
            <a:off x="6792009" y="3011969"/>
            <a:ext cx="4148133" cy="3046988"/>
          </a:xfrm>
          <a:prstGeom prst="rect">
            <a:avLst/>
          </a:prstGeom>
          <a:noFill/>
        </p:spPr>
        <p:txBody>
          <a:bodyPr wrap="square" rtlCol="0">
            <a:spAutoFit/>
          </a:bodyPr>
          <a:lstStyle/>
          <a:p>
            <a:r>
              <a:rPr lang="en-US" sz="2400" dirty="0"/>
              <a:t>Consider substituting one word for another.</a:t>
            </a:r>
          </a:p>
          <a:p>
            <a:endParaRPr lang="en-US" sz="2400" dirty="0"/>
          </a:p>
          <a:p>
            <a:endParaRPr lang="en-US" sz="2400" dirty="0"/>
          </a:p>
          <a:p>
            <a:r>
              <a:rPr lang="en-US" sz="2400" u="sng" dirty="0"/>
              <a:t>Claim</a:t>
            </a:r>
            <a:r>
              <a:rPr lang="en-US" sz="2400" dirty="0"/>
              <a:t>: if two words are equally likely to appear all possible contexts, then the two words mean the same thing.</a:t>
            </a:r>
          </a:p>
        </p:txBody>
      </p:sp>
      <p:sp>
        <p:nvSpPr>
          <p:cNvPr id="4" name="Rectangle 3">
            <a:extLst>
              <a:ext uri="{FF2B5EF4-FFF2-40B4-BE49-F238E27FC236}">
                <a16:creationId xmlns:a16="http://schemas.microsoft.com/office/drawing/2014/main" id="{20116D29-BA29-8549-5D18-382B99D7560C}"/>
              </a:ext>
            </a:extLst>
          </p:cNvPr>
          <p:cNvSpPr/>
          <p:nvPr/>
        </p:nvSpPr>
        <p:spPr>
          <a:xfrm>
            <a:off x="900221" y="2625020"/>
            <a:ext cx="4847436" cy="374312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2128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36668" y="1071837"/>
            <a:ext cx="10949664" cy="584775"/>
          </a:xfrm>
          <a:prstGeom prst="rect">
            <a:avLst/>
          </a:prstGeom>
          <a:noFill/>
        </p:spPr>
        <p:txBody>
          <a:bodyPr wrap="none" rtlCol="0">
            <a:spAutoFit/>
          </a:bodyPr>
          <a:lstStyle/>
          <a:p>
            <a:r>
              <a:rPr lang="en-US" sz="3200" dirty="0">
                <a:solidFill>
                  <a:schemeClr val="accent2"/>
                </a:solidFill>
              </a:rPr>
              <a:t>KEY IDEA: words are </a:t>
            </a:r>
            <a:r>
              <a:rPr lang="en-US" sz="3200" i="1" dirty="0">
                <a:solidFill>
                  <a:schemeClr val="accent2"/>
                </a:solidFill>
              </a:rPr>
              <a:t>defined</a:t>
            </a:r>
            <a:r>
              <a:rPr lang="en-US" sz="3200" dirty="0">
                <a:solidFill>
                  <a:schemeClr val="accent2"/>
                </a:solidFill>
              </a:rPr>
              <a:t> by the </a:t>
            </a:r>
            <a:r>
              <a:rPr lang="en-US" sz="3200" u="sng" dirty="0">
                <a:solidFill>
                  <a:schemeClr val="accent2"/>
                </a:solidFill>
              </a:rPr>
              <a:t>context</a:t>
            </a:r>
            <a:r>
              <a:rPr lang="en-US" sz="3200" dirty="0">
                <a:solidFill>
                  <a:schemeClr val="accent2"/>
                </a:solidFill>
              </a:rPr>
              <a:t> in which they appear</a:t>
            </a:r>
          </a:p>
        </p:txBody>
      </p:sp>
      <p:pic>
        <p:nvPicPr>
          <p:cNvPr id="1028" name="Picture 4" descr="Image result for looking up a word in a dictionary"/>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705405" y="2552486"/>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30677" y="5843307"/>
            <a:ext cx="4359463" cy="830997"/>
          </a:xfrm>
          <a:prstGeom prst="rect">
            <a:avLst/>
          </a:prstGeom>
          <a:noFill/>
        </p:spPr>
        <p:txBody>
          <a:bodyPr wrap="none" rtlCol="0">
            <a:spAutoFit/>
          </a:bodyPr>
          <a:lstStyle/>
          <a:p>
            <a:pPr algn="ctr"/>
            <a:r>
              <a:rPr lang="en-US" sz="2400" dirty="0"/>
              <a:t>learn word meaning like an adult:</a:t>
            </a:r>
          </a:p>
          <a:p>
            <a:pPr algn="ctr"/>
            <a:r>
              <a:rPr lang="en-US" sz="2400" dirty="0"/>
              <a:t>explicit definitions</a:t>
            </a:r>
          </a:p>
        </p:txBody>
      </p:sp>
      <p:sp>
        <p:nvSpPr>
          <p:cNvPr id="17" name="TextBox 16"/>
          <p:cNvSpPr txBox="1"/>
          <p:nvPr/>
        </p:nvSpPr>
        <p:spPr>
          <a:xfrm>
            <a:off x="6427896" y="5843307"/>
            <a:ext cx="4309770" cy="830997"/>
          </a:xfrm>
          <a:prstGeom prst="rect">
            <a:avLst/>
          </a:prstGeom>
          <a:noFill/>
        </p:spPr>
        <p:txBody>
          <a:bodyPr wrap="none" rtlCol="0">
            <a:spAutoFit/>
          </a:bodyPr>
          <a:lstStyle/>
          <a:p>
            <a:pPr algn="ctr"/>
            <a:r>
              <a:rPr lang="en-US" sz="2400" dirty="0"/>
              <a:t>learn word meaning like an child:</a:t>
            </a:r>
          </a:p>
          <a:p>
            <a:pPr algn="ctr"/>
            <a:r>
              <a:rPr lang="en-US" sz="2400" u="sng" dirty="0"/>
              <a:t>implicit definitions from context</a:t>
            </a:r>
          </a:p>
        </p:txBody>
      </p:sp>
      <p:pic>
        <p:nvPicPr>
          <p:cNvPr id="1030" name="Picture 6" descr="Image result for speech immersion child"/>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85989" y="2552486"/>
            <a:ext cx="3793579" cy="2857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Rectangle 14"/>
          <p:cNvSpPr/>
          <p:nvPr/>
        </p:nvSpPr>
        <p:spPr>
          <a:xfrm>
            <a:off x="6427893" y="2305145"/>
            <a:ext cx="4309771" cy="276999"/>
          </a:xfrm>
          <a:prstGeom prst="rect">
            <a:avLst/>
          </a:prstGeom>
        </p:spPr>
        <p:txBody>
          <a:bodyPr wrap="square">
            <a:spAutoFit/>
          </a:bodyPr>
          <a:lstStyle/>
          <a:p>
            <a:pPr algn="ctr"/>
            <a:r>
              <a:rPr lang="en-US" sz="1200" dirty="0"/>
              <a:t>https://www.parenting.com/activities/baby/teach-baby-to-talk/</a:t>
            </a:r>
          </a:p>
        </p:txBody>
      </p:sp>
      <p:sp>
        <p:nvSpPr>
          <p:cNvPr id="18" name="Multiply 17"/>
          <p:cNvSpPr/>
          <p:nvPr/>
        </p:nvSpPr>
        <p:spPr>
          <a:xfrm>
            <a:off x="985395" y="2305143"/>
            <a:ext cx="5250023" cy="4369160"/>
          </a:xfrm>
          <a:prstGeom prst="mathMultiply">
            <a:avLst>
              <a:gd name="adj1" fmla="val 1181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TextBox 21"/>
          <p:cNvSpPr txBox="1"/>
          <p:nvPr/>
        </p:nvSpPr>
        <p:spPr>
          <a:xfrm>
            <a:off x="1424735" y="1686428"/>
            <a:ext cx="9373528" cy="461665"/>
          </a:xfrm>
          <a:prstGeom prst="rect">
            <a:avLst/>
          </a:prstGeom>
          <a:noFill/>
        </p:spPr>
        <p:txBody>
          <a:bodyPr wrap="none" rtlCol="0">
            <a:spAutoFit/>
          </a:bodyPr>
          <a:lstStyle/>
          <a:p>
            <a:r>
              <a:rPr lang="en-US" sz="2400" dirty="0"/>
              <a:t>-&gt; if words are always exchangeable, they must have very similar meaning</a:t>
            </a:r>
          </a:p>
        </p:txBody>
      </p:sp>
      <p:sp>
        <p:nvSpPr>
          <p:cNvPr id="10" name="Title 1">
            <a:extLst>
              <a:ext uri="{FF2B5EF4-FFF2-40B4-BE49-F238E27FC236}">
                <a16:creationId xmlns:a16="http://schemas.microsoft.com/office/drawing/2014/main" id="{A88DB8BC-46FF-58EB-2962-3D40D03A8182}"/>
              </a:ext>
            </a:extLst>
          </p:cNvPr>
          <p:cNvSpPr>
            <a:spLocks noGrp="1"/>
          </p:cNvSpPr>
          <p:nvPr>
            <p:ph type="title"/>
          </p:nvPr>
        </p:nvSpPr>
        <p:spPr>
          <a:xfrm>
            <a:off x="191077" y="210811"/>
            <a:ext cx="8170672" cy="1143000"/>
          </a:xfrm>
        </p:spPr>
        <p:txBody>
          <a:bodyPr anchor="ctr">
            <a:normAutofit/>
          </a:bodyPr>
          <a:lstStyle/>
          <a:p>
            <a:pPr algn="ctr"/>
            <a:r>
              <a:rPr lang="en-US" sz="4000" dirty="0"/>
              <a:t>How do we learn these attributes?</a:t>
            </a:r>
          </a:p>
        </p:txBody>
      </p:sp>
    </p:spTree>
    <p:extLst>
      <p:ext uri="{BB962C8B-B14F-4D97-AF65-F5344CB8AC3E}">
        <p14:creationId xmlns:p14="http://schemas.microsoft.com/office/powerpoint/2010/main" val="2927109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10972800" cy="762000"/>
          </a:xfrm>
        </p:spPr>
        <p:txBody>
          <a:bodyPr>
            <a:noAutofit/>
          </a:bodyPr>
          <a:lstStyle/>
          <a:p>
            <a:r>
              <a:rPr lang="en-US" dirty="0"/>
              <a:t>Step 1: define </a:t>
            </a:r>
            <a:r>
              <a:rPr lang="en-US" i="1" dirty="0"/>
              <a:t>co-occurrence</a:t>
            </a:r>
            <a:r>
              <a:rPr lang="en-US" dirty="0"/>
              <a:t> or </a:t>
            </a:r>
            <a:r>
              <a:rPr lang="en-US" i="1" dirty="0"/>
              <a:t>context</a:t>
            </a:r>
            <a:endParaRPr lang="en-US" sz="4400" i="1" dirty="0"/>
          </a:p>
        </p:txBody>
      </p:sp>
      <p:sp>
        <p:nvSpPr>
          <p:cNvPr id="4" name="Rectangle 3"/>
          <p:cNvSpPr/>
          <p:nvPr/>
        </p:nvSpPr>
        <p:spPr>
          <a:xfrm>
            <a:off x="1544665" y="2040393"/>
            <a:ext cx="4158711" cy="3539430"/>
          </a:xfrm>
          <a:prstGeom prst="rect">
            <a:avLst/>
          </a:prstGeom>
        </p:spPr>
        <p:txBody>
          <a:bodyPr wrap="square">
            <a:spAutoFit/>
          </a:bodyPr>
          <a:lstStyle/>
          <a:p>
            <a:r>
              <a:rPr lang="en-US" sz="2800" dirty="0"/>
              <a:t>{input word, context word}</a:t>
            </a:r>
          </a:p>
          <a:p>
            <a:endParaRPr lang="en-US" sz="2800" dirty="0"/>
          </a:p>
          <a:p>
            <a:r>
              <a:rPr lang="en-US" sz="2800" dirty="0"/>
              <a:t>{strolls, man}</a:t>
            </a:r>
          </a:p>
          <a:p>
            <a:r>
              <a:rPr lang="en-US" sz="2800" dirty="0"/>
              <a:t>{strolls, woman}</a:t>
            </a:r>
          </a:p>
          <a:p>
            <a:r>
              <a:rPr lang="en-US" sz="2800" dirty="0"/>
              <a:t>{swims, crocodile}</a:t>
            </a:r>
          </a:p>
          <a:p>
            <a:r>
              <a:rPr lang="en-US" sz="2800" dirty="0"/>
              <a:t>{swims, fish}</a:t>
            </a:r>
          </a:p>
          <a:p>
            <a:r>
              <a:rPr lang="en-US" sz="2800" dirty="0"/>
              <a:t>{flies, bird}</a:t>
            </a:r>
          </a:p>
          <a:p>
            <a:r>
              <a:rPr lang="en-US" sz="2800" dirty="0"/>
              <a:t>{flies, plane}</a:t>
            </a:r>
          </a:p>
        </p:txBody>
      </p:sp>
      <p:sp>
        <p:nvSpPr>
          <p:cNvPr id="5" name="Rectangle 4"/>
          <p:cNvSpPr/>
          <p:nvPr/>
        </p:nvSpPr>
        <p:spPr>
          <a:xfrm>
            <a:off x="6687518" y="1417639"/>
            <a:ext cx="4561667" cy="4832092"/>
          </a:xfrm>
          <a:prstGeom prst="rect">
            <a:avLst/>
          </a:prstGeom>
        </p:spPr>
        <p:txBody>
          <a:bodyPr wrap="square">
            <a:spAutoFit/>
          </a:bodyPr>
          <a:lstStyle/>
          <a:p>
            <a:r>
              <a:rPr lang="en-US" sz="2800" dirty="0"/>
              <a:t>We define a </a:t>
            </a:r>
            <a:r>
              <a:rPr lang="en-US" sz="2800" u="sng" dirty="0"/>
              <a:t>context word </a:t>
            </a:r>
            <a:r>
              <a:rPr lang="en-US" sz="2800" dirty="0"/>
              <a:t>as one that appears inside a fixed-length window around the input word in our training corpus.</a:t>
            </a:r>
          </a:p>
          <a:p>
            <a:endParaRPr lang="en-US" sz="2800" dirty="0"/>
          </a:p>
          <a:p>
            <a:r>
              <a:rPr lang="en-US" sz="2800" dirty="0"/>
              <a:t>(e.g. Wikipedia)</a:t>
            </a:r>
          </a:p>
          <a:p>
            <a:endParaRPr lang="en-US" sz="2800" dirty="0"/>
          </a:p>
          <a:p>
            <a:r>
              <a:rPr lang="en-US" sz="2800" dirty="0"/>
              <a:t>A man strolls down the street.</a:t>
            </a:r>
          </a:p>
          <a:p>
            <a:endParaRPr lang="en-US" sz="2800" dirty="0"/>
          </a:p>
          <a:p>
            <a:r>
              <a:rPr lang="en-US" sz="2800" dirty="0"/>
              <a:t>		  </a:t>
            </a:r>
            <a:r>
              <a:rPr lang="en-US" sz="2800" dirty="0">
                <a:solidFill>
                  <a:schemeClr val="accent1"/>
                </a:solidFill>
              </a:rPr>
              <a:t>input	</a:t>
            </a:r>
            <a:r>
              <a:rPr lang="en-US" sz="2800" dirty="0">
                <a:solidFill>
                  <a:schemeClr val="accent6"/>
                </a:solidFill>
              </a:rPr>
              <a:t>context</a:t>
            </a:r>
          </a:p>
        </p:txBody>
      </p:sp>
      <p:sp>
        <p:nvSpPr>
          <p:cNvPr id="6" name="Rectangle 5"/>
          <p:cNvSpPr/>
          <p:nvPr/>
        </p:nvSpPr>
        <p:spPr>
          <a:xfrm>
            <a:off x="7733654" y="4835471"/>
            <a:ext cx="976393" cy="55530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p:cNvSpPr/>
          <p:nvPr/>
        </p:nvSpPr>
        <p:spPr>
          <a:xfrm>
            <a:off x="6687518" y="4773479"/>
            <a:ext cx="3479370" cy="666428"/>
          </a:xfrm>
          <a:prstGeom prst="rect">
            <a:avLst/>
          </a:prstGeom>
          <a:noFill/>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37052768"/>
      </p:ext>
    </p:extLst>
  </p:cSld>
  <p:clrMapOvr>
    <a:masterClrMapping/>
  </p:clrMapOvr>
  <mc:AlternateContent xmlns:mc="http://schemas.openxmlformats.org/markup-compatibility/2006" xmlns:p14="http://schemas.microsoft.com/office/powerpoint/2010/main">
    <mc:Choice Requires="p14">
      <p:transition spd="slow" p14:dur="2000" advTm="71029"/>
    </mc:Choice>
    <mc:Fallback xmlns="">
      <p:transition spd="slow" advTm="7102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2E69-5720-1C46-BD30-B879B34B6B39}"/>
              </a:ext>
            </a:extLst>
          </p:cNvPr>
          <p:cNvSpPr>
            <a:spLocks noGrp="1"/>
          </p:cNvSpPr>
          <p:nvPr>
            <p:ph type="title"/>
          </p:nvPr>
        </p:nvSpPr>
        <p:spPr>
          <a:xfrm>
            <a:off x="511628" y="305601"/>
            <a:ext cx="11168743" cy="1791506"/>
          </a:xfrm>
        </p:spPr>
        <p:txBody>
          <a:bodyPr>
            <a:noAutofit/>
          </a:bodyPr>
          <a:lstStyle/>
          <a:p>
            <a:r>
              <a:rPr lang="en-US" sz="3200" dirty="0"/>
              <a:t>Step 2: find vector representations sufficient </a:t>
            </a:r>
            <a:br>
              <a:rPr lang="en-US" sz="3200" dirty="0"/>
            </a:br>
            <a:r>
              <a:rPr lang="en-US" sz="3200" dirty="0"/>
              <a:t>to predict the likely context</a:t>
            </a:r>
            <a:br>
              <a:rPr lang="en-US" sz="3200" dirty="0"/>
            </a:br>
            <a:br>
              <a:rPr lang="en-US" sz="1800" dirty="0"/>
            </a:br>
            <a:r>
              <a:rPr lang="en-US" sz="3200" dirty="0"/>
              <a:t>(i.e. what other words are likely/unlikely to be nearby)</a:t>
            </a:r>
            <a:br>
              <a:rPr lang="en-US" sz="3200" dirty="0"/>
            </a:br>
            <a:endParaRPr lang="en-US" sz="3200" dirty="0"/>
          </a:p>
        </p:txBody>
      </p:sp>
      <p:graphicFrame>
        <p:nvGraphicFramePr>
          <p:cNvPr id="14" name="Table 13"/>
          <p:cNvGraphicFramePr>
            <a:graphicFrameLocks noGrp="1"/>
          </p:cNvGraphicFramePr>
          <p:nvPr/>
        </p:nvGraphicFramePr>
        <p:xfrm>
          <a:off x="3680847" y="255658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 name="TextBox 2"/>
          <p:cNvSpPr txBox="1"/>
          <p:nvPr/>
        </p:nvSpPr>
        <p:spPr>
          <a:xfrm>
            <a:off x="3409951" y="5790528"/>
            <a:ext cx="1081771" cy="400110"/>
          </a:xfrm>
          <a:prstGeom prst="rect">
            <a:avLst/>
          </a:prstGeom>
          <a:noFill/>
        </p:spPr>
        <p:txBody>
          <a:bodyPr wrap="none" rtlCol="0">
            <a:spAutoFit/>
          </a:bodyPr>
          <a:lstStyle/>
          <a:p>
            <a:r>
              <a:rPr lang="en-US" sz="2000" dirty="0"/>
              <a:t>v(strolls)</a:t>
            </a:r>
          </a:p>
        </p:txBody>
      </p:sp>
      <p:graphicFrame>
        <p:nvGraphicFramePr>
          <p:cNvPr id="15" name="Table 14"/>
          <p:cNvGraphicFramePr>
            <a:graphicFrameLocks noGrp="1"/>
          </p:cNvGraphicFramePr>
          <p:nvPr/>
        </p:nvGraphicFramePr>
        <p:xfrm>
          <a:off x="6948407" y="224050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p:cNvGraphicFramePr>
            <a:graphicFrameLocks noGrp="1"/>
          </p:cNvGraphicFramePr>
          <p:nvPr/>
        </p:nvGraphicFramePr>
        <p:xfrm>
          <a:off x="6948407" y="3254686"/>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p:cNvSpPr txBox="1"/>
          <p:nvPr/>
        </p:nvSpPr>
        <p:spPr>
          <a:xfrm>
            <a:off x="7561375" y="2251480"/>
            <a:ext cx="939681" cy="400110"/>
          </a:xfrm>
          <a:prstGeom prst="rect">
            <a:avLst/>
          </a:prstGeom>
          <a:noFill/>
        </p:spPr>
        <p:txBody>
          <a:bodyPr wrap="none" rtlCol="0">
            <a:spAutoFit/>
          </a:bodyPr>
          <a:lstStyle/>
          <a:p>
            <a:r>
              <a:rPr lang="en-US" sz="2000" dirty="0"/>
              <a:t>p(man)</a:t>
            </a:r>
          </a:p>
        </p:txBody>
      </p:sp>
      <p:sp>
        <p:nvSpPr>
          <p:cNvPr id="29" name="TextBox 28"/>
          <p:cNvSpPr txBox="1"/>
          <p:nvPr/>
        </p:nvSpPr>
        <p:spPr>
          <a:xfrm>
            <a:off x="7561375" y="2758268"/>
            <a:ext cx="1254702" cy="400110"/>
          </a:xfrm>
          <a:prstGeom prst="rect">
            <a:avLst/>
          </a:prstGeom>
          <a:noFill/>
        </p:spPr>
        <p:txBody>
          <a:bodyPr wrap="none" rtlCol="0">
            <a:spAutoFit/>
          </a:bodyPr>
          <a:lstStyle/>
          <a:p>
            <a:r>
              <a:rPr lang="en-US" sz="2000" dirty="0"/>
              <a:t>p(woman)</a:t>
            </a:r>
          </a:p>
        </p:txBody>
      </p:sp>
      <p:sp>
        <p:nvSpPr>
          <p:cNvPr id="30" name="TextBox 29"/>
          <p:cNvSpPr txBox="1"/>
          <p:nvPr/>
        </p:nvSpPr>
        <p:spPr>
          <a:xfrm>
            <a:off x="7561375" y="3806824"/>
            <a:ext cx="973343" cy="400110"/>
          </a:xfrm>
          <a:prstGeom prst="rect">
            <a:avLst/>
          </a:prstGeom>
          <a:noFill/>
        </p:spPr>
        <p:txBody>
          <a:bodyPr wrap="none" rtlCol="0">
            <a:spAutoFit/>
          </a:bodyPr>
          <a:lstStyle/>
          <a:p>
            <a:r>
              <a:rPr lang="en-US" sz="2000" dirty="0"/>
              <a:t>p(child)</a:t>
            </a:r>
          </a:p>
        </p:txBody>
      </p:sp>
      <p:sp>
        <p:nvSpPr>
          <p:cNvPr id="31" name="TextBox 30"/>
          <p:cNvSpPr txBox="1"/>
          <p:nvPr/>
        </p:nvSpPr>
        <p:spPr>
          <a:xfrm>
            <a:off x="7561375" y="4822139"/>
            <a:ext cx="1428789" cy="400110"/>
          </a:xfrm>
          <a:prstGeom prst="rect">
            <a:avLst/>
          </a:prstGeom>
          <a:noFill/>
        </p:spPr>
        <p:txBody>
          <a:bodyPr wrap="none" rtlCol="0">
            <a:spAutoFit/>
          </a:bodyPr>
          <a:lstStyle/>
          <a:p>
            <a:r>
              <a:rPr lang="en-US" sz="2000" dirty="0"/>
              <a:t>p(crocodile)</a:t>
            </a:r>
          </a:p>
        </p:txBody>
      </p:sp>
      <p:sp>
        <p:nvSpPr>
          <p:cNvPr id="32" name="TextBox 31"/>
          <p:cNvSpPr txBox="1"/>
          <p:nvPr/>
        </p:nvSpPr>
        <p:spPr>
          <a:xfrm>
            <a:off x="7561375" y="4278632"/>
            <a:ext cx="1250663" cy="400110"/>
          </a:xfrm>
          <a:prstGeom prst="rect">
            <a:avLst/>
          </a:prstGeom>
          <a:noFill/>
        </p:spPr>
        <p:txBody>
          <a:bodyPr wrap="none" rtlCol="0">
            <a:spAutoFit/>
          </a:bodyPr>
          <a:lstStyle/>
          <a:p>
            <a:r>
              <a:rPr lang="en-US" sz="2000" dirty="0"/>
              <a:t>p(banana)</a:t>
            </a:r>
          </a:p>
        </p:txBody>
      </p:sp>
      <p:sp>
        <p:nvSpPr>
          <p:cNvPr id="33" name="TextBox 32"/>
          <p:cNvSpPr txBox="1"/>
          <p:nvPr/>
        </p:nvSpPr>
        <p:spPr>
          <a:xfrm>
            <a:off x="7531751" y="5790528"/>
            <a:ext cx="1309910" cy="400110"/>
          </a:xfrm>
          <a:prstGeom prst="rect">
            <a:avLst/>
          </a:prstGeom>
          <a:noFill/>
        </p:spPr>
        <p:txBody>
          <a:bodyPr wrap="none" rtlCol="0">
            <a:spAutoFit/>
          </a:bodyPr>
          <a:lstStyle/>
          <a:p>
            <a:r>
              <a:rPr lang="en-US" sz="2000" dirty="0"/>
              <a:t>p(concept)</a:t>
            </a:r>
          </a:p>
        </p:txBody>
      </p:sp>
      <p:sp>
        <p:nvSpPr>
          <p:cNvPr id="37" name="Left Brace 36"/>
          <p:cNvSpPr/>
          <p:nvPr/>
        </p:nvSpPr>
        <p:spPr>
          <a:xfrm>
            <a:off x="2125083" y="2556584"/>
            <a:ext cx="654844" cy="305592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TextBox 37"/>
          <p:cNvSpPr txBox="1"/>
          <p:nvPr/>
        </p:nvSpPr>
        <p:spPr>
          <a:xfrm>
            <a:off x="350948" y="3422827"/>
            <a:ext cx="1729898" cy="1323439"/>
          </a:xfrm>
          <a:prstGeom prst="rect">
            <a:avLst/>
          </a:prstGeom>
          <a:noFill/>
        </p:spPr>
        <p:txBody>
          <a:bodyPr wrap="square" rtlCol="0">
            <a:spAutoFit/>
          </a:bodyPr>
          <a:lstStyle/>
          <a:p>
            <a:pPr algn="ctr"/>
            <a:r>
              <a:rPr lang="en-US" sz="2000" dirty="0"/>
              <a:t>elements of the vector corresponding to “strolls”</a:t>
            </a:r>
          </a:p>
        </p:txBody>
      </p:sp>
      <p:sp>
        <p:nvSpPr>
          <p:cNvPr id="39" name="Left Brace 38"/>
          <p:cNvSpPr/>
          <p:nvPr/>
        </p:nvSpPr>
        <p:spPr>
          <a:xfrm rot="10800000">
            <a:off x="9222621" y="2240504"/>
            <a:ext cx="654844" cy="407010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p:cNvSpPr txBox="1"/>
          <p:nvPr/>
        </p:nvSpPr>
        <p:spPr>
          <a:xfrm>
            <a:off x="10215967" y="3768468"/>
            <a:ext cx="1729898" cy="1015663"/>
          </a:xfrm>
          <a:prstGeom prst="rect">
            <a:avLst/>
          </a:prstGeom>
          <a:noFill/>
        </p:spPr>
        <p:txBody>
          <a:bodyPr wrap="square" rtlCol="0">
            <a:spAutoFit/>
          </a:bodyPr>
          <a:lstStyle/>
          <a:p>
            <a:pPr algn="ctr"/>
            <a:r>
              <a:rPr lang="en-US" sz="2000" dirty="0"/>
              <a:t>probabilities for all words in our vocabulary</a:t>
            </a:r>
          </a:p>
        </p:txBody>
      </p:sp>
      <p:sp>
        <p:nvSpPr>
          <p:cNvPr id="4" name="Right Arrow 3"/>
          <p:cNvSpPr/>
          <p:nvPr/>
        </p:nvSpPr>
        <p:spPr>
          <a:xfrm>
            <a:off x="4772101" y="3366446"/>
            <a:ext cx="1625031" cy="128086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predict/</a:t>
            </a:r>
          </a:p>
          <a:p>
            <a:pPr algn="ctr"/>
            <a:r>
              <a:rPr lang="en-US" dirty="0"/>
              <a:t>reconstruct</a:t>
            </a:r>
          </a:p>
        </p:txBody>
      </p:sp>
    </p:spTree>
    <p:extLst>
      <p:ext uri="{BB962C8B-B14F-4D97-AF65-F5344CB8AC3E}">
        <p14:creationId xmlns:p14="http://schemas.microsoft.com/office/powerpoint/2010/main" val="3425078638"/>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0C0C3-2940-F467-A693-97289DA56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48DAB-CFEA-4BA4-8312-B2015D7F2DA0}"/>
              </a:ext>
            </a:extLst>
          </p:cNvPr>
          <p:cNvSpPr>
            <a:spLocks noGrp="1"/>
          </p:cNvSpPr>
          <p:nvPr>
            <p:ph type="title"/>
          </p:nvPr>
        </p:nvSpPr>
        <p:spPr>
          <a:xfrm>
            <a:off x="511628" y="305601"/>
            <a:ext cx="11168743" cy="1791506"/>
          </a:xfrm>
        </p:spPr>
        <p:txBody>
          <a:bodyPr>
            <a:noAutofit/>
          </a:bodyPr>
          <a:lstStyle/>
          <a:p>
            <a:r>
              <a:rPr lang="en-US" sz="3200" dirty="0"/>
              <a:t>Step 2: find vector representations sufficient </a:t>
            </a:r>
            <a:br>
              <a:rPr lang="en-US" sz="3200" dirty="0"/>
            </a:br>
            <a:r>
              <a:rPr lang="en-US" sz="3200" dirty="0"/>
              <a:t>to predict the likely context</a:t>
            </a:r>
            <a:br>
              <a:rPr lang="en-US" sz="3200" dirty="0"/>
            </a:br>
            <a:br>
              <a:rPr lang="en-US" sz="1800" dirty="0"/>
            </a:br>
            <a:r>
              <a:rPr lang="en-US" sz="3200" dirty="0"/>
              <a:t>(i.e. what other words are likely/unlikely to be nearby)</a:t>
            </a:r>
            <a:br>
              <a:rPr lang="en-US" sz="3200" dirty="0"/>
            </a:br>
            <a:endParaRPr lang="en-US" sz="3200" dirty="0"/>
          </a:p>
        </p:txBody>
      </p:sp>
      <p:graphicFrame>
        <p:nvGraphicFramePr>
          <p:cNvPr id="14" name="Table 13">
            <a:extLst>
              <a:ext uri="{FF2B5EF4-FFF2-40B4-BE49-F238E27FC236}">
                <a16:creationId xmlns:a16="http://schemas.microsoft.com/office/drawing/2014/main" id="{E7F26760-C47B-2E92-5DEF-E088C81F8749}"/>
              </a:ext>
            </a:extLst>
          </p:cNvPr>
          <p:cNvGraphicFramePr>
            <a:graphicFrameLocks noGrp="1"/>
          </p:cNvGraphicFramePr>
          <p:nvPr/>
        </p:nvGraphicFramePr>
        <p:xfrm>
          <a:off x="3680847" y="255658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 name="TextBox 2">
            <a:extLst>
              <a:ext uri="{FF2B5EF4-FFF2-40B4-BE49-F238E27FC236}">
                <a16:creationId xmlns:a16="http://schemas.microsoft.com/office/drawing/2014/main" id="{CE521708-1F94-A550-D8B4-424A9E86F801}"/>
              </a:ext>
            </a:extLst>
          </p:cNvPr>
          <p:cNvSpPr txBox="1"/>
          <p:nvPr/>
        </p:nvSpPr>
        <p:spPr>
          <a:xfrm>
            <a:off x="3409951" y="5790528"/>
            <a:ext cx="1081771" cy="400110"/>
          </a:xfrm>
          <a:prstGeom prst="rect">
            <a:avLst/>
          </a:prstGeom>
          <a:noFill/>
        </p:spPr>
        <p:txBody>
          <a:bodyPr wrap="none" rtlCol="0">
            <a:spAutoFit/>
          </a:bodyPr>
          <a:lstStyle/>
          <a:p>
            <a:r>
              <a:rPr lang="en-US" sz="2000" dirty="0"/>
              <a:t>v(strolls)</a:t>
            </a:r>
          </a:p>
        </p:txBody>
      </p:sp>
      <p:graphicFrame>
        <p:nvGraphicFramePr>
          <p:cNvPr id="15" name="Table 14">
            <a:extLst>
              <a:ext uri="{FF2B5EF4-FFF2-40B4-BE49-F238E27FC236}">
                <a16:creationId xmlns:a16="http://schemas.microsoft.com/office/drawing/2014/main" id="{A7FAE8EE-788F-E343-3DC5-E272511AAAC3}"/>
              </a:ext>
            </a:extLst>
          </p:cNvPr>
          <p:cNvGraphicFramePr>
            <a:graphicFrameLocks noGrp="1"/>
          </p:cNvGraphicFramePr>
          <p:nvPr/>
        </p:nvGraphicFramePr>
        <p:xfrm>
          <a:off x="6948407" y="224050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a:extLst>
              <a:ext uri="{FF2B5EF4-FFF2-40B4-BE49-F238E27FC236}">
                <a16:creationId xmlns:a16="http://schemas.microsoft.com/office/drawing/2014/main" id="{D9DE88CA-4EE7-6548-B9E1-644256CEEC27}"/>
              </a:ext>
            </a:extLst>
          </p:cNvPr>
          <p:cNvGraphicFramePr>
            <a:graphicFrameLocks noGrp="1"/>
          </p:cNvGraphicFramePr>
          <p:nvPr/>
        </p:nvGraphicFramePr>
        <p:xfrm>
          <a:off x="6948407" y="3254686"/>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a:extLst>
              <a:ext uri="{FF2B5EF4-FFF2-40B4-BE49-F238E27FC236}">
                <a16:creationId xmlns:a16="http://schemas.microsoft.com/office/drawing/2014/main" id="{49490C16-A141-94B2-82DF-53AC9FBC58A1}"/>
              </a:ext>
            </a:extLst>
          </p:cNvPr>
          <p:cNvSpPr txBox="1"/>
          <p:nvPr/>
        </p:nvSpPr>
        <p:spPr>
          <a:xfrm>
            <a:off x="7561375" y="2251480"/>
            <a:ext cx="939681" cy="400110"/>
          </a:xfrm>
          <a:prstGeom prst="rect">
            <a:avLst/>
          </a:prstGeom>
          <a:noFill/>
        </p:spPr>
        <p:txBody>
          <a:bodyPr wrap="none" rtlCol="0">
            <a:spAutoFit/>
          </a:bodyPr>
          <a:lstStyle/>
          <a:p>
            <a:r>
              <a:rPr lang="en-US" sz="2000" dirty="0"/>
              <a:t>p(man)</a:t>
            </a:r>
          </a:p>
        </p:txBody>
      </p:sp>
      <p:sp>
        <p:nvSpPr>
          <p:cNvPr id="29" name="TextBox 28">
            <a:extLst>
              <a:ext uri="{FF2B5EF4-FFF2-40B4-BE49-F238E27FC236}">
                <a16:creationId xmlns:a16="http://schemas.microsoft.com/office/drawing/2014/main" id="{50AF951B-C125-A281-C9D3-C7C8602DD810}"/>
              </a:ext>
            </a:extLst>
          </p:cNvPr>
          <p:cNvSpPr txBox="1"/>
          <p:nvPr/>
        </p:nvSpPr>
        <p:spPr>
          <a:xfrm>
            <a:off x="7561375" y="2758268"/>
            <a:ext cx="1254702" cy="400110"/>
          </a:xfrm>
          <a:prstGeom prst="rect">
            <a:avLst/>
          </a:prstGeom>
          <a:noFill/>
        </p:spPr>
        <p:txBody>
          <a:bodyPr wrap="none" rtlCol="0">
            <a:spAutoFit/>
          </a:bodyPr>
          <a:lstStyle/>
          <a:p>
            <a:r>
              <a:rPr lang="en-US" sz="2000" dirty="0"/>
              <a:t>p(woman)</a:t>
            </a:r>
          </a:p>
        </p:txBody>
      </p:sp>
      <p:sp>
        <p:nvSpPr>
          <p:cNvPr id="30" name="TextBox 29">
            <a:extLst>
              <a:ext uri="{FF2B5EF4-FFF2-40B4-BE49-F238E27FC236}">
                <a16:creationId xmlns:a16="http://schemas.microsoft.com/office/drawing/2014/main" id="{1ED86347-4068-C3A2-E9FC-56CCADB9A7D2}"/>
              </a:ext>
            </a:extLst>
          </p:cNvPr>
          <p:cNvSpPr txBox="1"/>
          <p:nvPr/>
        </p:nvSpPr>
        <p:spPr>
          <a:xfrm>
            <a:off x="7561375" y="3806824"/>
            <a:ext cx="973343" cy="400110"/>
          </a:xfrm>
          <a:prstGeom prst="rect">
            <a:avLst/>
          </a:prstGeom>
          <a:noFill/>
        </p:spPr>
        <p:txBody>
          <a:bodyPr wrap="none" rtlCol="0">
            <a:spAutoFit/>
          </a:bodyPr>
          <a:lstStyle/>
          <a:p>
            <a:r>
              <a:rPr lang="en-US" sz="2000" dirty="0"/>
              <a:t>p(child)</a:t>
            </a:r>
          </a:p>
        </p:txBody>
      </p:sp>
      <p:sp>
        <p:nvSpPr>
          <p:cNvPr id="31" name="TextBox 30">
            <a:extLst>
              <a:ext uri="{FF2B5EF4-FFF2-40B4-BE49-F238E27FC236}">
                <a16:creationId xmlns:a16="http://schemas.microsoft.com/office/drawing/2014/main" id="{FDA4755C-DC5D-99CF-D431-81842AF92E5B}"/>
              </a:ext>
            </a:extLst>
          </p:cNvPr>
          <p:cNvSpPr txBox="1"/>
          <p:nvPr/>
        </p:nvSpPr>
        <p:spPr>
          <a:xfrm>
            <a:off x="7561375" y="4822139"/>
            <a:ext cx="1428789" cy="400110"/>
          </a:xfrm>
          <a:prstGeom prst="rect">
            <a:avLst/>
          </a:prstGeom>
          <a:noFill/>
        </p:spPr>
        <p:txBody>
          <a:bodyPr wrap="none" rtlCol="0">
            <a:spAutoFit/>
          </a:bodyPr>
          <a:lstStyle/>
          <a:p>
            <a:r>
              <a:rPr lang="en-US" sz="2000" dirty="0"/>
              <a:t>p(crocodile)</a:t>
            </a:r>
          </a:p>
        </p:txBody>
      </p:sp>
      <p:sp>
        <p:nvSpPr>
          <p:cNvPr id="32" name="TextBox 31">
            <a:extLst>
              <a:ext uri="{FF2B5EF4-FFF2-40B4-BE49-F238E27FC236}">
                <a16:creationId xmlns:a16="http://schemas.microsoft.com/office/drawing/2014/main" id="{C3E3FCF5-1E25-DE9D-47BB-68E70F1FBB81}"/>
              </a:ext>
            </a:extLst>
          </p:cNvPr>
          <p:cNvSpPr txBox="1"/>
          <p:nvPr/>
        </p:nvSpPr>
        <p:spPr>
          <a:xfrm>
            <a:off x="7561375" y="4278632"/>
            <a:ext cx="1250663" cy="400110"/>
          </a:xfrm>
          <a:prstGeom prst="rect">
            <a:avLst/>
          </a:prstGeom>
          <a:noFill/>
        </p:spPr>
        <p:txBody>
          <a:bodyPr wrap="none" rtlCol="0">
            <a:spAutoFit/>
          </a:bodyPr>
          <a:lstStyle/>
          <a:p>
            <a:r>
              <a:rPr lang="en-US" sz="2000" dirty="0"/>
              <a:t>p(banana)</a:t>
            </a:r>
          </a:p>
        </p:txBody>
      </p:sp>
      <p:sp>
        <p:nvSpPr>
          <p:cNvPr id="33" name="TextBox 32">
            <a:extLst>
              <a:ext uri="{FF2B5EF4-FFF2-40B4-BE49-F238E27FC236}">
                <a16:creationId xmlns:a16="http://schemas.microsoft.com/office/drawing/2014/main" id="{78BA900B-BD96-DC46-7CFE-BF5EDAB2DE5F}"/>
              </a:ext>
            </a:extLst>
          </p:cNvPr>
          <p:cNvSpPr txBox="1"/>
          <p:nvPr/>
        </p:nvSpPr>
        <p:spPr>
          <a:xfrm>
            <a:off x="7531751" y="5790528"/>
            <a:ext cx="1309910" cy="400110"/>
          </a:xfrm>
          <a:prstGeom prst="rect">
            <a:avLst/>
          </a:prstGeom>
          <a:noFill/>
        </p:spPr>
        <p:txBody>
          <a:bodyPr wrap="none" rtlCol="0">
            <a:spAutoFit/>
          </a:bodyPr>
          <a:lstStyle/>
          <a:p>
            <a:r>
              <a:rPr lang="en-US" sz="2000" dirty="0"/>
              <a:t>p(concept)</a:t>
            </a:r>
          </a:p>
        </p:txBody>
      </p:sp>
      <p:sp>
        <p:nvSpPr>
          <p:cNvPr id="37" name="Left Brace 36">
            <a:extLst>
              <a:ext uri="{FF2B5EF4-FFF2-40B4-BE49-F238E27FC236}">
                <a16:creationId xmlns:a16="http://schemas.microsoft.com/office/drawing/2014/main" id="{D1F095E5-E589-D914-A2F5-575337AB097C}"/>
              </a:ext>
            </a:extLst>
          </p:cNvPr>
          <p:cNvSpPr/>
          <p:nvPr/>
        </p:nvSpPr>
        <p:spPr>
          <a:xfrm>
            <a:off x="2125083" y="2556584"/>
            <a:ext cx="654844" cy="305592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5454DAAB-BE67-0A49-F0F4-2DF9996D84BE}"/>
              </a:ext>
            </a:extLst>
          </p:cNvPr>
          <p:cNvSpPr txBox="1"/>
          <p:nvPr/>
        </p:nvSpPr>
        <p:spPr>
          <a:xfrm>
            <a:off x="350948" y="3422827"/>
            <a:ext cx="1729898" cy="1323439"/>
          </a:xfrm>
          <a:prstGeom prst="rect">
            <a:avLst/>
          </a:prstGeom>
          <a:noFill/>
        </p:spPr>
        <p:txBody>
          <a:bodyPr wrap="square" rtlCol="0">
            <a:spAutoFit/>
          </a:bodyPr>
          <a:lstStyle/>
          <a:p>
            <a:pPr algn="ctr"/>
            <a:r>
              <a:rPr lang="en-US" sz="2000" dirty="0"/>
              <a:t>elements of the vector corresponding to “strolls”</a:t>
            </a:r>
          </a:p>
        </p:txBody>
      </p:sp>
      <p:sp>
        <p:nvSpPr>
          <p:cNvPr id="39" name="Left Brace 38">
            <a:extLst>
              <a:ext uri="{FF2B5EF4-FFF2-40B4-BE49-F238E27FC236}">
                <a16:creationId xmlns:a16="http://schemas.microsoft.com/office/drawing/2014/main" id="{A45C3D08-590E-7250-9A25-B404910BFED6}"/>
              </a:ext>
            </a:extLst>
          </p:cNvPr>
          <p:cNvSpPr/>
          <p:nvPr/>
        </p:nvSpPr>
        <p:spPr>
          <a:xfrm rot="10800000">
            <a:off x="9222621" y="2240504"/>
            <a:ext cx="654844" cy="407010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1034511D-A788-25F0-00F6-AD130EA61651}"/>
              </a:ext>
            </a:extLst>
          </p:cNvPr>
          <p:cNvSpPr txBox="1"/>
          <p:nvPr/>
        </p:nvSpPr>
        <p:spPr>
          <a:xfrm>
            <a:off x="10215967" y="3768468"/>
            <a:ext cx="1729898" cy="1015663"/>
          </a:xfrm>
          <a:prstGeom prst="rect">
            <a:avLst/>
          </a:prstGeom>
          <a:noFill/>
        </p:spPr>
        <p:txBody>
          <a:bodyPr wrap="square" rtlCol="0">
            <a:spAutoFit/>
          </a:bodyPr>
          <a:lstStyle/>
          <a:p>
            <a:pPr algn="ctr"/>
            <a:r>
              <a:rPr lang="en-US" sz="2000" dirty="0"/>
              <a:t>probabilities for all words in our vocabulary</a:t>
            </a:r>
          </a:p>
        </p:txBody>
      </p:sp>
      <p:sp>
        <p:nvSpPr>
          <p:cNvPr id="4" name="Right Arrow 3">
            <a:extLst>
              <a:ext uri="{FF2B5EF4-FFF2-40B4-BE49-F238E27FC236}">
                <a16:creationId xmlns:a16="http://schemas.microsoft.com/office/drawing/2014/main" id="{426685AF-D965-FF4E-0755-D25C42DED8A1}"/>
              </a:ext>
            </a:extLst>
          </p:cNvPr>
          <p:cNvSpPr/>
          <p:nvPr/>
        </p:nvSpPr>
        <p:spPr>
          <a:xfrm>
            <a:off x="4772101" y="3366446"/>
            <a:ext cx="1625031" cy="128086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predict/</a:t>
            </a:r>
          </a:p>
          <a:p>
            <a:pPr algn="ctr"/>
            <a:r>
              <a:rPr lang="en-US" dirty="0"/>
              <a:t>reconstruct</a:t>
            </a:r>
          </a:p>
        </p:txBody>
      </p:sp>
      <p:sp>
        <p:nvSpPr>
          <p:cNvPr id="5" name="TextBox 4">
            <a:extLst>
              <a:ext uri="{FF2B5EF4-FFF2-40B4-BE49-F238E27FC236}">
                <a16:creationId xmlns:a16="http://schemas.microsoft.com/office/drawing/2014/main" id="{115225C7-238F-A01C-C937-DF69B96D993C}"/>
              </a:ext>
            </a:extLst>
          </p:cNvPr>
          <p:cNvSpPr txBox="1"/>
          <p:nvPr/>
        </p:nvSpPr>
        <p:spPr>
          <a:xfrm>
            <a:off x="10258425" y="2651590"/>
            <a:ext cx="1215416" cy="400110"/>
          </a:xfrm>
          <a:prstGeom prst="rect">
            <a:avLst/>
          </a:prstGeom>
          <a:noFill/>
        </p:spPr>
        <p:txBody>
          <a:bodyPr wrap="square" rtlCol="0">
            <a:spAutoFit/>
          </a:bodyPr>
          <a:lstStyle/>
          <a:p>
            <a:pPr algn="ctr"/>
            <a:r>
              <a:rPr lang="en-US" sz="2000" dirty="0"/>
              <a:t>largest</a:t>
            </a:r>
          </a:p>
        </p:txBody>
      </p:sp>
      <p:cxnSp>
        <p:nvCxnSpPr>
          <p:cNvPr id="6" name="Straight Arrow Connector 5">
            <a:extLst>
              <a:ext uri="{FF2B5EF4-FFF2-40B4-BE49-F238E27FC236}">
                <a16:creationId xmlns:a16="http://schemas.microsoft.com/office/drawing/2014/main" id="{6A5332EF-1E34-DA24-EA81-9C90D68EA8A6}"/>
              </a:ext>
            </a:extLst>
          </p:cNvPr>
          <p:cNvCxnSpPr>
            <a:stCxn id="5" idx="1"/>
          </p:cNvCxnSpPr>
          <p:nvPr/>
        </p:nvCxnSpPr>
        <p:spPr>
          <a:xfrm flipH="1" flipV="1">
            <a:off x="8501056" y="2451535"/>
            <a:ext cx="1757369" cy="40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029116A-AD93-95E8-0751-3BBAB4A6F930}"/>
              </a:ext>
            </a:extLst>
          </p:cNvPr>
          <p:cNvCxnSpPr>
            <a:stCxn id="5" idx="1"/>
          </p:cNvCxnSpPr>
          <p:nvPr/>
        </p:nvCxnSpPr>
        <p:spPr>
          <a:xfrm flipH="1">
            <a:off x="8816077" y="2851645"/>
            <a:ext cx="1442348" cy="1066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5E0DF2-3F19-F8C5-5DA4-38D1499AA7A0}"/>
              </a:ext>
            </a:extLst>
          </p:cNvPr>
          <p:cNvSpPr txBox="1"/>
          <p:nvPr/>
        </p:nvSpPr>
        <p:spPr>
          <a:xfrm>
            <a:off x="10258425" y="5947958"/>
            <a:ext cx="1215416" cy="400110"/>
          </a:xfrm>
          <a:prstGeom prst="rect">
            <a:avLst/>
          </a:prstGeom>
          <a:noFill/>
        </p:spPr>
        <p:txBody>
          <a:bodyPr wrap="square" rtlCol="0">
            <a:spAutoFit/>
          </a:bodyPr>
          <a:lstStyle/>
          <a:p>
            <a:pPr algn="ctr"/>
            <a:r>
              <a:rPr lang="en-US" sz="2000" dirty="0"/>
              <a:t>close to 0</a:t>
            </a:r>
          </a:p>
        </p:txBody>
      </p:sp>
      <p:cxnSp>
        <p:nvCxnSpPr>
          <p:cNvPr id="9" name="Straight Arrow Connector 8">
            <a:extLst>
              <a:ext uri="{FF2B5EF4-FFF2-40B4-BE49-F238E27FC236}">
                <a16:creationId xmlns:a16="http://schemas.microsoft.com/office/drawing/2014/main" id="{8FD4AD78-BA16-098F-EE45-9F9A58F0FC15}"/>
              </a:ext>
            </a:extLst>
          </p:cNvPr>
          <p:cNvCxnSpPr>
            <a:cxnSpLocks/>
            <a:stCxn id="8" idx="1"/>
            <a:endCxn id="33" idx="3"/>
          </p:cNvCxnSpPr>
          <p:nvPr/>
        </p:nvCxnSpPr>
        <p:spPr>
          <a:xfrm flipH="1" flipV="1">
            <a:off x="8841661" y="5990583"/>
            <a:ext cx="1416764" cy="1574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D31FD3-62CF-AB08-4B12-516CA267BFF9}"/>
              </a:ext>
            </a:extLst>
          </p:cNvPr>
          <p:cNvSpPr txBox="1"/>
          <p:nvPr/>
        </p:nvSpPr>
        <p:spPr>
          <a:xfrm>
            <a:off x="10441451" y="4987457"/>
            <a:ext cx="1429752" cy="707886"/>
          </a:xfrm>
          <a:prstGeom prst="rect">
            <a:avLst/>
          </a:prstGeom>
          <a:noFill/>
        </p:spPr>
        <p:txBody>
          <a:bodyPr wrap="square" rtlCol="0">
            <a:spAutoFit/>
          </a:bodyPr>
          <a:lstStyle/>
          <a:p>
            <a:pPr algn="ctr"/>
            <a:r>
              <a:rPr lang="en-US" sz="2000" dirty="0"/>
              <a:t>small but non-zero</a:t>
            </a:r>
          </a:p>
        </p:txBody>
      </p:sp>
      <p:cxnSp>
        <p:nvCxnSpPr>
          <p:cNvPr id="11" name="Straight Arrow Connector 10">
            <a:extLst>
              <a:ext uri="{FF2B5EF4-FFF2-40B4-BE49-F238E27FC236}">
                <a16:creationId xmlns:a16="http://schemas.microsoft.com/office/drawing/2014/main" id="{22B56656-BEC2-CC02-AB62-4B182FC398CD}"/>
              </a:ext>
            </a:extLst>
          </p:cNvPr>
          <p:cNvCxnSpPr>
            <a:cxnSpLocks/>
            <a:stCxn id="10" idx="1"/>
            <a:endCxn id="31" idx="3"/>
          </p:cNvCxnSpPr>
          <p:nvPr/>
        </p:nvCxnSpPr>
        <p:spPr>
          <a:xfrm flipH="1" flipV="1">
            <a:off x="8990164" y="5022194"/>
            <a:ext cx="1451287" cy="31920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4228129"/>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ED0D-8272-C528-DD48-F49321AC2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D9091-54FC-CBFB-A8CE-6B964E527FBB}"/>
              </a:ext>
            </a:extLst>
          </p:cNvPr>
          <p:cNvSpPr>
            <a:spLocks noGrp="1"/>
          </p:cNvSpPr>
          <p:nvPr>
            <p:ph type="title"/>
          </p:nvPr>
        </p:nvSpPr>
        <p:spPr>
          <a:xfrm>
            <a:off x="511628" y="305601"/>
            <a:ext cx="11168743" cy="1791506"/>
          </a:xfrm>
        </p:spPr>
        <p:txBody>
          <a:bodyPr>
            <a:noAutofit/>
          </a:bodyPr>
          <a:lstStyle/>
          <a:p>
            <a:r>
              <a:rPr lang="en-US" sz="3200" dirty="0"/>
              <a:t>Step 2: find vector representations sufficient </a:t>
            </a:r>
            <a:br>
              <a:rPr lang="en-US" sz="3200" dirty="0"/>
            </a:br>
            <a:r>
              <a:rPr lang="en-US" sz="3200" dirty="0"/>
              <a:t>to predict the likely context</a:t>
            </a:r>
            <a:br>
              <a:rPr lang="en-US" sz="3200" dirty="0"/>
            </a:br>
            <a:br>
              <a:rPr lang="en-US" sz="1800" dirty="0"/>
            </a:br>
            <a:r>
              <a:rPr lang="en-US" sz="3200" dirty="0"/>
              <a:t>(i.e. what other words are likely/unlikely to be nearby)</a:t>
            </a:r>
            <a:br>
              <a:rPr lang="en-US" sz="3200" dirty="0"/>
            </a:br>
            <a:endParaRPr lang="en-US" sz="3200" dirty="0"/>
          </a:p>
        </p:txBody>
      </p:sp>
      <p:graphicFrame>
        <p:nvGraphicFramePr>
          <p:cNvPr id="14" name="Table 13">
            <a:extLst>
              <a:ext uri="{FF2B5EF4-FFF2-40B4-BE49-F238E27FC236}">
                <a16:creationId xmlns:a16="http://schemas.microsoft.com/office/drawing/2014/main" id="{F077E2A8-D350-9715-C8F7-078BDF8A20AF}"/>
              </a:ext>
            </a:extLst>
          </p:cNvPr>
          <p:cNvGraphicFramePr>
            <a:graphicFrameLocks noGrp="1"/>
          </p:cNvGraphicFramePr>
          <p:nvPr/>
        </p:nvGraphicFramePr>
        <p:xfrm>
          <a:off x="3680847" y="255658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5" name="Table 14">
            <a:extLst>
              <a:ext uri="{FF2B5EF4-FFF2-40B4-BE49-F238E27FC236}">
                <a16:creationId xmlns:a16="http://schemas.microsoft.com/office/drawing/2014/main" id="{94A094FE-C776-DA57-82E3-310246F411BB}"/>
              </a:ext>
            </a:extLst>
          </p:cNvPr>
          <p:cNvGraphicFramePr>
            <a:graphicFrameLocks noGrp="1"/>
          </p:cNvGraphicFramePr>
          <p:nvPr/>
        </p:nvGraphicFramePr>
        <p:xfrm>
          <a:off x="6948407" y="2240505"/>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a:extLst>
              <a:ext uri="{FF2B5EF4-FFF2-40B4-BE49-F238E27FC236}">
                <a16:creationId xmlns:a16="http://schemas.microsoft.com/office/drawing/2014/main" id="{17194B7D-2AC9-45A8-40B0-88AC51073777}"/>
              </a:ext>
            </a:extLst>
          </p:cNvPr>
          <p:cNvGraphicFramePr>
            <a:graphicFrameLocks noGrp="1"/>
          </p:cNvGraphicFramePr>
          <p:nvPr/>
        </p:nvGraphicFramePr>
        <p:xfrm>
          <a:off x="6948407" y="3254686"/>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a:extLst>
              <a:ext uri="{FF2B5EF4-FFF2-40B4-BE49-F238E27FC236}">
                <a16:creationId xmlns:a16="http://schemas.microsoft.com/office/drawing/2014/main" id="{9467DBA3-FB0C-7778-35DA-04C81ECDE66C}"/>
              </a:ext>
            </a:extLst>
          </p:cNvPr>
          <p:cNvSpPr txBox="1"/>
          <p:nvPr/>
        </p:nvSpPr>
        <p:spPr>
          <a:xfrm>
            <a:off x="7561375" y="2251480"/>
            <a:ext cx="939681" cy="400110"/>
          </a:xfrm>
          <a:prstGeom prst="rect">
            <a:avLst/>
          </a:prstGeom>
          <a:noFill/>
        </p:spPr>
        <p:txBody>
          <a:bodyPr wrap="none" rtlCol="0">
            <a:spAutoFit/>
          </a:bodyPr>
          <a:lstStyle/>
          <a:p>
            <a:r>
              <a:rPr lang="en-US" sz="2000" dirty="0"/>
              <a:t>p(man)</a:t>
            </a:r>
          </a:p>
        </p:txBody>
      </p:sp>
      <p:sp>
        <p:nvSpPr>
          <p:cNvPr id="29" name="TextBox 28">
            <a:extLst>
              <a:ext uri="{FF2B5EF4-FFF2-40B4-BE49-F238E27FC236}">
                <a16:creationId xmlns:a16="http://schemas.microsoft.com/office/drawing/2014/main" id="{71CADB39-12E6-7C77-AE35-44F2DA280169}"/>
              </a:ext>
            </a:extLst>
          </p:cNvPr>
          <p:cNvSpPr txBox="1"/>
          <p:nvPr/>
        </p:nvSpPr>
        <p:spPr>
          <a:xfrm>
            <a:off x="7561375" y="2758268"/>
            <a:ext cx="1254702" cy="400110"/>
          </a:xfrm>
          <a:prstGeom prst="rect">
            <a:avLst/>
          </a:prstGeom>
          <a:noFill/>
        </p:spPr>
        <p:txBody>
          <a:bodyPr wrap="none" rtlCol="0">
            <a:spAutoFit/>
          </a:bodyPr>
          <a:lstStyle/>
          <a:p>
            <a:r>
              <a:rPr lang="en-US" sz="2000" dirty="0"/>
              <a:t>p(woman)</a:t>
            </a:r>
          </a:p>
        </p:txBody>
      </p:sp>
      <p:sp>
        <p:nvSpPr>
          <p:cNvPr id="30" name="TextBox 29">
            <a:extLst>
              <a:ext uri="{FF2B5EF4-FFF2-40B4-BE49-F238E27FC236}">
                <a16:creationId xmlns:a16="http://schemas.microsoft.com/office/drawing/2014/main" id="{82B32152-ED8D-522E-9C65-965449CB4C51}"/>
              </a:ext>
            </a:extLst>
          </p:cNvPr>
          <p:cNvSpPr txBox="1"/>
          <p:nvPr/>
        </p:nvSpPr>
        <p:spPr>
          <a:xfrm>
            <a:off x="7561375" y="3806824"/>
            <a:ext cx="973343" cy="400110"/>
          </a:xfrm>
          <a:prstGeom prst="rect">
            <a:avLst/>
          </a:prstGeom>
          <a:noFill/>
        </p:spPr>
        <p:txBody>
          <a:bodyPr wrap="none" rtlCol="0">
            <a:spAutoFit/>
          </a:bodyPr>
          <a:lstStyle/>
          <a:p>
            <a:r>
              <a:rPr lang="en-US" sz="2000" dirty="0"/>
              <a:t>p(child)</a:t>
            </a:r>
          </a:p>
        </p:txBody>
      </p:sp>
      <p:sp>
        <p:nvSpPr>
          <p:cNvPr id="31" name="TextBox 30">
            <a:extLst>
              <a:ext uri="{FF2B5EF4-FFF2-40B4-BE49-F238E27FC236}">
                <a16:creationId xmlns:a16="http://schemas.microsoft.com/office/drawing/2014/main" id="{D608557B-162E-F835-147E-94B33F0BA10F}"/>
              </a:ext>
            </a:extLst>
          </p:cNvPr>
          <p:cNvSpPr txBox="1"/>
          <p:nvPr/>
        </p:nvSpPr>
        <p:spPr>
          <a:xfrm>
            <a:off x="7561375" y="4822139"/>
            <a:ext cx="1428789" cy="400110"/>
          </a:xfrm>
          <a:prstGeom prst="rect">
            <a:avLst/>
          </a:prstGeom>
          <a:noFill/>
        </p:spPr>
        <p:txBody>
          <a:bodyPr wrap="none" rtlCol="0">
            <a:spAutoFit/>
          </a:bodyPr>
          <a:lstStyle/>
          <a:p>
            <a:r>
              <a:rPr lang="en-US" sz="2000" dirty="0"/>
              <a:t>p(crocodile)</a:t>
            </a:r>
          </a:p>
        </p:txBody>
      </p:sp>
      <p:sp>
        <p:nvSpPr>
          <p:cNvPr id="32" name="TextBox 31">
            <a:extLst>
              <a:ext uri="{FF2B5EF4-FFF2-40B4-BE49-F238E27FC236}">
                <a16:creationId xmlns:a16="http://schemas.microsoft.com/office/drawing/2014/main" id="{C6084BB0-C921-DA4C-7C50-620FE5933943}"/>
              </a:ext>
            </a:extLst>
          </p:cNvPr>
          <p:cNvSpPr txBox="1"/>
          <p:nvPr/>
        </p:nvSpPr>
        <p:spPr>
          <a:xfrm>
            <a:off x="7561375" y="4278632"/>
            <a:ext cx="1250663" cy="400110"/>
          </a:xfrm>
          <a:prstGeom prst="rect">
            <a:avLst/>
          </a:prstGeom>
          <a:noFill/>
        </p:spPr>
        <p:txBody>
          <a:bodyPr wrap="none" rtlCol="0">
            <a:spAutoFit/>
          </a:bodyPr>
          <a:lstStyle/>
          <a:p>
            <a:r>
              <a:rPr lang="en-US" sz="2000" dirty="0"/>
              <a:t>p(banana)</a:t>
            </a:r>
          </a:p>
        </p:txBody>
      </p:sp>
      <p:sp>
        <p:nvSpPr>
          <p:cNvPr id="33" name="TextBox 32">
            <a:extLst>
              <a:ext uri="{FF2B5EF4-FFF2-40B4-BE49-F238E27FC236}">
                <a16:creationId xmlns:a16="http://schemas.microsoft.com/office/drawing/2014/main" id="{695BEA8D-1034-1FCA-2018-3BE3E1D28DBB}"/>
              </a:ext>
            </a:extLst>
          </p:cNvPr>
          <p:cNvSpPr txBox="1"/>
          <p:nvPr/>
        </p:nvSpPr>
        <p:spPr>
          <a:xfrm>
            <a:off x="7531751" y="5790528"/>
            <a:ext cx="1309910" cy="400110"/>
          </a:xfrm>
          <a:prstGeom prst="rect">
            <a:avLst/>
          </a:prstGeom>
          <a:noFill/>
        </p:spPr>
        <p:txBody>
          <a:bodyPr wrap="none" rtlCol="0">
            <a:spAutoFit/>
          </a:bodyPr>
          <a:lstStyle/>
          <a:p>
            <a:r>
              <a:rPr lang="en-US" sz="2000" dirty="0"/>
              <a:t>p(concept)</a:t>
            </a:r>
          </a:p>
        </p:txBody>
      </p:sp>
      <p:sp>
        <p:nvSpPr>
          <p:cNvPr id="37" name="Left Brace 36">
            <a:extLst>
              <a:ext uri="{FF2B5EF4-FFF2-40B4-BE49-F238E27FC236}">
                <a16:creationId xmlns:a16="http://schemas.microsoft.com/office/drawing/2014/main" id="{BC2B8F15-509B-2AF6-BFDB-B69B5CE642B4}"/>
              </a:ext>
            </a:extLst>
          </p:cNvPr>
          <p:cNvSpPr/>
          <p:nvPr/>
        </p:nvSpPr>
        <p:spPr>
          <a:xfrm>
            <a:off x="2125083" y="2556584"/>
            <a:ext cx="654844" cy="305592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94D2396B-DEA1-738B-4439-BEC32589BEF9}"/>
              </a:ext>
            </a:extLst>
          </p:cNvPr>
          <p:cNvSpPr txBox="1"/>
          <p:nvPr/>
        </p:nvSpPr>
        <p:spPr>
          <a:xfrm>
            <a:off x="350948" y="3422827"/>
            <a:ext cx="1729898" cy="1323439"/>
          </a:xfrm>
          <a:prstGeom prst="rect">
            <a:avLst/>
          </a:prstGeom>
          <a:noFill/>
        </p:spPr>
        <p:txBody>
          <a:bodyPr wrap="square" rtlCol="0">
            <a:spAutoFit/>
          </a:bodyPr>
          <a:lstStyle/>
          <a:p>
            <a:pPr algn="ctr"/>
            <a:r>
              <a:rPr lang="en-US" sz="2000" dirty="0"/>
              <a:t>elements of the vector corresponding to “</a:t>
            </a:r>
            <a:r>
              <a:rPr lang="en-US" sz="2000" dirty="0">
                <a:solidFill>
                  <a:srgbClr val="FF0000"/>
                </a:solidFill>
              </a:rPr>
              <a:t>swims</a:t>
            </a:r>
            <a:r>
              <a:rPr lang="en-US" sz="2000" dirty="0"/>
              <a:t>”</a:t>
            </a:r>
          </a:p>
        </p:txBody>
      </p:sp>
      <p:sp>
        <p:nvSpPr>
          <p:cNvPr id="39" name="Left Brace 38">
            <a:extLst>
              <a:ext uri="{FF2B5EF4-FFF2-40B4-BE49-F238E27FC236}">
                <a16:creationId xmlns:a16="http://schemas.microsoft.com/office/drawing/2014/main" id="{011546AE-F80E-3405-FF1D-D7714CF2B88C}"/>
              </a:ext>
            </a:extLst>
          </p:cNvPr>
          <p:cNvSpPr/>
          <p:nvPr/>
        </p:nvSpPr>
        <p:spPr>
          <a:xfrm rot="10800000">
            <a:off x="9222621" y="2240504"/>
            <a:ext cx="654844" cy="4070107"/>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E8B88B0C-9B2A-619A-4AE3-010BDCB64772}"/>
              </a:ext>
            </a:extLst>
          </p:cNvPr>
          <p:cNvSpPr txBox="1"/>
          <p:nvPr/>
        </p:nvSpPr>
        <p:spPr>
          <a:xfrm>
            <a:off x="10215967" y="3768468"/>
            <a:ext cx="1729898" cy="1015663"/>
          </a:xfrm>
          <a:prstGeom prst="rect">
            <a:avLst/>
          </a:prstGeom>
          <a:noFill/>
        </p:spPr>
        <p:txBody>
          <a:bodyPr wrap="square" rtlCol="0">
            <a:spAutoFit/>
          </a:bodyPr>
          <a:lstStyle/>
          <a:p>
            <a:pPr algn="ctr"/>
            <a:r>
              <a:rPr lang="en-US" sz="2000" dirty="0"/>
              <a:t>probabilities for all words in our vocabulary</a:t>
            </a:r>
          </a:p>
        </p:txBody>
      </p:sp>
      <p:sp>
        <p:nvSpPr>
          <p:cNvPr id="4" name="Right Arrow 3">
            <a:extLst>
              <a:ext uri="{FF2B5EF4-FFF2-40B4-BE49-F238E27FC236}">
                <a16:creationId xmlns:a16="http://schemas.microsoft.com/office/drawing/2014/main" id="{BB284ED3-708E-EED6-528C-C0B63AA37CCC}"/>
              </a:ext>
            </a:extLst>
          </p:cNvPr>
          <p:cNvSpPr/>
          <p:nvPr/>
        </p:nvSpPr>
        <p:spPr>
          <a:xfrm>
            <a:off x="4772101" y="3366446"/>
            <a:ext cx="1625031" cy="128086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predict/</a:t>
            </a:r>
          </a:p>
          <a:p>
            <a:pPr algn="ctr"/>
            <a:r>
              <a:rPr lang="en-US" dirty="0"/>
              <a:t>reconstruct</a:t>
            </a:r>
          </a:p>
        </p:txBody>
      </p:sp>
      <p:sp>
        <p:nvSpPr>
          <p:cNvPr id="5" name="TextBox 4">
            <a:extLst>
              <a:ext uri="{FF2B5EF4-FFF2-40B4-BE49-F238E27FC236}">
                <a16:creationId xmlns:a16="http://schemas.microsoft.com/office/drawing/2014/main" id="{09565839-BBFE-4F77-78C1-1033F5046443}"/>
              </a:ext>
            </a:extLst>
          </p:cNvPr>
          <p:cNvSpPr txBox="1"/>
          <p:nvPr/>
        </p:nvSpPr>
        <p:spPr>
          <a:xfrm>
            <a:off x="10258425" y="2479668"/>
            <a:ext cx="1687440" cy="1015663"/>
          </a:xfrm>
          <a:prstGeom prst="rect">
            <a:avLst/>
          </a:prstGeom>
          <a:noFill/>
        </p:spPr>
        <p:txBody>
          <a:bodyPr wrap="square" rtlCol="0">
            <a:spAutoFit/>
          </a:bodyPr>
          <a:lstStyle/>
          <a:p>
            <a:pPr algn="ctr"/>
            <a:r>
              <a:rPr lang="en-US" sz="2000" dirty="0"/>
              <a:t>large but smaller than before</a:t>
            </a:r>
          </a:p>
        </p:txBody>
      </p:sp>
      <p:cxnSp>
        <p:nvCxnSpPr>
          <p:cNvPr id="6" name="Straight Arrow Connector 5">
            <a:extLst>
              <a:ext uri="{FF2B5EF4-FFF2-40B4-BE49-F238E27FC236}">
                <a16:creationId xmlns:a16="http://schemas.microsoft.com/office/drawing/2014/main" id="{D5E5805A-3798-5D71-D6BE-F171A1A1B1A9}"/>
              </a:ext>
            </a:extLst>
          </p:cNvPr>
          <p:cNvCxnSpPr>
            <a:cxnSpLocks/>
            <a:stCxn id="5" idx="1"/>
            <a:endCxn id="28" idx="3"/>
          </p:cNvCxnSpPr>
          <p:nvPr/>
        </p:nvCxnSpPr>
        <p:spPr>
          <a:xfrm flipH="1" flipV="1">
            <a:off x="8501056" y="2451535"/>
            <a:ext cx="1757369" cy="5359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3329DB-5A62-0062-6C87-5D7287A89ECD}"/>
              </a:ext>
            </a:extLst>
          </p:cNvPr>
          <p:cNvCxnSpPr>
            <a:cxnSpLocks/>
            <a:stCxn id="5" idx="1"/>
            <a:endCxn id="29" idx="3"/>
          </p:cNvCxnSpPr>
          <p:nvPr/>
        </p:nvCxnSpPr>
        <p:spPr>
          <a:xfrm flipH="1" flipV="1">
            <a:off x="8816077" y="2958323"/>
            <a:ext cx="1442348" cy="291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F5D3898-6E4E-08BA-F2CA-E51306061D89}"/>
              </a:ext>
            </a:extLst>
          </p:cNvPr>
          <p:cNvSpPr txBox="1"/>
          <p:nvPr/>
        </p:nvSpPr>
        <p:spPr>
          <a:xfrm>
            <a:off x="10258425" y="5947958"/>
            <a:ext cx="1215416" cy="400110"/>
          </a:xfrm>
          <a:prstGeom prst="rect">
            <a:avLst/>
          </a:prstGeom>
          <a:noFill/>
        </p:spPr>
        <p:txBody>
          <a:bodyPr wrap="square" rtlCol="0">
            <a:spAutoFit/>
          </a:bodyPr>
          <a:lstStyle/>
          <a:p>
            <a:pPr algn="ctr"/>
            <a:r>
              <a:rPr lang="en-US" sz="2000" dirty="0"/>
              <a:t>close to 0</a:t>
            </a:r>
          </a:p>
        </p:txBody>
      </p:sp>
      <p:cxnSp>
        <p:nvCxnSpPr>
          <p:cNvPr id="9" name="Straight Arrow Connector 8">
            <a:extLst>
              <a:ext uri="{FF2B5EF4-FFF2-40B4-BE49-F238E27FC236}">
                <a16:creationId xmlns:a16="http://schemas.microsoft.com/office/drawing/2014/main" id="{2194412B-466A-E870-5EC2-5BE74EE882EE}"/>
              </a:ext>
            </a:extLst>
          </p:cNvPr>
          <p:cNvCxnSpPr>
            <a:cxnSpLocks/>
            <a:stCxn id="8" idx="1"/>
            <a:endCxn id="33" idx="3"/>
          </p:cNvCxnSpPr>
          <p:nvPr/>
        </p:nvCxnSpPr>
        <p:spPr>
          <a:xfrm flipH="1" flipV="1">
            <a:off x="8841661" y="5990583"/>
            <a:ext cx="1416764" cy="1574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BF6FEB4-35C4-7FAB-3A42-09D9B95B0ECE}"/>
              </a:ext>
            </a:extLst>
          </p:cNvPr>
          <p:cNvSpPr txBox="1"/>
          <p:nvPr/>
        </p:nvSpPr>
        <p:spPr>
          <a:xfrm>
            <a:off x="10366040" y="5082642"/>
            <a:ext cx="1429752" cy="707886"/>
          </a:xfrm>
          <a:prstGeom prst="rect">
            <a:avLst/>
          </a:prstGeom>
          <a:noFill/>
        </p:spPr>
        <p:txBody>
          <a:bodyPr wrap="square" rtlCol="0">
            <a:spAutoFit/>
          </a:bodyPr>
          <a:lstStyle/>
          <a:p>
            <a:pPr algn="ctr"/>
            <a:r>
              <a:rPr lang="en-US" sz="2000" dirty="0"/>
              <a:t>larger than before</a:t>
            </a:r>
          </a:p>
        </p:txBody>
      </p:sp>
      <p:cxnSp>
        <p:nvCxnSpPr>
          <p:cNvPr id="11" name="Straight Arrow Connector 10">
            <a:extLst>
              <a:ext uri="{FF2B5EF4-FFF2-40B4-BE49-F238E27FC236}">
                <a16:creationId xmlns:a16="http://schemas.microsoft.com/office/drawing/2014/main" id="{31918C17-32E5-60A3-56C1-77B37FDEA67E}"/>
              </a:ext>
            </a:extLst>
          </p:cNvPr>
          <p:cNvCxnSpPr>
            <a:cxnSpLocks/>
            <a:stCxn id="10" idx="1"/>
            <a:endCxn id="31" idx="3"/>
          </p:cNvCxnSpPr>
          <p:nvPr/>
        </p:nvCxnSpPr>
        <p:spPr>
          <a:xfrm flipH="1" flipV="1">
            <a:off x="8990164" y="5022194"/>
            <a:ext cx="1375876" cy="414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8F67DC2-061E-523F-C272-BF0E1D054243}"/>
              </a:ext>
            </a:extLst>
          </p:cNvPr>
          <p:cNvSpPr txBox="1"/>
          <p:nvPr/>
        </p:nvSpPr>
        <p:spPr>
          <a:xfrm>
            <a:off x="3482247" y="5790528"/>
            <a:ext cx="1105111" cy="400110"/>
          </a:xfrm>
          <a:prstGeom prst="rect">
            <a:avLst/>
          </a:prstGeom>
          <a:noFill/>
          <a:ln>
            <a:solidFill>
              <a:srgbClr val="FF0000"/>
            </a:solidFill>
          </a:ln>
        </p:spPr>
        <p:txBody>
          <a:bodyPr wrap="none" rtlCol="0">
            <a:spAutoFit/>
          </a:bodyPr>
          <a:lstStyle/>
          <a:p>
            <a:r>
              <a:rPr lang="en-US" sz="2000" dirty="0"/>
              <a:t>v(swims)</a:t>
            </a:r>
          </a:p>
        </p:txBody>
      </p:sp>
    </p:spTree>
    <p:extLst>
      <p:ext uri="{BB962C8B-B14F-4D97-AF65-F5344CB8AC3E}">
        <p14:creationId xmlns:p14="http://schemas.microsoft.com/office/powerpoint/2010/main" val="153033289"/>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28269-B8BB-BD1D-39AB-C9470B628D80}"/>
              </a:ext>
            </a:extLst>
          </p:cNvPr>
          <p:cNvSpPr>
            <a:spLocks noGrp="1"/>
          </p:cNvSpPr>
          <p:nvPr>
            <p:ph type="title"/>
          </p:nvPr>
        </p:nvSpPr>
        <p:spPr/>
        <p:txBody>
          <a:bodyPr/>
          <a:lstStyle/>
          <a:p>
            <a:r>
              <a:rPr lang="en-US" dirty="0"/>
              <a:t>Recall: self-supervised learning</a:t>
            </a:r>
          </a:p>
        </p:txBody>
      </p:sp>
      <p:pic>
        <p:nvPicPr>
          <p:cNvPr id="4" name="Picture 3">
            <a:extLst>
              <a:ext uri="{FF2B5EF4-FFF2-40B4-BE49-F238E27FC236}">
                <a16:creationId xmlns:a16="http://schemas.microsoft.com/office/drawing/2014/main" id="{AAB95E1C-0DCD-DA94-2BFC-13BC03E87917}"/>
              </a:ext>
            </a:extLst>
          </p:cNvPr>
          <p:cNvPicPr>
            <a:picLocks noChangeAspect="1"/>
          </p:cNvPicPr>
          <p:nvPr/>
        </p:nvPicPr>
        <p:blipFill rotWithShape="1">
          <a:blip r:embed="rId3"/>
          <a:srcRect l="24058" t="1374" r="27939" b="5206"/>
          <a:stretch>
            <a:fillRect/>
          </a:stretch>
        </p:blipFill>
        <p:spPr>
          <a:xfrm>
            <a:off x="8074763" y="531188"/>
            <a:ext cx="2972318" cy="3253809"/>
          </a:xfrm>
          <a:prstGeom prst="rect">
            <a:avLst/>
          </a:prstGeom>
        </p:spPr>
      </p:pic>
      <p:pic>
        <p:nvPicPr>
          <p:cNvPr id="5" name="Picture 4">
            <a:extLst>
              <a:ext uri="{FF2B5EF4-FFF2-40B4-BE49-F238E27FC236}">
                <a16:creationId xmlns:a16="http://schemas.microsoft.com/office/drawing/2014/main" id="{55CF01E7-2883-B81E-63AA-696D57E9F9A6}"/>
              </a:ext>
            </a:extLst>
          </p:cNvPr>
          <p:cNvPicPr>
            <a:picLocks noChangeAspect="1"/>
          </p:cNvPicPr>
          <p:nvPr/>
        </p:nvPicPr>
        <p:blipFill rotWithShape="1">
          <a:blip r:embed="rId3"/>
          <a:srcRect l="34603" t="72041" r="53166" b="8908"/>
          <a:stretch>
            <a:fillRect/>
          </a:stretch>
        </p:blipFill>
        <p:spPr>
          <a:xfrm>
            <a:off x="8515770" y="4067786"/>
            <a:ext cx="2641908" cy="2314815"/>
          </a:xfrm>
          <a:prstGeom prst="rect">
            <a:avLst/>
          </a:prstGeom>
        </p:spPr>
      </p:pic>
      <p:sp>
        <p:nvSpPr>
          <p:cNvPr id="6" name="TextBox 5">
            <a:extLst>
              <a:ext uri="{FF2B5EF4-FFF2-40B4-BE49-F238E27FC236}">
                <a16:creationId xmlns:a16="http://schemas.microsoft.com/office/drawing/2014/main" id="{F2B76693-087F-B542-B34D-1EB0996FE771}"/>
              </a:ext>
            </a:extLst>
          </p:cNvPr>
          <p:cNvSpPr txBox="1"/>
          <p:nvPr/>
        </p:nvSpPr>
        <p:spPr>
          <a:xfrm>
            <a:off x="6447615" y="1758449"/>
            <a:ext cx="1372068" cy="923329"/>
          </a:xfrm>
          <a:prstGeom prst="rect">
            <a:avLst/>
          </a:prstGeom>
          <a:noFill/>
        </p:spPr>
        <p:txBody>
          <a:bodyPr wrap="square" rtlCol="0">
            <a:spAutoFit/>
          </a:bodyPr>
          <a:lstStyle/>
          <a:p>
            <a:r>
              <a:rPr lang="en-US" dirty="0"/>
              <a:t>contrastive / noise contrastive</a:t>
            </a:r>
          </a:p>
        </p:txBody>
      </p:sp>
      <p:sp>
        <p:nvSpPr>
          <p:cNvPr id="7" name="TextBox 6">
            <a:extLst>
              <a:ext uri="{FF2B5EF4-FFF2-40B4-BE49-F238E27FC236}">
                <a16:creationId xmlns:a16="http://schemas.microsoft.com/office/drawing/2014/main" id="{53BD18B5-9B01-47AD-90C3-31CE3F87F420}"/>
              </a:ext>
            </a:extLst>
          </p:cNvPr>
          <p:cNvSpPr txBox="1"/>
          <p:nvPr/>
        </p:nvSpPr>
        <p:spPr>
          <a:xfrm>
            <a:off x="6447615" y="4596198"/>
            <a:ext cx="1825125" cy="923330"/>
          </a:xfrm>
          <a:prstGeom prst="rect">
            <a:avLst/>
          </a:prstGeom>
          <a:noFill/>
        </p:spPr>
        <p:txBody>
          <a:bodyPr wrap="square" rtlCol="0">
            <a:spAutoFit/>
          </a:bodyPr>
          <a:lstStyle/>
          <a:p>
            <a:r>
              <a:rPr lang="en-US" dirty="0"/>
              <a:t>masked token / patch / sequence prediction</a:t>
            </a:r>
          </a:p>
        </p:txBody>
      </p:sp>
      <p:sp>
        <p:nvSpPr>
          <p:cNvPr id="8" name="Rectangle 7">
            <a:extLst>
              <a:ext uri="{FF2B5EF4-FFF2-40B4-BE49-F238E27FC236}">
                <a16:creationId xmlns:a16="http://schemas.microsoft.com/office/drawing/2014/main" id="{B45DFC6C-C11D-4A5F-BEE0-692C146B4082}"/>
              </a:ext>
            </a:extLst>
          </p:cNvPr>
          <p:cNvSpPr/>
          <p:nvPr/>
        </p:nvSpPr>
        <p:spPr>
          <a:xfrm>
            <a:off x="9560922" y="4372423"/>
            <a:ext cx="1363980" cy="12039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E21E5EFB-8D47-5414-169D-10E894F02F14}"/>
              </a:ext>
            </a:extLst>
          </p:cNvPr>
          <p:cNvSpPr>
            <a:spLocks noGrp="1"/>
          </p:cNvSpPr>
          <p:nvPr>
            <p:ph idx="1"/>
          </p:nvPr>
        </p:nvSpPr>
        <p:spPr>
          <a:xfrm>
            <a:off x="838200" y="2155371"/>
            <a:ext cx="3886200" cy="4021593"/>
          </a:xfrm>
        </p:spPr>
        <p:txBody>
          <a:bodyPr/>
          <a:lstStyle/>
          <a:p>
            <a:r>
              <a:rPr lang="en-US" dirty="0"/>
              <a:t>We are predicting context words from input words (skip-gram)</a:t>
            </a:r>
          </a:p>
          <a:p>
            <a:endParaRPr lang="en-US" dirty="0"/>
          </a:p>
          <a:p>
            <a:r>
              <a:rPr lang="en-US" dirty="0"/>
              <a:t>Later we will consider a noise contrastive version of this</a:t>
            </a:r>
          </a:p>
        </p:txBody>
      </p:sp>
      <p:sp>
        <p:nvSpPr>
          <p:cNvPr id="12" name="Rectangle 11">
            <a:extLst>
              <a:ext uri="{FF2B5EF4-FFF2-40B4-BE49-F238E27FC236}">
                <a16:creationId xmlns:a16="http://schemas.microsoft.com/office/drawing/2014/main" id="{DDC3B2A7-351F-9A8E-DDD8-7BFC33D2ECBF}"/>
              </a:ext>
            </a:extLst>
          </p:cNvPr>
          <p:cNvSpPr/>
          <p:nvPr/>
        </p:nvSpPr>
        <p:spPr>
          <a:xfrm>
            <a:off x="6281056" y="3886023"/>
            <a:ext cx="5072743" cy="2678340"/>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51174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graphicFrame>
        <p:nvGraphicFramePr>
          <p:cNvPr id="27" name="Table 26"/>
          <p:cNvGraphicFramePr>
            <a:graphicFrameLocks noGrp="1"/>
          </p:cNvGraphicFramePr>
          <p:nvPr>
            <p:extLst>
              <p:ext uri="{D42A27DB-BD31-4B8C-83A1-F6EECF244321}">
                <p14:modId xmlns:p14="http://schemas.microsoft.com/office/powerpoint/2010/main" val="1075965001"/>
              </p:ext>
            </p:extLst>
          </p:nvPr>
        </p:nvGraphicFramePr>
        <p:xfrm>
          <a:off x="5697538" y="1874484"/>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mc:AlternateContent xmlns:mc="http://schemas.openxmlformats.org/markup-compatibility/2006" xmlns:a14="http://schemas.microsoft.com/office/drawing/2010/main">
        <mc:Choice Requires="a14">
          <p:sp>
            <p:nvSpPr>
              <p:cNvPr id="28" name="TextBox 27"/>
              <p:cNvSpPr txBox="1"/>
              <p:nvPr/>
            </p:nvSpPr>
            <p:spPr>
              <a:xfrm>
                <a:off x="5746893" y="5051647"/>
                <a:ext cx="389337" cy="40011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𝑣</m:t>
                      </m:r>
                    </m:oMath>
                  </m:oMathPara>
                </a14:m>
                <a:endParaRPr lang="en-US" sz="2000" dirty="0"/>
              </a:p>
            </p:txBody>
          </p:sp>
        </mc:Choice>
        <mc:Fallback xmlns="">
          <p:sp>
            <p:nvSpPr>
              <p:cNvPr id="28" name="TextBox 27"/>
              <p:cNvSpPr txBox="1">
                <a:spLocks noRot="1" noChangeAspect="1" noMove="1" noResize="1" noEditPoints="1" noAdjustHandles="1" noChangeArrowheads="1" noChangeShapeType="1" noTextEdit="1"/>
              </p:cNvSpPr>
              <p:nvPr/>
            </p:nvSpPr>
            <p:spPr>
              <a:xfrm>
                <a:off x="5746893" y="5051647"/>
                <a:ext cx="389337" cy="400110"/>
              </a:xfrm>
              <a:prstGeom prst="rect">
                <a:avLst/>
              </a:prstGeom>
              <a:blipFill>
                <a:blip r:embed="rId3"/>
                <a:stretch>
                  <a:fillRect/>
                </a:stretch>
              </a:blipFill>
              <a:ln>
                <a:noFill/>
              </a:ln>
            </p:spPr>
            <p:txBody>
              <a:bodyPr/>
              <a:lstStyle/>
              <a:p>
                <a:r>
                  <a:rPr lang="en-US">
                    <a:noFill/>
                  </a:rPr>
                  <a:t> </a:t>
                </a:r>
              </a:p>
            </p:txBody>
          </p:sp>
        </mc:Fallback>
      </mc:AlternateContent>
      <p:graphicFrame>
        <p:nvGraphicFramePr>
          <p:cNvPr id="31" name="Table 30"/>
          <p:cNvGraphicFramePr>
            <a:graphicFrameLocks noGrp="1"/>
          </p:cNvGraphicFramePr>
          <p:nvPr>
            <p:extLst>
              <p:ext uri="{D42A27DB-BD31-4B8C-83A1-F6EECF244321}">
                <p14:modId xmlns:p14="http://schemas.microsoft.com/office/powerpoint/2010/main" val="4269099887"/>
              </p:ext>
            </p:extLst>
          </p:nvPr>
        </p:nvGraphicFramePr>
        <p:xfrm>
          <a:off x="9008462" y="1514144"/>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p:cNvSpPr txBox="1"/>
          <p:nvPr/>
        </p:nvSpPr>
        <p:spPr>
          <a:xfrm>
            <a:off x="9578066" y="1569379"/>
            <a:ext cx="939681" cy="400110"/>
          </a:xfrm>
          <a:prstGeom prst="rect">
            <a:avLst/>
          </a:prstGeom>
          <a:noFill/>
        </p:spPr>
        <p:txBody>
          <a:bodyPr wrap="none" rtlCol="0">
            <a:spAutoFit/>
          </a:bodyPr>
          <a:lstStyle/>
          <a:p>
            <a:r>
              <a:rPr lang="en-US" sz="2000" dirty="0"/>
              <a:t>p(man)</a:t>
            </a:r>
          </a:p>
        </p:txBody>
      </p:sp>
      <p:sp>
        <p:nvSpPr>
          <p:cNvPr id="33" name="TextBox 32"/>
          <p:cNvSpPr txBox="1"/>
          <p:nvPr/>
        </p:nvSpPr>
        <p:spPr>
          <a:xfrm>
            <a:off x="9578066" y="2076167"/>
            <a:ext cx="1254702" cy="400110"/>
          </a:xfrm>
          <a:prstGeom prst="rect">
            <a:avLst/>
          </a:prstGeom>
          <a:noFill/>
        </p:spPr>
        <p:txBody>
          <a:bodyPr wrap="none" rtlCol="0">
            <a:spAutoFit/>
          </a:bodyPr>
          <a:lstStyle/>
          <a:p>
            <a:r>
              <a:rPr lang="en-US" sz="2000" dirty="0"/>
              <a:t>p(woman)</a:t>
            </a:r>
          </a:p>
        </p:txBody>
      </p:sp>
      <p:sp>
        <p:nvSpPr>
          <p:cNvPr id="34" name="TextBox 33"/>
          <p:cNvSpPr txBox="1"/>
          <p:nvPr/>
        </p:nvSpPr>
        <p:spPr>
          <a:xfrm>
            <a:off x="9578066" y="3124723"/>
            <a:ext cx="973343" cy="400110"/>
          </a:xfrm>
          <a:prstGeom prst="rect">
            <a:avLst/>
          </a:prstGeom>
          <a:noFill/>
        </p:spPr>
        <p:txBody>
          <a:bodyPr wrap="none" rtlCol="0">
            <a:spAutoFit/>
          </a:bodyPr>
          <a:lstStyle/>
          <a:p>
            <a:r>
              <a:rPr lang="en-US" sz="2000" dirty="0"/>
              <a:t>p(child)</a:t>
            </a:r>
          </a:p>
        </p:txBody>
      </p:sp>
      <p:sp>
        <p:nvSpPr>
          <p:cNvPr id="35" name="TextBox 34"/>
          <p:cNvSpPr txBox="1"/>
          <p:nvPr/>
        </p:nvSpPr>
        <p:spPr>
          <a:xfrm>
            <a:off x="9578066" y="4140038"/>
            <a:ext cx="1428789" cy="400110"/>
          </a:xfrm>
          <a:prstGeom prst="rect">
            <a:avLst/>
          </a:prstGeom>
          <a:noFill/>
        </p:spPr>
        <p:txBody>
          <a:bodyPr wrap="none" rtlCol="0">
            <a:spAutoFit/>
          </a:bodyPr>
          <a:lstStyle/>
          <a:p>
            <a:r>
              <a:rPr lang="en-US" sz="2000" dirty="0"/>
              <a:t>p(crocodile)</a:t>
            </a:r>
          </a:p>
        </p:txBody>
      </p:sp>
      <p:sp>
        <p:nvSpPr>
          <p:cNvPr id="36" name="TextBox 35"/>
          <p:cNvSpPr txBox="1"/>
          <p:nvPr/>
        </p:nvSpPr>
        <p:spPr>
          <a:xfrm>
            <a:off x="9578066" y="3596531"/>
            <a:ext cx="1250663" cy="400110"/>
          </a:xfrm>
          <a:prstGeom prst="rect">
            <a:avLst/>
          </a:prstGeom>
          <a:noFill/>
        </p:spPr>
        <p:txBody>
          <a:bodyPr wrap="none" rtlCol="0">
            <a:spAutoFit/>
          </a:bodyPr>
          <a:lstStyle/>
          <a:p>
            <a:r>
              <a:rPr lang="en-US" sz="2000" dirty="0"/>
              <a:t>p(banana)</a:t>
            </a:r>
          </a:p>
        </p:txBody>
      </p:sp>
      <p:sp>
        <p:nvSpPr>
          <p:cNvPr id="37" name="TextBox 36"/>
          <p:cNvSpPr txBox="1"/>
          <p:nvPr/>
        </p:nvSpPr>
        <p:spPr>
          <a:xfrm>
            <a:off x="9548442" y="5108427"/>
            <a:ext cx="1309910" cy="400110"/>
          </a:xfrm>
          <a:prstGeom prst="rect">
            <a:avLst/>
          </a:prstGeom>
          <a:noFill/>
        </p:spPr>
        <p:txBody>
          <a:bodyPr wrap="none" rtlCol="0">
            <a:spAutoFit/>
          </a:bodyPr>
          <a:lstStyle/>
          <a:p>
            <a:r>
              <a:rPr lang="en-US" sz="2000" dirty="0"/>
              <a:t>p(concept)</a:t>
            </a:r>
          </a:p>
        </p:txBody>
      </p:sp>
      <p:graphicFrame>
        <p:nvGraphicFramePr>
          <p:cNvPr id="40" name="Table 39"/>
          <p:cNvGraphicFramePr>
            <a:graphicFrameLocks noGrp="1"/>
          </p:cNvGraphicFramePr>
          <p:nvPr>
            <p:extLst>
              <p:ext uri="{D42A27DB-BD31-4B8C-83A1-F6EECF244321}">
                <p14:modId xmlns:p14="http://schemas.microsoft.com/office/powerpoint/2010/main" val="66680294"/>
              </p:ext>
            </p:extLst>
          </p:nvPr>
        </p:nvGraphicFramePr>
        <p:xfrm>
          <a:off x="7353000" y="1515398"/>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5" name="Straight Arrow Connector 4"/>
          <p:cNvCxnSpPr/>
          <p:nvPr/>
        </p:nvCxnSpPr>
        <p:spPr>
          <a:xfrm flipV="1">
            <a:off x="6237518" y="1514144"/>
            <a:ext cx="1115482" cy="3603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237518" y="4930410"/>
            <a:ext cx="1115482" cy="6583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610444" y="3205220"/>
            <a:ext cx="354293" cy="39194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610444" y="3206474"/>
            <a:ext cx="369629" cy="3906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7892980" y="173037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7892980" y="227058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7903119" y="277906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7917429" y="327186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7909912" y="379612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7923817" y="4287445"/>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7909912" y="482088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7918571" y="53931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095555" y="1518604"/>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B188C2A-5DB7-B95B-A8A3-51C02A19C9EB}"/>
                  </a:ext>
                </a:extLst>
              </p:cNvPr>
              <p:cNvSpPr txBox="1"/>
              <p:nvPr/>
            </p:nvSpPr>
            <p:spPr>
              <a:xfrm>
                <a:off x="1195401" y="3271866"/>
                <a:ext cx="2918460" cy="923330"/>
              </a:xfrm>
              <a:prstGeom prst="rect">
                <a:avLst/>
              </a:prstGeom>
              <a:noFill/>
            </p:spPr>
            <p:txBody>
              <a:bodyPr wrap="square" rtlCol="0">
                <a:spAutoFit/>
              </a:bodyPr>
              <a:lstStyle/>
              <a:p>
                <a:r>
                  <a:rPr lang="en-US" dirty="0"/>
                  <a:t>Our vector representation </a:t>
                </a:r>
                <a14:m>
                  <m:oMath xmlns:m="http://schemas.openxmlformats.org/officeDocument/2006/math">
                    <m:r>
                      <a:rPr lang="en-US" i="1" dirty="0" smtClean="0">
                        <a:latin typeface="Cambria Math" panose="02040503050406030204" pitchFamily="18" charset="0"/>
                      </a:rPr>
                      <m:t>𝑣</m:t>
                    </m:r>
                  </m:oMath>
                </a14:m>
                <a:r>
                  <a:rPr lang="en-US" dirty="0"/>
                  <a:t> should be sufficient to predict likely context words</a:t>
                </a:r>
              </a:p>
            </p:txBody>
          </p:sp>
        </mc:Choice>
        <mc:Fallback xmlns="">
          <p:sp>
            <p:nvSpPr>
              <p:cNvPr id="2" name="TextBox 1">
                <a:extLst>
                  <a:ext uri="{FF2B5EF4-FFF2-40B4-BE49-F238E27FC236}">
                    <a16:creationId xmlns:a16="http://schemas.microsoft.com/office/drawing/2014/main" id="{EB188C2A-5DB7-B95B-A8A3-51C02A19C9EB}"/>
                  </a:ext>
                </a:extLst>
              </p:cNvPr>
              <p:cNvSpPr txBox="1">
                <a:spLocks noRot="1" noChangeAspect="1" noMove="1" noResize="1" noEditPoints="1" noAdjustHandles="1" noChangeArrowheads="1" noChangeShapeType="1" noTextEdit="1"/>
              </p:cNvSpPr>
              <p:nvPr/>
            </p:nvSpPr>
            <p:spPr>
              <a:xfrm>
                <a:off x="1195401" y="3271866"/>
                <a:ext cx="2918460" cy="923330"/>
              </a:xfrm>
              <a:prstGeom prst="rect">
                <a:avLst/>
              </a:prstGeom>
              <a:blipFill>
                <a:blip r:embed="rId4"/>
                <a:stretch>
                  <a:fillRect l="-1739" t="-2703"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4AF025-F703-DA37-1F81-32D56A7B1F84}"/>
                  </a:ext>
                </a:extLst>
              </p:cNvPr>
              <p:cNvSpPr txBox="1"/>
              <p:nvPr/>
            </p:nvSpPr>
            <p:spPr>
              <a:xfrm>
                <a:off x="6486412" y="3888919"/>
                <a:ext cx="6176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𝑈</m:t>
                      </m:r>
                    </m:oMath>
                  </m:oMathPara>
                </a14:m>
                <a:endParaRPr/>
              </a:p>
            </p:txBody>
          </p:sp>
        </mc:Choice>
        <mc:Fallback xmlns="">
          <p:sp>
            <p:nvSpPr>
              <p:cNvPr id="3" name="TextBox 2">
                <a:extLst>
                  <a:ext uri="{FF2B5EF4-FFF2-40B4-BE49-F238E27FC236}">
                    <a16:creationId xmlns:a16="http://schemas.microsoft.com/office/drawing/2014/main" id="{464AF025-F703-DA37-1F81-32D56A7B1F84}"/>
                  </a:ext>
                </a:extLst>
              </p:cNvPr>
              <p:cNvSpPr txBox="1">
                <a:spLocks noRot="1" noChangeAspect="1" noMove="1" noResize="1" noEditPoints="1" noAdjustHandles="1" noChangeArrowheads="1" noChangeShapeType="1" noTextEdit="1"/>
              </p:cNvSpPr>
              <p:nvPr/>
            </p:nvSpPr>
            <p:spPr>
              <a:xfrm>
                <a:off x="6486412" y="3888919"/>
                <a:ext cx="617694" cy="400110"/>
              </a:xfrm>
              <a:prstGeom prst="rect">
                <a:avLst/>
              </a:prstGeom>
              <a:blipFill>
                <a:blip r:embed="rId5"/>
                <a:stretch>
                  <a:fillRect t="-9375"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56769F4-B0C3-1421-5E65-FA549CBA302B}"/>
                  </a:ext>
                </a:extLst>
              </p:cNvPr>
              <p:cNvSpPr txBox="1"/>
              <p:nvPr/>
            </p:nvSpPr>
            <p:spPr>
              <a:xfrm>
                <a:off x="7278609" y="5677617"/>
                <a:ext cx="6176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𝑈</m:t>
                      </m:r>
                      <m:r>
                        <a:rPr lang="en-US" sz="2000" b="0" i="1" dirty="0" smtClean="0">
                          <a:latin typeface="Cambria Math" panose="02040503050406030204" pitchFamily="18" charset="0"/>
                        </a:rPr>
                        <m:t>𝑣</m:t>
                      </m:r>
                    </m:oMath>
                  </m:oMathPara>
                </a14:m>
                <a:endParaRPr/>
              </a:p>
            </p:txBody>
          </p:sp>
        </mc:Choice>
        <mc:Fallback xmlns="">
          <p:sp>
            <p:nvSpPr>
              <p:cNvPr id="4" name="TextBox 3">
                <a:extLst>
                  <a:ext uri="{FF2B5EF4-FFF2-40B4-BE49-F238E27FC236}">
                    <a16:creationId xmlns:a16="http://schemas.microsoft.com/office/drawing/2014/main" id="{F56769F4-B0C3-1421-5E65-FA549CBA302B}"/>
                  </a:ext>
                </a:extLst>
              </p:cNvPr>
              <p:cNvSpPr txBox="1">
                <a:spLocks noRot="1" noChangeAspect="1" noMove="1" noResize="1" noEditPoints="1" noAdjustHandles="1" noChangeArrowheads="1" noChangeShapeType="1" noTextEdit="1"/>
              </p:cNvSpPr>
              <p:nvPr/>
            </p:nvSpPr>
            <p:spPr>
              <a:xfrm>
                <a:off x="7278609" y="5677617"/>
                <a:ext cx="617694" cy="400110"/>
              </a:xfrm>
              <a:prstGeom prst="rect">
                <a:avLst/>
              </a:prstGeom>
              <a:blipFill>
                <a:blip r:embed="rId6"/>
                <a:stretch>
                  <a:fillRect t="-6061" r="-10204"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98DC2BC-6BEF-8D63-6533-3072FD5EB2F6}"/>
                  </a:ext>
                </a:extLst>
              </p:cNvPr>
              <p:cNvSpPr txBox="1"/>
              <p:nvPr/>
            </p:nvSpPr>
            <p:spPr>
              <a:xfrm>
                <a:off x="8348890" y="5671619"/>
                <a:ext cx="185912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000" b="0" i="0" dirty="0" smtClean="0">
                          <a:latin typeface="Cambria Math" panose="02040503050406030204" pitchFamily="18" charset="0"/>
                        </a:rPr>
                        <m:t>softmax</m:t>
                      </m:r>
                      <m:r>
                        <a:rPr lang="en-US" sz="2000" b="0" i="1" dirty="0" smtClean="0">
                          <a:latin typeface="Cambria Math" panose="02040503050406030204" pitchFamily="18" charset="0"/>
                        </a:rPr>
                        <m:t>(</m:t>
                      </m:r>
                      <m:r>
                        <a:rPr lang="en-US" sz="2000" i="1" dirty="0" smtClean="0">
                          <a:latin typeface="Cambria Math" panose="02040503050406030204" pitchFamily="18" charset="0"/>
                        </a:rPr>
                        <m:t>𝑈</m:t>
                      </m:r>
                      <m:r>
                        <a:rPr lang="en-US" sz="2000" b="0" i="1" dirty="0" smtClean="0">
                          <a:latin typeface="Cambria Math" panose="02040503050406030204" pitchFamily="18" charset="0"/>
                        </a:rPr>
                        <m:t>𝑣</m:t>
                      </m:r>
                      <m:r>
                        <a:rPr lang="en-US" sz="2000" b="0" i="1" dirty="0" smtClean="0">
                          <a:latin typeface="Cambria Math" panose="02040503050406030204" pitchFamily="18" charset="0"/>
                        </a:rPr>
                        <m:t>)</m:t>
                      </m:r>
                    </m:oMath>
                  </m:oMathPara>
                </a14:m>
                <a:endParaRPr/>
              </a:p>
            </p:txBody>
          </p:sp>
        </mc:Choice>
        <mc:Fallback xmlns="">
          <p:sp>
            <p:nvSpPr>
              <p:cNvPr id="6" name="TextBox 5">
                <a:extLst>
                  <a:ext uri="{FF2B5EF4-FFF2-40B4-BE49-F238E27FC236}">
                    <a16:creationId xmlns:a16="http://schemas.microsoft.com/office/drawing/2014/main" id="{698DC2BC-6BEF-8D63-6533-3072FD5EB2F6}"/>
                  </a:ext>
                </a:extLst>
              </p:cNvPr>
              <p:cNvSpPr txBox="1">
                <a:spLocks noRot="1" noChangeAspect="1" noMove="1" noResize="1" noEditPoints="1" noAdjustHandles="1" noChangeArrowheads="1" noChangeShapeType="1" noTextEdit="1"/>
              </p:cNvSpPr>
              <p:nvPr/>
            </p:nvSpPr>
            <p:spPr>
              <a:xfrm>
                <a:off x="8348890" y="5671619"/>
                <a:ext cx="1859124" cy="400110"/>
              </a:xfrm>
              <a:prstGeom prst="rect">
                <a:avLst/>
              </a:prstGeom>
              <a:blipFill>
                <a:blip r:embed="rId7"/>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3879888514"/>
      </p:ext>
    </p:extLst>
  </p:cSld>
  <p:clrMapOvr>
    <a:masterClrMapping/>
  </p:clrMapOvr>
  <mc:AlternateContent xmlns:mc="http://schemas.openxmlformats.org/markup-compatibility/2006" xmlns:p14="http://schemas.microsoft.com/office/powerpoint/2010/main">
    <mc:Choice Requires="p14">
      <p:transition spd="slow" p14:dur="2000" advTm="17864"/>
    </mc:Choice>
    <mc:Fallback xmlns="">
      <p:transition spd="slow" advTm="1786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A6F77-54AE-554E-E539-B686ED3F1CE6}"/>
            </a:ext>
          </a:extLst>
        </p:cNvPr>
        <p:cNvGrpSpPr/>
        <p:nvPr/>
      </p:nvGrpSpPr>
      <p:grpSpPr>
        <a:xfrm>
          <a:off x="0" y="0"/>
          <a:ext cx="0" cy="0"/>
          <a:chOff x="0" y="0"/>
          <a:chExt cx="0" cy="0"/>
        </a:xfrm>
      </p:grpSpPr>
      <p:sp>
        <p:nvSpPr>
          <p:cNvPr id="39" name="Title 1">
            <a:extLst>
              <a:ext uri="{FF2B5EF4-FFF2-40B4-BE49-F238E27FC236}">
                <a16:creationId xmlns:a16="http://schemas.microsoft.com/office/drawing/2014/main" id="{EC74BDD4-7029-18C0-0C4F-84DCDB1A2779}"/>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graphicFrame>
        <p:nvGraphicFramePr>
          <p:cNvPr id="27" name="Table 26">
            <a:extLst>
              <a:ext uri="{FF2B5EF4-FFF2-40B4-BE49-F238E27FC236}">
                <a16:creationId xmlns:a16="http://schemas.microsoft.com/office/drawing/2014/main" id="{E4D6B8D7-1F40-CE6D-D706-931FE4E3A6B3}"/>
              </a:ext>
            </a:extLst>
          </p:cNvPr>
          <p:cNvGraphicFramePr>
            <a:graphicFrameLocks noGrp="1"/>
          </p:cNvGraphicFramePr>
          <p:nvPr/>
        </p:nvGraphicFramePr>
        <p:xfrm>
          <a:off x="5697538" y="1874484"/>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95577FD-0E89-471F-5926-FE74F6AF6745}"/>
                  </a:ext>
                </a:extLst>
              </p:cNvPr>
              <p:cNvSpPr txBox="1"/>
              <p:nvPr/>
            </p:nvSpPr>
            <p:spPr>
              <a:xfrm>
                <a:off x="5746893" y="5051647"/>
                <a:ext cx="389337" cy="40011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𝑣</m:t>
                      </m:r>
                    </m:oMath>
                  </m:oMathPara>
                </a14:m>
                <a:endParaRPr lang="en-US" sz="2000" dirty="0"/>
              </a:p>
            </p:txBody>
          </p:sp>
        </mc:Choice>
        <mc:Fallback xmlns="">
          <p:sp>
            <p:nvSpPr>
              <p:cNvPr id="28" name="TextBox 27">
                <a:extLst>
                  <a:ext uri="{FF2B5EF4-FFF2-40B4-BE49-F238E27FC236}">
                    <a16:creationId xmlns:a16="http://schemas.microsoft.com/office/drawing/2014/main" id="{495577FD-0E89-471F-5926-FE74F6AF6745}"/>
                  </a:ext>
                </a:extLst>
              </p:cNvPr>
              <p:cNvSpPr txBox="1">
                <a:spLocks noRot="1" noChangeAspect="1" noMove="1" noResize="1" noEditPoints="1" noAdjustHandles="1" noChangeArrowheads="1" noChangeShapeType="1" noTextEdit="1"/>
              </p:cNvSpPr>
              <p:nvPr/>
            </p:nvSpPr>
            <p:spPr>
              <a:xfrm>
                <a:off x="5746893" y="5051647"/>
                <a:ext cx="389337" cy="400110"/>
              </a:xfrm>
              <a:prstGeom prst="rect">
                <a:avLst/>
              </a:prstGeom>
              <a:blipFill>
                <a:blip r:embed="rId3"/>
                <a:stretch>
                  <a:fillRect/>
                </a:stretch>
              </a:blipFill>
              <a:ln>
                <a:noFill/>
              </a:ln>
            </p:spPr>
            <p:txBody>
              <a:bodyPr/>
              <a:lstStyle/>
              <a:p>
                <a:r>
                  <a:rPr lang="en-US">
                    <a:noFill/>
                  </a:rPr>
                  <a:t> </a:t>
                </a:r>
              </a:p>
            </p:txBody>
          </p:sp>
        </mc:Fallback>
      </mc:AlternateContent>
      <p:graphicFrame>
        <p:nvGraphicFramePr>
          <p:cNvPr id="31" name="Table 30">
            <a:extLst>
              <a:ext uri="{FF2B5EF4-FFF2-40B4-BE49-F238E27FC236}">
                <a16:creationId xmlns:a16="http://schemas.microsoft.com/office/drawing/2014/main" id="{4A06B164-FDDD-EDD9-5B2C-CC69C82B4E76}"/>
              </a:ext>
            </a:extLst>
          </p:cNvPr>
          <p:cNvGraphicFramePr>
            <a:graphicFrameLocks noGrp="1"/>
          </p:cNvGraphicFramePr>
          <p:nvPr/>
        </p:nvGraphicFramePr>
        <p:xfrm>
          <a:off x="9008462" y="1514144"/>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a:extLst>
              <a:ext uri="{FF2B5EF4-FFF2-40B4-BE49-F238E27FC236}">
                <a16:creationId xmlns:a16="http://schemas.microsoft.com/office/drawing/2014/main" id="{3CB94D3F-5BAA-256A-6112-3215B82A51C3}"/>
              </a:ext>
            </a:extLst>
          </p:cNvPr>
          <p:cNvSpPr txBox="1"/>
          <p:nvPr/>
        </p:nvSpPr>
        <p:spPr>
          <a:xfrm>
            <a:off x="9578066" y="1569379"/>
            <a:ext cx="939681" cy="400110"/>
          </a:xfrm>
          <a:prstGeom prst="rect">
            <a:avLst/>
          </a:prstGeom>
          <a:noFill/>
        </p:spPr>
        <p:txBody>
          <a:bodyPr wrap="none" rtlCol="0">
            <a:spAutoFit/>
          </a:bodyPr>
          <a:lstStyle/>
          <a:p>
            <a:r>
              <a:rPr lang="en-US" sz="2000" dirty="0"/>
              <a:t>p(man)</a:t>
            </a:r>
          </a:p>
        </p:txBody>
      </p:sp>
      <p:sp>
        <p:nvSpPr>
          <p:cNvPr id="33" name="TextBox 32">
            <a:extLst>
              <a:ext uri="{FF2B5EF4-FFF2-40B4-BE49-F238E27FC236}">
                <a16:creationId xmlns:a16="http://schemas.microsoft.com/office/drawing/2014/main" id="{78A4F64D-011A-5355-3224-986F3E67C436}"/>
              </a:ext>
            </a:extLst>
          </p:cNvPr>
          <p:cNvSpPr txBox="1"/>
          <p:nvPr/>
        </p:nvSpPr>
        <p:spPr>
          <a:xfrm>
            <a:off x="9578066" y="2076167"/>
            <a:ext cx="1254702" cy="400110"/>
          </a:xfrm>
          <a:prstGeom prst="rect">
            <a:avLst/>
          </a:prstGeom>
          <a:noFill/>
        </p:spPr>
        <p:txBody>
          <a:bodyPr wrap="none" rtlCol="0">
            <a:spAutoFit/>
          </a:bodyPr>
          <a:lstStyle/>
          <a:p>
            <a:r>
              <a:rPr lang="en-US" sz="2000" dirty="0"/>
              <a:t>p(woman)</a:t>
            </a:r>
          </a:p>
        </p:txBody>
      </p:sp>
      <p:sp>
        <p:nvSpPr>
          <p:cNvPr id="34" name="TextBox 33">
            <a:extLst>
              <a:ext uri="{FF2B5EF4-FFF2-40B4-BE49-F238E27FC236}">
                <a16:creationId xmlns:a16="http://schemas.microsoft.com/office/drawing/2014/main" id="{8A1389AE-FE6B-5375-B184-4D6F4605A261}"/>
              </a:ext>
            </a:extLst>
          </p:cNvPr>
          <p:cNvSpPr txBox="1"/>
          <p:nvPr/>
        </p:nvSpPr>
        <p:spPr>
          <a:xfrm>
            <a:off x="9578066" y="3124723"/>
            <a:ext cx="973343" cy="400110"/>
          </a:xfrm>
          <a:prstGeom prst="rect">
            <a:avLst/>
          </a:prstGeom>
          <a:noFill/>
        </p:spPr>
        <p:txBody>
          <a:bodyPr wrap="none" rtlCol="0">
            <a:spAutoFit/>
          </a:bodyPr>
          <a:lstStyle/>
          <a:p>
            <a:r>
              <a:rPr lang="en-US" sz="2000" dirty="0"/>
              <a:t>p(child)</a:t>
            </a:r>
          </a:p>
        </p:txBody>
      </p:sp>
      <p:sp>
        <p:nvSpPr>
          <p:cNvPr id="35" name="TextBox 34">
            <a:extLst>
              <a:ext uri="{FF2B5EF4-FFF2-40B4-BE49-F238E27FC236}">
                <a16:creationId xmlns:a16="http://schemas.microsoft.com/office/drawing/2014/main" id="{BA8A82E5-5C76-EC1D-FFF1-F96799A7E73D}"/>
              </a:ext>
            </a:extLst>
          </p:cNvPr>
          <p:cNvSpPr txBox="1"/>
          <p:nvPr/>
        </p:nvSpPr>
        <p:spPr>
          <a:xfrm>
            <a:off x="9578066" y="4140038"/>
            <a:ext cx="1428789" cy="400110"/>
          </a:xfrm>
          <a:prstGeom prst="rect">
            <a:avLst/>
          </a:prstGeom>
          <a:noFill/>
        </p:spPr>
        <p:txBody>
          <a:bodyPr wrap="none" rtlCol="0">
            <a:spAutoFit/>
          </a:bodyPr>
          <a:lstStyle/>
          <a:p>
            <a:r>
              <a:rPr lang="en-US" sz="2000" dirty="0"/>
              <a:t>p(crocodile)</a:t>
            </a:r>
          </a:p>
        </p:txBody>
      </p:sp>
      <p:sp>
        <p:nvSpPr>
          <p:cNvPr id="36" name="TextBox 35">
            <a:extLst>
              <a:ext uri="{FF2B5EF4-FFF2-40B4-BE49-F238E27FC236}">
                <a16:creationId xmlns:a16="http://schemas.microsoft.com/office/drawing/2014/main" id="{0E1FB955-E46E-43E4-D9E3-50BF5E3CF67A}"/>
              </a:ext>
            </a:extLst>
          </p:cNvPr>
          <p:cNvSpPr txBox="1"/>
          <p:nvPr/>
        </p:nvSpPr>
        <p:spPr>
          <a:xfrm>
            <a:off x="9578066" y="3596531"/>
            <a:ext cx="1250663" cy="400110"/>
          </a:xfrm>
          <a:prstGeom prst="rect">
            <a:avLst/>
          </a:prstGeom>
          <a:noFill/>
        </p:spPr>
        <p:txBody>
          <a:bodyPr wrap="none" rtlCol="0">
            <a:spAutoFit/>
          </a:bodyPr>
          <a:lstStyle/>
          <a:p>
            <a:r>
              <a:rPr lang="en-US" sz="2000" dirty="0"/>
              <a:t>p(banana)</a:t>
            </a:r>
          </a:p>
        </p:txBody>
      </p:sp>
      <p:sp>
        <p:nvSpPr>
          <p:cNvPr id="37" name="TextBox 36">
            <a:extLst>
              <a:ext uri="{FF2B5EF4-FFF2-40B4-BE49-F238E27FC236}">
                <a16:creationId xmlns:a16="http://schemas.microsoft.com/office/drawing/2014/main" id="{8A1AE3DF-14A3-A5F1-7C1F-789C87041C48}"/>
              </a:ext>
            </a:extLst>
          </p:cNvPr>
          <p:cNvSpPr txBox="1"/>
          <p:nvPr/>
        </p:nvSpPr>
        <p:spPr>
          <a:xfrm>
            <a:off x="9548442" y="5108427"/>
            <a:ext cx="1309910" cy="400110"/>
          </a:xfrm>
          <a:prstGeom prst="rect">
            <a:avLst/>
          </a:prstGeom>
          <a:noFill/>
        </p:spPr>
        <p:txBody>
          <a:bodyPr wrap="none" rtlCol="0">
            <a:spAutoFit/>
          </a:bodyPr>
          <a:lstStyle/>
          <a:p>
            <a:r>
              <a:rPr lang="en-US" sz="2000" dirty="0"/>
              <a:t>p(concept)</a:t>
            </a:r>
          </a:p>
        </p:txBody>
      </p:sp>
      <p:graphicFrame>
        <p:nvGraphicFramePr>
          <p:cNvPr id="40" name="Table 39">
            <a:extLst>
              <a:ext uri="{FF2B5EF4-FFF2-40B4-BE49-F238E27FC236}">
                <a16:creationId xmlns:a16="http://schemas.microsoft.com/office/drawing/2014/main" id="{83F43917-1163-B1E1-89B1-ED9613A97E77}"/>
              </a:ext>
            </a:extLst>
          </p:cNvPr>
          <p:cNvGraphicFramePr>
            <a:graphicFrameLocks noGrp="1"/>
          </p:cNvGraphicFramePr>
          <p:nvPr/>
        </p:nvGraphicFramePr>
        <p:xfrm>
          <a:off x="7353000" y="1515398"/>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5" name="Straight Arrow Connector 4">
            <a:extLst>
              <a:ext uri="{FF2B5EF4-FFF2-40B4-BE49-F238E27FC236}">
                <a16:creationId xmlns:a16="http://schemas.microsoft.com/office/drawing/2014/main" id="{33B8CF9D-0CC5-5085-71B4-42519CA0B12A}"/>
              </a:ext>
            </a:extLst>
          </p:cNvPr>
          <p:cNvCxnSpPr/>
          <p:nvPr/>
        </p:nvCxnSpPr>
        <p:spPr>
          <a:xfrm flipV="1">
            <a:off x="6237518" y="1514144"/>
            <a:ext cx="1115482" cy="3603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661E103-5352-1ADB-0639-E444FD007F8F}"/>
              </a:ext>
            </a:extLst>
          </p:cNvPr>
          <p:cNvCxnSpPr/>
          <p:nvPr/>
        </p:nvCxnSpPr>
        <p:spPr>
          <a:xfrm>
            <a:off x="6237518" y="4930410"/>
            <a:ext cx="1115482" cy="6583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B54D8AB-EB93-931A-0CA2-00633D9F52AA}"/>
              </a:ext>
            </a:extLst>
          </p:cNvPr>
          <p:cNvCxnSpPr/>
          <p:nvPr/>
        </p:nvCxnSpPr>
        <p:spPr>
          <a:xfrm flipV="1">
            <a:off x="6610444" y="3205220"/>
            <a:ext cx="354293" cy="39194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C4C9655-6A1C-C643-CB99-319F19D358EA}"/>
              </a:ext>
            </a:extLst>
          </p:cNvPr>
          <p:cNvCxnSpPr/>
          <p:nvPr/>
        </p:nvCxnSpPr>
        <p:spPr>
          <a:xfrm>
            <a:off x="6610444" y="3206474"/>
            <a:ext cx="369629" cy="3906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4B031636-142A-370F-2F29-87E36A0E44EF}"/>
              </a:ext>
            </a:extLst>
          </p:cNvPr>
          <p:cNvCxnSpPr/>
          <p:nvPr/>
        </p:nvCxnSpPr>
        <p:spPr>
          <a:xfrm flipV="1">
            <a:off x="7892980" y="173037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A523E4AF-A416-B1C2-B304-3F493099A7A1}"/>
              </a:ext>
            </a:extLst>
          </p:cNvPr>
          <p:cNvCxnSpPr/>
          <p:nvPr/>
        </p:nvCxnSpPr>
        <p:spPr>
          <a:xfrm flipV="1">
            <a:off x="7892980" y="227058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DDD21EBB-F34E-0219-9876-4F1AB32068AF}"/>
              </a:ext>
            </a:extLst>
          </p:cNvPr>
          <p:cNvCxnSpPr/>
          <p:nvPr/>
        </p:nvCxnSpPr>
        <p:spPr>
          <a:xfrm flipV="1">
            <a:off x="7903119" y="277906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87496C42-7F42-608B-A23B-DF68F382C800}"/>
              </a:ext>
            </a:extLst>
          </p:cNvPr>
          <p:cNvCxnSpPr/>
          <p:nvPr/>
        </p:nvCxnSpPr>
        <p:spPr>
          <a:xfrm flipV="1">
            <a:off x="7917429" y="327186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3D63E305-DE1C-0E5B-8254-8D31AD5B5E64}"/>
              </a:ext>
            </a:extLst>
          </p:cNvPr>
          <p:cNvCxnSpPr/>
          <p:nvPr/>
        </p:nvCxnSpPr>
        <p:spPr>
          <a:xfrm flipV="1">
            <a:off x="7909912" y="379612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E19EE58B-0923-9203-D8F2-179324587070}"/>
              </a:ext>
            </a:extLst>
          </p:cNvPr>
          <p:cNvCxnSpPr/>
          <p:nvPr/>
        </p:nvCxnSpPr>
        <p:spPr>
          <a:xfrm flipV="1">
            <a:off x="7923817" y="4287445"/>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8C76F251-A598-ED82-FF84-07E342AD1222}"/>
              </a:ext>
            </a:extLst>
          </p:cNvPr>
          <p:cNvCxnSpPr/>
          <p:nvPr/>
        </p:nvCxnSpPr>
        <p:spPr>
          <a:xfrm flipV="1">
            <a:off x="7909912" y="4820888"/>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B9375BB8-B847-6274-9480-38758BF43DC3}"/>
              </a:ext>
            </a:extLst>
          </p:cNvPr>
          <p:cNvCxnSpPr/>
          <p:nvPr/>
        </p:nvCxnSpPr>
        <p:spPr>
          <a:xfrm flipV="1">
            <a:off x="7918571" y="53931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a:extLst>
              <a:ext uri="{FF2B5EF4-FFF2-40B4-BE49-F238E27FC236}">
                <a16:creationId xmlns:a16="http://schemas.microsoft.com/office/drawing/2014/main" id="{60AD9A9C-3CA7-5424-C2EE-EBF244401869}"/>
              </a:ext>
            </a:extLst>
          </p:cNvPr>
          <p:cNvSpPr/>
          <p:nvPr/>
        </p:nvSpPr>
        <p:spPr>
          <a:xfrm>
            <a:off x="8095555" y="1518604"/>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1D2981-6F5E-B81E-15F2-1301029AE0C4}"/>
                  </a:ext>
                </a:extLst>
              </p:cNvPr>
              <p:cNvSpPr txBox="1"/>
              <p:nvPr/>
            </p:nvSpPr>
            <p:spPr>
              <a:xfrm>
                <a:off x="6486412" y="3888919"/>
                <a:ext cx="6176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𝑈</m:t>
                      </m:r>
                    </m:oMath>
                  </m:oMathPara>
                </a14:m>
                <a:endParaRPr/>
              </a:p>
            </p:txBody>
          </p:sp>
        </mc:Choice>
        <mc:Fallback xmlns="">
          <p:sp>
            <p:nvSpPr>
              <p:cNvPr id="3" name="TextBox 2">
                <a:extLst>
                  <a:ext uri="{FF2B5EF4-FFF2-40B4-BE49-F238E27FC236}">
                    <a16:creationId xmlns:a16="http://schemas.microsoft.com/office/drawing/2014/main" id="{E11D2981-6F5E-B81E-15F2-1301029AE0C4}"/>
                  </a:ext>
                </a:extLst>
              </p:cNvPr>
              <p:cNvSpPr txBox="1">
                <a:spLocks noRot="1" noChangeAspect="1" noMove="1" noResize="1" noEditPoints="1" noAdjustHandles="1" noChangeArrowheads="1" noChangeShapeType="1" noTextEdit="1"/>
              </p:cNvSpPr>
              <p:nvPr/>
            </p:nvSpPr>
            <p:spPr>
              <a:xfrm>
                <a:off x="6486412" y="3888919"/>
                <a:ext cx="617694" cy="400110"/>
              </a:xfrm>
              <a:prstGeom prst="rect">
                <a:avLst/>
              </a:prstGeom>
              <a:blipFill>
                <a:blip r:embed="rId4"/>
                <a:stretch>
                  <a:fillRect t="-9375"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C8745E1-7389-E1D9-CC3B-FF38AD72F667}"/>
                  </a:ext>
                </a:extLst>
              </p:cNvPr>
              <p:cNvSpPr txBox="1"/>
              <p:nvPr/>
            </p:nvSpPr>
            <p:spPr>
              <a:xfrm>
                <a:off x="7278609" y="5677617"/>
                <a:ext cx="6176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𝑈</m:t>
                      </m:r>
                      <m:r>
                        <a:rPr lang="en-US" sz="2000" b="0" i="1" dirty="0" smtClean="0">
                          <a:latin typeface="Cambria Math" panose="02040503050406030204" pitchFamily="18" charset="0"/>
                        </a:rPr>
                        <m:t>𝑣</m:t>
                      </m:r>
                    </m:oMath>
                  </m:oMathPara>
                </a14:m>
                <a:endParaRPr/>
              </a:p>
            </p:txBody>
          </p:sp>
        </mc:Choice>
        <mc:Fallback xmlns="">
          <p:sp>
            <p:nvSpPr>
              <p:cNvPr id="4" name="TextBox 3">
                <a:extLst>
                  <a:ext uri="{FF2B5EF4-FFF2-40B4-BE49-F238E27FC236}">
                    <a16:creationId xmlns:a16="http://schemas.microsoft.com/office/drawing/2014/main" id="{3C8745E1-7389-E1D9-CC3B-FF38AD72F667}"/>
                  </a:ext>
                </a:extLst>
              </p:cNvPr>
              <p:cNvSpPr txBox="1">
                <a:spLocks noRot="1" noChangeAspect="1" noMove="1" noResize="1" noEditPoints="1" noAdjustHandles="1" noChangeArrowheads="1" noChangeShapeType="1" noTextEdit="1"/>
              </p:cNvSpPr>
              <p:nvPr/>
            </p:nvSpPr>
            <p:spPr>
              <a:xfrm>
                <a:off x="7278609" y="5677617"/>
                <a:ext cx="617694" cy="400110"/>
              </a:xfrm>
              <a:prstGeom prst="rect">
                <a:avLst/>
              </a:prstGeom>
              <a:blipFill>
                <a:blip r:embed="rId5"/>
                <a:stretch>
                  <a:fillRect t="-6061" r="-10204"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49FBC45-6AF6-BBE7-943F-DC13E37564E1}"/>
                  </a:ext>
                </a:extLst>
              </p:cNvPr>
              <p:cNvSpPr txBox="1"/>
              <p:nvPr/>
            </p:nvSpPr>
            <p:spPr>
              <a:xfrm>
                <a:off x="8348890" y="5671619"/>
                <a:ext cx="185912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000" b="0" i="0" dirty="0" smtClean="0">
                          <a:latin typeface="Cambria Math" panose="02040503050406030204" pitchFamily="18" charset="0"/>
                        </a:rPr>
                        <m:t>softmax</m:t>
                      </m:r>
                      <m:r>
                        <a:rPr lang="en-US" sz="2000" b="0" i="1" dirty="0" smtClean="0">
                          <a:latin typeface="Cambria Math" panose="02040503050406030204" pitchFamily="18" charset="0"/>
                        </a:rPr>
                        <m:t>(</m:t>
                      </m:r>
                      <m:r>
                        <a:rPr lang="en-US" sz="2000" i="1" dirty="0" smtClean="0">
                          <a:latin typeface="Cambria Math" panose="02040503050406030204" pitchFamily="18" charset="0"/>
                        </a:rPr>
                        <m:t>𝑈</m:t>
                      </m:r>
                      <m:r>
                        <a:rPr lang="en-US" sz="2000" b="0" i="1" dirty="0" smtClean="0">
                          <a:latin typeface="Cambria Math" panose="02040503050406030204" pitchFamily="18" charset="0"/>
                        </a:rPr>
                        <m:t>𝑣</m:t>
                      </m:r>
                      <m:r>
                        <a:rPr lang="en-US" sz="2000" b="0" i="1" dirty="0" smtClean="0">
                          <a:latin typeface="Cambria Math" panose="02040503050406030204" pitchFamily="18" charset="0"/>
                        </a:rPr>
                        <m:t>)</m:t>
                      </m:r>
                    </m:oMath>
                  </m:oMathPara>
                </a14:m>
                <a:endParaRPr/>
              </a:p>
            </p:txBody>
          </p:sp>
        </mc:Choice>
        <mc:Fallback xmlns="">
          <p:sp>
            <p:nvSpPr>
              <p:cNvPr id="6" name="TextBox 5">
                <a:extLst>
                  <a:ext uri="{FF2B5EF4-FFF2-40B4-BE49-F238E27FC236}">
                    <a16:creationId xmlns:a16="http://schemas.microsoft.com/office/drawing/2014/main" id="{A49FBC45-6AF6-BBE7-943F-DC13E37564E1}"/>
                  </a:ext>
                </a:extLst>
              </p:cNvPr>
              <p:cNvSpPr txBox="1">
                <a:spLocks noRot="1" noChangeAspect="1" noMove="1" noResize="1" noEditPoints="1" noAdjustHandles="1" noChangeArrowheads="1" noChangeShapeType="1" noTextEdit="1"/>
              </p:cNvSpPr>
              <p:nvPr/>
            </p:nvSpPr>
            <p:spPr>
              <a:xfrm>
                <a:off x="8348890" y="5671619"/>
                <a:ext cx="1859124" cy="400110"/>
              </a:xfrm>
              <a:prstGeom prst="rect">
                <a:avLst/>
              </a:prstGeom>
              <a:blipFill>
                <a:blip r:embed="rId6"/>
                <a:stretch>
                  <a:fillRect t="-6061" b="-24242"/>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D868C49-52D3-D3FD-EC30-A215DFA235E9}"/>
              </a:ext>
            </a:extLst>
          </p:cNvPr>
          <p:cNvSpPr txBox="1"/>
          <p:nvPr/>
        </p:nvSpPr>
        <p:spPr>
          <a:xfrm>
            <a:off x="1040388" y="1599114"/>
            <a:ext cx="3206339" cy="1754326"/>
          </a:xfrm>
          <a:prstGeom prst="rect">
            <a:avLst/>
          </a:prstGeom>
          <a:noFill/>
        </p:spPr>
        <p:txBody>
          <a:bodyPr wrap="square" rtlCol="0">
            <a:spAutoFit/>
          </a:bodyPr>
          <a:lstStyle/>
          <a:p>
            <a:r>
              <a:rPr lang="en-US" dirty="0"/>
              <a:t>How do we </a:t>
            </a:r>
            <a:r>
              <a:rPr lang="en-US" i="1" dirty="0"/>
              <a:t>learn</a:t>
            </a:r>
            <a:r>
              <a:rPr lang="en-US" dirty="0"/>
              <a:t> these vectors?</a:t>
            </a:r>
          </a:p>
          <a:p>
            <a:endParaRPr lang="en-US" dirty="0"/>
          </a:p>
          <a:p>
            <a:r>
              <a:rPr lang="en-US" dirty="0"/>
              <a:t>First we’ll consider from first principles how we might predict context words based on input words</a:t>
            </a:r>
          </a:p>
        </p:txBody>
      </p:sp>
    </p:spTree>
    <p:extLst>
      <p:ext uri="{BB962C8B-B14F-4D97-AF65-F5344CB8AC3E}">
        <p14:creationId xmlns:p14="http://schemas.microsoft.com/office/powerpoint/2010/main" val="4131463782"/>
      </p:ext>
    </p:extLst>
  </p:cSld>
  <p:clrMapOvr>
    <a:masterClrMapping/>
  </p:clrMapOvr>
  <mc:AlternateContent xmlns:mc="http://schemas.openxmlformats.org/markup-compatibility/2006" xmlns:p14="http://schemas.microsoft.com/office/powerpoint/2010/main">
    <mc:Choice Requires="p14">
      <p:transition spd="slow" p14:dur="2000" advTm="17864"/>
    </mc:Choice>
    <mc:Fallback xmlns="">
      <p:transition spd="slow" advTm="1786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a:off x="771340" y="915085"/>
            <a:ext cx="10649320" cy="4696454"/>
          </a:xfrm>
          <a:prstGeom prst="rect">
            <a:avLst/>
          </a:prstGeom>
        </p:spPr>
      </p:pic>
      <p:sp>
        <p:nvSpPr>
          <p:cNvPr id="2" name="TextBox 1"/>
          <p:cNvSpPr txBox="1"/>
          <p:nvPr/>
        </p:nvSpPr>
        <p:spPr>
          <a:xfrm>
            <a:off x="3507342" y="5611539"/>
            <a:ext cx="5177315" cy="646331"/>
          </a:xfrm>
          <a:prstGeom prst="rect">
            <a:avLst/>
          </a:prstGeom>
          <a:noFill/>
        </p:spPr>
        <p:txBody>
          <a:bodyPr wrap="none" rtlCol="0">
            <a:spAutoFit/>
          </a:bodyPr>
          <a:lstStyle/>
          <a:p>
            <a:pPr algn="ctr"/>
            <a:r>
              <a:rPr lang="en-US" dirty="0">
                <a:solidFill>
                  <a:schemeClr val="accent2"/>
                </a:solidFill>
              </a:rPr>
              <a:t>Input words and context words are one-hot encoded </a:t>
            </a:r>
          </a:p>
          <a:p>
            <a:pPr algn="ctr"/>
            <a:r>
              <a:rPr lang="en-US" dirty="0">
                <a:solidFill>
                  <a:schemeClr val="accent2"/>
                </a:solidFill>
              </a:rPr>
              <a:t>(similar to bag of words representation)</a:t>
            </a:r>
          </a:p>
        </p:txBody>
      </p:sp>
      <p:sp>
        <p:nvSpPr>
          <p:cNvPr id="5" name="Title 1">
            <a:extLst>
              <a:ext uri="{FF2B5EF4-FFF2-40B4-BE49-F238E27FC236}">
                <a16:creationId xmlns:a16="http://schemas.microsoft.com/office/drawing/2014/main" id="{85DEF2E6-CE95-527A-B17E-50676C3E1922}"/>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
        <p:nvSpPr>
          <p:cNvPr id="6" name="Rectangle 5">
            <a:extLst>
              <a:ext uri="{FF2B5EF4-FFF2-40B4-BE49-F238E27FC236}">
                <a16:creationId xmlns:a16="http://schemas.microsoft.com/office/drawing/2014/main" id="{778E0062-290D-1985-456D-A7E8C281751F}"/>
              </a:ext>
            </a:extLst>
          </p:cNvPr>
          <p:cNvSpPr/>
          <p:nvPr/>
        </p:nvSpPr>
        <p:spPr>
          <a:xfrm>
            <a:off x="4452257" y="2721429"/>
            <a:ext cx="1458686" cy="2830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8714209"/>
      </p:ext>
    </p:extLst>
  </p:cSld>
  <p:clrMapOvr>
    <a:masterClrMapping/>
  </p:clrMapOvr>
  <mc:AlternateContent xmlns:mc="http://schemas.openxmlformats.org/markup-compatibility/2006" xmlns:p14="http://schemas.microsoft.com/office/powerpoint/2010/main">
    <mc:Choice Requires="p14">
      <p:transition spd="slow" p14:dur="2000" advTm="44612"/>
    </mc:Choice>
    <mc:Fallback xmlns="">
      <p:transition spd="slow" advTm="4461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348136" y="915085"/>
            <a:ext cx="3569919" cy="5324535"/>
          </a:xfrm>
          <a:prstGeom prst="rect">
            <a:avLst/>
          </a:prstGeom>
          <a:noFill/>
        </p:spPr>
        <p:txBody>
          <a:bodyPr wrap="square" rtlCol="0">
            <a:spAutoFit/>
          </a:bodyPr>
          <a:lstStyle/>
          <a:p>
            <a:r>
              <a:rPr lang="en-US" sz="2000" b="1" u="sng" dirty="0"/>
              <a:t>Training Data:</a:t>
            </a:r>
          </a:p>
          <a:p>
            <a:endParaRPr lang="en-US" sz="2000" dirty="0"/>
          </a:p>
          <a:p>
            <a:r>
              <a:rPr lang="en-US" sz="2000" dirty="0"/>
              <a:t>HUGE number of pairs of the following form:</a:t>
            </a:r>
          </a:p>
          <a:p>
            <a:endParaRPr lang="en-US" sz="2000" dirty="0"/>
          </a:p>
          <a:p>
            <a:r>
              <a:rPr lang="en-US" sz="2000" dirty="0"/>
              <a:t>{input word, context word}</a:t>
            </a:r>
          </a:p>
          <a:p>
            <a:endParaRPr lang="en-US" sz="2000" dirty="0"/>
          </a:p>
          <a:p>
            <a:r>
              <a:rPr lang="en-US" sz="2000" dirty="0"/>
              <a:t>e.g. from Wikipedia</a:t>
            </a:r>
          </a:p>
          <a:p>
            <a:endParaRPr lang="en-US" sz="2000" dirty="0"/>
          </a:p>
          <a:p>
            <a:r>
              <a:rPr lang="en-US" sz="2000" b="1" u="sng" dirty="0"/>
              <a:t>Examples:</a:t>
            </a:r>
          </a:p>
          <a:p>
            <a:endParaRPr lang="en-US" sz="2000" b="1" u="sng" dirty="0"/>
          </a:p>
          <a:p>
            <a:r>
              <a:rPr lang="en-US" sz="2000" dirty="0"/>
              <a:t>{strolls, man}</a:t>
            </a:r>
          </a:p>
          <a:p>
            <a:r>
              <a:rPr lang="en-US" sz="2000" dirty="0"/>
              <a:t>{strolls, woman}</a:t>
            </a:r>
          </a:p>
          <a:p>
            <a:r>
              <a:rPr lang="en-US" sz="2000" dirty="0"/>
              <a:t>{swims, crocodile}</a:t>
            </a:r>
          </a:p>
          <a:p>
            <a:r>
              <a:rPr lang="en-US" sz="2000" dirty="0"/>
              <a:t>{swims, fish}</a:t>
            </a:r>
          </a:p>
          <a:p>
            <a:r>
              <a:rPr lang="en-US" sz="2000" dirty="0"/>
              <a:t>{flies, bird}</a:t>
            </a:r>
          </a:p>
          <a:p>
            <a:r>
              <a:rPr lang="en-US" sz="2000" dirty="0"/>
              <a:t>{flies, plane}</a:t>
            </a:r>
          </a:p>
        </p:txBody>
      </p:sp>
      <p:pic>
        <p:nvPicPr>
          <p:cNvPr id="10" name="Picture 9"/>
          <p:cNvPicPr>
            <a:picLocks noChangeAspect="1"/>
          </p:cNvPicPr>
          <p:nvPr/>
        </p:nvPicPr>
        <p:blipFill>
          <a:blip r:embed="rId3"/>
          <a:stretch>
            <a:fillRect/>
          </a:stretch>
        </p:blipFill>
        <p:spPr>
          <a:xfrm>
            <a:off x="4509368" y="1428409"/>
            <a:ext cx="7302895" cy="3220648"/>
          </a:xfrm>
          <a:prstGeom prst="rect">
            <a:avLst/>
          </a:prstGeom>
        </p:spPr>
      </p:pic>
      <p:sp>
        <p:nvSpPr>
          <p:cNvPr id="2" name="Rectangle 1">
            <a:extLst>
              <a:ext uri="{FF2B5EF4-FFF2-40B4-BE49-F238E27FC236}">
                <a16:creationId xmlns:a16="http://schemas.microsoft.com/office/drawing/2014/main" id="{9C642213-0190-D537-BC38-38B29F53C4A6}"/>
              </a:ext>
            </a:extLst>
          </p:cNvPr>
          <p:cNvSpPr/>
          <p:nvPr/>
        </p:nvSpPr>
        <p:spPr>
          <a:xfrm>
            <a:off x="6988627" y="2645229"/>
            <a:ext cx="1143001" cy="217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DC16DBD-A99F-5D81-EEAA-65E2EB4D6A37}"/>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extLst>
      <p:ext uri="{BB962C8B-B14F-4D97-AF65-F5344CB8AC3E}">
        <p14:creationId xmlns:p14="http://schemas.microsoft.com/office/powerpoint/2010/main" val="3035191035"/>
      </p:ext>
    </p:extLst>
  </p:cSld>
  <p:clrMapOvr>
    <a:masterClrMapping/>
  </p:clrMapOvr>
  <mc:AlternateContent xmlns:mc="http://schemas.openxmlformats.org/markup-compatibility/2006" xmlns:p14="http://schemas.microsoft.com/office/powerpoint/2010/main">
    <mc:Choice Requires="p14">
      <p:transition spd="slow" p14:dur="2000" advTm="14158"/>
    </mc:Choice>
    <mc:Fallback xmlns="">
      <p:transition spd="slow" advTm="1415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348136" y="915085"/>
            <a:ext cx="3569919" cy="5324535"/>
          </a:xfrm>
          <a:prstGeom prst="rect">
            <a:avLst/>
          </a:prstGeom>
          <a:noFill/>
        </p:spPr>
        <p:txBody>
          <a:bodyPr wrap="square" rtlCol="0">
            <a:spAutoFit/>
          </a:bodyPr>
          <a:lstStyle/>
          <a:p>
            <a:r>
              <a:rPr lang="en-US" sz="2000" b="1" u="sng" dirty="0"/>
              <a:t>Training Data:</a:t>
            </a:r>
          </a:p>
          <a:p>
            <a:endParaRPr lang="en-US" sz="2000" dirty="0"/>
          </a:p>
          <a:p>
            <a:r>
              <a:rPr lang="en-US" sz="2000" dirty="0"/>
              <a:t>HUGE number of pairs of the following form:</a:t>
            </a:r>
          </a:p>
          <a:p>
            <a:endParaRPr lang="en-US" sz="2000" dirty="0"/>
          </a:p>
          <a:p>
            <a:r>
              <a:rPr lang="en-US" sz="2000" dirty="0"/>
              <a:t>{input word, context word}</a:t>
            </a:r>
          </a:p>
          <a:p>
            <a:endParaRPr lang="en-US" sz="2000" dirty="0"/>
          </a:p>
          <a:p>
            <a:r>
              <a:rPr lang="en-US" sz="2000" dirty="0"/>
              <a:t>e.g. from Wikipedia</a:t>
            </a:r>
          </a:p>
          <a:p>
            <a:endParaRPr lang="en-US" sz="2000" dirty="0"/>
          </a:p>
          <a:p>
            <a:r>
              <a:rPr lang="en-US" sz="2000" b="1" u="sng" dirty="0"/>
              <a:t>Examples:</a:t>
            </a:r>
          </a:p>
          <a:p>
            <a:endParaRPr lang="en-US" sz="2000" b="1" u="sng" dirty="0"/>
          </a:p>
          <a:p>
            <a:r>
              <a:rPr lang="en-US" sz="2000" dirty="0"/>
              <a:t>{strolls, man}</a:t>
            </a:r>
          </a:p>
          <a:p>
            <a:r>
              <a:rPr lang="en-US" sz="2000" dirty="0"/>
              <a:t>{strolls, woman}</a:t>
            </a:r>
          </a:p>
          <a:p>
            <a:r>
              <a:rPr lang="en-US" sz="2000" dirty="0"/>
              <a:t>{swims, crocodile}</a:t>
            </a:r>
          </a:p>
          <a:p>
            <a:r>
              <a:rPr lang="en-US" sz="2000" dirty="0"/>
              <a:t>{swims, fish}</a:t>
            </a:r>
          </a:p>
          <a:p>
            <a:r>
              <a:rPr lang="en-US" sz="2000" dirty="0"/>
              <a:t>{flies, bird}</a:t>
            </a:r>
          </a:p>
          <a:p>
            <a:r>
              <a:rPr lang="en-US" sz="2000" dirty="0"/>
              <a:t>{flies, plane}</a:t>
            </a:r>
          </a:p>
        </p:txBody>
      </p:sp>
      <p:pic>
        <p:nvPicPr>
          <p:cNvPr id="10" name="Picture 9"/>
          <p:cNvPicPr>
            <a:picLocks noChangeAspect="1"/>
          </p:cNvPicPr>
          <p:nvPr/>
        </p:nvPicPr>
        <p:blipFill>
          <a:blip r:embed="rId3"/>
          <a:stretch>
            <a:fillRect/>
          </a:stretch>
        </p:blipFill>
        <p:spPr>
          <a:xfrm>
            <a:off x="4509368" y="1428409"/>
            <a:ext cx="7302895" cy="3220648"/>
          </a:xfrm>
          <a:prstGeom prst="rect">
            <a:avLst/>
          </a:prstGeom>
        </p:spPr>
      </p:pic>
      <p:sp>
        <p:nvSpPr>
          <p:cNvPr id="5" name="TextBox 4"/>
          <p:cNvSpPr txBox="1"/>
          <p:nvPr/>
        </p:nvSpPr>
        <p:spPr>
          <a:xfrm>
            <a:off x="6067656" y="5740336"/>
            <a:ext cx="3351175" cy="646331"/>
          </a:xfrm>
          <a:prstGeom prst="rect">
            <a:avLst/>
          </a:prstGeom>
          <a:noFill/>
        </p:spPr>
        <p:txBody>
          <a:bodyPr wrap="none" rtlCol="0">
            <a:spAutoFit/>
          </a:bodyPr>
          <a:lstStyle/>
          <a:p>
            <a:pPr algn="ctr"/>
            <a:r>
              <a:rPr lang="en-US" dirty="0">
                <a:solidFill>
                  <a:schemeClr val="accent2"/>
                </a:solidFill>
              </a:rPr>
              <a:t>These vectors are huge! </a:t>
            </a:r>
          </a:p>
          <a:p>
            <a:pPr algn="ctr"/>
            <a:r>
              <a:rPr lang="en-US" dirty="0">
                <a:solidFill>
                  <a:schemeClr val="accent2"/>
                </a:solidFill>
              </a:rPr>
              <a:t>They’re the size of our vocabulary</a:t>
            </a:r>
          </a:p>
        </p:txBody>
      </p:sp>
      <p:cxnSp>
        <p:nvCxnSpPr>
          <p:cNvPr id="6" name="Straight Arrow Connector 5"/>
          <p:cNvCxnSpPr>
            <a:stCxn id="5" idx="0"/>
          </p:cNvCxnSpPr>
          <p:nvPr/>
        </p:nvCxnSpPr>
        <p:spPr>
          <a:xfrm flipV="1">
            <a:off x="7743244" y="4649058"/>
            <a:ext cx="1250444" cy="10912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Straight Arrow Connector 6"/>
          <p:cNvCxnSpPr/>
          <p:nvPr/>
        </p:nvCxnSpPr>
        <p:spPr>
          <a:xfrm flipH="1" flipV="1">
            <a:off x="6375748" y="4508220"/>
            <a:ext cx="535766" cy="115564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V="1">
            <a:off x="8735170" y="4508220"/>
            <a:ext cx="1298178" cy="12454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 name="Rectangle 1">
            <a:extLst>
              <a:ext uri="{FF2B5EF4-FFF2-40B4-BE49-F238E27FC236}">
                <a16:creationId xmlns:a16="http://schemas.microsoft.com/office/drawing/2014/main" id="{A486717B-4C9B-DAE5-40DA-45351B5A480C}"/>
              </a:ext>
            </a:extLst>
          </p:cNvPr>
          <p:cNvSpPr/>
          <p:nvPr/>
        </p:nvSpPr>
        <p:spPr>
          <a:xfrm>
            <a:off x="6988627" y="2645229"/>
            <a:ext cx="1143001" cy="217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D2B62D6-4514-1831-C5FA-AC81D32E31F5}"/>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extLst>
      <p:ext uri="{BB962C8B-B14F-4D97-AF65-F5344CB8AC3E}">
        <p14:creationId xmlns:p14="http://schemas.microsoft.com/office/powerpoint/2010/main" val="633869102"/>
      </p:ext>
    </p:extLst>
  </p:cSld>
  <p:clrMapOvr>
    <a:masterClrMapping/>
  </p:clrMapOvr>
  <mc:AlternateContent xmlns:mc="http://schemas.openxmlformats.org/markup-compatibility/2006" xmlns:p14="http://schemas.microsoft.com/office/powerpoint/2010/main">
    <mc:Choice Requires="p14">
      <p:transition spd="slow" p14:dur="2000" advTm="9700"/>
    </mc:Choice>
    <mc:Fallback xmlns="">
      <p:transition spd="slow" advTm="97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410767" y="1052871"/>
            <a:ext cx="3434724" cy="1569660"/>
          </a:xfrm>
          <a:prstGeom prst="rect">
            <a:avLst/>
          </a:prstGeom>
          <a:noFill/>
        </p:spPr>
        <p:txBody>
          <a:bodyPr wrap="square" rtlCol="0">
            <a:spAutoFit/>
          </a:bodyPr>
          <a:lstStyle/>
          <a:p>
            <a:r>
              <a:rPr lang="en-US" sz="2400" dirty="0"/>
              <a:t>First idea:</a:t>
            </a:r>
          </a:p>
          <a:p>
            <a:endParaRPr lang="en-US" sz="2400" dirty="0"/>
          </a:p>
          <a:p>
            <a:r>
              <a:rPr lang="en-US" sz="2400" dirty="0"/>
              <a:t>Directly connect our input to the log-odds layer</a:t>
            </a:r>
          </a:p>
        </p:txBody>
      </p:sp>
      <p:pic>
        <p:nvPicPr>
          <p:cNvPr id="10" name="Picture 9"/>
          <p:cNvPicPr>
            <a:picLocks noChangeAspect="1"/>
          </p:cNvPicPr>
          <p:nvPr/>
        </p:nvPicPr>
        <p:blipFill>
          <a:blip r:embed="rId3"/>
          <a:stretch>
            <a:fillRect/>
          </a:stretch>
        </p:blipFill>
        <p:spPr>
          <a:xfrm>
            <a:off x="4509368" y="1428409"/>
            <a:ext cx="7302895" cy="3220648"/>
          </a:xfrm>
          <a:prstGeom prst="rect">
            <a:avLst/>
          </a:prstGeom>
        </p:spPr>
      </p:pic>
      <p:sp>
        <p:nvSpPr>
          <p:cNvPr id="5" name="TextBox 4"/>
          <p:cNvSpPr txBox="1"/>
          <p:nvPr/>
        </p:nvSpPr>
        <p:spPr>
          <a:xfrm>
            <a:off x="6067656" y="5740336"/>
            <a:ext cx="3351175" cy="646331"/>
          </a:xfrm>
          <a:prstGeom prst="rect">
            <a:avLst/>
          </a:prstGeom>
          <a:noFill/>
        </p:spPr>
        <p:txBody>
          <a:bodyPr wrap="none" rtlCol="0">
            <a:spAutoFit/>
          </a:bodyPr>
          <a:lstStyle/>
          <a:p>
            <a:pPr algn="ctr"/>
            <a:r>
              <a:rPr lang="en-US" dirty="0">
                <a:solidFill>
                  <a:schemeClr val="accent2"/>
                </a:solidFill>
              </a:rPr>
              <a:t>These vectors are huge! </a:t>
            </a:r>
          </a:p>
          <a:p>
            <a:pPr algn="ctr"/>
            <a:r>
              <a:rPr lang="en-US" dirty="0">
                <a:solidFill>
                  <a:schemeClr val="accent2"/>
                </a:solidFill>
              </a:rPr>
              <a:t>They’re the size of our vocabulary</a:t>
            </a:r>
          </a:p>
        </p:txBody>
      </p:sp>
      <p:cxnSp>
        <p:nvCxnSpPr>
          <p:cNvPr id="6" name="Straight Arrow Connector 5"/>
          <p:cNvCxnSpPr>
            <a:stCxn id="5" idx="0"/>
          </p:cNvCxnSpPr>
          <p:nvPr/>
        </p:nvCxnSpPr>
        <p:spPr>
          <a:xfrm flipV="1">
            <a:off x="7743244" y="4649058"/>
            <a:ext cx="1250444" cy="10912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Straight Arrow Connector 6"/>
          <p:cNvCxnSpPr/>
          <p:nvPr/>
        </p:nvCxnSpPr>
        <p:spPr>
          <a:xfrm flipH="1" flipV="1">
            <a:off x="6375748" y="4508220"/>
            <a:ext cx="535766" cy="115564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V="1">
            <a:off x="8735170" y="4508220"/>
            <a:ext cx="1298178" cy="12454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 name="Rectangle 1">
            <a:extLst>
              <a:ext uri="{FF2B5EF4-FFF2-40B4-BE49-F238E27FC236}">
                <a16:creationId xmlns:a16="http://schemas.microsoft.com/office/drawing/2014/main" id="{2D525D68-1125-B75F-2DDA-E01A929820E3}"/>
              </a:ext>
            </a:extLst>
          </p:cNvPr>
          <p:cNvSpPr/>
          <p:nvPr/>
        </p:nvSpPr>
        <p:spPr>
          <a:xfrm>
            <a:off x="6988627" y="2645229"/>
            <a:ext cx="1143001" cy="217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DEC8C8C8-59DB-3797-1C89-1E3925AA610C}"/>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extLst>
      <p:ext uri="{BB962C8B-B14F-4D97-AF65-F5344CB8AC3E}">
        <p14:creationId xmlns:p14="http://schemas.microsoft.com/office/powerpoint/2010/main" val="2464052307"/>
      </p:ext>
    </p:extLst>
  </p:cSld>
  <p:clrMapOvr>
    <a:masterClrMapping/>
  </p:clrMapOvr>
  <mc:AlternateContent xmlns:mc="http://schemas.openxmlformats.org/markup-compatibility/2006" xmlns:p14="http://schemas.microsoft.com/office/powerpoint/2010/main">
    <mc:Choice Requires="p14">
      <p:transition spd="slow" p14:dur="2000" advTm="12130"/>
    </mc:Choice>
    <mc:Fallback xmlns="">
      <p:transition spd="slow" advTm="1213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3" name="TextBox 52"/>
              <p:cNvSpPr txBox="1"/>
              <p:nvPr/>
            </p:nvSpPr>
            <p:spPr>
              <a:xfrm>
                <a:off x="410767" y="1052871"/>
                <a:ext cx="3434724" cy="4524315"/>
              </a:xfrm>
              <a:prstGeom prst="rect">
                <a:avLst/>
              </a:prstGeom>
              <a:noFill/>
            </p:spPr>
            <p:txBody>
              <a:bodyPr wrap="square" rtlCol="0">
                <a:spAutoFit/>
              </a:bodyPr>
              <a:lstStyle/>
              <a:p>
                <a:r>
                  <a:rPr lang="en-US" sz="2400" dirty="0"/>
                  <a:t>First idea:</a:t>
                </a:r>
              </a:p>
              <a:p>
                <a:endParaRPr lang="en-US" sz="2400" dirty="0"/>
              </a:p>
              <a:p>
                <a:r>
                  <a:rPr lang="en-US" sz="2400" dirty="0"/>
                  <a:t>Directly connect our input to the log-odds layer</a:t>
                </a:r>
              </a:p>
              <a:p>
                <a:endParaRPr lang="en-US" sz="2400" dirty="0"/>
              </a:p>
              <a:p>
                <a:r>
                  <a:rPr lang="en-US" sz="2400" dirty="0">
                    <a:solidFill>
                      <a:schemeClr val="accent1"/>
                    </a:solidFill>
                  </a:rPr>
                  <a:t>How many connections?</a:t>
                </a:r>
              </a:p>
              <a:p>
                <a:endParaRPr lang="en-US" sz="2400" dirty="0"/>
              </a:p>
              <a:p>
                <a14:m>
                  <m:oMath xmlns:m="http://schemas.openxmlformats.org/officeDocument/2006/math">
                    <m:r>
                      <a:rPr lang="en-US" sz="2400" i="1" dirty="0" smtClean="0">
                        <a:latin typeface="Cambria Math" panose="02040503050406030204" pitchFamily="18" charset="0"/>
                      </a:rPr>
                      <m:t>𝑉</m:t>
                    </m:r>
                  </m:oMath>
                </a14:m>
                <a:r>
                  <a:rPr lang="en-US" sz="2400" dirty="0"/>
                  <a:t> x </a:t>
                </a:r>
                <a14:m>
                  <m:oMath xmlns:m="http://schemas.openxmlformats.org/officeDocument/2006/math">
                    <m:r>
                      <a:rPr lang="en-US" sz="2400" i="1" dirty="0" smtClean="0">
                        <a:latin typeface="Cambria Math" panose="02040503050406030204" pitchFamily="18" charset="0"/>
                      </a:rPr>
                      <m:t>𝑉</m:t>
                    </m:r>
                  </m:oMath>
                </a14:m>
                <a:endParaRPr lang="en-US" sz="2400" dirty="0"/>
              </a:p>
              <a:p>
                <a:endParaRPr lang="en-US" sz="2400" dirty="0"/>
              </a:p>
              <a:p>
                <a:r>
                  <a:rPr lang="en-US" sz="2400" dirty="0"/>
                  <a:t>Where </a:t>
                </a:r>
                <a14:m>
                  <m:oMath xmlns:m="http://schemas.openxmlformats.org/officeDocument/2006/math">
                    <m:r>
                      <a:rPr lang="en-US" sz="2400" i="1" dirty="0" smtClean="0">
                        <a:latin typeface="Cambria Math" panose="02040503050406030204" pitchFamily="18" charset="0"/>
                      </a:rPr>
                      <m:t>𝑉</m:t>
                    </m:r>
                  </m:oMath>
                </a14:m>
                <a:r>
                  <a:rPr lang="en-US" sz="2400" dirty="0"/>
                  <a:t> is our vocabulary size</a:t>
                </a:r>
              </a:p>
              <a:p>
                <a:r>
                  <a:rPr lang="en-US" sz="2400" dirty="0"/>
                  <a:t>(approx. 50k)</a:t>
                </a:r>
              </a:p>
            </p:txBody>
          </p:sp>
        </mc:Choice>
        <mc:Fallback xmlns="">
          <p:sp>
            <p:nvSpPr>
              <p:cNvPr id="53" name="TextBox 52"/>
              <p:cNvSpPr txBox="1">
                <a:spLocks noRot="1" noChangeAspect="1" noMove="1" noResize="1" noEditPoints="1" noAdjustHandles="1" noChangeArrowheads="1" noChangeShapeType="1" noTextEdit="1"/>
              </p:cNvSpPr>
              <p:nvPr/>
            </p:nvSpPr>
            <p:spPr>
              <a:xfrm>
                <a:off x="410767" y="1052871"/>
                <a:ext cx="3434724" cy="4524315"/>
              </a:xfrm>
              <a:prstGeom prst="rect">
                <a:avLst/>
              </a:prstGeom>
              <a:blipFill>
                <a:blip r:embed="rId6"/>
                <a:stretch>
                  <a:fillRect l="-2952" t="-1120" r="-4059" b="-1961"/>
                </a:stretch>
              </a:blipFill>
            </p:spPr>
            <p:txBody>
              <a:bodyPr/>
              <a:lstStyle/>
              <a:p>
                <a:r>
                  <a:rPr lang="en-US">
                    <a:noFill/>
                  </a:rPr>
                  <a:t> </a:t>
                </a:r>
              </a:p>
            </p:txBody>
          </p:sp>
        </mc:Fallback>
      </mc:AlternateContent>
      <p:sp>
        <p:nvSpPr>
          <p:cNvPr id="5" name="TextBox 4"/>
          <p:cNvSpPr txBox="1"/>
          <p:nvPr/>
        </p:nvSpPr>
        <p:spPr>
          <a:xfrm>
            <a:off x="6067656" y="5740336"/>
            <a:ext cx="3351175" cy="646331"/>
          </a:xfrm>
          <a:prstGeom prst="rect">
            <a:avLst/>
          </a:prstGeom>
          <a:noFill/>
        </p:spPr>
        <p:txBody>
          <a:bodyPr wrap="none" rtlCol="0">
            <a:spAutoFit/>
          </a:bodyPr>
          <a:lstStyle/>
          <a:p>
            <a:pPr algn="ctr"/>
            <a:r>
              <a:rPr lang="en-US" dirty="0">
                <a:solidFill>
                  <a:schemeClr val="accent2"/>
                </a:solidFill>
              </a:rPr>
              <a:t>These vectors are huge! </a:t>
            </a:r>
          </a:p>
          <a:p>
            <a:pPr algn="ctr"/>
            <a:r>
              <a:rPr lang="en-US" dirty="0">
                <a:solidFill>
                  <a:schemeClr val="accent2"/>
                </a:solidFill>
              </a:rPr>
              <a:t>They’re the size of our vocabulary</a:t>
            </a:r>
          </a:p>
        </p:txBody>
      </p:sp>
      <p:cxnSp>
        <p:nvCxnSpPr>
          <p:cNvPr id="6" name="Straight Arrow Connector 5"/>
          <p:cNvCxnSpPr>
            <a:stCxn id="5" idx="0"/>
          </p:cNvCxnSpPr>
          <p:nvPr/>
        </p:nvCxnSpPr>
        <p:spPr>
          <a:xfrm flipV="1">
            <a:off x="7743244" y="4649058"/>
            <a:ext cx="1250444" cy="10912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Straight Arrow Connector 6"/>
          <p:cNvCxnSpPr/>
          <p:nvPr/>
        </p:nvCxnSpPr>
        <p:spPr>
          <a:xfrm flipH="1" flipV="1">
            <a:off x="6375748" y="4508220"/>
            <a:ext cx="535766" cy="115564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V="1">
            <a:off x="8735170" y="4508220"/>
            <a:ext cx="1298178" cy="12454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1" name="Picture 10">
            <a:extLst>
              <a:ext uri="{FF2B5EF4-FFF2-40B4-BE49-F238E27FC236}">
                <a16:creationId xmlns:a16="http://schemas.microsoft.com/office/drawing/2014/main" id="{4224F4F6-8A41-E640-B022-FE4CD1E27433}"/>
              </a:ext>
            </a:extLst>
          </p:cNvPr>
          <p:cNvPicPr>
            <a:picLocks noChangeAspect="1"/>
          </p:cNvPicPr>
          <p:nvPr/>
        </p:nvPicPr>
        <p:blipFill>
          <a:blip r:embed="rId7"/>
          <a:stretch>
            <a:fillRect/>
          </a:stretch>
        </p:blipFill>
        <p:spPr>
          <a:xfrm>
            <a:off x="4509368" y="1428409"/>
            <a:ext cx="7302895" cy="3220648"/>
          </a:xfrm>
          <a:prstGeom prst="rect">
            <a:avLst/>
          </a:prstGeom>
        </p:spPr>
      </p:pic>
      <p:sp>
        <p:nvSpPr>
          <p:cNvPr id="2" name="Rectangle 1">
            <a:extLst>
              <a:ext uri="{FF2B5EF4-FFF2-40B4-BE49-F238E27FC236}">
                <a16:creationId xmlns:a16="http://schemas.microsoft.com/office/drawing/2014/main" id="{1D14865A-DAA5-79C0-5A61-3ECA8FF75D10}"/>
              </a:ext>
            </a:extLst>
          </p:cNvPr>
          <p:cNvSpPr/>
          <p:nvPr/>
        </p:nvSpPr>
        <p:spPr>
          <a:xfrm>
            <a:off x="6988627" y="2645229"/>
            <a:ext cx="1143001" cy="217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1A3A5B48-D6CA-8AC9-676A-0EE73552FFEF}"/>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custDataLst>
      <p:tags r:id="rId1"/>
    </p:custDataLst>
    <p:extLst>
      <p:ext uri="{BB962C8B-B14F-4D97-AF65-F5344CB8AC3E}">
        <p14:creationId xmlns:p14="http://schemas.microsoft.com/office/powerpoint/2010/main" val="1620633406"/>
      </p:ext>
    </p:extLst>
  </p:cSld>
  <p:clrMapOvr>
    <a:masterClrMapping/>
  </p:clrMapOvr>
  <mc:AlternateContent xmlns:mc="http://schemas.openxmlformats.org/markup-compatibility/2006" xmlns:p14="http://schemas.microsoft.com/office/powerpoint/2010/main">
    <mc:Choice Requires="p14">
      <p:transition spd="slow" p14:dur="2000" advTm="47043"/>
    </mc:Choice>
    <mc:Fallback xmlns="">
      <p:transition spd="slow" advTm="4704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3" name="TextBox 52"/>
              <p:cNvSpPr txBox="1"/>
              <p:nvPr/>
            </p:nvSpPr>
            <p:spPr>
              <a:xfrm>
                <a:off x="410767" y="1052871"/>
                <a:ext cx="3266871" cy="4893647"/>
              </a:xfrm>
              <a:prstGeom prst="rect">
                <a:avLst/>
              </a:prstGeom>
              <a:noFill/>
            </p:spPr>
            <p:txBody>
              <a:bodyPr wrap="square" rtlCol="0">
                <a:spAutoFit/>
              </a:bodyPr>
              <a:lstStyle/>
              <a:p>
                <a:r>
                  <a:rPr lang="en-US" sz="2400" dirty="0"/>
                  <a:t>How about a single hidden layer?</a:t>
                </a:r>
              </a:p>
              <a:p>
                <a:endParaRPr lang="en-US" sz="2400" dirty="0"/>
              </a:p>
              <a:p>
                <a:r>
                  <a:rPr lang="en-US" sz="2400" dirty="0">
                    <a:solidFill>
                      <a:schemeClr val="accent1"/>
                    </a:solidFill>
                  </a:rPr>
                  <a:t>How many connections?</a:t>
                </a:r>
              </a:p>
              <a:p>
                <a:endParaRPr lang="en-US" sz="2400" dirty="0"/>
              </a:p>
              <a:p>
                <a14:m>
                  <m:oMath xmlns:m="http://schemas.openxmlformats.org/officeDocument/2006/math">
                    <m:r>
                      <a:rPr lang="en-US" sz="2400" i="1" dirty="0">
                        <a:latin typeface="Cambria Math" panose="02040503050406030204" pitchFamily="18" charset="0"/>
                      </a:rPr>
                      <m:t>𝑉</m:t>
                    </m:r>
                  </m:oMath>
                </a14:m>
                <a:r>
                  <a:rPr lang="en-US" sz="2400" dirty="0"/>
                  <a:t> x </a:t>
                </a:r>
                <a14:m>
                  <m:oMath xmlns:m="http://schemas.openxmlformats.org/officeDocument/2006/math">
                    <m:r>
                      <a:rPr lang="en-US" sz="2400" b="0" i="1" dirty="0" smtClean="0">
                        <a:latin typeface="Cambria Math" panose="02040503050406030204" pitchFamily="18" charset="0"/>
                      </a:rPr>
                      <m:t>𝐻</m:t>
                    </m:r>
                  </m:oMath>
                </a14:m>
                <a:r>
                  <a:rPr lang="en-US" sz="2400" dirty="0"/>
                  <a:t> x </a:t>
                </a:r>
                <a14:m>
                  <m:oMath xmlns:m="http://schemas.openxmlformats.org/officeDocument/2006/math">
                    <m:r>
                      <a:rPr lang="en-US" sz="2400" i="1" dirty="0" smtClean="0">
                        <a:latin typeface="Cambria Math" panose="02040503050406030204" pitchFamily="18" charset="0"/>
                      </a:rPr>
                      <m:t>2</m:t>
                    </m:r>
                  </m:oMath>
                </a14:m>
                <a:endParaRPr lang="en-US" sz="2400" dirty="0"/>
              </a:p>
              <a:p>
                <a:endParaRPr lang="en-US" sz="2400" dirty="0"/>
              </a:p>
              <a:p>
                <a:r>
                  <a:rPr lang="en-US" sz="2400" dirty="0"/>
                  <a:t>Where </a:t>
                </a:r>
                <a14:m>
                  <m:oMath xmlns:m="http://schemas.openxmlformats.org/officeDocument/2006/math">
                    <m:r>
                      <a:rPr lang="en-US" sz="2400" i="1" dirty="0">
                        <a:latin typeface="Cambria Math" panose="02040503050406030204" pitchFamily="18" charset="0"/>
                      </a:rPr>
                      <m:t>𝑉</m:t>
                    </m:r>
                  </m:oMath>
                </a14:m>
                <a:r>
                  <a:rPr lang="en-US" sz="2400" dirty="0"/>
                  <a:t> is our vocabulary size</a:t>
                </a:r>
              </a:p>
              <a:p>
                <a:r>
                  <a:rPr lang="en-US" sz="2400" dirty="0"/>
                  <a:t>(approx. 50k)</a:t>
                </a:r>
              </a:p>
              <a:p>
                <a:endParaRPr lang="en-US" sz="2400" dirty="0"/>
              </a:p>
              <a:p>
                <a:r>
                  <a:rPr lang="en-US" sz="2400" dirty="0"/>
                  <a:t>And </a:t>
                </a:r>
                <a14:m>
                  <m:oMath xmlns:m="http://schemas.openxmlformats.org/officeDocument/2006/math">
                    <m:r>
                      <a:rPr lang="en-US" sz="2400" i="1" dirty="0" smtClean="0">
                        <a:latin typeface="Cambria Math" panose="02040503050406030204" pitchFamily="18" charset="0"/>
                      </a:rPr>
                      <m:t>𝐻</m:t>
                    </m:r>
                  </m:oMath>
                </a14:m>
                <a:r>
                  <a:rPr lang="en-US" sz="2400" dirty="0"/>
                  <a:t> is our hidden layer size (</a:t>
                </a:r>
                <a14:m>
                  <m:oMath xmlns:m="http://schemas.openxmlformats.org/officeDocument/2006/math">
                    <m:r>
                      <a:rPr lang="en-US" sz="2400" i="1" dirty="0">
                        <a:latin typeface="Cambria Math" panose="02040503050406030204" pitchFamily="18" charset="0"/>
                      </a:rPr>
                      <m:t>≪</m:t>
                    </m:r>
                    <m:r>
                      <a:rPr lang="en-US" sz="2400" i="1" dirty="0" smtClean="0">
                        <a:latin typeface="Cambria Math" panose="02040503050406030204" pitchFamily="18" charset="0"/>
                      </a:rPr>
                      <m:t>𝑉</m:t>
                    </m:r>
                  </m:oMath>
                </a14:m>
                <a:r>
                  <a:rPr lang="en-US" sz="2400" dirty="0"/>
                  <a:t>)</a:t>
                </a:r>
              </a:p>
            </p:txBody>
          </p:sp>
        </mc:Choice>
        <mc:Fallback xmlns="">
          <p:sp>
            <p:nvSpPr>
              <p:cNvPr id="53" name="TextBox 52"/>
              <p:cNvSpPr txBox="1">
                <a:spLocks noRot="1" noChangeAspect="1" noMove="1" noResize="1" noEditPoints="1" noAdjustHandles="1" noChangeArrowheads="1" noChangeShapeType="1" noTextEdit="1"/>
              </p:cNvSpPr>
              <p:nvPr/>
            </p:nvSpPr>
            <p:spPr>
              <a:xfrm>
                <a:off x="410767" y="1052871"/>
                <a:ext cx="3266871" cy="4893647"/>
              </a:xfrm>
              <a:prstGeom prst="rect">
                <a:avLst/>
              </a:prstGeom>
              <a:blipFill>
                <a:blip r:embed="rId6"/>
                <a:stretch>
                  <a:fillRect l="-3101" t="-1036" r="-1163" b="-1813"/>
                </a:stretch>
              </a:blipFill>
            </p:spPr>
            <p:txBody>
              <a:bodyPr/>
              <a:lstStyle/>
              <a:p>
                <a:r>
                  <a:rPr lang="en-US">
                    <a:noFill/>
                  </a:rPr>
                  <a:t> </a:t>
                </a:r>
              </a:p>
            </p:txBody>
          </p:sp>
        </mc:Fallback>
      </mc:AlternateContent>
      <p:pic>
        <p:nvPicPr>
          <p:cNvPr id="10" name="Picture 9"/>
          <p:cNvPicPr>
            <a:picLocks noChangeAspect="1"/>
          </p:cNvPicPr>
          <p:nvPr/>
        </p:nvPicPr>
        <p:blipFill>
          <a:blip r:embed="rId7"/>
          <a:stretch>
            <a:fillRect/>
          </a:stretch>
        </p:blipFill>
        <p:spPr>
          <a:xfrm>
            <a:off x="4509368" y="1428409"/>
            <a:ext cx="7302895" cy="3220648"/>
          </a:xfrm>
          <a:prstGeom prst="rect">
            <a:avLst/>
          </a:prstGeom>
        </p:spPr>
      </p:pic>
      <p:sp>
        <p:nvSpPr>
          <p:cNvPr id="5" name="TextBox 4"/>
          <p:cNvSpPr txBox="1"/>
          <p:nvPr/>
        </p:nvSpPr>
        <p:spPr>
          <a:xfrm>
            <a:off x="6067656" y="5740336"/>
            <a:ext cx="3351175" cy="646331"/>
          </a:xfrm>
          <a:prstGeom prst="rect">
            <a:avLst/>
          </a:prstGeom>
          <a:noFill/>
        </p:spPr>
        <p:txBody>
          <a:bodyPr wrap="none" rtlCol="0">
            <a:spAutoFit/>
          </a:bodyPr>
          <a:lstStyle/>
          <a:p>
            <a:pPr algn="ctr"/>
            <a:r>
              <a:rPr lang="en-US" dirty="0">
                <a:solidFill>
                  <a:schemeClr val="accent2"/>
                </a:solidFill>
              </a:rPr>
              <a:t>These vectors are huge! </a:t>
            </a:r>
          </a:p>
          <a:p>
            <a:pPr algn="ctr"/>
            <a:r>
              <a:rPr lang="en-US" dirty="0">
                <a:solidFill>
                  <a:schemeClr val="accent2"/>
                </a:solidFill>
              </a:rPr>
              <a:t>They’re the size of our vocabulary</a:t>
            </a:r>
          </a:p>
        </p:txBody>
      </p:sp>
      <p:cxnSp>
        <p:nvCxnSpPr>
          <p:cNvPr id="6" name="Straight Arrow Connector 5"/>
          <p:cNvCxnSpPr>
            <a:stCxn id="5" idx="0"/>
          </p:cNvCxnSpPr>
          <p:nvPr/>
        </p:nvCxnSpPr>
        <p:spPr>
          <a:xfrm flipV="1">
            <a:off x="7743244" y="4649058"/>
            <a:ext cx="1250444" cy="10912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Straight Arrow Connector 6"/>
          <p:cNvCxnSpPr/>
          <p:nvPr/>
        </p:nvCxnSpPr>
        <p:spPr>
          <a:xfrm flipH="1" flipV="1">
            <a:off x="6375748" y="4508220"/>
            <a:ext cx="535766" cy="115564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V="1">
            <a:off x="8735170" y="4508220"/>
            <a:ext cx="1298178" cy="12454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 name="Title 1">
            <a:extLst>
              <a:ext uri="{FF2B5EF4-FFF2-40B4-BE49-F238E27FC236}">
                <a16:creationId xmlns:a16="http://schemas.microsoft.com/office/drawing/2014/main" id="{4689109E-301C-6837-805F-153ACB214EDB}"/>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custDataLst>
      <p:tags r:id="rId1"/>
    </p:custDataLst>
    <p:extLst>
      <p:ext uri="{BB962C8B-B14F-4D97-AF65-F5344CB8AC3E}">
        <p14:creationId xmlns:p14="http://schemas.microsoft.com/office/powerpoint/2010/main" val="63950031"/>
      </p:ext>
    </p:extLst>
  </p:cSld>
  <p:clrMapOvr>
    <a:masterClrMapping/>
  </p:clrMapOvr>
  <mc:AlternateContent xmlns:mc="http://schemas.openxmlformats.org/markup-compatibility/2006" xmlns:p14="http://schemas.microsoft.com/office/powerpoint/2010/main">
    <mc:Choice Requires="p14">
      <p:transition spd="slow" p14:dur="2000" advTm="42438"/>
    </mc:Choice>
    <mc:Fallback xmlns="">
      <p:transition spd="slow" advTm="424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extLst>
              <p:ext uri="{D42A27DB-BD31-4B8C-83A1-F6EECF244321}">
                <p14:modId xmlns:p14="http://schemas.microsoft.com/office/powerpoint/2010/main" val="2739463444"/>
              </p:ext>
            </p:extLst>
          </p:nvPr>
        </p:nvGraphicFramePr>
        <p:xfrm>
          <a:off x="4975112"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1379954079"/>
              </p:ext>
            </p:extLst>
          </p:nvPr>
        </p:nvGraphicFramePr>
        <p:xfrm>
          <a:off x="900846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p:cNvSpPr txBox="1"/>
          <p:nvPr/>
        </p:nvSpPr>
        <p:spPr>
          <a:xfrm>
            <a:off x="9548442" y="1716964"/>
            <a:ext cx="647934" cy="400110"/>
          </a:xfrm>
          <a:prstGeom prst="rect">
            <a:avLst/>
          </a:prstGeom>
          <a:noFill/>
        </p:spPr>
        <p:txBody>
          <a:bodyPr wrap="none" rtlCol="0">
            <a:spAutoFit/>
          </a:bodyPr>
          <a:lstStyle/>
          <a:p>
            <a:r>
              <a:rPr lang="en-US" sz="2000" dirty="0"/>
              <a:t>man</a:t>
            </a:r>
          </a:p>
        </p:txBody>
      </p:sp>
      <p:graphicFrame>
        <p:nvGraphicFramePr>
          <p:cNvPr id="40" name="Table 39"/>
          <p:cNvGraphicFramePr>
            <a:graphicFrameLocks noGrp="1"/>
          </p:cNvGraphicFramePr>
          <p:nvPr/>
        </p:nvGraphicFramePr>
        <p:xfrm>
          <a:off x="7353000"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1" name="TextBox 40"/>
          <p:cNvSpPr txBox="1"/>
          <p:nvPr/>
        </p:nvSpPr>
        <p:spPr>
          <a:xfrm>
            <a:off x="7153149" y="1205015"/>
            <a:ext cx="906017" cy="400110"/>
          </a:xfrm>
          <a:prstGeom prst="rect">
            <a:avLst/>
          </a:prstGeom>
          <a:noFill/>
        </p:spPr>
        <p:txBody>
          <a:bodyPr wrap="none" rtlCol="0">
            <a:spAutoFit/>
          </a:bodyPr>
          <a:lstStyle/>
          <a:p>
            <a:r>
              <a:rPr lang="en-US" sz="2000" dirty="0"/>
              <a:t>z(man)</a:t>
            </a:r>
          </a:p>
        </p:txBody>
      </p:sp>
      <p:sp>
        <p:nvSpPr>
          <p:cNvPr id="42" name="TextBox 41"/>
          <p:cNvSpPr txBox="1"/>
          <p:nvPr/>
        </p:nvSpPr>
        <p:spPr>
          <a:xfrm>
            <a:off x="6968035" y="5825915"/>
            <a:ext cx="1276247" cy="400110"/>
          </a:xfrm>
          <a:prstGeom prst="rect">
            <a:avLst/>
          </a:prstGeom>
          <a:noFill/>
        </p:spPr>
        <p:txBody>
          <a:bodyPr wrap="none" rtlCol="0">
            <a:spAutoFit/>
          </a:bodyPr>
          <a:lstStyle/>
          <a:p>
            <a:r>
              <a:rPr lang="en-US" sz="2000" dirty="0"/>
              <a:t>z(concept)</a:t>
            </a:r>
          </a:p>
        </p:txBody>
      </p:sp>
      <p:cxnSp>
        <p:nvCxnSpPr>
          <p:cNvPr id="5" name="Straight Arrow Connector 4"/>
          <p:cNvCxnSpPr/>
          <p:nvPr/>
        </p:nvCxnSpPr>
        <p:spPr>
          <a:xfrm flipV="1">
            <a:off x="5515092"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551509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043090"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043090"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7892980"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7892980"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7903119"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7917429"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7909912"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7923817"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7909912"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7918571"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095555"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nvGraphicFramePr>
        <p:xfrm>
          <a:off x="2597224"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1364768" y="4783671"/>
            <a:ext cx="809261" cy="400110"/>
          </a:xfrm>
          <a:prstGeom prst="rect">
            <a:avLst/>
          </a:prstGeom>
          <a:noFill/>
        </p:spPr>
        <p:txBody>
          <a:bodyPr wrap="none" rtlCol="0">
            <a:spAutoFit/>
          </a:bodyPr>
          <a:lstStyle/>
          <a:p>
            <a:r>
              <a:rPr lang="en-US" sz="2000" dirty="0"/>
              <a:t>strolls</a:t>
            </a:r>
          </a:p>
        </p:txBody>
      </p:sp>
      <p:cxnSp>
        <p:nvCxnSpPr>
          <p:cNvPr id="45" name="Straight Arrow Connector 44"/>
          <p:cNvCxnSpPr>
            <a:stCxn id="44" idx="3"/>
          </p:cNvCxnSpPr>
          <p:nvPr/>
        </p:nvCxnSpPr>
        <p:spPr>
          <a:xfrm>
            <a:off x="2174029" y="4983726"/>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137204"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137204"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3707636"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707636"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628FE45B-343B-4940-8ACA-E3CEF3C86C77}"/>
              </a:ext>
            </a:extLst>
          </p:cNvPr>
          <p:cNvSpPr>
            <a:spLocks noGrp="1"/>
          </p:cNvSpPr>
          <p:nvPr>
            <p:ph type="title"/>
          </p:nvPr>
        </p:nvSpPr>
        <p:spPr>
          <a:xfrm>
            <a:off x="609600" y="347611"/>
            <a:ext cx="10972800" cy="680026"/>
          </a:xfrm>
        </p:spPr>
        <p:txBody>
          <a:bodyPr>
            <a:normAutofit/>
          </a:bodyPr>
          <a:lstStyle/>
          <a:p>
            <a:r>
              <a:rPr lang="en-US" sz="4000" dirty="0"/>
              <a:t>The skip-gram model</a:t>
            </a:r>
          </a:p>
        </p:txBody>
      </p:sp>
    </p:spTree>
    <p:extLst>
      <p:ext uri="{BB962C8B-B14F-4D97-AF65-F5344CB8AC3E}">
        <p14:creationId xmlns:p14="http://schemas.microsoft.com/office/powerpoint/2010/main" val="382058901"/>
      </p:ext>
    </p:extLst>
  </p:cSld>
  <p:clrMapOvr>
    <a:masterClrMapping/>
  </p:clrMapOvr>
  <mc:AlternateContent xmlns:mc="http://schemas.openxmlformats.org/markup-compatibility/2006" xmlns:p14="http://schemas.microsoft.com/office/powerpoint/2010/main">
    <mc:Choice Requires="p14">
      <p:transition spd="slow" p14:dur="2000" advTm="9251"/>
    </mc:Choice>
    <mc:Fallback xmlns="">
      <p:transition spd="slow" advTm="925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338046" y="348408"/>
            <a:ext cx="12192000" cy="915085"/>
          </a:xfrm>
        </p:spPr>
        <p:txBody>
          <a:bodyPr>
            <a:normAutofit/>
          </a:bodyPr>
          <a:lstStyle/>
          <a:p>
            <a:r>
              <a:rPr lang="en-US" sz="3200" dirty="0"/>
              <a:t>Use mini-batches of training examples; minimize cross-entropy loss</a:t>
            </a:r>
          </a:p>
        </p:txBody>
      </p:sp>
      <p:graphicFrame>
        <p:nvGraphicFramePr>
          <p:cNvPr id="27" name="Table 26"/>
          <p:cNvGraphicFramePr>
            <a:graphicFrameLocks noGrp="1"/>
          </p:cNvGraphicFramePr>
          <p:nvPr/>
        </p:nvGraphicFramePr>
        <p:xfrm>
          <a:off x="4975112"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3809482972"/>
              </p:ext>
            </p:extLst>
          </p:nvPr>
        </p:nvGraphicFramePr>
        <p:xfrm>
          <a:off x="900846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p:cNvSpPr txBox="1"/>
          <p:nvPr/>
        </p:nvSpPr>
        <p:spPr>
          <a:xfrm>
            <a:off x="9557832" y="4250228"/>
            <a:ext cx="1137043" cy="400110"/>
          </a:xfrm>
          <a:prstGeom prst="rect">
            <a:avLst/>
          </a:prstGeom>
          <a:noFill/>
        </p:spPr>
        <p:txBody>
          <a:bodyPr wrap="none" rtlCol="0">
            <a:spAutoFit/>
          </a:bodyPr>
          <a:lstStyle/>
          <a:p>
            <a:r>
              <a:rPr lang="en-US" sz="2000" dirty="0"/>
              <a:t>crocodile</a:t>
            </a:r>
          </a:p>
        </p:txBody>
      </p:sp>
      <p:graphicFrame>
        <p:nvGraphicFramePr>
          <p:cNvPr id="40" name="Table 39"/>
          <p:cNvGraphicFramePr>
            <a:graphicFrameLocks noGrp="1"/>
          </p:cNvGraphicFramePr>
          <p:nvPr/>
        </p:nvGraphicFramePr>
        <p:xfrm>
          <a:off x="7353000"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1" name="TextBox 40"/>
          <p:cNvSpPr txBox="1"/>
          <p:nvPr/>
        </p:nvSpPr>
        <p:spPr>
          <a:xfrm>
            <a:off x="7153149" y="1205015"/>
            <a:ext cx="906017" cy="400110"/>
          </a:xfrm>
          <a:prstGeom prst="rect">
            <a:avLst/>
          </a:prstGeom>
          <a:noFill/>
        </p:spPr>
        <p:txBody>
          <a:bodyPr wrap="none" rtlCol="0">
            <a:spAutoFit/>
          </a:bodyPr>
          <a:lstStyle/>
          <a:p>
            <a:r>
              <a:rPr lang="en-US" sz="2000" dirty="0"/>
              <a:t>z(man)</a:t>
            </a:r>
          </a:p>
        </p:txBody>
      </p:sp>
      <p:sp>
        <p:nvSpPr>
          <p:cNvPr id="42" name="TextBox 41"/>
          <p:cNvSpPr txBox="1"/>
          <p:nvPr/>
        </p:nvSpPr>
        <p:spPr>
          <a:xfrm>
            <a:off x="6968035" y="5825915"/>
            <a:ext cx="1276247" cy="400110"/>
          </a:xfrm>
          <a:prstGeom prst="rect">
            <a:avLst/>
          </a:prstGeom>
          <a:noFill/>
        </p:spPr>
        <p:txBody>
          <a:bodyPr wrap="none" rtlCol="0">
            <a:spAutoFit/>
          </a:bodyPr>
          <a:lstStyle/>
          <a:p>
            <a:r>
              <a:rPr lang="en-US" sz="2000" dirty="0"/>
              <a:t>z(concept)</a:t>
            </a:r>
          </a:p>
        </p:txBody>
      </p:sp>
      <p:cxnSp>
        <p:nvCxnSpPr>
          <p:cNvPr id="5" name="Straight Arrow Connector 4"/>
          <p:cNvCxnSpPr/>
          <p:nvPr/>
        </p:nvCxnSpPr>
        <p:spPr>
          <a:xfrm flipV="1">
            <a:off x="5515092"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551509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043090"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043090"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7892980"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7892980"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7903119"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7917429"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7909912"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7923817"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7909912"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7918571"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095555"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extLst>
              <p:ext uri="{D42A27DB-BD31-4B8C-83A1-F6EECF244321}">
                <p14:modId xmlns:p14="http://schemas.microsoft.com/office/powerpoint/2010/main" val="2918096411"/>
              </p:ext>
            </p:extLst>
          </p:nvPr>
        </p:nvGraphicFramePr>
        <p:xfrm>
          <a:off x="2597224"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1331431" y="2741851"/>
            <a:ext cx="832600" cy="400110"/>
          </a:xfrm>
          <a:prstGeom prst="rect">
            <a:avLst/>
          </a:prstGeom>
          <a:noFill/>
        </p:spPr>
        <p:txBody>
          <a:bodyPr wrap="none" rtlCol="0">
            <a:spAutoFit/>
          </a:bodyPr>
          <a:lstStyle/>
          <a:p>
            <a:r>
              <a:rPr lang="en-US" sz="2000" dirty="0"/>
              <a:t>swims</a:t>
            </a:r>
          </a:p>
        </p:txBody>
      </p:sp>
      <p:cxnSp>
        <p:nvCxnSpPr>
          <p:cNvPr id="45" name="Straight Arrow Connector 44"/>
          <p:cNvCxnSpPr/>
          <p:nvPr/>
        </p:nvCxnSpPr>
        <p:spPr>
          <a:xfrm>
            <a:off x="2171421"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137204"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137204"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3707636"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707636"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0003690"/>
      </p:ext>
    </p:extLst>
  </p:cSld>
  <p:clrMapOvr>
    <a:masterClrMapping/>
  </p:clrMapOvr>
  <mc:AlternateContent xmlns:mc="http://schemas.openxmlformats.org/markup-compatibility/2006" xmlns:p14="http://schemas.microsoft.com/office/powerpoint/2010/main">
    <mc:Choice Requires="p14">
      <p:transition spd="slow" p14:dur="2000" advTm="14333"/>
    </mc:Choice>
    <mc:Fallback xmlns="">
      <p:transition spd="slow" advTm="1433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457200" y="369117"/>
                <a:ext cx="12192000" cy="915085"/>
              </a:xfrm>
            </p:spPr>
            <p:txBody>
              <a:bodyPr>
                <a:normAutofit fontScale="90000"/>
              </a:bodyPr>
              <a:lstStyle/>
              <a:p>
                <a:r>
                  <a:rPr lang="en-US" sz="3200" dirty="0"/>
                  <a:t>Weight Matrices </a:t>
                </a:r>
                <a14:m>
                  <m:oMath xmlns:m="http://schemas.openxmlformats.org/officeDocument/2006/math">
                    <m:r>
                      <a:rPr lang="en-US" sz="3200" b="0" i="1" dirty="0" smtClean="0">
                        <a:latin typeface="Cambria Math" panose="02040503050406030204" pitchFamily="18" charset="0"/>
                      </a:rPr>
                      <m:t>𝐸</m:t>
                    </m:r>
                  </m:oMath>
                </a14:m>
                <a:r>
                  <a:rPr lang="en-US" sz="3200" dirty="0"/>
                  <a:t> and </a:t>
                </a:r>
                <a14:m>
                  <m:oMath xmlns:m="http://schemas.openxmlformats.org/officeDocument/2006/math">
                    <m:r>
                      <a:rPr lang="en-US" sz="3200" b="0" i="1" dirty="0" smtClean="0">
                        <a:latin typeface="Cambria Math" panose="02040503050406030204" pitchFamily="18" charset="0"/>
                      </a:rPr>
                      <m:t>𝑈</m:t>
                    </m:r>
                  </m:oMath>
                </a14:m>
                <a:br>
                  <a:rPr lang="en-US" sz="3200" dirty="0"/>
                </a:br>
                <a:r>
                  <a:rPr lang="en-US" sz="3200" dirty="0"/>
                  <a:t>(input embeddings E; target embeddings U)</a:t>
                </a:r>
              </a:p>
            </p:txBody>
          </p:sp>
        </mc:Choice>
        <mc:Fallback xmlns="">
          <p:sp>
            <p:nvSpPr>
              <p:cNvPr id="39" name="Title 1">
                <a:extLst>
                  <a:ext uri="{FF2B5EF4-FFF2-40B4-BE49-F238E27FC236}">
                    <a16:creationId xmlns:a16="http://schemas.microsoft.com/office/drawing/2014/main" id="{B458246D-1AA2-0B46-8422-C80506A22939}"/>
                  </a:ext>
                </a:extLst>
              </p:cNvPr>
              <p:cNvSpPr>
                <a:spLocks noGrp="1" noRot="1" noChangeAspect="1" noMove="1" noResize="1" noEditPoints="1" noAdjustHandles="1" noChangeArrowheads="1" noChangeShapeType="1" noTextEdit="1"/>
              </p:cNvSpPr>
              <p:nvPr>
                <p:ph type="title"/>
              </p:nvPr>
            </p:nvSpPr>
            <p:spPr>
              <a:xfrm>
                <a:off x="457200" y="369117"/>
                <a:ext cx="12192000" cy="915085"/>
              </a:xfrm>
              <a:blipFill>
                <a:blip r:embed="rId3"/>
                <a:stretch>
                  <a:fillRect l="-1145" t="-12329" b="-16438"/>
                </a:stretch>
              </a:blipFill>
            </p:spPr>
            <p:txBody>
              <a:bodyPr/>
              <a:lstStyle/>
              <a:p>
                <a:r>
                  <a:rPr lang="en-US">
                    <a:noFill/>
                  </a:rPr>
                  <a:t> </a:t>
                </a:r>
              </a:p>
            </p:txBody>
          </p:sp>
        </mc:Fallback>
      </mc:AlternateContent>
      <p:graphicFrame>
        <p:nvGraphicFramePr>
          <p:cNvPr id="27" name="Table 26"/>
          <p:cNvGraphicFramePr>
            <a:graphicFrameLocks noGrp="1"/>
          </p:cNvGraphicFramePr>
          <p:nvPr/>
        </p:nvGraphicFramePr>
        <p:xfrm>
          <a:off x="4975112"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nvGraphicFramePr>
        <p:xfrm>
          <a:off x="900846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p:cNvSpPr txBox="1"/>
          <p:nvPr/>
        </p:nvSpPr>
        <p:spPr>
          <a:xfrm>
            <a:off x="9557832" y="4250228"/>
            <a:ext cx="1137043" cy="400110"/>
          </a:xfrm>
          <a:prstGeom prst="rect">
            <a:avLst/>
          </a:prstGeom>
          <a:noFill/>
        </p:spPr>
        <p:txBody>
          <a:bodyPr wrap="none" rtlCol="0">
            <a:spAutoFit/>
          </a:bodyPr>
          <a:lstStyle/>
          <a:p>
            <a:r>
              <a:rPr lang="en-US" sz="2000" dirty="0"/>
              <a:t>crocodile</a:t>
            </a:r>
          </a:p>
        </p:txBody>
      </p:sp>
      <p:graphicFrame>
        <p:nvGraphicFramePr>
          <p:cNvPr id="40" name="Table 39"/>
          <p:cNvGraphicFramePr>
            <a:graphicFrameLocks noGrp="1"/>
          </p:cNvGraphicFramePr>
          <p:nvPr/>
        </p:nvGraphicFramePr>
        <p:xfrm>
          <a:off x="7353000"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5" name="Straight Arrow Connector 4"/>
          <p:cNvCxnSpPr/>
          <p:nvPr/>
        </p:nvCxnSpPr>
        <p:spPr>
          <a:xfrm flipV="1">
            <a:off x="5515092"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551509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043090"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043090"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7892980"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7892980"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7903119"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7917429"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7909912"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7923817"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7909912"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7918571"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095555"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nvGraphicFramePr>
        <p:xfrm>
          <a:off x="2597224"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1331431" y="2741851"/>
            <a:ext cx="832600" cy="400110"/>
          </a:xfrm>
          <a:prstGeom prst="rect">
            <a:avLst/>
          </a:prstGeom>
          <a:noFill/>
        </p:spPr>
        <p:txBody>
          <a:bodyPr wrap="none" rtlCol="0">
            <a:spAutoFit/>
          </a:bodyPr>
          <a:lstStyle/>
          <a:p>
            <a:r>
              <a:rPr lang="en-US" sz="2000" dirty="0"/>
              <a:t>swims</a:t>
            </a:r>
          </a:p>
        </p:txBody>
      </p:sp>
      <p:cxnSp>
        <p:nvCxnSpPr>
          <p:cNvPr id="45" name="Straight Arrow Connector 44"/>
          <p:cNvCxnSpPr/>
          <p:nvPr/>
        </p:nvCxnSpPr>
        <p:spPr>
          <a:xfrm>
            <a:off x="2171421"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137204"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137204"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3707636"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707636"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3777460" y="4522061"/>
                <a:ext cx="458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3777460" y="4522061"/>
                <a:ext cx="45800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202123" y="4522060"/>
                <a:ext cx="471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𝑈</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202123" y="4522060"/>
                <a:ext cx="47121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8FF65C8-6CCC-D367-3C5C-AB6F08CF42CA}"/>
                  </a:ext>
                </a:extLst>
              </p:cNvPr>
              <p:cNvSpPr txBox="1"/>
              <p:nvPr/>
            </p:nvSpPr>
            <p:spPr>
              <a:xfrm>
                <a:off x="4647759" y="5364250"/>
                <a:ext cx="119468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𝑣</m:t>
                      </m:r>
                      <m:r>
                        <a:rPr lang="en-US" sz="2400" b="0" i="1" dirty="0" smtClean="0">
                          <a:latin typeface="Cambria Math" panose="02040503050406030204" pitchFamily="18" charset="0"/>
                        </a:rPr>
                        <m:t>=</m:t>
                      </m:r>
                      <m:r>
                        <a:rPr lang="en-US" sz="2400" b="0" i="1" dirty="0" smtClean="0">
                          <a:latin typeface="Cambria Math" panose="02040503050406030204" pitchFamily="18" charset="0"/>
                        </a:rPr>
                        <m:t>𝐸𝑥</m:t>
                      </m:r>
                    </m:oMath>
                  </m:oMathPara>
                </a14:m>
                <a:endParaRPr lang="en-US" sz="2400" dirty="0"/>
              </a:p>
            </p:txBody>
          </p:sp>
        </mc:Choice>
        <mc:Fallback xmlns="">
          <p:sp>
            <p:nvSpPr>
              <p:cNvPr id="3" name="TextBox 2">
                <a:extLst>
                  <a:ext uri="{FF2B5EF4-FFF2-40B4-BE49-F238E27FC236}">
                    <a16:creationId xmlns:a16="http://schemas.microsoft.com/office/drawing/2014/main" id="{D8FF65C8-6CCC-D367-3C5C-AB6F08CF42CA}"/>
                  </a:ext>
                </a:extLst>
              </p:cNvPr>
              <p:cNvSpPr txBox="1">
                <a:spLocks noRot="1" noChangeAspect="1" noMove="1" noResize="1" noEditPoints="1" noAdjustHandles="1" noChangeArrowheads="1" noChangeShapeType="1" noTextEdit="1"/>
              </p:cNvSpPr>
              <p:nvPr/>
            </p:nvSpPr>
            <p:spPr>
              <a:xfrm>
                <a:off x="4647759" y="5364250"/>
                <a:ext cx="1194686"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FF953FB-CDBB-2016-98FA-6698329CC4BB}"/>
                  </a:ext>
                </a:extLst>
              </p:cNvPr>
              <p:cNvSpPr txBox="1"/>
              <p:nvPr/>
            </p:nvSpPr>
            <p:spPr>
              <a:xfrm>
                <a:off x="8304756" y="5898895"/>
                <a:ext cx="19473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dirty="0" smtClean="0">
                          <a:latin typeface="Cambria Math" panose="02040503050406030204" pitchFamily="18" charset="0"/>
                        </a:rPr>
                        <m:t>softmax</m:t>
                      </m:r>
                      <m:r>
                        <a:rPr lang="en-US" sz="2400" b="0" i="1" dirty="0" smtClean="0">
                          <a:latin typeface="Cambria Math" panose="02040503050406030204" pitchFamily="18" charset="0"/>
                        </a:rPr>
                        <m:t>(</m:t>
                      </m:r>
                      <m:r>
                        <a:rPr lang="en-US" sz="2400" b="0" i="1" dirty="0" smtClean="0">
                          <a:latin typeface="Cambria Math" panose="02040503050406030204" pitchFamily="18" charset="0"/>
                        </a:rPr>
                        <m:t>𝑈𝑣</m:t>
                      </m:r>
                      <m:r>
                        <a:rPr lang="en-US" sz="2400" b="0" i="1" dirty="0" smtClean="0">
                          <a:latin typeface="Cambria Math" panose="02040503050406030204" pitchFamily="18" charset="0"/>
                        </a:rPr>
                        <m:t>)</m:t>
                      </m:r>
                    </m:oMath>
                  </m:oMathPara>
                </a14:m>
                <a:endParaRPr lang="en-US" sz="2400" dirty="0"/>
              </a:p>
            </p:txBody>
          </p:sp>
        </mc:Choice>
        <mc:Fallback xmlns="">
          <p:sp>
            <p:nvSpPr>
              <p:cNvPr id="4" name="TextBox 3">
                <a:extLst>
                  <a:ext uri="{FF2B5EF4-FFF2-40B4-BE49-F238E27FC236}">
                    <a16:creationId xmlns:a16="http://schemas.microsoft.com/office/drawing/2014/main" id="{0FF953FB-CDBB-2016-98FA-6698329CC4BB}"/>
                  </a:ext>
                </a:extLst>
              </p:cNvPr>
              <p:cNvSpPr txBox="1">
                <a:spLocks noRot="1" noChangeAspect="1" noMove="1" noResize="1" noEditPoints="1" noAdjustHandles="1" noChangeArrowheads="1" noChangeShapeType="1" noTextEdit="1"/>
              </p:cNvSpPr>
              <p:nvPr/>
            </p:nvSpPr>
            <p:spPr>
              <a:xfrm>
                <a:off x="8304756" y="5898895"/>
                <a:ext cx="1947392" cy="461665"/>
              </a:xfrm>
              <a:prstGeom prst="rect">
                <a:avLst/>
              </a:prstGeom>
              <a:blipFill>
                <a:blip r:embed="rId7"/>
                <a:stretch>
                  <a:fillRect b="-18919"/>
                </a:stretch>
              </a:blipFill>
            </p:spPr>
            <p:txBody>
              <a:bodyPr/>
              <a:lstStyle/>
              <a:p>
                <a:r>
                  <a:rPr lang="en-US">
                    <a:noFill/>
                  </a:rPr>
                  <a:t> </a:t>
                </a:r>
              </a:p>
            </p:txBody>
          </p:sp>
        </mc:Fallback>
      </mc:AlternateContent>
    </p:spTree>
    <p:extLst>
      <p:ext uri="{BB962C8B-B14F-4D97-AF65-F5344CB8AC3E}">
        <p14:creationId xmlns:p14="http://schemas.microsoft.com/office/powerpoint/2010/main" val="1685136442"/>
      </p:ext>
    </p:extLst>
  </p:cSld>
  <p:clrMapOvr>
    <a:masterClrMapping/>
  </p:clrMapOvr>
  <mc:AlternateContent xmlns:mc="http://schemas.openxmlformats.org/markup-compatibility/2006" xmlns:p14="http://schemas.microsoft.com/office/powerpoint/2010/main">
    <mc:Choice Requires="p14">
      <p:transition spd="slow" p14:dur="2000" advTm="21998"/>
    </mc:Choice>
    <mc:Fallback xmlns="">
      <p:transition spd="slow" advTm="21998"/>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EBEE-3F89-3C34-7B6D-A0DBAA0E6C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Title 1">
                <a:extLst>
                  <a:ext uri="{FF2B5EF4-FFF2-40B4-BE49-F238E27FC236}">
                    <a16:creationId xmlns:a16="http://schemas.microsoft.com/office/drawing/2014/main" id="{B3FA848D-CDB4-75BE-646E-8FDBACBCB61B}"/>
                  </a:ext>
                </a:extLst>
              </p:cNvPr>
              <p:cNvSpPr>
                <a:spLocks noGrp="1"/>
              </p:cNvSpPr>
              <p:nvPr>
                <p:ph type="title"/>
              </p:nvPr>
            </p:nvSpPr>
            <p:spPr>
              <a:xfrm>
                <a:off x="457200" y="369117"/>
                <a:ext cx="12192000" cy="915085"/>
              </a:xfrm>
            </p:spPr>
            <p:txBody>
              <a:bodyPr>
                <a:normAutofit fontScale="90000"/>
              </a:bodyPr>
              <a:lstStyle/>
              <a:p>
                <a:r>
                  <a:rPr lang="en-US" sz="3200" dirty="0"/>
                  <a:t>Weight Matrices </a:t>
                </a:r>
                <a14:m>
                  <m:oMath xmlns:m="http://schemas.openxmlformats.org/officeDocument/2006/math">
                    <m:r>
                      <a:rPr lang="en-US" sz="3200" b="0" i="1" dirty="0" smtClean="0">
                        <a:latin typeface="Cambria Math" panose="02040503050406030204" pitchFamily="18" charset="0"/>
                      </a:rPr>
                      <m:t>𝐸</m:t>
                    </m:r>
                  </m:oMath>
                </a14:m>
                <a:r>
                  <a:rPr lang="en-US" sz="3200" dirty="0"/>
                  <a:t> and </a:t>
                </a:r>
                <a14:m>
                  <m:oMath xmlns:m="http://schemas.openxmlformats.org/officeDocument/2006/math">
                    <m:r>
                      <a:rPr lang="en-US" sz="3200" b="0" i="1" dirty="0" smtClean="0">
                        <a:latin typeface="Cambria Math" panose="02040503050406030204" pitchFamily="18" charset="0"/>
                      </a:rPr>
                      <m:t>𝑈</m:t>
                    </m:r>
                  </m:oMath>
                </a14:m>
                <a:br>
                  <a:rPr lang="en-US" sz="3200" dirty="0"/>
                </a:br>
                <a:r>
                  <a:rPr lang="en-US" sz="3200" dirty="0"/>
                  <a:t>(input embeddings E; target embeddings U)</a:t>
                </a:r>
              </a:p>
            </p:txBody>
          </p:sp>
        </mc:Choice>
        <mc:Fallback xmlns="">
          <p:sp>
            <p:nvSpPr>
              <p:cNvPr id="39" name="Title 1">
                <a:extLst>
                  <a:ext uri="{FF2B5EF4-FFF2-40B4-BE49-F238E27FC236}">
                    <a16:creationId xmlns:a16="http://schemas.microsoft.com/office/drawing/2014/main" id="{B3FA848D-CDB4-75BE-646E-8FDBACBCB61B}"/>
                  </a:ext>
                </a:extLst>
              </p:cNvPr>
              <p:cNvSpPr>
                <a:spLocks noGrp="1" noRot="1" noChangeAspect="1" noMove="1" noResize="1" noEditPoints="1" noAdjustHandles="1" noChangeArrowheads="1" noChangeShapeType="1" noTextEdit="1"/>
              </p:cNvSpPr>
              <p:nvPr>
                <p:ph type="title"/>
              </p:nvPr>
            </p:nvSpPr>
            <p:spPr>
              <a:xfrm>
                <a:off x="457200" y="369117"/>
                <a:ext cx="12192000" cy="915085"/>
              </a:xfrm>
              <a:blipFill>
                <a:blip r:embed="rId3"/>
                <a:stretch>
                  <a:fillRect l="-1145" t="-12329" b="-16438"/>
                </a:stretch>
              </a:blipFill>
            </p:spPr>
            <p:txBody>
              <a:bodyPr/>
              <a:lstStyle/>
              <a:p>
                <a:r>
                  <a:rPr lang="en-US">
                    <a:noFill/>
                  </a:rPr>
                  <a:t> </a:t>
                </a:r>
              </a:p>
            </p:txBody>
          </p:sp>
        </mc:Fallback>
      </mc:AlternateContent>
      <p:graphicFrame>
        <p:nvGraphicFramePr>
          <p:cNvPr id="27" name="Table 26">
            <a:extLst>
              <a:ext uri="{FF2B5EF4-FFF2-40B4-BE49-F238E27FC236}">
                <a16:creationId xmlns:a16="http://schemas.microsoft.com/office/drawing/2014/main" id="{A325C21E-DB97-0B63-E53F-49108EFCF3A4}"/>
              </a:ext>
            </a:extLst>
          </p:cNvPr>
          <p:cNvGraphicFramePr>
            <a:graphicFrameLocks noGrp="1"/>
          </p:cNvGraphicFramePr>
          <p:nvPr/>
        </p:nvGraphicFramePr>
        <p:xfrm>
          <a:off x="4975112"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a:extLst>
              <a:ext uri="{FF2B5EF4-FFF2-40B4-BE49-F238E27FC236}">
                <a16:creationId xmlns:a16="http://schemas.microsoft.com/office/drawing/2014/main" id="{937F3336-9D55-3A89-4541-B4EC8EF80C25}"/>
              </a:ext>
            </a:extLst>
          </p:cNvPr>
          <p:cNvGraphicFramePr>
            <a:graphicFrameLocks noGrp="1"/>
          </p:cNvGraphicFramePr>
          <p:nvPr/>
        </p:nvGraphicFramePr>
        <p:xfrm>
          <a:off x="900846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2" name="TextBox 31">
            <a:extLst>
              <a:ext uri="{FF2B5EF4-FFF2-40B4-BE49-F238E27FC236}">
                <a16:creationId xmlns:a16="http://schemas.microsoft.com/office/drawing/2014/main" id="{492A209D-614A-0DCF-4592-116BC9A9E864}"/>
              </a:ext>
            </a:extLst>
          </p:cNvPr>
          <p:cNvSpPr txBox="1"/>
          <p:nvPr/>
        </p:nvSpPr>
        <p:spPr>
          <a:xfrm>
            <a:off x="9557832" y="4250228"/>
            <a:ext cx="1137043" cy="400110"/>
          </a:xfrm>
          <a:prstGeom prst="rect">
            <a:avLst/>
          </a:prstGeom>
          <a:noFill/>
        </p:spPr>
        <p:txBody>
          <a:bodyPr wrap="none" rtlCol="0">
            <a:spAutoFit/>
          </a:bodyPr>
          <a:lstStyle/>
          <a:p>
            <a:r>
              <a:rPr lang="en-US" sz="2000" dirty="0"/>
              <a:t>crocodile</a:t>
            </a:r>
          </a:p>
        </p:txBody>
      </p:sp>
      <p:graphicFrame>
        <p:nvGraphicFramePr>
          <p:cNvPr id="40" name="Table 39">
            <a:extLst>
              <a:ext uri="{FF2B5EF4-FFF2-40B4-BE49-F238E27FC236}">
                <a16:creationId xmlns:a16="http://schemas.microsoft.com/office/drawing/2014/main" id="{1A7860BB-CB77-70A0-A4E4-6E6AEE8F9099}"/>
              </a:ext>
            </a:extLst>
          </p:cNvPr>
          <p:cNvGraphicFramePr>
            <a:graphicFrameLocks noGrp="1"/>
          </p:cNvGraphicFramePr>
          <p:nvPr/>
        </p:nvGraphicFramePr>
        <p:xfrm>
          <a:off x="7353000"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5" name="Straight Arrow Connector 4">
            <a:extLst>
              <a:ext uri="{FF2B5EF4-FFF2-40B4-BE49-F238E27FC236}">
                <a16:creationId xmlns:a16="http://schemas.microsoft.com/office/drawing/2014/main" id="{C159EB22-8E3A-24C3-5D26-7A21B3EA56A7}"/>
              </a:ext>
            </a:extLst>
          </p:cNvPr>
          <p:cNvCxnSpPr/>
          <p:nvPr/>
        </p:nvCxnSpPr>
        <p:spPr>
          <a:xfrm flipV="1">
            <a:off x="5515092"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0D23212C-6712-88E7-511A-9C2A592430F1}"/>
              </a:ext>
            </a:extLst>
          </p:cNvPr>
          <p:cNvCxnSpPr/>
          <p:nvPr/>
        </p:nvCxnSpPr>
        <p:spPr>
          <a:xfrm>
            <a:off x="551509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BA4C807-AD14-0B79-C316-740967A96923}"/>
              </a:ext>
            </a:extLst>
          </p:cNvPr>
          <p:cNvCxnSpPr/>
          <p:nvPr/>
        </p:nvCxnSpPr>
        <p:spPr>
          <a:xfrm flipV="1">
            <a:off x="6043090"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E66B6FE-8E80-9510-21FD-AE5F53C32BA8}"/>
              </a:ext>
            </a:extLst>
          </p:cNvPr>
          <p:cNvCxnSpPr/>
          <p:nvPr/>
        </p:nvCxnSpPr>
        <p:spPr>
          <a:xfrm>
            <a:off x="6043090"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40899348-3581-DE89-F3A4-A486642D3DBC}"/>
              </a:ext>
            </a:extLst>
          </p:cNvPr>
          <p:cNvCxnSpPr/>
          <p:nvPr/>
        </p:nvCxnSpPr>
        <p:spPr>
          <a:xfrm flipV="1">
            <a:off x="7892980"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5F5D81CB-5790-AC7A-5D47-0B215ECA5F93}"/>
              </a:ext>
            </a:extLst>
          </p:cNvPr>
          <p:cNvCxnSpPr/>
          <p:nvPr/>
        </p:nvCxnSpPr>
        <p:spPr>
          <a:xfrm flipV="1">
            <a:off x="7892980"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6A33F900-02FE-9DB5-9F18-43EFBF26CA75}"/>
              </a:ext>
            </a:extLst>
          </p:cNvPr>
          <p:cNvCxnSpPr/>
          <p:nvPr/>
        </p:nvCxnSpPr>
        <p:spPr>
          <a:xfrm flipV="1">
            <a:off x="7903119"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3D07B68D-8DE5-CC50-4CD4-213833A48489}"/>
              </a:ext>
            </a:extLst>
          </p:cNvPr>
          <p:cNvCxnSpPr/>
          <p:nvPr/>
        </p:nvCxnSpPr>
        <p:spPr>
          <a:xfrm flipV="1">
            <a:off x="7917429"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23E4428D-7440-F86A-5C6C-E82750B11E23}"/>
              </a:ext>
            </a:extLst>
          </p:cNvPr>
          <p:cNvCxnSpPr/>
          <p:nvPr/>
        </p:nvCxnSpPr>
        <p:spPr>
          <a:xfrm flipV="1">
            <a:off x="7909912"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DB3C4EDA-B722-F3C1-EAC6-B8BD7ECEAAAE}"/>
              </a:ext>
            </a:extLst>
          </p:cNvPr>
          <p:cNvCxnSpPr/>
          <p:nvPr/>
        </p:nvCxnSpPr>
        <p:spPr>
          <a:xfrm flipV="1">
            <a:off x="7923817"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0AE7646A-126A-C487-F373-943DA93E0498}"/>
              </a:ext>
            </a:extLst>
          </p:cNvPr>
          <p:cNvCxnSpPr/>
          <p:nvPr/>
        </p:nvCxnSpPr>
        <p:spPr>
          <a:xfrm flipV="1">
            <a:off x="7909912"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A19B9D40-84FA-2500-F218-2EEE0220E336}"/>
              </a:ext>
            </a:extLst>
          </p:cNvPr>
          <p:cNvCxnSpPr/>
          <p:nvPr/>
        </p:nvCxnSpPr>
        <p:spPr>
          <a:xfrm flipV="1">
            <a:off x="7918571"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a:extLst>
              <a:ext uri="{FF2B5EF4-FFF2-40B4-BE49-F238E27FC236}">
                <a16:creationId xmlns:a16="http://schemas.microsoft.com/office/drawing/2014/main" id="{82E192C5-1A15-176C-B7E6-7E9A21DEF95F}"/>
              </a:ext>
            </a:extLst>
          </p:cNvPr>
          <p:cNvSpPr/>
          <p:nvPr/>
        </p:nvSpPr>
        <p:spPr>
          <a:xfrm>
            <a:off x="8095555"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a:extLst>
              <a:ext uri="{FF2B5EF4-FFF2-40B4-BE49-F238E27FC236}">
                <a16:creationId xmlns:a16="http://schemas.microsoft.com/office/drawing/2014/main" id="{DCEEB864-728A-ED6A-ED01-EB65641BE781}"/>
              </a:ext>
            </a:extLst>
          </p:cNvPr>
          <p:cNvGraphicFramePr>
            <a:graphicFrameLocks noGrp="1"/>
          </p:cNvGraphicFramePr>
          <p:nvPr/>
        </p:nvGraphicFramePr>
        <p:xfrm>
          <a:off x="2597224"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a:extLst>
              <a:ext uri="{FF2B5EF4-FFF2-40B4-BE49-F238E27FC236}">
                <a16:creationId xmlns:a16="http://schemas.microsoft.com/office/drawing/2014/main" id="{4456FB70-4804-B40F-A48C-8B4BDC8F9C9C}"/>
              </a:ext>
            </a:extLst>
          </p:cNvPr>
          <p:cNvSpPr txBox="1"/>
          <p:nvPr/>
        </p:nvSpPr>
        <p:spPr>
          <a:xfrm>
            <a:off x="1331431" y="2741851"/>
            <a:ext cx="832600" cy="400110"/>
          </a:xfrm>
          <a:prstGeom prst="rect">
            <a:avLst/>
          </a:prstGeom>
          <a:noFill/>
        </p:spPr>
        <p:txBody>
          <a:bodyPr wrap="none" rtlCol="0">
            <a:spAutoFit/>
          </a:bodyPr>
          <a:lstStyle/>
          <a:p>
            <a:r>
              <a:rPr lang="en-US" sz="2000" dirty="0"/>
              <a:t>swims</a:t>
            </a:r>
          </a:p>
        </p:txBody>
      </p:sp>
      <p:cxnSp>
        <p:nvCxnSpPr>
          <p:cNvPr id="45" name="Straight Arrow Connector 44">
            <a:extLst>
              <a:ext uri="{FF2B5EF4-FFF2-40B4-BE49-F238E27FC236}">
                <a16:creationId xmlns:a16="http://schemas.microsoft.com/office/drawing/2014/main" id="{53D84FD1-092E-51A8-CB4F-45384F7E91C9}"/>
              </a:ext>
            </a:extLst>
          </p:cNvPr>
          <p:cNvCxnSpPr/>
          <p:nvPr/>
        </p:nvCxnSpPr>
        <p:spPr>
          <a:xfrm>
            <a:off x="2171421"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D8ECFEB5-40D5-FA48-CB40-EB22A8E856AE}"/>
              </a:ext>
            </a:extLst>
          </p:cNvPr>
          <p:cNvCxnSpPr/>
          <p:nvPr/>
        </p:nvCxnSpPr>
        <p:spPr>
          <a:xfrm>
            <a:off x="3137204"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CF2438EB-C957-BEF3-B9EF-CCFEDCBDFC1A}"/>
              </a:ext>
            </a:extLst>
          </p:cNvPr>
          <p:cNvCxnSpPr/>
          <p:nvPr/>
        </p:nvCxnSpPr>
        <p:spPr>
          <a:xfrm flipV="1">
            <a:off x="3137204"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FB03BECC-38A3-897E-4A0A-0BDE01113DFF}"/>
              </a:ext>
            </a:extLst>
          </p:cNvPr>
          <p:cNvCxnSpPr/>
          <p:nvPr/>
        </p:nvCxnSpPr>
        <p:spPr>
          <a:xfrm flipV="1">
            <a:off x="3707636"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2DBFAA55-81E4-39AC-9425-13358899B9D5}"/>
              </a:ext>
            </a:extLst>
          </p:cNvPr>
          <p:cNvCxnSpPr/>
          <p:nvPr/>
        </p:nvCxnSpPr>
        <p:spPr>
          <a:xfrm>
            <a:off x="3707636"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90274EF-4CF2-C687-6279-16C4B34164FB}"/>
                  </a:ext>
                </a:extLst>
              </p:cNvPr>
              <p:cNvSpPr txBox="1"/>
              <p:nvPr/>
            </p:nvSpPr>
            <p:spPr>
              <a:xfrm>
                <a:off x="3777460" y="4522061"/>
                <a:ext cx="458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oMath>
                  </m:oMathPara>
                </a14:m>
                <a:endParaRPr lang="en-US" sz="2400" dirty="0"/>
              </a:p>
            </p:txBody>
          </p:sp>
        </mc:Choice>
        <mc:Fallback xmlns="">
          <p:sp>
            <p:nvSpPr>
              <p:cNvPr id="2" name="TextBox 1">
                <a:extLst>
                  <a:ext uri="{FF2B5EF4-FFF2-40B4-BE49-F238E27FC236}">
                    <a16:creationId xmlns:a16="http://schemas.microsoft.com/office/drawing/2014/main" id="{490274EF-4CF2-C687-6279-16C4B34164FB}"/>
                  </a:ext>
                </a:extLst>
              </p:cNvPr>
              <p:cNvSpPr txBox="1">
                <a:spLocks noRot="1" noChangeAspect="1" noMove="1" noResize="1" noEditPoints="1" noAdjustHandles="1" noChangeArrowheads="1" noChangeShapeType="1" noTextEdit="1"/>
              </p:cNvSpPr>
              <p:nvPr/>
            </p:nvSpPr>
            <p:spPr>
              <a:xfrm>
                <a:off x="3777460" y="4522061"/>
                <a:ext cx="45800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1B1247D-714F-18CC-8AD0-19C6F29921D5}"/>
                  </a:ext>
                </a:extLst>
              </p:cNvPr>
              <p:cNvSpPr txBox="1"/>
              <p:nvPr/>
            </p:nvSpPr>
            <p:spPr>
              <a:xfrm>
                <a:off x="6202123" y="4522060"/>
                <a:ext cx="471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𝑈</m:t>
                      </m:r>
                    </m:oMath>
                  </m:oMathPara>
                </a14:m>
                <a:endParaRPr lang="en-US" sz="2400" dirty="0"/>
              </a:p>
            </p:txBody>
          </p:sp>
        </mc:Choice>
        <mc:Fallback xmlns="">
          <p:sp>
            <p:nvSpPr>
              <p:cNvPr id="30" name="TextBox 29">
                <a:extLst>
                  <a:ext uri="{FF2B5EF4-FFF2-40B4-BE49-F238E27FC236}">
                    <a16:creationId xmlns:a16="http://schemas.microsoft.com/office/drawing/2014/main" id="{61B1247D-714F-18CC-8AD0-19C6F29921D5}"/>
                  </a:ext>
                </a:extLst>
              </p:cNvPr>
              <p:cNvSpPr txBox="1">
                <a:spLocks noRot="1" noChangeAspect="1" noMove="1" noResize="1" noEditPoints="1" noAdjustHandles="1" noChangeArrowheads="1" noChangeShapeType="1" noTextEdit="1"/>
              </p:cNvSpPr>
              <p:nvPr/>
            </p:nvSpPr>
            <p:spPr>
              <a:xfrm>
                <a:off x="6202123" y="4522060"/>
                <a:ext cx="47121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8F76254-F0D9-1A8C-08A3-EF91A8A3FC59}"/>
                  </a:ext>
                </a:extLst>
              </p:cNvPr>
              <p:cNvSpPr txBox="1"/>
              <p:nvPr/>
            </p:nvSpPr>
            <p:spPr>
              <a:xfrm>
                <a:off x="4647759" y="5364250"/>
                <a:ext cx="119468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𝑣</m:t>
                      </m:r>
                      <m:r>
                        <a:rPr lang="en-US" sz="2400" b="0" i="1" dirty="0" smtClean="0">
                          <a:latin typeface="Cambria Math" panose="02040503050406030204" pitchFamily="18" charset="0"/>
                        </a:rPr>
                        <m:t>=</m:t>
                      </m:r>
                      <m:r>
                        <a:rPr lang="en-US" sz="2400" b="0" i="1" dirty="0" smtClean="0">
                          <a:latin typeface="Cambria Math" panose="02040503050406030204" pitchFamily="18" charset="0"/>
                        </a:rPr>
                        <m:t>𝐸𝑥</m:t>
                      </m:r>
                    </m:oMath>
                  </m:oMathPara>
                </a14:m>
                <a:endParaRPr lang="en-US" sz="2400" dirty="0"/>
              </a:p>
            </p:txBody>
          </p:sp>
        </mc:Choice>
        <mc:Fallback xmlns="">
          <p:sp>
            <p:nvSpPr>
              <p:cNvPr id="3" name="TextBox 2">
                <a:extLst>
                  <a:ext uri="{FF2B5EF4-FFF2-40B4-BE49-F238E27FC236}">
                    <a16:creationId xmlns:a16="http://schemas.microsoft.com/office/drawing/2014/main" id="{F8F76254-F0D9-1A8C-08A3-EF91A8A3FC59}"/>
                  </a:ext>
                </a:extLst>
              </p:cNvPr>
              <p:cNvSpPr txBox="1">
                <a:spLocks noRot="1" noChangeAspect="1" noMove="1" noResize="1" noEditPoints="1" noAdjustHandles="1" noChangeArrowheads="1" noChangeShapeType="1" noTextEdit="1"/>
              </p:cNvSpPr>
              <p:nvPr/>
            </p:nvSpPr>
            <p:spPr>
              <a:xfrm>
                <a:off x="4647759" y="5364250"/>
                <a:ext cx="1194686"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FA99B2-3056-057F-6468-5DE67226E537}"/>
                  </a:ext>
                </a:extLst>
              </p:cNvPr>
              <p:cNvSpPr txBox="1"/>
              <p:nvPr/>
            </p:nvSpPr>
            <p:spPr>
              <a:xfrm>
                <a:off x="8304756" y="5898895"/>
                <a:ext cx="19473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dirty="0" smtClean="0">
                          <a:latin typeface="Cambria Math" panose="02040503050406030204" pitchFamily="18" charset="0"/>
                        </a:rPr>
                        <m:t>softmax</m:t>
                      </m:r>
                      <m:r>
                        <a:rPr lang="en-US" sz="2400" b="0" i="1" dirty="0" smtClean="0">
                          <a:latin typeface="Cambria Math" panose="02040503050406030204" pitchFamily="18" charset="0"/>
                        </a:rPr>
                        <m:t>(</m:t>
                      </m:r>
                      <m:r>
                        <a:rPr lang="en-US" sz="2400" b="0" i="1" dirty="0" smtClean="0">
                          <a:latin typeface="Cambria Math" panose="02040503050406030204" pitchFamily="18" charset="0"/>
                        </a:rPr>
                        <m:t>𝑈𝑣</m:t>
                      </m:r>
                      <m:r>
                        <a:rPr lang="en-US" sz="2400" b="0" i="1" dirty="0" smtClean="0">
                          <a:latin typeface="Cambria Math" panose="02040503050406030204" pitchFamily="18" charset="0"/>
                        </a:rPr>
                        <m:t>)</m:t>
                      </m:r>
                    </m:oMath>
                  </m:oMathPara>
                </a14:m>
                <a:endParaRPr lang="en-US" sz="2400" dirty="0"/>
              </a:p>
            </p:txBody>
          </p:sp>
        </mc:Choice>
        <mc:Fallback xmlns="">
          <p:sp>
            <p:nvSpPr>
              <p:cNvPr id="4" name="TextBox 3">
                <a:extLst>
                  <a:ext uri="{FF2B5EF4-FFF2-40B4-BE49-F238E27FC236}">
                    <a16:creationId xmlns:a16="http://schemas.microsoft.com/office/drawing/2014/main" id="{06FA99B2-3056-057F-6468-5DE67226E537}"/>
                  </a:ext>
                </a:extLst>
              </p:cNvPr>
              <p:cNvSpPr txBox="1">
                <a:spLocks noRot="1" noChangeAspect="1" noMove="1" noResize="1" noEditPoints="1" noAdjustHandles="1" noChangeArrowheads="1" noChangeShapeType="1" noTextEdit="1"/>
              </p:cNvSpPr>
              <p:nvPr/>
            </p:nvSpPr>
            <p:spPr>
              <a:xfrm>
                <a:off x="8304756" y="5898895"/>
                <a:ext cx="1947392" cy="461665"/>
              </a:xfrm>
              <a:prstGeom prst="rect">
                <a:avLst/>
              </a:prstGeom>
              <a:blipFill>
                <a:blip r:embed="rId7"/>
                <a:stretch>
                  <a:fillRect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ABD97C2-330E-2809-BE63-19E3545BE1A0}"/>
                  </a:ext>
                </a:extLst>
              </p:cNvPr>
              <p:cNvSpPr txBox="1"/>
              <p:nvPr/>
            </p:nvSpPr>
            <p:spPr>
              <a:xfrm>
                <a:off x="523054" y="6175894"/>
                <a:ext cx="4253216" cy="369332"/>
              </a:xfrm>
              <a:prstGeom prst="rect">
                <a:avLst/>
              </a:prstGeom>
              <a:noFill/>
            </p:spPr>
            <p:txBody>
              <a:bodyPr wrap="none" rtlCol="0">
                <a:spAutoFit/>
              </a:bodyPr>
              <a:lstStyle/>
              <a:p>
                <a:r>
                  <a:rPr lang="en-US" dirty="0"/>
                  <a:t>*consider tying </a:t>
                </a:r>
                <a14:m>
                  <m:oMath xmlns:m="http://schemas.openxmlformats.org/officeDocument/2006/math">
                    <m:r>
                      <a:rPr lang="en-US" i="1" dirty="0" smtClean="0">
                        <a:latin typeface="Cambria Math" panose="02040503050406030204" pitchFamily="18" charset="0"/>
                      </a:rPr>
                      <m:t>𝐸</m:t>
                    </m:r>
                  </m:oMath>
                </a14:m>
                <a:r>
                  <a:rPr lang="en-US" dirty="0"/>
                  <a:t> and </a:t>
                </a:r>
                <a14:m>
                  <m:oMath xmlns:m="http://schemas.openxmlformats.org/officeDocument/2006/math">
                    <m:r>
                      <a:rPr lang="en-US" i="1" dirty="0" smtClean="0">
                        <a:latin typeface="Cambria Math" panose="02040503050406030204" pitchFamily="18" charset="0"/>
                      </a:rPr>
                      <m:t>𝑈</m:t>
                    </m:r>
                  </m:oMath>
                </a14:m>
                <a:r>
                  <a:rPr lang="en-US" dirty="0"/>
                  <a:t> such that </a:t>
                </a:r>
                <a14:m>
                  <m:oMath xmlns:m="http://schemas.openxmlformats.org/officeDocument/2006/math">
                    <m:r>
                      <a:rPr lang="en-US" i="1" dirty="0" smtClean="0">
                        <a:latin typeface="Cambria Math" panose="02040503050406030204" pitchFamily="18" charset="0"/>
                      </a:rPr>
                      <m:t>𝑈</m:t>
                    </m:r>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𝐸</m:t>
                        </m:r>
                      </m:e>
                      <m:sup>
                        <m:r>
                          <a:rPr lang="en-US" i="1" dirty="0" smtClean="0">
                            <a:latin typeface="Cambria Math" panose="02040503050406030204" pitchFamily="18" charset="0"/>
                          </a:rPr>
                          <m:t>𝑇</m:t>
                        </m:r>
                      </m:sup>
                    </m:sSup>
                  </m:oMath>
                </a14:m>
                <a:endParaRPr lang="en-US" dirty="0"/>
              </a:p>
            </p:txBody>
          </p:sp>
        </mc:Choice>
        <mc:Fallback xmlns="">
          <p:sp>
            <p:nvSpPr>
              <p:cNvPr id="6" name="TextBox 5">
                <a:extLst>
                  <a:ext uri="{FF2B5EF4-FFF2-40B4-BE49-F238E27FC236}">
                    <a16:creationId xmlns:a16="http://schemas.microsoft.com/office/drawing/2014/main" id="{7ABD97C2-330E-2809-BE63-19E3545BE1A0}"/>
                  </a:ext>
                </a:extLst>
              </p:cNvPr>
              <p:cNvSpPr txBox="1">
                <a:spLocks noRot="1" noChangeAspect="1" noMove="1" noResize="1" noEditPoints="1" noAdjustHandles="1" noChangeArrowheads="1" noChangeShapeType="1" noTextEdit="1"/>
              </p:cNvSpPr>
              <p:nvPr/>
            </p:nvSpPr>
            <p:spPr>
              <a:xfrm>
                <a:off x="523054" y="6175894"/>
                <a:ext cx="4253216" cy="369332"/>
              </a:xfrm>
              <a:prstGeom prst="rect">
                <a:avLst/>
              </a:prstGeom>
              <a:blipFill>
                <a:blip r:embed="rId8"/>
                <a:stretch>
                  <a:fillRect l="-148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1137402702"/>
      </p:ext>
    </p:extLst>
  </p:cSld>
  <p:clrMapOvr>
    <a:masterClrMapping/>
  </p:clrMapOvr>
  <mc:AlternateContent xmlns:mc="http://schemas.openxmlformats.org/markup-compatibility/2006" xmlns:p14="http://schemas.microsoft.com/office/powerpoint/2010/main">
    <mc:Choice Requires="p14">
      <p:transition spd="slow" p14:dur="2000" advTm="21998"/>
    </mc:Choice>
    <mc:Fallback xmlns="">
      <p:transition spd="slow" advTm="21998"/>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0" y="192987"/>
            <a:ext cx="12191999" cy="722098"/>
          </a:xfrm>
        </p:spPr>
        <p:txBody>
          <a:bodyPr>
            <a:normAutofit/>
          </a:bodyPr>
          <a:lstStyle/>
          <a:p>
            <a:r>
              <a:rPr lang="en-US" sz="3200" dirty="0"/>
              <a:t>This is the vector we need; the embedding of </a:t>
            </a:r>
            <a:r>
              <a:rPr lang="en-US" sz="3200" i="1" dirty="0"/>
              <a:t>swims</a:t>
            </a:r>
          </a:p>
        </p:txBody>
      </p:sp>
      <p:graphicFrame>
        <p:nvGraphicFramePr>
          <p:cNvPr id="27" name="Table 26"/>
          <p:cNvGraphicFramePr>
            <a:graphicFrameLocks noGrp="1"/>
          </p:cNvGraphicFramePr>
          <p:nvPr>
            <p:extLst>
              <p:ext uri="{D42A27DB-BD31-4B8C-83A1-F6EECF244321}">
                <p14:modId xmlns:p14="http://schemas.microsoft.com/office/powerpoint/2010/main" val="1093849882"/>
              </p:ext>
            </p:extLst>
          </p:nvPr>
        </p:nvGraphicFramePr>
        <p:xfrm>
          <a:off x="5701620"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2207913592"/>
              </p:ext>
            </p:extLst>
          </p:nvPr>
        </p:nvGraphicFramePr>
        <p:xfrm>
          <a:off x="9734970"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1133141750"/>
              </p:ext>
            </p:extLst>
          </p:nvPr>
        </p:nvGraphicFramePr>
        <p:xfrm>
          <a:off x="8079508"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1" name="TextBox 40"/>
          <p:cNvSpPr txBox="1"/>
          <p:nvPr/>
        </p:nvSpPr>
        <p:spPr>
          <a:xfrm>
            <a:off x="7879657" y="1205015"/>
            <a:ext cx="906017" cy="400110"/>
          </a:xfrm>
          <a:prstGeom prst="rect">
            <a:avLst/>
          </a:prstGeom>
          <a:noFill/>
        </p:spPr>
        <p:txBody>
          <a:bodyPr wrap="none" rtlCol="0">
            <a:spAutoFit/>
          </a:bodyPr>
          <a:lstStyle/>
          <a:p>
            <a:r>
              <a:rPr lang="en-US" sz="2000" dirty="0"/>
              <a:t>z(man)</a:t>
            </a:r>
          </a:p>
        </p:txBody>
      </p:sp>
      <p:sp>
        <p:nvSpPr>
          <p:cNvPr id="42" name="TextBox 41"/>
          <p:cNvSpPr txBox="1"/>
          <p:nvPr/>
        </p:nvSpPr>
        <p:spPr>
          <a:xfrm>
            <a:off x="7694543" y="5825915"/>
            <a:ext cx="1276247" cy="400110"/>
          </a:xfrm>
          <a:prstGeom prst="rect">
            <a:avLst/>
          </a:prstGeom>
          <a:noFill/>
        </p:spPr>
        <p:txBody>
          <a:bodyPr wrap="none" rtlCol="0">
            <a:spAutoFit/>
          </a:bodyPr>
          <a:lstStyle/>
          <a:p>
            <a:r>
              <a:rPr lang="en-US" sz="2000" dirty="0"/>
              <a:t>z(concept)</a:t>
            </a:r>
          </a:p>
        </p:txBody>
      </p:sp>
      <p:cxnSp>
        <p:nvCxnSpPr>
          <p:cNvPr id="5" name="Straight Arrow Connector 4"/>
          <p:cNvCxnSpPr/>
          <p:nvPr/>
        </p:nvCxnSpPr>
        <p:spPr>
          <a:xfrm flipV="1">
            <a:off x="6241600"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241600"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769598"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769598"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8619488"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8619488"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8629627"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8643937"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8636420"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8650325"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8636420"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8645079"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822063"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extLst>
              <p:ext uri="{D42A27DB-BD31-4B8C-83A1-F6EECF244321}">
                <p14:modId xmlns:p14="http://schemas.microsoft.com/office/powerpoint/2010/main" val="1011954245"/>
              </p:ext>
            </p:extLst>
          </p:nvPr>
        </p:nvGraphicFramePr>
        <p:xfrm>
          <a:off x="332373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2057939" y="2741851"/>
            <a:ext cx="832600" cy="400110"/>
          </a:xfrm>
          <a:prstGeom prst="rect">
            <a:avLst/>
          </a:prstGeom>
          <a:noFill/>
        </p:spPr>
        <p:txBody>
          <a:bodyPr wrap="none" rtlCol="0">
            <a:spAutoFit/>
          </a:bodyPr>
          <a:lstStyle/>
          <a:p>
            <a:r>
              <a:rPr lang="en-US" sz="2000" dirty="0"/>
              <a:t>swims</a:t>
            </a:r>
          </a:p>
        </p:txBody>
      </p:sp>
      <p:cxnSp>
        <p:nvCxnSpPr>
          <p:cNvPr id="45" name="Straight Arrow Connector 44"/>
          <p:cNvCxnSpPr/>
          <p:nvPr/>
        </p:nvCxnSpPr>
        <p:spPr>
          <a:xfrm>
            <a:off x="2897929"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863712"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86371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4434144"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4434144"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4503968" y="4522061"/>
                <a:ext cx="458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503968" y="4522061"/>
                <a:ext cx="45800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928631" y="4522060"/>
                <a:ext cx="471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𝑈</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928631" y="4522060"/>
                <a:ext cx="471218" cy="461665"/>
              </a:xfrm>
              <a:prstGeom prst="rect">
                <a:avLst/>
              </a:prstGeom>
              <a:blipFill>
                <a:blip r:embed="rId4"/>
                <a:stretch>
                  <a:fillRect/>
                </a:stretch>
              </a:blipFill>
            </p:spPr>
            <p:txBody>
              <a:bodyPr/>
              <a:lstStyle/>
              <a:p>
                <a:r>
                  <a:rPr lang="en-US">
                    <a:noFill/>
                  </a:rPr>
                  <a:t> </a:t>
                </a:r>
              </a:p>
            </p:txBody>
          </p:sp>
        </mc:Fallback>
      </mc:AlternateContent>
      <p:sp>
        <p:nvSpPr>
          <p:cNvPr id="33" name="Rectangle 32"/>
          <p:cNvSpPr/>
          <p:nvPr/>
        </p:nvSpPr>
        <p:spPr>
          <a:xfrm>
            <a:off x="5438284" y="1153342"/>
            <a:ext cx="6398810" cy="5184828"/>
          </a:xfrm>
          <a:prstGeom prst="rect">
            <a:avLst/>
          </a:prstGeom>
          <a:noFill/>
          <a:ln w="57150">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TextBox 33"/>
          <p:cNvSpPr txBox="1"/>
          <p:nvPr/>
        </p:nvSpPr>
        <p:spPr>
          <a:xfrm>
            <a:off x="10304574" y="1732217"/>
            <a:ext cx="939681" cy="400110"/>
          </a:xfrm>
          <a:prstGeom prst="rect">
            <a:avLst/>
          </a:prstGeom>
          <a:noFill/>
        </p:spPr>
        <p:txBody>
          <a:bodyPr wrap="none" rtlCol="0">
            <a:spAutoFit/>
          </a:bodyPr>
          <a:lstStyle/>
          <a:p>
            <a:r>
              <a:rPr lang="en-US" sz="2000" dirty="0"/>
              <a:t>p(man)</a:t>
            </a:r>
          </a:p>
        </p:txBody>
      </p:sp>
      <p:sp>
        <p:nvSpPr>
          <p:cNvPr id="35" name="TextBox 34"/>
          <p:cNvSpPr txBox="1"/>
          <p:nvPr/>
        </p:nvSpPr>
        <p:spPr>
          <a:xfrm>
            <a:off x="10304574" y="2239005"/>
            <a:ext cx="1254702" cy="400110"/>
          </a:xfrm>
          <a:prstGeom prst="rect">
            <a:avLst/>
          </a:prstGeom>
          <a:noFill/>
        </p:spPr>
        <p:txBody>
          <a:bodyPr wrap="none" rtlCol="0">
            <a:spAutoFit/>
          </a:bodyPr>
          <a:lstStyle/>
          <a:p>
            <a:r>
              <a:rPr lang="en-US" sz="2000" dirty="0"/>
              <a:t>p(woman)</a:t>
            </a:r>
          </a:p>
        </p:txBody>
      </p:sp>
      <p:sp>
        <p:nvSpPr>
          <p:cNvPr id="36" name="TextBox 35"/>
          <p:cNvSpPr txBox="1"/>
          <p:nvPr/>
        </p:nvSpPr>
        <p:spPr>
          <a:xfrm>
            <a:off x="10304574" y="3287561"/>
            <a:ext cx="973343" cy="400110"/>
          </a:xfrm>
          <a:prstGeom prst="rect">
            <a:avLst/>
          </a:prstGeom>
          <a:noFill/>
        </p:spPr>
        <p:txBody>
          <a:bodyPr wrap="none" rtlCol="0">
            <a:spAutoFit/>
          </a:bodyPr>
          <a:lstStyle/>
          <a:p>
            <a:r>
              <a:rPr lang="en-US" sz="2000" dirty="0"/>
              <a:t>p(child)</a:t>
            </a:r>
          </a:p>
        </p:txBody>
      </p:sp>
      <p:sp>
        <p:nvSpPr>
          <p:cNvPr id="37" name="TextBox 36"/>
          <p:cNvSpPr txBox="1"/>
          <p:nvPr/>
        </p:nvSpPr>
        <p:spPr>
          <a:xfrm>
            <a:off x="10304574" y="4302876"/>
            <a:ext cx="1428789" cy="400110"/>
          </a:xfrm>
          <a:prstGeom prst="rect">
            <a:avLst/>
          </a:prstGeom>
          <a:noFill/>
        </p:spPr>
        <p:txBody>
          <a:bodyPr wrap="none" rtlCol="0">
            <a:spAutoFit/>
          </a:bodyPr>
          <a:lstStyle/>
          <a:p>
            <a:r>
              <a:rPr lang="en-US" sz="2000" dirty="0"/>
              <a:t>p(crocodile)</a:t>
            </a:r>
          </a:p>
        </p:txBody>
      </p:sp>
      <p:sp>
        <p:nvSpPr>
          <p:cNvPr id="43" name="TextBox 42"/>
          <p:cNvSpPr txBox="1"/>
          <p:nvPr/>
        </p:nvSpPr>
        <p:spPr>
          <a:xfrm>
            <a:off x="10304574" y="3759369"/>
            <a:ext cx="1250663" cy="400110"/>
          </a:xfrm>
          <a:prstGeom prst="rect">
            <a:avLst/>
          </a:prstGeom>
          <a:noFill/>
        </p:spPr>
        <p:txBody>
          <a:bodyPr wrap="none" rtlCol="0">
            <a:spAutoFit/>
          </a:bodyPr>
          <a:lstStyle/>
          <a:p>
            <a:r>
              <a:rPr lang="en-US" sz="2000" dirty="0"/>
              <a:t>p(banana)</a:t>
            </a:r>
          </a:p>
        </p:txBody>
      </p:sp>
      <p:sp>
        <p:nvSpPr>
          <p:cNvPr id="60" name="TextBox 59"/>
          <p:cNvSpPr txBox="1"/>
          <p:nvPr/>
        </p:nvSpPr>
        <p:spPr>
          <a:xfrm>
            <a:off x="10274950" y="5271265"/>
            <a:ext cx="1309910" cy="400110"/>
          </a:xfrm>
          <a:prstGeom prst="rect">
            <a:avLst/>
          </a:prstGeom>
          <a:noFill/>
        </p:spPr>
        <p:txBody>
          <a:bodyPr wrap="none" rtlCol="0">
            <a:spAutoFit/>
          </a:bodyPr>
          <a:lstStyle/>
          <a:p>
            <a:r>
              <a:rPr lang="en-US" sz="2000" dirty="0"/>
              <a:t>p(concept)</a:t>
            </a:r>
          </a:p>
        </p:txBody>
      </p:sp>
      <p:sp>
        <p:nvSpPr>
          <p:cNvPr id="3" name="TextBox 2"/>
          <p:cNvSpPr txBox="1"/>
          <p:nvPr/>
        </p:nvSpPr>
        <p:spPr>
          <a:xfrm>
            <a:off x="302182" y="4187104"/>
            <a:ext cx="2701422" cy="1938992"/>
          </a:xfrm>
          <a:prstGeom prst="rect">
            <a:avLst/>
          </a:prstGeom>
          <a:noFill/>
        </p:spPr>
        <p:txBody>
          <a:bodyPr wrap="square" rtlCol="0">
            <a:spAutoFit/>
          </a:bodyPr>
          <a:lstStyle/>
          <a:p>
            <a:pPr marL="285750" indent="-285750">
              <a:buFontTx/>
              <a:buChar char="-"/>
            </a:pPr>
            <a:r>
              <a:rPr lang="en-US" sz="2400" dirty="0">
                <a:solidFill>
                  <a:schemeClr val="accent1"/>
                </a:solidFill>
              </a:rPr>
              <a:t>it’s compact</a:t>
            </a:r>
          </a:p>
          <a:p>
            <a:pPr marL="285750" indent="-285750">
              <a:buFontTx/>
              <a:buChar char="-"/>
            </a:pPr>
            <a:r>
              <a:rPr lang="en-US" sz="2400" dirty="0">
                <a:solidFill>
                  <a:schemeClr val="accent1"/>
                </a:solidFill>
              </a:rPr>
              <a:t>It allows us to predict context words for a given input word</a:t>
            </a:r>
          </a:p>
        </p:txBody>
      </p:sp>
      <p:sp>
        <p:nvSpPr>
          <p:cNvPr id="61" name="TextBox 60"/>
          <p:cNvSpPr txBox="1"/>
          <p:nvPr/>
        </p:nvSpPr>
        <p:spPr>
          <a:xfrm>
            <a:off x="5545042" y="5671375"/>
            <a:ext cx="1427314" cy="400110"/>
          </a:xfrm>
          <a:prstGeom prst="rect">
            <a:avLst/>
          </a:prstGeom>
          <a:noFill/>
          <a:ln>
            <a:noFill/>
          </a:ln>
        </p:spPr>
        <p:txBody>
          <a:bodyPr wrap="none" rtlCol="0">
            <a:spAutoFit/>
          </a:bodyPr>
          <a:lstStyle/>
          <a:p>
            <a:r>
              <a:rPr lang="en-US" sz="2000" b="1" dirty="0">
                <a:solidFill>
                  <a:schemeClr val="accent1"/>
                </a:solidFill>
              </a:rPr>
              <a:t>v(swims) ??</a:t>
            </a:r>
          </a:p>
        </p:txBody>
      </p:sp>
      <p:cxnSp>
        <p:nvCxnSpPr>
          <p:cNvPr id="6" name="Straight Arrow Connector 5"/>
          <p:cNvCxnSpPr>
            <a:stCxn id="61" idx="0"/>
            <a:endCxn id="27" idx="2"/>
          </p:cNvCxnSpPr>
          <p:nvPr/>
        </p:nvCxnSpPr>
        <p:spPr>
          <a:xfrm flipH="1" flipV="1">
            <a:off x="5971610" y="5242229"/>
            <a:ext cx="287089" cy="429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3863712" y="776614"/>
            <a:ext cx="1925645" cy="13084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090284"/>
      </p:ext>
    </p:extLst>
  </p:cSld>
  <p:clrMapOvr>
    <a:masterClrMapping/>
  </p:clrMapOvr>
  <mc:AlternateContent xmlns:mc="http://schemas.openxmlformats.org/markup-compatibility/2006" xmlns:p14="http://schemas.microsoft.com/office/powerpoint/2010/main">
    <mc:Choice Requires="p14">
      <p:transition spd="slow" p14:dur="2000" advTm="34924"/>
    </mc:Choice>
    <mc:Fallback xmlns="">
      <p:transition spd="slow" advTm="3492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293914" y="229679"/>
                <a:ext cx="12191999" cy="915085"/>
              </a:xfrm>
            </p:spPr>
            <p:txBody>
              <a:bodyPr>
                <a:normAutofit/>
              </a:bodyPr>
              <a:lstStyle/>
              <a:p>
                <a14:m>
                  <m:oMath xmlns:m="http://schemas.openxmlformats.org/officeDocument/2006/math">
                    <m:r>
                      <a:rPr lang="en-US" sz="3200" b="0" i="1" dirty="0" smtClean="0">
                        <a:latin typeface="Cambria Math" panose="02040503050406030204" pitchFamily="18" charset="0"/>
                      </a:rPr>
                      <m:t>𝐸</m:t>
                    </m:r>
                  </m:oMath>
                </a14:m>
                <a:r>
                  <a:rPr lang="en-US" sz="3200" dirty="0"/>
                  <a:t> is a look-up table of word embeddings</a:t>
                </a:r>
              </a:p>
            </p:txBody>
          </p:sp>
        </mc:Choice>
        <mc:Fallback xmlns="">
          <p:sp>
            <p:nvSpPr>
              <p:cNvPr id="39" name="Title 1">
                <a:extLst>
                  <a:ext uri="{FF2B5EF4-FFF2-40B4-BE49-F238E27FC236}">
                    <a16:creationId xmlns:a16="http://schemas.microsoft.com/office/drawing/2014/main" id="{B458246D-1AA2-0B46-8422-C80506A22939}"/>
                  </a:ext>
                </a:extLst>
              </p:cNvPr>
              <p:cNvSpPr>
                <a:spLocks noGrp="1" noRot="1" noChangeAspect="1" noMove="1" noResize="1" noEditPoints="1" noAdjustHandles="1" noChangeArrowheads="1" noChangeShapeType="1" noTextEdit="1"/>
              </p:cNvSpPr>
              <p:nvPr>
                <p:ph type="title"/>
              </p:nvPr>
            </p:nvSpPr>
            <p:spPr>
              <a:xfrm>
                <a:off x="293914" y="229679"/>
                <a:ext cx="12191999" cy="915085"/>
              </a:xfrm>
              <a:blipFill>
                <a:blip r:embed="rId3"/>
                <a:stretch>
                  <a:fillRect l="-416" t="-13699"/>
                </a:stretch>
              </a:blipFill>
            </p:spPr>
            <p:txBody>
              <a:bodyPr/>
              <a:lstStyle/>
              <a:p>
                <a:r>
                  <a:rPr lang="en-US">
                    <a:noFill/>
                  </a:rPr>
                  <a:t> </a:t>
                </a:r>
              </a:p>
            </p:txBody>
          </p:sp>
        </mc:Fallback>
      </mc:AlternateContent>
      <p:graphicFrame>
        <p:nvGraphicFramePr>
          <p:cNvPr id="27" name="Table 26"/>
          <p:cNvGraphicFramePr>
            <a:graphicFrameLocks noGrp="1"/>
          </p:cNvGraphicFramePr>
          <p:nvPr/>
        </p:nvGraphicFramePr>
        <p:xfrm>
          <a:off x="5701620"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nvGraphicFramePr>
        <p:xfrm>
          <a:off x="9734970"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40" name="Table 39"/>
          <p:cNvGraphicFramePr>
            <a:graphicFrameLocks noGrp="1"/>
          </p:cNvGraphicFramePr>
          <p:nvPr/>
        </p:nvGraphicFramePr>
        <p:xfrm>
          <a:off x="8079508"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5" name="Straight Arrow Connector 4"/>
          <p:cNvCxnSpPr/>
          <p:nvPr/>
        </p:nvCxnSpPr>
        <p:spPr>
          <a:xfrm flipV="1">
            <a:off x="6241600"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241600"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769598"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769598"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8619488"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8619488"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8629627"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8643937"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8636420"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8650325"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8636420"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8645079"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822063"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nvGraphicFramePr>
        <p:xfrm>
          <a:off x="332373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2057939" y="2741851"/>
            <a:ext cx="832600" cy="400110"/>
          </a:xfrm>
          <a:prstGeom prst="rect">
            <a:avLst/>
          </a:prstGeom>
          <a:noFill/>
        </p:spPr>
        <p:txBody>
          <a:bodyPr wrap="none" rtlCol="0">
            <a:spAutoFit/>
          </a:bodyPr>
          <a:lstStyle/>
          <a:p>
            <a:r>
              <a:rPr lang="en-US" sz="2000" dirty="0"/>
              <a:t>swims</a:t>
            </a:r>
          </a:p>
        </p:txBody>
      </p:sp>
      <p:cxnSp>
        <p:nvCxnSpPr>
          <p:cNvPr id="45" name="Straight Arrow Connector 44"/>
          <p:cNvCxnSpPr/>
          <p:nvPr/>
        </p:nvCxnSpPr>
        <p:spPr>
          <a:xfrm>
            <a:off x="2897929"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863712"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86371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4434144"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4434144"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4503968" y="4522061"/>
                <a:ext cx="458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503968" y="4522061"/>
                <a:ext cx="45800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928631" y="4522060"/>
                <a:ext cx="471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𝑈</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928631" y="4522060"/>
                <a:ext cx="471218" cy="461665"/>
              </a:xfrm>
              <a:prstGeom prst="rect">
                <a:avLst/>
              </a:prstGeom>
              <a:blipFill>
                <a:blip r:embed="rId5"/>
                <a:stretch>
                  <a:fillRect/>
                </a:stretch>
              </a:blipFill>
            </p:spPr>
            <p:txBody>
              <a:bodyPr/>
              <a:lstStyle/>
              <a:p>
                <a:r>
                  <a:rPr lang="en-US">
                    <a:noFill/>
                  </a:rPr>
                  <a:t> </a:t>
                </a:r>
              </a:p>
            </p:txBody>
          </p:sp>
        </mc:Fallback>
      </mc:AlternateContent>
      <p:sp>
        <p:nvSpPr>
          <p:cNvPr id="34" name="TextBox 33"/>
          <p:cNvSpPr txBox="1"/>
          <p:nvPr/>
        </p:nvSpPr>
        <p:spPr>
          <a:xfrm>
            <a:off x="10304574" y="1732217"/>
            <a:ext cx="939681" cy="400110"/>
          </a:xfrm>
          <a:prstGeom prst="rect">
            <a:avLst/>
          </a:prstGeom>
          <a:noFill/>
        </p:spPr>
        <p:txBody>
          <a:bodyPr wrap="none" rtlCol="0">
            <a:spAutoFit/>
          </a:bodyPr>
          <a:lstStyle/>
          <a:p>
            <a:r>
              <a:rPr lang="en-US" sz="2000" dirty="0"/>
              <a:t>p(man)</a:t>
            </a:r>
          </a:p>
        </p:txBody>
      </p:sp>
      <p:sp>
        <p:nvSpPr>
          <p:cNvPr id="35" name="TextBox 34"/>
          <p:cNvSpPr txBox="1"/>
          <p:nvPr/>
        </p:nvSpPr>
        <p:spPr>
          <a:xfrm>
            <a:off x="10304574" y="2239005"/>
            <a:ext cx="1254702" cy="400110"/>
          </a:xfrm>
          <a:prstGeom prst="rect">
            <a:avLst/>
          </a:prstGeom>
          <a:noFill/>
        </p:spPr>
        <p:txBody>
          <a:bodyPr wrap="none" rtlCol="0">
            <a:spAutoFit/>
          </a:bodyPr>
          <a:lstStyle/>
          <a:p>
            <a:r>
              <a:rPr lang="en-US" sz="2000" dirty="0"/>
              <a:t>p(woman)</a:t>
            </a:r>
          </a:p>
        </p:txBody>
      </p:sp>
      <p:sp>
        <p:nvSpPr>
          <p:cNvPr id="36" name="TextBox 35"/>
          <p:cNvSpPr txBox="1"/>
          <p:nvPr/>
        </p:nvSpPr>
        <p:spPr>
          <a:xfrm>
            <a:off x="10304574" y="3287561"/>
            <a:ext cx="973343" cy="400110"/>
          </a:xfrm>
          <a:prstGeom prst="rect">
            <a:avLst/>
          </a:prstGeom>
          <a:noFill/>
        </p:spPr>
        <p:txBody>
          <a:bodyPr wrap="none" rtlCol="0">
            <a:spAutoFit/>
          </a:bodyPr>
          <a:lstStyle/>
          <a:p>
            <a:r>
              <a:rPr lang="en-US" sz="2000" dirty="0"/>
              <a:t>p(child)</a:t>
            </a:r>
          </a:p>
        </p:txBody>
      </p:sp>
      <p:sp>
        <p:nvSpPr>
          <p:cNvPr id="37" name="TextBox 36"/>
          <p:cNvSpPr txBox="1"/>
          <p:nvPr/>
        </p:nvSpPr>
        <p:spPr>
          <a:xfrm>
            <a:off x="10304574" y="4302876"/>
            <a:ext cx="1428789" cy="400110"/>
          </a:xfrm>
          <a:prstGeom prst="rect">
            <a:avLst/>
          </a:prstGeom>
          <a:noFill/>
        </p:spPr>
        <p:txBody>
          <a:bodyPr wrap="none" rtlCol="0">
            <a:spAutoFit/>
          </a:bodyPr>
          <a:lstStyle/>
          <a:p>
            <a:r>
              <a:rPr lang="en-US" sz="2000" dirty="0"/>
              <a:t>p(crocodile)</a:t>
            </a:r>
          </a:p>
        </p:txBody>
      </p:sp>
      <p:sp>
        <p:nvSpPr>
          <p:cNvPr id="43" name="TextBox 42"/>
          <p:cNvSpPr txBox="1"/>
          <p:nvPr/>
        </p:nvSpPr>
        <p:spPr>
          <a:xfrm>
            <a:off x="10304574" y="3759369"/>
            <a:ext cx="1250663" cy="400110"/>
          </a:xfrm>
          <a:prstGeom prst="rect">
            <a:avLst/>
          </a:prstGeom>
          <a:noFill/>
        </p:spPr>
        <p:txBody>
          <a:bodyPr wrap="none" rtlCol="0">
            <a:spAutoFit/>
          </a:bodyPr>
          <a:lstStyle/>
          <a:p>
            <a:r>
              <a:rPr lang="en-US" sz="2000" dirty="0"/>
              <a:t>p(banana)</a:t>
            </a:r>
          </a:p>
        </p:txBody>
      </p:sp>
      <p:sp>
        <p:nvSpPr>
          <p:cNvPr id="60" name="TextBox 59"/>
          <p:cNvSpPr txBox="1"/>
          <p:nvPr/>
        </p:nvSpPr>
        <p:spPr>
          <a:xfrm>
            <a:off x="10274950" y="5271265"/>
            <a:ext cx="1309910" cy="400110"/>
          </a:xfrm>
          <a:prstGeom prst="rect">
            <a:avLst/>
          </a:prstGeom>
          <a:noFill/>
        </p:spPr>
        <p:txBody>
          <a:bodyPr wrap="none" rtlCol="0">
            <a:spAutoFit/>
          </a:bodyPr>
          <a:lstStyle/>
          <a:p>
            <a:r>
              <a:rPr lang="en-US" sz="2000" dirty="0"/>
              <a:t>p(concept)</a:t>
            </a:r>
          </a:p>
        </p:txBody>
      </p:sp>
      <p:sp>
        <p:nvSpPr>
          <p:cNvPr id="61" name="TextBox 60"/>
          <p:cNvSpPr txBox="1"/>
          <p:nvPr/>
        </p:nvSpPr>
        <p:spPr>
          <a:xfrm>
            <a:off x="5419065" y="5318971"/>
            <a:ext cx="1105111" cy="400110"/>
          </a:xfrm>
          <a:prstGeom prst="rect">
            <a:avLst/>
          </a:prstGeom>
          <a:noFill/>
          <a:ln>
            <a:noFill/>
          </a:ln>
        </p:spPr>
        <p:txBody>
          <a:bodyPr wrap="none" rtlCol="0">
            <a:spAutoFit/>
          </a:bodyPr>
          <a:lstStyle/>
          <a:p>
            <a:r>
              <a:rPr lang="en-US" sz="2000" dirty="0"/>
              <a:t>v(swims)</a:t>
            </a:r>
          </a:p>
        </p:txBody>
      </p:sp>
      <mc:AlternateContent xmlns:mc="http://schemas.openxmlformats.org/markup-compatibility/2006" xmlns:a14="http://schemas.microsoft.com/office/drawing/2010/main">
        <mc:Choice Requires="a14">
          <p:sp>
            <p:nvSpPr>
              <p:cNvPr id="63" name="TextBox 62"/>
              <p:cNvSpPr txBox="1"/>
              <p:nvPr/>
            </p:nvSpPr>
            <p:spPr>
              <a:xfrm>
                <a:off x="693558" y="3506397"/>
                <a:ext cx="1972502" cy="1015663"/>
              </a:xfrm>
              <a:prstGeom prst="rect">
                <a:avLst/>
              </a:prstGeom>
              <a:noFill/>
            </p:spPr>
            <p:txBody>
              <a:bodyPr wrap="square" rtlCol="0">
                <a:spAutoFit/>
              </a:bodyPr>
              <a:lstStyle/>
              <a:p>
                <a:r>
                  <a:rPr lang="en-US" sz="2000" dirty="0"/>
                  <a:t>- suppose swims is the </a:t>
                </a:r>
                <a14:m>
                  <m:oMath xmlns:m="http://schemas.openxmlformats.org/officeDocument/2006/math">
                    <m:r>
                      <a:rPr lang="en-US" sz="2000" i="1" dirty="0" smtClean="0">
                        <a:latin typeface="Cambria Math" panose="02040503050406030204" pitchFamily="18" charset="0"/>
                      </a:rPr>
                      <m:t>𝑖</m:t>
                    </m:r>
                    <m:r>
                      <a:rPr lang="en-US" sz="2000" i="1" baseline="30000" dirty="0" err="1" smtClean="0">
                        <a:latin typeface="Cambria Math" panose="02040503050406030204" pitchFamily="18" charset="0"/>
                      </a:rPr>
                      <m:t>𝑡h</m:t>
                    </m:r>
                  </m:oMath>
                </a14:m>
                <a:r>
                  <a:rPr lang="en-US" sz="2000" dirty="0"/>
                  <a:t> word in our vocabulary</a:t>
                </a:r>
              </a:p>
            </p:txBody>
          </p:sp>
        </mc:Choice>
        <mc:Fallback xmlns="">
          <p:sp>
            <p:nvSpPr>
              <p:cNvPr id="63" name="TextBox 62"/>
              <p:cNvSpPr txBox="1">
                <a:spLocks noRot="1" noChangeAspect="1" noMove="1" noResize="1" noEditPoints="1" noAdjustHandles="1" noChangeArrowheads="1" noChangeShapeType="1" noTextEdit="1"/>
              </p:cNvSpPr>
              <p:nvPr/>
            </p:nvSpPr>
            <p:spPr>
              <a:xfrm>
                <a:off x="693558" y="3506397"/>
                <a:ext cx="1972502" cy="1015663"/>
              </a:xfrm>
              <a:prstGeom prst="rect">
                <a:avLst/>
              </a:prstGeom>
              <a:blipFill>
                <a:blip r:embed="rId8"/>
                <a:stretch>
                  <a:fillRect l="-3406" t="-2994" r="-1548" b="-9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472855" y="1239067"/>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𝑥</m:t>
                      </m:r>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3472855" y="1239067"/>
                <a:ext cx="241733" cy="369332"/>
              </a:xfrm>
              <a:prstGeom prst="rect">
                <a:avLst/>
              </a:prstGeom>
              <a:blipFill>
                <a:blip r:embed="rId9"/>
                <a:stretch>
                  <a:fillRect l="-15000"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5243020" y="1568559"/>
                <a:ext cx="1322350" cy="4735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𝐸</m:t>
                      </m:r>
                      <m:r>
                        <a:rPr lang="en-US" sz="2400" b="0" i="1" dirty="0" smtClean="0">
                          <a:latin typeface="Cambria Math" panose="02040503050406030204" pitchFamily="18" charset="0"/>
                        </a:rPr>
                        <m:t>𝑥</m:t>
                      </m:r>
                      <m:r>
                        <a:rPr lang="en-US" sz="2400" b="0" i="0"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𝐸</m:t>
                          </m:r>
                        </m:e>
                        <m:sup>
                          <m:r>
                            <a:rPr lang="en-US" sz="2400" b="0" i="1" smtClean="0">
                              <a:latin typeface="Cambria Math" panose="02040503050406030204" pitchFamily="18" charset="0"/>
                            </a:rPr>
                            <m:t>𝑖</m:t>
                          </m:r>
                        </m:sup>
                      </m:sSup>
                    </m:oMath>
                  </m:oMathPara>
                </a14:m>
                <a:endParaRPr lang="en-US" sz="2400" i="1" dirty="0"/>
              </a:p>
            </p:txBody>
          </p:sp>
        </mc:Choice>
        <mc:Fallback xmlns="">
          <p:sp>
            <p:nvSpPr>
              <p:cNvPr id="64" name="TextBox 63"/>
              <p:cNvSpPr txBox="1">
                <a:spLocks noRot="1" noChangeAspect="1" noMove="1" noResize="1" noEditPoints="1" noAdjustHandles="1" noChangeArrowheads="1" noChangeShapeType="1" noTextEdit="1"/>
              </p:cNvSpPr>
              <p:nvPr/>
            </p:nvSpPr>
            <p:spPr>
              <a:xfrm>
                <a:off x="5243020" y="1568559"/>
                <a:ext cx="1322350" cy="47359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693558" y="4702986"/>
                <a:ext cx="1972502" cy="1323439"/>
              </a:xfrm>
              <a:prstGeom prst="rect">
                <a:avLst/>
              </a:prstGeom>
              <a:noFill/>
            </p:spPr>
            <p:txBody>
              <a:bodyPr wrap="square" rtlCol="0">
                <a:spAutoFit/>
              </a:bodyPr>
              <a:lstStyle/>
              <a:p>
                <a:r>
                  <a:rPr lang="en-US" sz="2000" dirty="0"/>
                  <a:t>- then v(swims), the word vector for swims, is the </a:t>
                </a:r>
                <a14:m>
                  <m:oMath xmlns:m="http://schemas.openxmlformats.org/officeDocument/2006/math">
                    <m:r>
                      <a:rPr lang="en-US" sz="2000" i="1" dirty="0" smtClean="0">
                        <a:latin typeface="Cambria Math" panose="02040503050406030204" pitchFamily="18" charset="0"/>
                      </a:rPr>
                      <m:t>𝑖</m:t>
                    </m:r>
                    <m:r>
                      <a:rPr lang="en-US" sz="2000" i="1" baseline="30000" dirty="0" err="1" smtClean="0">
                        <a:latin typeface="Cambria Math" panose="02040503050406030204" pitchFamily="18" charset="0"/>
                      </a:rPr>
                      <m:t>𝑡h</m:t>
                    </m:r>
                  </m:oMath>
                </a14:m>
                <a:r>
                  <a:rPr lang="en-US" sz="2000" dirty="0"/>
                  <a:t> column of </a:t>
                </a:r>
                <a14:m>
                  <m:oMath xmlns:m="http://schemas.openxmlformats.org/officeDocument/2006/math">
                    <m:r>
                      <a:rPr lang="en-US" sz="2000" b="0" i="1" dirty="0" smtClean="0">
                        <a:latin typeface="Cambria Math" panose="02040503050406030204" pitchFamily="18" charset="0"/>
                      </a:rPr>
                      <m:t>𝐸</m:t>
                    </m:r>
                  </m:oMath>
                </a14:m>
                <a:endParaRPr lang="en-US" sz="2000" dirty="0"/>
              </a:p>
            </p:txBody>
          </p:sp>
        </mc:Choice>
        <mc:Fallback xmlns="">
          <p:sp>
            <p:nvSpPr>
              <p:cNvPr id="65" name="TextBox 64"/>
              <p:cNvSpPr txBox="1">
                <a:spLocks noRot="1" noChangeAspect="1" noMove="1" noResize="1" noEditPoints="1" noAdjustHandles="1" noChangeArrowheads="1" noChangeShapeType="1" noTextEdit="1"/>
              </p:cNvSpPr>
              <p:nvPr/>
            </p:nvSpPr>
            <p:spPr>
              <a:xfrm>
                <a:off x="693558" y="4702986"/>
                <a:ext cx="1972502" cy="1323439"/>
              </a:xfrm>
              <a:prstGeom prst="rect">
                <a:avLst/>
              </a:prstGeom>
              <a:blipFill>
                <a:blip r:embed="rId11"/>
                <a:stretch>
                  <a:fillRect l="-3205" t="-2857" r="-641" b="-6667"/>
                </a:stretch>
              </a:blipFill>
            </p:spPr>
            <p:txBody>
              <a:bodyPr/>
              <a:lstStyle/>
              <a:p>
                <a:r>
                  <a:rPr lang="en-US">
                    <a:noFill/>
                  </a:rPr>
                  <a:t> </a:t>
                </a:r>
              </a:p>
            </p:txBody>
          </p:sp>
        </mc:Fallback>
      </mc:AlternateContent>
    </p:spTree>
    <p:extLst>
      <p:ext uri="{BB962C8B-B14F-4D97-AF65-F5344CB8AC3E}">
        <p14:creationId xmlns:p14="http://schemas.microsoft.com/office/powerpoint/2010/main" val="17523504"/>
      </p:ext>
    </p:extLst>
  </p:cSld>
  <p:clrMapOvr>
    <a:masterClrMapping/>
  </p:clrMapOvr>
  <mc:AlternateContent xmlns:mc="http://schemas.openxmlformats.org/markup-compatibility/2006" xmlns:p14="http://schemas.microsoft.com/office/powerpoint/2010/main">
    <mc:Choice Requires="p14">
      <p:transition spd="slow" p14:dur="2000" advTm="26189"/>
    </mc:Choice>
    <mc:Fallback xmlns="">
      <p:transition spd="slow" advTm="2618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able 37"/>
          <p:cNvGraphicFramePr>
            <a:graphicFrameLocks noGrp="1"/>
          </p:cNvGraphicFramePr>
          <p:nvPr>
            <p:extLst>
              <p:ext uri="{D42A27DB-BD31-4B8C-83A1-F6EECF244321}">
                <p14:modId xmlns:p14="http://schemas.microsoft.com/office/powerpoint/2010/main" val="1218181933"/>
              </p:ext>
            </p:extLst>
          </p:nvPr>
        </p:nvGraphicFramePr>
        <p:xfrm>
          <a:off x="2979185" y="2077815"/>
          <a:ext cx="6308783" cy="4074568"/>
        </p:xfrm>
        <a:graphic>
          <a:graphicData uri="http://schemas.openxmlformats.org/drawingml/2006/table">
            <a:tbl>
              <a:tblPr firstRow="1" bandRow="1">
                <a:tableStyleId>{5C22544A-7EE6-4342-B048-85BDC9FD1C3A}</a:tableStyleId>
              </a:tblPr>
              <a:tblGrid>
                <a:gridCol w="485291">
                  <a:extLst>
                    <a:ext uri="{9D8B030D-6E8A-4147-A177-3AD203B41FA5}">
                      <a16:colId xmlns:a16="http://schemas.microsoft.com/office/drawing/2014/main" val="2276462251"/>
                    </a:ext>
                  </a:extLst>
                </a:gridCol>
                <a:gridCol w="485291">
                  <a:extLst>
                    <a:ext uri="{9D8B030D-6E8A-4147-A177-3AD203B41FA5}">
                      <a16:colId xmlns:a16="http://schemas.microsoft.com/office/drawing/2014/main" val="426752225"/>
                    </a:ext>
                  </a:extLst>
                </a:gridCol>
                <a:gridCol w="485291">
                  <a:extLst>
                    <a:ext uri="{9D8B030D-6E8A-4147-A177-3AD203B41FA5}">
                      <a16:colId xmlns:a16="http://schemas.microsoft.com/office/drawing/2014/main" val="3127870496"/>
                    </a:ext>
                  </a:extLst>
                </a:gridCol>
                <a:gridCol w="485291">
                  <a:extLst>
                    <a:ext uri="{9D8B030D-6E8A-4147-A177-3AD203B41FA5}">
                      <a16:colId xmlns:a16="http://schemas.microsoft.com/office/drawing/2014/main" val="1421072516"/>
                    </a:ext>
                  </a:extLst>
                </a:gridCol>
                <a:gridCol w="485291">
                  <a:extLst>
                    <a:ext uri="{9D8B030D-6E8A-4147-A177-3AD203B41FA5}">
                      <a16:colId xmlns:a16="http://schemas.microsoft.com/office/drawing/2014/main" val="425288986"/>
                    </a:ext>
                  </a:extLst>
                </a:gridCol>
                <a:gridCol w="485291">
                  <a:extLst>
                    <a:ext uri="{9D8B030D-6E8A-4147-A177-3AD203B41FA5}">
                      <a16:colId xmlns:a16="http://schemas.microsoft.com/office/drawing/2014/main" val="2461336129"/>
                    </a:ext>
                  </a:extLst>
                </a:gridCol>
                <a:gridCol w="485291">
                  <a:extLst>
                    <a:ext uri="{9D8B030D-6E8A-4147-A177-3AD203B41FA5}">
                      <a16:colId xmlns:a16="http://schemas.microsoft.com/office/drawing/2014/main" val="1727905248"/>
                    </a:ext>
                  </a:extLst>
                </a:gridCol>
                <a:gridCol w="485291">
                  <a:extLst>
                    <a:ext uri="{9D8B030D-6E8A-4147-A177-3AD203B41FA5}">
                      <a16:colId xmlns:a16="http://schemas.microsoft.com/office/drawing/2014/main" val="2402879671"/>
                    </a:ext>
                  </a:extLst>
                </a:gridCol>
                <a:gridCol w="485291">
                  <a:extLst>
                    <a:ext uri="{9D8B030D-6E8A-4147-A177-3AD203B41FA5}">
                      <a16:colId xmlns:a16="http://schemas.microsoft.com/office/drawing/2014/main" val="1704793947"/>
                    </a:ext>
                  </a:extLst>
                </a:gridCol>
                <a:gridCol w="485291">
                  <a:extLst>
                    <a:ext uri="{9D8B030D-6E8A-4147-A177-3AD203B41FA5}">
                      <a16:colId xmlns:a16="http://schemas.microsoft.com/office/drawing/2014/main" val="2269346678"/>
                    </a:ext>
                  </a:extLst>
                </a:gridCol>
                <a:gridCol w="485291">
                  <a:extLst>
                    <a:ext uri="{9D8B030D-6E8A-4147-A177-3AD203B41FA5}">
                      <a16:colId xmlns:a16="http://schemas.microsoft.com/office/drawing/2014/main" val="1924455315"/>
                    </a:ext>
                  </a:extLst>
                </a:gridCol>
                <a:gridCol w="485291">
                  <a:extLst>
                    <a:ext uri="{9D8B030D-6E8A-4147-A177-3AD203B41FA5}">
                      <a16:colId xmlns:a16="http://schemas.microsoft.com/office/drawing/2014/main" val="79449647"/>
                    </a:ext>
                  </a:extLst>
                </a:gridCol>
                <a:gridCol w="485291">
                  <a:extLst>
                    <a:ext uri="{9D8B030D-6E8A-4147-A177-3AD203B41FA5}">
                      <a16:colId xmlns:a16="http://schemas.microsoft.com/office/drawing/2014/main" val="220105950"/>
                    </a:ext>
                  </a:extLst>
                </a:gridCol>
              </a:tblGrid>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6" name="Left Brace 5"/>
          <p:cNvSpPr/>
          <p:nvPr/>
        </p:nvSpPr>
        <p:spPr>
          <a:xfrm rot="5400000">
            <a:off x="5939423" y="-1392799"/>
            <a:ext cx="388307" cy="6308785"/>
          </a:xfrm>
          <a:prstGeom prst="leftBrace">
            <a:avLst>
              <a:gd name="adj1" fmla="val 5672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6" name="TextBox 65"/>
              <p:cNvSpPr txBox="1"/>
              <p:nvPr/>
            </p:nvSpPr>
            <p:spPr>
              <a:xfrm rot="16200000">
                <a:off x="499125" y="3915044"/>
                <a:ext cx="3280835" cy="400110"/>
              </a:xfrm>
              <a:prstGeom prst="rect">
                <a:avLst/>
              </a:prstGeom>
              <a:noFill/>
            </p:spPr>
            <p:txBody>
              <a:bodyPr wrap="none" rtlCol="0">
                <a:spAutoFit/>
              </a:bodyPr>
              <a:lstStyle/>
              <a:p>
                <a14:m>
                  <m:oMath xmlns:m="http://schemas.openxmlformats.org/officeDocument/2006/math">
                    <m:r>
                      <a:rPr lang="en-US" sz="2000" b="0" i="1" dirty="0" smtClean="0">
                        <a:latin typeface="Cambria Math" panose="02040503050406030204" pitchFamily="18" charset="0"/>
                      </a:rPr>
                      <m:t>𝑑</m:t>
                    </m:r>
                  </m:oMath>
                </a14:m>
                <a:r>
                  <a:rPr lang="en-US" sz="2000" dirty="0"/>
                  <a:t>, the size of our embeddings</a:t>
                </a:r>
              </a:p>
            </p:txBody>
          </p:sp>
        </mc:Choice>
        <mc:Fallback xmlns="">
          <p:sp>
            <p:nvSpPr>
              <p:cNvPr id="66" name="TextBox 65"/>
              <p:cNvSpPr txBox="1">
                <a:spLocks noRot="1" noChangeAspect="1" noMove="1" noResize="1" noEditPoints="1" noAdjustHandles="1" noChangeArrowheads="1" noChangeShapeType="1" noTextEdit="1"/>
              </p:cNvSpPr>
              <p:nvPr/>
            </p:nvSpPr>
            <p:spPr>
              <a:xfrm rot="16200000">
                <a:off x="499125" y="3915044"/>
                <a:ext cx="3280835" cy="400110"/>
              </a:xfrm>
              <a:prstGeom prst="rect">
                <a:avLst/>
              </a:prstGeom>
              <a:blipFill>
                <a:blip r:embed="rId3"/>
                <a:stretch>
                  <a:fillRect l="-6061" t="-769" r="-24242"/>
                </a:stretch>
              </a:blipFill>
            </p:spPr>
            <p:txBody>
              <a:bodyPr/>
              <a:lstStyle/>
              <a:p>
                <a:r>
                  <a:rPr lang="en-US">
                    <a:noFill/>
                  </a:rPr>
                  <a:t> </a:t>
                </a:r>
              </a:p>
            </p:txBody>
          </p:sp>
        </mc:Fallback>
      </mc:AlternateContent>
      <p:sp>
        <p:nvSpPr>
          <p:cNvPr id="68" name="Left Brace 67"/>
          <p:cNvSpPr/>
          <p:nvPr/>
        </p:nvSpPr>
        <p:spPr>
          <a:xfrm>
            <a:off x="2491956" y="2077815"/>
            <a:ext cx="388307" cy="4074568"/>
          </a:xfrm>
          <a:prstGeom prst="leftBrace">
            <a:avLst>
              <a:gd name="adj1" fmla="val 5672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9" name="TextBox 68"/>
              <p:cNvSpPr txBox="1"/>
              <p:nvPr/>
            </p:nvSpPr>
            <p:spPr>
              <a:xfrm>
                <a:off x="4564492" y="1085228"/>
                <a:ext cx="3138167"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𝑉</m:t>
                    </m:r>
                  </m:oMath>
                </a14:m>
                <a:r>
                  <a:rPr lang="en-US" sz="2000" dirty="0"/>
                  <a:t>, the size of the vocabulary</a:t>
                </a:r>
              </a:p>
            </p:txBody>
          </p:sp>
        </mc:Choice>
        <mc:Fallback xmlns="">
          <p:sp>
            <p:nvSpPr>
              <p:cNvPr id="69" name="TextBox 68"/>
              <p:cNvSpPr txBox="1">
                <a:spLocks noRot="1" noChangeAspect="1" noMove="1" noResize="1" noEditPoints="1" noAdjustHandles="1" noChangeArrowheads="1" noChangeShapeType="1" noTextEdit="1"/>
              </p:cNvSpPr>
              <p:nvPr/>
            </p:nvSpPr>
            <p:spPr>
              <a:xfrm>
                <a:off x="4564492" y="1085228"/>
                <a:ext cx="3138167" cy="400110"/>
              </a:xfrm>
              <a:prstGeom prst="rect">
                <a:avLst/>
              </a:prstGeom>
              <a:blipFill>
                <a:blip r:embed="rId7"/>
                <a:stretch>
                  <a:fillRect t="-7576" r="-1359"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355E0A90-15D9-E85A-4140-4B47D35FD79D}"/>
                  </a:ext>
                </a:extLst>
              </p:cNvPr>
              <p:cNvSpPr>
                <a:spLocks noGrp="1"/>
              </p:cNvSpPr>
              <p:nvPr>
                <p:ph type="title"/>
              </p:nvPr>
            </p:nvSpPr>
            <p:spPr>
              <a:xfrm>
                <a:off x="293914" y="229679"/>
                <a:ext cx="12191999" cy="915085"/>
              </a:xfrm>
            </p:spPr>
            <p:txBody>
              <a:bodyPr>
                <a:normAutofit/>
              </a:bodyPr>
              <a:lstStyle/>
              <a:p>
                <a14:m>
                  <m:oMath xmlns:m="http://schemas.openxmlformats.org/officeDocument/2006/math">
                    <m:r>
                      <a:rPr lang="en-US" sz="3200" b="0" i="1" dirty="0" smtClean="0">
                        <a:latin typeface="Cambria Math" panose="02040503050406030204" pitchFamily="18" charset="0"/>
                      </a:rPr>
                      <m:t>𝐸</m:t>
                    </m:r>
                  </m:oMath>
                </a14:m>
                <a:r>
                  <a:rPr lang="en-US" sz="3200" dirty="0"/>
                  <a:t> is a look-up table of word embeddings</a:t>
                </a:r>
              </a:p>
            </p:txBody>
          </p:sp>
        </mc:Choice>
        <mc:Fallback xmlns="">
          <p:sp>
            <p:nvSpPr>
              <p:cNvPr id="4" name="Title 1">
                <a:extLst>
                  <a:ext uri="{FF2B5EF4-FFF2-40B4-BE49-F238E27FC236}">
                    <a16:creationId xmlns:a16="http://schemas.microsoft.com/office/drawing/2014/main" id="{355E0A90-15D9-E85A-4140-4B47D35FD79D}"/>
                  </a:ext>
                </a:extLst>
              </p:cNvPr>
              <p:cNvSpPr>
                <a:spLocks noGrp="1" noRot="1" noChangeAspect="1" noMove="1" noResize="1" noEditPoints="1" noAdjustHandles="1" noChangeArrowheads="1" noChangeShapeType="1" noTextEdit="1"/>
              </p:cNvSpPr>
              <p:nvPr>
                <p:ph type="title"/>
              </p:nvPr>
            </p:nvSpPr>
            <p:spPr>
              <a:xfrm>
                <a:off x="293914" y="229679"/>
                <a:ext cx="12191999" cy="915085"/>
              </a:xfrm>
              <a:blipFill>
                <a:blip r:embed="rId8"/>
                <a:stretch>
                  <a:fillRect l="-416" t="-13699"/>
                </a:stretch>
              </a:blipFill>
            </p:spPr>
            <p:txBody>
              <a:bodyPr/>
              <a:lstStyle/>
              <a:p>
                <a:r>
                  <a:rPr lang="en-US">
                    <a:noFill/>
                  </a:rPr>
                  <a:t> </a:t>
                </a:r>
              </a:p>
            </p:txBody>
          </p:sp>
        </mc:Fallback>
      </mc:AlternateContent>
    </p:spTree>
    <p:extLst>
      <p:ext uri="{BB962C8B-B14F-4D97-AF65-F5344CB8AC3E}">
        <p14:creationId xmlns:p14="http://schemas.microsoft.com/office/powerpoint/2010/main" val="1350484882"/>
      </p:ext>
    </p:extLst>
  </p:cSld>
  <p:clrMapOvr>
    <a:masterClrMapping/>
  </p:clrMapOvr>
  <mc:AlternateContent xmlns:mc="http://schemas.openxmlformats.org/markup-compatibility/2006" xmlns:p14="http://schemas.microsoft.com/office/powerpoint/2010/main">
    <mc:Choice Requires="p14">
      <p:transition spd="slow" p14:dur="2000" advTm="20308"/>
    </mc:Choice>
    <mc:Fallback xmlns="">
      <p:transition spd="slow" advTm="20308"/>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able 37"/>
          <p:cNvGraphicFramePr>
            <a:graphicFrameLocks noGrp="1"/>
          </p:cNvGraphicFramePr>
          <p:nvPr>
            <p:extLst>
              <p:ext uri="{D42A27DB-BD31-4B8C-83A1-F6EECF244321}">
                <p14:modId xmlns:p14="http://schemas.microsoft.com/office/powerpoint/2010/main" val="33270813"/>
              </p:ext>
            </p:extLst>
          </p:nvPr>
        </p:nvGraphicFramePr>
        <p:xfrm>
          <a:off x="2979185" y="2077815"/>
          <a:ext cx="6308783" cy="4074568"/>
        </p:xfrm>
        <a:graphic>
          <a:graphicData uri="http://schemas.openxmlformats.org/drawingml/2006/table">
            <a:tbl>
              <a:tblPr firstRow="1" bandRow="1">
                <a:tableStyleId>{5C22544A-7EE6-4342-B048-85BDC9FD1C3A}</a:tableStyleId>
              </a:tblPr>
              <a:tblGrid>
                <a:gridCol w="485291">
                  <a:extLst>
                    <a:ext uri="{9D8B030D-6E8A-4147-A177-3AD203B41FA5}">
                      <a16:colId xmlns:a16="http://schemas.microsoft.com/office/drawing/2014/main" val="2276462251"/>
                    </a:ext>
                  </a:extLst>
                </a:gridCol>
                <a:gridCol w="485291">
                  <a:extLst>
                    <a:ext uri="{9D8B030D-6E8A-4147-A177-3AD203B41FA5}">
                      <a16:colId xmlns:a16="http://schemas.microsoft.com/office/drawing/2014/main" val="426752225"/>
                    </a:ext>
                  </a:extLst>
                </a:gridCol>
                <a:gridCol w="485291">
                  <a:extLst>
                    <a:ext uri="{9D8B030D-6E8A-4147-A177-3AD203B41FA5}">
                      <a16:colId xmlns:a16="http://schemas.microsoft.com/office/drawing/2014/main" val="3127870496"/>
                    </a:ext>
                  </a:extLst>
                </a:gridCol>
                <a:gridCol w="485291">
                  <a:extLst>
                    <a:ext uri="{9D8B030D-6E8A-4147-A177-3AD203B41FA5}">
                      <a16:colId xmlns:a16="http://schemas.microsoft.com/office/drawing/2014/main" val="1421072516"/>
                    </a:ext>
                  </a:extLst>
                </a:gridCol>
                <a:gridCol w="485291">
                  <a:extLst>
                    <a:ext uri="{9D8B030D-6E8A-4147-A177-3AD203B41FA5}">
                      <a16:colId xmlns:a16="http://schemas.microsoft.com/office/drawing/2014/main" val="425288986"/>
                    </a:ext>
                  </a:extLst>
                </a:gridCol>
                <a:gridCol w="485291">
                  <a:extLst>
                    <a:ext uri="{9D8B030D-6E8A-4147-A177-3AD203B41FA5}">
                      <a16:colId xmlns:a16="http://schemas.microsoft.com/office/drawing/2014/main" val="2461336129"/>
                    </a:ext>
                  </a:extLst>
                </a:gridCol>
                <a:gridCol w="485291">
                  <a:extLst>
                    <a:ext uri="{9D8B030D-6E8A-4147-A177-3AD203B41FA5}">
                      <a16:colId xmlns:a16="http://schemas.microsoft.com/office/drawing/2014/main" val="1727905248"/>
                    </a:ext>
                  </a:extLst>
                </a:gridCol>
                <a:gridCol w="485291">
                  <a:extLst>
                    <a:ext uri="{9D8B030D-6E8A-4147-A177-3AD203B41FA5}">
                      <a16:colId xmlns:a16="http://schemas.microsoft.com/office/drawing/2014/main" val="2402879671"/>
                    </a:ext>
                  </a:extLst>
                </a:gridCol>
                <a:gridCol w="485291">
                  <a:extLst>
                    <a:ext uri="{9D8B030D-6E8A-4147-A177-3AD203B41FA5}">
                      <a16:colId xmlns:a16="http://schemas.microsoft.com/office/drawing/2014/main" val="1704793947"/>
                    </a:ext>
                  </a:extLst>
                </a:gridCol>
                <a:gridCol w="485291">
                  <a:extLst>
                    <a:ext uri="{9D8B030D-6E8A-4147-A177-3AD203B41FA5}">
                      <a16:colId xmlns:a16="http://schemas.microsoft.com/office/drawing/2014/main" val="2269346678"/>
                    </a:ext>
                  </a:extLst>
                </a:gridCol>
                <a:gridCol w="485291">
                  <a:extLst>
                    <a:ext uri="{9D8B030D-6E8A-4147-A177-3AD203B41FA5}">
                      <a16:colId xmlns:a16="http://schemas.microsoft.com/office/drawing/2014/main" val="1924455315"/>
                    </a:ext>
                  </a:extLst>
                </a:gridCol>
                <a:gridCol w="485291">
                  <a:extLst>
                    <a:ext uri="{9D8B030D-6E8A-4147-A177-3AD203B41FA5}">
                      <a16:colId xmlns:a16="http://schemas.microsoft.com/office/drawing/2014/main" val="79449647"/>
                    </a:ext>
                  </a:extLst>
                </a:gridCol>
                <a:gridCol w="485291">
                  <a:extLst>
                    <a:ext uri="{9D8B030D-6E8A-4147-A177-3AD203B41FA5}">
                      <a16:colId xmlns:a16="http://schemas.microsoft.com/office/drawing/2014/main" val="220105950"/>
                    </a:ext>
                  </a:extLst>
                </a:gridCol>
              </a:tblGrid>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6" name="Left Brace 5"/>
          <p:cNvSpPr/>
          <p:nvPr/>
        </p:nvSpPr>
        <p:spPr>
          <a:xfrm rot="5400000">
            <a:off x="5939423" y="-1392799"/>
            <a:ext cx="388307" cy="6308785"/>
          </a:xfrm>
          <a:prstGeom prst="leftBrace">
            <a:avLst>
              <a:gd name="adj1" fmla="val 5672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8" name="Left Brace 67"/>
          <p:cNvSpPr/>
          <p:nvPr/>
        </p:nvSpPr>
        <p:spPr>
          <a:xfrm>
            <a:off x="2491956" y="2077815"/>
            <a:ext cx="388307" cy="4074568"/>
          </a:xfrm>
          <a:prstGeom prst="leftBrace">
            <a:avLst>
              <a:gd name="adj1" fmla="val 5672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9" name="TextBox 68"/>
              <p:cNvSpPr txBox="1"/>
              <p:nvPr/>
            </p:nvSpPr>
            <p:spPr>
              <a:xfrm>
                <a:off x="4564492" y="1085228"/>
                <a:ext cx="3138167"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𝑉</m:t>
                    </m:r>
                  </m:oMath>
                </a14:m>
                <a:r>
                  <a:rPr lang="en-US" sz="2000" dirty="0"/>
                  <a:t>, the size of the vocabulary</a:t>
                </a:r>
              </a:p>
            </p:txBody>
          </p:sp>
        </mc:Choice>
        <mc:Fallback xmlns="">
          <p:sp>
            <p:nvSpPr>
              <p:cNvPr id="69" name="TextBox 68"/>
              <p:cNvSpPr txBox="1">
                <a:spLocks noRot="1" noChangeAspect="1" noMove="1" noResize="1" noEditPoints="1" noAdjustHandles="1" noChangeArrowheads="1" noChangeShapeType="1" noTextEdit="1"/>
              </p:cNvSpPr>
              <p:nvPr/>
            </p:nvSpPr>
            <p:spPr>
              <a:xfrm>
                <a:off x="4564492" y="1085228"/>
                <a:ext cx="3138167" cy="400110"/>
              </a:xfrm>
              <a:prstGeom prst="rect">
                <a:avLst/>
              </a:prstGeom>
              <a:blipFill>
                <a:blip r:embed="rId7"/>
                <a:stretch>
                  <a:fillRect t="-7576" r="-1359"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6926892" y="1752382"/>
                <a:ext cx="3186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oMath>
                  </m:oMathPara>
                </a14:m>
                <a:endParaRPr lang="en-US" i="1" dirty="0"/>
              </a:p>
            </p:txBody>
          </p:sp>
        </mc:Choice>
        <mc:Fallback xmlns="">
          <p:sp>
            <p:nvSpPr>
              <p:cNvPr id="2" name="TextBox 1"/>
              <p:cNvSpPr txBox="1">
                <a:spLocks noRot="1" noChangeAspect="1" noMove="1" noResize="1" noEditPoints="1" noAdjustHandles="1" noChangeArrowheads="1" noChangeShapeType="1" noTextEdit="1"/>
              </p:cNvSpPr>
              <p:nvPr/>
            </p:nvSpPr>
            <p:spPr>
              <a:xfrm>
                <a:off x="6926892" y="1752382"/>
                <a:ext cx="318613" cy="369332"/>
              </a:xfrm>
              <a:prstGeom prst="rect">
                <a:avLst/>
              </a:prstGeom>
              <a:blipFill>
                <a:blip r:embed="rId8"/>
                <a:stretch>
                  <a:fillRect/>
                </a:stretch>
              </a:blipFill>
            </p:spPr>
            <p:txBody>
              <a:bodyPr/>
              <a:lstStyle/>
              <a:p>
                <a:r>
                  <a:rPr lang="en-US">
                    <a:noFill/>
                  </a:rPr>
                  <a:t> </a:t>
                </a:r>
              </a:p>
            </p:txBody>
          </p:sp>
        </mc:Fallback>
      </mc:AlternateContent>
      <p:cxnSp>
        <p:nvCxnSpPr>
          <p:cNvPr id="4" name="Straight Arrow Connector 3"/>
          <p:cNvCxnSpPr/>
          <p:nvPr/>
        </p:nvCxnSpPr>
        <p:spPr>
          <a:xfrm flipH="1">
            <a:off x="7553195" y="2555310"/>
            <a:ext cx="2292263" cy="9645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9845458" y="2121714"/>
                <a:ext cx="1584624" cy="1015663"/>
              </a:xfrm>
              <a:prstGeom prst="rect">
                <a:avLst/>
              </a:prstGeom>
              <a:noFill/>
            </p:spPr>
            <p:txBody>
              <a:bodyPr wrap="square" rtlCol="0">
                <a:spAutoFit/>
              </a:bodyPr>
              <a:lstStyle/>
              <a:p>
                <a:pPr algn="ctr"/>
                <a:r>
                  <a:rPr lang="en-US" sz="2000" dirty="0"/>
                  <a:t>Word embedding for word </a:t>
                </a:r>
                <a14:m>
                  <m:oMath xmlns:m="http://schemas.openxmlformats.org/officeDocument/2006/math">
                    <m:r>
                      <a:rPr lang="en-US" sz="2000" i="1" dirty="0" smtClean="0">
                        <a:latin typeface="Cambria Math" panose="02040503050406030204" pitchFamily="18" charset="0"/>
                      </a:rPr>
                      <m:t>𝑖</m:t>
                    </m:r>
                  </m:oMath>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9845458" y="2121714"/>
                <a:ext cx="1584624" cy="1015663"/>
              </a:xfrm>
              <a:prstGeom prst="rect">
                <a:avLst/>
              </a:prstGeom>
              <a:blipFill>
                <a:blip r:embed="rId9"/>
                <a:stretch>
                  <a:fillRect t="-3704" b="-8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A93AB9ED-48EE-AB38-E8AE-2C27B0EFD764}"/>
                  </a:ext>
                </a:extLst>
              </p:cNvPr>
              <p:cNvSpPr>
                <a:spLocks noGrp="1"/>
              </p:cNvSpPr>
              <p:nvPr>
                <p:ph type="title"/>
              </p:nvPr>
            </p:nvSpPr>
            <p:spPr>
              <a:xfrm>
                <a:off x="293914" y="229679"/>
                <a:ext cx="12191999" cy="915085"/>
              </a:xfrm>
            </p:spPr>
            <p:txBody>
              <a:bodyPr>
                <a:normAutofit/>
              </a:bodyPr>
              <a:lstStyle/>
              <a:p>
                <a14:m>
                  <m:oMath xmlns:m="http://schemas.openxmlformats.org/officeDocument/2006/math">
                    <m:r>
                      <a:rPr lang="en-US" sz="3200" b="0" i="1" dirty="0" smtClean="0">
                        <a:latin typeface="Cambria Math" panose="02040503050406030204" pitchFamily="18" charset="0"/>
                      </a:rPr>
                      <m:t>𝐸</m:t>
                    </m:r>
                  </m:oMath>
                </a14:m>
                <a:r>
                  <a:rPr lang="en-US" sz="3200" dirty="0"/>
                  <a:t> is a look-up table of word embeddings</a:t>
                </a:r>
              </a:p>
            </p:txBody>
          </p:sp>
        </mc:Choice>
        <mc:Fallback xmlns="">
          <p:sp>
            <p:nvSpPr>
              <p:cNvPr id="7" name="Title 1">
                <a:extLst>
                  <a:ext uri="{FF2B5EF4-FFF2-40B4-BE49-F238E27FC236}">
                    <a16:creationId xmlns:a16="http://schemas.microsoft.com/office/drawing/2014/main" id="{A93AB9ED-48EE-AB38-E8AE-2C27B0EFD764}"/>
                  </a:ext>
                </a:extLst>
              </p:cNvPr>
              <p:cNvSpPr>
                <a:spLocks noGrp="1" noRot="1" noChangeAspect="1" noMove="1" noResize="1" noEditPoints="1" noAdjustHandles="1" noChangeArrowheads="1" noChangeShapeType="1" noTextEdit="1"/>
              </p:cNvSpPr>
              <p:nvPr>
                <p:ph type="title"/>
              </p:nvPr>
            </p:nvSpPr>
            <p:spPr>
              <a:xfrm>
                <a:off x="293914" y="229679"/>
                <a:ext cx="12191999" cy="915085"/>
              </a:xfrm>
              <a:blipFill>
                <a:blip r:embed="rId10"/>
                <a:stretch>
                  <a:fillRect l="-416" t="-136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E73234-D390-0CC2-AF4D-58E314978234}"/>
                  </a:ext>
                </a:extLst>
              </p:cNvPr>
              <p:cNvSpPr txBox="1"/>
              <p:nvPr/>
            </p:nvSpPr>
            <p:spPr>
              <a:xfrm rot="16200000">
                <a:off x="499125" y="3915044"/>
                <a:ext cx="3280835" cy="400110"/>
              </a:xfrm>
              <a:prstGeom prst="rect">
                <a:avLst/>
              </a:prstGeom>
              <a:noFill/>
            </p:spPr>
            <p:txBody>
              <a:bodyPr wrap="none" rtlCol="0">
                <a:spAutoFit/>
              </a:bodyPr>
              <a:lstStyle/>
              <a:p>
                <a14:m>
                  <m:oMath xmlns:m="http://schemas.openxmlformats.org/officeDocument/2006/math">
                    <m:r>
                      <a:rPr lang="en-US" sz="2000" b="0" i="1" dirty="0" smtClean="0">
                        <a:latin typeface="Cambria Math" panose="02040503050406030204" pitchFamily="18" charset="0"/>
                      </a:rPr>
                      <m:t>𝑑</m:t>
                    </m:r>
                  </m:oMath>
                </a14:m>
                <a:r>
                  <a:rPr lang="en-US" sz="2000" dirty="0"/>
                  <a:t>, the size of our embeddings</a:t>
                </a:r>
              </a:p>
            </p:txBody>
          </p:sp>
        </mc:Choice>
        <mc:Fallback xmlns="">
          <p:sp>
            <p:nvSpPr>
              <p:cNvPr id="8" name="TextBox 7">
                <a:extLst>
                  <a:ext uri="{FF2B5EF4-FFF2-40B4-BE49-F238E27FC236}">
                    <a16:creationId xmlns:a16="http://schemas.microsoft.com/office/drawing/2014/main" id="{5EE73234-D390-0CC2-AF4D-58E314978234}"/>
                  </a:ext>
                </a:extLst>
              </p:cNvPr>
              <p:cNvSpPr txBox="1">
                <a:spLocks noRot="1" noChangeAspect="1" noMove="1" noResize="1" noEditPoints="1" noAdjustHandles="1" noChangeArrowheads="1" noChangeShapeType="1" noTextEdit="1"/>
              </p:cNvSpPr>
              <p:nvPr/>
            </p:nvSpPr>
            <p:spPr>
              <a:xfrm rot="16200000">
                <a:off x="499125" y="3915044"/>
                <a:ext cx="3280835" cy="400110"/>
              </a:xfrm>
              <a:prstGeom prst="rect">
                <a:avLst/>
              </a:prstGeom>
              <a:blipFill>
                <a:blip r:embed="rId11"/>
                <a:stretch>
                  <a:fillRect l="-6061" t="-769" r="-24242"/>
                </a:stretch>
              </a:blipFill>
            </p:spPr>
            <p:txBody>
              <a:bodyPr/>
              <a:lstStyle/>
              <a:p>
                <a:r>
                  <a:rPr lang="en-US">
                    <a:noFill/>
                  </a:rPr>
                  <a:t> </a:t>
                </a:r>
              </a:p>
            </p:txBody>
          </p:sp>
        </mc:Fallback>
      </mc:AlternateContent>
    </p:spTree>
    <p:extLst>
      <p:ext uri="{BB962C8B-B14F-4D97-AF65-F5344CB8AC3E}">
        <p14:creationId xmlns:p14="http://schemas.microsoft.com/office/powerpoint/2010/main" val="1640540399"/>
      </p:ext>
    </p:extLst>
  </p:cSld>
  <p:clrMapOvr>
    <a:masterClrMapping/>
  </p:clrMapOvr>
  <mc:AlternateContent xmlns:mc="http://schemas.openxmlformats.org/markup-compatibility/2006" xmlns:p14="http://schemas.microsoft.com/office/powerpoint/2010/main">
    <mc:Choice Requires="p14">
      <p:transition spd="slow" p14:dur="2000" advTm="10499"/>
    </mc:Choice>
    <mc:Fallback xmlns="">
      <p:transition spd="slow" advTm="10499"/>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B458246D-1AA2-0B46-8422-C80506A22939}"/>
              </a:ext>
            </a:extLst>
          </p:cNvPr>
          <p:cNvSpPr>
            <a:spLocks noGrp="1"/>
          </p:cNvSpPr>
          <p:nvPr>
            <p:ph type="title"/>
          </p:nvPr>
        </p:nvSpPr>
        <p:spPr>
          <a:xfrm>
            <a:off x="145600" y="100439"/>
            <a:ext cx="12191999" cy="915085"/>
          </a:xfrm>
        </p:spPr>
        <p:txBody>
          <a:bodyPr>
            <a:normAutofit fontScale="90000"/>
          </a:bodyPr>
          <a:lstStyle/>
          <a:p>
            <a:pPr algn="l"/>
            <a:r>
              <a:rPr lang="en-US" sz="3200" dirty="0"/>
              <a:t>We now have a distributed representation </a:t>
            </a:r>
            <a:br>
              <a:rPr lang="en-US" sz="3200" dirty="0"/>
            </a:br>
            <a:r>
              <a:rPr lang="en-US" sz="3200" dirty="0"/>
              <a:t>of word </a:t>
            </a:r>
            <a:r>
              <a:rPr lang="en-US" sz="3200" b="1" i="1" dirty="0"/>
              <a:t>meaning</a:t>
            </a:r>
            <a:r>
              <a:rPr lang="en-US" sz="3200" dirty="0"/>
              <a:t> based on </a:t>
            </a:r>
            <a:r>
              <a:rPr lang="en-US" sz="3200" b="1" i="1" dirty="0"/>
              <a:t>context</a:t>
            </a:r>
          </a:p>
        </p:txBody>
      </p:sp>
      <p:graphicFrame>
        <p:nvGraphicFramePr>
          <p:cNvPr id="27" name="Table 26"/>
          <p:cNvGraphicFramePr>
            <a:graphicFrameLocks noGrp="1"/>
          </p:cNvGraphicFramePr>
          <p:nvPr/>
        </p:nvGraphicFramePr>
        <p:xfrm>
          <a:off x="5701620" y="2186303"/>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31" name="Table 30"/>
          <p:cNvGraphicFramePr>
            <a:graphicFrameLocks noGrp="1"/>
          </p:cNvGraphicFramePr>
          <p:nvPr/>
        </p:nvGraphicFramePr>
        <p:xfrm>
          <a:off x="9734970"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endParaRPr lang="en-US" b="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40" name="Table 39"/>
          <p:cNvGraphicFramePr>
            <a:graphicFrameLocks noGrp="1"/>
          </p:cNvGraphicFramePr>
          <p:nvPr/>
        </p:nvGraphicFramePr>
        <p:xfrm>
          <a:off x="8079508" y="1678236"/>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1" name="TextBox 40"/>
          <p:cNvSpPr txBox="1"/>
          <p:nvPr/>
        </p:nvSpPr>
        <p:spPr>
          <a:xfrm>
            <a:off x="7879657" y="1205015"/>
            <a:ext cx="906017" cy="400110"/>
          </a:xfrm>
          <a:prstGeom prst="rect">
            <a:avLst/>
          </a:prstGeom>
          <a:noFill/>
        </p:spPr>
        <p:txBody>
          <a:bodyPr wrap="none" rtlCol="0">
            <a:spAutoFit/>
          </a:bodyPr>
          <a:lstStyle/>
          <a:p>
            <a:r>
              <a:rPr lang="en-US" sz="2000" dirty="0"/>
              <a:t>z(man)</a:t>
            </a:r>
          </a:p>
        </p:txBody>
      </p:sp>
      <p:sp>
        <p:nvSpPr>
          <p:cNvPr id="42" name="TextBox 41"/>
          <p:cNvSpPr txBox="1"/>
          <p:nvPr/>
        </p:nvSpPr>
        <p:spPr>
          <a:xfrm>
            <a:off x="7694543" y="5825915"/>
            <a:ext cx="1276247" cy="400110"/>
          </a:xfrm>
          <a:prstGeom prst="rect">
            <a:avLst/>
          </a:prstGeom>
          <a:noFill/>
        </p:spPr>
        <p:txBody>
          <a:bodyPr wrap="none" rtlCol="0">
            <a:spAutoFit/>
          </a:bodyPr>
          <a:lstStyle/>
          <a:p>
            <a:r>
              <a:rPr lang="en-US" sz="2000" dirty="0"/>
              <a:t>z(concept)</a:t>
            </a:r>
          </a:p>
        </p:txBody>
      </p:sp>
      <p:cxnSp>
        <p:nvCxnSpPr>
          <p:cNvPr id="5" name="Straight Arrow Connector 4"/>
          <p:cNvCxnSpPr/>
          <p:nvPr/>
        </p:nvCxnSpPr>
        <p:spPr>
          <a:xfrm flipV="1">
            <a:off x="6241600" y="1676982"/>
            <a:ext cx="1837908" cy="4800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241600"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769598"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6769598"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8619488" y="189321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flipV="1">
            <a:off x="8619488" y="24334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flipV="1">
            <a:off x="8629627" y="294190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flipV="1">
            <a:off x="8643937" y="3434704"/>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flipV="1">
            <a:off x="8636420" y="395896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flipV="1">
            <a:off x="8650325" y="4450283"/>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V="1">
            <a:off x="8636420" y="4983726"/>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p:cNvCxnSpPr/>
          <p:nvPr/>
        </p:nvCxnSpPr>
        <p:spPr>
          <a:xfrm flipV="1">
            <a:off x="8645079" y="5555942"/>
            <a:ext cx="1106092" cy="6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p:cNvSpPr/>
          <p:nvPr/>
        </p:nvSpPr>
        <p:spPr>
          <a:xfrm>
            <a:off x="8822063" y="1681442"/>
            <a:ext cx="714307" cy="4070108"/>
          </a:xfrm>
          <a:prstGeom prst="ellipse">
            <a:avLst/>
          </a:prstGeom>
        </p:spPr>
        <p:style>
          <a:lnRef idx="2">
            <a:schemeClr val="dk1"/>
          </a:lnRef>
          <a:fillRef idx="1">
            <a:schemeClr val="lt1"/>
          </a:fillRef>
          <a:effectRef idx="0">
            <a:schemeClr val="dk1"/>
          </a:effectRef>
          <a:fontRef idx="minor">
            <a:schemeClr val="dk1"/>
          </a:fontRef>
        </p:style>
        <p:txBody>
          <a:bodyPr vert="vert" lIns="0" tIns="0" rIns="0" bIns="0" rtlCol="0" anchor="ctr"/>
          <a:lstStyle/>
          <a:p>
            <a:pPr algn="ctr"/>
            <a:r>
              <a:rPr lang="en-US" dirty="0" err="1"/>
              <a:t>softmax</a:t>
            </a:r>
            <a:endParaRPr lang="en-US" dirty="0"/>
          </a:p>
        </p:txBody>
      </p:sp>
      <p:graphicFrame>
        <p:nvGraphicFramePr>
          <p:cNvPr id="38" name="Table 37"/>
          <p:cNvGraphicFramePr>
            <a:graphicFrameLocks noGrp="1"/>
          </p:cNvGraphicFramePr>
          <p:nvPr/>
        </p:nvGraphicFramePr>
        <p:xfrm>
          <a:off x="3323732" y="1676982"/>
          <a:ext cx="539980" cy="4074568"/>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58170"/>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3967689"/>
                  </a:ext>
                </a:extLst>
              </a:tr>
              <a:tr h="509321">
                <a:tc>
                  <a:txBody>
                    <a:bodyPr/>
                    <a:lstStyle/>
                    <a:p>
                      <a:pPr algn="ctr"/>
                      <a:r>
                        <a:rPr lang="en-US" b="0" dirty="0">
                          <a:solidFill>
                            <a:schemeClr val="tx1"/>
                          </a:solidFill>
                        </a:rPr>
                        <a:t>1</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pPr algn="ctr"/>
                      <a:r>
                        <a:rPr lang="en-US" b="0" dirty="0">
                          <a:solidFill>
                            <a:schemeClr val="tx1"/>
                          </a:solidFill>
                        </a:rPr>
                        <a:t>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44" name="TextBox 43"/>
          <p:cNvSpPr txBox="1"/>
          <p:nvPr/>
        </p:nvSpPr>
        <p:spPr>
          <a:xfrm>
            <a:off x="2057939" y="2741851"/>
            <a:ext cx="832600" cy="400110"/>
          </a:xfrm>
          <a:prstGeom prst="rect">
            <a:avLst/>
          </a:prstGeom>
          <a:noFill/>
        </p:spPr>
        <p:txBody>
          <a:bodyPr wrap="none" rtlCol="0">
            <a:spAutoFit/>
          </a:bodyPr>
          <a:lstStyle/>
          <a:p>
            <a:r>
              <a:rPr lang="en-US" sz="2000" dirty="0"/>
              <a:t>swims</a:t>
            </a:r>
          </a:p>
        </p:txBody>
      </p:sp>
      <p:cxnSp>
        <p:nvCxnSpPr>
          <p:cNvPr id="45" name="Straight Arrow Connector 44"/>
          <p:cNvCxnSpPr/>
          <p:nvPr/>
        </p:nvCxnSpPr>
        <p:spPr>
          <a:xfrm>
            <a:off x="2897929" y="2953663"/>
            <a:ext cx="4258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3863712" y="1676982"/>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3863712" y="5242229"/>
            <a:ext cx="1837908" cy="5093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4434144" y="3167832"/>
            <a:ext cx="742555" cy="9916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4434144" y="3169085"/>
            <a:ext cx="742555" cy="990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4503968" y="4522061"/>
                <a:ext cx="4580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503968" y="4522061"/>
                <a:ext cx="45800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928631" y="4522060"/>
                <a:ext cx="471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𝑈</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928631" y="4522060"/>
                <a:ext cx="471218" cy="461665"/>
              </a:xfrm>
              <a:prstGeom prst="rect">
                <a:avLst/>
              </a:prstGeom>
              <a:blipFill>
                <a:blip r:embed="rId4"/>
                <a:stretch>
                  <a:fillRect/>
                </a:stretch>
              </a:blipFill>
            </p:spPr>
            <p:txBody>
              <a:bodyPr/>
              <a:lstStyle/>
              <a:p>
                <a:r>
                  <a:rPr lang="en-US">
                    <a:noFill/>
                  </a:rPr>
                  <a:t> </a:t>
                </a:r>
              </a:p>
            </p:txBody>
          </p:sp>
        </mc:Fallback>
      </mc:AlternateContent>
      <p:sp>
        <p:nvSpPr>
          <p:cNvPr id="33" name="Rectangle 32"/>
          <p:cNvSpPr/>
          <p:nvPr/>
        </p:nvSpPr>
        <p:spPr>
          <a:xfrm>
            <a:off x="5438284" y="1153342"/>
            <a:ext cx="6398810" cy="5184828"/>
          </a:xfrm>
          <a:prstGeom prst="rect">
            <a:avLst/>
          </a:prstGeom>
          <a:noFill/>
          <a:ln w="57150">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TextBox 33"/>
          <p:cNvSpPr txBox="1"/>
          <p:nvPr/>
        </p:nvSpPr>
        <p:spPr>
          <a:xfrm>
            <a:off x="10304574" y="1732217"/>
            <a:ext cx="939681" cy="400110"/>
          </a:xfrm>
          <a:prstGeom prst="rect">
            <a:avLst/>
          </a:prstGeom>
          <a:noFill/>
        </p:spPr>
        <p:txBody>
          <a:bodyPr wrap="none" rtlCol="0">
            <a:spAutoFit/>
          </a:bodyPr>
          <a:lstStyle/>
          <a:p>
            <a:r>
              <a:rPr lang="en-US" sz="2000" dirty="0"/>
              <a:t>p(man)</a:t>
            </a:r>
          </a:p>
        </p:txBody>
      </p:sp>
      <p:sp>
        <p:nvSpPr>
          <p:cNvPr id="35" name="TextBox 34"/>
          <p:cNvSpPr txBox="1"/>
          <p:nvPr/>
        </p:nvSpPr>
        <p:spPr>
          <a:xfrm>
            <a:off x="10304574" y="2239005"/>
            <a:ext cx="1254702" cy="400110"/>
          </a:xfrm>
          <a:prstGeom prst="rect">
            <a:avLst/>
          </a:prstGeom>
          <a:noFill/>
        </p:spPr>
        <p:txBody>
          <a:bodyPr wrap="none" rtlCol="0">
            <a:spAutoFit/>
          </a:bodyPr>
          <a:lstStyle/>
          <a:p>
            <a:r>
              <a:rPr lang="en-US" sz="2000" dirty="0"/>
              <a:t>p(woman)</a:t>
            </a:r>
          </a:p>
        </p:txBody>
      </p:sp>
      <p:sp>
        <p:nvSpPr>
          <p:cNvPr id="36" name="TextBox 35"/>
          <p:cNvSpPr txBox="1"/>
          <p:nvPr/>
        </p:nvSpPr>
        <p:spPr>
          <a:xfrm>
            <a:off x="10304574" y="3287561"/>
            <a:ext cx="973343" cy="400110"/>
          </a:xfrm>
          <a:prstGeom prst="rect">
            <a:avLst/>
          </a:prstGeom>
          <a:noFill/>
        </p:spPr>
        <p:txBody>
          <a:bodyPr wrap="none" rtlCol="0">
            <a:spAutoFit/>
          </a:bodyPr>
          <a:lstStyle/>
          <a:p>
            <a:r>
              <a:rPr lang="en-US" sz="2000" dirty="0"/>
              <a:t>p(child)</a:t>
            </a:r>
          </a:p>
        </p:txBody>
      </p:sp>
      <p:sp>
        <p:nvSpPr>
          <p:cNvPr id="37" name="TextBox 36"/>
          <p:cNvSpPr txBox="1"/>
          <p:nvPr/>
        </p:nvSpPr>
        <p:spPr>
          <a:xfrm>
            <a:off x="10304574" y="4302876"/>
            <a:ext cx="1428789" cy="400110"/>
          </a:xfrm>
          <a:prstGeom prst="rect">
            <a:avLst/>
          </a:prstGeom>
          <a:noFill/>
        </p:spPr>
        <p:txBody>
          <a:bodyPr wrap="none" rtlCol="0">
            <a:spAutoFit/>
          </a:bodyPr>
          <a:lstStyle/>
          <a:p>
            <a:r>
              <a:rPr lang="en-US" sz="2000" dirty="0"/>
              <a:t>p(crocodile)</a:t>
            </a:r>
          </a:p>
        </p:txBody>
      </p:sp>
      <p:sp>
        <p:nvSpPr>
          <p:cNvPr id="43" name="TextBox 42"/>
          <p:cNvSpPr txBox="1"/>
          <p:nvPr/>
        </p:nvSpPr>
        <p:spPr>
          <a:xfrm>
            <a:off x="10304574" y="3759369"/>
            <a:ext cx="1250663" cy="400110"/>
          </a:xfrm>
          <a:prstGeom prst="rect">
            <a:avLst/>
          </a:prstGeom>
          <a:noFill/>
        </p:spPr>
        <p:txBody>
          <a:bodyPr wrap="none" rtlCol="0">
            <a:spAutoFit/>
          </a:bodyPr>
          <a:lstStyle/>
          <a:p>
            <a:r>
              <a:rPr lang="en-US" sz="2000" dirty="0"/>
              <a:t>p(banana)</a:t>
            </a:r>
          </a:p>
        </p:txBody>
      </p:sp>
      <p:sp>
        <p:nvSpPr>
          <p:cNvPr id="60" name="TextBox 59"/>
          <p:cNvSpPr txBox="1"/>
          <p:nvPr/>
        </p:nvSpPr>
        <p:spPr>
          <a:xfrm>
            <a:off x="10274950" y="5271265"/>
            <a:ext cx="1309910" cy="400110"/>
          </a:xfrm>
          <a:prstGeom prst="rect">
            <a:avLst/>
          </a:prstGeom>
          <a:noFill/>
        </p:spPr>
        <p:txBody>
          <a:bodyPr wrap="none" rtlCol="0">
            <a:spAutoFit/>
          </a:bodyPr>
          <a:lstStyle/>
          <a:p>
            <a:r>
              <a:rPr lang="en-US" sz="2000" dirty="0"/>
              <a:t>p(concept)</a:t>
            </a:r>
          </a:p>
        </p:txBody>
      </p:sp>
      <p:sp>
        <p:nvSpPr>
          <p:cNvPr id="61" name="TextBox 60"/>
          <p:cNvSpPr txBox="1"/>
          <p:nvPr/>
        </p:nvSpPr>
        <p:spPr>
          <a:xfrm>
            <a:off x="5405430" y="5296834"/>
            <a:ext cx="1132361" cy="400110"/>
          </a:xfrm>
          <a:prstGeom prst="rect">
            <a:avLst/>
          </a:prstGeom>
          <a:noFill/>
          <a:ln>
            <a:noFill/>
          </a:ln>
        </p:spPr>
        <p:txBody>
          <a:bodyPr wrap="none" rtlCol="0">
            <a:spAutoFit/>
          </a:bodyPr>
          <a:lstStyle/>
          <a:p>
            <a:r>
              <a:rPr lang="en-US" sz="2000" b="1" dirty="0">
                <a:solidFill>
                  <a:schemeClr val="accent1"/>
                </a:solidFill>
              </a:rPr>
              <a:t>v(swims)</a:t>
            </a:r>
          </a:p>
        </p:txBody>
      </p:sp>
    </p:spTree>
    <p:extLst>
      <p:ext uri="{BB962C8B-B14F-4D97-AF65-F5344CB8AC3E}">
        <p14:creationId xmlns:p14="http://schemas.microsoft.com/office/powerpoint/2010/main" val="3558075369"/>
      </p:ext>
    </p:extLst>
  </p:cSld>
  <p:clrMapOvr>
    <a:masterClrMapping/>
  </p:clrMapOvr>
  <mc:AlternateContent xmlns:mc="http://schemas.openxmlformats.org/markup-compatibility/2006" xmlns:p14="http://schemas.microsoft.com/office/powerpoint/2010/main">
    <mc:Choice Requires="p14">
      <p:transition spd="slow" p14:dur="2000" advTm="42841"/>
    </mc:Choice>
    <mc:Fallback xmlns="">
      <p:transition spd="slow" advTm="4284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FBB5-6282-C1C0-1540-534C6BB68B61}"/>
              </a:ext>
            </a:extLst>
          </p:cNvPr>
          <p:cNvSpPr>
            <a:spLocks noGrp="1"/>
          </p:cNvSpPr>
          <p:nvPr>
            <p:ph type="title"/>
          </p:nvPr>
        </p:nvSpPr>
        <p:spPr/>
        <p:txBody>
          <a:bodyPr/>
          <a:lstStyle/>
          <a:p>
            <a:r>
              <a:rPr lang="en-US" dirty="0"/>
              <a:t>Variation 1: Continuous bag of words (CBOW)</a:t>
            </a:r>
          </a:p>
        </p:txBody>
      </p:sp>
      <p:sp>
        <p:nvSpPr>
          <p:cNvPr id="3" name="Content Placeholder 2">
            <a:extLst>
              <a:ext uri="{FF2B5EF4-FFF2-40B4-BE49-F238E27FC236}">
                <a16:creationId xmlns:a16="http://schemas.microsoft.com/office/drawing/2014/main" id="{DA33A137-1542-527B-D93C-4C1D8AA2B22E}"/>
              </a:ext>
            </a:extLst>
          </p:cNvPr>
          <p:cNvSpPr>
            <a:spLocks noGrp="1"/>
          </p:cNvSpPr>
          <p:nvPr>
            <p:ph idx="1"/>
          </p:nvPr>
        </p:nvSpPr>
        <p:spPr>
          <a:xfrm>
            <a:off x="838200" y="1690688"/>
            <a:ext cx="10515600" cy="4351339"/>
          </a:xfrm>
        </p:spPr>
        <p:txBody>
          <a:bodyPr/>
          <a:lstStyle/>
          <a:p>
            <a:pPr marL="0" indent="0">
              <a:buNone/>
            </a:pPr>
            <a:r>
              <a:rPr lang="en-US" sz="2400" b="1" dirty="0"/>
              <a:t>Continuous Bag of Words (Mikolov et al., 2013)</a:t>
            </a:r>
          </a:p>
          <a:p>
            <a:pPr marL="0" indent="0">
              <a:buNone/>
            </a:pPr>
            <a:endParaRPr lang="en-US" sz="1000" dirty="0"/>
          </a:p>
          <a:p>
            <a:pPr marL="0" indent="0">
              <a:buNone/>
            </a:pPr>
            <a:r>
              <a:rPr lang="en-US" sz="2000" b="1" dirty="0"/>
              <a:t>Goal: </a:t>
            </a:r>
            <a:r>
              <a:rPr lang="en-US" sz="2000" dirty="0"/>
              <a:t>Given surrounding context words, predict the center word</a:t>
            </a:r>
          </a:p>
          <a:p>
            <a:pPr marL="0" indent="0">
              <a:buNone/>
            </a:pPr>
            <a:endParaRPr lang="en-US" sz="1000" dirty="0"/>
          </a:p>
          <a:p>
            <a:pPr marL="0" indent="0">
              <a:buNone/>
            </a:pPr>
            <a:r>
              <a:rPr lang="en-US" sz="2000" b="1" dirty="0"/>
              <a:t>Architecture:</a:t>
            </a:r>
          </a:p>
          <a:p>
            <a:pPr marL="0" indent="0">
              <a:buNone/>
            </a:pPr>
            <a:r>
              <a:rPr lang="en-US" sz="2000" dirty="0"/>
              <a:t>context words → look up embeddings → average → predict center word</a:t>
            </a:r>
          </a:p>
          <a:p>
            <a:pPr marL="0" indent="0">
              <a:buNone/>
            </a:pPr>
            <a:endParaRPr lang="en-US" sz="1000" dirty="0"/>
          </a:p>
          <a:p>
            <a:pPr marL="0" indent="0">
              <a:buNone/>
            </a:pPr>
            <a:r>
              <a:rPr lang="en-US" sz="2000" b="1" dirty="0">
                <a:solidFill>
                  <a:srgbClr val="4472C4"/>
                </a:solidFill>
              </a:rPr>
              <a:t>Example: </a:t>
            </a:r>
            <a:r>
              <a:rPr lang="en-US" sz="2000" dirty="0"/>
              <a:t>“A man [?] down the street” → predict “strolls”</a:t>
            </a:r>
          </a:p>
          <a:p>
            <a:pPr marL="0" indent="0">
              <a:buNone/>
            </a:pPr>
            <a:r>
              <a:rPr lang="en-US" sz="2000" dirty="0"/>
              <a:t>v(center) ≈ average( v(A), v(man), v(down), v(the), v(street) )</a:t>
            </a:r>
          </a:p>
          <a:p>
            <a:pPr marL="0" indent="0">
              <a:buNone/>
            </a:pPr>
            <a:endParaRPr lang="en-US" sz="1000" dirty="0"/>
          </a:p>
          <a:p>
            <a:pPr marL="0" indent="0">
              <a:buNone/>
            </a:pPr>
            <a:r>
              <a:rPr lang="en-US" sz="2000" b="1" dirty="0"/>
              <a:t>Properties: </a:t>
            </a:r>
            <a:r>
              <a:rPr lang="en-US" sz="2000" dirty="0"/>
              <a:t>Faster to train than skip-gram; works well for frequent words</a:t>
            </a:r>
          </a:p>
        </p:txBody>
      </p:sp>
    </p:spTree>
    <p:extLst>
      <p:ext uri="{BB962C8B-B14F-4D97-AF65-F5344CB8AC3E}">
        <p14:creationId xmlns:p14="http://schemas.microsoft.com/office/powerpoint/2010/main" val="4200147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93E0-D55C-353C-035F-7F374D1DB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6786A-62F7-C596-9523-17E338C59B01}"/>
              </a:ext>
            </a:extLst>
          </p:cNvPr>
          <p:cNvSpPr>
            <a:spLocks noGrp="1"/>
          </p:cNvSpPr>
          <p:nvPr>
            <p:ph type="title"/>
          </p:nvPr>
        </p:nvSpPr>
        <p:spPr/>
        <p:txBody>
          <a:bodyPr/>
          <a:lstStyle/>
          <a:p>
            <a:r>
              <a:rPr lang="en-US" dirty="0"/>
              <a:t>Variation 2: negative sampling</a:t>
            </a:r>
          </a:p>
        </p:txBody>
      </p:sp>
      <p:sp>
        <p:nvSpPr>
          <p:cNvPr id="3" name="Content Placeholder 2">
            <a:extLst>
              <a:ext uri="{FF2B5EF4-FFF2-40B4-BE49-F238E27FC236}">
                <a16:creationId xmlns:a16="http://schemas.microsoft.com/office/drawing/2014/main" id="{70F7A9BD-85C0-C03F-3D3E-417A51361482}"/>
              </a:ext>
            </a:extLst>
          </p:cNvPr>
          <p:cNvSpPr>
            <a:spLocks noGrp="1"/>
          </p:cNvSpPr>
          <p:nvPr>
            <p:ph idx="1"/>
          </p:nvPr>
        </p:nvSpPr>
        <p:spPr>
          <a:xfrm>
            <a:off x="838200" y="1575254"/>
            <a:ext cx="10515600" cy="4351339"/>
          </a:xfrm>
        </p:spPr>
        <p:txBody>
          <a:bodyPr/>
          <a:lstStyle/>
          <a:p>
            <a:pPr marL="0" indent="0">
              <a:buNone/>
            </a:pPr>
            <a:r>
              <a:rPr lang="en-US" sz="2000" b="1" dirty="0"/>
              <a:t>Skip-gram with Negative Sampling (Mikolov et al., 2013)</a:t>
            </a:r>
          </a:p>
          <a:p>
            <a:pPr marL="0" indent="0">
              <a:buNone/>
            </a:pPr>
            <a:endParaRPr lang="en-US" sz="900" dirty="0"/>
          </a:p>
          <a:p>
            <a:pPr marL="0" indent="0">
              <a:buNone/>
            </a:pPr>
            <a:r>
              <a:rPr lang="en-US" sz="1800" b="1" dirty="0"/>
              <a:t>Goal: </a:t>
            </a:r>
            <a:r>
              <a:rPr lang="en-US" sz="1800" dirty="0"/>
              <a:t>Given a center word, predict which context words are real vs. noise</a:t>
            </a:r>
          </a:p>
          <a:p>
            <a:pPr marL="0" indent="0">
              <a:buNone/>
            </a:pPr>
            <a:endParaRPr lang="en-US" sz="900" dirty="0"/>
          </a:p>
          <a:p>
            <a:pPr marL="0" indent="0">
              <a:buNone/>
            </a:pPr>
            <a:r>
              <a:rPr lang="en-US" sz="1800" b="1" dirty="0"/>
              <a:t>Training:</a:t>
            </a:r>
          </a:p>
          <a:p>
            <a:pPr marL="0" indent="0">
              <a:buNone/>
            </a:pPr>
            <a:r>
              <a:rPr lang="en-US" sz="1800" dirty="0"/>
              <a:t>For each real pair (target, context), sample k “noise” words at random</a:t>
            </a:r>
          </a:p>
          <a:p>
            <a:pPr marL="0" indent="0">
              <a:buNone/>
            </a:pPr>
            <a:r>
              <a:rPr lang="en-US" sz="1800" dirty="0"/>
              <a:t>Binary classification: is this a real pair or a noise pair?</a:t>
            </a:r>
          </a:p>
          <a:p>
            <a:pPr marL="0" indent="0">
              <a:buNone/>
            </a:pPr>
            <a:endParaRPr lang="en-US" sz="900" dirty="0"/>
          </a:p>
          <a:p>
            <a:pPr marL="0" indent="0">
              <a:buNone/>
            </a:pPr>
            <a:r>
              <a:rPr lang="en-US" sz="1800" b="1" dirty="0"/>
              <a:t>Prediction: </a:t>
            </a:r>
            <a:r>
              <a:rPr lang="en-US" sz="1800" dirty="0">
                <a:solidFill>
                  <a:srgbClr val="4472C4"/>
                </a:solidFill>
              </a:rPr>
              <a:t>p(real) = σ( v</a:t>
            </a:r>
            <a:r>
              <a:rPr lang="en-US" sz="1800" baseline="-25000" dirty="0">
                <a:solidFill>
                  <a:srgbClr val="4472C4"/>
                </a:solidFill>
              </a:rPr>
              <a:t>target</a:t>
            </a:r>
            <a:r>
              <a:rPr lang="en-US" sz="1800" dirty="0">
                <a:solidFill>
                  <a:srgbClr val="4472C4"/>
                </a:solidFill>
              </a:rPr>
              <a:t> · v</a:t>
            </a:r>
            <a:r>
              <a:rPr lang="en-US" sz="1800" baseline="-25000" dirty="0">
                <a:solidFill>
                  <a:srgbClr val="4472C4"/>
                </a:solidFill>
              </a:rPr>
              <a:t>context</a:t>
            </a:r>
            <a:r>
              <a:rPr lang="en-US" sz="1800" dirty="0">
                <a:solidFill>
                  <a:srgbClr val="4472C4"/>
                </a:solidFill>
              </a:rPr>
              <a:t> )</a:t>
            </a:r>
          </a:p>
          <a:p>
            <a:pPr marL="0" indent="0">
              <a:buNone/>
            </a:pPr>
            <a:endParaRPr lang="en-US" sz="900" dirty="0"/>
          </a:p>
          <a:p>
            <a:pPr marL="0" indent="0">
              <a:buNone/>
            </a:pPr>
            <a:r>
              <a:rPr lang="en-US" sz="1800" b="1" dirty="0"/>
              <a:t>Key advantage: </a:t>
            </a:r>
            <a:r>
              <a:rPr lang="en-US" sz="1800" dirty="0"/>
              <a:t>Only need k+1 outputs per example (not full V-word softmax)</a:t>
            </a:r>
          </a:p>
          <a:p>
            <a:pPr marL="0" indent="0">
              <a:buNone/>
            </a:pPr>
            <a:r>
              <a:rPr lang="en-US" sz="1800" dirty="0"/>
              <a:t>Works better than CBOW for rare words and larger datasets</a:t>
            </a:r>
          </a:p>
        </p:txBody>
      </p:sp>
    </p:spTree>
    <p:extLst>
      <p:ext uri="{BB962C8B-B14F-4D97-AF65-F5344CB8AC3E}">
        <p14:creationId xmlns:p14="http://schemas.microsoft.com/office/powerpoint/2010/main" val="3020235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64007-AEDD-B76B-1F40-A7607AE2EA58}"/>
              </a:ext>
            </a:extLst>
          </p:cNvPr>
          <p:cNvSpPr>
            <a:spLocks noGrp="1"/>
          </p:cNvSpPr>
          <p:nvPr>
            <p:ph type="title"/>
          </p:nvPr>
        </p:nvSpPr>
        <p:spPr/>
        <p:txBody>
          <a:bodyPr/>
          <a:lstStyle/>
          <a:p>
            <a:r>
              <a:rPr lang="en-US" dirty="0"/>
              <a:t>Variation 3: factor the co-occurrence matrix</a:t>
            </a:r>
          </a:p>
        </p:txBody>
      </p:sp>
      <p:sp>
        <p:nvSpPr>
          <p:cNvPr id="3" name="Content Placeholder 2">
            <a:extLst>
              <a:ext uri="{FF2B5EF4-FFF2-40B4-BE49-F238E27FC236}">
                <a16:creationId xmlns:a16="http://schemas.microsoft.com/office/drawing/2014/main" id="{AB00BB00-26AC-E7E8-202B-95DF2D890605}"/>
              </a:ext>
            </a:extLst>
          </p:cNvPr>
          <p:cNvSpPr>
            <a:spLocks noGrp="1"/>
          </p:cNvSpPr>
          <p:nvPr>
            <p:ph idx="1"/>
          </p:nvPr>
        </p:nvSpPr>
        <p:spPr>
          <a:xfrm>
            <a:off x="838200" y="1850572"/>
            <a:ext cx="10515600" cy="3988935"/>
          </a:xfrm>
        </p:spPr>
        <p:txBody>
          <a:bodyPr/>
          <a:lstStyle/>
          <a:p>
            <a:pPr marL="0" indent="0">
              <a:buNone/>
            </a:pPr>
            <a:r>
              <a:rPr lang="en-US" sz="2000" b="1" dirty="0"/>
              <a:t>Step 1: Build a co-occurrence matrix M</a:t>
            </a:r>
          </a:p>
          <a:p>
            <a:pPr marL="0" indent="0">
              <a:buNone/>
            </a:pPr>
            <a:r>
              <a:rPr lang="en-US" sz="1800" dirty="0"/>
              <a:t>M is V x V, where M[i,j] = count of times word i appears near word j in the corpus</a:t>
            </a:r>
          </a:p>
          <a:p>
            <a:pPr marL="0" indent="0">
              <a:buNone/>
            </a:pPr>
            <a:endParaRPr lang="en-US" sz="1050" dirty="0"/>
          </a:p>
          <a:p>
            <a:pPr marL="0" indent="0">
              <a:buNone/>
            </a:pPr>
            <a:r>
              <a:rPr lang="en-US" sz="2000" b="1" dirty="0"/>
              <a:t>Step 2: Factor using truncated SVD</a:t>
            </a:r>
          </a:p>
          <a:p>
            <a:pPr marL="0" indent="0">
              <a:buNone/>
            </a:pPr>
            <a:r>
              <a:rPr lang="en-US" b="1" dirty="0">
                <a:solidFill>
                  <a:srgbClr val="4472C4"/>
                </a:solidFill>
              </a:rPr>
              <a:t>M  ≈  U</a:t>
            </a:r>
            <a:r>
              <a:rPr lang="en-US" b="1" baseline="-25000" dirty="0">
                <a:solidFill>
                  <a:srgbClr val="4472C4"/>
                </a:solidFill>
              </a:rPr>
              <a:t>d</a:t>
            </a:r>
            <a:r>
              <a:rPr lang="en-US" b="1" dirty="0">
                <a:solidFill>
                  <a:srgbClr val="4472C4"/>
                </a:solidFill>
              </a:rPr>
              <a:t>  Σ</a:t>
            </a:r>
            <a:r>
              <a:rPr lang="en-US" b="1" baseline="-25000" dirty="0">
                <a:solidFill>
                  <a:srgbClr val="4472C4"/>
                </a:solidFill>
              </a:rPr>
              <a:t>d</a:t>
            </a:r>
            <a:r>
              <a:rPr lang="en-US" b="1" dirty="0">
                <a:solidFill>
                  <a:srgbClr val="4472C4"/>
                </a:solidFill>
              </a:rPr>
              <a:t>  V</a:t>
            </a:r>
            <a:r>
              <a:rPr lang="en-US" b="1" baseline="-25000" dirty="0">
                <a:solidFill>
                  <a:srgbClr val="4472C4"/>
                </a:solidFill>
              </a:rPr>
              <a:t>d</a:t>
            </a:r>
            <a:r>
              <a:rPr lang="en-US" b="1" baseline="30000" dirty="0">
                <a:solidFill>
                  <a:srgbClr val="4472C4"/>
                </a:solidFill>
              </a:rPr>
              <a:t>T</a:t>
            </a:r>
          </a:p>
          <a:p>
            <a:pPr marL="0" indent="0">
              <a:buNone/>
            </a:pPr>
            <a:r>
              <a:rPr lang="en-US" sz="1800" dirty="0"/>
              <a:t>Keep only the top d singular values (d &lt;&lt; V)</a:t>
            </a:r>
          </a:p>
          <a:p>
            <a:pPr marL="0" indent="0">
              <a:buNone/>
            </a:pPr>
            <a:endParaRPr lang="en-US" sz="1050" dirty="0"/>
          </a:p>
          <a:p>
            <a:pPr marL="0" indent="0">
              <a:buNone/>
            </a:pPr>
            <a:r>
              <a:rPr lang="en-US" sz="2000" b="1" dirty="0"/>
              <a:t>Step 3: Extract word vectors</a:t>
            </a:r>
          </a:p>
          <a:p>
            <a:pPr marL="0" indent="0">
              <a:buNone/>
            </a:pPr>
            <a:r>
              <a:rPr lang="en-US" sz="1800" dirty="0"/>
              <a:t>Word vector for word i = row i of U</a:t>
            </a:r>
            <a:r>
              <a:rPr lang="en-US" sz="1800" baseline="-25000" dirty="0"/>
              <a:t>d</a:t>
            </a:r>
            <a:r>
              <a:rPr lang="en-US" sz="1800" dirty="0"/>
              <a:t> (or U</a:t>
            </a:r>
            <a:r>
              <a:rPr lang="en-US" sz="1800" baseline="-25000" dirty="0"/>
              <a:t>d</a:t>
            </a:r>
            <a:r>
              <a:rPr lang="en-US" sz="1800" dirty="0"/>
              <a:t>Σ</a:t>
            </a:r>
            <a:r>
              <a:rPr lang="en-US" sz="1800" baseline="-25000" dirty="0"/>
              <a:t>d</a:t>
            </a:r>
            <a:r>
              <a:rPr lang="en-US" sz="1800" dirty="0"/>
              <a:t>)</a:t>
            </a:r>
          </a:p>
          <a:p>
            <a:pPr marL="0" indent="0">
              <a:buNone/>
            </a:pPr>
            <a:r>
              <a:rPr lang="en-US" sz="1800" dirty="0"/>
              <a:t>A compact d-dimensional representation that captures co-occurrence structure</a:t>
            </a:r>
          </a:p>
        </p:txBody>
      </p:sp>
    </p:spTree>
    <p:extLst>
      <p:ext uri="{BB962C8B-B14F-4D97-AF65-F5344CB8AC3E}">
        <p14:creationId xmlns:p14="http://schemas.microsoft.com/office/powerpoint/2010/main" val="3939077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3E1E-0D46-B6FA-0A0D-D8CA72E2B411}"/>
              </a:ext>
            </a:extLst>
          </p:cNvPr>
          <p:cNvSpPr>
            <a:spLocks noGrp="1"/>
          </p:cNvSpPr>
          <p:nvPr>
            <p:ph type="title"/>
          </p:nvPr>
        </p:nvSpPr>
        <p:spPr/>
        <p:txBody>
          <a:bodyPr/>
          <a:lstStyle/>
          <a:p>
            <a:r>
              <a:rPr lang="en-US" dirty="0"/>
              <a:t>Important detail: embeddings have norm 1</a:t>
            </a:r>
          </a:p>
        </p:txBody>
      </p:sp>
      <p:sp>
        <p:nvSpPr>
          <p:cNvPr id="3" name="Content Placeholder 2">
            <a:extLst>
              <a:ext uri="{FF2B5EF4-FFF2-40B4-BE49-F238E27FC236}">
                <a16:creationId xmlns:a16="http://schemas.microsoft.com/office/drawing/2014/main" id="{2074978A-5CAB-635D-99F7-D92F8681C22F}"/>
              </a:ext>
            </a:extLst>
          </p:cNvPr>
          <p:cNvSpPr>
            <a:spLocks noGrp="1"/>
          </p:cNvSpPr>
          <p:nvPr>
            <p:ph idx="1"/>
          </p:nvPr>
        </p:nvSpPr>
        <p:spPr>
          <a:xfrm>
            <a:off x="838200" y="1597025"/>
            <a:ext cx="10515600" cy="4351339"/>
          </a:xfrm>
        </p:spPr>
        <p:txBody>
          <a:bodyPr/>
          <a:lstStyle/>
          <a:p>
            <a:pPr marL="0" indent="0">
              <a:buNone/>
            </a:pPr>
            <a:r>
              <a:rPr lang="en-US" sz="2000" b="1" dirty="0"/>
              <a:t>Constraint: ‖v‖ ≤ 1 (often normalized so ‖v‖ = 1)</a:t>
            </a:r>
          </a:p>
          <a:p>
            <a:pPr marL="0" indent="0">
              <a:buNone/>
            </a:pPr>
            <a:endParaRPr lang="en-US" sz="900" dirty="0"/>
          </a:p>
          <a:p>
            <a:pPr marL="0" indent="0">
              <a:buNone/>
            </a:pPr>
            <a:r>
              <a:rPr lang="en-US" sz="1800" b="1" dirty="0"/>
              <a:t>Why constrain the norm?</a:t>
            </a:r>
          </a:p>
          <a:p>
            <a:pPr marL="457200" indent="-228600">
              <a:buChar char="•"/>
            </a:pPr>
            <a:r>
              <a:rPr lang="en-US" sz="1800" dirty="0"/>
              <a:t>Without constraint, embeddings can grow arbitrarily large during training</a:t>
            </a:r>
          </a:p>
          <a:p>
            <a:pPr marL="457200" indent="-228600">
              <a:buChar char="•"/>
            </a:pPr>
            <a:r>
              <a:rPr lang="en-US" sz="1800" dirty="0"/>
              <a:t>Large norms dominate similarity calculations regardless of direction</a:t>
            </a:r>
          </a:p>
          <a:p>
            <a:pPr marL="457200" indent="-228600">
              <a:buChar char="•"/>
            </a:pPr>
            <a:r>
              <a:rPr lang="en-US" sz="1800" dirty="0"/>
              <a:t>We want similarity to reflect meaning (direction), not magnitude</a:t>
            </a:r>
          </a:p>
          <a:p>
            <a:pPr marL="0" indent="0">
              <a:buNone/>
            </a:pPr>
            <a:endParaRPr lang="en-US" sz="900" dirty="0"/>
          </a:p>
          <a:p>
            <a:pPr marL="0" indent="0">
              <a:buNone/>
            </a:pPr>
            <a:r>
              <a:rPr lang="en-US" sz="1800" b="1" dirty="0"/>
              <a:t>Key benefit:</a:t>
            </a:r>
          </a:p>
          <a:p>
            <a:pPr marL="0" indent="0">
              <a:buNone/>
            </a:pPr>
            <a:r>
              <a:rPr lang="en-US" sz="1800" dirty="0"/>
              <a:t>With unit norm, </a:t>
            </a:r>
            <a:r>
              <a:rPr lang="en-US" sz="1800" b="1" dirty="0">
                <a:solidFill>
                  <a:srgbClr val="4472C4"/>
                </a:solidFill>
              </a:rPr>
              <a:t>cosine similarity = dot product</a:t>
            </a:r>
          </a:p>
          <a:p>
            <a:pPr marL="0" indent="0">
              <a:buNone/>
            </a:pPr>
            <a:r>
              <a:rPr lang="en-US" sz="1800" dirty="0">
                <a:solidFill>
                  <a:srgbClr val="4472C4"/>
                </a:solidFill>
              </a:rPr>
              <a:t>cos(a, b) = a · b / (‖a‖ · ‖b‖) = a · b    (when ‖a‖ = ‖b‖ = 1)</a:t>
            </a:r>
          </a:p>
          <a:p>
            <a:pPr marL="0" indent="0">
              <a:buNone/>
            </a:pPr>
            <a:endParaRPr lang="en-US" sz="900" dirty="0"/>
          </a:p>
          <a:p>
            <a:pPr marL="0" indent="0">
              <a:buNone/>
            </a:pPr>
            <a:r>
              <a:rPr lang="en-US" sz="1800" dirty="0"/>
              <a:t>All embeddings lie on the surface of a unit sphere in d-dimensional space</a:t>
            </a:r>
          </a:p>
        </p:txBody>
      </p:sp>
    </p:spTree>
    <p:extLst>
      <p:ext uri="{BB962C8B-B14F-4D97-AF65-F5344CB8AC3E}">
        <p14:creationId xmlns:p14="http://schemas.microsoft.com/office/powerpoint/2010/main" val="4061778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04BA-2B1C-8D4A-9D8E-8B8640CF2B2A}"/>
              </a:ext>
            </a:extLst>
          </p:cNvPr>
          <p:cNvSpPr>
            <a:spLocks noGrp="1"/>
          </p:cNvSpPr>
          <p:nvPr>
            <p:ph type="title"/>
          </p:nvPr>
        </p:nvSpPr>
        <p:spPr/>
        <p:txBody>
          <a:bodyPr>
            <a:normAutofit/>
          </a:bodyPr>
          <a:lstStyle/>
          <a:p>
            <a:r>
              <a:rPr lang="en-US" dirty="0"/>
              <a:t>What can we do with word embeddings…</a:t>
            </a:r>
          </a:p>
        </p:txBody>
      </p:sp>
      <p:sp>
        <p:nvSpPr>
          <p:cNvPr id="3" name="Text Placeholder 2">
            <a:extLst>
              <a:ext uri="{FF2B5EF4-FFF2-40B4-BE49-F238E27FC236}">
                <a16:creationId xmlns:a16="http://schemas.microsoft.com/office/drawing/2014/main" id="{13A6791F-1ACA-C440-B5F4-B9EC9E29B709}"/>
              </a:ext>
            </a:extLst>
          </p:cNvPr>
          <p:cNvSpPr>
            <a:spLocks noGrp="1"/>
          </p:cNvSpPr>
          <p:nvPr>
            <p:ph type="body" idx="1"/>
          </p:nvPr>
        </p:nvSpPr>
        <p:spPr/>
        <p:txBody>
          <a:bodyPr/>
          <a:lstStyle/>
          <a:p>
            <a:r>
              <a:rPr lang="en-US" dirty="0"/>
              <a:t>…to learn to extract increasingly complex aspects of meaning</a:t>
            </a:r>
          </a:p>
        </p:txBody>
      </p:sp>
    </p:spTree>
    <p:extLst>
      <p:ext uri="{BB962C8B-B14F-4D97-AF65-F5344CB8AC3E}">
        <p14:creationId xmlns:p14="http://schemas.microsoft.com/office/powerpoint/2010/main" val="5358362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EB584-3794-5474-143B-0ACB07E51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3F4E0-02EF-1177-9974-150C3494F1F4}"/>
              </a:ext>
            </a:extLst>
          </p:cNvPr>
          <p:cNvSpPr>
            <a:spLocks noGrp="1"/>
          </p:cNvSpPr>
          <p:nvPr>
            <p:ph type="title"/>
          </p:nvPr>
        </p:nvSpPr>
        <p:spPr/>
        <p:txBody>
          <a:bodyPr/>
          <a:lstStyle/>
          <a:p>
            <a:r>
              <a:rPr lang="en-US" dirty="0"/>
              <a:t>Useful feature 1: retrieval</a:t>
            </a:r>
          </a:p>
        </p:txBody>
      </p:sp>
      <p:sp>
        <p:nvSpPr>
          <p:cNvPr id="3" name="Content Placeholder 2">
            <a:extLst>
              <a:ext uri="{FF2B5EF4-FFF2-40B4-BE49-F238E27FC236}">
                <a16:creationId xmlns:a16="http://schemas.microsoft.com/office/drawing/2014/main" id="{D07D87B8-4617-6D3D-FA78-A7F46B483E83}"/>
              </a:ext>
            </a:extLst>
          </p:cNvPr>
          <p:cNvSpPr>
            <a:spLocks noGrp="1"/>
          </p:cNvSpPr>
          <p:nvPr>
            <p:ph idx="1"/>
          </p:nvPr>
        </p:nvSpPr>
        <p:spPr>
          <a:xfrm>
            <a:off x="838200" y="1690688"/>
            <a:ext cx="10515600" cy="5062642"/>
          </a:xfrm>
        </p:spPr>
        <p:txBody>
          <a:bodyPr/>
          <a:lstStyle/>
          <a:p>
            <a:r>
              <a:rPr lang="en-US" dirty="0"/>
              <a:t>We wish to use embeddings to find words that have similar meaning to a given word</a:t>
            </a:r>
          </a:p>
          <a:p>
            <a:endParaRPr lang="en-US" dirty="0"/>
          </a:p>
          <a:p>
            <a:r>
              <a:rPr lang="en-US" dirty="0"/>
              <a:t>Step 1: obtain the embedding for a word of interest</a:t>
            </a:r>
          </a:p>
          <a:p>
            <a:r>
              <a:rPr lang="en-US" dirty="0"/>
              <a:t>Step 2: calculate cosine similarity with all other words in the vocabulary</a:t>
            </a:r>
          </a:p>
          <a:p>
            <a:endParaRPr lang="en-US" dirty="0"/>
          </a:p>
          <a:p>
            <a:r>
              <a:rPr lang="en-US" dirty="0"/>
              <a:t>Consider: why can’t we do retrieval with our one-hot representations?</a:t>
            </a:r>
          </a:p>
        </p:txBody>
      </p:sp>
    </p:spTree>
    <p:extLst>
      <p:ext uri="{BB962C8B-B14F-4D97-AF65-F5344CB8AC3E}">
        <p14:creationId xmlns:p14="http://schemas.microsoft.com/office/powerpoint/2010/main" val="3657234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CF95-43DA-264A-B38E-BD98E500861C}"/>
              </a:ext>
            </a:extLst>
          </p:cNvPr>
          <p:cNvSpPr>
            <a:spLocks noGrp="1"/>
          </p:cNvSpPr>
          <p:nvPr>
            <p:ph type="title"/>
          </p:nvPr>
        </p:nvSpPr>
        <p:spPr>
          <a:xfrm>
            <a:off x="217714" y="390518"/>
            <a:ext cx="11974286" cy="752481"/>
          </a:xfrm>
        </p:spPr>
        <p:txBody>
          <a:bodyPr>
            <a:noAutofit/>
          </a:bodyPr>
          <a:lstStyle/>
          <a:p>
            <a:r>
              <a:rPr lang="en-US" sz="4000" dirty="0"/>
              <a:t>Useful feature 2: applying existing models</a:t>
            </a:r>
          </a:p>
        </p:txBody>
      </p:sp>
      <p:sp>
        <p:nvSpPr>
          <p:cNvPr id="3" name="Content Placeholder 2">
            <a:extLst>
              <a:ext uri="{FF2B5EF4-FFF2-40B4-BE49-F238E27FC236}">
                <a16:creationId xmlns:a16="http://schemas.microsoft.com/office/drawing/2014/main" id="{51322223-D0C8-6644-A01C-7C0BE1C48093}"/>
              </a:ext>
            </a:extLst>
          </p:cNvPr>
          <p:cNvSpPr>
            <a:spLocks noGrp="1"/>
          </p:cNvSpPr>
          <p:nvPr>
            <p:ph idx="1"/>
          </p:nvPr>
        </p:nvSpPr>
        <p:spPr>
          <a:xfrm>
            <a:off x="609600" y="1143000"/>
            <a:ext cx="10972800" cy="968008"/>
          </a:xfrm>
        </p:spPr>
        <p:txBody>
          <a:bodyPr>
            <a:normAutofit/>
          </a:bodyPr>
          <a:lstStyle/>
          <a:p>
            <a:r>
              <a:rPr lang="en-US" sz="2400" dirty="0"/>
              <a:t>Look up words individually to obtain their vectors</a:t>
            </a:r>
          </a:p>
          <a:p>
            <a:r>
              <a:rPr lang="en-US" sz="2400" dirty="0"/>
              <a:t>Construct a sequence of vectors</a:t>
            </a:r>
          </a:p>
        </p:txBody>
      </p:sp>
      <p:sp>
        <p:nvSpPr>
          <p:cNvPr id="5" name="TextBox 4"/>
          <p:cNvSpPr txBox="1"/>
          <p:nvPr/>
        </p:nvSpPr>
        <p:spPr>
          <a:xfrm>
            <a:off x="2391168" y="2249293"/>
            <a:ext cx="5846280" cy="584775"/>
          </a:xfrm>
          <a:prstGeom prst="rect">
            <a:avLst/>
          </a:prstGeom>
          <a:noFill/>
        </p:spPr>
        <p:txBody>
          <a:bodyPr wrap="none" rtlCol="0">
            <a:spAutoFit/>
          </a:bodyPr>
          <a:lstStyle/>
          <a:p>
            <a:r>
              <a:rPr lang="en-US" sz="3200" dirty="0"/>
              <a:t>This 		is 			a 			sentence</a:t>
            </a:r>
          </a:p>
        </p:txBody>
      </p:sp>
      <p:graphicFrame>
        <p:nvGraphicFramePr>
          <p:cNvPr id="7" name="Table 6"/>
          <p:cNvGraphicFramePr>
            <a:graphicFrameLocks noGrp="1"/>
          </p:cNvGraphicFramePr>
          <p:nvPr/>
        </p:nvGraphicFramePr>
        <p:xfrm>
          <a:off x="2307281"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8" name="Table 7"/>
          <p:cNvGraphicFramePr>
            <a:graphicFrameLocks noGrp="1"/>
          </p:cNvGraphicFramePr>
          <p:nvPr/>
        </p:nvGraphicFramePr>
        <p:xfrm>
          <a:off x="4083529"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9" name="Table 8"/>
          <p:cNvGraphicFramePr>
            <a:graphicFrameLocks noGrp="1"/>
          </p:cNvGraphicFramePr>
          <p:nvPr/>
        </p:nvGraphicFramePr>
        <p:xfrm>
          <a:off x="5958927"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0" name="Table 9"/>
          <p:cNvGraphicFramePr>
            <a:graphicFrameLocks noGrp="1"/>
          </p:cNvGraphicFramePr>
          <p:nvPr/>
        </p:nvGraphicFramePr>
        <p:xfrm>
          <a:off x="7742807"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13" name="Straight Arrow Connector 12"/>
          <p:cNvCxnSpPr/>
          <p:nvPr/>
        </p:nvCxnSpPr>
        <p:spPr>
          <a:xfrm>
            <a:off x="2572719"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a:off x="4352441"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6227736"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8010041"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C32AC06-632F-43A5-BCC3-B6853BF55ED1}"/>
              </a:ext>
            </a:extLst>
          </p:cNvPr>
          <p:cNvSpPr txBox="1"/>
          <p:nvPr/>
        </p:nvSpPr>
        <p:spPr>
          <a:xfrm>
            <a:off x="609602" y="4259199"/>
            <a:ext cx="543479" cy="522772"/>
          </a:xfrm>
          <a:prstGeom prst="rect">
            <a:avLst/>
          </a:prstGeom>
          <a:noFill/>
        </p:spPr>
        <p:txBody>
          <a:bodyPr wrap="square" rtlCol="0">
            <a:spAutoFit/>
          </a:bodyPr>
          <a:lstStyle/>
          <a:p>
            <a:r>
              <a:rPr lang="en-US" sz="2797" i="1" dirty="0">
                <a:solidFill>
                  <a:schemeClr val="accent1"/>
                </a:solidFill>
                <a:latin typeface="Times New Roman" panose="02020603050405020304" pitchFamily="18" charset="0"/>
                <a:cs typeface="Times New Roman" panose="02020603050405020304" pitchFamily="18" charset="0"/>
              </a:rPr>
              <a:t>x</a:t>
            </a:r>
            <a:r>
              <a:rPr lang="en-US" sz="2797" i="1" baseline="-25000" dirty="0">
                <a:solidFill>
                  <a:schemeClr val="accent1"/>
                </a:solidFill>
                <a:latin typeface="Times New Roman" panose="02020603050405020304" pitchFamily="18" charset="0"/>
                <a:cs typeface="Times New Roman" panose="02020603050405020304" pitchFamily="18" charset="0"/>
              </a:rPr>
              <a:t>i</a:t>
            </a:r>
            <a:endParaRPr lang="en-US" sz="2797" baseline="-25000" dirty="0">
              <a:solidFill>
                <a:schemeClr val="accent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2105188" y="3184585"/>
            <a:ext cx="6362409" cy="3194775"/>
          </a:xfrm>
          <a:prstGeom prst="rect">
            <a:avLst/>
          </a:prstGeom>
          <a:noFill/>
          <a:ln>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 name="Straight Connector 22"/>
          <p:cNvCxnSpPr>
            <a:stCxn id="19" idx="3"/>
          </p:cNvCxnSpPr>
          <p:nvPr/>
        </p:nvCxnSpPr>
        <p:spPr>
          <a:xfrm>
            <a:off x="1153081" y="4520585"/>
            <a:ext cx="952106" cy="0"/>
          </a:xfrm>
          <a:prstGeom prst="line">
            <a:avLst/>
          </a:prstGeom>
          <a:ln>
            <a:solidFill>
              <a:schemeClr val="tx2">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3250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CF95-43DA-264A-B38E-BD98E500861C}"/>
              </a:ext>
            </a:extLst>
          </p:cNvPr>
          <p:cNvSpPr>
            <a:spLocks noGrp="1"/>
          </p:cNvSpPr>
          <p:nvPr>
            <p:ph type="title"/>
          </p:nvPr>
        </p:nvSpPr>
        <p:spPr>
          <a:xfrm>
            <a:off x="0" y="0"/>
            <a:ext cx="12192000" cy="1143000"/>
          </a:xfrm>
        </p:spPr>
        <p:txBody>
          <a:bodyPr>
            <a:noAutofit/>
          </a:bodyPr>
          <a:lstStyle/>
          <a:p>
            <a:r>
              <a:rPr lang="en-US" sz="4000" dirty="0"/>
              <a:t>What happens when we embed all words in a sentence?</a:t>
            </a:r>
          </a:p>
        </p:txBody>
      </p:sp>
      <p:sp>
        <p:nvSpPr>
          <p:cNvPr id="3" name="Content Placeholder 2">
            <a:extLst>
              <a:ext uri="{FF2B5EF4-FFF2-40B4-BE49-F238E27FC236}">
                <a16:creationId xmlns:a16="http://schemas.microsoft.com/office/drawing/2014/main" id="{51322223-D0C8-6644-A01C-7C0BE1C48093}"/>
              </a:ext>
            </a:extLst>
          </p:cNvPr>
          <p:cNvSpPr>
            <a:spLocks noGrp="1"/>
          </p:cNvSpPr>
          <p:nvPr>
            <p:ph idx="1"/>
          </p:nvPr>
        </p:nvSpPr>
        <p:spPr>
          <a:xfrm>
            <a:off x="609600" y="1143000"/>
            <a:ext cx="10972800" cy="968008"/>
          </a:xfrm>
        </p:spPr>
        <p:txBody>
          <a:bodyPr>
            <a:normAutofit/>
          </a:bodyPr>
          <a:lstStyle/>
          <a:p>
            <a:r>
              <a:rPr lang="en-US" sz="2400" dirty="0"/>
              <a:t>Look up words individually to obtain their vectors</a:t>
            </a:r>
          </a:p>
          <a:p>
            <a:r>
              <a:rPr lang="en-US" sz="2400" dirty="0"/>
              <a:t>Construct a sequence of vectors</a:t>
            </a:r>
          </a:p>
        </p:txBody>
      </p:sp>
      <p:sp>
        <p:nvSpPr>
          <p:cNvPr id="5" name="TextBox 4"/>
          <p:cNvSpPr txBox="1"/>
          <p:nvPr/>
        </p:nvSpPr>
        <p:spPr>
          <a:xfrm>
            <a:off x="2391168" y="2249293"/>
            <a:ext cx="3093924" cy="584775"/>
          </a:xfrm>
          <a:prstGeom prst="rect">
            <a:avLst/>
          </a:prstGeom>
          <a:noFill/>
        </p:spPr>
        <p:txBody>
          <a:bodyPr wrap="none" rtlCol="0">
            <a:spAutoFit/>
          </a:bodyPr>
          <a:lstStyle/>
          <a:p>
            <a:r>
              <a:rPr lang="en-US" sz="3200" dirty="0"/>
              <a:t>This is a sentence</a:t>
            </a:r>
          </a:p>
        </p:txBody>
      </p:sp>
      <p:graphicFrame>
        <p:nvGraphicFramePr>
          <p:cNvPr id="7" name="Table 6"/>
          <p:cNvGraphicFramePr>
            <a:graphicFrameLocks noGrp="1"/>
          </p:cNvGraphicFramePr>
          <p:nvPr/>
        </p:nvGraphicFramePr>
        <p:xfrm>
          <a:off x="2307281"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8" name="Table 7"/>
          <p:cNvGraphicFramePr>
            <a:graphicFrameLocks noGrp="1"/>
          </p:cNvGraphicFramePr>
          <p:nvPr/>
        </p:nvGraphicFramePr>
        <p:xfrm>
          <a:off x="285105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9" name="Table 8"/>
          <p:cNvGraphicFramePr>
            <a:graphicFrameLocks noGrp="1"/>
          </p:cNvGraphicFramePr>
          <p:nvPr/>
        </p:nvGraphicFramePr>
        <p:xfrm>
          <a:off x="339103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0" name="Table 9"/>
          <p:cNvGraphicFramePr>
            <a:graphicFrameLocks noGrp="1"/>
          </p:cNvGraphicFramePr>
          <p:nvPr/>
        </p:nvGraphicFramePr>
        <p:xfrm>
          <a:off x="393101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13" name="Straight Arrow Connector 12"/>
          <p:cNvCxnSpPr/>
          <p:nvPr/>
        </p:nvCxnSpPr>
        <p:spPr>
          <a:xfrm>
            <a:off x="2572719"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p:cNvCxnSpPr>
            <a:cxnSpLocks/>
          </p:cNvCxnSpPr>
          <p:nvPr/>
        </p:nvCxnSpPr>
        <p:spPr>
          <a:xfrm flipH="1">
            <a:off x="3133241" y="2834067"/>
            <a:ext cx="192664"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3708653"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4217971"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C32AC06-632F-43A5-BCC3-B6853BF55ED1}"/>
              </a:ext>
            </a:extLst>
          </p:cNvPr>
          <p:cNvSpPr txBox="1"/>
          <p:nvPr/>
        </p:nvSpPr>
        <p:spPr>
          <a:xfrm>
            <a:off x="609602" y="4259199"/>
            <a:ext cx="543479" cy="522772"/>
          </a:xfrm>
          <a:prstGeom prst="rect">
            <a:avLst/>
          </a:prstGeom>
          <a:noFill/>
        </p:spPr>
        <p:txBody>
          <a:bodyPr wrap="square" rtlCol="0">
            <a:spAutoFit/>
          </a:bodyPr>
          <a:lstStyle/>
          <a:p>
            <a:r>
              <a:rPr lang="en-US" sz="2797" i="1" dirty="0">
                <a:solidFill>
                  <a:schemeClr val="accent1"/>
                </a:solidFill>
                <a:latin typeface="Times New Roman" panose="02020603050405020304" pitchFamily="18" charset="0"/>
                <a:cs typeface="Times New Roman" panose="02020603050405020304" pitchFamily="18" charset="0"/>
              </a:rPr>
              <a:t>x</a:t>
            </a:r>
            <a:r>
              <a:rPr lang="en-US" sz="2797" i="1" baseline="-25000" dirty="0">
                <a:solidFill>
                  <a:schemeClr val="accent1"/>
                </a:solidFill>
                <a:latin typeface="Times New Roman" panose="02020603050405020304" pitchFamily="18" charset="0"/>
                <a:cs typeface="Times New Roman" panose="02020603050405020304" pitchFamily="18" charset="0"/>
              </a:rPr>
              <a:t>i</a:t>
            </a:r>
            <a:endParaRPr lang="en-US" sz="2797" baseline="-25000" dirty="0">
              <a:solidFill>
                <a:schemeClr val="accent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2105188" y="3184585"/>
            <a:ext cx="2484741" cy="3194775"/>
          </a:xfrm>
          <a:prstGeom prst="rect">
            <a:avLst/>
          </a:prstGeom>
          <a:noFill/>
          <a:ln>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 name="Straight Connector 22"/>
          <p:cNvCxnSpPr>
            <a:stCxn id="19" idx="3"/>
          </p:cNvCxnSpPr>
          <p:nvPr/>
        </p:nvCxnSpPr>
        <p:spPr>
          <a:xfrm>
            <a:off x="1153081" y="4520585"/>
            <a:ext cx="952106" cy="0"/>
          </a:xfrm>
          <a:prstGeom prst="line">
            <a:avLst/>
          </a:prstGeom>
          <a:ln>
            <a:solidFill>
              <a:schemeClr val="tx2">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DCD118FE-C494-FF17-CA93-73A8D4C065A7}"/>
              </a:ext>
            </a:extLst>
          </p:cNvPr>
          <p:cNvSpPr txBox="1">
            <a:spLocks/>
          </p:cNvSpPr>
          <p:nvPr/>
        </p:nvSpPr>
        <p:spPr>
          <a:xfrm>
            <a:off x="6391838" y="4051980"/>
            <a:ext cx="4819559" cy="96800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dirty="0"/>
              <a:t>Now we have a grid of numbers</a:t>
            </a:r>
          </a:p>
          <a:p>
            <a:pPr marL="0" indent="0">
              <a:buNone/>
            </a:pPr>
            <a:r>
              <a:rPr lang="en-US" sz="2400" dirty="0"/>
              <a:t>Similar in many ways to an image</a:t>
            </a:r>
          </a:p>
        </p:txBody>
      </p:sp>
    </p:spTree>
    <p:extLst>
      <p:ext uri="{BB962C8B-B14F-4D97-AF65-F5344CB8AC3E}">
        <p14:creationId xmlns:p14="http://schemas.microsoft.com/office/powerpoint/2010/main" val="12029764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6D23-A77B-AC57-1DF4-117833265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8EA73-EB20-FD6D-8FB1-6A32CF2DB84A}"/>
              </a:ext>
            </a:extLst>
          </p:cNvPr>
          <p:cNvSpPr>
            <a:spLocks noGrp="1"/>
          </p:cNvSpPr>
          <p:nvPr>
            <p:ph type="title"/>
          </p:nvPr>
        </p:nvSpPr>
        <p:spPr>
          <a:xfrm>
            <a:off x="0" y="0"/>
            <a:ext cx="12192000" cy="1143000"/>
          </a:xfrm>
        </p:spPr>
        <p:txBody>
          <a:bodyPr>
            <a:noAutofit/>
          </a:bodyPr>
          <a:lstStyle/>
          <a:p>
            <a:r>
              <a:rPr lang="en-US" sz="4000" dirty="0"/>
              <a:t>What happens when we embed all words in a sentence?</a:t>
            </a:r>
          </a:p>
        </p:txBody>
      </p:sp>
      <p:sp>
        <p:nvSpPr>
          <p:cNvPr id="3" name="Content Placeholder 2">
            <a:extLst>
              <a:ext uri="{FF2B5EF4-FFF2-40B4-BE49-F238E27FC236}">
                <a16:creationId xmlns:a16="http://schemas.microsoft.com/office/drawing/2014/main" id="{0814679E-6972-432C-92DC-B037C7FFC0D4}"/>
              </a:ext>
            </a:extLst>
          </p:cNvPr>
          <p:cNvSpPr>
            <a:spLocks noGrp="1"/>
          </p:cNvSpPr>
          <p:nvPr>
            <p:ph idx="1"/>
          </p:nvPr>
        </p:nvSpPr>
        <p:spPr>
          <a:xfrm>
            <a:off x="609600" y="1143000"/>
            <a:ext cx="10972800" cy="968008"/>
          </a:xfrm>
        </p:spPr>
        <p:txBody>
          <a:bodyPr>
            <a:normAutofit/>
          </a:bodyPr>
          <a:lstStyle/>
          <a:p>
            <a:r>
              <a:rPr lang="en-US" sz="2400" dirty="0"/>
              <a:t>Look up words individually to obtain their vectors</a:t>
            </a:r>
          </a:p>
          <a:p>
            <a:r>
              <a:rPr lang="en-US" sz="2400" dirty="0"/>
              <a:t>Construct a sequence of vectors</a:t>
            </a:r>
          </a:p>
        </p:txBody>
      </p:sp>
      <p:sp>
        <p:nvSpPr>
          <p:cNvPr id="5" name="TextBox 4">
            <a:extLst>
              <a:ext uri="{FF2B5EF4-FFF2-40B4-BE49-F238E27FC236}">
                <a16:creationId xmlns:a16="http://schemas.microsoft.com/office/drawing/2014/main" id="{65341CAE-AA73-6F8F-F8C2-64D96D606AE3}"/>
              </a:ext>
            </a:extLst>
          </p:cNvPr>
          <p:cNvSpPr txBox="1"/>
          <p:nvPr/>
        </p:nvSpPr>
        <p:spPr>
          <a:xfrm>
            <a:off x="2391168" y="2249293"/>
            <a:ext cx="3093924" cy="584775"/>
          </a:xfrm>
          <a:prstGeom prst="rect">
            <a:avLst/>
          </a:prstGeom>
          <a:noFill/>
        </p:spPr>
        <p:txBody>
          <a:bodyPr wrap="none" rtlCol="0">
            <a:spAutoFit/>
          </a:bodyPr>
          <a:lstStyle/>
          <a:p>
            <a:r>
              <a:rPr lang="en-US" sz="3200" dirty="0"/>
              <a:t>This is a sentence</a:t>
            </a:r>
          </a:p>
        </p:txBody>
      </p:sp>
      <p:graphicFrame>
        <p:nvGraphicFramePr>
          <p:cNvPr id="7" name="Table 6">
            <a:extLst>
              <a:ext uri="{FF2B5EF4-FFF2-40B4-BE49-F238E27FC236}">
                <a16:creationId xmlns:a16="http://schemas.microsoft.com/office/drawing/2014/main" id="{29720847-03F3-D905-0DD7-7C6D61B11051}"/>
              </a:ext>
            </a:extLst>
          </p:cNvPr>
          <p:cNvGraphicFramePr>
            <a:graphicFrameLocks noGrp="1"/>
          </p:cNvGraphicFramePr>
          <p:nvPr/>
        </p:nvGraphicFramePr>
        <p:xfrm>
          <a:off x="2307281" y="3254008"/>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8" name="Table 7">
            <a:extLst>
              <a:ext uri="{FF2B5EF4-FFF2-40B4-BE49-F238E27FC236}">
                <a16:creationId xmlns:a16="http://schemas.microsoft.com/office/drawing/2014/main" id="{F21E6A83-99F1-6C92-126C-DCEFB8CCAC0A}"/>
              </a:ext>
            </a:extLst>
          </p:cNvPr>
          <p:cNvGraphicFramePr>
            <a:graphicFrameLocks noGrp="1"/>
          </p:cNvGraphicFramePr>
          <p:nvPr/>
        </p:nvGraphicFramePr>
        <p:xfrm>
          <a:off x="285105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9" name="Table 8">
            <a:extLst>
              <a:ext uri="{FF2B5EF4-FFF2-40B4-BE49-F238E27FC236}">
                <a16:creationId xmlns:a16="http://schemas.microsoft.com/office/drawing/2014/main" id="{249AB142-BC9C-F926-319C-AD5C8B91E675}"/>
              </a:ext>
            </a:extLst>
          </p:cNvPr>
          <p:cNvGraphicFramePr>
            <a:graphicFrameLocks noGrp="1"/>
          </p:cNvGraphicFramePr>
          <p:nvPr/>
        </p:nvGraphicFramePr>
        <p:xfrm>
          <a:off x="339103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0" name="Table 9">
            <a:extLst>
              <a:ext uri="{FF2B5EF4-FFF2-40B4-BE49-F238E27FC236}">
                <a16:creationId xmlns:a16="http://schemas.microsoft.com/office/drawing/2014/main" id="{49E43D2F-8DCD-DCBA-A0FB-ADEE21AB974E}"/>
              </a:ext>
            </a:extLst>
          </p:cNvPr>
          <p:cNvGraphicFramePr>
            <a:graphicFrameLocks noGrp="1"/>
          </p:cNvGraphicFramePr>
          <p:nvPr/>
        </p:nvGraphicFramePr>
        <p:xfrm>
          <a:off x="3931010" y="3254007"/>
          <a:ext cx="539980" cy="3055926"/>
        </p:xfrm>
        <a:graphic>
          <a:graphicData uri="http://schemas.openxmlformats.org/drawingml/2006/table">
            <a:tbl>
              <a:tblPr firstRow="1" bandRow="1">
                <a:tableStyleId>{5C22544A-7EE6-4342-B048-85BDC9FD1C3A}</a:tableStyleId>
              </a:tblPr>
              <a:tblGrid>
                <a:gridCol w="539980">
                  <a:extLst>
                    <a:ext uri="{9D8B030D-6E8A-4147-A177-3AD203B41FA5}">
                      <a16:colId xmlns:a16="http://schemas.microsoft.com/office/drawing/2014/main" val="2276462251"/>
                    </a:ext>
                  </a:extLst>
                </a:gridCol>
              </a:tblGrid>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509321">
                <a:tc>
                  <a:txBody>
                    <a:bodyPr/>
                    <a:lstStyle/>
                    <a:p>
                      <a:endParaRPr lang="en-US" sz="13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13" name="Straight Arrow Connector 12">
            <a:extLst>
              <a:ext uri="{FF2B5EF4-FFF2-40B4-BE49-F238E27FC236}">
                <a16:creationId xmlns:a16="http://schemas.microsoft.com/office/drawing/2014/main" id="{C22883B8-A9C2-CDD7-7002-70372602AE14}"/>
              </a:ext>
            </a:extLst>
          </p:cNvPr>
          <p:cNvCxnSpPr/>
          <p:nvPr/>
        </p:nvCxnSpPr>
        <p:spPr>
          <a:xfrm>
            <a:off x="2572719"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02AC07B-45B4-6CD0-E152-7E5742EECFF2}"/>
              </a:ext>
            </a:extLst>
          </p:cNvPr>
          <p:cNvCxnSpPr>
            <a:cxnSpLocks/>
          </p:cNvCxnSpPr>
          <p:nvPr/>
        </p:nvCxnSpPr>
        <p:spPr>
          <a:xfrm flipH="1">
            <a:off x="3133241" y="2834067"/>
            <a:ext cx="192664"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2047E59F-A533-060F-4CC6-E78DBFA64799}"/>
              </a:ext>
            </a:extLst>
          </p:cNvPr>
          <p:cNvCxnSpPr/>
          <p:nvPr/>
        </p:nvCxnSpPr>
        <p:spPr>
          <a:xfrm>
            <a:off x="3708653"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75BAE84C-BF94-239A-76C0-86408DB47955}"/>
              </a:ext>
            </a:extLst>
          </p:cNvPr>
          <p:cNvCxnSpPr/>
          <p:nvPr/>
        </p:nvCxnSpPr>
        <p:spPr>
          <a:xfrm>
            <a:off x="4217971" y="2834067"/>
            <a:ext cx="0" cy="281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B63520C-50D9-77C7-B350-C68B83600760}"/>
              </a:ext>
            </a:extLst>
          </p:cNvPr>
          <p:cNvSpPr txBox="1"/>
          <p:nvPr/>
        </p:nvSpPr>
        <p:spPr>
          <a:xfrm>
            <a:off x="609602" y="4259199"/>
            <a:ext cx="543479" cy="522772"/>
          </a:xfrm>
          <a:prstGeom prst="rect">
            <a:avLst/>
          </a:prstGeom>
          <a:noFill/>
        </p:spPr>
        <p:txBody>
          <a:bodyPr wrap="square" rtlCol="0">
            <a:spAutoFit/>
          </a:bodyPr>
          <a:lstStyle/>
          <a:p>
            <a:r>
              <a:rPr lang="en-US" sz="2797" i="1" dirty="0">
                <a:solidFill>
                  <a:schemeClr val="accent1"/>
                </a:solidFill>
                <a:latin typeface="Times New Roman" panose="02020603050405020304" pitchFamily="18" charset="0"/>
                <a:cs typeface="Times New Roman" panose="02020603050405020304" pitchFamily="18" charset="0"/>
              </a:rPr>
              <a:t>x</a:t>
            </a:r>
            <a:r>
              <a:rPr lang="en-US" sz="2797" i="1" baseline="-25000" dirty="0">
                <a:solidFill>
                  <a:schemeClr val="accent1"/>
                </a:solidFill>
                <a:latin typeface="Times New Roman" panose="02020603050405020304" pitchFamily="18" charset="0"/>
                <a:cs typeface="Times New Roman" panose="02020603050405020304" pitchFamily="18" charset="0"/>
              </a:rPr>
              <a:t>i</a:t>
            </a:r>
            <a:endParaRPr lang="en-US" sz="2797" baseline="-25000" dirty="0">
              <a:solidFill>
                <a:schemeClr val="accent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3BE3CCDB-B679-DA43-D9CD-EDA6F2077024}"/>
              </a:ext>
            </a:extLst>
          </p:cNvPr>
          <p:cNvSpPr/>
          <p:nvPr/>
        </p:nvSpPr>
        <p:spPr>
          <a:xfrm>
            <a:off x="2105188" y="3184585"/>
            <a:ext cx="2484741" cy="3194775"/>
          </a:xfrm>
          <a:prstGeom prst="rect">
            <a:avLst/>
          </a:prstGeom>
          <a:noFill/>
          <a:ln>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E2B79160-DF22-D929-B138-633FA44EF669}"/>
              </a:ext>
            </a:extLst>
          </p:cNvPr>
          <p:cNvCxnSpPr>
            <a:stCxn id="19" idx="3"/>
          </p:cNvCxnSpPr>
          <p:nvPr/>
        </p:nvCxnSpPr>
        <p:spPr>
          <a:xfrm>
            <a:off x="1153081" y="4520585"/>
            <a:ext cx="952106" cy="0"/>
          </a:xfrm>
          <a:prstGeom prst="line">
            <a:avLst/>
          </a:prstGeom>
          <a:ln>
            <a:solidFill>
              <a:schemeClr val="tx2">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0D231B40-AAE7-EA27-48AD-5E769896E699}"/>
              </a:ext>
            </a:extLst>
          </p:cNvPr>
          <p:cNvSpPr txBox="1">
            <a:spLocks/>
          </p:cNvSpPr>
          <p:nvPr/>
        </p:nvSpPr>
        <p:spPr>
          <a:xfrm>
            <a:off x="6446265" y="2541679"/>
            <a:ext cx="5136133" cy="4055063"/>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dirty="0"/>
              <a:t>How do we aggregate over the sequence length?</a:t>
            </a:r>
          </a:p>
          <a:p>
            <a:pPr marL="0" indent="0">
              <a:buNone/>
            </a:pPr>
            <a:endParaRPr lang="en-US" sz="2400" dirty="0"/>
          </a:p>
          <a:p>
            <a:pPr>
              <a:buFontTx/>
              <a:buChar char="-"/>
            </a:pPr>
            <a:r>
              <a:rPr lang="en-US" sz="2400" dirty="0"/>
              <a:t>Mean pooling</a:t>
            </a:r>
          </a:p>
          <a:p>
            <a:pPr>
              <a:buFontTx/>
              <a:buChar char="-"/>
            </a:pPr>
            <a:r>
              <a:rPr lang="en-US" sz="2400" dirty="0"/>
              <a:t>Max pooling</a:t>
            </a:r>
          </a:p>
          <a:p>
            <a:pPr>
              <a:buFontTx/>
              <a:buChar char="-"/>
            </a:pPr>
            <a:endParaRPr lang="en-US" sz="2400" dirty="0"/>
          </a:p>
          <a:p>
            <a:pPr>
              <a:buFontTx/>
              <a:buChar char="-"/>
            </a:pPr>
            <a:r>
              <a:rPr lang="en-US" sz="2400" i="1" dirty="0"/>
              <a:t>Learned </a:t>
            </a:r>
            <a:r>
              <a:rPr lang="en-US" sz="2400" dirty="0"/>
              <a:t>pooling (i.e. linear attention)</a:t>
            </a:r>
          </a:p>
          <a:p>
            <a:pPr marL="342900" lvl="1" indent="0">
              <a:buNone/>
            </a:pPr>
            <a:r>
              <a:rPr lang="en-US" sz="2100" dirty="0"/>
              <a:t>(we will return to this next time)</a:t>
            </a:r>
          </a:p>
        </p:txBody>
      </p:sp>
    </p:spTree>
    <p:extLst>
      <p:ext uri="{BB962C8B-B14F-4D97-AF65-F5344CB8AC3E}">
        <p14:creationId xmlns:p14="http://schemas.microsoft.com/office/powerpoint/2010/main" val="3890236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720405" y="5277331"/>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pixels</a:t>
            </a:r>
          </a:p>
        </p:txBody>
      </p:sp>
      <p:sp>
        <p:nvSpPr>
          <p:cNvPr id="10" name="TextBox 9">
            <a:extLst>
              <a:ext uri="{FF2B5EF4-FFF2-40B4-BE49-F238E27FC236}">
                <a16:creationId xmlns:a16="http://schemas.microsoft.com/office/drawing/2014/main" id="{F2C42C99-ECFD-CC46-8C0C-7FE9900CF424}"/>
              </a:ext>
            </a:extLst>
          </p:cNvPr>
          <p:cNvSpPr txBox="1"/>
          <p:nvPr/>
        </p:nvSpPr>
        <p:spPr>
          <a:xfrm>
            <a:off x="9731579" y="4182978"/>
            <a:ext cx="1535116"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sp>
        <p:nvSpPr>
          <p:cNvPr id="11" name="TextBox 10">
            <a:extLst>
              <a:ext uri="{FF2B5EF4-FFF2-40B4-BE49-F238E27FC236}">
                <a16:creationId xmlns:a16="http://schemas.microsoft.com/office/drawing/2014/main" id="{69F4C887-30DE-6142-A3B8-73F2E6FB683F}"/>
              </a:ext>
            </a:extLst>
          </p:cNvPr>
          <p:cNvSpPr txBox="1"/>
          <p:nvPr/>
        </p:nvSpPr>
        <p:spPr>
          <a:xfrm>
            <a:off x="7287897" y="6169338"/>
            <a:ext cx="4774640" cy="497957"/>
          </a:xfrm>
          <a:prstGeom prst="rect">
            <a:avLst/>
          </a:prstGeom>
          <a:noFill/>
        </p:spPr>
        <p:txBody>
          <a:bodyPr wrap="none" rtlCol="0">
            <a:spAutoFit/>
          </a:bodyPr>
          <a:lstStyle/>
          <a:p>
            <a:r>
              <a:rPr lang="en-US" sz="2636" dirty="0"/>
              <a:t>End goal: predict</a:t>
            </a:r>
            <a:r>
              <a:rPr lang="en-US" sz="2636" i="1" dirty="0"/>
              <a:t> dog </a:t>
            </a:r>
            <a:r>
              <a:rPr lang="en-US" sz="2636" dirty="0"/>
              <a:t>from </a:t>
            </a:r>
            <a:r>
              <a:rPr lang="en-US" sz="2636" i="1" dirty="0">
                <a:latin typeface="Times New Roman" panose="02020603050405020304" pitchFamily="18" charset="0"/>
                <a:cs typeface="Times New Roman" panose="02020603050405020304" pitchFamily="18" charset="0"/>
              </a:rPr>
              <a:t>pixels</a:t>
            </a:r>
            <a:r>
              <a:rPr lang="en-US" sz="2636"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10137623" y="3346502"/>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dog</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endCxn id="17" idx="1"/>
          </p:cNvCxnSpPr>
          <p:nvPr/>
        </p:nvCxnSpPr>
        <p:spPr>
          <a:xfrm>
            <a:off x="4172617" y="3706374"/>
            <a:ext cx="87243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50F900F6-F379-064E-8628-8FF4A074FE47}"/>
              </a:ext>
            </a:extLst>
          </p:cNvPr>
          <p:cNvSpPr txBox="1"/>
          <p:nvPr/>
        </p:nvSpPr>
        <p:spPr>
          <a:xfrm>
            <a:off x="5045056" y="3229770"/>
            <a:ext cx="1729425" cy="9532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797" dirty="0">
                <a:latin typeface="Times New Roman" panose="02020603050405020304" pitchFamily="18" charset="0"/>
                <a:cs typeface="Times New Roman" panose="02020603050405020304" pitchFamily="18" charset="0"/>
              </a:rPr>
              <a:t>low-level motifs</a:t>
            </a:r>
          </a:p>
        </p:txBody>
      </p:sp>
      <p:sp>
        <p:nvSpPr>
          <p:cNvPr id="18" name="TextBox 17">
            <a:extLst>
              <a:ext uri="{FF2B5EF4-FFF2-40B4-BE49-F238E27FC236}">
                <a16:creationId xmlns:a16="http://schemas.microsoft.com/office/drawing/2014/main" id="{59AABC2F-ABAF-6140-BA5C-921109CF989B}"/>
              </a:ext>
            </a:extLst>
          </p:cNvPr>
          <p:cNvSpPr txBox="1"/>
          <p:nvPr/>
        </p:nvSpPr>
        <p:spPr>
          <a:xfrm>
            <a:off x="7483389" y="3229770"/>
            <a:ext cx="1729425" cy="9532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797" dirty="0">
                <a:latin typeface="Times New Roman" panose="02020603050405020304" pitchFamily="18" charset="0"/>
                <a:cs typeface="Times New Roman" panose="02020603050405020304" pitchFamily="18" charset="0"/>
              </a:rPr>
              <a:t>high-level motifs</a:t>
            </a:r>
          </a:p>
        </p:txBody>
      </p:sp>
      <p:cxnSp>
        <p:nvCxnSpPr>
          <p:cNvPr id="21" name="Straight Arrow Connector 20">
            <a:extLst>
              <a:ext uri="{FF2B5EF4-FFF2-40B4-BE49-F238E27FC236}">
                <a16:creationId xmlns:a16="http://schemas.microsoft.com/office/drawing/2014/main" id="{F32B0503-A697-0A47-A3DA-5DB2A3779506}"/>
              </a:ext>
            </a:extLst>
          </p:cNvPr>
          <p:cNvCxnSpPr>
            <a:cxnSpLocks/>
            <a:stCxn id="17" idx="3"/>
            <a:endCxn id="18" idx="1"/>
          </p:cNvCxnSpPr>
          <p:nvPr/>
        </p:nvCxnSpPr>
        <p:spPr>
          <a:xfrm>
            <a:off x="6774481" y="3706375"/>
            <a:ext cx="70890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03A2DF38-31DB-B443-B7EA-6CBFE99560BB}"/>
              </a:ext>
            </a:extLst>
          </p:cNvPr>
          <p:cNvCxnSpPr>
            <a:cxnSpLocks/>
            <a:stCxn id="18" idx="3"/>
            <a:endCxn id="13" idx="1"/>
          </p:cNvCxnSpPr>
          <p:nvPr/>
        </p:nvCxnSpPr>
        <p:spPr>
          <a:xfrm flipV="1">
            <a:off x="9212814" y="3700428"/>
            <a:ext cx="924809" cy="59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86D54507-CE31-F545-93DF-9D4C9973BC7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616" y="2157378"/>
            <a:ext cx="3175000" cy="3086100"/>
          </a:xfrm>
          <a:prstGeom prst="rect">
            <a:avLst/>
          </a:prstGeom>
          <a:ln>
            <a:solidFill>
              <a:schemeClr val="tx1"/>
            </a:solidFill>
          </a:ln>
        </p:spPr>
      </p:pic>
      <p:sp>
        <p:nvSpPr>
          <p:cNvPr id="22" name="TextBox 21">
            <a:extLst>
              <a:ext uri="{FF2B5EF4-FFF2-40B4-BE49-F238E27FC236}">
                <a16:creationId xmlns:a16="http://schemas.microsoft.com/office/drawing/2014/main" id="{C6D4061E-5342-9944-9149-5767358874A4}"/>
              </a:ext>
            </a:extLst>
          </p:cNvPr>
          <p:cNvSpPr txBox="1"/>
          <p:nvPr/>
        </p:nvSpPr>
        <p:spPr>
          <a:xfrm>
            <a:off x="5023691" y="4296929"/>
            <a:ext cx="1772152" cy="1309205"/>
          </a:xfrm>
          <a:prstGeom prst="rect">
            <a:avLst/>
          </a:prstGeom>
          <a:noFill/>
        </p:spPr>
        <p:txBody>
          <a:bodyPr wrap="none" rtlCol="0">
            <a:spAutoFit/>
          </a:bodyPr>
          <a:lstStyle/>
          <a:p>
            <a:pPr marL="457189" indent="-457189">
              <a:buFont typeface="Arial" panose="020B0604020202020204" pitchFamily="34" charset="0"/>
              <a:buChar char="•"/>
            </a:pPr>
            <a:r>
              <a:rPr lang="en-US" sz="2636" dirty="0"/>
              <a:t>edges</a:t>
            </a:r>
          </a:p>
          <a:p>
            <a:pPr marL="457189" indent="-457189">
              <a:buFont typeface="Arial" panose="020B0604020202020204" pitchFamily="34" charset="0"/>
              <a:buChar char="•"/>
            </a:pPr>
            <a:r>
              <a:rPr lang="en-US" sz="2636" dirty="0"/>
              <a:t>shapes</a:t>
            </a:r>
          </a:p>
          <a:p>
            <a:pPr marL="457189" indent="-457189">
              <a:buFont typeface="Arial" panose="020B0604020202020204" pitchFamily="34" charset="0"/>
              <a:buChar char="•"/>
            </a:pPr>
            <a:r>
              <a:rPr lang="en-US" sz="2636" dirty="0"/>
              <a:t>textures</a:t>
            </a:r>
          </a:p>
        </p:txBody>
      </p:sp>
      <p:sp>
        <p:nvSpPr>
          <p:cNvPr id="23" name="TextBox 22">
            <a:extLst>
              <a:ext uri="{FF2B5EF4-FFF2-40B4-BE49-F238E27FC236}">
                <a16:creationId xmlns:a16="http://schemas.microsoft.com/office/drawing/2014/main" id="{5F75F0FA-BD5C-2C42-8E0B-45D8D186EE76}"/>
              </a:ext>
            </a:extLst>
          </p:cNvPr>
          <p:cNvSpPr txBox="1"/>
          <p:nvPr/>
        </p:nvSpPr>
        <p:spPr>
          <a:xfrm>
            <a:off x="7462024" y="4296929"/>
            <a:ext cx="1354410" cy="1309205"/>
          </a:xfrm>
          <a:prstGeom prst="rect">
            <a:avLst/>
          </a:prstGeom>
          <a:noFill/>
        </p:spPr>
        <p:txBody>
          <a:bodyPr wrap="none" rtlCol="0">
            <a:spAutoFit/>
          </a:bodyPr>
          <a:lstStyle/>
          <a:p>
            <a:pPr marL="457189" indent="-457189">
              <a:buFont typeface="Arial" panose="020B0604020202020204" pitchFamily="34" charset="0"/>
              <a:buChar char="•"/>
            </a:pPr>
            <a:r>
              <a:rPr lang="en-US" sz="2636" dirty="0"/>
              <a:t>eyes</a:t>
            </a:r>
          </a:p>
          <a:p>
            <a:pPr marL="457189" indent="-457189">
              <a:buFont typeface="Arial" panose="020B0604020202020204" pitchFamily="34" charset="0"/>
              <a:buChar char="•"/>
            </a:pPr>
            <a:r>
              <a:rPr lang="en-US" sz="2636" dirty="0"/>
              <a:t>ears</a:t>
            </a:r>
          </a:p>
          <a:p>
            <a:pPr marL="457189" indent="-457189">
              <a:buFont typeface="Arial" panose="020B0604020202020204" pitchFamily="34" charset="0"/>
              <a:buChar char="•"/>
            </a:pPr>
            <a:r>
              <a:rPr lang="en-US" sz="2636" dirty="0"/>
              <a:t>paws</a:t>
            </a:r>
          </a:p>
        </p:txBody>
      </p:sp>
      <p:sp>
        <p:nvSpPr>
          <p:cNvPr id="25" name="Title 1">
            <a:extLst>
              <a:ext uri="{FF2B5EF4-FFF2-40B4-BE49-F238E27FC236}">
                <a16:creationId xmlns:a16="http://schemas.microsoft.com/office/drawing/2014/main" id="{A9D5AFCE-C044-3C4C-BD58-C4F92945FF71}"/>
              </a:ext>
            </a:extLst>
          </p:cNvPr>
          <p:cNvSpPr>
            <a:spLocks noGrp="1"/>
          </p:cNvSpPr>
          <p:nvPr>
            <p:ph type="title"/>
          </p:nvPr>
        </p:nvSpPr>
        <p:spPr>
          <a:xfrm>
            <a:off x="838200" y="365125"/>
            <a:ext cx="10515600" cy="1325563"/>
          </a:xfrm>
        </p:spPr>
        <p:txBody>
          <a:bodyPr/>
          <a:lstStyle/>
          <a:p>
            <a:r>
              <a:rPr lang="en-US" dirty="0"/>
              <a:t>Now we can use deep learning to build our hierarchy of features.</a:t>
            </a:r>
          </a:p>
        </p:txBody>
      </p:sp>
    </p:spTree>
    <p:extLst>
      <p:ext uri="{BB962C8B-B14F-4D97-AF65-F5344CB8AC3E}">
        <p14:creationId xmlns:p14="http://schemas.microsoft.com/office/powerpoint/2010/main" val="3179256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582213" y="5283625"/>
            <a:ext cx="1729425" cy="1383649"/>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grid of semantic attributes</a:t>
            </a:r>
          </a:p>
        </p:txBody>
      </p:sp>
      <p:sp>
        <p:nvSpPr>
          <p:cNvPr id="10" name="TextBox 9">
            <a:extLst>
              <a:ext uri="{FF2B5EF4-FFF2-40B4-BE49-F238E27FC236}">
                <a16:creationId xmlns:a16="http://schemas.microsoft.com/office/drawing/2014/main" id="{F2C42C99-ECFD-CC46-8C0C-7FE9900CF424}"/>
              </a:ext>
            </a:extLst>
          </p:cNvPr>
          <p:cNvSpPr txBox="1"/>
          <p:nvPr/>
        </p:nvSpPr>
        <p:spPr>
          <a:xfrm>
            <a:off x="9731579" y="4182978"/>
            <a:ext cx="1535116"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sp>
        <p:nvSpPr>
          <p:cNvPr id="11" name="TextBox 10">
            <a:extLst>
              <a:ext uri="{FF2B5EF4-FFF2-40B4-BE49-F238E27FC236}">
                <a16:creationId xmlns:a16="http://schemas.microsoft.com/office/drawing/2014/main" id="{69F4C887-30DE-6142-A3B8-73F2E6FB683F}"/>
              </a:ext>
            </a:extLst>
          </p:cNvPr>
          <p:cNvSpPr txBox="1"/>
          <p:nvPr/>
        </p:nvSpPr>
        <p:spPr>
          <a:xfrm>
            <a:off x="5161597" y="6169338"/>
            <a:ext cx="6839501" cy="497957"/>
          </a:xfrm>
          <a:prstGeom prst="rect">
            <a:avLst/>
          </a:prstGeom>
          <a:noFill/>
        </p:spPr>
        <p:txBody>
          <a:bodyPr wrap="none" rtlCol="0">
            <a:spAutoFit/>
          </a:bodyPr>
          <a:lstStyle/>
          <a:p>
            <a:r>
              <a:rPr lang="en-US" sz="2636" dirty="0"/>
              <a:t>End goal: predict</a:t>
            </a:r>
            <a:r>
              <a:rPr lang="en-US" sz="2636" i="1" dirty="0"/>
              <a:t> pulmonary embolism </a:t>
            </a:r>
            <a:r>
              <a:rPr lang="en-US" sz="2636" dirty="0"/>
              <a:t>from </a:t>
            </a:r>
            <a:r>
              <a:rPr lang="en-US" sz="2636" i="1" dirty="0">
                <a:latin typeface="Times New Roman" panose="02020603050405020304" pitchFamily="18" charset="0"/>
                <a:cs typeface="Times New Roman" panose="02020603050405020304" pitchFamily="18" charset="0"/>
              </a:rPr>
              <a:t>text</a:t>
            </a:r>
            <a:r>
              <a:rPr lang="en-US" sz="2636"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10137623" y="3346502"/>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PE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endCxn id="17" idx="1"/>
          </p:cNvCxnSpPr>
          <p:nvPr/>
        </p:nvCxnSpPr>
        <p:spPr>
          <a:xfrm flipV="1">
            <a:off x="3710510" y="3706375"/>
            <a:ext cx="1334546" cy="154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50F900F6-F379-064E-8628-8FF4A074FE47}"/>
              </a:ext>
            </a:extLst>
          </p:cNvPr>
          <p:cNvSpPr txBox="1"/>
          <p:nvPr/>
        </p:nvSpPr>
        <p:spPr>
          <a:xfrm>
            <a:off x="5045056" y="3229770"/>
            <a:ext cx="1729425" cy="9532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797" dirty="0">
                <a:latin typeface="Times New Roman" panose="02020603050405020304" pitchFamily="18" charset="0"/>
                <a:cs typeface="Times New Roman" panose="02020603050405020304" pitchFamily="18" charset="0"/>
              </a:rPr>
              <a:t>low-level motifs</a:t>
            </a:r>
          </a:p>
        </p:txBody>
      </p:sp>
      <p:sp>
        <p:nvSpPr>
          <p:cNvPr id="18" name="TextBox 17">
            <a:extLst>
              <a:ext uri="{FF2B5EF4-FFF2-40B4-BE49-F238E27FC236}">
                <a16:creationId xmlns:a16="http://schemas.microsoft.com/office/drawing/2014/main" id="{59AABC2F-ABAF-6140-BA5C-921109CF989B}"/>
              </a:ext>
            </a:extLst>
          </p:cNvPr>
          <p:cNvSpPr txBox="1"/>
          <p:nvPr/>
        </p:nvSpPr>
        <p:spPr>
          <a:xfrm>
            <a:off x="7483389" y="3229770"/>
            <a:ext cx="1729425" cy="9532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797" dirty="0">
                <a:latin typeface="Times New Roman" panose="02020603050405020304" pitchFamily="18" charset="0"/>
                <a:cs typeface="Times New Roman" panose="02020603050405020304" pitchFamily="18" charset="0"/>
              </a:rPr>
              <a:t>high-level motifs</a:t>
            </a:r>
          </a:p>
        </p:txBody>
      </p:sp>
      <p:cxnSp>
        <p:nvCxnSpPr>
          <p:cNvPr id="21" name="Straight Arrow Connector 20">
            <a:extLst>
              <a:ext uri="{FF2B5EF4-FFF2-40B4-BE49-F238E27FC236}">
                <a16:creationId xmlns:a16="http://schemas.microsoft.com/office/drawing/2014/main" id="{F32B0503-A697-0A47-A3DA-5DB2A3779506}"/>
              </a:ext>
            </a:extLst>
          </p:cNvPr>
          <p:cNvCxnSpPr>
            <a:cxnSpLocks/>
            <a:stCxn id="17" idx="3"/>
            <a:endCxn id="18" idx="1"/>
          </p:cNvCxnSpPr>
          <p:nvPr/>
        </p:nvCxnSpPr>
        <p:spPr>
          <a:xfrm>
            <a:off x="6774481" y="3706375"/>
            <a:ext cx="70890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03A2DF38-31DB-B443-B7EA-6CBFE99560BB}"/>
              </a:ext>
            </a:extLst>
          </p:cNvPr>
          <p:cNvCxnSpPr>
            <a:cxnSpLocks/>
            <a:stCxn id="18" idx="3"/>
            <a:endCxn id="13" idx="1"/>
          </p:cNvCxnSpPr>
          <p:nvPr/>
        </p:nvCxnSpPr>
        <p:spPr>
          <a:xfrm flipV="1">
            <a:off x="9212814" y="3700428"/>
            <a:ext cx="924809" cy="59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C6D4061E-5342-9944-9149-5767358874A4}"/>
              </a:ext>
            </a:extLst>
          </p:cNvPr>
          <p:cNvSpPr txBox="1"/>
          <p:nvPr/>
        </p:nvSpPr>
        <p:spPr>
          <a:xfrm>
            <a:off x="5023691" y="4296928"/>
            <a:ext cx="1825344" cy="1309205"/>
          </a:xfrm>
          <a:prstGeom prst="rect">
            <a:avLst/>
          </a:prstGeom>
          <a:noFill/>
        </p:spPr>
        <p:txBody>
          <a:bodyPr wrap="square" rtlCol="0">
            <a:spAutoFit/>
          </a:bodyPr>
          <a:lstStyle/>
          <a:p>
            <a:pPr marL="457189" indent="-457189">
              <a:buFont typeface="Arial" panose="020B0604020202020204" pitchFamily="34" charset="0"/>
              <a:buChar char="•"/>
            </a:pPr>
            <a:r>
              <a:rPr lang="en-US" sz="2636" dirty="0"/>
              <a:t>words</a:t>
            </a:r>
          </a:p>
          <a:p>
            <a:pPr marL="457189" indent="-457189">
              <a:buFont typeface="Arial" panose="020B0604020202020204" pitchFamily="34" charset="0"/>
              <a:buChar char="•"/>
            </a:pPr>
            <a:r>
              <a:rPr lang="en-US" sz="2636" dirty="0"/>
              <a:t>short phrases</a:t>
            </a:r>
          </a:p>
        </p:txBody>
      </p:sp>
      <p:sp>
        <p:nvSpPr>
          <p:cNvPr id="23" name="TextBox 22">
            <a:extLst>
              <a:ext uri="{FF2B5EF4-FFF2-40B4-BE49-F238E27FC236}">
                <a16:creationId xmlns:a16="http://schemas.microsoft.com/office/drawing/2014/main" id="{5F75F0FA-BD5C-2C42-8E0B-45D8D186EE76}"/>
              </a:ext>
            </a:extLst>
          </p:cNvPr>
          <p:cNvSpPr txBox="1"/>
          <p:nvPr/>
        </p:nvSpPr>
        <p:spPr>
          <a:xfrm>
            <a:off x="7462023" y="4296929"/>
            <a:ext cx="1968848" cy="903581"/>
          </a:xfrm>
          <a:prstGeom prst="rect">
            <a:avLst/>
          </a:prstGeom>
          <a:noFill/>
        </p:spPr>
        <p:txBody>
          <a:bodyPr wrap="square" rtlCol="0">
            <a:spAutoFit/>
          </a:bodyPr>
          <a:lstStyle/>
          <a:p>
            <a:pPr marL="457189" indent="-457189">
              <a:buFont typeface="Arial" panose="020B0604020202020204" pitchFamily="34" charset="0"/>
              <a:buChar char="•"/>
            </a:pPr>
            <a:r>
              <a:rPr lang="en-US" sz="2636" dirty="0"/>
              <a:t>concepts</a:t>
            </a:r>
          </a:p>
          <a:p>
            <a:pPr marL="457189" indent="-457189">
              <a:buFont typeface="Arial" panose="020B0604020202020204" pitchFamily="34" charset="0"/>
              <a:buChar char="•"/>
            </a:pPr>
            <a:r>
              <a:rPr lang="en-US" sz="2636" dirty="0"/>
              <a:t>topics</a:t>
            </a:r>
          </a:p>
        </p:txBody>
      </p:sp>
      <p:sp>
        <p:nvSpPr>
          <p:cNvPr id="25" name="Title 1">
            <a:extLst>
              <a:ext uri="{FF2B5EF4-FFF2-40B4-BE49-F238E27FC236}">
                <a16:creationId xmlns:a16="http://schemas.microsoft.com/office/drawing/2014/main" id="{A9D5AFCE-C044-3C4C-BD58-C4F92945FF71}"/>
              </a:ext>
            </a:extLst>
          </p:cNvPr>
          <p:cNvSpPr>
            <a:spLocks noGrp="1"/>
          </p:cNvSpPr>
          <p:nvPr>
            <p:ph type="title"/>
          </p:nvPr>
        </p:nvSpPr>
        <p:spPr>
          <a:xfrm>
            <a:off x="838200" y="365125"/>
            <a:ext cx="10515600" cy="1325563"/>
          </a:xfrm>
        </p:spPr>
        <p:txBody>
          <a:bodyPr/>
          <a:lstStyle/>
          <a:p>
            <a:r>
              <a:rPr lang="en-US" dirty="0"/>
              <a:t>Now we can use deep learning to build our hierarchy of </a:t>
            </a:r>
            <a:r>
              <a:rPr lang="en-US" i="1" dirty="0">
                <a:solidFill>
                  <a:schemeClr val="accent2"/>
                </a:solidFill>
              </a:rPr>
              <a:t>semantic</a:t>
            </a:r>
            <a:r>
              <a:rPr lang="en-US" dirty="0"/>
              <a:t> features.</a:t>
            </a:r>
          </a:p>
        </p:txBody>
      </p:sp>
      <p:pic>
        <p:nvPicPr>
          <p:cNvPr id="15" name="Picture 14">
            <a:extLst>
              <a:ext uri="{FF2B5EF4-FFF2-40B4-BE49-F238E27FC236}">
                <a16:creationId xmlns:a16="http://schemas.microsoft.com/office/drawing/2014/main" id="{B70EC008-0CBF-9FA8-56DC-9B08A4DD02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1976" t="10927" r="11177" b="12059"/>
          <a:stretch/>
        </p:blipFill>
        <p:spPr>
          <a:xfrm>
            <a:off x="1183341" y="1969040"/>
            <a:ext cx="2527168" cy="3277533"/>
          </a:xfrm>
          <a:prstGeom prst="rect">
            <a:avLst/>
          </a:prstGeom>
          <a:ln>
            <a:solidFill>
              <a:schemeClr val="tx1"/>
            </a:solidFill>
          </a:ln>
        </p:spPr>
      </p:pic>
    </p:spTree>
    <p:extLst>
      <p:ext uri="{BB962C8B-B14F-4D97-AF65-F5344CB8AC3E}">
        <p14:creationId xmlns:p14="http://schemas.microsoft.com/office/powerpoint/2010/main" val="1670968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1575B7-A450-AF13-EADC-DC305D45B949}"/>
              </a:ext>
            </a:extLst>
          </p:cNvPr>
          <p:cNvSpPr>
            <a:spLocks noGrp="1"/>
          </p:cNvSpPr>
          <p:nvPr>
            <p:ph idx="1"/>
          </p:nvPr>
        </p:nvSpPr>
        <p:spPr>
          <a:xfrm>
            <a:off x="838200" y="1825625"/>
            <a:ext cx="6281057" cy="4351339"/>
          </a:xfrm>
        </p:spPr>
        <p:txBody>
          <a:bodyPr/>
          <a:lstStyle/>
          <a:p>
            <a:r>
              <a:rPr lang="en-US" dirty="0"/>
              <a:t>In current LLMs, embeddings are learned end to end with the rest of the model</a:t>
            </a:r>
          </a:p>
          <a:p>
            <a:endParaRPr lang="en-US" dirty="0"/>
          </a:p>
          <a:p>
            <a:r>
              <a:rPr lang="en-US" dirty="0"/>
              <a:t>However, the embedding concept remains central</a:t>
            </a:r>
          </a:p>
          <a:p>
            <a:endParaRPr lang="en-US" dirty="0"/>
          </a:p>
          <a:p>
            <a:r>
              <a:rPr lang="en-US" dirty="0"/>
              <a:t>We may view this architecture as </a:t>
            </a:r>
            <a:r>
              <a:rPr lang="en-US" i="1" dirty="0"/>
              <a:t>progressively refining our embeddings </a:t>
            </a:r>
            <a:r>
              <a:rPr lang="en-US" dirty="0"/>
              <a:t>based on </a:t>
            </a:r>
            <a:r>
              <a:rPr lang="en-US" b="1" dirty="0"/>
              <a:t>context</a:t>
            </a:r>
          </a:p>
        </p:txBody>
      </p:sp>
      <p:pic>
        <p:nvPicPr>
          <p:cNvPr id="5" name="Picture 4">
            <a:extLst>
              <a:ext uri="{FF2B5EF4-FFF2-40B4-BE49-F238E27FC236}">
                <a16:creationId xmlns:a16="http://schemas.microsoft.com/office/drawing/2014/main" id="{D85B9F6E-D18F-6F6E-85D7-D0CA7FD3508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1742" y="365125"/>
            <a:ext cx="3941351" cy="5675544"/>
          </a:xfrm>
          <a:prstGeom prst="rect">
            <a:avLst/>
          </a:prstGeom>
        </p:spPr>
      </p:pic>
      <p:sp>
        <p:nvSpPr>
          <p:cNvPr id="7" name="TextBox 6">
            <a:extLst>
              <a:ext uri="{FF2B5EF4-FFF2-40B4-BE49-F238E27FC236}">
                <a16:creationId xmlns:a16="http://schemas.microsoft.com/office/drawing/2014/main" id="{A8FE57E6-57B9-DB4F-75B5-DC98AC835F42}"/>
              </a:ext>
            </a:extLst>
          </p:cNvPr>
          <p:cNvSpPr txBox="1"/>
          <p:nvPr/>
        </p:nvSpPr>
        <p:spPr>
          <a:xfrm>
            <a:off x="7831741" y="6172158"/>
            <a:ext cx="3941351" cy="420756"/>
          </a:xfrm>
          <a:prstGeom prst="rect">
            <a:avLst/>
          </a:prstGeom>
          <a:noFill/>
        </p:spPr>
        <p:txBody>
          <a:bodyPr wrap="square">
            <a:spAutoFit/>
          </a:bodyPr>
          <a:lstStyle/>
          <a:p>
            <a:r>
              <a:rPr lang="en-US" sz="1067" dirty="0">
                <a:solidFill>
                  <a:srgbClr val="222222"/>
                </a:solidFill>
                <a:highlight>
                  <a:srgbClr val="FFFFFF"/>
                </a:highlight>
                <a:latin typeface="Arial" panose="020B0604020202020204" pitchFamily="34" charset="0"/>
              </a:rPr>
              <a:t>Vaswani, Ashish, et al. "Attention is all you need." </a:t>
            </a:r>
            <a:r>
              <a:rPr lang="en-US" sz="1067" i="1" dirty="0">
                <a:solidFill>
                  <a:srgbClr val="222222"/>
                </a:solidFill>
                <a:latin typeface="Arial" panose="020B0604020202020204" pitchFamily="34" charset="0"/>
              </a:rPr>
              <a:t>Advances in neural information processing systems</a:t>
            </a:r>
            <a:r>
              <a:rPr lang="en-US" sz="1067" dirty="0">
                <a:solidFill>
                  <a:srgbClr val="222222"/>
                </a:solidFill>
                <a:highlight>
                  <a:srgbClr val="FFFFFF"/>
                </a:highlight>
                <a:latin typeface="Arial" panose="020B0604020202020204" pitchFamily="34" charset="0"/>
              </a:rPr>
              <a:t> 30 (2017).</a:t>
            </a:r>
            <a:endParaRPr lang="en-US" sz="1067" dirty="0"/>
          </a:p>
        </p:txBody>
      </p:sp>
      <p:sp>
        <p:nvSpPr>
          <p:cNvPr id="2" name="Title 1">
            <a:extLst>
              <a:ext uri="{FF2B5EF4-FFF2-40B4-BE49-F238E27FC236}">
                <a16:creationId xmlns:a16="http://schemas.microsoft.com/office/drawing/2014/main" id="{B1AFE7FB-3EDF-41A5-1AD6-586B304F5BDA}"/>
              </a:ext>
            </a:extLst>
          </p:cNvPr>
          <p:cNvSpPr>
            <a:spLocks noGrp="1"/>
          </p:cNvSpPr>
          <p:nvPr>
            <p:ph type="title"/>
          </p:nvPr>
        </p:nvSpPr>
        <p:spPr/>
        <p:txBody>
          <a:bodyPr/>
          <a:lstStyle/>
          <a:p>
            <a:r>
              <a:rPr lang="en-US" dirty="0"/>
              <a:t>Next time: Transformer architecture</a:t>
            </a:r>
          </a:p>
        </p:txBody>
      </p:sp>
    </p:spTree>
    <p:extLst>
      <p:ext uri="{BB962C8B-B14F-4D97-AF65-F5344CB8AC3E}">
        <p14:creationId xmlns:p14="http://schemas.microsoft.com/office/powerpoint/2010/main" val="30711873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F0475-2171-9DBA-5086-5F4F81ED4BBF}"/>
              </a:ext>
            </a:extLst>
          </p:cNvPr>
          <p:cNvSpPr>
            <a:spLocks noGrp="1"/>
          </p:cNvSpPr>
          <p:nvPr>
            <p:ph type="title"/>
          </p:nvPr>
        </p:nvSpPr>
        <p:spPr/>
        <p:txBody>
          <a:bodyPr/>
          <a:lstStyle/>
          <a:p>
            <a:r>
              <a:rPr lang="en-US" dirty="0"/>
              <a:t>Recipe for ChatGPT / modern LLMs</a:t>
            </a:r>
          </a:p>
        </p:txBody>
      </p:sp>
      <p:pic>
        <p:nvPicPr>
          <p:cNvPr id="1026" name="Picture 2" descr="A Brief History of the ChatGPT Logo - Logovent">
            <a:extLst>
              <a:ext uri="{FF2B5EF4-FFF2-40B4-BE49-F238E27FC236}">
                <a16:creationId xmlns:a16="http://schemas.microsoft.com/office/drawing/2014/main" id="{39D74B29-6038-C61B-023F-506B71C25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0451" y="3870325"/>
            <a:ext cx="4666459" cy="2622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4,250 Cauldron Clipart Royalty-Free Images, Stock Photos ...">
            <a:extLst>
              <a:ext uri="{FF2B5EF4-FFF2-40B4-BE49-F238E27FC236}">
                <a16:creationId xmlns:a16="http://schemas.microsoft.com/office/drawing/2014/main" id="{71CC0DF7-392F-0EB7-1807-7F72146E3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0674" y="2851603"/>
            <a:ext cx="3550877" cy="37773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DD96BB9-4401-AA2A-D22F-69E326165DC8}"/>
              </a:ext>
            </a:extLst>
          </p:cNvPr>
          <p:cNvSpPr txBox="1"/>
          <p:nvPr/>
        </p:nvSpPr>
        <p:spPr>
          <a:xfrm>
            <a:off x="1271774" y="2595840"/>
            <a:ext cx="657552" cy="369332"/>
          </a:xfrm>
          <a:prstGeom prst="rect">
            <a:avLst/>
          </a:prstGeom>
          <a:noFill/>
        </p:spPr>
        <p:txBody>
          <a:bodyPr wrap="none" rtlCol="0">
            <a:spAutoFit/>
          </a:bodyPr>
          <a:lstStyle/>
          <a:p>
            <a:r>
              <a:rPr lang="en-US" dirty="0"/>
              <a:t>RLHF</a:t>
            </a:r>
          </a:p>
        </p:txBody>
      </p:sp>
      <p:sp>
        <p:nvSpPr>
          <p:cNvPr id="5" name="TextBox 4">
            <a:extLst>
              <a:ext uri="{FF2B5EF4-FFF2-40B4-BE49-F238E27FC236}">
                <a16:creationId xmlns:a16="http://schemas.microsoft.com/office/drawing/2014/main" id="{6698B870-606A-0C8F-3995-A3B8AA4E3539}"/>
              </a:ext>
            </a:extLst>
          </p:cNvPr>
          <p:cNvSpPr txBox="1"/>
          <p:nvPr/>
        </p:nvSpPr>
        <p:spPr>
          <a:xfrm>
            <a:off x="4919043" y="2386131"/>
            <a:ext cx="1830694" cy="369332"/>
          </a:xfrm>
          <a:prstGeom prst="rect">
            <a:avLst/>
          </a:prstGeom>
          <a:noFill/>
        </p:spPr>
        <p:txBody>
          <a:bodyPr wrap="none" rtlCol="0">
            <a:spAutoFit/>
          </a:bodyPr>
          <a:lstStyle/>
          <a:p>
            <a:r>
              <a:rPr lang="en-US" dirty="0"/>
              <a:t>Massive compute</a:t>
            </a:r>
          </a:p>
        </p:txBody>
      </p:sp>
      <p:sp>
        <p:nvSpPr>
          <p:cNvPr id="6" name="TextBox 5">
            <a:extLst>
              <a:ext uri="{FF2B5EF4-FFF2-40B4-BE49-F238E27FC236}">
                <a16:creationId xmlns:a16="http://schemas.microsoft.com/office/drawing/2014/main" id="{2A8CA732-9C45-763C-EAC3-8C37CB392D79}"/>
              </a:ext>
            </a:extLst>
          </p:cNvPr>
          <p:cNvSpPr txBox="1"/>
          <p:nvPr/>
        </p:nvSpPr>
        <p:spPr>
          <a:xfrm>
            <a:off x="4386942" y="1717147"/>
            <a:ext cx="1064202" cy="369332"/>
          </a:xfrm>
          <a:prstGeom prst="rect">
            <a:avLst/>
          </a:prstGeom>
          <a:noFill/>
        </p:spPr>
        <p:txBody>
          <a:bodyPr wrap="none" rtlCol="0">
            <a:spAutoFit/>
          </a:bodyPr>
          <a:lstStyle/>
          <a:p>
            <a:r>
              <a:rPr lang="en-US" dirty="0"/>
              <a:t>Backprop</a:t>
            </a:r>
          </a:p>
        </p:txBody>
      </p:sp>
      <p:sp>
        <p:nvSpPr>
          <p:cNvPr id="7" name="TextBox 6">
            <a:extLst>
              <a:ext uri="{FF2B5EF4-FFF2-40B4-BE49-F238E27FC236}">
                <a16:creationId xmlns:a16="http://schemas.microsoft.com/office/drawing/2014/main" id="{0645E7D7-15EE-1E26-812C-1F9028174D1F}"/>
              </a:ext>
            </a:extLst>
          </p:cNvPr>
          <p:cNvSpPr txBox="1"/>
          <p:nvPr/>
        </p:nvSpPr>
        <p:spPr>
          <a:xfrm>
            <a:off x="4919043" y="3576129"/>
            <a:ext cx="2264787" cy="369332"/>
          </a:xfrm>
          <a:prstGeom prst="rect">
            <a:avLst/>
          </a:prstGeom>
          <a:noFill/>
        </p:spPr>
        <p:txBody>
          <a:bodyPr wrap="none" rtlCol="0">
            <a:spAutoFit/>
          </a:bodyPr>
          <a:lstStyle/>
          <a:p>
            <a:r>
              <a:rPr lang="en-US" dirty="0"/>
              <a:t>Internet &amp; Digitization</a:t>
            </a:r>
          </a:p>
        </p:txBody>
      </p:sp>
      <p:sp>
        <p:nvSpPr>
          <p:cNvPr id="8" name="TextBox 7">
            <a:extLst>
              <a:ext uri="{FF2B5EF4-FFF2-40B4-BE49-F238E27FC236}">
                <a16:creationId xmlns:a16="http://schemas.microsoft.com/office/drawing/2014/main" id="{D4272192-B2D0-4932-F870-CE59B3A8D395}"/>
              </a:ext>
            </a:extLst>
          </p:cNvPr>
          <p:cNvSpPr txBox="1"/>
          <p:nvPr/>
        </p:nvSpPr>
        <p:spPr>
          <a:xfrm>
            <a:off x="915963" y="1658421"/>
            <a:ext cx="2976328" cy="523220"/>
          </a:xfrm>
          <a:prstGeom prst="rect">
            <a:avLst/>
          </a:prstGeom>
          <a:noFill/>
        </p:spPr>
        <p:txBody>
          <a:bodyPr wrap="none" rtlCol="0">
            <a:spAutoFit/>
          </a:bodyPr>
          <a:lstStyle/>
          <a:p>
            <a:r>
              <a:rPr lang="en-US" sz="2800" dirty="0"/>
              <a:t>Word embeddings!</a:t>
            </a:r>
          </a:p>
        </p:txBody>
      </p:sp>
      <p:sp>
        <p:nvSpPr>
          <p:cNvPr id="9" name="TextBox 8">
            <a:extLst>
              <a:ext uri="{FF2B5EF4-FFF2-40B4-BE49-F238E27FC236}">
                <a16:creationId xmlns:a16="http://schemas.microsoft.com/office/drawing/2014/main" id="{8E8111AE-9E58-09DF-B06F-58E4AD6BF17D}"/>
              </a:ext>
            </a:extLst>
          </p:cNvPr>
          <p:cNvSpPr txBox="1"/>
          <p:nvPr/>
        </p:nvSpPr>
        <p:spPr>
          <a:xfrm>
            <a:off x="2899269" y="2622260"/>
            <a:ext cx="1325619" cy="369332"/>
          </a:xfrm>
          <a:prstGeom prst="rect">
            <a:avLst/>
          </a:prstGeom>
          <a:noFill/>
        </p:spPr>
        <p:txBody>
          <a:bodyPr wrap="none" rtlCol="0">
            <a:spAutoFit/>
          </a:bodyPr>
          <a:lstStyle/>
          <a:p>
            <a:r>
              <a:rPr lang="en-US" dirty="0"/>
              <a:t>Transformer</a:t>
            </a:r>
          </a:p>
        </p:txBody>
      </p:sp>
      <p:cxnSp>
        <p:nvCxnSpPr>
          <p:cNvPr id="11" name="Straight Arrow Connector 10">
            <a:extLst>
              <a:ext uri="{FF2B5EF4-FFF2-40B4-BE49-F238E27FC236}">
                <a16:creationId xmlns:a16="http://schemas.microsoft.com/office/drawing/2014/main" id="{CB61712C-2280-887D-21E2-824E580E6C9E}"/>
              </a:ext>
            </a:extLst>
          </p:cNvPr>
          <p:cNvCxnSpPr>
            <a:cxnSpLocks/>
            <a:stCxn id="8" idx="2"/>
          </p:cNvCxnSpPr>
          <p:nvPr/>
        </p:nvCxnSpPr>
        <p:spPr>
          <a:xfrm>
            <a:off x="2404127" y="2181641"/>
            <a:ext cx="1069061" cy="24456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F8AAB78-08A0-17CD-1A32-FBF1D05FB323}"/>
              </a:ext>
            </a:extLst>
          </p:cNvPr>
          <p:cNvCxnSpPr>
            <a:cxnSpLocks/>
          </p:cNvCxnSpPr>
          <p:nvPr/>
        </p:nvCxnSpPr>
        <p:spPr>
          <a:xfrm>
            <a:off x="3581400" y="2965172"/>
            <a:ext cx="167169" cy="1508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A5CD5BB5-6FEA-A4DD-600D-28599272CE1B}"/>
              </a:ext>
            </a:extLst>
          </p:cNvPr>
          <p:cNvCxnSpPr>
            <a:cxnSpLocks/>
            <a:stCxn id="7" idx="2"/>
          </p:cNvCxnSpPr>
          <p:nvPr/>
        </p:nvCxnSpPr>
        <p:spPr>
          <a:xfrm flipH="1">
            <a:off x="4224888" y="3945461"/>
            <a:ext cx="1826549" cy="7245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DFCAFB22-6AE0-C9AD-14EF-5D41E675FFF7}"/>
              </a:ext>
            </a:extLst>
          </p:cNvPr>
          <p:cNvCxnSpPr>
            <a:cxnSpLocks/>
            <a:stCxn id="5" idx="2"/>
          </p:cNvCxnSpPr>
          <p:nvPr/>
        </p:nvCxnSpPr>
        <p:spPr>
          <a:xfrm flipH="1">
            <a:off x="4134075" y="2755463"/>
            <a:ext cx="1700315" cy="17537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BBD7320C-2751-F987-EFFE-9FAEFACE4A1F}"/>
              </a:ext>
            </a:extLst>
          </p:cNvPr>
          <p:cNvCxnSpPr>
            <a:cxnSpLocks/>
            <a:stCxn id="6" idx="2"/>
          </p:cNvCxnSpPr>
          <p:nvPr/>
        </p:nvCxnSpPr>
        <p:spPr>
          <a:xfrm flipH="1">
            <a:off x="3904473" y="2086479"/>
            <a:ext cx="1014570" cy="2540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C6B3F100-ADAB-DA45-EF10-2C4383AB8BDF}"/>
              </a:ext>
            </a:extLst>
          </p:cNvPr>
          <p:cNvCxnSpPr>
            <a:cxnSpLocks/>
            <a:stCxn id="4" idx="2"/>
          </p:cNvCxnSpPr>
          <p:nvPr/>
        </p:nvCxnSpPr>
        <p:spPr>
          <a:xfrm>
            <a:off x="1600550" y="2965172"/>
            <a:ext cx="1726518" cy="1668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AC95B3BD-EF48-46F2-BC14-3E1E0193BE33}"/>
              </a:ext>
            </a:extLst>
          </p:cNvPr>
          <p:cNvCxnSpPr/>
          <p:nvPr/>
        </p:nvCxnSpPr>
        <p:spPr>
          <a:xfrm>
            <a:off x="5451144" y="5301343"/>
            <a:ext cx="234302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12616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Takeaways:</a:t>
            </a:r>
          </a:p>
        </p:txBody>
      </p:sp>
      <p:sp>
        <p:nvSpPr>
          <p:cNvPr id="3" name="Content Placeholder 2"/>
          <p:cNvSpPr>
            <a:spLocks noGrp="1"/>
          </p:cNvSpPr>
          <p:nvPr>
            <p:ph idx="1"/>
          </p:nvPr>
        </p:nvSpPr>
        <p:spPr/>
        <p:txBody>
          <a:bodyPr>
            <a:normAutofit/>
          </a:bodyPr>
          <a:lstStyle/>
          <a:p>
            <a:r>
              <a:rPr lang="en-US" dirty="0"/>
              <a:t>We are learning a vector representation for each word based on the contexts in which it appears</a:t>
            </a:r>
          </a:p>
          <a:p>
            <a:endParaRPr lang="en-US" dirty="0"/>
          </a:p>
          <a:p>
            <a:r>
              <a:rPr lang="en-US" dirty="0"/>
              <a:t>training data: large number of pairs of nearby words from a large corpus</a:t>
            </a:r>
          </a:p>
          <a:p>
            <a:endParaRPr lang="en-US" dirty="0"/>
          </a:p>
          <a:p>
            <a:r>
              <a:rPr lang="en-US" dirty="0"/>
              <a:t>These vectors give us much more flexibility when modeling: makes text sequences like other sequences</a:t>
            </a:r>
          </a:p>
        </p:txBody>
      </p:sp>
    </p:spTree>
    <p:extLst>
      <p:ext uri="{BB962C8B-B14F-4D97-AF65-F5344CB8AC3E}">
        <p14:creationId xmlns:p14="http://schemas.microsoft.com/office/powerpoint/2010/main" val="2298402350"/>
      </p:ext>
    </p:extLst>
  </p:cSld>
  <p:clrMapOvr>
    <a:masterClrMapping/>
  </p:clrMapOvr>
  <mc:AlternateContent xmlns:mc="http://schemas.openxmlformats.org/markup-compatibility/2006" xmlns:p14="http://schemas.microsoft.com/office/powerpoint/2010/main">
    <mc:Choice Requires="p14">
      <p:transition spd="slow" p14:dur="2000" advTm="42802"/>
    </mc:Choice>
    <mc:Fallback xmlns="">
      <p:transition spd="slow" advTm="42802"/>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266C-C156-390A-1B41-641164D78BA7}"/>
              </a:ext>
            </a:extLst>
          </p:cNvPr>
          <p:cNvSpPr>
            <a:spLocks noGrp="1"/>
          </p:cNvSpPr>
          <p:nvPr>
            <p:ph type="title"/>
          </p:nvPr>
        </p:nvSpPr>
        <p:spPr/>
        <p:txBody>
          <a:bodyPr/>
          <a:lstStyle/>
          <a:p>
            <a:r>
              <a:rPr lang="en-US" dirty="0"/>
              <a:t>Medical concept embeddings</a:t>
            </a:r>
          </a:p>
        </p:txBody>
      </p:sp>
      <p:sp>
        <p:nvSpPr>
          <p:cNvPr id="3" name="Text Placeholder 2">
            <a:extLst>
              <a:ext uri="{FF2B5EF4-FFF2-40B4-BE49-F238E27FC236}">
                <a16:creationId xmlns:a16="http://schemas.microsoft.com/office/drawing/2014/main" id="{E90C19F5-2AB2-EDFA-5B20-A831334BA7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57052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C9AA-E35A-1737-44B5-08A58B46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849E8-21EE-6B08-7299-9FFE80DCDBD2}"/>
              </a:ext>
            </a:extLst>
          </p:cNvPr>
          <p:cNvSpPr>
            <a:spLocks noGrp="1"/>
          </p:cNvSpPr>
          <p:nvPr>
            <p:ph type="title"/>
          </p:nvPr>
        </p:nvSpPr>
        <p:spPr>
          <a:xfrm>
            <a:off x="609600" y="381000"/>
            <a:ext cx="10972800" cy="762000"/>
          </a:xfrm>
        </p:spPr>
        <p:txBody>
          <a:bodyPr>
            <a:noAutofit/>
          </a:bodyPr>
          <a:lstStyle/>
          <a:p>
            <a:r>
              <a:rPr lang="en-US" dirty="0"/>
              <a:t>Recall: our first step was to define the self-supervision task</a:t>
            </a:r>
            <a:endParaRPr lang="en-US" sz="4400" i="1" dirty="0"/>
          </a:p>
        </p:txBody>
      </p:sp>
      <p:sp>
        <p:nvSpPr>
          <p:cNvPr id="4" name="Rectangle 3">
            <a:extLst>
              <a:ext uri="{FF2B5EF4-FFF2-40B4-BE49-F238E27FC236}">
                <a16:creationId xmlns:a16="http://schemas.microsoft.com/office/drawing/2014/main" id="{8A7DA0FB-F342-B488-1FD6-1ADDEDE24B03}"/>
              </a:ext>
            </a:extLst>
          </p:cNvPr>
          <p:cNvSpPr/>
          <p:nvPr/>
        </p:nvSpPr>
        <p:spPr>
          <a:xfrm>
            <a:off x="1544665" y="2040393"/>
            <a:ext cx="4158711" cy="3539430"/>
          </a:xfrm>
          <a:prstGeom prst="rect">
            <a:avLst/>
          </a:prstGeom>
        </p:spPr>
        <p:txBody>
          <a:bodyPr wrap="square">
            <a:spAutoFit/>
          </a:bodyPr>
          <a:lstStyle/>
          <a:p>
            <a:r>
              <a:rPr lang="en-US" sz="2800" dirty="0"/>
              <a:t>{input word, context word}</a:t>
            </a:r>
          </a:p>
          <a:p>
            <a:endParaRPr lang="en-US" sz="2800" dirty="0"/>
          </a:p>
          <a:p>
            <a:r>
              <a:rPr lang="en-US" sz="2800" dirty="0"/>
              <a:t>{strolls, man}</a:t>
            </a:r>
          </a:p>
          <a:p>
            <a:r>
              <a:rPr lang="en-US" sz="2800" dirty="0"/>
              <a:t>{strolls, woman}</a:t>
            </a:r>
          </a:p>
          <a:p>
            <a:r>
              <a:rPr lang="en-US" sz="2800" dirty="0"/>
              <a:t>{swims, crocodile}</a:t>
            </a:r>
          </a:p>
          <a:p>
            <a:r>
              <a:rPr lang="en-US" sz="2800" dirty="0"/>
              <a:t>{swims, fish}</a:t>
            </a:r>
          </a:p>
          <a:p>
            <a:r>
              <a:rPr lang="en-US" sz="2800" dirty="0"/>
              <a:t>{flies, bird}</a:t>
            </a:r>
          </a:p>
          <a:p>
            <a:r>
              <a:rPr lang="en-US" sz="2800" dirty="0"/>
              <a:t>{flies, plane}</a:t>
            </a:r>
          </a:p>
        </p:txBody>
      </p:sp>
      <p:sp>
        <p:nvSpPr>
          <p:cNvPr id="5" name="Rectangle 4">
            <a:extLst>
              <a:ext uri="{FF2B5EF4-FFF2-40B4-BE49-F238E27FC236}">
                <a16:creationId xmlns:a16="http://schemas.microsoft.com/office/drawing/2014/main" id="{5F06AE97-9F11-B7F2-C8A2-5AF9F1452F9E}"/>
              </a:ext>
            </a:extLst>
          </p:cNvPr>
          <p:cNvSpPr/>
          <p:nvPr/>
        </p:nvSpPr>
        <p:spPr>
          <a:xfrm>
            <a:off x="6687518" y="1417639"/>
            <a:ext cx="4561667" cy="4832092"/>
          </a:xfrm>
          <a:prstGeom prst="rect">
            <a:avLst/>
          </a:prstGeom>
        </p:spPr>
        <p:txBody>
          <a:bodyPr wrap="square">
            <a:spAutoFit/>
          </a:bodyPr>
          <a:lstStyle/>
          <a:p>
            <a:r>
              <a:rPr lang="en-US" sz="2800" dirty="0"/>
              <a:t>We define a </a:t>
            </a:r>
            <a:r>
              <a:rPr lang="en-US" sz="2800" u="sng" dirty="0"/>
              <a:t>context word </a:t>
            </a:r>
            <a:r>
              <a:rPr lang="en-US" sz="2800" dirty="0"/>
              <a:t>as one that appears inside a fixed-length window around the input word in our training corpus.</a:t>
            </a:r>
          </a:p>
          <a:p>
            <a:endParaRPr lang="en-US" sz="2800" dirty="0"/>
          </a:p>
          <a:p>
            <a:r>
              <a:rPr lang="en-US" sz="2800" dirty="0"/>
              <a:t>(e.g. Wikipedia)</a:t>
            </a:r>
          </a:p>
          <a:p>
            <a:endParaRPr lang="en-US" sz="2800" dirty="0"/>
          </a:p>
          <a:p>
            <a:r>
              <a:rPr lang="en-US" sz="2800" dirty="0"/>
              <a:t>A man strolls down the street.</a:t>
            </a:r>
          </a:p>
          <a:p>
            <a:endParaRPr lang="en-US" sz="2800" dirty="0"/>
          </a:p>
          <a:p>
            <a:r>
              <a:rPr lang="en-US" sz="2800" dirty="0"/>
              <a:t>		  </a:t>
            </a:r>
            <a:r>
              <a:rPr lang="en-US" sz="2800" dirty="0">
                <a:solidFill>
                  <a:schemeClr val="accent1"/>
                </a:solidFill>
              </a:rPr>
              <a:t>input	</a:t>
            </a:r>
            <a:r>
              <a:rPr lang="en-US" sz="2800" dirty="0">
                <a:solidFill>
                  <a:schemeClr val="accent6"/>
                </a:solidFill>
              </a:rPr>
              <a:t>context</a:t>
            </a:r>
          </a:p>
        </p:txBody>
      </p:sp>
      <p:sp>
        <p:nvSpPr>
          <p:cNvPr id="6" name="Rectangle 5">
            <a:extLst>
              <a:ext uri="{FF2B5EF4-FFF2-40B4-BE49-F238E27FC236}">
                <a16:creationId xmlns:a16="http://schemas.microsoft.com/office/drawing/2014/main" id="{3AEA94F0-7BDE-2FA0-B7A4-F5CA7873C3D4}"/>
              </a:ext>
            </a:extLst>
          </p:cNvPr>
          <p:cNvSpPr/>
          <p:nvPr/>
        </p:nvSpPr>
        <p:spPr>
          <a:xfrm>
            <a:off x="7733654" y="4835471"/>
            <a:ext cx="976393" cy="55530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EDBA018E-8808-37E0-1352-EC241B0F3205}"/>
              </a:ext>
            </a:extLst>
          </p:cNvPr>
          <p:cNvSpPr/>
          <p:nvPr/>
        </p:nvSpPr>
        <p:spPr>
          <a:xfrm>
            <a:off x="6687518" y="4773479"/>
            <a:ext cx="3479370" cy="666428"/>
          </a:xfrm>
          <a:prstGeom prst="rect">
            <a:avLst/>
          </a:prstGeom>
          <a:noFill/>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85768364"/>
      </p:ext>
    </p:extLst>
  </p:cSld>
  <p:clrMapOvr>
    <a:masterClrMapping/>
  </p:clrMapOvr>
  <mc:AlternateContent xmlns:mc="http://schemas.openxmlformats.org/markup-compatibility/2006" xmlns:p14="http://schemas.microsoft.com/office/powerpoint/2010/main">
    <mc:Choice Requires="p14">
      <p:transition spd="slow" p14:dur="2000" advTm="71029"/>
    </mc:Choice>
    <mc:Fallback xmlns="">
      <p:transition spd="slow" advTm="71029"/>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632A8-FCBB-5E6D-F590-DD6D7137D0C7}"/>
              </a:ext>
            </a:extLst>
          </p:cNvPr>
          <p:cNvSpPr>
            <a:spLocks noGrp="1"/>
          </p:cNvSpPr>
          <p:nvPr>
            <p:ph type="title"/>
          </p:nvPr>
        </p:nvSpPr>
        <p:spPr/>
        <p:txBody>
          <a:bodyPr/>
          <a:lstStyle/>
          <a:p>
            <a:r>
              <a:rPr lang="en-US" dirty="0"/>
              <a:t>Mini activity: how should we define the self-supervision task for medical codes?</a:t>
            </a:r>
          </a:p>
        </p:txBody>
      </p:sp>
      <p:sp>
        <p:nvSpPr>
          <p:cNvPr id="3" name="Content Placeholder 2">
            <a:extLst>
              <a:ext uri="{FF2B5EF4-FFF2-40B4-BE49-F238E27FC236}">
                <a16:creationId xmlns:a16="http://schemas.microsoft.com/office/drawing/2014/main" id="{42B2309B-4C16-D1B0-F384-41CC3B7D298C}"/>
              </a:ext>
            </a:extLst>
          </p:cNvPr>
          <p:cNvSpPr>
            <a:spLocks noGrp="1"/>
          </p:cNvSpPr>
          <p:nvPr>
            <p:ph idx="1"/>
          </p:nvPr>
        </p:nvSpPr>
        <p:spPr/>
        <p:txBody>
          <a:bodyPr/>
          <a:lstStyle/>
          <a:p>
            <a:endParaRPr lang="en-US" dirty="0"/>
          </a:p>
          <a:p>
            <a:r>
              <a:rPr lang="en-US" dirty="0"/>
              <a:t>If we know how to define {input code, context code} pairs, we can use any of the approaches we’ve described</a:t>
            </a:r>
          </a:p>
          <a:p>
            <a:pPr lvl="1"/>
            <a:r>
              <a:rPr lang="en-US" dirty="0"/>
              <a:t>Skip gram</a:t>
            </a:r>
          </a:p>
          <a:p>
            <a:pPr lvl="1"/>
            <a:r>
              <a:rPr lang="en-US" dirty="0"/>
              <a:t>CBOW</a:t>
            </a:r>
          </a:p>
          <a:p>
            <a:pPr lvl="1"/>
            <a:r>
              <a:rPr lang="en-US" dirty="0"/>
              <a:t>Negative sampling</a:t>
            </a:r>
          </a:p>
          <a:p>
            <a:pPr lvl="1"/>
            <a:r>
              <a:rPr lang="en-US" dirty="0"/>
              <a:t>Matrix factorization</a:t>
            </a:r>
          </a:p>
          <a:p>
            <a:endParaRPr lang="en-US" dirty="0"/>
          </a:p>
          <a:p>
            <a:r>
              <a:rPr lang="en-US" dirty="0"/>
              <a:t>How should we define these pairs?</a:t>
            </a:r>
          </a:p>
        </p:txBody>
      </p:sp>
    </p:spTree>
    <p:extLst>
      <p:ext uri="{BB962C8B-B14F-4D97-AF65-F5344CB8AC3E}">
        <p14:creationId xmlns:p14="http://schemas.microsoft.com/office/powerpoint/2010/main" val="30852390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9.2"/>
</p:tagLst>
</file>

<file path=ppt/tags/tag2.xml><?xml version="1.0" encoding="utf-8"?>
<p:tagLst xmlns:a="http://schemas.openxmlformats.org/drawingml/2006/main" xmlns:r="http://schemas.openxmlformats.org/officeDocument/2006/relationships" xmlns:p="http://schemas.openxmlformats.org/presentationml/2006/main">
  <p:tag name="TIMING" val="|19.9"/>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16x9_duke_ppt_3</Template>
  <TotalTime>18228</TotalTime>
  <Words>5008</Words>
  <Application>Microsoft Macintosh PowerPoint</Application>
  <PresentationFormat>Widescreen</PresentationFormat>
  <Paragraphs>743</Paragraphs>
  <Slides>51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 Math</vt:lpstr>
      <vt:lpstr>Times New Roman</vt:lpstr>
      <vt:lpstr>Wingdings</vt:lpstr>
      <vt:lpstr>2_Office Theme</vt:lpstr>
      <vt:lpstr>Word and Concept Embeddings</vt:lpstr>
      <vt:lpstr>Logistics</vt:lpstr>
      <vt:lpstr>Last time: “bag of words” models</vt:lpstr>
      <vt:lpstr>Today</vt:lpstr>
      <vt:lpstr>Motivating word embeddings</vt:lpstr>
      <vt:lpstr>Word embedding: a numeric representation of a word that encodes its meaning</vt:lpstr>
      <vt:lpstr>Grocery List</vt:lpstr>
      <vt:lpstr>Identify items by their attributes (including previously unseen items)</vt:lpstr>
      <vt:lpstr>Why does this help us?</vt:lpstr>
      <vt:lpstr>How do we learn word embeddings?</vt:lpstr>
      <vt:lpstr>How do we learn these attributes?</vt:lpstr>
      <vt:lpstr>How do we learn these attributes?</vt:lpstr>
      <vt:lpstr>Step 1: define co-occurrence or context</vt:lpstr>
      <vt:lpstr>Step 2: find vector representations sufficient  to predict the likely context  (i.e. what other words are likely/unlikely to be nearby) </vt:lpstr>
      <vt:lpstr>Step 2: find vector representations sufficient  to predict the likely context  (i.e. what other words are likely/unlikely to be nearby) </vt:lpstr>
      <vt:lpstr>Step 2: find vector representations sufficient  to predict the likely context  (i.e. what other words are likely/unlikely to be nearby) </vt:lpstr>
      <vt:lpstr>Recall: self-supervised learning</vt:lpstr>
      <vt:lpstr>The skip-gram model</vt:lpstr>
      <vt:lpstr>The skip-gram model</vt:lpstr>
      <vt:lpstr>The skip-gram model</vt:lpstr>
      <vt:lpstr>The skip-gram model</vt:lpstr>
      <vt:lpstr>The skip-gram model</vt:lpstr>
      <vt:lpstr>The skip-gram model</vt:lpstr>
      <vt:lpstr>The skip-gram model</vt:lpstr>
      <vt:lpstr>The skip-gram model</vt:lpstr>
      <vt:lpstr>The skip-gram model</vt:lpstr>
      <vt:lpstr>Use mini-batches of training examples; minimize cross-entropy loss</vt:lpstr>
      <vt:lpstr>Weight Matrices E and U (input embeddings E; target embeddings U)</vt:lpstr>
      <vt:lpstr>Weight Matrices E and U (input embeddings E; target embeddings U)</vt:lpstr>
      <vt:lpstr>This is the vector we need; the embedding of swims</vt:lpstr>
      <vt:lpstr>E is a look-up table of word embeddings</vt:lpstr>
      <vt:lpstr>E is a look-up table of word embeddings</vt:lpstr>
      <vt:lpstr>E is a look-up table of word embeddings</vt:lpstr>
      <vt:lpstr>We now have a distributed representation  of word meaning based on context</vt:lpstr>
      <vt:lpstr>Variation 1: Continuous bag of words (CBOW)</vt:lpstr>
      <vt:lpstr>Variation 2: negative sampling</vt:lpstr>
      <vt:lpstr>Variation 3: factor the co-occurrence matrix</vt:lpstr>
      <vt:lpstr>Important detail: embeddings have norm 1</vt:lpstr>
      <vt:lpstr>What can we do with word embeddings…</vt:lpstr>
      <vt:lpstr>Useful feature 1: retrieval</vt:lpstr>
      <vt:lpstr>Useful feature 2: applying existing models</vt:lpstr>
      <vt:lpstr>What happens when we embed all words in a sentence?</vt:lpstr>
      <vt:lpstr>What happens when we embed all words in a sentence?</vt:lpstr>
      <vt:lpstr>Now we can use deep learning to build our hierarchy of features.</vt:lpstr>
      <vt:lpstr>Now we can use deep learning to build our hierarchy of semantic features.</vt:lpstr>
      <vt:lpstr>Next time: Transformer architecture</vt:lpstr>
      <vt:lpstr>Recipe for ChatGPT / modern LLMs</vt:lpstr>
      <vt:lpstr>Important Takeaways:</vt:lpstr>
      <vt:lpstr>Medical concept embeddings</vt:lpstr>
      <vt:lpstr>Recall: our first step was to define the self-supervision task</vt:lpstr>
      <vt:lpstr>Mini activity: how should we define the self-supervision task for medical codes?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Matthew Engelhard, M.D., Ph.D.</dc:creator>
  <cp:lastModifiedBy>Matthew Engelhard, M.D., Ph.D.</cp:lastModifiedBy>
  <cp:revision>315</cp:revision>
  <cp:lastPrinted>2016-07-31T03:57:51Z</cp:lastPrinted>
  <dcterms:created xsi:type="dcterms:W3CDTF">2016-07-12T20:05:41Z</dcterms:created>
  <dcterms:modified xsi:type="dcterms:W3CDTF">2026-03-25T19:49:30Z</dcterms:modified>
</cp:coreProperties>
</file>