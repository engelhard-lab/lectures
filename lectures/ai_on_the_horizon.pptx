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147477823" r:id="rId4"/>
    <p:sldId id="2147477824" r:id="rId5"/>
    <p:sldId id="2147477825" r:id="rId6"/>
    <p:sldId id="518" r:id="rId7"/>
    <p:sldId id="519" r:id="rId8"/>
    <p:sldId id="550" r:id="rId9"/>
    <p:sldId id="521" r:id="rId10"/>
    <p:sldId id="425" r:id="rId11"/>
    <p:sldId id="2147477819" r:id="rId12"/>
    <p:sldId id="2147477820" r:id="rId13"/>
    <p:sldId id="2147477817" r:id="rId14"/>
    <p:sldId id="2147477822" r:id="rId15"/>
    <p:sldId id="214747782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p:cViewPr varScale="1">
        <p:scale>
          <a:sx n="120" d="100"/>
          <a:sy n="120"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5EED4D-51CA-B84A-B6BB-99AD0415F434}" type="datetimeFigureOut">
              <a:rPr lang="en-US" smtClean="0"/>
              <a:t>7/11/26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CC4ABC-1DAE-C148-AF72-24F6557A22D6}" type="slidenum">
              <a:rPr lang="en-US" smtClean="0"/>
              <a:t>‹#›</a:t>
            </a:fld>
            <a:endParaRPr lang="en-US"/>
          </a:p>
        </p:txBody>
      </p:sp>
    </p:spTree>
    <p:extLst>
      <p:ext uri="{BB962C8B-B14F-4D97-AF65-F5344CB8AC3E}">
        <p14:creationId xmlns:p14="http://schemas.microsoft.com/office/powerpoint/2010/main" val="3619253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dataset that gives us a large number of {state, action, reward} tuples. Keep updating our Q table or DNN based on these tuples until things converge</a:t>
            </a:r>
          </a:p>
          <a:p>
            <a:endParaRPr lang="en-US" dirty="0"/>
          </a:p>
          <a:p>
            <a:r>
              <a:rPr lang="en-US" dirty="0"/>
              <a:t>It’s as if we’re trying the actions, but the actions we’re able to try are set in advance. So the limitation here is that we can’t explore freely. We may not have any examples of particular actions from a given state, and so their value is unknown to us.</a:t>
            </a:r>
          </a:p>
          <a:p>
            <a:endParaRPr lang="en-US" dirty="0"/>
          </a:p>
          <a:p>
            <a:r>
              <a:rPr lang="en-US" dirty="0"/>
              <a:t>Limitation 1: can’t comprehensively explore</a:t>
            </a:r>
          </a:p>
          <a:p>
            <a:r>
              <a:rPr lang="en-US" dirty="0"/>
              <a:t>Limitation 2: since the agent is not actually making decisions, there may be confounding variables that are affecting actions that we don’t understand.</a:t>
            </a:r>
          </a:p>
          <a:p>
            <a:endParaRPr lang="en-US" dirty="0"/>
          </a:p>
          <a:p>
            <a:r>
              <a:rPr lang="en-US" dirty="0"/>
              <a:t>Explain how we do this. We simply keep iterating </a:t>
            </a:r>
          </a:p>
          <a:p>
            <a:endParaRPr lang="en-US" dirty="0"/>
          </a:p>
          <a:p>
            <a:r>
              <a:rPr lang="en-US" dirty="0"/>
              <a:t>Cannot control which actions are taken</a:t>
            </a:r>
          </a:p>
          <a:p>
            <a:r>
              <a:rPr lang="en-US" dirty="0"/>
              <a:t>Tie this back to comments from before</a:t>
            </a:r>
          </a:p>
        </p:txBody>
      </p:sp>
      <p:sp>
        <p:nvSpPr>
          <p:cNvPr id="4" name="Slide Number Placeholder 3"/>
          <p:cNvSpPr>
            <a:spLocks noGrp="1"/>
          </p:cNvSpPr>
          <p:nvPr>
            <p:ph type="sldNum" sz="quarter" idx="5"/>
          </p:nvPr>
        </p:nvSpPr>
        <p:spPr/>
        <p:txBody>
          <a:bodyPr/>
          <a:lstStyle/>
          <a:p>
            <a:fld id="{16E98E89-17B2-4721-9E3B-530BF713EE36}" type="slidenum">
              <a:rPr lang="en-US" smtClean="0"/>
              <a:t>8</a:t>
            </a:fld>
            <a:endParaRPr lang="en-US"/>
          </a:p>
        </p:txBody>
      </p:sp>
    </p:spTree>
    <p:extLst>
      <p:ext uri="{BB962C8B-B14F-4D97-AF65-F5344CB8AC3E}">
        <p14:creationId xmlns:p14="http://schemas.microsoft.com/office/powerpoint/2010/main" val="2821303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transitions may not match reality</a:t>
            </a:r>
          </a:p>
          <a:p>
            <a:endParaRPr lang="en-US" dirty="0"/>
          </a:p>
          <a:p>
            <a:pPr marL="171450" indent="-171450">
              <a:buFontTx/>
              <a:buChar char="-"/>
            </a:pPr>
            <a:r>
              <a:rPr lang="en-US" dirty="0"/>
              <a:t>Requires a good existing understanding of how actions influence the state</a:t>
            </a:r>
          </a:p>
          <a:p>
            <a:pPr marL="171450" indent="-171450">
              <a:buFontTx/>
              <a:buChar char="-"/>
            </a:pPr>
            <a:r>
              <a:rPr lang="en-US" dirty="0"/>
              <a:t>But, the simulator could be generated using whatever means, and may incorporate physiologic info, for example</a:t>
            </a:r>
          </a:p>
          <a:p>
            <a:pPr marL="171450" indent="-171450">
              <a:buFontTx/>
              <a:buChar char="-"/>
            </a:pPr>
            <a:r>
              <a:rPr lang="en-US" dirty="0"/>
              <a:t>So at UVA we have a differential equation based model, includes info about different compartments, long history of development, etc.</a:t>
            </a:r>
          </a:p>
        </p:txBody>
      </p:sp>
      <p:sp>
        <p:nvSpPr>
          <p:cNvPr id="4" name="Slide Number Placeholder 3"/>
          <p:cNvSpPr>
            <a:spLocks noGrp="1"/>
          </p:cNvSpPr>
          <p:nvPr>
            <p:ph type="sldNum" sz="quarter" idx="5"/>
          </p:nvPr>
        </p:nvSpPr>
        <p:spPr/>
        <p:txBody>
          <a:bodyPr/>
          <a:lstStyle/>
          <a:p>
            <a:fld id="{16E98E89-17B2-4721-9E3B-530BF713EE36}" type="slidenum">
              <a:rPr lang="en-US" smtClean="0"/>
              <a:t>9</a:t>
            </a:fld>
            <a:endParaRPr lang="en-US"/>
          </a:p>
        </p:txBody>
      </p:sp>
    </p:spTree>
    <p:extLst>
      <p:ext uri="{BB962C8B-B14F-4D97-AF65-F5344CB8AC3E}">
        <p14:creationId xmlns:p14="http://schemas.microsoft.com/office/powerpoint/2010/main" val="3863065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this at UVA</a:t>
            </a:r>
          </a:p>
          <a:p>
            <a:r>
              <a:rPr lang="en-US" dirty="0"/>
              <a:t>Endocrinologist in the loop</a:t>
            </a:r>
          </a:p>
          <a:p>
            <a:endParaRPr lang="en-US" dirty="0"/>
          </a:p>
          <a:p>
            <a:pPr marL="0" indent="0">
              <a:buNone/>
            </a:pPr>
            <a:r>
              <a:rPr lang="en-US" sz="1200" dirty="0"/>
              <a:t>- high cost (e.g. clinician time)</a:t>
            </a:r>
          </a:p>
          <a:p>
            <a:pPr marL="0" indent="0">
              <a:buNone/>
            </a:pPr>
            <a:r>
              <a:rPr lang="en-US" sz="1200" dirty="0"/>
              <a:t>- may prevent algorithm from learning a better policy</a:t>
            </a:r>
          </a:p>
        </p:txBody>
      </p:sp>
      <p:sp>
        <p:nvSpPr>
          <p:cNvPr id="4" name="Slide Number Placeholder 3"/>
          <p:cNvSpPr>
            <a:spLocks noGrp="1"/>
          </p:cNvSpPr>
          <p:nvPr>
            <p:ph type="sldNum" sz="quarter" idx="10"/>
          </p:nvPr>
        </p:nvSpPr>
        <p:spPr/>
        <p:txBody>
          <a:bodyPr/>
          <a:lstStyle/>
          <a:p>
            <a:fld id="{16E98E89-17B2-4721-9E3B-530BF713EE36}" type="slidenum">
              <a:rPr lang="en-US" smtClean="0"/>
              <a:t>10</a:t>
            </a:fld>
            <a:endParaRPr lang="en-US"/>
          </a:p>
        </p:txBody>
      </p:sp>
    </p:spTree>
    <p:extLst>
      <p:ext uri="{BB962C8B-B14F-4D97-AF65-F5344CB8AC3E}">
        <p14:creationId xmlns:p14="http://schemas.microsoft.com/office/powerpoint/2010/main" val="3637244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CAF46-ACCA-D02C-5D2F-8D616968EE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A0C3D8-3BC3-AC95-780B-807CCE819A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06A7D0-BA3C-8578-9667-B65196BD6EE5}"/>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5" name="Footer Placeholder 4">
            <a:extLst>
              <a:ext uri="{FF2B5EF4-FFF2-40B4-BE49-F238E27FC236}">
                <a16:creationId xmlns:a16="http://schemas.microsoft.com/office/drawing/2014/main" id="{2A62A5B1-2FED-219C-D031-F9F0AD7AC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F567A-296A-EE44-365B-E49059D74A5F}"/>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3362801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A3C4-528D-DE36-6179-559A40EE1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D9B4FF-5902-3951-8C43-E8D18C9FFF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62B834-0918-3039-9EB1-3AC967872587}"/>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5" name="Footer Placeholder 4">
            <a:extLst>
              <a:ext uri="{FF2B5EF4-FFF2-40B4-BE49-F238E27FC236}">
                <a16:creationId xmlns:a16="http://schemas.microsoft.com/office/drawing/2014/main" id="{82BF3258-1327-4CCB-D8DC-F7E1033E5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F7886-344C-2ABB-00D8-9EB1A89ED847}"/>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45606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6821-B173-72B8-7B8B-3B1E64FE75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43224B-9E04-2A58-0C55-B0AB710BC1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ECED79-16BC-856D-723B-D89B12DD1A7A}"/>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5" name="Footer Placeholder 4">
            <a:extLst>
              <a:ext uri="{FF2B5EF4-FFF2-40B4-BE49-F238E27FC236}">
                <a16:creationId xmlns:a16="http://schemas.microsoft.com/office/drawing/2014/main" id="{F93206B6-0D3A-5E5B-0189-C8F6CF025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3C928-364C-D194-7679-C1B80AFCC570}"/>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2912544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7EE90-9178-20AC-5D0E-ABC95689AE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A11F3F-AA9B-E3DD-27F3-62111B79CA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EA87BA-4D5D-3735-2765-DB02E4A8B1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1E857C-C964-53BC-6548-19FB90359830}"/>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6" name="Footer Placeholder 5">
            <a:extLst>
              <a:ext uri="{FF2B5EF4-FFF2-40B4-BE49-F238E27FC236}">
                <a16:creationId xmlns:a16="http://schemas.microsoft.com/office/drawing/2014/main" id="{0A916FD2-4BB6-9277-6D3D-2F3AB0801E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88DB26-B7D5-3AFE-6291-37F71E952073}"/>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1575685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8C69-EA1C-E743-778C-D206DA41E1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D63306-67E4-C2BE-C35F-3290C54079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1F4803-65AA-1616-5C2D-A541C24516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0F4487-C663-A12F-24E9-2754FD5C1C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B7E55D-D5A1-3A12-8646-CA243F650C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04B0CB-E61F-EB58-BCEA-208627BADC42}"/>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8" name="Footer Placeholder 7">
            <a:extLst>
              <a:ext uri="{FF2B5EF4-FFF2-40B4-BE49-F238E27FC236}">
                <a16:creationId xmlns:a16="http://schemas.microsoft.com/office/drawing/2014/main" id="{1F0755FA-F11F-85A4-2DC2-0B20CCD4FD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F0A56-5F91-12A6-7107-E5F0484BB378}"/>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1859116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AB82-F888-3035-DE8F-55887E3C90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7D9A52-3957-0B3D-E7EA-8F17AC4F0BDC}"/>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4" name="Footer Placeholder 3">
            <a:extLst>
              <a:ext uri="{FF2B5EF4-FFF2-40B4-BE49-F238E27FC236}">
                <a16:creationId xmlns:a16="http://schemas.microsoft.com/office/drawing/2014/main" id="{BED1FFDD-EB8B-E564-CAD1-DF0C2954F0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102F2A-CB11-30F9-270C-2B933221AB57}"/>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361868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61714E-F3EE-7D16-E0BB-1E6707AB56A2}"/>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3" name="Footer Placeholder 2">
            <a:extLst>
              <a:ext uri="{FF2B5EF4-FFF2-40B4-BE49-F238E27FC236}">
                <a16:creationId xmlns:a16="http://schemas.microsoft.com/office/drawing/2014/main" id="{5106F5C1-EEF5-9A00-11B3-362E861315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00CBA8-71A7-D12C-B27E-D7E4E844D443}"/>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913302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DC2B2-ED90-362D-8CD3-1F39A9343F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F5023B-D406-6119-FBB8-C9113CB03F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54E0FC-81AC-218A-68A3-FA3799DDC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67900E-A9B9-A78A-423E-AD1519C3FE04}"/>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6" name="Footer Placeholder 5">
            <a:extLst>
              <a:ext uri="{FF2B5EF4-FFF2-40B4-BE49-F238E27FC236}">
                <a16:creationId xmlns:a16="http://schemas.microsoft.com/office/drawing/2014/main" id="{04DD593F-979A-00F5-AC13-117C0B1062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9FADD2-2625-8CA8-E312-9ABF8DECA084}"/>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423860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5E3B6-5328-A726-9770-3BFF0A7CDF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DCFCF3-F145-065E-805E-F8EEA6FC32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6C1139-F3F7-CA42-EC4E-EDE7C44467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57986-2BDA-B1FA-9B6C-61DDC978C0C4}"/>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6" name="Footer Placeholder 5">
            <a:extLst>
              <a:ext uri="{FF2B5EF4-FFF2-40B4-BE49-F238E27FC236}">
                <a16:creationId xmlns:a16="http://schemas.microsoft.com/office/drawing/2014/main" id="{7125F41A-841C-2DF9-A7C1-185BC0C22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D0BDC-194F-276D-7FA5-9AA262287635}"/>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313662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5201D-6D9B-C0AB-EA29-55FA3B8964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807AA4-9564-34D5-1D8A-28331F5335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89B183-467B-1E88-316F-1D2B3DCE7E64}"/>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5" name="Footer Placeholder 4">
            <a:extLst>
              <a:ext uri="{FF2B5EF4-FFF2-40B4-BE49-F238E27FC236}">
                <a16:creationId xmlns:a16="http://schemas.microsoft.com/office/drawing/2014/main" id="{94B1478B-DE4A-0287-997D-CDC6C10545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AF1FB0-6A57-929F-CF54-FECA104BE47D}"/>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834322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8E8C01-C1BB-E4BE-BA62-47524358A6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62AB33-75A2-E36B-12C9-1953B314A5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5E66FC-2ED9-AF7E-AD0B-051D9C0C2A6E}"/>
              </a:ext>
            </a:extLst>
          </p:cNvPr>
          <p:cNvSpPr>
            <a:spLocks noGrp="1"/>
          </p:cNvSpPr>
          <p:nvPr>
            <p:ph type="dt" sz="half" idx="10"/>
          </p:nvPr>
        </p:nvSpPr>
        <p:spPr/>
        <p:txBody>
          <a:bodyPr/>
          <a:lstStyle/>
          <a:p>
            <a:fld id="{6586512E-2AB9-FB48-9A5D-7F5D3ACFF12E}" type="datetimeFigureOut">
              <a:rPr lang="en-US" smtClean="0"/>
              <a:t>7/11/26</a:t>
            </a:fld>
            <a:endParaRPr lang="en-US"/>
          </a:p>
        </p:txBody>
      </p:sp>
      <p:sp>
        <p:nvSpPr>
          <p:cNvPr id="5" name="Footer Placeholder 4">
            <a:extLst>
              <a:ext uri="{FF2B5EF4-FFF2-40B4-BE49-F238E27FC236}">
                <a16:creationId xmlns:a16="http://schemas.microsoft.com/office/drawing/2014/main" id="{80FE42E1-31C8-EF53-A976-1477ABD7BA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882426-9B55-CCE2-BC17-CDA85A72A67B}"/>
              </a:ext>
            </a:extLst>
          </p:cNvPr>
          <p:cNvSpPr>
            <a:spLocks noGrp="1"/>
          </p:cNvSpPr>
          <p:nvPr>
            <p:ph type="sldNum" sz="quarter" idx="12"/>
          </p:nvPr>
        </p:nvSpPr>
        <p:spPr/>
        <p:txBody>
          <a:bodyPr/>
          <a:lstStyle/>
          <a:p>
            <a:fld id="{1EDF8962-77E5-224D-9F43-960A727F5987}" type="slidenum">
              <a:rPr lang="en-US" smtClean="0"/>
              <a:t>‹#›</a:t>
            </a:fld>
            <a:endParaRPr lang="en-US"/>
          </a:p>
        </p:txBody>
      </p:sp>
    </p:spTree>
    <p:extLst>
      <p:ext uri="{BB962C8B-B14F-4D97-AF65-F5344CB8AC3E}">
        <p14:creationId xmlns:p14="http://schemas.microsoft.com/office/powerpoint/2010/main" val="1415099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CCCB6F-1727-01A3-6B67-5C1F7DD18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01CD3B-48C8-9587-B4C8-078BED9C4B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ED1688-B0DA-B248-6DED-3ADE132692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86512E-2AB9-FB48-9A5D-7F5D3ACFF12E}" type="datetimeFigureOut">
              <a:rPr lang="en-US" smtClean="0"/>
              <a:t>7/11/26</a:t>
            </a:fld>
            <a:endParaRPr lang="en-US"/>
          </a:p>
        </p:txBody>
      </p:sp>
      <p:sp>
        <p:nvSpPr>
          <p:cNvPr id="5" name="Footer Placeholder 4">
            <a:extLst>
              <a:ext uri="{FF2B5EF4-FFF2-40B4-BE49-F238E27FC236}">
                <a16:creationId xmlns:a16="http://schemas.microsoft.com/office/drawing/2014/main" id="{773C1459-0080-8B85-C6E1-283FFC3EB3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A0511B5-2F51-7500-3141-335D155E96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DF8962-77E5-224D-9F43-960A727F5987}" type="slidenum">
              <a:rPr lang="en-US" smtClean="0"/>
              <a:t>‹#›</a:t>
            </a:fld>
            <a:endParaRPr lang="en-US"/>
          </a:p>
        </p:txBody>
      </p:sp>
    </p:spTree>
    <p:extLst>
      <p:ext uri="{BB962C8B-B14F-4D97-AF65-F5344CB8AC3E}">
        <p14:creationId xmlns:p14="http://schemas.microsoft.com/office/powerpoint/2010/main" val="1082385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https://spectrum.ieee.org/author/ackerman-evan-" TargetMode="Externa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tiff"/></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mlforhc.org/"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73F7A-5EA6-D294-C971-D824182D20A5}"/>
              </a:ext>
            </a:extLst>
          </p:cNvPr>
          <p:cNvSpPr>
            <a:spLocks noGrp="1"/>
          </p:cNvSpPr>
          <p:nvPr>
            <p:ph type="ctrTitle"/>
          </p:nvPr>
        </p:nvSpPr>
        <p:spPr/>
        <p:txBody>
          <a:bodyPr/>
          <a:lstStyle/>
          <a:p>
            <a:r>
              <a:rPr lang="en-US" dirty="0"/>
              <a:t>AI on the horizon</a:t>
            </a:r>
          </a:p>
        </p:txBody>
      </p:sp>
      <p:sp>
        <p:nvSpPr>
          <p:cNvPr id="3" name="Subtitle 2">
            <a:extLst>
              <a:ext uri="{FF2B5EF4-FFF2-40B4-BE49-F238E27FC236}">
                <a16:creationId xmlns:a16="http://schemas.microsoft.com/office/drawing/2014/main" id="{2C57AD6C-7143-DE93-B2EE-CA98E5B86051}"/>
              </a:ext>
            </a:extLst>
          </p:cNvPr>
          <p:cNvSpPr>
            <a:spLocks noGrp="1"/>
          </p:cNvSpPr>
          <p:nvPr>
            <p:ph type="subTitle" idx="1"/>
          </p:nvPr>
        </p:nvSpPr>
        <p:spPr/>
        <p:txBody>
          <a:bodyPr/>
          <a:lstStyle/>
          <a:p>
            <a:endParaRPr lang="en-US" dirty="0"/>
          </a:p>
          <a:p>
            <a:r>
              <a:rPr lang="en-US" dirty="0"/>
              <a:t>Matthew Engelhard</a:t>
            </a:r>
          </a:p>
        </p:txBody>
      </p:sp>
    </p:spTree>
    <p:extLst>
      <p:ext uri="{BB962C8B-B14F-4D97-AF65-F5344CB8AC3E}">
        <p14:creationId xmlns:p14="http://schemas.microsoft.com/office/powerpoint/2010/main" val="1815871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4A9A-61FE-AACB-8113-CB9CDB4090D9}"/>
              </a:ext>
            </a:extLst>
          </p:cNvPr>
          <p:cNvSpPr>
            <a:spLocks noGrp="1"/>
          </p:cNvSpPr>
          <p:nvPr>
            <p:ph type="title"/>
          </p:nvPr>
        </p:nvSpPr>
        <p:spPr/>
        <p:txBody>
          <a:bodyPr/>
          <a:lstStyle/>
          <a:p>
            <a:r>
              <a:rPr lang="en-US" dirty="0"/>
              <a:t>1. Reinforcement Learning</a:t>
            </a:r>
          </a:p>
        </p:txBody>
      </p:sp>
      <p:sp>
        <p:nvSpPr>
          <p:cNvPr id="3" name="Text Placeholder 2">
            <a:extLst>
              <a:ext uri="{FF2B5EF4-FFF2-40B4-BE49-F238E27FC236}">
                <a16:creationId xmlns:a16="http://schemas.microsoft.com/office/drawing/2014/main" id="{95894FC8-19DC-BEEA-C7BE-BD903A5B501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66471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E826C-A348-E6D3-ECB4-466A5D7ADE9D}"/>
              </a:ext>
            </a:extLst>
          </p:cNvPr>
          <p:cNvSpPr>
            <a:spLocks noGrp="1"/>
          </p:cNvSpPr>
          <p:nvPr>
            <p:ph type="title"/>
          </p:nvPr>
        </p:nvSpPr>
        <p:spPr/>
        <p:txBody>
          <a:bodyPr/>
          <a:lstStyle/>
          <a:p>
            <a:r>
              <a:rPr lang="en-US" dirty="0"/>
              <a:t>RL for sequential (clinical) decision-making</a:t>
            </a:r>
          </a:p>
        </p:txBody>
      </p:sp>
      <p:sp>
        <p:nvSpPr>
          <p:cNvPr id="4" name="TextBox 3">
            <a:extLst>
              <a:ext uri="{FF2B5EF4-FFF2-40B4-BE49-F238E27FC236}">
                <a16:creationId xmlns:a16="http://schemas.microsoft.com/office/drawing/2014/main" id="{6DD85DD5-249E-2768-7F5B-F76C0E73550B}"/>
              </a:ext>
            </a:extLst>
          </p:cNvPr>
          <p:cNvSpPr txBox="1"/>
          <p:nvPr/>
        </p:nvSpPr>
        <p:spPr>
          <a:xfrm>
            <a:off x="408401" y="2953445"/>
            <a:ext cx="3243714" cy="3539430"/>
          </a:xfrm>
          <a:prstGeom prst="rect">
            <a:avLst/>
          </a:prstGeom>
          <a:noFill/>
        </p:spPr>
        <p:txBody>
          <a:bodyPr wrap="square" rtlCol="0">
            <a:spAutoFit/>
          </a:bodyPr>
          <a:lstStyle/>
          <a:p>
            <a:r>
              <a:rPr lang="en-US" sz="2800" dirty="0"/>
              <a:t>An </a:t>
            </a:r>
            <a:r>
              <a:rPr lang="en-US" sz="2800" dirty="0">
                <a:solidFill>
                  <a:schemeClr val="accent2"/>
                </a:solidFill>
              </a:rPr>
              <a:t>agent</a:t>
            </a:r>
            <a:r>
              <a:rPr lang="en-US" sz="2800" dirty="0"/>
              <a:t> </a:t>
            </a:r>
          </a:p>
          <a:p>
            <a:endParaRPr lang="en-US" sz="2800" dirty="0"/>
          </a:p>
          <a:p>
            <a:r>
              <a:rPr lang="en-US" sz="2800" dirty="0"/>
              <a:t>takes </a:t>
            </a:r>
            <a:r>
              <a:rPr lang="en-US" sz="2800" dirty="0">
                <a:solidFill>
                  <a:schemeClr val="accent3"/>
                </a:solidFill>
              </a:rPr>
              <a:t>actions</a:t>
            </a:r>
          </a:p>
          <a:p>
            <a:endParaRPr lang="en-US" sz="2800" dirty="0"/>
          </a:p>
          <a:p>
            <a:r>
              <a:rPr lang="en-US" sz="2800" dirty="0"/>
              <a:t>based on the </a:t>
            </a:r>
            <a:r>
              <a:rPr lang="en-US" sz="2800" dirty="0">
                <a:solidFill>
                  <a:schemeClr val="accent5"/>
                </a:solidFill>
              </a:rPr>
              <a:t>state</a:t>
            </a:r>
            <a:r>
              <a:rPr lang="en-US" sz="2800" dirty="0"/>
              <a:t> of a system</a:t>
            </a:r>
          </a:p>
          <a:p>
            <a:endParaRPr lang="en-US" sz="2800" dirty="0"/>
          </a:p>
          <a:p>
            <a:r>
              <a:rPr lang="en-US" sz="2800" dirty="0"/>
              <a:t>to maximize </a:t>
            </a:r>
            <a:r>
              <a:rPr lang="en-US" sz="2800" dirty="0">
                <a:solidFill>
                  <a:schemeClr val="accent4"/>
                </a:solidFill>
              </a:rPr>
              <a:t>reward</a:t>
            </a:r>
          </a:p>
        </p:txBody>
      </p:sp>
      <p:pic>
        <p:nvPicPr>
          <p:cNvPr id="5" name="Picture 2" descr="Image result for alphago">
            <a:extLst>
              <a:ext uri="{FF2B5EF4-FFF2-40B4-BE49-F238E27FC236}">
                <a16:creationId xmlns:a16="http://schemas.microsoft.com/office/drawing/2014/main" id="{7959AA1E-5DFA-7B91-C80D-01EF8FAC38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1544" y="1563398"/>
            <a:ext cx="3530600" cy="37312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alphastar">
            <a:extLst>
              <a:ext uri="{FF2B5EF4-FFF2-40B4-BE49-F238E27FC236}">
                <a16:creationId xmlns:a16="http://schemas.microsoft.com/office/drawing/2014/main" id="{CF3D9CFB-43EE-328C-9803-39B8CCB4BD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2362" y="3780928"/>
            <a:ext cx="4821237" cy="2711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850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998D4-1E2E-C42F-79AA-DC39FD306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DE51B-B46E-E53B-B9D1-12FCDED3E365}"/>
              </a:ext>
            </a:extLst>
          </p:cNvPr>
          <p:cNvSpPr>
            <a:spLocks noGrp="1"/>
          </p:cNvSpPr>
          <p:nvPr>
            <p:ph type="title"/>
          </p:nvPr>
        </p:nvSpPr>
        <p:spPr/>
        <p:txBody>
          <a:bodyPr/>
          <a:lstStyle/>
          <a:p>
            <a:r>
              <a:rPr lang="en-US" dirty="0"/>
              <a:t>RL for sepsis</a:t>
            </a:r>
            <a:br>
              <a:rPr lang="en-US" dirty="0"/>
            </a:br>
            <a:r>
              <a:rPr lang="en-US" dirty="0"/>
              <a:t>management</a:t>
            </a:r>
          </a:p>
        </p:txBody>
      </p:sp>
      <p:sp>
        <p:nvSpPr>
          <p:cNvPr id="5" name="TextBox 4">
            <a:extLst>
              <a:ext uri="{FF2B5EF4-FFF2-40B4-BE49-F238E27FC236}">
                <a16:creationId xmlns:a16="http://schemas.microsoft.com/office/drawing/2014/main" id="{763EC27D-5DF8-A619-2974-61425A753E07}"/>
              </a:ext>
            </a:extLst>
          </p:cNvPr>
          <p:cNvSpPr txBox="1"/>
          <p:nvPr/>
        </p:nvSpPr>
        <p:spPr>
          <a:xfrm>
            <a:off x="4144681" y="2953445"/>
            <a:ext cx="6097772" cy="3539430"/>
          </a:xfrm>
          <a:prstGeom prst="rect">
            <a:avLst/>
          </a:prstGeom>
          <a:noFill/>
        </p:spPr>
        <p:txBody>
          <a:bodyPr wrap="square">
            <a:spAutoFit/>
          </a:bodyPr>
          <a:lstStyle/>
          <a:p>
            <a:r>
              <a:rPr lang="en-US" sz="2800" dirty="0"/>
              <a:t>A </a:t>
            </a:r>
            <a:r>
              <a:rPr lang="en-US" sz="2800" dirty="0">
                <a:solidFill>
                  <a:schemeClr val="accent2"/>
                </a:solidFill>
              </a:rPr>
              <a:t>clinician</a:t>
            </a:r>
            <a:r>
              <a:rPr lang="en-US" sz="2800" dirty="0"/>
              <a:t> </a:t>
            </a:r>
          </a:p>
          <a:p>
            <a:endParaRPr lang="en-US" sz="2800" dirty="0"/>
          </a:p>
          <a:p>
            <a:r>
              <a:rPr lang="en-US" sz="2800" dirty="0">
                <a:solidFill>
                  <a:schemeClr val="accent3"/>
                </a:solidFill>
              </a:rPr>
              <a:t>gives fluid and/or vasopressor</a:t>
            </a:r>
          </a:p>
          <a:p>
            <a:endParaRPr lang="en-US" sz="2800" dirty="0"/>
          </a:p>
          <a:p>
            <a:r>
              <a:rPr lang="en-US" sz="2800" dirty="0"/>
              <a:t>based on the patient’s </a:t>
            </a:r>
            <a:r>
              <a:rPr lang="en-US" sz="2800" dirty="0">
                <a:solidFill>
                  <a:schemeClr val="accent5"/>
                </a:solidFill>
              </a:rPr>
              <a:t>physiologic status</a:t>
            </a:r>
          </a:p>
          <a:p>
            <a:endParaRPr lang="en-US" sz="2800" dirty="0"/>
          </a:p>
          <a:p>
            <a:r>
              <a:rPr lang="en-US" sz="2800" dirty="0"/>
              <a:t>to maximize </a:t>
            </a:r>
            <a:r>
              <a:rPr lang="en-US" sz="2800" dirty="0">
                <a:solidFill>
                  <a:schemeClr val="accent4"/>
                </a:solidFill>
              </a:rPr>
              <a:t>chance of survival</a:t>
            </a:r>
          </a:p>
        </p:txBody>
      </p:sp>
      <p:sp>
        <p:nvSpPr>
          <p:cNvPr id="6" name="TextBox 5">
            <a:extLst>
              <a:ext uri="{FF2B5EF4-FFF2-40B4-BE49-F238E27FC236}">
                <a16:creationId xmlns:a16="http://schemas.microsoft.com/office/drawing/2014/main" id="{0A05F3C9-07E1-2D93-F7C9-D99DCB68BFA7}"/>
              </a:ext>
            </a:extLst>
          </p:cNvPr>
          <p:cNvSpPr txBox="1"/>
          <p:nvPr/>
        </p:nvSpPr>
        <p:spPr>
          <a:xfrm>
            <a:off x="408401" y="2953445"/>
            <a:ext cx="3243714" cy="3539430"/>
          </a:xfrm>
          <a:prstGeom prst="rect">
            <a:avLst/>
          </a:prstGeom>
          <a:noFill/>
        </p:spPr>
        <p:txBody>
          <a:bodyPr wrap="square" rtlCol="0">
            <a:spAutoFit/>
          </a:bodyPr>
          <a:lstStyle/>
          <a:p>
            <a:r>
              <a:rPr lang="en-US" sz="2800" dirty="0"/>
              <a:t>An </a:t>
            </a:r>
            <a:r>
              <a:rPr lang="en-US" sz="2800" dirty="0">
                <a:solidFill>
                  <a:schemeClr val="accent2"/>
                </a:solidFill>
              </a:rPr>
              <a:t>agent</a:t>
            </a:r>
            <a:r>
              <a:rPr lang="en-US" sz="2800" dirty="0"/>
              <a:t> </a:t>
            </a:r>
          </a:p>
          <a:p>
            <a:endParaRPr lang="en-US" sz="2800" dirty="0"/>
          </a:p>
          <a:p>
            <a:r>
              <a:rPr lang="en-US" sz="2800" dirty="0"/>
              <a:t>takes </a:t>
            </a:r>
            <a:r>
              <a:rPr lang="en-US" sz="2800" dirty="0">
                <a:solidFill>
                  <a:schemeClr val="accent3"/>
                </a:solidFill>
              </a:rPr>
              <a:t>actions</a:t>
            </a:r>
          </a:p>
          <a:p>
            <a:endParaRPr lang="en-US" sz="2800" dirty="0"/>
          </a:p>
          <a:p>
            <a:r>
              <a:rPr lang="en-US" sz="2800" dirty="0"/>
              <a:t>based on the </a:t>
            </a:r>
            <a:r>
              <a:rPr lang="en-US" sz="2800" dirty="0">
                <a:solidFill>
                  <a:schemeClr val="accent5"/>
                </a:solidFill>
              </a:rPr>
              <a:t>state</a:t>
            </a:r>
            <a:r>
              <a:rPr lang="en-US" sz="2800" dirty="0"/>
              <a:t> of a system</a:t>
            </a:r>
          </a:p>
          <a:p>
            <a:endParaRPr lang="en-US" sz="2800" dirty="0"/>
          </a:p>
          <a:p>
            <a:r>
              <a:rPr lang="en-US" sz="2800" dirty="0"/>
              <a:t>to maximize </a:t>
            </a:r>
            <a:r>
              <a:rPr lang="en-US" sz="2800" dirty="0">
                <a:solidFill>
                  <a:schemeClr val="accent4"/>
                </a:solidFill>
              </a:rPr>
              <a:t>reward</a:t>
            </a:r>
          </a:p>
        </p:txBody>
      </p:sp>
      <p:pic>
        <p:nvPicPr>
          <p:cNvPr id="7" name="Picture 2" descr="https://sandpit.bmj.com/graphics/2016/sepsisSOTA/sepsis-v13.png">
            <a:extLst>
              <a:ext uri="{FF2B5EF4-FFF2-40B4-BE49-F238E27FC236}">
                <a16:creationId xmlns:a16="http://schemas.microsoft.com/office/drawing/2014/main" id="{471684AA-D225-DEA6-743B-8174E137F76D}"/>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8351"/>
          <a:stretch>
            <a:fillRect/>
          </a:stretch>
        </p:blipFill>
        <p:spPr bwMode="auto">
          <a:xfrm>
            <a:off x="6476586" y="325486"/>
            <a:ext cx="5461758" cy="31035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849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CAB6-FBD7-F3AF-A58C-6265C728D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9C0B7-F7D0-5459-2BBD-F9E93CB04F4C}"/>
              </a:ext>
            </a:extLst>
          </p:cNvPr>
          <p:cNvSpPr>
            <a:spLocks noGrp="1"/>
          </p:cNvSpPr>
          <p:nvPr>
            <p:ph type="title"/>
          </p:nvPr>
        </p:nvSpPr>
        <p:spPr/>
        <p:txBody>
          <a:bodyPr/>
          <a:lstStyle/>
          <a:p>
            <a:r>
              <a:rPr lang="en-US" dirty="0"/>
              <a:t>RL for close—loop</a:t>
            </a:r>
            <a:br>
              <a:rPr lang="en-US" dirty="0"/>
            </a:br>
            <a:r>
              <a:rPr lang="en-US" dirty="0"/>
              <a:t>BG control</a:t>
            </a:r>
          </a:p>
        </p:txBody>
      </p:sp>
      <p:sp>
        <p:nvSpPr>
          <p:cNvPr id="6" name="TextBox 5">
            <a:extLst>
              <a:ext uri="{FF2B5EF4-FFF2-40B4-BE49-F238E27FC236}">
                <a16:creationId xmlns:a16="http://schemas.microsoft.com/office/drawing/2014/main" id="{C5EA842A-EC12-9C8D-4C08-2B3FCD421FB2}"/>
              </a:ext>
            </a:extLst>
          </p:cNvPr>
          <p:cNvSpPr txBox="1"/>
          <p:nvPr/>
        </p:nvSpPr>
        <p:spPr>
          <a:xfrm>
            <a:off x="408401" y="2953445"/>
            <a:ext cx="3243714" cy="3539430"/>
          </a:xfrm>
          <a:prstGeom prst="rect">
            <a:avLst/>
          </a:prstGeom>
          <a:noFill/>
        </p:spPr>
        <p:txBody>
          <a:bodyPr wrap="square" rtlCol="0">
            <a:spAutoFit/>
          </a:bodyPr>
          <a:lstStyle/>
          <a:p>
            <a:r>
              <a:rPr lang="en-US" sz="2800" dirty="0"/>
              <a:t>An </a:t>
            </a:r>
            <a:r>
              <a:rPr lang="en-US" sz="2800" dirty="0">
                <a:solidFill>
                  <a:schemeClr val="accent2"/>
                </a:solidFill>
              </a:rPr>
              <a:t>agent</a:t>
            </a:r>
            <a:r>
              <a:rPr lang="en-US" sz="2800" dirty="0"/>
              <a:t> </a:t>
            </a:r>
          </a:p>
          <a:p>
            <a:endParaRPr lang="en-US" sz="2800" dirty="0"/>
          </a:p>
          <a:p>
            <a:r>
              <a:rPr lang="en-US" sz="2800" dirty="0"/>
              <a:t>takes </a:t>
            </a:r>
            <a:r>
              <a:rPr lang="en-US" sz="2800" dirty="0">
                <a:solidFill>
                  <a:schemeClr val="accent3"/>
                </a:solidFill>
              </a:rPr>
              <a:t>actions</a:t>
            </a:r>
          </a:p>
          <a:p>
            <a:endParaRPr lang="en-US" sz="2800" dirty="0"/>
          </a:p>
          <a:p>
            <a:r>
              <a:rPr lang="en-US" sz="2800" dirty="0"/>
              <a:t>based on the </a:t>
            </a:r>
            <a:r>
              <a:rPr lang="en-US" sz="2800" dirty="0">
                <a:solidFill>
                  <a:schemeClr val="accent5"/>
                </a:solidFill>
              </a:rPr>
              <a:t>state</a:t>
            </a:r>
            <a:r>
              <a:rPr lang="en-US" sz="2800" dirty="0"/>
              <a:t> of a system</a:t>
            </a:r>
          </a:p>
          <a:p>
            <a:endParaRPr lang="en-US" sz="2800" dirty="0"/>
          </a:p>
          <a:p>
            <a:r>
              <a:rPr lang="en-US" sz="2800" dirty="0"/>
              <a:t>to maximize </a:t>
            </a:r>
            <a:r>
              <a:rPr lang="en-US" sz="2800" dirty="0">
                <a:solidFill>
                  <a:schemeClr val="accent4"/>
                </a:solidFill>
              </a:rPr>
              <a:t>reward</a:t>
            </a:r>
          </a:p>
        </p:txBody>
      </p:sp>
      <p:sp>
        <p:nvSpPr>
          <p:cNvPr id="3" name="TextBox 2">
            <a:extLst>
              <a:ext uri="{FF2B5EF4-FFF2-40B4-BE49-F238E27FC236}">
                <a16:creationId xmlns:a16="http://schemas.microsoft.com/office/drawing/2014/main" id="{862E2A11-EE62-4014-ADD4-5F3A182A6E0E}"/>
              </a:ext>
            </a:extLst>
          </p:cNvPr>
          <p:cNvSpPr txBox="1"/>
          <p:nvPr/>
        </p:nvSpPr>
        <p:spPr>
          <a:xfrm>
            <a:off x="4119593" y="2953445"/>
            <a:ext cx="4767979" cy="3539430"/>
          </a:xfrm>
          <a:prstGeom prst="rect">
            <a:avLst/>
          </a:prstGeom>
          <a:noFill/>
        </p:spPr>
        <p:txBody>
          <a:bodyPr wrap="square" rtlCol="0">
            <a:spAutoFit/>
          </a:bodyPr>
          <a:lstStyle/>
          <a:p>
            <a:r>
              <a:rPr lang="en-US" sz="2800" dirty="0"/>
              <a:t>A </a:t>
            </a:r>
            <a:r>
              <a:rPr lang="en-US" sz="2800" dirty="0">
                <a:solidFill>
                  <a:schemeClr val="accent2"/>
                </a:solidFill>
              </a:rPr>
              <a:t>computer program </a:t>
            </a:r>
          </a:p>
          <a:p>
            <a:endParaRPr lang="en-US" sz="2800" dirty="0"/>
          </a:p>
          <a:p>
            <a:r>
              <a:rPr lang="en-US" sz="2800" dirty="0">
                <a:solidFill>
                  <a:schemeClr val="accent3"/>
                </a:solidFill>
              </a:rPr>
              <a:t>administers insulin</a:t>
            </a:r>
          </a:p>
          <a:p>
            <a:endParaRPr lang="en-US" sz="2800" dirty="0"/>
          </a:p>
          <a:p>
            <a:r>
              <a:rPr lang="en-US" sz="2800" dirty="0"/>
              <a:t>based on </a:t>
            </a:r>
            <a:r>
              <a:rPr lang="en-US" sz="2800" dirty="0">
                <a:solidFill>
                  <a:schemeClr val="accent5"/>
                </a:solidFill>
              </a:rPr>
              <a:t>blood glucose and recent patient behaviors</a:t>
            </a:r>
          </a:p>
          <a:p>
            <a:endParaRPr lang="en-US" sz="2800" dirty="0"/>
          </a:p>
          <a:p>
            <a:r>
              <a:rPr lang="en-US" sz="2800" dirty="0"/>
              <a:t>to maintain </a:t>
            </a:r>
            <a:r>
              <a:rPr lang="en-US" sz="2800" dirty="0">
                <a:solidFill>
                  <a:schemeClr val="accent4"/>
                </a:solidFill>
              </a:rPr>
              <a:t>normoglycemia</a:t>
            </a:r>
          </a:p>
        </p:txBody>
      </p:sp>
      <p:pic>
        <p:nvPicPr>
          <p:cNvPr id="4" name="Picture 2" descr="Image result for artificial pancreas">
            <a:extLst>
              <a:ext uri="{FF2B5EF4-FFF2-40B4-BE49-F238E27FC236}">
                <a16:creationId xmlns:a16="http://schemas.microsoft.com/office/drawing/2014/main" id="{EE1BE916-DB7E-CB5A-51C6-C055A1CED11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719777" y="202746"/>
            <a:ext cx="5210114" cy="27353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466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774700"/>
          </a:xfrm>
        </p:spPr>
        <p:txBody>
          <a:bodyPr>
            <a:normAutofit/>
          </a:bodyPr>
          <a:lstStyle/>
          <a:p>
            <a:r>
              <a:rPr lang="en-US" sz="4800" dirty="0"/>
              <a:t>In RL, we typically learn “from scratch”:</a:t>
            </a:r>
          </a:p>
        </p:txBody>
      </p:sp>
      <p:pic>
        <p:nvPicPr>
          <p:cNvPr id="1026" name="Picture 2" descr="Image result for alpha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2197099"/>
            <a:ext cx="3530600" cy="373120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09600" y="1070401"/>
            <a:ext cx="4369401"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Try things and see what works</a:t>
            </a:r>
          </a:p>
          <a:p>
            <a:pPr marL="285750" indent="-285750">
              <a:buFont typeface="Arial" panose="020B0604020202020204" pitchFamily="34" charset="0"/>
              <a:buChar char="•"/>
            </a:pPr>
            <a:r>
              <a:rPr lang="en-US" sz="2400" dirty="0"/>
              <a:t>Initially our actions are random</a:t>
            </a:r>
          </a:p>
        </p:txBody>
      </p:sp>
      <p:pic>
        <p:nvPicPr>
          <p:cNvPr id="1028" name="Picture 4" descr="Image result for alphasta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3011" y="3571378"/>
            <a:ext cx="4821237" cy="27119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rone uses deep learning and 11,500 crashes to learn how to fl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7948" y="2566177"/>
            <a:ext cx="5372101" cy="371714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457948" y="1070401"/>
            <a:ext cx="5372101" cy="1785104"/>
          </a:xfrm>
          <a:prstGeom prst="rect">
            <a:avLst/>
          </a:prstGeom>
          <a:solidFill>
            <a:schemeClr val="bg1"/>
          </a:solidFill>
          <a:ln>
            <a:solidFill>
              <a:schemeClr val="tx1"/>
            </a:solidFill>
          </a:ln>
        </p:spPr>
        <p:txBody>
          <a:bodyPr wrap="square">
            <a:spAutoFit/>
          </a:bodyPr>
          <a:lstStyle/>
          <a:p>
            <a:pPr algn="ctr"/>
            <a:r>
              <a:rPr lang="en-US" sz="2800" dirty="0">
                <a:solidFill>
                  <a:srgbClr val="000000"/>
                </a:solidFill>
                <a:latin typeface="Theinhardt-Medium"/>
              </a:rPr>
              <a:t>Drone Uses AI and 11,500 Crashes to Learn How to Fly</a:t>
            </a:r>
          </a:p>
          <a:p>
            <a:pPr algn="ctr"/>
            <a:r>
              <a:rPr lang="en-US" dirty="0">
                <a:solidFill>
                  <a:srgbClr val="888888"/>
                </a:solidFill>
                <a:latin typeface="Georgia" panose="02040502050405020303" pitchFamily="18" charset="0"/>
              </a:rPr>
              <a:t>Crashing into objects has taught this drone to fly autonomously, by learning what not to do</a:t>
            </a:r>
          </a:p>
          <a:p>
            <a:pPr algn="ctr"/>
            <a:r>
              <a:rPr lang="en-US" dirty="0">
                <a:solidFill>
                  <a:srgbClr val="000000"/>
                </a:solidFill>
                <a:latin typeface="Theinhardt-Regular"/>
              </a:rPr>
              <a:t>By </a:t>
            </a:r>
            <a:r>
              <a:rPr lang="en-US" dirty="0">
                <a:solidFill>
                  <a:srgbClr val="000000"/>
                </a:solidFill>
                <a:latin typeface="Theinhardt-Bold"/>
                <a:hlinkClick r:id="rId5"/>
              </a:rPr>
              <a:t>Evan Ackerman</a:t>
            </a:r>
            <a:endParaRPr lang="en-US" b="0" i="0" dirty="0">
              <a:solidFill>
                <a:srgbClr val="000000"/>
              </a:solidFill>
              <a:effectLst/>
              <a:latin typeface="Theinhardt-Regular"/>
            </a:endParaRPr>
          </a:p>
        </p:txBody>
      </p:sp>
    </p:spTree>
    <p:extLst>
      <p:ext uri="{BB962C8B-B14F-4D97-AF65-F5344CB8AC3E}">
        <p14:creationId xmlns:p14="http://schemas.microsoft.com/office/powerpoint/2010/main" val="144881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normAutofit/>
          </a:bodyPr>
          <a:lstStyle/>
          <a:p>
            <a:r>
              <a:rPr lang="en-US" sz="4800" dirty="0"/>
              <a:t>Failing 11,500 times isn’t always an option</a:t>
            </a:r>
          </a:p>
        </p:txBody>
      </p:sp>
      <p:pic>
        <p:nvPicPr>
          <p:cNvPr id="4" name="Picture 2" descr="https://sandpit.bmj.com/graphics/2016/sepsisSOTA/sepsis-v1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499" y="1346200"/>
            <a:ext cx="4670401" cy="28956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artificial pancreas">
            <a:extLst>
              <a:ext uri="{FF2B5EF4-FFF2-40B4-BE49-F238E27FC236}">
                <a16:creationId xmlns:a16="http://schemas.microsoft.com/office/drawing/2014/main" id="{4B33E376-3DE7-E54A-8F05-B0CAB25BE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016" y="1419971"/>
            <a:ext cx="5234484" cy="274810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tesla self-driv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6273" y="3547795"/>
            <a:ext cx="4772760" cy="268359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3C85DA3-E53E-FA4E-84A9-53FB8BA4737B}"/>
              </a:ext>
            </a:extLst>
          </p:cNvPr>
          <p:cNvSpPr txBox="1"/>
          <p:nvPr/>
        </p:nvSpPr>
        <p:spPr>
          <a:xfrm>
            <a:off x="8464014" y="5011435"/>
            <a:ext cx="2765459" cy="954107"/>
          </a:xfrm>
          <a:prstGeom prst="rect">
            <a:avLst/>
          </a:prstGeom>
          <a:noFill/>
        </p:spPr>
        <p:txBody>
          <a:bodyPr wrap="square" rtlCol="0">
            <a:spAutoFit/>
          </a:bodyPr>
          <a:lstStyle/>
          <a:p>
            <a:r>
              <a:rPr lang="en-US" sz="2800" dirty="0">
                <a:solidFill>
                  <a:schemeClr val="accent2"/>
                </a:solidFill>
              </a:rPr>
              <a:t>-&gt; What are the alternatives?</a:t>
            </a:r>
          </a:p>
        </p:txBody>
      </p:sp>
    </p:spTree>
    <p:extLst>
      <p:ext uri="{BB962C8B-B14F-4D97-AF65-F5344CB8AC3E}">
        <p14:creationId xmlns:p14="http://schemas.microsoft.com/office/powerpoint/2010/main" val="106521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BF90E-1BBC-8944-805F-1D014D0201CD}"/>
              </a:ext>
            </a:extLst>
          </p:cNvPr>
          <p:cNvSpPr>
            <a:spLocks noGrp="1"/>
          </p:cNvSpPr>
          <p:nvPr>
            <p:ph type="title"/>
          </p:nvPr>
        </p:nvSpPr>
        <p:spPr>
          <a:xfrm>
            <a:off x="0" y="0"/>
            <a:ext cx="10972800" cy="1143000"/>
          </a:xfrm>
        </p:spPr>
        <p:txBody>
          <a:bodyPr>
            <a:normAutofit/>
          </a:bodyPr>
          <a:lstStyle/>
          <a:p>
            <a:r>
              <a:rPr lang="en-US" dirty="0"/>
              <a:t>A1. Learn from Observational Data</a:t>
            </a:r>
          </a:p>
        </p:txBody>
      </p:sp>
      <p:pic>
        <p:nvPicPr>
          <p:cNvPr id="4" name="Picture 3">
            <a:extLst>
              <a:ext uri="{FF2B5EF4-FFF2-40B4-BE49-F238E27FC236}">
                <a16:creationId xmlns:a16="http://schemas.microsoft.com/office/drawing/2014/main" id="{C4445B79-8F4C-8349-B85D-1E26031A7E4E}"/>
              </a:ext>
            </a:extLst>
          </p:cNvPr>
          <p:cNvPicPr>
            <a:picLocks noChangeAspect="1"/>
          </p:cNvPicPr>
          <p:nvPr/>
        </p:nvPicPr>
        <p:blipFill>
          <a:blip r:embed="rId3"/>
          <a:stretch>
            <a:fillRect/>
          </a:stretch>
        </p:blipFill>
        <p:spPr>
          <a:xfrm>
            <a:off x="1428750" y="1966073"/>
            <a:ext cx="4057650" cy="1743075"/>
          </a:xfrm>
          <a:prstGeom prst="rect">
            <a:avLst/>
          </a:prstGeom>
        </p:spPr>
      </p:pic>
      <p:pic>
        <p:nvPicPr>
          <p:cNvPr id="5" name="Picture 4">
            <a:extLst>
              <a:ext uri="{FF2B5EF4-FFF2-40B4-BE49-F238E27FC236}">
                <a16:creationId xmlns:a16="http://schemas.microsoft.com/office/drawing/2014/main" id="{957293B1-39D0-0644-B9A5-B4D9649B49B6}"/>
              </a:ext>
            </a:extLst>
          </p:cNvPr>
          <p:cNvPicPr>
            <a:picLocks noChangeAspect="1"/>
          </p:cNvPicPr>
          <p:nvPr/>
        </p:nvPicPr>
        <p:blipFill rotWithShape="1">
          <a:blip r:embed="rId4"/>
          <a:srcRect l="13144" r="15492"/>
          <a:stretch/>
        </p:blipFill>
        <p:spPr>
          <a:xfrm>
            <a:off x="6470985" y="1875585"/>
            <a:ext cx="4629150" cy="1924050"/>
          </a:xfrm>
          <a:prstGeom prst="rect">
            <a:avLst/>
          </a:prstGeom>
        </p:spPr>
      </p:pic>
      <p:sp>
        <p:nvSpPr>
          <p:cNvPr id="6" name="Rectangle 5">
            <a:extLst>
              <a:ext uri="{FF2B5EF4-FFF2-40B4-BE49-F238E27FC236}">
                <a16:creationId xmlns:a16="http://schemas.microsoft.com/office/drawing/2014/main" id="{B1FBB34C-81DE-D345-B26C-9338D0725690}"/>
              </a:ext>
            </a:extLst>
          </p:cNvPr>
          <p:cNvSpPr/>
          <p:nvPr/>
        </p:nvSpPr>
        <p:spPr>
          <a:xfrm>
            <a:off x="6766261" y="3799635"/>
            <a:ext cx="4038598" cy="553998"/>
          </a:xfrm>
          <a:prstGeom prst="rect">
            <a:avLst/>
          </a:prstGeom>
        </p:spPr>
        <p:txBody>
          <a:bodyPr wrap="square">
            <a:spAutoFit/>
          </a:bodyPr>
          <a:lstStyle/>
          <a:p>
            <a:r>
              <a:rPr lang="en-US" sz="1000" dirty="0">
                <a:solidFill>
                  <a:srgbClr val="2B2B2B"/>
                </a:solidFill>
                <a:latin typeface="Arbutus Slab"/>
              </a:rPr>
              <a:t>The </a:t>
            </a:r>
            <a:r>
              <a:rPr lang="en-US" sz="1000" dirty="0" err="1">
                <a:solidFill>
                  <a:srgbClr val="2B2B2B"/>
                </a:solidFill>
                <a:latin typeface="Arbutus Slab"/>
              </a:rPr>
              <a:t>eICU</a:t>
            </a:r>
            <a:r>
              <a:rPr lang="en-US" sz="1000" dirty="0">
                <a:solidFill>
                  <a:srgbClr val="2B2B2B"/>
                </a:solidFill>
                <a:latin typeface="Arbutus Slab"/>
              </a:rPr>
              <a:t> Collaborative Research Database, a freely available multi-center database for critical care research. Pollard TJ, Johnson AEW, </a:t>
            </a:r>
            <a:r>
              <a:rPr lang="en-US" sz="1000" dirty="0" err="1">
                <a:solidFill>
                  <a:srgbClr val="2B2B2B"/>
                </a:solidFill>
                <a:latin typeface="Arbutus Slab"/>
              </a:rPr>
              <a:t>Raffa</a:t>
            </a:r>
            <a:r>
              <a:rPr lang="en-US" sz="1000" dirty="0">
                <a:solidFill>
                  <a:srgbClr val="2B2B2B"/>
                </a:solidFill>
                <a:latin typeface="Arbutus Slab"/>
              </a:rPr>
              <a:t> JD, </a:t>
            </a:r>
            <a:r>
              <a:rPr lang="en-US" sz="1000" dirty="0" err="1">
                <a:solidFill>
                  <a:srgbClr val="2B2B2B"/>
                </a:solidFill>
                <a:latin typeface="Arbutus Slab"/>
              </a:rPr>
              <a:t>Celi</a:t>
            </a:r>
            <a:r>
              <a:rPr lang="en-US" sz="1000" dirty="0">
                <a:solidFill>
                  <a:srgbClr val="2B2B2B"/>
                </a:solidFill>
                <a:latin typeface="Arbutus Slab"/>
              </a:rPr>
              <a:t> LA, Mark RG and </a:t>
            </a:r>
            <a:r>
              <a:rPr lang="en-US" sz="1000" dirty="0" err="1">
                <a:solidFill>
                  <a:srgbClr val="2B2B2B"/>
                </a:solidFill>
                <a:latin typeface="Arbutus Slab"/>
              </a:rPr>
              <a:t>Badawi</a:t>
            </a:r>
            <a:r>
              <a:rPr lang="en-US" sz="1000" dirty="0">
                <a:solidFill>
                  <a:srgbClr val="2B2B2B"/>
                </a:solidFill>
                <a:latin typeface="Arbutus Slab"/>
              </a:rPr>
              <a:t> O. Scientific Data (2018).</a:t>
            </a:r>
            <a:endParaRPr lang="en-US" sz="1000" dirty="0"/>
          </a:p>
        </p:txBody>
      </p:sp>
      <p:sp>
        <p:nvSpPr>
          <p:cNvPr id="7" name="TextBox 6">
            <a:extLst>
              <a:ext uri="{FF2B5EF4-FFF2-40B4-BE49-F238E27FC236}">
                <a16:creationId xmlns:a16="http://schemas.microsoft.com/office/drawing/2014/main" id="{21AE0FAD-BEBC-494F-A50E-EE795D44EA00}"/>
              </a:ext>
            </a:extLst>
          </p:cNvPr>
          <p:cNvSpPr txBox="1"/>
          <p:nvPr/>
        </p:nvSpPr>
        <p:spPr>
          <a:xfrm>
            <a:off x="2213811" y="5171533"/>
            <a:ext cx="7896392"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provides a large number of (</a:t>
            </a:r>
            <a:r>
              <a:rPr lang="en-US" sz="2400" dirty="0">
                <a:solidFill>
                  <a:schemeClr val="accent3"/>
                </a:solidFill>
              </a:rPr>
              <a:t>state</a:t>
            </a:r>
            <a:r>
              <a:rPr lang="en-US" sz="2400" dirty="0"/>
              <a:t>, </a:t>
            </a:r>
            <a:r>
              <a:rPr lang="en-US" sz="2400" dirty="0">
                <a:solidFill>
                  <a:schemeClr val="accent2"/>
                </a:solidFill>
              </a:rPr>
              <a:t>action</a:t>
            </a:r>
            <a:r>
              <a:rPr lang="en-US" sz="2400" dirty="0"/>
              <a:t>, </a:t>
            </a:r>
            <a:r>
              <a:rPr lang="en-US" sz="2400" dirty="0">
                <a:solidFill>
                  <a:schemeClr val="accent4"/>
                </a:solidFill>
              </a:rPr>
              <a:t>reward</a:t>
            </a:r>
            <a:r>
              <a:rPr lang="en-US" sz="2400" dirty="0"/>
              <a:t>) examples</a:t>
            </a:r>
          </a:p>
        </p:txBody>
      </p:sp>
    </p:spTree>
    <p:extLst>
      <p:ext uri="{BB962C8B-B14F-4D97-AF65-F5344CB8AC3E}">
        <p14:creationId xmlns:p14="http://schemas.microsoft.com/office/powerpoint/2010/main" val="424987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14400"/>
          </a:xfrm>
        </p:spPr>
        <p:txBody>
          <a:bodyPr>
            <a:normAutofit/>
          </a:bodyPr>
          <a:lstStyle/>
          <a:p>
            <a:pPr algn="l"/>
            <a:r>
              <a:rPr lang="en-US" sz="4800" dirty="0"/>
              <a:t>A2. Learn Policy from Simulated Environment</a:t>
            </a:r>
          </a:p>
        </p:txBody>
      </p:sp>
      <p:pic>
        <p:nvPicPr>
          <p:cNvPr id="4" name="Picture 3"/>
          <p:cNvPicPr>
            <a:picLocks noChangeAspect="1"/>
          </p:cNvPicPr>
          <p:nvPr/>
        </p:nvPicPr>
        <p:blipFill>
          <a:blip r:embed="rId3"/>
          <a:stretch>
            <a:fillRect/>
          </a:stretch>
        </p:blipFill>
        <p:spPr>
          <a:xfrm>
            <a:off x="292100" y="1016928"/>
            <a:ext cx="8332787" cy="4163084"/>
          </a:xfrm>
          <a:prstGeom prst="rect">
            <a:avLst/>
          </a:prstGeom>
        </p:spPr>
      </p:pic>
      <p:sp>
        <p:nvSpPr>
          <p:cNvPr id="5" name="Rounded Rectangle 4"/>
          <p:cNvSpPr/>
          <p:nvPr/>
        </p:nvSpPr>
        <p:spPr>
          <a:xfrm>
            <a:off x="2362200" y="4546600"/>
            <a:ext cx="9639300" cy="1701800"/>
          </a:xfrm>
          <a:prstGeom prst="roundRect">
            <a:avLst/>
          </a:prstGeom>
          <a:noFill/>
          <a:ln>
            <a:solidFill>
              <a:schemeClr val="tx1"/>
            </a:solidFill>
            <a:prstDash val="dash"/>
          </a:ln>
        </p:spPr>
        <p:style>
          <a:lnRef idx="2">
            <a:schemeClr val="accent3"/>
          </a:lnRef>
          <a:fillRef idx="1">
            <a:schemeClr val="lt1"/>
          </a:fillRef>
          <a:effectRef idx="0">
            <a:schemeClr val="accent3"/>
          </a:effectRef>
          <a:fontRef idx="minor">
            <a:schemeClr val="dk1"/>
          </a:fontRef>
        </p:style>
        <p:txBody>
          <a:bodyPr rtlCol="0" anchor="b"/>
          <a:lstStyle/>
          <a:p>
            <a:pPr algn="r"/>
            <a:r>
              <a:rPr lang="en-US" sz="2800" b="1" dirty="0">
                <a:solidFill>
                  <a:schemeClr val="tx1"/>
                </a:solidFill>
              </a:rPr>
              <a:t>Reinforcement Learning Agent</a:t>
            </a:r>
          </a:p>
        </p:txBody>
      </p:sp>
      <p:sp>
        <p:nvSpPr>
          <p:cNvPr id="6" name="TextBox 5"/>
          <p:cNvSpPr txBox="1"/>
          <p:nvPr/>
        </p:nvSpPr>
        <p:spPr>
          <a:xfrm>
            <a:off x="2755898" y="5457303"/>
            <a:ext cx="856325" cy="369332"/>
          </a:xfrm>
          <a:prstGeom prst="rect">
            <a:avLst/>
          </a:prstGeom>
          <a:noFill/>
        </p:spPr>
        <p:txBody>
          <a:bodyPr wrap="none" rtlCol="0">
            <a:spAutoFit/>
          </a:bodyPr>
          <a:lstStyle/>
          <a:p>
            <a:r>
              <a:rPr lang="en-US" dirty="0">
                <a:solidFill>
                  <a:srgbClr val="B95B4E"/>
                </a:solidFill>
              </a:rPr>
              <a:t>actions</a:t>
            </a:r>
          </a:p>
        </p:txBody>
      </p:sp>
      <p:sp>
        <p:nvSpPr>
          <p:cNvPr id="7" name="Right Brace 6"/>
          <p:cNvSpPr/>
          <p:nvPr/>
        </p:nvSpPr>
        <p:spPr>
          <a:xfrm rot="5400000">
            <a:off x="3009297" y="4585395"/>
            <a:ext cx="349529" cy="1394287"/>
          </a:xfrm>
          <a:prstGeom prst="rightBrace">
            <a:avLst>
              <a:gd name="adj1" fmla="val 59201"/>
              <a:gd name="adj2" fmla="val 50000"/>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9" name="TextBox 8"/>
          <p:cNvSpPr txBox="1"/>
          <p:nvPr/>
        </p:nvSpPr>
        <p:spPr>
          <a:xfrm>
            <a:off x="8836303" y="3160244"/>
            <a:ext cx="644344" cy="369332"/>
          </a:xfrm>
          <a:prstGeom prst="rect">
            <a:avLst/>
          </a:prstGeom>
          <a:noFill/>
        </p:spPr>
        <p:txBody>
          <a:bodyPr wrap="none" rtlCol="0">
            <a:spAutoFit/>
          </a:bodyPr>
          <a:lstStyle/>
          <a:p>
            <a:r>
              <a:rPr lang="en-US" dirty="0">
                <a:solidFill>
                  <a:schemeClr val="accent3"/>
                </a:solidFill>
              </a:rPr>
              <a:t>state</a:t>
            </a:r>
          </a:p>
        </p:txBody>
      </p:sp>
      <p:sp>
        <p:nvSpPr>
          <p:cNvPr id="10" name="Right Brace 9"/>
          <p:cNvSpPr/>
          <p:nvPr/>
        </p:nvSpPr>
        <p:spPr>
          <a:xfrm>
            <a:off x="8624887" y="3148572"/>
            <a:ext cx="211416" cy="469900"/>
          </a:xfrm>
          <a:prstGeom prst="rightBrace">
            <a:avLst>
              <a:gd name="adj1" fmla="val 59201"/>
              <a:gd name="adj2" fmla="val 50000"/>
            </a:avLst>
          </a:pr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0820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A01970-3434-CC41-992B-47F62B7034D8}"/>
              </a:ext>
            </a:extLst>
          </p:cNvPr>
          <p:cNvPicPr>
            <a:picLocks noChangeAspect="1"/>
          </p:cNvPicPr>
          <p:nvPr/>
        </p:nvPicPr>
        <p:blipFill>
          <a:blip r:embed="rId3"/>
          <a:stretch>
            <a:fillRect/>
          </a:stretch>
        </p:blipFill>
        <p:spPr>
          <a:xfrm>
            <a:off x="4306445" y="1749268"/>
            <a:ext cx="3579109" cy="3579109"/>
          </a:xfrm>
          <a:prstGeom prst="rect">
            <a:avLst/>
          </a:prstGeom>
        </p:spPr>
      </p:pic>
      <p:sp>
        <p:nvSpPr>
          <p:cNvPr id="2" name="Title 1">
            <a:extLst>
              <a:ext uri="{FF2B5EF4-FFF2-40B4-BE49-F238E27FC236}">
                <a16:creationId xmlns:a16="http://schemas.microsoft.com/office/drawing/2014/main" id="{9ACA783B-FCC3-324D-9C2C-0AA7B3D297C7}"/>
              </a:ext>
            </a:extLst>
          </p:cNvPr>
          <p:cNvSpPr>
            <a:spLocks noGrp="1"/>
          </p:cNvSpPr>
          <p:nvPr>
            <p:ph type="title"/>
          </p:nvPr>
        </p:nvSpPr>
        <p:spPr>
          <a:xfrm>
            <a:off x="0" y="0"/>
            <a:ext cx="10972800" cy="1143000"/>
          </a:xfrm>
        </p:spPr>
        <p:txBody>
          <a:bodyPr>
            <a:normAutofit/>
          </a:bodyPr>
          <a:lstStyle/>
          <a:p>
            <a:pPr algn="l"/>
            <a:r>
              <a:rPr lang="en-US" sz="5400" dirty="0"/>
              <a:t>A3. Learn with Expert Oversight</a:t>
            </a:r>
          </a:p>
        </p:txBody>
      </p:sp>
      <p:pic>
        <p:nvPicPr>
          <p:cNvPr id="4" name="Picture 3">
            <a:extLst>
              <a:ext uri="{FF2B5EF4-FFF2-40B4-BE49-F238E27FC236}">
                <a16:creationId xmlns:a16="http://schemas.microsoft.com/office/drawing/2014/main" id="{080D6605-BDF7-3747-834D-B59C3E1CF288}"/>
              </a:ext>
            </a:extLst>
          </p:cNvPr>
          <p:cNvPicPr>
            <a:picLocks noChangeAspect="1"/>
          </p:cNvPicPr>
          <p:nvPr/>
        </p:nvPicPr>
        <p:blipFill>
          <a:blip r:embed="rId4"/>
          <a:stretch>
            <a:fillRect/>
          </a:stretch>
        </p:blipFill>
        <p:spPr>
          <a:xfrm>
            <a:off x="518753" y="2478269"/>
            <a:ext cx="3787692" cy="2121108"/>
          </a:xfrm>
          <a:prstGeom prst="rect">
            <a:avLst/>
          </a:prstGeom>
        </p:spPr>
      </p:pic>
      <p:sp>
        <p:nvSpPr>
          <p:cNvPr id="7" name="TextBox 6">
            <a:extLst>
              <a:ext uri="{FF2B5EF4-FFF2-40B4-BE49-F238E27FC236}">
                <a16:creationId xmlns:a16="http://schemas.microsoft.com/office/drawing/2014/main" id="{D3AA1F1A-3BAC-1845-836B-3C58E91A3F45}"/>
              </a:ext>
            </a:extLst>
          </p:cNvPr>
          <p:cNvSpPr txBox="1"/>
          <p:nvPr/>
        </p:nvSpPr>
        <p:spPr>
          <a:xfrm>
            <a:off x="1543803" y="5290675"/>
            <a:ext cx="1737592" cy="369332"/>
          </a:xfrm>
          <a:prstGeom prst="rect">
            <a:avLst/>
          </a:prstGeom>
          <a:noFill/>
        </p:spPr>
        <p:txBody>
          <a:bodyPr wrap="none" rtlCol="0">
            <a:spAutoFit/>
          </a:bodyPr>
          <a:lstStyle/>
          <a:p>
            <a:r>
              <a:rPr lang="en-US" dirty="0"/>
              <a:t>physiologic state</a:t>
            </a:r>
          </a:p>
        </p:txBody>
      </p:sp>
      <p:sp>
        <p:nvSpPr>
          <p:cNvPr id="8" name="TextBox 7">
            <a:extLst>
              <a:ext uri="{FF2B5EF4-FFF2-40B4-BE49-F238E27FC236}">
                <a16:creationId xmlns:a16="http://schemas.microsoft.com/office/drawing/2014/main" id="{7CC4C231-9C22-104B-AF2F-7CD33EA96194}"/>
              </a:ext>
            </a:extLst>
          </p:cNvPr>
          <p:cNvSpPr txBox="1"/>
          <p:nvPr/>
        </p:nvSpPr>
        <p:spPr>
          <a:xfrm>
            <a:off x="4712767" y="5290675"/>
            <a:ext cx="2766463" cy="369332"/>
          </a:xfrm>
          <a:prstGeom prst="rect">
            <a:avLst/>
          </a:prstGeom>
          <a:noFill/>
        </p:spPr>
        <p:txBody>
          <a:bodyPr wrap="none" rtlCol="0">
            <a:spAutoFit/>
          </a:bodyPr>
          <a:lstStyle/>
          <a:p>
            <a:r>
              <a:rPr lang="en-US" dirty="0"/>
              <a:t>algorithm recommendation</a:t>
            </a:r>
          </a:p>
        </p:txBody>
      </p:sp>
      <p:sp>
        <p:nvSpPr>
          <p:cNvPr id="9" name="TextBox 8">
            <a:extLst>
              <a:ext uri="{FF2B5EF4-FFF2-40B4-BE49-F238E27FC236}">
                <a16:creationId xmlns:a16="http://schemas.microsoft.com/office/drawing/2014/main" id="{DF31FAF1-BFC0-6B4D-BFF1-EDB4FDEC7137}"/>
              </a:ext>
            </a:extLst>
          </p:cNvPr>
          <p:cNvSpPr txBox="1"/>
          <p:nvPr/>
        </p:nvSpPr>
        <p:spPr>
          <a:xfrm>
            <a:off x="8750801" y="5290673"/>
            <a:ext cx="1920590" cy="369332"/>
          </a:xfrm>
          <a:prstGeom prst="rect">
            <a:avLst/>
          </a:prstGeom>
          <a:noFill/>
        </p:spPr>
        <p:txBody>
          <a:bodyPr wrap="none" rtlCol="0">
            <a:spAutoFit/>
          </a:bodyPr>
          <a:lstStyle/>
          <a:p>
            <a:r>
              <a:rPr lang="en-US" dirty="0"/>
              <a:t>physician approval</a:t>
            </a:r>
          </a:p>
        </p:txBody>
      </p:sp>
      <p:pic>
        <p:nvPicPr>
          <p:cNvPr id="4098" name="Picture 2" descr="Image result for doctor thumbs u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7817" y="1387798"/>
            <a:ext cx="7570541" cy="4264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16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3DD1A-F4A3-CDB2-729B-9A5B0E932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C5AE3-5221-60DF-A611-0ACD27878802}"/>
              </a:ext>
            </a:extLst>
          </p:cNvPr>
          <p:cNvSpPr>
            <a:spLocks noGrp="1"/>
          </p:cNvSpPr>
          <p:nvPr>
            <p:ph type="title"/>
          </p:nvPr>
        </p:nvSpPr>
        <p:spPr/>
        <p:txBody>
          <a:bodyPr/>
          <a:lstStyle/>
          <a:p>
            <a:r>
              <a:rPr lang="en-US" dirty="0">
                <a:cs typeface="Poppins SemiBold" panose="00000700000000000000" pitchFamily="2" charset="0"/>
              </a:rPr>
              <a:t>Progress in safe RL and imitation learning</a:t>
            </a:r>
          </a:p>
        </p:txBody>
      </p:sp>
      <p:pic>
        <p:nvPicPr>
          <p:cNvPr id="5" name="Picture 2" descr="https://sandpit.bmj.com/graphics/2016/sepsisSOTA/sepsis-v13.png">
            <a:extLst>
              <a:ext uri="{FF2B5EF4-FFF2-40B4-BE49-F238E27FC236}">
                <a16:creationId xmlns:a16="http://schemas.microsoft.com/office/drawing/2014/main" id="{363EE595-CFB9-B505-1E80-C61C634B5F1E}"/>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8351"/>
          <a:stretch>
            <a:fillRect/>
          </a:stretch>
        </p:blipFill>
        <p:spPr bwMode="auto">
          <a:xfrm>
            <a:off x="1043782" y="1833825"/>
            <a:ext cx="3853562" cy="218969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 name="Picture 2" descr="Image result for artificial pancreas">
            <a:extLst>
              <a:ext uri="{FF2B5EF4-FFF2-40B4-BE49-F238E27FC236}">
                <a16:creationId xmlns:a16="http://schemas.microsoft.com/office/drawing/2014/main" id="{DE90BBE2-4CE0-A19D-83A9-8066016F27C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242438" y="3761973"/>
            <a:ext cx="3853562" cy="202312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229130-09BC-03EF-B1C4-B266C436503B}"/>
              </a:ext>
            </a:extLst>
          </p:cNvPr>
          <p:cNvSpPr txBox="1"/>
          <p:nvPr/>
        </p:nvSpPr>
        <p:spPr>
          <a:xfrm>
            <a:off x="4897344" y="2536289"/>
            <a:ext cx="1528856" cy="523220"/>
          </a:xfrm>
          <a:prstGeom prst="rect">
            <a:avLst/>
          </a:prstGeom>
          <a:noFill/>
        </p:spPr>
        <p:txBody>
          <a:bodyPr wrap="square" rtlCol="0">
            <a:spAutoFit/>
          </a:bodyPr>
          <a:lstStyle/>
          <a:p>
            <a:r>
              <a:rPr lang="en-US" sz="1400" dirty="0">
                <a:solidFill>
                  <a:schemeClr val="bg2">
                    <a:lumMod val="50000"/>
                  </a:schemeClr>
                </a:solidFill>
                <a:latin typeface="Poppins Light" panose="00000400000000000000" pitchFamily="2" charset="0"/>
                <a:cs typeface="Poppins Light" panose="00000400000000000000" pitchFamily="2" charset="0"/>
              </a:rPr>
              <a:t>sepsis management</a:t>
            </a:r>
          </a:p>
        </p:txBody>
      </p:sp>
      <p:sp>
        <p:nvSpPr>
          <p:cNvPr id="9" name="TextBox 8">
            <a:extLst>
              <a:ext uri="{FF2B5EF4-FFF2-40B4-BE49-F238E27FC236}">
                <a16:creationId xmlns:a16="http://schemas.microsoft.com/office/drawing/2014/main" id="{5BB3D7BF-A9DA-ECDD-0E1F-D748DB530A74}"/>
              </a:ext>
            </a:extLst>
          </p:cNvPr>
          <p:cNvSpPr txBox="1"/>
          <p:nvPr/>
        </p:nvSpPr>
        <p:spPr>
          <a:xfrm>
            <a:off x="838201" y="4642696"/>
            <a:ext cx="1404238" cy="523220"/>
          </a:xfrm>
          <a:prstGeom prst="rect">
            <a:avLst/>
          </a:prstGeom>
          <a:noFill/>
        </p:spPr>
        <p:txBody>
          <a:bodyPr wrap="square" rtlCol="0">
            <a:spAutoFit/>
          </a:bodyPr>
          <a:lstStyle/>
          <a:p>
            <a:r>
              <a:rPr lang="en-US" sz="1400" dirty="0">
                <a:solidFill>
                  <a:schemeClr val="bg2">
                    <a:lumMod val="50000"/>
                  </a:schemeClr>
                </a:solidFill>
                <a:latin typeface="Poppins Light" panose="00000400000000000000" pitchFamily="2" charset="0"/>
                <a:cs typeface="Poppins Light" panose="00000400000000000000" pitchFamily="2" charset="0"/>
              </a:rPr>
              <a:t>closed-loop BG control</a:t>
            </a:r>
          </a:p>
        </p:txBody>
      </p:sp>
      <p:pic>
        <p:nvPicPr>
          <p:cNvPr id="10" name="Picture 9">
            <a:extLst>
              <a:ext uri="{FF2B5EF4-FFF2-40B4-BE49-F238E27FC236}">
                <a16:creationId xmlns:a16="http://schemas.microsoft.com/office/drawing/2014/main" id="{8423D0D2-CF06-CC61-1ADB-41D65350E576}"/>
              </a:ext>
            </a:extLst>
          </p:cNvPr>
          <p:cNvPicPr>
            <a:picLocks noChangeAspect="1"/>
          </p:cNvPicPr>
          <p:nvPr/>
        </p:nvPicPr>
        <p:blipFill>
          <a:blip r:embed="rId4"/>
          <a:stretch>
            <a:fillRect/>
          </a:stretch>
        </p:blipFill>
        <p:spPr>
          <a:xfrm>
            <a:off x="7392233" y="2057065"/>
            <a:ext cx="3409816" cy="3409816"/>
          </a:xfrm>
          <a:prstGeom prst="rect">
            <a:avLst/>
          </a:prstGeom>
          <a:ln>
            <a:solidFill>
              <a:schemeClr val="tx1"/>
            </a:solidFill>
          </a:ln>
        </p:spPr>
      </p:pic>
      <p:sp>
        <p:nvSpPr>
          <p:cNvPr id="11" name="TextBox 10">
            <a:extLst>
              <a:ext uri="{FF2B5EF4-FFF2-40B4-BE49-F238E27FC236}">
                <a16:creationId xmlns:a16="http://schemas.microsoft.com/office/drawing/2014/main" id="{A83B9D39-850F-FBA4-91C6-1790B621464F}"/>
              </a:ext>
            </a:extLst>
          </p:cNvPr>
          <p:cNvSpPr txBox="1"/>
          <p:nvPr/>
        </p:nvSpPr>
        <p:spPr>
          <a:xfrm>
            <a:off x="7931463" y="5477317"/>
            <a:ext cx="2331357" cy="523220"/>
          </a:xfrm>
          <a:prstGeom prst="rect">
            <a:avLst/>
          </a:prstGeom>
          <a:noFill/>
        </p:spPr>
        <p:txBody>
          <a:bodyPr wrap="square" rtlCol="0">
            <a:spAutoFit/>
          </a:bodyPr>
          <a:lstStyle/>
          <a:p>
            <a:pPr algn="ctr"/>
            <a:r>
              <a:rPr lang="en-US" sz="1400" dirty="0">
                <a:solidFill>
                  <a:schemeClr val="bg2">
                    <a:lumMod val="50000"/>
                  </a:schemeClr>
                </a:solidFill>
                <a:latin typeface="Poppins Light" panose="00000400000000000000" pitchFamily="2" charset="0"/>
                <a:cs typeface="Poppins Light" panose="00000400000000000000" pitchFamily="2" charset="0"/>
              </a:rPr>
              <a:t>safe learning by imitation</a:t>
            </a:r>
          </a:p>
        </p:txBody>
      </p:sp>
    </p:spTree>
    <p:extLst>
      <p:ext uri="{BB962C8B-B14F-4D97-AF65-F5344CB8AC3E}">
        <p14:creationId xmlns:p14="http://schemas.microsoft.com/office/powerpoint/2010/main" val="3254816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8A50-A8B4-F838-019A-0E02F0055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3D634-058D-0B92-63C1-BFF74C8F5593}"/>
              </a:ext>
            </a:extLst>
          </p:cNvPr>
          <p:cNvSpPr>
            <a:spLocks noGrp="1"/>
          </p:cNvSpPr>
          <p:nvPr>
            <p:ph type="title"/>
          </p:nvPr>
        </p:nvSpPr>
        <p:spPr/>
        <p:txBody>
          <a:bodyPr/>
          <a:lstStyle/>
          <a:p>
            <a:r>
              <a:rPr lang="en-US" dirty="0"/>
              <a:t>2. Agentic AI</a:t>
            </a:r>
          </a:p>
        </p:txBody>
      </p:sp>
      <p:sp>
        <p:nvSpPr>
          <p:cNvPr id="3" name="Text Placeholder 2">
            <a:extLst>
              <a:ext uri="{FF2B5EF4-FFF2-40B4-BE49-F238E27FC236}">
                <a16:creationId xmlns:a16="http://schemas.microsoft.com/office/drawing/2014/main" id="{AE870F56-EC44-5DE4-125C-6352CF09137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241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93CB6-7274-3F60-30D9-4F7F158D0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25BA9-2367-7547-6748-551F6AAD5A45}"/>
              </a:ext>
            </a:extLst>
          </p:cNvPr>
          <p:cNvSpPr>
            <a:spLocks noGrp="1"/>
          </p:cNvSpPr>
          <p:nvPr>
            <p:ph type="title"/>
          </p:nvPr>
        </p:nvSpPr>
        <p:spPr/>
        <p:txBody>
          <a:bodyPr/>
          <a:lstStyle/>
          <a:p>
            <a:r>
              <a:rPr lang="en-US" dirty="0">
                <a:cs typeface="Poppins SemiBold" panose="00000700000000000000" pitchFamily="2" charset="0"/>
              </a:rPr>
              <a:t>Agents, tools, and orchestration</a:t>
            </a:r>
          </a:p>
        </p:txBody>
      </p:sp>
      <p:pic>
        <p:nvPicPr>
          <p:cNvPr id="5122" name="Picture 2">
            <a:extLst>
              <a:ext uri="{FF2B5EF4-FFF2-40B4-BE49-F238E27FC236}">
                <a16:creationId xmlns:a16="http://schemas.microsoft.com/office/drawing/2014/main" id="{501C8E72-E9D8-97B1-B637-BCBCEE6F66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414000" cy="371812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52E3D4-946B-49D3-D9F9-3C3A79BC6CDA}"/>
              </a:ext>
            </a:extLst>
          </p:cNvPr>
          <p:cNvSpPr txBox="1"/>
          <p:nvPr/>
        </p:nvSpPr>
        <p:spPr>
          <a:xfrm>
            <a:off x="1612900" y="5516681"/>
            <a:ext cx="8864600" cy="646331"/>
          </a:xfrm>
          <a:prstGeom prst="rect">
            <a:avLst/>
          </a:prstGeom>
          <a:noFill/>
        </p:spPr>
        <p:txBody>
          <a:bodyPr wrap="square">
            <a:spAutoFit/>
          </a:bodyPr>
          <a:lstStyle/>
          <a:p>
            <a:r>
              <a:rPr lang="en-US" sz="1200" b="0" i="0" u="none" strike="noStrike" dirty="0">
                <a:solidFill>
                  <a:schemeClr val="bg2">
                    <a:lumMod val="50000"/>
                  </a:schemeClr>
                </a:solidFill>
                <a:effectLst/>
                <a:latin typeface="Poppins Light" panose="00000400000000000000" pitchFamily="2" charset="0"/>
                <a:cs typeface="Poppins Light" panose="00000400000000000000" pitchFamily="2" charset="0"/>
              </a:rPr>
              <a:t>Jihye Choi, Nils Palumbo, Prasad Chalasani, Matthew Engelhard, Somesh Jha, </a:t>
            </a:r>
            <a:r>
              <a:rPr lang="en-US" sz="1200" b="0" i="0" u="none" strike="noStrike" dirty="0" err="1">
                <a:solidFill>
                  <a:schemeClr val="bg2">
                    <a:lumMod val="50000"/>
                  </a:schemeClr>
                </a:solidFill>
                <a:effectLst/>
                <a:latin typeface="Poppins Light" panose="00000400000000000000" pitchFamily="2" charset="0"/>
                <a:cs typeface="Poppins Light" panose="00000400000000000000" pitchFamily="2" charset="0"/>
              </a:rPr>
              <a:t>Anivarya</a:t>
            </a:r>
            <a:r>
              <a:rPr lang="en-US" sz="1200" b="0" i="0" u="none" strike="noStrike" dirty="0">
                <a:solidFill>
                  <a:schemeClr val="bg2">
                    <a:lumMod val="50000"/>
                  </a:schemeClr>
                </a:solidFill>
                <a:effectLst/>
                <a:latin typeface="Poppins Light" panose="00000400000000000000" pitchFamily="2" charset="0"/>
                <a:cs typeface="Poppins Light" panose="00000400000000000000" pitchFamily="2" charset="0"/>
              </a:rPr>
              <a:t> Kumar, &amp; David Page, (2024). </a:t>
            </a:r>
            <a:r>
              <a:rPr lang="en-US" sz="1200" b="0" i="1" u="none" strike="noStrike" dirty="0">
                <a:solidFill>
                  <a:schemeClr val="bg2">
                    <a:lumMod val="50000"/>
                  </a:schemeClr>
                </a:solidFill>
                <a:effectLst/>
                <a:latin typeface="Poppins Light" panose="00000400000000000000" pitchFamily="2" charset="0"/>
                <a:cs typeface="Poppins Light" panose="00000400000000000000" pitchFamily="2" charset="0"/>
              </a:rPr>
              <a:t>MALADE: Orchestration of LLM-powered Agents with Retrieval Augmented Generation for Pharmacovigilance.</a:t>
            </a:r>
            <a:r>
              <a:rPr lang="en-US" sz="1200" b="0" i="0" u="none" strike="noStrike" dirty="0">
                <a:solidFill>
                  <a:schemeClr val="bg2">
                    <a:lumMod val="50000"/>
                  </a:schemeClr>
                </a:solidFill>
                <a:effectLst/>
                <a:latin typeface="Poppins Light" panose="00000400000000000000" pitchFamily="2" charset="0"/>
                <a:cs typeface="Poppins Light" panose="00000400000000000000" pitchFamily="2" charset="0"/>
              </a:rPr>
              <a:t> </a:t>
            </a:r>
            <a:r>
              <a:rPr lang="en-US" sz="1200" b="0" i="0" u="sng" dirty="0">
                <a:solidFill>
                  <a:schemeClr val="bg2">
                    <a:lumMod val="50000"/>
                  </a:schemeClr>
                </a:solidFill>
                <a:effectLst/>
                <a:latin typeface="Poppins Light" panose="00000400000000000000" pitchFamily="2" charset="0"/>
                <a:cs typeface="Poppins Light" panose="00000400000000000000" pitchFamily="2" charset="0"/>
                <a:hlinkClick r:id="rId3">
                  <a:extLst>
                    <a:ext uri="{A12FA001-AC4F-418D-AE19-62706E023703}">
                      <ahyp:hlinkClr xmlns:ahyp="http://schemas.microsoft.com/office/drawing/2018/hyperlinkcolor" val="tx"/>
                    </a:ext>
                  </a:extLst>
                </a:hlinkClick>
              </a:rPr>
              <a:t>Machine Learning for Healthcare 2024</a:t>
            </a:r>
            <a:r>
              <a:rPr lang="en-US" sz="1200" b="0" i="0" u="none" strike="noStrike" dirty="0">
                <a:solidFill>
                  <a:schemeClr val="bg2">
                    <a:lumMod val="50000"/>
                  </a:schemeClr>
                </a:solidFill>
                <a:effectLst/>
                <a:latin typeface="Poppins Light" panose="00000400000000000000" pitchFamily="2" charset="0"/>
                <a:cs typeface="Poppins Light" panose="00000400000000000000" pitchFamily="2" charset="0"/>
              </a:rPr>
              <a:t>.</a:t>
            </a:r>
            <a:endParaRPr lang="en-US" sz="1200" dirty="0">
              <a:solidFill>
                <a:schemeClr val="bg2">
                  <a:lumMod val="50000"/>
                </a:schemeClr>
              </a:solidFill>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58886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21699-AC8D-CB6A-CB5E-923298B698B6}"/>
              </a:ext>
            </a:extLst>
          </p:cNvPr>
          <p:cNvSpPr>
            <a:spLocks noGrp="1"/>
          </p:cNvSpPr>
          <p:nvPr>
            <p:ph type="title"/>
          </p:nvPr>
        </p:nvSpPr>
        <p:spPr/>
        <p:txBody>
          <a:bodyPr/>
          <a:lstStyle/>
          <a:p>
            <a:r>
              <a:rPr lang="en-US" dirty="0"/>
              <a:t>Automated CEU Eligibility Assessment</a:t>
            </a:r>
          </a:p>
        </p:txBody>
      </p:sp>
      <p:pic>
        <p:nvPicPr>
          <p:cNvPr id="4" name="Picture 3">
            <a:extLst>
              <a:ext uri="{FF2B5EF4-FFF2-40B4-BE49-F238E27FC236}">
                <a16:creationId xmlns:a16="http://schemas.microsoft.com/office/drawing/2014/main" id="{90312CDE-7577-2E7B-F282-8C5755978628}"/>
              </a:ext>
            </a:extLst>
          </p:cNvPr>
          <p:cNvPicPr>
            <a:picLocks noChangeAspect="1"/>
          </p:cNvPicPr>
          <p:nvPr/>
        </p:nvPicPr>
        <p:blipFill>
          <a:blip r:embed="rId2"/>
          <a:stretch>
            <a:fillRect/>
          </a:stretch>
        </p:blipFill>
        <p:spPr>
          <a:xfrm>
            <a:off x="235655" y="1871386"/>
            <a:ext cx="11720688" cy="3662715"/>
          </a:xfrm>
          <a:prstGeom prst="rect">
            <a:avLst/>
          </a:prstGeom>
        </p:spPr>
      </p:pic>
      <p:sp>
        <p:nvSpPr>
          <p:cNvPr id="6" name="TextBox 5">
            <a:extLst>
              <a:ext uri="{FF2B5EF4-FFF2-40B4-BE49-F238E27FC236}">
                <a16:creationId xmlns:a16="http://schemas.microsoft.com/office/drawing/2014/main" id="{E2ED20E9-B331-22E3-A222-707F9EE903AE}"/>
              </a:ext>
            </a:extLst>
          </p:cNvPr>
          <p:cNvSpPr txBox="1"/>
          <p:nvPr/>
        </p:nvSpPr>
        <p:spPr>
          <a:xfrm>
            <a:off x="3047113" y="5714799"/>
            <a:ext cx="6097772" cy="369332"/>
          </a:xfrm>
          <a:prstGeom prst="rect">
            <a:avLst/>
          </a:prstGeom>
          <a:noFill/>
        </p:spPr>
        <p:txBody>
          <a:bodyPr wrap="square">
            <a:spAutoFit/>
          </a:bodyPr>
          <a:lstStyle/>
          <a:p>
            <a:r>
              <a:rPr lang="en-US" sz="1200" b="1" dirty="0">
                <a:effectLst/>
                <a:latin typeface="Times New Roman" panose="02020603050405020304" pitchFamily="18" charset="0"/>
                <a:ea typeface="Times New Roman" panose="02020603050405020304" pitchFamily="18" charset="0"/>
              </a:rPr>
              <a:t>Figure 1: Rapid Automated Assessment of CEU Eligibility (RAACE) pipeline overview.</a:t>
            </a:r>
            <a:r>
              <a:rPr lang="en-US" dirty="0">
                <a:effectLst/>
              </a:rPr>
              <a:t> </a:t>
            </a:r>
            <a:endParaRPr lang="en-US" dirty="0"/>
          </a:p>
        </p:txBody>
      </p:sp>
    </p:spTree>
    <p:extLst>
      <p:ext uri="{BB962C8B-B14F-4D97-AF65-F5344CB8AC3E}">
        <p14:creationId xmlns:p14="http://schemas.microsoft.com/office/powerpoint/2010/main" val="2708537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84335-E132-E799-7283-335E3036ACCA}"/>
              </a:ext>
            </a:extLst>
          </p:cNvPr>
          <p:cNvSpPr>
            <a:spLocks noGrp="1"/>
          </p:cNvSpPr>
          <p:nvPr>
            <p:ph type="title"/>
          </p:nvPr>
        </p:nvSpPr>
        <p:spPr/>
        <p:txBody>
          <a:bodyPr/>
          <a:lstStyle/>
          <a:p>
            <a:r>
              <a:rPr lang="en-US" dirty="0"/>
              <a:t>A few more discussion questions</a:t>
            </a:r>
          </a:p>
        </p:txBody>
      </p:sp>
      <p:sp>
        <p:nvSpPr>
          <p:cNvPr id="3" name="Content Placeholder 2">
            <a:extLst>
              <a:ext uri="{FF2B5EF4-FFF2-40B4-BE49-F238E27FC236}">
                <a16:creationId xmlns:a16="http://schemas.microsoft.com/office/drawing/2014/main" id="{A6F07AA1-D6D5-00A6-6E90-65D331729EB9}"/>
              </a:ext>
            </a:extLst>
          </p:cNvPr>
          <p:cNvSpPr>
            <a:spLocks noGrp="1"/>
          </p:cNvSpPr>
          <p:nvPr>
            <p:ph idx="1"/>
          </p:nvPr>
        </p:nvSpPr>
        <p:spPr/>
        <p:txBody>
          <a:bodyPr/>
          <a:lstStyle/>
          <a:p>
            <a:pPr marL="0" indent="0">
              <a:buNone/>
            </a:pPr>
            <a:r>
              <a:rPr lang="en-US" dirty="0"/>
              <a:t>How do we ensure clinical AI remains human-centered?</a:t>
            </a:r>
          </a:p>
          <a:p>
            <a:r>
              <a:rPr lang="en-US" dirty="0"/>
              <a:t>Should we insist that human providers make the decisions?</a:t>
            </a:r>
          </a:p>
          <a:p>
            <a:r>
              <a:rPr lang="en-US" dirty="0"/>
              <a:t>How do we ensure that care remains aligned with our values?</a:t>
            </a:r>
          </a:p>
          <a:p>
            <a:pPr marL="0" indent="0">
              <a:buNone/>
            </a:pPr>
            <a:endParaRPr lang="en-US" dirty="0"/>
          </a:p>
          <a:p>
            <a:pPr marL="0" indent="0">
              <a:buNone/>
            </a:pPr>
            <a:r>
              <a:rPr lang="en-US" dirty="0"/>
              <a:t>What influence do AI companies have on healthcare?</a:t>
            </a:r>
          </a:p>
          <a:p>
            <a:r>
              <a:rPr lang="en-US" dirty="0"/>
              <a:t>Should we be pushing back against this?</a:t>
            </a:r>
          </a:p>
          <a:p>
            <a:r>
              <a:rPr lang="en-US" dirty="0"/>
              <a:t>If so, how?</a:t>
            </a:r>
          </a:p>
        </p:txBody>
      </p:sp>
    </p:spTree>
    <p:extLst>
      <p:ext uri="{BB962C8B-B14F-4D97-AF65-F5344CB8AC3E}">
        <p14:creationId xmlns:p14="http://schemas.microsoft.com/office/powerpoint/2010/main" val="709607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634</Words>
  <Application>Microsoft Macintosh PowerPoint</Application>
  <PresentationFormat>Widescreen</PresentationFormat>
  <Paragraphs>102</Paragraphs>
  <Slides>15</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Aptos</vt:lpstr>
      <vt:lpstr>Aptos Display</vt:lpstr>
      <vt:lpstr>Arbutus Slab</vt:lpstr>
      <vt:lpstr>Arial</vt:lpstr>
      <vt:lpstr>Georgia</vt:lpstr>
      <vt:lpstr>Poppins Light</vt:lpstr>
      <vt:lpstr>Poppins SemiBold</vt:lpstr>
      <vt:lpstr>Theinhardt-Bold</vt:lpstr>
      <vt:lpstr>Theinhardt-Medium</vt:lpstr>
      <vt:lpstr>Theinhardt-Regular</vt:lpstr>
      <vt:lpstr>Times New Roman</vt:lpstr>
      <vt:lpstr>Office Theme</vt:lpstr>
      <vt:lpstr>AI on the horizon</vt:lpstr>
      <vt:lpstr>1. Reinforcement Learning</vt:lpstr>
      <vt:lpstr>RL for sequential (clinical) decision-making</vt:lpstr>
      <vt:lpstr>RL for sepsis management</vt:lpstr>
      <vt:lpstr>RL for close—loop BG control</vt:lpstr>
      <vt:lpstr>In RL, we typically learn “from scratch”:</vt:lpstr>
      <vt:lpstr>Failing 11,500 times isn’t always an option</vt:lpstr>
      <vt:lpstr>A1. Learn from Observational Data</vt:lpstr>
      <vt:lpstr>A2. Learn Policy from Simulated Environment</vt:lpstr>
      <vt:lpstr>A3. Learn with Expert Oversight</vt:lpstr>
      <vt:lpstr>Progress in safe RL and imitation learning</vt:lpstr>
      <vt:lpstr>2. Agentic AI</vt:lpstr>
      <vt:lpstr>Agents, tools, and orchestration</vt:lpstr>
      <vt:lpstr>Automated CEU Eligibility Assessment</vt:lpstr>
      <vt:lpstr>A few more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Engelhard, M.D., Ph.D.</dc:creator>
  <cp:lastModifiedBy>Matthew Engelhard, M.D., Ph.D.</cp:lastModifiedBy>
  <cp:revision>2</cp:revision>
  <dcterms:created xsi:type="dcterms:W3CDTF">2026-07-11T04:08:16Z</dcterms:created>
  <dcterms:modified xsi:type="dcterms:W3CDTF">2026-07-11T04:35:16Z</dcterms:modified>
</cp:coreProperties>
</file>