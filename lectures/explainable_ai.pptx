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4383" r:id="rId2"/>
    <p:sldId id="4384" r:id="rId3"/>
    <p:sldId id="908" r:id="rId4"/>
    <p:sldId id="888" r:id="rId5"/>
    <p:sldId id="889" r:id="rId6"/>
    <p:sldId id="896" r:id="rId7"/>
    <p:sldId id="898" r:id="rId8"/>
    <p:sldId id="4398" r:id="rId9"/>
    <p:sldId id="4399" r:id="rId10"/>
    <p:sldId id="4400" r:id="rId11"/>
    <p:sldId id="4394" r:id="rId12"/>
    <p:sldId id="891" r:id="rId13"/>
    <p:sldId id="535" r:id="rId14"/>
    <p:sldId id="550" r:id="rId15"/>
    <p:sldId id="910" r:id="rId16"/>
    <p:sldId id="840" r:id="rId17"/>
    <p:sldId id="4395" r:id="rId18"/>
    <p:sldId id="4396" r:id="rId19"/>
    <p:sldId id="4397" r:id="rId20"/>
    <p:sldId id="313" r:id="rId21"/>
    <p:sldId id="316" r:id="rId22"/>
    <p:sldId id="4386" r:id="rId23"/>
    <p:sldId id="4387" r:id="rId24"/>
    <p:sldId id="4388" r:id="rId25"/>
    <p:sldId id="4389" r:id="rId26"/>
    <p:sldId id="4406" r:id="rId27"/>
    <p:sldId id="4410" r:id="rId28"/>
    <p:sldId id="4408" r:id="rId29"/>
    <p:sldId id="4385" r:id="rId30"/>
    <p:sldId id="4407" r:id="rId31"/>
    <p:sldId id="4391" r:id="rId32"/>
    <p:sldId id="4411" r:id="rId33"/>
    <p:sldId id="4404" r:id="rId34"/>
    <p:sldId id="4390" r:id="rId35"/>
    <p:sldId id="4405" r:id="rId36"/>
    <p:sldId id="4393" r:id="rId37"/>
    <p:sldId id="893" r:id="rId38"/>
    <p:sldId id="58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60"/>
    <p:restoredTop sz="69258"/>
  </p:normalViewPr>
  <p:slideViewPr>
    <p:cSldViewPr snapToGrid="0">
      <p:cViewPr varScale="1">
        <p:scale>
          <a:sx n="101" d="100"/>
          <a:sy n="101" d="100"/>
        </p:scale>
        <p:origin x="27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C7283-15F6-FE49-AF23-03EB079BA0DC}" type="datetimeFigureOut">
              <a:rPr lang="en-US" smtClean="0"/>
              <a:t>2/25/26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E0516-BAFC-0740-BE21-9E8CF9264E1E}" type="slidenum">
              <a:rPr lang="en-US" smtClean="0"/>
              <a:t>‹#›</a:t>
            </a:fld>
            <a:endParaRPr lang="en-US"/>
          </a:p>
        </p:txBody>
      </p:sp>
    </p:spTree>
    <p:extLst>
      <p:ext uri="{BB962C8B-B14F-4D97-AF65-F5344CB8AC3E}">
        <p14:creationId xmlns:p14="http://schemas.microsoft.com/office/powerpoint/2010/main" val="304762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Glycoprotein"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en.wikipedia.org/wiki/Gene" TargetMode="External"/><Relationship Id="rId4" Type="http://schemas.openxmlformats.org/officeDocument/2006/relationships/hyperlink" Target="https://en.wikipedia.org/wiki/Enzyme"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Bike versus car?</a:t>
            </a:r>
          </a:p>
          <a:p>
            <a:endParaRPr lang="en-US" dirty="0"/>
          </a:p>
          <a:p>
            <a:r>
              <a:rPr lang="en-US" dirty="0"/>
              <a:t>Bike:</a:t>
            </a:r>
          </a:p>
          <a:p>
            <a:r>
              <a:rPr lang="en-US" dirty="0"/>
              <a:t>Why did it turn left? I can see the handles</a:t>
            </a:r>
          </a:p>
          <a:p>
            <a:r>
              <a:rPr lang="en-US" dirty="0"/>
              <a:t>Why did it move forward? I can see the chain</a:t>
            </a:r>
          </a:p>
          <a:p>
            <a:r>
              <a:rPr lang="en-US" dirty="0"/>
              <a:t>Why did it stall? The chain fell off</a:t>
            </a:r>
          </a:p>
          <a:p>
            <a:endParaRPr lang="en-US" dirty="0"/>
          </a:p>
          <a:p>
            <a:r>
              <a:rPr lang="en-US" dirty="0"/>
              <a:t>Car:</a:t>
            </a:r>
          </a:p>
          <a:p>
            <a:r>
              <a:rPr lang="en-US" dirty="0"/>
              <a:t>Why did it turn left? It’s because I turned the wheel left… but I can’t really see how turning the wheel left makes the wheel go left</a:t>
            </a:r>
          </a:p>
          <a:p>
            <a:r>
              <a:rPr lang="en-US" dirty="0"/>
              <a:t>Why did it move forward? It’s because you pushed the pedal.</a:t>
            </a:r>
          </a:p>
          <a:p>
            <a:r>
              <a:rPr lang="en-US" dirty="0"/>
              <a:t>Why did it stall? You let the clutch out too quickly.</a:t>
            </a:r>
          </a:p>
        </p:txBody>
      </p:sp>
      <p:sp>
        <p:nvSpPr>
          <p:cNvPr id="4" name="Slide Number Placeholder 3"/>
          <p:cNvSpPr>
            <a:spLocks noGrp="1"/>
          </p:cNvSpPr>
          <p:nvPr>
            <p:ph type="sldNum" sz="quarter" idx="5"/>
          </p:nvPr>
        </p:nvSpPr>
        <p:spPr/>
        <p:txBody>
          <a:bodyPr/>
          <a:lstStyle/>
          <a:p>
            <a:fld id="{DB333E9F-084A-8543-BC6F-0AE70009C29B}" type="slidenum">
              <a:rPr lang="en-US" smtClean="0"/>
              <a:t>4</a:t>
            </a:fld>
            <a:endParaRPr lang="en-US"/>
          </a:p>
        </p:txBody>
      </p:sp>
    </p:spTree>
    <p:extLst>
      <p:ext uri="{BB962C8B-B14F-4D97-AF65-F5344CB8AC3E}">
        <p14:creationId xmlns:p14="http://schemas.microsoft.com/office/powerpoint/2010/main" val="544962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going to the mechanic…</a:t>
            </a:r>
          </a:p>
          <a:p>
            <a:r>
              <a:rPr lang="en-US" dirty="0"/>
              <a:t>If the brake stops working, will you be able to see why?</a:t>
            </a:r>
          </a:p>
        </p:txBody>
      </p:sp>
      <p:sp>
        <p:nvSpPr>
          <p:cNvPr id="4" name="Slide Number Placeholder 3"/>
          <p:cNvSpPr>
            <a:spLocks noGrp="1"/>
          </p:cNvSpPr>
          <p:nvPr>
            <p:ph type="sldNum" sz="quarter" idx="5"/>
          </p:nvPr>
        </p:nvSpPr>
        <p:spPr/>
        <p:txBody>
          <a:bodyPr/>
          <a:lstStyle/>
          <a:p>
            <a:fld id="{DB333E9F-084A-8543-BC6F-0AE70009C29B}" type="slidenum">
              <a:rPr lang="en-US" smtClean="0"/>
              <a:t>5</a:t>
            </a:fld>
            <a:endParaRPr lang="en-US"/>
          </a:p>
        </p:txBody>
      </p:sp>
    </p:spTree>
    <p:extLst>
      <p:ext uri="{BB962C8B-B14F-4D97-AF65-F5344CB8AC3E}">
        <p14:creationId xmlns:p14="http://schemas.microsoft.com/office/powerpoint/2010/main" val="1825465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Cautions:</a:t>
            </a:r>
          </a:p>
          <a:p>
            <a:pPr lvl="1"/>
            <a:r>
              <a:rPr lang="en-US" dirty="0"/>
              <a:t>not causal</a:t>
            </a:r>
          </a:p>
          <a:p>
            <a:pPr lvl="1"/>
            <a:r>
              <a:rPr lang="en-US" dirty="0"/>
              <a:t>Many predictors can be highly correlated</a:t>
            </a:r>
          </a:p>
          <a:p>
            <a:pPr lvl="1"/>
            <a:r>
              <a:rPr lang="en-US" dirty="0"/>
              <a:t>When we use many predictors, coefficients can be somewhat arbitrary as a result</a:t>
            </a:r>
          </a:p>
          <a:p>
            <a:pPr lvl="1"/>
            <a:r>
              <a:rPr lang="en-US" dirty="0"/>
              <a:t>Don’t assign too much meaning here</a:t>
            </a:r>
          </a:p>
        </p:txBody>
      </p:sp>
      <p:sp>
        <p:nvSpPr>
          <p:cNvPr id="4" name="Slide Number Placeholder 3"/>
          <p:cNvSpPr>
            <a:spLocks noGrp="1"/>
          </p:cNvSpPr>
          <p:nvPr>
            <p:ph type="sldNum" sz="quarter" idx="5"/>
          </p:nvPr>
        </p:nvSpPr>
        <p:spPr/>
        <p:txBody>
          <a:bodyPr/>
          <a:lstStyle/>
          <a:p>
            <a:fld id="{DB333E9F-084A-8543-BC6F-0AE70009C29B}" type="slidenum">
              <a:rPr lang="en-US" smtClean="0"/>
              <a:t>6</a:t>
            </a:fld>
            <a:endParaRPr lang="en-US"/>
          </a:p>
        </p:txBody>
      </p:sp>
    </p:spTree>
    <p:extLst>
      <p:ext uri="{BB962C8B-B14F-4D97-AF65-F5344CB8AC3E}">
        <p14:creationId xmlns:p14="http://schemas.microsoft.com/office/powerpoint/2010/main" val="34706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4E66E-045A-7B41-ABF9-D2F0D11BF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F14D6-FA76-1F2A-BD06-6DBC8413F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165A1-05BF-CE82-44F2-6EF35C800899}"/>
              </a:ext>
            </a:extLst>
          </p:cNvPr>
          <p:cNvSpPr>
            <a:spLocks noGrp="1"/>
          </p:cNvSpPr>
          <p:nvPr>
            <p:ph type="body" idx="1"/>
          </p:nvPr>
        </p:nvSpPr>
        <p:spPr/>
        <p:txBody>
          <a:bodyPr/>
          <a:lstStyle/>
          <a:p>
            <a:r>
              <a:rPr lang="en-US" dirty="0"/>
              <a:t>Suppose you were learning to identify lesions from a dermatologist.</a:t>
            </a:r>
          </a:p>
          <a:p>
            <a:r>
              <a:rPr lang="en-US" dirty="0"/>
              <a:t>You can’t inspect her thought process, but she can give you an explanation…</a:t>
            </a:r>
          </a:p>
        </p:txBody>
      </p:sp>
      <p:sp>
        <p:nvSpPr>
          <p:cNvPr id="4" name="Slide Number Placeholder 3">
            <a:extLst>
              <a:ext uri="{FF2B5EF4-FFF2-40B4-BE49-F238E27FC236}">
                <a16:creationId xmlns:a16="http://schemas.microsoft.com/office/drawing/2014/main" id="{117BD71F-EE2F-C180-6F00-7D945FBD5818}"/>
              </a:ext>
            </a:extLst>
          </p:cNvPr>
          <p:cNvSpPr>
            <a:spLocks noGrp="1"/>
          </p:cNvSpPr>
          <p:nvPr>
            <p:ph type="sldNum" sz="quarter" idx="10"/>
          </p:nvPr>
        </p:nvSpPr>
        <p:spPr/>
        <p:txBody>
          <a:bodyPr/>
          <a:lstStyle/>
          <a:p>
            <a:fld id="{2D6A5620-3FB7-42A5-8E8D-4A9F7CD6668D}" type="slidenum">
              <a:rPr lang="en-US" smtClean="0"/>
              <a:t>9</a:t>
            </a:fld>
            <a:endParaRPr lang="en-US"/>
          </a:p>
        </p:txBody>
      </p:sp>
    </p:spTree>
    <p:extLst>
      <p:ext uri="{BB962C8B-B14F-4D97-AF65-F5344CB8AC3E}">
        <p14:creationId xmlns:p14="http://schemas.microsoft.com/office/powerpoint/2010/main" val="2295442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EA060-49DE-A28E-A2B9-92C453FF0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EF38D-3C04-8EDA-A649-0DA798B96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0C6D1-5F23-0A01-0EE2-1FA1CF7D7F68}"/>
              </a:ext>
            </a:extLst>
          </p:cNvPr>
          <p:cNvSpPr>
            <a:spLocks noGrp="1"/>
          </p:cNvSpPr>
          <p:nvPr>
            <p:ph type="body" idx="1"/>
          </p:nvPr>
        </p:nvSpPr>
        <p:spPr/>
        <p:txBody>
          <a:bodyPr/>
          <a:lstStyle/>
          <a:p>
            <a:r>
              <a:rPr lang="en-US" dirty="0"/>
              <a:t>Bike versus car?</a:t>
            </a:r>
          </a:p>
          <a:p>
            <a:endParaRPr lang="en-US" dirty="0"/>
          </a:p>
          <a:p>
            <a:r>
              <a:rPr lang="en-US" dirty="0"/>
              <a:t>Bike:</a:t>
            </a:r>
          </a:p>
          <a:p>
            <a:r>
              <a:rPr lang="en-US" dirty="0"/>
              <a:t>Why did it turn left? I can see the handles</a:t>
            </a:r>
          </a:p>
          <a:p>
            <a:r>
              <a:rPr lang="en-US" dirty="0"/>
              <a:t>Why did it move forward? I can see the chain</a:t>
            </a:r>
          </a:p>
          <a:p>
            <a:r>
              <a:rPr lang="en-US" dirty="0"/>
              <a:t>Why did it stall? The chain fell off</a:t>
            </a:r>
          </a:p>
          <a:p>
            <a:endParaRPr lang="en-US" dirty="0"/>
          </a:p>
          <a:p>
            <a:r>
              <a:rPr lang="en-US" dirty="0"/>
              <a:t>Car:</a:t>
            </a:r>
          </a:p>
          <a:p>
            <a:r>
              <a:rPr lang="en-US" dirty="0"/>
              <a:t>Why did it turn left? It’s because I turned the wheel left… but I can’t really see how turning the wheel left makes the wheel go left</a:t>
            </a:r>
          </a:p>
          <a:p>
            <a:r>
              <a:rPr lang="en-US" dirty="0"/>
              <a:t>Why did it move forward? It’s because you pushed the pedal.</a:t>
            </a:r>
          </a:p>
          <a:p>
            <a:r>
              <a:rPr lang="en-US" dirty="0"/>
              <a:t>Why did it stall? You let the clutch out too quickly.</a:t>
            </a:r>
          </a:p>
        </p:txBody>
      </p:sp>
      <p:sp>
        <p:nvSpPr>
          <p:cNvPr id="4" name="Slide Number Placeholder 3">
            <a:extLst>
              <a:ext uri="{FF2B5EF4-FFF2-40B4-BE49-F238E27FC236}">
                <a16:creationId xmlns:a16="http://schemas.microsoft.com/office/drawing/2014/main" id="{AD06366E-D4D6-410D-F225-E648CE54E927}"/>
              </a:ext>
            </a:extLst>
          </p:cNvPr>
          <p:cNvSpPr>
            <a:spLocks noGrp="1"/>
          </p:cNvSpPr>
          <p:nvPr>
            <p:ph type="sldNum" sz="quarter" idx="5"/>
          </p:nvPr>
        </p:nvSpPr>
        <p:spPr/>
        <p:txBody>
          <a:bodyPr/>
          <a:lstStyle/>
          <a:p>
            <a:fld id="{DB333E9F-084A-8543-BC6F-0AE70009C29B}" type="slidenum">
              <a:rPr lang="en-US" smtClean="0"/>
              <a:t>10</a:t>
            </a:fld>
            <a:endParaRPr lang="en-US"/>
          </a:p>
        </p:txBody>
      </p:sp>
    </p:spTree>
    <p:extLst>
      <p:ext uri="{BB962C8B-B14F-4D97-AF65-F5344CB8AC3E}">
        <p14:creationId xmlns:p14="http://schemas.microsoft.com/office/powerpoint/2010/main" val="1762558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going to the mechanic…</a:t>
            </a:r>
          </a:p>
          <a:p>
            <a:r>
              <a:rPr lang="en-US" dirty="0"/>
              <a:t>If the brake stops working, will you be able to see why?</a:t>
            </a:r>
          </a:p>
        </p:txBody>
      </p:sp>
      <p:sp>
        <p:nvSpPr>
          <p:cNvPr id="4" name="Slide Number Placeholder 3"/>
          <p:cNvSpPr>
            <a:spLocks noGrp="1"/>
          </p:cNvSpPr>
          <p:nvPr>
            <p:ph type="sldNum" sz="quarter" idx="5"/>
          </p:nvPr>
        </p:nvSpPr>
        <p:spPr/>
        <p:txBody>
          <a:bodyPr/>
          <a:lstStyle/>
          <a:p>
            <a:fld id="{DB333E9F-084A-8543-BC6F-0AE70009C29B}" type="slidenum">
              <a:rPr lang="en-US" smtClean="0"/>
              <a:t>12</a:t>
            </a:fld>
            <a:endParaRPr lang="en-US"/>
          </a:p>
        </p:txBody>
      </p:sp>
    </p:spTree>
    <p:extLst>
      <p:ext uri="{BB962C8B-B14F-4D97-AF65-F5344CB8AC3E}">
        <p14:creationId xmlns:p14="http://schemas.microsoft.com/office/powerpoint/2010/main" val="4119125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Want to highlight the issue of interpretability</a:t>
            </a:r>
          </a:p>
          <a:p>
            <a:r>
              <a:rPr lang="en-US" dirty="0"/>
              <a:t>How can we trust a ”black box” diagnostic if we don’t know what’s happening inside?</a:t>
            </a:r>
          </a:p>
        </p:txBody>
      </p:sp>
      <p:sp>
        <p:nvSpPr>
          <p:cNvPr id="4" name="Slide Number Placeholder 3"/>
          <p:cNvSpPr>
            <a:spLocks noGrp="1"/>
          </p:cNvSpPr>
          <p:nvPr>
            <p:ph type="sldNum" sz="quarter" idx="5"/>
          </p:nvPr>
        </p:nvSpPr>
        <p:spPr/>
        <p:txBody>
          <a:bodyPr/>
          <a:lstStyle/>
          <a:p>
            <a:fld id="{9FCDE58F-843A-8447-AF7F-7BD31329CDC1}" type="slidenum">
              <a:rPr lang="en-US" smtClean="0"/>
              <a:t>13</a:t>
            </a:fld>
            <a:endParaRPr lang="en-US"/>
          </a:p>
        </p:txBody>
      </p:sp>
    </p:spTree>
    <p:extLst>
      <p:ext uri="{BB962C8B-B14F-4D97-AF65-F5344CB8AC3E}">
        <p14:creationId xmlns:p14="http://schemas.microsoft.com/office/powerpoint/2010/main" val="875804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same time, I might question whether we fully understand even more traditional diagnostics.</a:t>
            </a:r>
          </a:p>
          <a:p>
            <a:r>
              <a:rPr lang="en-US" dirty="0"/>
              <a:t>For instance, I might know that PSA is an enzyme found in the prostate, but I have only a very rudimentary understanding of how PSA levels are detected, or how reliable a PSA measurement might be</a:t>
            </a:r>
          </a:p>
          <a:p>
            <a:endParaRPr lang="en-US" dirty="0"/>
          </a:p>
          <a:p>
            <a:r>
              <a:rPr lang="en-US" sz="1200" b="1" i="0" u="none" strike="noStrike" kern="1200" dirty="0">
                <a:solidFill>
                  <a:schemeClr val="tx1"/>
                </a:solidFill>
                <a:effectLst/>
                <a:latin typeface="+mn-lt"/>
                <a:ea typeface="+mn-ea"/>
                <a:cs typeface="+mn-cs"/>
              </a:rPr>
              <a:t>gamma-</a:t>
            </a:r>
            <a:r>
              <a:rPr lang="en-US" sz="1200" b="1" i="0" u="none" strike="noStrike" kern="1200" dirty="0" err="1">
                <a:solidFill>
                  <a:schemeClr val="tx1"/>
                </a:solidFill>
                <a:effectLst/>
                <a:latin typeface="+mn-lt"/>
                <a:ea typeface="+mn-ea"/>
                <a:cs typeface="+mn-cs"/>
              </a:rPr>
              <a:t>seminoprotein</a:t>
            </a:r>
            <a:r>
              <a:rPr lang="en-US" sz="1200" b="0" i="0" u="none" strike="noStrike" kern="1200" dirty="0">
                <a:solidFill>
                  <a:schemeClr val="tx1"/>
                </a:solidFill>
                <a:effectLst/>
                <a:latin typeface="+mn-lt"/>
                <a:ea typeface="+mn-ea"/>
                <a:cs typeface="+mn-cs"/>
              </a:rPr>
              <a:t> or </a:t>
            </a:r>
            <a:r>
              <a:rPr lang="en-US" sz="1200" b="1" i="0" u="none" strike="noStrike" kern="1200" dirty="0">
                <a:solidFill>
                  <a:schemeClr val="tx1"/>
                </a:solidFill>
                <a:effectLst/>
                <a:latin typeface="+mn-lt"/>
                <a:ea typeface="+mn-ea"/>
                <a:cs typeface="+mn-cs"/>
              </a:rPr>
              <a:t>kallikrein-3</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KLK3</a:t>
            </a:r>
            <a:r>
              <a:rPr lang="en-US" sz="1200" b="0" i="0" u="none" strike="noStrike" kern="1200" dirty="0">
                <a:solidFill>
                  <a:schemeClr val="tx1"/>
                </a:solidFill>
                <a:effectLst/>
                <a:latin typeface="+mn-lt"/>
                <a:ea typeface="+mn-ea"/>
                <a:cs typeface="+mn-cs"/>
              </a:rPr>
              <a:t>), is a </a:t>
            </a:r>
            <a:r>
              <a:rPr lang="en-US" sz="1200" b="0" i="0" u="none" strike="noStrike" kern="1200" dirty="0">
                <a:solidFill>
                  <a:schemeClr val="tx1"/>
                </a:solidFill>
                <a:effectLst/>
                <a:latin typeface="+mn-lt"/>
                <a:ea typeface="+mn-ea"/>
                <a:cs typeface="+mn-cs"/>
                <a:hlinkClick r:id="rId3" tooltip="Glycoprotein"/>
              </a:rPr>
              <a:t>glycoprotein</a:t>
            </a:r>
            <a:r>
              <a:rPr lang="en-US" sz="1200" b="0" i="0" u="none" strike="noStrik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tooltip="Enzyme"/>
              </a:rPr>
              <a:t>enzyme</a:t>
            </a:r>
            <a:r>
              <a:rPr lang="en-US" sz="1200" b="0" i="0" u="none" strike="noStrike" kern="1200" dirty="0">
                <a:solidFill>
                  <a:schemeClr val="tx1"/>
                </a:solidFill>
                <a:effectLst/>
                <a:latin typeface="+mn-lt"/>
                <a:ea typeface="+mn-ea"/>
                <a:cs typeface="+mn-cs"/>
              </a:rPr>
              <a:t> encoded in humans by the </a:t>
            </a:r>
            <a:r>
              <a:rPr lang="en-US" sz="1200" b="0" i="1" u="none" strike="noStrike" kern="1200" dirty="0">
                <a:solidFill>
                  <a:schemeClr val="tx1"/>
                </a:solidFill>
                <a:effectLst/>
                <a:latin typeface="+mn-lt"/>
                <a:ea typeface="+mn-ea"/>
                <a:cs typeface="+mn-cs"/>
              </a:rPr>
              <a:t>KLK3</a:t>
            </a:r>
            <a:r>
              <a:rPr lang="en-US" sz="1200" b="0" i="0" u="none" strike="noStrike"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tooltip="Gene"/>
              </a:rPr>
              <a:t>gene</a:t>
            </a:r>
            <a:endParaRPr lang="en-US" dirty="0"/>
          </a:p>
        </p:txBody>
      </p:sp>
      <p:sp>
        <p:nvSpPr>
          <p:cNvPr id="4" name="Slide Number Placeholder 3"/>
          <p:cNvSpPr>
            <a:spLocks noGrp="1"/>
          </p:cNvSpPr>
          <p:nvPr>
            <p:ph type="sldNum" sz="quarter" idx="5"/>
          </p:nvPr>
        </p:nvSpPr>
        <p:spPr/>
        <p:txBody>
          <a:bodyPr/>
          <a:lstStyle/>
          <a:p>
            <a:fld id="{9FCDE58F-843A-8447-AF7F-7BD31329CDC1}" type="slidenum">
              <a:rPr lang="en-US" smtClean="0"/>
              <a:t>14</a:t>
            </a:fld>
            <a:endParaRPr lang="en-US"/>
          </a:p>
        </p:txBody>
      </p:sp>
    </p:spTree>
    <p:extLst>
      <p:ext uri="{BB962C8B-B14F-4D97-AF65-F5344CB8AC3E}">
        <p14:creationId xmlns:p14="http://schemas.microsoft.com/office/powerpoint/2010/main" val="3096683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going to the mechanic…</a:t>
            </a:r>
          </a:p>
          <a:p>
            <a:r>
              <a:rPr lang="en-US" dirty="0"/>
              <a:t>If the brake stops working, will you be able to see why?</a:t>
            </a:r>
          </a:p>
        </p:txBody>
      </p:sp>
      <p:sp>
        <p:nvSpPr>
          <p:cNvPr id="4" name="Slide Number Placeholder 3"/>
          <p:cNvSpPr>
            <a:spLocks noGrp="1"/>
          </p:cNvSpPr>
          <p:nvPr>
            <p:ph type="sldNum" sz="quarter" idx="5"/>
          </p:nvPr>
        </p:nvSpPr>
        <p:spPr/>
        <p:txBody>
          <a:bodyPr/>
          <a:lstStyle/>
          <a:p>
            <a:fld id="{DB333E9F-084A-8543-BC6F-0AE70009C29B}" type="slidenum">
              <a:rPr lang="en-US" smtClean="0"/>
              <a:t>15</a:t>
            </a:fld>
            <a:endParaRPr lang="en-US"/>
          </a:p>
        </p:txBody>
      </p:sp>
    </p:spTree>
    <p:extLst>
      <p:ext uri="{BB962C8B-B14F-4D97-AF65-F5344CB8AC3E}">
        <p14:creationId xmlns:p14="http://schemas.microsoft.com/office/powerpoint/2010/main" val="303130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day there are two competing perspectives.</a:t>
            </a:r>
          </a:p>
          <a:p>
            <a:endParaRPr lang="en-US" dirty="0"/>
          </a:p>
          <a:p>
            <a:r>
              <a:rPr lang="en-US" dirty="0"/>
              <a:t>Those that think we must fully understand how these tools work to trust them</a:t>
            </a:r>
          </a:p>
          <a:p>
            <a:r>
              <a:rPr lang="en-US" dirty="0"/>
              <a:t>And those who think that we just need to know that they DO work.</a:t>
            </a:r>
          </a:p>
          <a:p>
            <a:endParaRPr lang="en-US" dirty="0"/>
          </a:p>
          <a:p>
            <a:r>
              <a:rPr lang="en-US" dirty="0"/>
              <a:t>But that means rigorously and repeatedly validating them, in a variety of settings – health systems, patient populations, other conditions</a:t>
            </a:r>
          </a:p>
        </p:txBody>
      </p:sp>
      <p:sp>
        <p:nvSpPr>
          <p:cNvPr id="4" name="Slide Number Placeholder 3"/>
          <p:cNvSpPr>
            <a:spLocks noGrp="1"/>
          </p:cNvSpPr>
          <p:nvPr>
            <p:ph type="sldNum" sz="quarter" idx="5"/>
          </p:nvPr>
        </p:nvSpPr>
        <p:spPr/>
        <p:txBody>
          <a:bodyPr/>
          <a:lstStyle/>
          <a:p>
            <a:fld id="{9FCDE58F-843A-8447-AF7F-7BD31329CDC1}" type="slidenum">
              <a:rPr lang="en-US" smtClean="0"/>
              <a:t>16</a:t>
            </a:fld>
            <a:endParaRPr lang="en-US"/>
          </a:p>
        </p:txBody>
      </p:sp>
    </p:spTree>
    <p:extLst>
      <p:ext uri="{BB962C8B-B14F-4D97-AF65-F5344CB8AC3E}">
        <p14:creationId xmlns:p14="http://schemas.microsoft.com/office/powerpoint/2010/main" val="1292466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754C-55E0-9957-99E6-1933869616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003CFE-6852-D5AE-BFEC-1FA54E2D911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E086C35-65E9-F73E-BBFF-99697C684EBC}"/>
              </a:ext>
            </a:extLst>
          </p:cNvPr>
          <p:cNvSpPr>
            <a:spLocks noGrp="1"/>
          </p:cNvSpPr>
          <p:nvPr>
            <p:ph type="body" idx="3"/>
          </p:nvPr>
        </p:nvSpPr>
        <p:spPr/>
        <p:txBody>
          <a:bodyPr/>
          <a:lstStyle/>
          <a:p>
            <a:r>
              <a:rPr lang="en-US" altLang="zh-CN" dirty="0"/>
              <a:t>The question is then – how do we learn to retrieve information relevant to autism</a:t>
            </a:r>
          </a:p>
          <a:p>
            <a:r>
              <a:rPr lang="en-US" altLang="zh-CN" dirty="0"/>
              <a:t>We’ve built a model that initially retrieves at random and tries to predict autism likelihood with whatever information it finds</a:t>
            </a:r>
          </a:p>
          <a:p>
            <a:r>
              <a:rPr lang="en-US" altLang="zh-CN" dirty="0"/>
              <a:t>This is really efficient, because we’re only looking at a small % of the total notes for a given child</a:t>
            </a:r>
          </a:p>
          <a:p>
            <a:r>
              <a:rPr lang="en-US" altLang="zh-CN" dirty="0"/>
              <a:t>But each time, the model sees that some information it’s retrieving is more relevant – more predictive – than other information</a:t>
            </a:r>
          </a:p>
          <a:p>
            <a:r>
              <a:rPr lang="en-US" altLang="zh-CN" dirty="0"/>
              <a:t>So it refines its queries to focus more on the info it retrieved that’s more predictive, and less on the info that’s less predictive</a:t>
            </a:r>
          </a:p>
          <a:p>
            <a:r>
              <a:rPr lang="en-US" altLang="zh-CN" dirty="0"/>
              <a:t>It’s learning how to retrieve information that’s more relevant</a:t>
            </a:r>
          </a:p>
          <a:p>
            <a:r>
              <a:rPr lang="en-US" altLang="zh-CN" dirty="0"/>
              <a:t>And the next time it retrieves, the info will be more relevant</a:t>
            </a:r>
          </a:p>
        </p:txBody>
      </p:sp>
    </p:spTree>
    <p:extLst>
      <p:ext uri="{BB962C8B-B14F-4D97-AF65-F5344CB8AC3E}">
        <p14:creationId xmlns:p14="http://schemas.microsoft.com/office/powerpoint/2010/main" val="1108119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5D73C-ABC0-09EA-07BD-C18B71A653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36BDEB-C633-7BE4-51A5-7BE7EF23C37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942BF71-52C8-73C2-2AE7-C48371B1FC47}"/>
              </a:ext>
            </a:extLst>
          </p:cNvPr>
          <p:cNvSpPr>
            <a:spLocks noGrp="1"/>
          </p:cNvSpPr>
          <p:nvPr>
            <p:ph type="body" idx="3"/>
          </p:nvPr>
        </p:nvSpPr>
        <p:spPr/>
        <p:txBody>
          <a:bodyPr/>
          <a:lstStyle/>
          <a:p>
            <a:r>
              <a:rPr lang="en-US" altLang="zh-CN" dirty="0"/>
              <a:t>A first thing I'd like to highlight is that these likelihood factors are broadly consistent with known literature, but one thing that stood out to us was the emphasis on ophthalmological findings</a:t>
            </a:r>
          </a:p>
          <a:p>
            <a:endParaRPr lang="en-US" altLang="zh-CN" dirty="0"/>
          </a:p>
          <a:p>
            <a:r>
              <a:rPr lang="en-US" altLang="zh-CN" dirty="0"/>
              <a:t>Our model tells us that these findings are *predictive* above and beyond pre-term birth</a:t>
            </a:r>
          </a:p>
          <a:p>
            <a:endParaRPr lang="en-US" altLang="zh-CN" dirty="0"/>
          </a:p>
          <a:p>
            <a:r>
              <a:rPr lang="en-US" altLang="zh-CN" dirty="0"/>
              <a:t>Which is consistent with existing studies showing that associations with ophthalmological findings are not fully explained by preterm birth</a:t>
            </a:r>
          </a:p>
          <a:p>
            <a:endParaRPr lang="en-US" altLang="zh-CN" dirty="0"/>
          </a:p>
          <a:p>
            <a:r>
              <a:rPr lang="en-US" altLang="zh-CN" dirty="0"/>
              <a:t>[Association between Autism Spectrum Disorder (ASD) and vision problems. A systematic review and meta-analysis</a:t>
            </a:r>
          </a:p>
          <a:p>
            <a:r>
              <a:rPr lang="en-US" altLang="zh-CN" dirty="0"/>
              <a:t>https://</a:t>
            </a:r>
            <a:r>
              <a:rPr lang="en-US" altLang="zh-CN" dirty="0" err="1"/>
              <a:t>pubmed.ncbi.nlm.nih.gov</a:t>
            </a:r>
            <a:r>
              <a:rPr lang="en-US" altLang="zh-CN" dirty="0"/>
              <a:t>/37495888/]</a:t>
            </a:r>
          </a:p>
          <a:p>
            <a:endParaRPr lang="en-US" altLang="zh-CN" dirty="0"/>
          </a:p>
          <a:p>
            <a:r>
              <a:rPr lang="en-US" altLang="zh-CN" dirty="0"/>
              <a:t>Another thing that's important to note is that while we're highlighting the global interpretation of our learned query vectors in this slide, a key advantage is that our model allows us to pinpoint predictive findings for a given patient</a:t>
            </a:r>
          </a:p>
          <a:p>
            <a:endParaRPr lang="en-US" altLang="zh-CN" dirty="0"/>
          </a:p>
          <a:p>
            <a:r>
              <a:rPr lang="en-US" altLang="zh-CN" dirty="0"/>
              <a:t>So, for example, interpreting the prediction for a particular patient, we can inspect specific note segments retrieved by each of these vectors, then see how each of those is affecting the model's prediction</a:t>
            </a:r>
          </a:p>
          <a:p>
            <a:endParaRPr lang="en-US" altLang="zh-CN" dirty="0"/>
          </a:p>
          <a:p>
            <a:r>
              <a:rPr lang="en-US" altLang="zh-CN" dirty="0"/>
              <a:t>Which leads me to some of our next steps...</a:t>
            </a:r>
            <a:endParaRPr lang="zh-CN" altLang="en-US" dirty="0"/>
          </a:p>
        </p:txBody>
      </p:sp>
    </p:spTree>
    <p:extLst>
      <p:ext uri="{BB962C8B-B14F-4D97-AF65-F5344CB8AC3E}">
        <p14:creationId xmlns:p14="http://schemas.microsoft.com/office/powerpoint/2010/main" val="192017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describe the idea of a reference input: why do we need it?</a:t>
            </a:r>
          </a:p>
          <a:p>
            <a:endParaRPr lang="en-US" dirty="0"/>
          </a:p>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29</a:t>
            </a:fld>
            <a:endParaRPr lang="en-US"/>
          </a:p>
        </p:txBody>
      </p:sp>
    </p:spTree>
    <p:extLst>
      <p:ext uri="{BB962C8B-B14F-4D97-AF65-F5344CB8AC3E}">
        <p14:creationId xmlns:p14="http://schemas.microsoft.com/office/powerpoint/2010/main" val="1068391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C380-E830-EB34-3C2A-030FC9485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2EA2B-F1A4-1A37-C8A2-982E4AB7A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4821F-795F-3FFC-47F5-01383C95B410}"/>
              </a:ext>
            </a:extLst>
          </p:cNvPr>
          <p:cNvSpPr>
            <a:spLocks noGrp="1"/>
          </p:cNvSpPr>
          <p:nvPr>
            <p:ph type="body" idx="1"/>
          </p:nvPr>
        </p:nvSpPr>
        <p:spPr/>
        <p:txBody>
          <a:bodyPr/>
          <a:lstStyle/>
          <a:p>
            <a:r>
              <a:rPr lang="en-US" dirty="0"/>
              <a:t>First, describe the idea of a reference input: why do we need it?</a:t>
            </a:r>
          </a:p>
          <a:p>
            <a:endParaRPr lang="en-US" dirty="0"/>
          </a:p>
          <a:p>
            <a:endParaRPr lang="en-US" dirty="0"/>
          </a:p>
        </p:txBody>
      </p:sp>
      <p:sp>
        <p:nvSpPr>
          <p:cNvPr id="4" name="Slide Number Placeholder 3">
            <a:extLst>
              <a:ext uri="{FF2B5EF4-FFF2-40B4-BE49-F238E27FC236}">
                <a16:creationId xmlns:a16="http://schemas.microsoft.com/office/drawing/2014/main" id="{C9FB3526-1C2C-87EB-A8D3-80FB8BB5B373}"/>
              </a:ext>
            </a:extLst>
          </p:cNvPr>
          <p:cNvSpPr>
            <a:spLocks noGrp="1"/>
          </p:cNvSpPr>
          <p:nvPr>
            <p:ph type="sldNum" sz="quarter" idx="5"/>
          </p:nvPr>
        </p:nvSpPr>
        <p:spPr/>
        <p:txBody>
          <a:bodyPr/>
          <a:lstStyle/>
          <a:p>
            <a:fld id="{209E0516-BAFC-0740-BE21-9E8CF9264E1E}" type="slidenum">
              <a:rPr lang="en-US" smtClean="0"/>
              <a:t>30</a:t>
            </a:fld>
            <a:endParaRPr lang="en-US"/>
          </a:p>
        </p:txBody>
      </p:sp>
    </p:spTree>
    <p:extLst>
      <p:ext uri="{BB962C8B-B14F-4D97-AF65-F5344CB8AC3E}">
        <p14:creationId xmlns:p14="http://schemas.microsoft.com/office/powerpoint/2010/main" val="363109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33E9F-084A-8543-BC6F-0AE70009C29B}" type="slidenum">
              <a:rPr lang="en-US" smtClean="0"/>
              <a:t>38</a:t>
            </a:fld>
            <a:endParaRPr lang="en-US"/>
          </a:p>
        </p:txBody>
      </p:sp>
    </p:spTree>
    <p:extLst>
      <p:ext uri="{BB962C8B-B14F-4D97-AF65-F5344CB8AC3E}">
        <p14:creationId xmlns:p14="http://schemas.microsoft.com/office/powerpoint/2010/main" val="541936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3C78-0BA0-83B0-B336-BB47644E6A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79DBE6-8053-C500-6802-7E588D13E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ABF789-B40E-7CD3-A52D-CBA21B763384}"/>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140716FF-607C-B517-A7C3-73B9400AE6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8D7CA6-EC03-6812-5458-773A1BC3D33A}"/>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1500322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809B-AFA5-2839-C422-F8F9591249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19FCE8-743C-4464-B2AB-555CCF3BBE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974B4-C60B-4567-D00F-C04078287EF2}"/>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BD73640B-10DC-CBD0-AAE7-75281FBEA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AFD2-3DA6-8F74-5EDD-85FB4383EEAB}"/>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811384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FCA1-EBD4-A4A1-5DCD-C3BB445115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15440-CB21-3401-C347-007EE2F51A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DDD547-C0D2-915E-6857-39A0D27247E6}"/>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21218E4F-F4D0-4B61-BEC9-BC116E26B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FA0647-C7BA-A679-9082-B3740470602A}"/>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99401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F13-0462-B502-8B2F-006601A1B5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C89AA5-2CAD-D467-8BA9-6C6621F60D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4AAD0-38DC-1A60-F93C-BBF881706E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CC65E1-3D2C-8690-7C60-AD79F9696AB6}"/>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6" name="Footer Placeholder 5">
            <a:extLst>
              <a:ext uri="{FF2B5EF4-FFF2-40B4-BE49-F238E27FC236}">
                <a16:creationId xmlns:a16="http://schemas.microsoft.com/office/drawing/2014/main" id="{71FCBFCA-6245-D959-56E8-125C704027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F308E-A0D9-3A89-A36D-355CDBBCEE09}"/>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78376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1AE67-985B-95EE-BC25-550767447B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924E53-AE19-4EA9-8FD3-8968D15CF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FC1B10-8D5C-A9C3-BF53-9FE2D59EAD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4DBEA5-BF96-1B2A-E306-CC5B46334E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D51EAA-B241-A872-7E41-24603C3A6C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805F-844D-CE3B-AB1A-E357452E8F7E}"/>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8" name="Footer Placeholder 7">
            <a:extLst>
              <a:ext uri="{FF2B5EF4-FFF2-40B4-BE49-F238E27FC236}">
                <a16:creationId xmlns:a16="http://schemas.microsoft.com/office/drawing/2014/main" id="{C55782F5-500A-5F95-8C53-B34F340C6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A1107C-9CEA-7E83-6A04-B1723E69E65F}"/>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082575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8E3D-DCBE-3FCD-FB17-3AB4E117D6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7559E8-5A6A-6C63-0361-1666960BB0E1}"/>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4" name="Footer Placeholder 3">
            <a:extLst>
              <a:ext uri="{FF2B5EF4-FFF2-40B4-BE49-F238E27FC236}">
                <a16:creationId xmlns:a16="http://schemas.microsoft.com/office/drawing/2014/main" id="{C79AA1CE-6FE3-2C0D-AD18-3C69C92D76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84C69D-2891-E01E-179C-06417188A309}"/>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874607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735FBE-9395-FF6C-BBB5-2ED706377BEE}"/>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3" name="Footer Placeholder 2">
            <a:extLst>
              <a:ext uri="{FF2B5EF4-FFF2-40B4-BE49-F238E27FC236}">
                <a16:creationId xmlns:a16="http://schemas.microsoft.com/office/drawing/2014/main" id="{4EE8339F-8BD9-2F67-7513-329088A471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10DD97-8E81-8BA5-DB07-5A5C23F059BF}"/>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39035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4A85-0830-B3CF-D6CE-779CC0F9A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637A03-67AB-F956-BAFE-086B9B093F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AA8EC5-924B-9DC7-EEBC-0D4868B4A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53503C-DE6F-826C-DADA-86ED1C479A24}"/>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6" name="Footer Placeholder 5">
            <a:extLst>
              <a:ext uri="{FF2B5EF4-FFF2-40B4-BE49-F238E27FC236}">
                <a16:creationId xmlns:a16="http://schemas.microsoft.com/office/drawing/2014/main" id="{7426784E-F42B-923C-53B5-FDFA45D249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A0999-5131-1AEE-6649-C542CC3E7065}"/>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161010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3512-B90B-B848-3D16-4F7B4817E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6191C7-D3B1-DBF4-51AB-A5A699F4A8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EB4850-E3AB-D61D-2A55-DF8413DBE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829B5-4A5E-76EC-D661-F716A9AB4C56}"/>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6" name="Footer Placeholder 5">
            <a:extLst>
              <a:ext uri="{FF2B5EF4-FFF2-40B4-BE49-F238E27FC236}">
                <a16:creationId xmlns:a16="http://schemas.microsoft.com/office/drawing/2014/main" id="{BE57375C-6B98-57BF-E409-C97693EBB4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27D09-1206-C533-1511-6AC55D35C0D5}"/>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70184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2EF1-F68B-9FBB-06F7-4BFDFF1F3A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7F4B3A-7837-50F0-F3A3-B6D9A3548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249AC-590F-EFC4-FAA2-C2DE12BD6B44}"/>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A0A9810C-2228-3F5A-5F95-7B30CCB96A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66667-CA68-07F0-661E-C18539594214}"/>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116626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46658B-E12C-3CD3-4A23-79228E004B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C0786A-F980-853A-E6FB-18DE8A6029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50717C-B149-CDB5-EE86-1D5A166A8A9A}"/>
              </a:ext>
            </a:extLst>
          </p:cNvPr>
          <p:cNvSpPr>
            <a:spLocks noGrp="1"/>
          </p:cNvSpPr>
          <p:nvPr>
            <p:ph type="dt" sz="half" idx="10"/>
          </p:nvPr>
        </p:nvSpPr>
        <p:spPr/>
        <p:txBody>
          <a:body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8804F5A0-2AC2-107E-AC5B-694ACC446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BE035-C36A-E729-CA02-BE3B0E5EB67D}"/>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03035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E335D0-5D85-0B5B-D168-70143EF83B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1444A-DA08-42D0-49C3-1B7406110D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1093E-E259-284B-6658-5D25582CE1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05AA0-92B9-5146-9488-F22FA8DF2CCD}" type="datetimeFigureOut">
              <a:rPr lang="en-US" smtClean="0"/>
              <a:t>2/25/26</a:t>
            </a:fld>
            <a:endParaRPr lang="en-US"/>
          </a:p>
        </p:txBody>
      </p:sp>
      <p:sp>
        <p:nvSpPr>
          <p:cNvPr id="5" name="Footer Placeholder 4">
            <a:extLst>
              <a:ext uri="{FF2B5EF4-FFF2-40B4-BE49-F238E27FC236}">
                <a16:creationId xmlns:a16="http://schemas.microsoft.com/office/drawing/2014/main" id="{31068A18-AADD-3D12-948A-0C26F502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C69CDC-75CD-74A5-0A1C-5FC0292AB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0ADBA9-20AE-6D42-963B-9B809D3A8592}" type="slidenum">
              <a:rPr lang="en-US" smtClean="0"/>
              <a:t>‹#›</a:t>
            </a:fld>
            <a:endParaRPr lang="en-US"/>
          </a:p>
        </p:txBody>
      </p:sp>
    </p:spTree>
    <p:extLst>
      <p:ext uri="{BB962C8B-B14F-4D97-AF65-F5344CB8AC3E}">
        <p14:creationId xmlns:p14="http://schemas.microsoft.com/office/powerpoint/2010/main" val="1803355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5335-4C42-0616-B8F2-C4A75DF96F6E}"/>
              </a:ext>
            </a:extLst>
          </p:cNvPr>
          <p:cNvSpPr>
            <a:spLocks noGrp="1"/>
          </p:cNvSpPr>
          <p:nvPr>
            <p:ph type="ctrTitle"/>
          </p:nvPr>
        </p:nvSpPr>
        <p:spPr/>
        <p:txBody>
          <a:bodyPr/>
          <a:lstStyle/>
          <a:p>
            <a:r>
              <a:rPr lang="en-US" dirty="0"/>
              <a:t>Explainable AI Methods</a:t>
            </a:r>
          </a:p>
        </p:txBody>
      </p:sp>
      <p:sp>
        <p:nvSpPr>
          <p:cNvPr id="3" name="Subtitle 2">
            <a:extLst>
              <a:ext uri="{FF2B5EF4-FFF2-40B4-BE49-F238E27FC236}">
                <a16:creationId xmlns:a16="http://schemas.microsoft.com/office/drawing/2014/main" id="{606A0598-4EA4-8563-2A0F-F9860F38E791}"/>
              </a:ext>
            </a:extLst>
          </p:cNvPr>
          <p:cNvSpPr>
            <a:spLocks noGrp="1"/>
          </p:cNvSpPr>
          <p:nvPr>
            <p:ph type="subTitle" idx="1"/>
          </p:nvPr>
        </p:nvSpPr>
        <p:spPr/>
        <p:txBody>
          <a:bodyPr/>
          <a:lstStyle/>
          <a:p>
            <a:endParaRPr lang="en-US" dirty="0"/>
          </a:p>
          <a:p>
            <a:r>
              <a:rPr lang="en-US" dirty="0"/>
              <a:t>Matthew Engelhard</a:t>
            </a:r>
          </a:p>
        </p:txBody>
      </p:sp>
    </p:spTree>
    <p:extLst>
      <p:ext uri="{BB962C8B-B14F-4D97-AF65-F5344CB8AC3E}">
        <p14:creationId xmlns:p14="http://schemas.microsoft.com/office/powerpoint/2010/main" val="232589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ED7FE-2B4F-8128-E824-3F35AE95D110}"/>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D92652C3-001B-F8CE-A905-866C2CDB7714}"/>
              </a:ext>
            </a:extLst>
          </p:cNvPr>
          <p:cNvSpPr>
            <a:spLocks noGrp="1"/>
          </p:cNvSpPr>
          <p:nvPr>
            <p:ph idx="1"/>
          </p:nvPr>
        </p:nvSpPr>
        <p:spPr/>
        <p:txBody>
          <a:bodyPr>
            <a:normAutofit/>
          </a:bodyPr>
          <a:lstStyle/>
          <a:p>
            <a:r>
              <a:rPr lang="en-US" dirty="0"/>
              <a:t> Contrastive learning on the board (</a:t>
            </a:r>
            <a:r>
              <a:rPr lang="en-US" dirty="0" err="1"/>
              <a:t>SimCLR</a:t>
            </a:r>
            <a:r>
              <a:rPr lang="en-US" dirty="0"/>
              <a:t> and CLIP batches and losses)</a:t>
            </a:r>
          </a:p>
          <a:p>
            <a:endParaRPr lang="en-US" dirty="0"/>
          </a:p>
          <a:p>
            <a:pPr marL="514350" indent="-514350">
              <a:buFont typeface="+mj-lt"/>
              <a:buAutoNum type="arabicPeriod"/>
            </a:pPr>
            <a:r>
              <a:rPr lang="en-US" dirty="0"/>
              <a:t>Interpretable versus explainable (definition, example)</a:t>
            </a:r>
          </a:p>
          <a:p>
            <a:pPr marL="514350" indent="-514350">
              <a:buFont typeface="+mj-lt"/>
              <a:buAutoNum type="arabicPeriod"/>
            </a:pPr>
            <a:r>
              <a:rPr lang="en-US" dirty="0"/>
              <a:t>Competing perspectives on interpretability</a:t>
            </a:r>
          </a:p>
          <a:p>
            <a:pPr marL="514350" indent="-514350">
              <a:buFont typeface="+mj-lt"/>
              <a:buAutoNum type="arabicPeriod"/>
            </a:pPr>
            <a:r>
              <a:rPr lang="en-US" dirty="0"/>
              <a:t>Evolving views of interpretability</a:t>
            </a:r>
          </a:p>
          <a:p>
            <a:pPr marL="514350" indent="-514350">
              <a:buFont typeface="+mj-lt"/>
              <a:buAutoNum type="arabicPeriod"/>
            </a:pPr>
            <a:r>
              <a:rPr lang="en-US" dirty="0"/>
              <a:t>Simple explanation methods (saliency maps, Grad-CAM)</a:t>
            </a:r>
          </a:p>
          <a:p>
            <a:pPr marL="514350" indent="-514350">
              <a:buFont typeface="+mj-lt"/>
              <a:buAutoNum type="arabicPeriod"/>
            </a:pPr>
            <a:r>
              <a:rPr lang="en-US" dirty="0"/>
              <a:t>More principled explanation methods (integrated &amp; expected gradients, SHAP)</a:t>
            </a:r>
          </a:p>
        </p:txBody>
      </p:sp>
    </p:spTree>
    <p:extLst>
      <p:ext uri="{BB962C8B-B14F-4D97-AF65-F5344CB8AC3E}">
        <p14:creationId xmlns:p14="http://schemas.microsoft.com/office/powerpoint/2010/main" val="1074482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A1B6-F416-293D-7248-AD72472AEEE2}"/>
              </a:ext>
            </a:extLst>
          </p:cNvPr>
          <p:cNvSpPr>
            <a:spLocks noGrp="1"/>
          </p:cNvSpPr>
          <p:nvPr>
            <p:ph type="title"/>
          </p:nvPr>
        </p:nvSpPr>
        <p:spPr/>
        <p:txBody>
          <a:bodyPr/>
          <a:lstStyle/>
          <a:p>
            <a:r>
              <a:rPr lang="en-US" dirty="0"/>
              <a:t>Interpretable vs Explainable</a:t>
            </a:r>
          </a:p>
        </p:txBody>
      </p:sp>
      <p:sp>
        <p:nvSpPr>
          <p:cNvPr id="3" name="Text Placeholder 2">
            <a:extLst>
              <a:ext uri="{FF2B5EF4-FFF2-40B4-BE49-F238E27FC236}">
                <a16:creationId xmlns:a16="http://schemas.microsoft.com/office/drawing/2014/main" id="{333DB9D0-0D7A-0F88-3A8A-A2A60A2E32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4899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BF34-AC38-4F1F-DE51-B30214C4CC35}"/>
              </a:ext>
            </a:extLst>
          </p:cNvPr>
          <p:cNvSpPr>
            <a:spLocks noGrp="1"/>
          </p:cNvSpPr>
          <p:nvPr>
            <p:ph type="title"/>
          </p:nvPr>
        </p:nvSpPr>
        <p:spPr/>
        <p:txBody>
          <a:bodyPr/>
          <a:lstStyle/>
          <a:p>
            <a:r>
              <a:rPr lang="en-US" i="1" dirty="0"/>
              <a:t>Interpretable</a:t>
            </a:r>
            <a:r>
              <a:rPr lang="en-US" dirty="0"/>
              <a:t> versus </a:t>
            </a:r>
            <a:r>
              <a:rPr lang="en-US" i="1" dirty="0"/>
              <a:t>explainable </a:t>
            </a:r>
            <a:r>
              <a:rPr lang="en-US" dirty="0"/>
              <a:t>models</a:t>
            </a:r>
          </a:p>
        </p:txBody>
      </p:sp>
      <p:sp>
        <p:nvSpPr>
          <p:cNvPr id="3" name="Content Placeholder 2">
            <a:extLst>
              <a:ext uri="{FF2B5EF4-FFF2-40B4-BE49-F238E27FC236}">
                <a16:creationId xmlns:a16="http://schemas.microsoft.com/office/drawing/2014/main" id="{1893CA31-4C17-7F66-827C-BDC10317FF78}"/>
              </a:ext>
            </a:extLst>
          </p:cNvPr>
          <p:cNvSpPr>
            <a:spLocks noGrp="1"/>
          </p:cNvSpPr>
          <p:nvPr>
            <p:ph idx="1"/>
          </p:nvPr>
        </p:nvSpPr>
        <p:spPr/>
        <p:txBody>
          <a:bodyPr/>
          <a:lstStyle/>
          <a:p>
            <a:pPr marL="0" indent="0">
              <a:buNone/>
            </a:pPr>
            <a:r>
              <a:rPr lang="en-US" u="sng" dirty="0"/>
              <a:t>An </a:t>
            </a:r>
            <a:r>
              <a:rPr lang="en-US" i="1" u="sng" dirty="0"/>
              <a:t>interpretable</a:t>
            </a:r>
            <a:r>
              <a:rPr lang="en-US" u="sng" dirty="0"/>
              <a:t> model</a:t>
            </a:r>
            <a:r>
              <a:rPr lang="en-US" dirty="0"/>
              <a:t>:</a:t>
            </a:r>
          </a:p>
          <a:p>
            <a:pPr marL="0" indent="0">
              <a:buNone/>
            </a:pPr>
            <a:r>
              <a:rPr lang="en-US" dirty="0"/>
              <a:t>It is easy to for us to understand why the model makes the predictions that it makes.</a:t>
            </a:r>
          </a:p>
          <a:p>
            <a:endParaRPr lang="en-US" dirty="0"/>
          </a:p>
          <a:p>
            <a:pPr marL="0" indent="0">
              <a:buNone/>
            </a:pPr>
            <a:r>
              <a:rPr lang="en-US" u="sng" dirty="0"/>
              <a:t>An </a:t>
            </a:r>
            <a:r>
              <a:rPr lang="en-US" i="1" u="sng" dirty="0"/>
              <a:t>explainable</a:t>
            </a:r>
            <a:r>
              <a:rPr lang="en-US" u="sng" dirty="0"/>
              <a:t> model</a:t>
            </a:r>
            <a:r>
              <a:rPr lang="en-US" dirty="0"/>
              <a:t>:</a:t>
            </a:r>
          </a:p>
          <a:p>
            <a:pPr marL="0" indent="0">
              <a:buNone/>
            </a:pPr>
            <a:r>
              <a:rPr lang="en-US" dirty="0"/>
              <a:t>One or more techniques can be used to provide a human-friendly explanation for each model prediction.</a:t>
            </a:r>
          </a:p>
        </p:txBody>
      </p:sp>
    </p:spTree>
    <p:extLst>
      <p:ext uri="{BB962C8B-B14F-4D97-AF65-F5344CB8AC3E}">
        <p14:creationId xmlns:p14="http://schemas.microsoft.com/office/powerpoint/2010/main" val="322098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AB00-4ED8-139E-2D84-87CF84F6D6D5}"/>
              </a:ext>
            </a:extLst>
          </p:cNvPr>
          <p:cNvSpPr>
            <a:spLocks noGrp="1"/>
          </p:cNvSpPr>
          <p:nvPr>
            <p:ph type="title"/>
          </p:nvPr>
        </p:nvSpPr>
        <p:spPr/>
        <p:txBody>
          <a:bodyPr/>
          <a:lstStyle/>
          <a:p>
            <a:r>
              <a:rPr lang="en-US" dirty="0"/>
              <a:t>Interpretable				Explainable</a:t>
            </a:r>
          </a:p>
        </p:txBody>
      </p:sp>
      <p:pic>
        <p:nvPicPr>
          <p:cNvPr id="1026" name="Picture 2" descr="Co-op Cycles REV 16 Kids' Bike | REI Co-op">
            <a:extLst>
              <a:ext uri="{FF2B5EF4-FFF2-40B4-BE49-F238E27FC236}">
                <a16:creationId xmlns:a16="http://schemas.microsoft.com/office/drawing/2014/main" id="{8C77C95D-F264-EBF5-BD36-9D85BCBA3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3429000"/>
            <a:ext cx="3634412" cy="24942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005 Acura RSX Specs, Price, MPG &amp; Reviews | Cars.com">
            <a:extLst>
              <a:ext uri="{FF2B5EF4-FFF2-40B4-BE49-F238E27FC236}">
                <a16:creationId xmlns:a16="http://schemas.microsoft.com/office/drawing/2014/main" id="{3A798C6C-7633-6950-3538-4266F46099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242981" y="1330293"/>
            <a:ext cx="6949019" cy="4592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555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1420B-38CA-CE5A-A10C-33B17DC5EA8F}"/>
              </a:ext>
            </a:extLst>
          </p:cNvPr>
          <p:cNvSpPr>
            <a:spLocks noGrp="1"/>
          </p:cNvSpPr>
          <p:nvPr>
            <p:ph idx="1"/>
          </p:nvPr>
        </p:nvSpPr>
        <p:spPr>
          <a:xfrm>
            <a:off x="838200" y="1211656"/>
            <a:ext cx="10515600" cy="4351339"/>
          </a:xfrm>
        </p:spPr>
        <p:txBody>
          <a:bodyPr/>
          <a:lstStyle/>
          <a:p>
            <a:pPr>
              <a:buFontTx/>
              <a:buChar char="-"/>
            </a:pPr>
            <a:r>
              <a:rPr lang="en-US" sz="2133" dirty="0"/>
              <a:t>Suppose a new patient is transferred to the ICU, and the (logistic regression) model predicts their mortality risk is high.</a:t>
            </a:r>
          </a:p>
          <a:p>
            <a:pPr>
              <a:buFontTx/>
              <a:buChar char="-"/>
            </a:pPr>
            <a:r>
              <a:rPr lang="en-US" sz="2133" b="1" dirty="0"/>
              <a:t>Q:</a:t>
            </a:r>
            <a:r>
              <a:rPr lang="en-US" sz="2133" dirty="0"/>
              <a:t> Is it hard to figure out why it made that prediction?</a:t>
            </a:r>
          </a:p>
          <a:p>
            <a:pPr>
              <a:buFontTx/>
              <a:buChar char="-"/>
            </a:pPr>
            <a:r>
              <a:rPr lang="en-US" sz="2133" b="1" dirty="0"/>
              <a:t>A:</a:t>
            </a:r>
            <a:r>
              <a:rPr lang="en-US" sz="2133" dirty="0"/>
              <a:t> No. You can look at the coefficients to see which variables increased and decreased the predicted probability.</a:t>
            </a:r>
          </a:p>
        </p:txBody>
      </p:sp>
      <p:sp>
        <p:nvSpPr>
          <p:cNvPr id="5" name="TextBox 4">
            <a:extLst>
              <a:ext uri="{FF2B5EF4-FFF2-40B4-BE49-F238E27FC236}">
                <a16:creationId xmlns:a16="http://schemas.microsoft.com/office/drawing/2014/main" id="{0946CD4C-6050-FE69-5037-A8DCE3A7B33C}"/>
              </a:ext>
            </a:extLst>
          </p:cNvPr>
          <p:cNvSpPr txBox="1"/>
          <p:nvPr/>
        </p:nvSpPr>
        <p:spPr>
          <a:xfrm>
            <a:off x="7594545" y="4242069"/>
            <a:ext cx="4210344"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associated label:</a:t>
            </a:r>
          </a:p>
          <a:p>
            <a:r>
              <a:rPr lang="en-US" sz="2797" dirty="0">
                <a:latin typeface="Times New Roman" panose="02020603050405020304" pitchFamily="18" charset="0"/>
                <a:cs typeface="Times New Roman" panose="02020603050405020304" pitchFamily="18" charset="0"/>
              </a:rPr>
              <a:t>(0 = live, 1 = die)</a:t>
            </a:r>
          </a:p>
        </p:txBody>
      </p:sp>
      <p:graphicFrame>
        <p:nvGraphicFramePr>
          <p:cNvPr id="6" name="Table 5">
            <a:extLst>
              <a:ext uri="{FF2B5EF4-FFF2-40B4-BE49-F238E27FC236}">
                <a16:creationId xmlns:a16="http://schemas.microsoft.com/office/drawing/2014/main" id="{9C402085-A388-D417-F0F1-5FC4C8418579}"/>
              </a:ext>
            </a:extLst>
          </p:cNvPr>
          <p:cNvGraphicFramePr>
            <a:graphicFrameLocks noGrp="1"/>
          </p:cNvGraphicFramePr>
          <p:nvPr/>
        </p:nvGraphicFramePr>
        <p:xfrm>
          <a:off x="430306" y="5160398"/>
          <a:ext cx="5727704" cy="707853"/>
        </p:xfrm>
        <a:graphic>
          <a:graphicData uri="http://schemas.openxmlformats.org/drawingml/2006/table">
            <a:tbl>
              <a:tblPr firstRow="1" bandRow="1">
                <a:tableStyleId>{5C22544A-7EE6-4342-B048-85BDC9FD1C3A}</a:tableStyleId>
              </a:tblPr>
              <a:tblGrid>
                <a:gridCol w="715963">
                  <a:extLst>
                    <a:ext uri="{9D8B030D-6E8A-4147-A177-3AD203B41FA5}">
                      <a16:colId xmlns:a16="http://schemas.microsoft.com/office/drawing/2014/main" val="3005286385"/>
                    </a:ext>
                  </a:extLst>
                </a:gridCol>
                <a:gridCol w="715963">
                  <a:extLst>
                    <a:ext uri="{9D8B030D-6E8A-4147-A177-3AD203B41FA5}">
                      <a16:colId xmlns:a16="http://schemas.microsoft.com/office/drawing/2014/main" val="4002730172"/>
                    </a:ext>
                  </a:extLst>
                </a:gridCol>
                <a:gridCol w="715963">
                  <a:extLst>
                    <a:ext uri="{9D8B030D-6E8A-4147-A177-3AD203B41FA5}">
                      <a16:colId xmlns:a16="http://schemas.microsoft.com/office/drawing/2014/main" val="440623976"/>
                    </a:ext>
                  </a:extLst>
                </a:gridCol>
                <a:gridCol w="715963">
                  <a:extLst>
                    <a:ext uri="{9D8B030D-6E8A-4147-A177-3AD203B41FA5}">
                      <a16:colId xmlns:a16="http://schemas.microsoft.com/office/drawing/2014/main" val="2300620790"/>
                    </a:ext>
                  </a:extLst>
                </a:gridCol>
                <a:gridCol w="715963">
                  <a:extLst>
                    <a:ext uri="{9D8B030D-6E8A-4147-A177-3AD203B41FA5}">
                      <a16:colId xmlns:a16="http://schemas.microsoft.com/office/drawing/2014/main" val="387841067"/>
                    </a:ext>
                  </a:extLst>
                </a:gridCol>
                <a:gridCol w="715963">
                  <a:extLst>
                    <a:ext uri="{9D8B030D-6E8A-4147-A177-3AD203B41FA5}">
                      <a16:colId xmlns:a16="http://schemas.microsoft.com/office/drawing/2014/main" val="2317106339"/>
                    </a:ext>
                  </a:extLst>
                </a:gridCol>
                <a:gridCol w="715963">
                  <a:extLst>
                    <a:ext uri="{9D8B030D-6E8A-4147-A177-3AD203B41FA5}">
                      <a16:colId xmlns:a16="http://schemas.microsoft.com/office/drawing/2014/main" val="3112262120"/>
                    </a:ext>
                  </a:extLst>
                </a:gridCol>
                <a:gridCol w="715963">
                  <a:extLst>
                    <a:ext uri="{9D8B030D-6E8A-4147-A177-3AD203B41FA5}">
                      <a16:colId xmlns:a16="http://schemas.microsoft.com/office/drawing/2014/main" val="1492693499"/>
                    </a:ext>
                  </a:extLst>
                </a:gridCol>
              </a:tblGrid>
              <a:tr h="707853">
                <a:tc>
                  <a:txBody>
                    <a:bodyPr/>
                    <a:lstStyle/>
                    <a:p>
                      <a:pPr algn="ctr"/>
                      <a:r>
                        <a:rPr lang="en-US" sz="2400" dirty="0">
                          <a:solidFill>
                            <a:schemeClr val="tx1"/>
                          </a:solidFill>
                        </a:rPr>
                        <a:t>x</a:t>
                      </a:r>
                      <a:r>
                        <a:rPr lang="en-US" sz="2400" baseline="-25000" dirty="0">
                          <a:solidFill>
                            <a:schemeClr val="tx1"/>
                          </a:solidFill>
                        </a:rPr>
                        <a:t>1</a:t>
                      </a:r>
                      <a:endParaRPr lang="en-US" sz="2400" baseline="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2</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3</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4</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5</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6</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7</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r>
                        <a:rPr lang="en-US" sz="2400" baseline="-25000" dirty="0">
                          <a:solidFill>
                            <a:schemeClr val="tx1"/>
                          </a:solidFill>
                        </a:rPr>
                        <a:t>8</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7" name="Table 6">
            <a:extLst>
              <a:ext uri="{FF2B5EF4-FFF2-40B4-BE49-F238E27FC236}">
                <a16:creationId xmlns:a16="http://schemas.microsoft.com/office/drawing/2014/main" id="{E279BE5B-8220-A361-C750-B05202E9FB49}"/>
              </a:ext>
            </a:extLst>
          </p:cNvPr>
          <p:cNvGraphicFramePr>
            <a:graphicFrameLocks noGrp="1"/>
          </p:cNvGraphicFramePr>
          <p:nvPr/>
        </p:nvGraphicFramePr>
        <p:xfrm>
          <a:off x="7911519" y="3221426"/>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y</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8" name="Straight Arrow Connector 7">
            <a:extLst>
              <a:ext uri="{FF2B5EF4-FFF2-40B4-BE49-F238E27FC236}">
                <a16:creationId xmlns:a16="http://schemas.microsoft.com/office/drawing/2014/main" id="{46C25AC8-44E6-38F4-A71C-8D492E23B560}"/>
              </a:ext>
            </a:extLst>
          </p:cNvPr>
          <p:cNvCxnSpPr>
            <a:cxnSpLocks/>
          </p:cNvCxnSpPr>
          <p:nvPr/>
        </p:nvCxnSpPr>
        <p:spPr>
          <a:xfrm flipV="1">
            <a:off x="773205" y="3931661"/>
            <a:ext cx="2568275" cy="1228736"/>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90D47908-220F-D51B-7AB7-A6D983EBAAC6}"/>
              </a:ext>
            </a:extLst>
          </p:cNvPr>
          <p:cNvCxnSpPr>
            <a:cxnSpLocks/>
          </p:cNvCxnSpPr>
          <p:nvPr/>
        </p:nvCxnSpPr>
        <p:spPr>
          <a:xfrm flipV="1">
            <a:off x="1497106" y="3931661"/>
            <a:ext cx="1844375" cy="1228736"/>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85F47F0C-DD56-A745-F98A-C314A3D85D70}"/>
              </a:ext>
            </a:extLst>
          </p:cNvPr>
          <p:cNvCxnSpPr>
            <a:cxnSpLocks/>
          </p:cNvCxnSpPr>
          <p:nvPr/>
        </p:nvCxnSpPr>
        <p:spPr>
          <a:xfrm flipH="1" flipV="1">
            <a:off x="3341479" y="3931661"/>
            <a:ext cx="1006175"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DF1B5F3F-3DFC-371B-E1BC-A3CCAA57F4E7}"/>
              </a:ext>
            </a:extLst>
          </p:cNvPr>
          <p:cNvCxnSpPr>
            <a:cxnSpLocks/>
          </p:cNvCxnSpPr>
          <p:nvPr/>
        </p:nvCxnSpPr>
        <p:spPr>
          <a:xfrm flipV="1">
            <a:off x="2253475" y="3931661"/>
            <a:ext cx="1088005"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D3D115D4-68EA-34E6-9615-3FC7119D6992}"/>
              </a:ext>
            </a:extLst>
          </p:cNvPr>
          <p:cNvCxnSpPr>
            <a:cxnSpLocks/>
          </p:cNvCxnSpPr>
          <p:nvPr/>
        </p:nvCxnSpPr>
        <p:spPr>
          <a:xfrm flipV="1">
            <a:off x="2933643" y="3931661"/>
            <a:ext cx="407837"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730284EE-1BEA-5F39-CEDF-C5B8C1C8C0B5}"/>
              </a:ext>
            </a:extLst>
          </p:cNvPr>
          <p:cNvCxnSpPr>
            <a:cxnSpLocks/>
          </p:cNvCxnSpPr>
          <p:nvPr/>
        </p:nvCxnSpPr>
        <p:spPr>
          <a:xfrm flipH="1" flipV="1">
            <a:off x="3341481" y="3931661"/>
            <a:ext cx="342900"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3B0A8527-019C-100D-AC48-0C762B65A197}"/>
              </a:ext>
            </a:extLst>
          </p:cNvPr>
          <p:cNvCxnSpPr>
            <a:cxnSpLocks/>
          </p:cNvCxnSpPr>
          <p:nvPr/>
        </p:nvCxnSpPr>
        <p:spPr>
          <a:xfrm flipH="1" flipV="1">
            <a:off x="3341480" y="3931661"/>
            <a:ext cx="1828800"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BCD5F2D-ACAB-B11A-D476-E5CC1AD91F4F}"/>
              </a:ext>
            </a:extLst>
          </p:cNvPr>
          <p:cNvCxnSpPr>
            <a:cxnSpLocks/>
          </p:cNvCxnSpPr>
          <p:nvPr/>
        </p:nvCxnSpPr>
        <p:spPr>
          <a:xfrm flipH="1" flipV="1">
            <a:off x="3341479" y="3931661"/>
            <a:ext cx="2490139" cy="1223968"/>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76B114CB-7A0A-94FE-034B-D3780A09DD55}"/>
              </a:ext>
            </a:extLst>
          </p:cNvPr>
          <p:cNvCxnSpPr>
            <a:cxnSpLocks/>
            <a:stCxn id="18" idx="3"/>
          </p:cNvCxnSpPr>
          <p:nvPr/>
        </p:nvCxnSpPr>
        <p:spPr>
          <a:xfrm>
            <a:off x="3881610" y="3575351"/>
            <a:ext cx="154672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62907C1-88CE-BE8C-60F6-66D72E7D5BF1}"/>
                  </a:ext>
                </a:extLst>
              </p:cNvPr>
              <p:cNvSpPr txBox="1"/>
              <p:nvPr/>
            </p:nvSpPr>
            <p:spPr>
              <a:xfrm>
                <a:off x="1294631" y="4242072"/>
                <a:ext cx="4055597" cy="4209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𝛽</m:t>
                      </m:r>
                      <m:r>
                        <a:rPr lang="en-US" sz="2800" i="1" baseline="-25000">
                          <a:latin typeface="Cambria Math" panose="02040503050406030204" pitchFamily="18" charset="0"/>
                        </a:rPr>
                        <m:t>1</m:t>
                      </m:r>
                      <m:r>
                        <a:rPr lang="en-US" sz="2800" i="1">
                          <a:latin typeface="Cambria Math" panose="02040503050406030204" pitchFamily="18" charset="0"/>
                        </a:rPr>
                        <m:t>                                          </m:t>
                      </m:r>
                      <m:r>
                        <a:rPr lang="en-US" sz="2800" i="1">
                          <a:latin typeface="Cambria Math" panose="02040503050406030204" pitchFamily="18" charset="0"/>
                        </a:rPr>
                        <m:t>𝛽</m:t>
                      </m:r>
                      <m:r>
                        <a:rPr lang="en-US" sz="2800" i="1" baseline="-25000">
                          <a:latin typeface="Cambria Math" panose="02040503050406030204" pitchFamily="18" charset="0"/>
                        </a:rPr>
                        <m:t>8</m:t>
                      </m:r>
                    </m:oMath>
                  </m:oMathPara>
                </a14:m>
                <a:endParaRPr lang="en-US" sz="2800" baseline="-25000" dirty="0"/>
              </a:p>
            </p:txBody>
          </p:sp>
        </mc:Choice>
        <mc:Fallback xmlns="">
          <p:sp>
            <p:nvSpPr>
              <p:cNvPr id="17" name="TextBox 16">
                <a:extLst>
                  <a:ext uri="{FF2B5EF4-FFF2-40B4-BE49-F238E27FC236}">
                    <a16:creationId xmlns:a16="http://schemas.microsoft.com/office/drawing/2014/main" id="{762907C1-88CE-BE8C-60F6-66D72E7D5BF1}"/>
                  </a:ext>
                </a:extLst>
              </p:cNvPr>
              <p:cNvSpPr txBox="1">
                <a:spLocks noRot="1" noChangeAspect="1" noMove="1" noResize="1" noEditPoints="1" noAdjustHandles="1" noChangeArrowheads="1" noChangeShapeType="1" noTextEdit="1"/>
              </p:cNvSpPr>
              <p:nvPr/>
            </p:nvSpPr>
            <p:spPr>
              <a:xfrm>
                <a:off x="1294631" y="4242072"/>
                <a:ext cx="4055597" cy="420949"/>
              </a:xfrm>
              <a:prstGeom prst="rect">
                <a:avLst/>
              </a:prstGeom>
              <a:blipFill>
                <a:blip r:embed="rId3"/>
                <a:stretch>
                  <a:fillRect l="-2804" t="-5882" r="-935" b="-41176"/>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A7F595C6-2B85-4AC0-95AF-0388EC174F47}"/>
              </a:ext>
            </a:extLst>
          </p:cNvPr>
          <p:cNvGraphicFramePr>
            <a:graphicFrameLocks noGrp="1"/>
          </p:cNvGraphicFramePr>
          <p:nvPr/>
        </p:nvGraphicFramePr>
        <p:xfrm>
          <a:off x="2853738" y="3221426"/>
          <a:ext cx="1027873" cy="707853"/>
        </p:xfrm>
        <a:graphic>
          <a:graphicData uri="http://schemas.openxmlformats.org/drawingml/2006/table">
            <a:tbl>
              <a:tblPr firstRow="1" bandRow="1">
                <a:tableStyleId>{5C22544A-7EE6-4342-B048-85BDC9FD1C3A}</a:tableStyleId>
              </a:tblPr>
              <a:tblGrid>
                <a:gridCol w="1027873">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LOG ODDS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9" name="Oval 18">
            <a:extLst>
              <a:ext uri="{FF2B5EF4-FFF2-40B4-BE49-F238E27FC236}">
                <a16:creationId xmlns:a16="http://schemas.microsoft.com/office/drawing/2014/main" id="{8554B15B-3D39-88CF-EEC5-73CCD3AF381D}"/>
              </a:ext>
            </a:extLst>
          </p:cNvPr>
          <p:cNvSpPr/>
          <p:nvPr/>
        </p:nvSpPr>
        <p:spPr>
          <a:xfrm>
            <a:off x="5428335" y="3261817"/>
            <a:ext cx="602820" cy="627068"/>
          </a:xfrm>
          <a:prstGeom prst="ellipse">
            <a:avLst/>
          </a:prstGeom>
        </p:spPr>
        <p:style>
          <a:lnRef idx="2">
            <a:schemeClr val="dk1"/>
          </a:lnRef>
          <a:fillRef idx="1">
            <a:schemeClr val="lt1"/>
          </a:fillRef>
          <a:effectRef idx="0">
            <a:schemeClr val="dk1"/>
          </a:effectRef>
          <a:fontRef idx="minor">
            <a:schemeClr val="dk1"/>
          </a:fontRef>
        </p:style>
        <p:txBody>
          <a:bodyPr rtlCol="0" anchor="b"/>
          <a:lstStyle/>
          <a:p>
            <a:pPr algn="ctr"/>
            <a:r>
              <a:rPr lang="en-US" sz="2800" dirty="0">
                <a:solidFill>
                  <a:schemeClr val="tx1"/>
                </a:solidFill>
              </a:rPr>
              <a:t>𝜎</a:t>
            </a:r>
            <a:endParaRPr lang="en-US" dirty="0">
              <a:solidFill>
                <a:schemeClr val="tx1"/>
              </a:solidFill>
            </a:endParaRPr>
          </a:p>
        </p:txBody>
      </p:sp>
      <p:cxnSp>
        <p:nvCxnSpPr>
          <p:cNvPr id="20" name="Straight Arrow Connector 19">
            <a:extLst>
              <a:ext uri="{FF2B5EF4-FFF2-40B4-BE49-F238E27FC236}">
                <a16:creationId xmlns:a16="http://schemas.microsoft.com/office/drawing/2014/main" id="{217D903D-341D-C931-5566-E8AF4334F8DB}"/>
              </a:ext>
            </a:extLst>
          </p:cNvPr>
          <p:cNvCxnSpPr>
            <a:cxnSpLocks/>
            <a:endCxn id="7" idx="1"/>
          </p:cNvCxnSpPr>
          <p:nvPr/>
        </p:nvCxnSpPr>
        <p:spPr>
          <a:xfrm>
            <a:off x="6031154" y="3575351"/>
            <a:ext cx="188036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A0141936-0CF3-92EC-2D36-0E8C38AAA212}"/>
              </a:ext>
            </a:extLst>
          </p:cNvPr>
          <p:cNvSpPr txBox="1"/>
          <p:nvPr/>
        </p:nvSpPr>
        <p:spPr>
          <a:xfrm rot="16200000">
            <a:off x="2557447" y="3788326"/>
            <a:ext cx="1473421" cy="5633273"/>
          </a:xfrm>
          <a:prstGeom prst="rect">
            <a:avLst/>
          </a:prstGeom>
          <a:noFill/>
        </p:spPr>
        <p:txBody>
          <a:bodyPr wrap="square" numCol="1" rtlCol="0">
            <a:spAutoFit/>
          </a:bodyPr>
          <a:lstStyle/>
          <a:p>
            <a:pPr algn="r">
              <a:spcAft>
                <a:spcPts val="1200"/>
              </a:spcAft>
            </a:pPr>
            <a:r>
              <a:rPr lang="en-US" sz="1467" dirty="0"/>
              <a:t>age</a:t>
            </a:r>
          </a:p>
          <a:p>
            <a:pPr algn="r">
              <a:spcAft>
                <a:spcPts val="1200"/>
              </a:spcAft>
            </a:pPr>
            <a:endParaRPr lang="en-US" sz="1467" dirty="0"/>
          </a:p>
          <a:p>
            <a:pPr algn="r">
              <a:spcAft>
                <a:spcPts val="1200"/>
              </a:spcAft>
            </a:pPr>
            <a:r>
              <a:rPr lang="en-US" sz="1467" dirty="0"/>
              <a:t>sex</a:t>
            </a:r>
          </a:p>
          <a:p>
            <a:pPr algn="r">
              <a:spcAft>
                <a:spcPts val="1200"/>
              </a:spcAft>
            </a:pPr>
            <a:endParaRPr lang="en-US" sz="1467" dirty="0"/>
          </a:p>
          <a:p>
            <a:pPr algn="r">
              <a:spcAft>
                <a:spcPts val="1200"/>
              </a:spcAft>
            </a:pPr>
            <a:r>
              <a:rPr lang="en-US" sz="1467" dirty="0"/>
              <a:t>SBP</a:t>
            </a:r>
          </a:p>
          <a:p>
            <a:pPr algn="r">
              <a:spcAft>
                <a:spcPts val="1200"/>
              </a:spcAft>
            </a:pPr>
            <a:endParaRPr lang="en-US" sz="1467" dirty="0"/>
          </a:p>
          <a:p>
            <a:pPr algn="r">
              <a:spcAft>
                <a:spcPts val="1200"/>
              </a:spcAft>
            </a:pPr>
            <a:r>
              <a:rPr lang="en-US" sz="1467" dirty="0"/>
              <a:t>HR</a:t>
            </a:r>
          </a:p>
          <a:p>
            <a:pPr algn="r">
              <a:spcAft>
                <a:spcPts val="1200"/>
              </a:spcAft>
            </a:pPr>
            <a:endParaRPr lang="en-US" sz="1467" dirty="0"/>
          </a:p>
          <a:p>
            <a:pPr algn="r">
              <a:spcAft>
                <a:spcPts val="1200"/>
              </a:spcAft>
            </a:pPr>
            <a:r>
              <a:rPr lang="en-US" sz="1467" dirty="0"/>
              <a:t>temp</a:t>
            </a:r>
          </a:p>
          <a:p>
            <a:pPr algn="r">
              <a:spcAft>
                <a:spcPts val="1200"/>
              </a:spcAft>
            </a:pPr>
            <a:endParaRPr lang="en-US" sz="1467" dirty="0"/>
          </a:p>
          <a:p>
            <a:pPr algn="r">
              <a:spcAft>
                <a:spcPts val="1200"/>
              </a:spcAft>
            </a:pPr>
            <a:r>
              <a:rPr lang="en-US" sz="1467" dirty="0"/>
              <a:t>RR</a:t>
            </a:r>
          </a:p>
          <a:p>
            <a:pPr algn="r">
              <a:spcAft>
                <a:spcPts val="1200"/>
              </a:spcAft>
            </a:pPr>
            <a:endParaRPr lang="en-US" sz="1467" dirty="0"/>
          </a:p>
          <a:p>
            <a:pPr algn="r">
              <a:spcAft>
                <a:spcPts val="1200"/>
              </a:spcAft>
            </a:pPr>
            <a:r>
              <a:rPr lang="en-US" sz="1467" dirty="0"/>
              <a:t>WBC</a:t>
            </a:r>
          </a:p>
          <a:p>
            <a:pPr algn="r">
              <a:spcAft>
                <a:spcPts val="1200"/>
              </a:spcAft>
            </a:pPr>
            <a:endParaRPr lang="en-US" sz="1467" dirty="0"/>
          </a:p>
          <a:p>
            <a:pPr algn="r">
              <a:spcAft>
                <a:spcPts val="1200"/>
              </a:spcAft>
            </a:pPr>
            <a:r>
              <a:rPr lang="en-US" sz="1467" dirty="0"/>
              <a:t>HCT</a:t>
            </a:r>
          </a:p>
        </p:txBody>
      </p:sp>
      <p:sp>
        <p:nvSpPr>
          <p:cNvPr id="24" name="Title 1">
            <a:extLst>
              <a:ext uri="{FF2B5EF4-FFF2-40B4-BE49-F238E27FC236}">
                <a16:creationId xmlns:a16="http://schemas.microsoft.com/office/drawing/2014/main" id="{7BB83C23-E496-60DB-A5AC-274419BA95CC}"/>
              </a:ext>
            </a:extLst>
          </p:cNvPr>
          <p:cNvSpPr>
            <a:spLocks noGrp="1"/>
          </p:cNvSpPr>
          <p:nvPr>
            <p:ph type="title"/>
          </p:nvPr>
        </p:nvSpPr>
        <p:spPr>
          <a:xfrm>
            <a:off x="838200" y="365125"/>
            <a:ext cx="10515600" cy="803755"/>
          </a:xfrm>
        </p:spPr>
        <p:txBody>
          <a:bodyPr>
            <a:normAutofit/>
          </a:bodyPr>
          <a:lstStyle/>
          <a:p>
            <a:r>
              <a:rPr lang="en-US" dirty="0"/>
              <a:t>Interpretable: logistic regression</a:t>
            </a:r>
          </a:p>
        </p:txBody>
      </p:sp>
    </p:spTree>
    <p:extLst>
      <p:ext uri="{BB962C8B-B14F-4D97-AF65-F5344CB8AC3E}">
        <p14:creationId xmlns:p14="http://schemas.microsoft.com/office/powerpoint/2010/main" val="223148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A8F0-FDAE-61BC-E325-A31BE6091EF1}"/>
              </a:ext>
            </a:extLst>
          </p:cNvPr>
          <p:cNvSpPr>
            <a:spLocks noGrp="1"/>
          </p:cNvSpPr>
          <p:nvPr>
            <p:ph type="title"/>
          </p:nvPr>
        </p:nvSpPr>
        <p:spPr/>
        <p:txBody>
          <a:bodyPr/>
          <a:lstStyle/>
          <a:p>
            <a:r>
              <a:rPr lang="en-US" dirty="0"/>
              <a:t>Other Interpretable Models?</a:t>
            </a:r>
          </a:p>
        </p:txBody>
      </p:sp>
      <p:sp>
        <p:nvSpPr>
          <p:cNvPr id="3" name="Content Placeholder 2">
            <a:extLst>
              <a:ext uri="{FF2B5EF4-FFF2-40B4-BE49-F238E27FC236}">
                <a16:creationId xmlns:a16="http://schemas.microsoft.com/office/drawing/2014/main" id="{1B41B5E7-ED26-E19C-D3EA-DBE25E428A93}"/>
              </a:ext>
            </a:extLst>
          </p:cNvPr>
          <p:cNvSpPr>
            <a:spLocks noGrp="1"/>
          </p:cNvSpPr>
          <p:nvPr>
            <p:ph idx="1"/>
          </p:nvPr>
        </p:nvSpPr>
        <p:spPr/>
        <p:txBody>
          <a:bodyPr/>
          <a:lstStyle/>
          <a:p>
            <a:r>
              <a:rPr lang="en-US" dirty="0"/>
              <a:t>Decision Tree</a:t>
            </a:r>
          </a:p>
        </p:txBody>
      </p:sp>
      <p:sp>
        <p:nvSpPr>
          <p:cNvPr id="4" name="Rounded Rectangle 3">
            <a:extLst>
              <a:ext uri="{FF2B5EF4-FFF2-40B4-BE49-F238E27FC236}">
                <a16:creationId xmlns:a16="http://schemas.microsoft.com/office/drawing/2014/main" id="{F5813C43-D98F-C915-0E03-73C6E2E10137}"/>
              </a:ext>
            </a:extLst>
          </p:cNvPr>
          <p:cNvSpPr/>
          <p:nvPr/>
        </p:nvSpPr>
        <p:spPr>
          <a:xfrm>
            <a:off x="4766554" y="1825626"/>
            <a:ext cx="2658893" cy="11024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HR &gt; 130?</a:t>
            </a:r>
          </a:p>
        </p:txBody>
      </p:sp>
      <p:sp>
        <p:nvSpPr>
          <p:cNvPr id="5" name="Rounded Rectangle 4">
            <a:extLst>
              <a:ext uri="{FF2B5EF4-FFF2-40B4-BE49-F238E27FC236}">
                <a16:creationId xmlns:a16="http://schemas.microsoft.com/office/drawing/2014/main" id="{AE95EE6E-43D6-4B4C-61C0-86C57C86FC9B}"/>
              </a:ext>
            </a:extLst>
          </p:cNvPr>
          <p:cNvSpPr/>
          <p:nvPr/>
        </p:nvSpPr>
        <p:spPr>
          <a:xfrm>
            <a:off x="6500240" y="3929909"/>
            <a:ext cx="2658893" cy="11024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temp &gt; 40℃?</a:t>
            </a:r>
          </a:p>
        </p:txBody>
      </p:sp>
      <p:sp>
        <p:nvSpPr>
          <p:cNvPr id="7" name="Rectangle 6">
            <a:extLst>
              <a:ext uri="{FF2B5EF4-FFF2-40B4-BE49-F238E27FC236}">
                <a16:creationId xmlns:a16="http://schemas.microsoft.com/office/drawing/2014/main" id="{35A5BDBC-58A7-5D84-89E8-F97A122C7B30}"/>
              </a:ext>
            </a:extLst>
          </p:cNvPr>
          <p:cNvSpPr/>
          <p:nvPr/>
        </p:nvSpPr>
        <p:spPr>
          <a:xfrm>
            <a:off x="4267200" y="3599168"/>
            <a:ext cx="998707" cy="6614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a:t>live</a:t>
            </a:r>
          </a:p>
        </p:txBody>
      </p:sp>
      <p:sp>
        <p:nvSpPr>
          <p:cNvPr id="8" name="Rectangle 7">
            <a:extLst>
              <a:ext uri="{FF2B5EF4-FFF2-40B4-BE49-F238E27FC236}">
                <a16:creationId xmlns:a16="http://schemas.microsoft.com/office/drawing/2014/main" id="{4064FA3F-964C-A0A6-54B0-434E8A643593}"/>
              </a:ext>
            </a:extLst>
          </p:cNvPr>
          <p:cNvSpPr/>
          <p:nvPr/>
        </p:nvSpPr>
        <p:spPr>
          <a:xfrm>
            <a:off x="6000887" y="5703451"/>
            <a:ext cx="998707" cy="6614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a:t>live</a:t>
            </a:r>
          </a:p>
        </p:txBody>
      </p:sp>
      <p:sp>
        <p:nvSpPr>
          <p:cNvPr id="9" name="Rectangle 8">
            <a:extLst>
              <a:ext uri="{FF2B5EF4-FFF2-40B4-BE49-F238E27FC236}">
                <a16:creationId xmlns:a16="http://schemas.microsoft.com/office/drawing/2014/main" id="{331E5216-995B-00B9-753D-62A596697085}"/>
              </a:ext>
            </a:extLst>
          </p:cNvPr>
          <p:cNvSpPr/>
          <p:nvPr/>
        </p:nvSpPr>
        <p:spPr>
          <a:xfrm>
            <a:off x="8659780" y="5711219"/>
            <a:ext cx="998707" cy="661480"/>
          </a:xfrm>
          <a:prstGeom prst="rect">
            <a:avLst/>
          </a:prstGeom>
          <a:solidFill>
            <a:srgbClr val="C0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a:t>die</a:t>
            </a:r>
          </a:p>
        </p:txBody>
      </p:sp>
      <p:cxnSp>
        <p:nvCxnSpPr>
          <p:cNvPr id="11" name="Straight Arrow Connector 10">
            <a:extLst>
              <a:ext uri="{FF2B5EF4-FFF2-40B4-BE49-F238E27FC236}">
                <a16:creationId xmlns:a16="http://schemas.microsoft.com/office/drawing/2014/main" id="{209F540A-8385-7234-506E-675B820E9A4A}"/>
              </a:ext>
            </a:extLst>
          </p:cNvPr>
          <p:cNvCxnSpPr>
            <a:endCxn id="7" idx="0"/>
          </p:cNvCxnSpPr>
          <p:nvPr/>
        </p:nvCxnSpPr>
        <p:spPr>
          <a:xfrm flipH="1">
            <a:off x="4766553" y="2928093"/>
            <a:ext cx="680936" cy="67107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440DD555-BEFA-789A-B65C-79DDCF3F1ACB}"/>
              </a:ext>
            </a:extLst>
          </p:cNvPr>
          <p:cNvCxnSpPr/>
          <p:nvPr/>
        </p:nvCxnSpPr>
        <p:spPr>
          <a:xfrm flipH="1">
            <a:off x="6500240" y="5024644"/>
            <a:ext cx="680936" cy="67107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255FFEB2-A32E-9515-1412-1F7E9003BADB}"/>
              </a:ext>
            </a:extLst>
          </p:cNvPr>
          <p:cNvCxnSpPr>
            <a:cxnSpLocks/>
            <a:endCxn id="5" idx="0"/>
          </p:cNvCxnSpPr>
          <p:nvPr/>
        </p:nvCxnSpPr>
        <p:spPr>
          <a:xfrm>
            <a:off x="6744514" y="2928092"/>
            <a:ext cx="1085173" cy="100181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E293721-DA4E-7231-323E-37CE532F9C74}"/>
              </a:ext>
            </a:extLst>
          </p:cNvPr>
          <p:cNvCxnSpPr>
            <a:cxnSpLocks/>
            <a:endCxn id="9" idx="0"/>
          </p:cNvCxnSpPr>
          <p:nvPr/>
        </p:nvCxnSpPr>
        <p:spPr>
          <a:xfrm>
            <a:off x="8521429" y="5024645"/>
            <a:ext cx="637704" cy="68657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F52A6B7-95E2-8061-C5C2-0800FAEE2640}"/>
              </a:ext>
            </a:extLst>
          </p:cNvPr>
          <p:cNvSpPr txBox="1"/>
          <p:nvPr/>
        </p:nvSpPr>
        <p:spPr>
          <a:xfrm>
            <a:off x="5184438" y="3012613"/>
            <a:ext cx="508473" cy="461665"/>
          </a:xfrm>
          <a:prstGeom prst="rect">
            <a:avLst/>
          </a:prstGeom>
          <a:noFill/>
        </p:spPr>
        <p:txBody>
          <a:bodyPr wrap="none" rtlCol="0">
            <a:spAutoFit/>
          </a:bodyPr>
          <a:lstStyle/>
          <a:p>
            <a:r>
              <a:rPr lang="en-US" sz="2400" dirty="0"/>
              <a:t>no</a:t>
            </a:r>
          </a:p>
        </p:txBody>
      </p:sp>
      <p:sp>
        <p:nvSpPr>
          <p:cNvPr id="21" name="TextBox 20">
            <a:extLst>
              <a:ext uri="{FF2B5EF4-FFF2-40B4-BE49-F238E27FC236}">
                <a16:creationId xmlns:a16="http://schemas.microsoft.com/office/drawing/2014/main" id="{9F3DF419-0896-E04F-8308-81AEC70FEDA4}"/>
              </a:ext>
            </a:extLst>
          </p:cNvPr>
          <p:cNvSpPr txBox="1"/>
          <p:nvPr/>
        </p:nvSpPr>
        <p:spPr>
          <a:xfrm>
            <a:off x="6895629" y="5112228"/>
            <a:ext cx="508473" cy="461665"/>
          </a:xfrm>
          <a:prstGeom prst="rect">
            <a:avLst/>
          </a:prstGeom>
          <a:noFill/>
        </p:spPr>
        <p:txBody>
          <a:bodyPr wrap="none" rtlCol="0">
            <a:spAutoFit/>
          </a:bodyPr>
          <a:lstStyle/>
          <a:p>
            <a:r>
              <a:rPr lang="en-US" sz="2400" dirty="0"/>
              <a:t>no</a:t>
            </a:r>
          </a:p>
        </p:txBody>
      </p:sp>
      <p:sp>
        <p:nvSpPr>
          <p:cNvPr id="22" name="TextBox 21">
            <a:extLst>
              <a:ext uri="{FF2B5EF4-FFF2-40B4-BE49-F238E27FC236}">
                <a16:creationId xmlns:a16="http://schemas.microsoft.com/office/drawing/2014/main" id="{E4CA7AD6-D7A3-0C72-7171-C3FE0A9DDEE6}"/>
              </a:ext>
            </a:extLst>
          </p:cNvPr>
          <p:cNvSpPr txBox="1"/>
          <p:nvPr/>
        </p:nvSpPr>
        <p:spPr>
          <a:xfrm>
            <a:off x="8840281" y="5104505"/>
            <a:ext cx="594458" cy="461665"/>
          </a:xfrm>
          <a:prstGeom prst="rect">
            <a:avLst/>
          </a:prstGeom>
          <a:noFill/>
        </p:spPr>
        <p:txBody>
          <a:bodyPr wrap="none" rtlCol="0">
            <a:spAutoFit/>
          </a:bodyPr>
          <a:lstStyle/>
          <a:p>
            <a:r>
              <a:rPr lang="en-US" sz="2400" dirty="0"/>
              <a:t>yes</a:t>
            </a:r>
          </a:p>
        </p:txBody>
      </p:sp>
      <p:sp>
        <p:nvSpPr>
          <p:cNvPr id="23" name="TextBox 22">
            <a:extLst>
              <a:ext uri="{FF2B5EF4-FFF2-40B4-BE49-F238E27FC236}">
                <a16:creationId xmlns:a16="http://schemas.microsoft.com/office/drawing/2014/main" id="{BAA085C9-C352-335A-9AD6-21FF9CF810FE}"/>
              </a:ext>
            </a:extLst>
          </p:cNvPr>
          <p:cNvSpPr txBox="1"/>
          <p:nvPr/>
        </p:nvSpPr>
        <p:spPr>
          <a:xfrm>
            <a:off x="7174720" y="3012613"/>
            <a:ext cx="594458" cy="461665"/>
          </a:xfrm>
          <a:prstGeom prst="rect">
            <a:avLst/>
          </a:prstGeom>
          <a:noFill/>
        </p:spPr>
        <p:txBody>
          <a:bodyPr wrap="none" rtlCol="0">
            <a:spAutoFit/>
          </a:bodyPr>
          <a:lstStyle/>
          <a:p>
            <a:r>
              <a:rPr lang="en-US" sz="2400" dirty="0"/>
              <a:t>yes</a:t>
            </a:r>
          </a:p>
        </p:txBody>
      </p:sp>
    </p:spTree>
    <p:extLst>
      <p:ext uri="{BB962C8B-B14F-4D97-AF65-F5344CB8AC3E}">
        <p14:creationId xmlns:p14="http://schemas.microsoft.com/office/powerpoint/2010/main" val="3180445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C85D8-BE32-159B-3C4E-EE732FA44552}"/>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BF09659F-9FB3-8E64-E9FC-AA763E280DAF}"/>
              </a:ext>
            </a:extLst>
          </p:cNvPr>
          <p:cNvSpPr>
            <a:spLocks noGrp="1"/>
          </p:cNvSpPr>
          <p:nvPr>
            <p:ph idx="1"/>
          </p:nvPr>
        </p:nvSpPr>
        <p:spPr>
          <a:xfrm>
            <a:off x="838200" y="1211657"/>
            <a:ext cx="10515600" cy="1854273"/>
          </a:xfrm>
        </p:spPr>
        <p:txBody>
          <a:bodyPr/>
          <a:lstStyle/>
          <a:p>
            <a:pPr>
              <a:buFontTx/>
              <a:buChar char="-"/>
            </a:pPr>
            <a:r>
              <a:rPr lang="en-US" sz="2133" dirty="0"/>
              <a:t>Suppose you apply a CNN to images of animals, and the model predicts that an animal is a meerkat.</a:t>
            </a:r>
          </a:p>
          <a:p>
            <a:pPr>
              <a:buFontTx/>
              <a:buChar char="-"/>
            </a:pPr>
            <a:r>
              <a:rPr lang="en-US" sz="2133" b="1" dirty="0"/>
              <a:t>Q:</a:t>
            </a:r>
            <a:r>
              <a:rPr lang="en-US" sz="2133" dirty="0"/>
              <a:t> Is it hard to figure out why it made that prediction?</a:t>
            </a:r>
          </a:p>
          <a:p>
            <a:pPr>
              <a:buFontTx/>
              <a:buChar char="-"/>
            </a:pPr>
            <a:r>
              <a:rPr lang="en-US" sz="2133" b="1" dirty="0"/>
              <a:t>A:</a:t>
            </a:r>
            <a:r>
              <a:rPr lang="en-US" sz="2133" dirty="0"/>
              <a:t> Yes, an explanation can be provided:</a:t>
            </a:r>
          </a:p>
        </p:txBody>
      </p:sp>
      <p:pic>
        <p:nvPicPr>
          <p:cNvPr id="1026" name="Picture 2">
            <a:extLst>
              <a:ext uri="{FF2B5EF4-FFF2-40B4-BE49-F238E27FC236}">
                <a16:creationId xmlns:a16="http://schemas.microsoft.com/office/drawing/2014/main" id="{22706C02-0134-928D-9424-8CCFF93E2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868706"/>
            <a:ext cx="4898648" cy="381896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E4826ED8-F544-C098-0ACE-54ECFE615F22}"/>
              </a:ext>
            </a:extLst>
          </p:cNvPr>
          <p:cNvSpPr txBox="1">
            <a:spLocks/>
          </p:cNvSpPr>
          <p:nvPr/>
        </p:nvSpPr>
        <p:spPr>
          <a:xfrm>
            <a:off x="6338613" y="2868705"/>
            <a:ext cx="5396187" cy="374724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Tx/>
              <a:buChar char="-"/>
            </a:pPr>
            <a:r>
              <a:rPr lang="en-US" sz="2133" dirty="0"/>
              <a:t>Similarly, we can identify passages within a text document that would change predictions most if they were removed.</a:t>
            </a:r>
          </a:p>
          <a:p>
            <a:pPr>
              <a:buFontTx/>
              <a:buChar char="-"/>
            </a:pPr>
            <a:endParaRPr lang="en-US" sz="2133" dirty="0"/>
          </a:p>
          <a:p>
            <a:pPr marL="0" indent="0">
              <a:buNone/>
            </a:pPr>
            <a:r>
              <a:rPr lang="en-US" sz="2133" u="sng" dirty="0"/>
              <a:t>Caveats</a:t>
            </a:r>
            <a:r>
              <a:rPr lang="en-US" sz="2133" dirty="0"/>
              <a:t>:</a:t>
            </a:r>
          </a:p>
          <a:p>
            <a:pPr>
              <a:buFontTx/>
              <a:buChar char="-"/>
            </a:pPr>
            <a:r>
              <a:rPr lang="en-US" sz="2133" dirty="0"/>
              <a:t>This is for a single example; </a:t>
            </a:r>
            <a:r>
              <a:rPr lang="en-US" sz="2133" u="sng" dirty="0"/>
              <a:t>not clear how to summarize across all examples for images and text</a:t>
            </a:r>
          </a:p>
          <a:p>
            <a:pPr>
              <a:buFontTx/>
              <a:buChar char="-"/>
            </a:pPr>
            <a:r>
              <a:rPr lang="en-US" sz="2133" dirty="0"/>
              <a:t>Can be very computationally expensive</a:t>
            </a:r>
          </a:p>
        </p:txBody>
      </p:sp>
      <p:sp>
        <p:nvSpPr>
          <p:cNvPr id="8" name="Title 1">
            <a:extLst>
              <a:ext uri="{FF2B5EF4-FFF2-40B4-BE49-F238E27FC236}">
                <a16:creationId xmlns:a16="http://schemas.microsoft.com/office/drawing/2014/main" id="{88FD0329-0BB8-0B73-7A16-9AE5064E6D5D}"/>
              </a:ext>
            </a:extLst>
          </p:cNvPr>
          <p:cNvSpPr>
            <a:spLocks noGrp="1"/>
          </p:cNvSpPr>
          <p:nvPr>
            <p:ph type="title"/>
          </p:nvPr>
        </p:nvSpPr>
        <p:spPr>
          <a:xfrm>
            <a:off x="838200" y="365126"/>
            <a:ext cx="10515600" cy="846532"/>
          </a:xfrm>
        </p:spPr>
        <p:txBody>
          <a:bodyPr/>
          <a:lstStyle/>
          <a:p>
            <a:r>
              <a:rPr lang="en-US" dirty="0"/>
              <a:t>Explainable: CNN</a:t>
            </a:r>
          </a:p>
        </p:txBody>
      </p:sp>
    </p:spTree>
    <p:extLst>
      <p:ext uri="{BB962C8B-B14F-4D97-AF65-F5344CB8AC3E}">
        <p14:creationId xmlns:p14="http://schemas.microsoft.com/office/powerpoint/2010/main" val="2797308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D9868-0B90-F0B8-E0A2-D10A4EEA2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0D20E-E715-9EDC-14C6-ECD287BB7646}"/>
              </a:ext>
            </a:extLst>
          </p:cNvPr>
          <p:cNvSpPr>
            <a:spLocks noGrp="1"/>
          </p:cNvSpPr>
          <p:nvPr>
            <p:ph type="title"/>
          </p:nvPr>
        </p:nvSpPr>
        <p:spPr>
          <a:xfrm>
            <a:off x="367320" y="324256"/>
            <a:ext cx="12192000" cy="1143000"/>
          </a:xfrm>
        </p:spPr>
        <p:txBody>
          <a:bodyPr>
            <a:normAutofit/>
          </a:bodyPr>
          <a:lstStyle/>
          <a:p>
            <a:r>
              <a:rPr lang="en-US" dirty="0"/>
              <a:t>Explainable: CNN</a:t>
            </a:r>
          </a:p>
        </p:txBody>
      </p:sp>
      <p:sp>
        <p:nvSpPr>
          <p:cNvPr id="5" name="TextBox 4">
            <a:extLst>
              <a:ext uri="{FF2B5EF4-FFF2-40B4-BE49-F238E27FC236}">
                <a16:creationId xmlns:a16="http://schemas.microsoft.com/office/drawing/2014/main" id="{B903D5E1-3CF3-D80E-86DC-0BBAC2371FBD}"/>
              </a:ext>
            </a:extLst>
          </p:cNvPr>
          <p:cNvSpPr txBox="1"/>
          <p:nvPr/>
        </p:nvSpPr>
        <p:spPr>
          <a:xfrm>
            <a:off x="8516985" y="1639286"/>
            <a:ext cx="2978331" cy="1477328"/>
          </a:xfrm>
          <a:prstGeom prst="rect">
            <a:avLst/>
          </a:prstGeom>
          <a:noFill/>
        </p:spPr>
        <p:txBody>
          <a:bodyPr wrap="square" rtlCol="0">
            <a:spAutoFit/>
          </a:bodyPr>
          <a:lstStyle/>
          <a:p>
            <a:r>
              <a:rPr lang="en-US" dirty="0"/>
              <a:t>Saliency maps show gradients for each pixel with respect to the CNN’s loss function. Darker pixels represent those with more influence.</a:t>
            </a:r>
          </a:p>
        </p:txBody>
      </p:sp>
      <p:sp>
        <p:nvSpPr>
          <p:cNvPr id="6" name="TextBox 5">
            <a:extLst>
              <a:ext uri="{FF2B5EF4-FFF2-40B4-BE49-F238E27FC236}">
                <a16:creationId xmlns:a16="http://schemas.microsoft.com/office/drawing/2014/main" id="{6495F5EC-42CC-F4C2-D2F2-AACE913BE9EF}"/>
              </a:ext>
            </a:extLst>
          </p:cNvPr>
          <p:cNvSpPr txBox="1"/>
          <p:nvPr/>
        </p:nvSpPr>
        <p:spPr>
          <a:xfrm>
            <a:off x="8516985" y="4396748"/>
            <a:ext cx="2978331" cy="1569660"/>
          </a:xfrm>
          <a:prstGeom prst="rect">
            <a:avLst/>
          </a:prstGeom>
          <a:noFill/>
        </p:spPr>
        <p:txBody>
          <a:bodyPr wrap="square" rtlCol="0">
            <a:spAutoFit/>
          </a:bodyPr>
          <a:lstStyle/>
          <a:p>
            <a:r>
              <a:rPr lang="en-US" sz="2400" b="1" dirty="0"/>
              <a:t>How would this compare to a dermatologist’s explanation?</a:t>
            </a:r>
          </a:p>
        </p:txBody>
      </p:sp>
      <p:pic>
        <p:nvPicPr>
          <p:cNvPr id="7" name="Picture 6">
            <a:extLst>
              <a:ext uri="{FF2B5EF4-FFF2-40B4-BE49-F238E27FC236}">
                <a16:creationId xmlns:a16="http://schemas.microsoft.com/office/drawing/2014/main" id="{5DAC51AA-3F13-BB9F-754B-4F13FCA085AF}"/>
              </a:ext>
            </a:extLst>
          </p:cNvPr>
          <p:cNvPicPr>
            <a:picLocks noChangeAspect="1"/>
          </p:cNvPicPr>
          <p:nvPr/>
        </p:nvPicPr>
        <p:blipFill>
          <a:blip r:embed="rId3"/>
          <a:stretch>
            <a:fillRect/>
          </a:stretch>
        </p:blipFill>
        <p:spPr>
          <a:xfrm>
            <a:off x="509992" y="1703984"/>
            <a:ext cx="7525603" cy="3988569"/>
          </a:xfrm>
          <a:prstGeom prst="rect">
            <a:avLst/>
          </a:prstGeom>
        </p:spPr>
      </p:pic>
    </p:spTree>
    <p:extLst>
      <p:ext uri="{BB962C8B-B14F-4D97-AF65-F5344CB8AC3E}">
        <p14:creationId xmlns:p14="http://schemas.microsoft.com/office/powerpoint/2010/main" val="2901398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556C-DEA0-37B5-B2BF-AF519E630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FD7A0-CC71-910D-24E7-D9AC1668E0AA}"/>
              </a:ext>
            </a:extLst>
          </p:cNvPr>
          <p:cNvSpPr>
            <a:spLocks noGrp="1"/>
          </p:cNvSpPr>
          <p:nvPr>
            <p:ph type="title"/>
          </p:nvPr>
        </p:nvSpPr>
        <p:spPr/>
        <p:txBody>
          <a:bodyPr/>
          <a:lstStyle/>
          <a:p>
            <a:r>
              <a:rPr lang="en-US" i="1" dirty="0"/>
              <a:t>Interpretable</a:t>
            </a:r>
            <a:r>
              <a:rPr lang="en-US" dirty="0"/>
              <a:t> versus </a:t>
            </a:r>
            <a:r>
              <a:rPr lang="en-US" i="1" dirty="0"/>
              <a:t>explainable </a:t>
            </a:r>
            <a:r>
              <a:rPr lang="en-US" dirty="0"/>
              <a:t>models</a:t>
            </a:r>
          </a:p>
        </p:txBody>
      </p:sp>
      <p:sp>
        <p:nvSpPr>
          <p:cNvPr id="3" name="Content Placeholder 2">
            <a:extLst>
              <a:ext uri="{FF2B5EF4-FFF2-40B4-BE49-F238E27FC236}">
                <a16:creationId xmlns:a16="http://schemas.microsoft.com/office/drawing/2014/main" id="{B4D8E8D9-1CAB-5204-9DD5-FEDB6DFCF5AB}"/>
              </a:ext>
            </a:extLst>
          </p:cNvPr>
          <p:cNvSpPr>
            <a:spLocks noGrp="1"/>
          </p:cNvSpPr>
          <p:nvPr>
            <p:ph idx="1"/>
          </p:nvPr>
        </p:nvSpPr>
        <p:spPr/>
        <p:txBody>
          <a:bodyPr/>
          <a:lstStyle/>
          <a:p>
            <a:pPr marL="0" indent="0">
              <a:buNone/>
            </a:pPr>
            <a:r>
              <a:rPr lang="en-US" u="sng" dirty="0"/>
              <a:t>An </a:t>
            </a:r>
            <a:r>
              <a:rPr lang="en-US" i="1" u="sng" dirty="0"/>
              <a:t>interpretable</a:t>
            </a:r>
            <a:r>
              <a:rPr lang="en-US" u="sng" dirty="0"/>
              <a:t> model</a:t>
            </a:r>
            <a:r>
              <a:rPr lang="en-US" dirty="0"/>
              <a:t>:</a:t>
            </a:r>
          </a:p>
          <a:p>
            <a:pPr marL="0" indent="0">
              <a:buNone/>
            </a:pPr>
            <a:r>
              <a:rPr lang="en-US" dirty="0"/>
              <a:t>We can understand how the model works </a:t>
            </a:r>
            <a:r>
              <a:rPr lang="en-US" i="1" dirty="0"/>
              <a:t>in general, </a:t>
            </a:r>
            <a:r>
              <a:rPr lang="en-US" dirty="0"/>
              <a:t>for example by inspecting coefficients or tree structure.</a:t>
            </a:r>
          </a:p>
          <a:p>
            <a:endParaRPr lang="en-US" dirty="0"/>
          </a:p>
          <a:p>
            <a:pPr marL="0" indent="0">
              <a:buNone/>
            </a:pPr>
            <a:r>
              <a:rPr lang="en-US" u="sng" dirty="0"/>
              <a:t>An </a:t>
            </a:r>
            <a:r>
              <a:rPr lang="en-US" i="1" u="sng" dirty="0"/>
              <a:t>explainable</a:t>
            </a:r>
            <a:r>
              <a:rPr lang="en-US" u="sng" dirty="0"/>
              <a:t> model</a:t>
            </a:r>
            <a:r>
              <a:rPr lang="en-US" dirty="0"/>
              <a:t>:</a:t>
            </a:r>
          </a:p>
          <a:p>
            <a:pPr marL="0" indent="0">
              <a:buNone/>
            </a:pPr>
            <a:r>
              <a:rPr lang="en-US" dirty="0"/>
              <a:t>We are presented with </a:t>
            </a:r>
            <a:r>
              <a:rPr lang="en-US" i="1" dirty="0"/>
              <a:t>case-by-case explanations </a:t>
            </a:r>
            <a:r>
              <a:rPr lang="en-US" dirty="0"/>
              <a:t>that decompose predictions into the contributions of different input features.</a:t>
            </a:r>
          </a:p>
        </p:txBody>
      </p:sp>
    </p:spTree>
    <p:extLst>
      <p:ext uri="{BB962C8B-B14F-4D97-AF65-F5344CB8AC3E}">
        <p14:creationId xmlns:p14="http://schemas.microsoft.com/office/powerpoint/2010/main" val="1192648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45D0-4CAE-3E3F-063B-D52F3353A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2E4B5-D9A5-8B1B-CCF1-A4C5034EDF22}"/>
              </a:ext>
            </a:extLst>
          </p:cNvPr>
          <p:cNvSpPr>
            <a:spLocks noGrp="1"/>
          </p:cNvSpPr>
          <p:nvPr>
            <p:ph type="title"/>
          </p:nvPr>
        </p:nvSpPr>
        <p:spPr/>
        <p:txBody>
          <a:bodyPr/>
          <a:lstStyle/>
          <a:p>
            <a:r>
              <a:rPr lang="en-US" dirty="0"/>
              <a:t>Competing perspectives on interpretability</a:t>
            </a:r>
          </a:p>
        </p:txBody>
      </p:sp>
      <p:sp>
        <p:nvSpPr>
          <p:cNvPr id="3" name="Text Placeholder 2">
            <a:extLst>
              <a:ext uri="{FF2B5EF4-FFF2-40B4-BE49-F238E27FC236}">
                <a16:creationId xmlns:a16="http://schemas.microsoft.com/office/drawing/2014/main" id="{7130D6E5-A59F-BA2D-51A6-FFF17F68545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4919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op Cycles REV 16 Kids' Bike | REI Co-op">
            <a:extLst>
              <a:ext uri="{FF2B5EF4-FFF2-40B4-BE49-F238E27FC236}">
                <a16:creationId xmlns:a16="http://schemas.microsoft.com/office/drawing/2014/main" id="{8C77C95D-F264-EBF5-BD36-9D85BCBA3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3429000"/>
            <a:ext cx="3634412" cy="24942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005 Acura RSX Specs, Price, MPG &amp; Reviews | Cars.com">
            <a:extLst>
              <a:ext uri="{FF2B5EF4-FFF2-40B4-BE49-F238E27FC236}">
                <a16:creationId xmlns:a16="http://schemas.microsoft.com/office/drawing/2014/main" id="{3A798C6C-7633-6950-3538-4266F46099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242981" y="1330293"/>
            <a:ext cx="6949019" cy="45929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FCC40DE-934C-8C20-82C1-984BAD5FB7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5618" y="1942068"/>
            <a:ext cx="3024173" cy="33694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F08AB00-4ED8-139E-2D84-87CF84F6D6D5}"/>
              </a:ext>
            </a:extLst>
          </p:cNvPr>
          <p:cNvSpPr>
            <a:spLocks noGrp="1"/>
          </p:cNvSpPr>
          <p:nvPr>
            <p:ph type="title"/>
          </p:nvPr>
        </p:nvSpPr>
        <p:spPr/>
        <p:txBody>
          <a:bodyPr/>
          <a:lstStyle/>
          <a:p>
            <a:r>
              <a:rPr lang="en-US" dirty="0"/>
              <a:t>Interpretable		?		Explainable</a:t>
            </a:r>
            <a:br>
              <a:rPr lang="en-US" dirty="0"/>
            </a:br>
            <a:r>
              <a:rPr lang="en-US" sz="3200" i="1" dirty="0"/>
              <a:t>where does clinician decision-making fall on this spectrum?</a:t>
            </a:r>
            <a:endParaRPr lang="en-US" i="1" dirty="0"/>
          </a:p>
        </p:txBody>
      </p:sp>
    </p:spTree>
    <p:extLst>
      <p:ext uri="{BB962C8B-B14F-4D97-AF65-F5344CB8AC3E}">
        <p14:creationId xmlns:p14="http://schemas.microsoft.com/office/powerpoint/2010/main" val="3315974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be 4"/>
          <p:cNvSpPr/>
          <p:nvPr/>
        </p:nvSpPr>
        <p:spPr>
          <a:xfrm>
            <a:off x="3825026" y="2459863"/>
            <a:ext cx="5035639" cy="3271235"/>
          </a:xfrm>
          <a:prstGeom prst="cube">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5039" y="3013653"/>
            <a:ext cx="2141307" cy="2163651"/>
          </a:xfrm>
          <a:prstGeom prst="rect">
            <a:avLst/>
          </a:prstGeom>
        </p:spPr>
      </p:pic>
      <p:cxnSp>
        <p:nvCxnSpPr>
          <p:cNvPr id="10" name="Straight Arrow Connector 9"/>
          <p:cNvCxnSpPr/>
          <p:nvPr/>
        </p:nvCxnSpPr>
        <p:spPr>
          <a:xfrm flipV="1">
            <a:off x="2466346" y="4095481"/>
            <a:ext cx="135867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V="1">
            <a:off x="8525814" y="4095481"/>
            <a:ext cx="135867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itle 8"/>
          <p:cNvSpPr>
            <a:spLocks noGrp="1"/>
          </p:cNvSpPr>
          <p:nvPr>
            <p:ph type="title"/>
          </p:nvPr>
        </p:nvSpPr>
        <p:spPr>
          <a:xfrm>
            <a:off x="609600" y="481345"/>
            <a:ext cx="10972800" cy="1143000"/>
          </a:xfrm>
        </p:spPr>
        <p:txBody>
          <a:bodyPr>
            <a:normAutofit fontScale="90000"/>
          </a:bodyPr>
          <a:lstStyle/>
          <a:p>
            <a:r>
              <a:rPr lang="en-US" dirty="0"/>
              <a:t>Compared to simpler models, DNNs are a black box.</a:t>
            </a:r>
            <a:br>
              <a:rPr lang="en-US" dirty="0"/>
            </a:br>
            <a:r>
              <a:rPr lang="en-US" sz="3600" i="1" dirty="0"/>
              <a:t>We can explain model predictions, but it’s case by case.</a:t>
            </a:r>
            <a:endParaRPr lang="en-US" i="1" dirty="0"/>
          </a:p>
        </p:txBody>
      </p:sp>
      <p:graphicFrame>
        <p:nvGraphicFramePr>
          <p:cNvPr id="13" name="Table 12">
            <a:extLst>
              <a:ext uri="{FF2B5EF4-FFF2-40B4-BE49-F238E27FC236}">
                <a16:creationId xmlns:a16="http://schemas.microsoft.com/office/drawing/2014/main" id="{6DD45568-F134-054B-AB85-EA1DBA682FCD}"/>
              </a:ext>
            </a:extLst>
          </p:cNvPr>
          <p:cNvGraphicFramePr>
            <a:graphicFrameLocks noGrp="1"/>
          </p:cNvGraphicFramePr>
          <p:nvPr/>
        </p:nvGraphicFramePr>
        <p:xfrm>
          <a:off x="9884493" y="3683999"/>
          <a:ext cx="2105739" cy="707853"/>
        </p:xfrm>
        <a:graphic>
          <a:graphicData uri="http://schemas.openxmlformats.org/drawingml/2006/table">
            <a:tbl>
              <a:tblPr firstRow="1" bandRow="1">
                <a:tableStyleId>{5C22544A-7EE6-4342-B048-85BDC9FD1C3A}</a:tableStyleId>
              </a:tblPr>
              <a:tblGrid>
                <a:gridCol w="2105739">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Retinopathy?</a:t>
                      </a:r>
                      <a:r>
                        <a:rPr lang="en-US" sz="1300" baseline="0" dirty="0">
                          <a:solidFill>
                            <a:schemeClr val="tx1"/>
                          </a:solidFill>
                        </a:rPr>
                        <a:t> </a:t>
                      </a:r>
                    </a:p>
                    <a:p>
                      <a:pPr algn="ctr"/>
                      <a:r>
                        <a:rPr lang="en-US" sz="1300" baseline="0" dirty="0">
                          <a:solidFill>
                            <a:schemeClr val="tx1"/>
                          </a:solidFill>
                        </a:rPr>
                        <a:t>Yes/No</a:t>
                      </a:r>
                      <a:endParaRPr lang="en-US" sz="13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Tree>
    <p:extLst>
      <p:ext uri="{BB962C8B-B14F-4D97-AF65-F5344CB8AC3E}">
        <p14:creationId xmlns:p14="http://schemas.microsoft.com/office/powerpoint/2010/main" val="2569230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be 4"/>
          <p:cNvSpPr/>
          <p:nvPr/>
        </p:nvSpPr>
        <p:spPr>
          <a:xfrm>
            <a:off x="3335629" y="2459863"/>
            <a:ext cx="5035639" cy="3271235"/>
          </a:xfrm>
          <a:prstGeom prst="cube">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cxnSp>
        <p:nvCxnSpPr>
          <p:cNvPr id="10" name="Straight Arrow Connector 9"/>
          <p:cNvCxnSpPr/>
          <p:nvPr/>
        </p:nvCxnSpPr>
        <p:spPr>
          <a:xfrm flipV="1">
            <a:off x="1976950" y="4095481"/>
            <a:ext cx="135867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V="1">
            <a:off x="8036418" y="4095481"/>
            <a:ext cx="135867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itle 8"/>
          <p:cNvSpPr>
            <a:spLocks noGrp="1"/>
          </p:cNvSpPr>
          <p:nvPr>
            <p:ph type="title"/>
          </p:nvPr>
        </p:nvSpPr>
        <p:spPr>
          <a:xfrm>
            <a:off x="609600" y="539623"/>
            <a:ext cx="10972800" cy="1143000"/>
          </a:xfrm>
        </p:spPr>
        <p:txBody>
          <a:bodyPr>
            <a:normAutofit/>
          </a:bodyPr>
          <a:lstStyle/>
          <a:p>
            <a:r>
              <a:rPr lang="en-US" dirty="0"/>
              <a:t>Is PSA measurement a black box?</a:t>
            </a:r>
          </a:p>
        </p:txBody>
      </p:sp>
      <p:graphicFrame>
        <p:nvGraphicFramePr>
          <p:cNvPr id="13" name="Table 12">
            <a:extLst>
              <a:ext uri="{FF2B5EF4-FFF2-40B4-BE49-F238E27FC236}">
                <a16:creationId xmlns:a16="http://schemas.microsoft.com/office/drawing/2014/main" id="{6DD45568-F134-054B-AB85-EA1DBA682FCD}"/>
              </a:ext>
            </a:extLst>
          </p:cNvPr>
          <p:cNvGraphicFramePr>
            <a:graphicFrameLocks noGrp="1"/>
          </p:cNvGraphicFramePr>
          <p:nvPr/>
        </p:nvGraphicFramePr>
        <p:xfrm>
          <a:off x="9395096" y="3683999"/>
          <a:ext cx="2105739" cy="707853"/>
        </p:xfrm>
        <a:graphic>
          <a:graphicData uri="http://schemas.openxmlformats.org/drawingml/2006/table">
            <a:tbl>
              <a:tblPr firstRow="1" bandRow="1">
                <a:tableStyleId>{5C22544A-7EE6-4342-B048-85BDC9FD1C3A}</a:tableStyleId>
              </a:tblPr>
              <a:tblGrid>
                <a:gridCol w="2105739">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PSA Level</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pic>
        <p:nvPicPr>
          <p:cNvPr id="7170" name="Picture 2" descr="Image result for blood sample"/>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37626" y="3180386"/>
            <a:ext cx="1287303" cy="1830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72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3FCC40DE-934C-8C20-82C1-984BAD5FB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351" y="1918983"/>
            <a:ext cx="3525298" cy="39277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F08AB00-4ED8-139E-2D84-87CF84F6D6D5}"/>
              </a:ext>
            </a:extLst>
          </p:cNvPr>
          <p:cNvSpPr>
            <a:spLocks noGrp="1"/>
          </p:cNvSpPr>
          <p:nvPr>
            <p:ph type="title"/>
          </p:nvPr>
        </p:nvSpPr>
        <p:spPr/>
        <p:txBody>
          <a:bodyPr/>
          <a:lstStyle/>
          <a:p>
            <a:r>
              <a:rPr lang="en-US" dirty="0"/>
              <a:t>Is clinician decision-making a black box?</a:t>
            </a:r>
            <a:endParaRPr lang="en-US" i="1" dirty="0"/>
          </a:p>
        </p:txBody>
      </p:sp>
      <p:pic>
        <p:nvPicPr>
          <p:cNvPr id="6" name="Picture 5">
            <a:extLst>
              <a:ext uri="{FF2B5EF4-FFF2-40B4-BE49-F238E27FC236}">
                <a16:creationId xmlns:a16="http://schemas.microsoft.com/office/drawing/2014/main" id="{5E2783BB-EFF0-9FF5-B7A3-E6E3B167E8A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5039" y="3013653"/>
            <a:ext cx="2141307" cy="2163651"/>
          </a:xfrm>
          <a:prstGeom prst="rect">
            <a:avLst/>
          </a:prstGeom>
        </p:spPr>
      </p:pic>
      <p:cxnSp>
        <p:nvCxnSpPr>
          <p:cNvPr id="7" name="Straight Arrow Connector 6">
            <a:extLst>
              <a:ext uri="{FF2B5EF4-FFF2-40B4-BE49-F238E27FC236}">
                <a16:creationId xmlns:a16="http://schemas.microsoft.com/office/drawing/2014/main" id="{74CB7618-24E7-D2B2-5664-54963DFF3CB0}"/>
              </a:ext>
            </a:extLst>
          </p:cNvPr>
          <p:cNvCxnSpPr>
            <a:cxnSpLocks/>
          </p:cNvCxnSpPr>
          <p:nvPr/>
        </p:nvCxnSpPr>
        <p:spPr>
          <a:xfrm flipV="1">
            <a:off x="2466346" y="4095478"/>
            <a:ext cx="1867005" cy="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CBB22D1C-D697-E561-D3BA-1197D8741C34}"/>
              </a:ext>
            </a:extLst>
          </p:cNvPr>
          <p:cNvCxnSpPr>
            <a:cxnSpLocks/>
          </p:cNvCxnSpPr>
          <p:nvPr/>
        </p:nvCxnSpPr>
        <p:spPr>
          <a:xfrm>
            <a:off x="7858649" y="4095481"/>
            <a:ext cx="2025844"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9" name="Table 8">
            <a:extLst>
              <a:ext uri="{FF2B5EF4-FFF2-40B4-BE49-F238E27FC236}">
                <a16:creationId xmlns:a16="http://schemas.microsoft.com/office/drawing/2014/main" id="{3715FDED-799B-2872-9149-1EC2DD786936}"/>
              </a:ext>
            </a:extLst>
          </p:cNvPr>
          <p:cNvGraphicFramePr>
            <a:graphicFrameLocks noGrp="1"/>
          </p:cNvGraphicFramePr>
          <p:nvPr/>
        </p:nvGraphicFramePr>
        <p:xfrm>
          <a:off x="9884493" y="3683999"/>
          <a:ext cx="2105739" cy="707853"/>
        </p:xfrm>
        <a:graphic>
          <a:graphicData uri="http://schemas.openxmlformats.org/drawingml/2006/table">
            <a:tbl>
              <a:tblPr firstRow="1" bandRow="1">
                <a:tableStyleId>{5C22544A-7EE6-4342-B048-85BDC9FD1C3A}</a:tableStyleId>
              </a:tblPr>
              <a:tblGrid>
                <a:gridCol w="2105739">
                  <a:extLst>
                    <a:ext uri="{9D8B030D-6E8A-4147-A177-3AD203B41FA5}">
                      <a16:colId xmlns:a16="http://schemas.microsoft.com/office/drawing/2014/main" val="4002730172"/>
                    </a:ext>
                  </a:extLst>
                </a:gridCol>
              </a:tblGrid>
              <a:tr h="707853">
                <a:tc>
                  <a:txBody>
                    <a:bodyPr/>
                    <a:lstStyle/>
                    <a:p>
                      <a:pPr algn="ctr"/>
                      <a:r>
                        <a:rPr lang="en-US" sz="1300" dirty="0">
                          <a:solidFill>
                            <a:schemeClr val="tx1"/>
                          </a:solidFill>
                        </a:rPr>
                        <a:t>Retinopathy?</a:t>
                      </a:r>
                      <a:r>
                        <a:rPr lang="en-US" sz="1300" baseline="0" dirty="0">
                          <a:solidFill>
                            <a:schemeClr val="tx1"/>
                          </a:solidFill>
                        </a:rPr>
                        <a:t> </a:t>
                      </a:r>
                    </a:p>
                    <a:p>
                      <a:pPr algn="ctr"/>
                      <a:r>
                        <a:rPr lang="en-US" sz="1300" baseline="0" dirty="0">
                          <a:solidFill>
                            <a:schemeClr val="tx1"/>
                          </a:solidFill>
                        </a:rPr>
                        <a:t>Yes/No</a:t>
                      </a:r>
                      <a:endParaRPr lang="en-US" sz="13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Tree>
    <p:extLst>
      <p:ext uri="{BB962C8B-B14F-4D97-AF65-F5344CB8AC3E}">
        <p14:creationId xmlns:p14="http://schemas.microsoft.com/office/powerpoint/2010/main" val="459140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be 4"/>
          <p:cNvSpPr/>
          <p:nvPr/>
        </p:nvSpPr>
        <p:spPr>
          <a:xfrm>
            <a:off x="7334038" y="3651593"/>
            <a:ext cx="3774471" cy="2678904"/>
          </a:xfrm>
          <a:prstGeom prst="cube">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2" name="Title 8"/>
          <p:cNvSpPr>
            <a:spLocks noGrp="1"/>
          </p:cNvSpPr>
          <p:nvPr>
            <p:ph type="title"/>
          </p:nvPr>
        </p:nvSpPr>
        <p:spPr>
          <a:xfrm>
            <a:off x="609600" y="244699"/>
            <a:ext cx="10972800" cy="1143000"/>
          </a:xfrm>
        </p:spPr>
        <p:txBody>
          <a:bodyPr>
            <a:normAutofit/>
          </a:bodyPr>
          <a:lstStyle/>
          <a:p>
            <a:r>
              <a:rPr lang="en-US" dirty="0"/>
              <a:t>Two competing perspectives</a:t>
            </a:r>
          </a:p>
        </p:txBody>
      </p:sp>
      <p:sp>
        <p:nvSpPr>
          <p:cNvPr id="2" name="Rectangle 1"/>
          <p:cNvSpPr/>
          <p:nvPr/>
        </p:nvSpPr>
        <p:spPr>
          <a:xfrm>
            <a:off x="913782" y="2276855"/>
            <a:ext cx="4216921" cy="830997"/>
          </a:xfrm>
          <a:prstGeom prst="rect">
            <a:avLst/>
          </a:prstGeom>
        </p:spPr>
        <p:txBody>
          <a:bodyPr wrap="square">
            <a:spAutoFit/>
          </a:bodyPr>
          <a:lstStyle/>
          <a:p>
            <a:r>
              <a:rPr lang="en-US" sz="2400" dirty="0"/>
              <a:t>We can only use tools if we fully understand how they work</a:t>
            </a:r>
          </a:p>
        </p:txBody>
      </p:sp>
      <p:sp>
        <p:nvSpPr>
          <p:cNvPr id="3" name="Rectangle 2"/>
          <p:cNvSpPr/>
          <p:nvPr/>
        </p:nvSpPr>
        <p:spPr>
          <a:xfrm>
            <a:off x="7180034" y="2276855"/>
            <a:ext cx="4082476" cy="830997"/>
          </a:xfrm>
          <a:prstGeom prst="rect">
            <a:avLst/>
          </a:prstGeom>
        </p:spPr>
        <p:txBody>
          <a:bodyPr wrap="square">
            <a:spAutoFit/>
          </a:bodyPr>
          <a:lstStyle/>
          <a:p>
            <a:r>
              <a:rPr lang="en-US" sz="2400" dirty="0"/>
              <a:t>We just need to make sure our tools are </a:t>
            </a:r>
            <a:r>
              <a:rPr lang="en-US" sz="2400" i="1" dirty="0"/>
              <a:t>valid</a:t>
            </a:r>
            <a:r>
              <a:rPr lang="en-US" sz="2400" dirty="0"/>
              <a:t> and </a:t>
            </a:r>
            <a:r>
              <a:rPr lang="en-US" sz="2400" i="1" dirty="0"/>
              <a:t>reliable</a:t>
            </a:r>
          </a:p>
        </p:txBody>
      </p:sp>
      <p:sp>
        <p:nvSpPr>
          <p:cNvPr id="14" name="Cube 13"/>
          <p:cNvSpPr/>
          <p:nvPr/>
        </p:nvSpPr>
        <p:spPr>
          <a:xfrm>
            <a:off x="1135009" y="3651593"/>
            <a:ext cx="3774471" cy="2678904"/>
          </a:xfrm>
          <a:prstGeom prst="cub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Cube 14"/>
          <p:cNvSpPr/>
          <p:nvPr/>
        </p:nvSpPr>
        <p:spPr>
          <a:xfrm rot="10800000">
            <a:off x="1135009" y="3651593"/>
            <a:ext cx="3774471" cy="2678904"/>
          </a:xfrm>
          <a:prstGeom prst="cub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1FF357B2-1113-1263-3561-570AA1016D80}"/>
              </a:ext>
            </a:extLst>
          </p:cNvPr>
          <p:cNvSpPr/>
          <p:nvPr/>
        </p:nvSpPr>
        <p:spPr>
          <a:xfrm>
            <a:off x="1032249" y="1281710"/>
            <a:ext cx="10127503" cy="461665"/>
          </a:xfrm>
          <a:prstGeom prst="rect">
            <a:avLst/>
          </a:prstGeom>
        </p:spPr>
        <p:txBody>
          <a:bodyPr wrap="square">
            <a:spAutoFit/>
          </a:bodyPr>
          <a:lstStyle/>
          <a:p>
            <a:pPr algn="ctr"/>
            <a:r>
              <a:rPr lang="en-US" sz="2400" dirty="0">
                <a:solidFill>
                  <a:schemeClr val="accent2"/>
                </a:solidFill>
              </a:rPr>
              <a:t>FDA regulation of clinical decision support considers interpretability.</a:t>
            </a:r>
          </a:p>
        </p:txBody>
      </p:sp>
    </p:spTree>
    <p:extLst>
      <p:ext uri="{BB962C8B-B14F-4D97-AF65-F5344CB8AC3E}">
        <p14:creationId xmlns:p14="http://schemas.microsoft.com/office/powerpoint/2010/main" val="288983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DD4A2-285B-9627-0FA4-141278F2B3D4}"/>
              </a:ext>
            </a:extLst>
          </p:cNvPr>
          <p:cNvSpPr>
            <a:spLocks noGrp="1"/>
          </p:cNvSpPr>
          <p:nvPr>
            <p:ph type="title"/>
          </p:nvPr>
        </p:nvSpPr>
        <p:spPr/>
        <p:txBody>
          <a:bodyPr/>
          <a:lstStyle/>
          <a:p>
            <a:r>
              <a:rPr lang="en-US" dirty="0"/>
              <a:t>Evolving views of interpretability</a:t>
            </a:r>
          </a:p>
        </p:txBody>
      </p:sp>
      <p:sp>
        <p:nvSpPr>
          <p:cNvPr id="3" name="Text Placeholder 2">
            <a:extLst>
              <a:ext uri="{FF2B5EF4-FFF2-40B4-BE49-F238E27FC236}">
                <a16:creationId xmlns:a16="http://schemas.microsoft.com/office/drawing/2014/main" id="{DA631DC5-A537-302B-9C0F-92889B36B23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76577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5FB75-3214-25A1-A7E5-AD0A53693496}"/>
              </a:ext>
            </a:extLst>
          </p:cNvPr>
          <p:cNvSpPr>
            <a:spLocks noGrp="1"/>
          </p:cNvSpPr>
          <p:nvPr>
            <p:ph type="title"/>
          </p:nvPr>
        </p:nvSpPr>
        <p:spPr/>
        <p:txBody>
          <a:bodyPr/>
          <a:lstStyle/>
          <a:p>
            <a:r>
              <a:rPr lang="en-US" dirty="0"/>
              <a:t>Evolving views of interpretability</a:t>
            </a:r>
          </a:p>
        </p:txBody>
      </p:sp>
      <p:sp>
        <p:nvSpPr>
          <p:cNvPr id="3" name="Content Placeholder 2">
            <a:extLst>
              <a:ext uri="{FF2B5EF4-FFF2-40B4-BE49-F238E27FC236}">
                <a16:creationId xmlns:a16="http://schemas.microsoft.com/office/drawing/2014/main" id="{CAD9B432-C4FC-7E73-FCDE-E2A9E4D340AE}"/>
              </a:ext>
            </a:extLst>
          </p:cNvPr>
          <p:cNvSpPr>
            <a:spLocks noGrp="1"/>
          </p:cNvSpPr>
          <p:nvPr>
            <p:ph idx="1"/>
          </p:nvPr>
        </p:nvSpPr>
        <p:spPr/>
        <p:txBody>
          <a:bodyPr/>
          <a:lstStyle/>
          <a:p>
            <a:r>
              <a:rPr lang="en-US" b="1" dirty="0"/>
              <a:t>Old definition</a:t>
            </a:r>
            <a:r>
              <a:rPr lang="en-US" dirty="0"/>
              <a:t>: It is easy to for us to understand why the model makes the predictions that it makes.</a:t>
            </a:r>
          </a:p>
          <a:p>
            <a:endParaRPr lang="en-US" dirty="0"/>
          </a:p>
          <a:p>
            <a:r>
              <a:rPr lang="en-US" b="1" dirty="0"/>
              <a:t>New definition</a:t>
            </a:r>
            <a:r>
              <a:rPr lang="en-US" dirty="0"/>
              <a:t>: Predictions are explained based on elements or concepts that are understandable to humans.</a:t>
            </a:r>
          </a:p>
        </p:txBody>
      </p:sp>
    </p:spTree>
    <p:extLst>
      <p:ext uri="{BB962C8B-B14F-4D97-AF65-F5344CB8AC3E}">
        <p14:creationId xmlns:p14="http://schemas.microsoft.com/office/powerpoint/2010/main" val="1979245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74EE4-911B-139A-CF0A-C80D94A8D147}"/>
              </a:ext>
            </a:extLst>
          </p:cNvPr>
          <p:cNvSpPr>
            <a:spLocks noGrp="1"/>
          </p:cNvSpPr>
          <p:nvPr>
            <p:ph type="title"/>
          </p:nvPr>
        </p:nvSpPr>
        <p:spPr/>
        <p:txBody>
          <a:bodyPr/>
          <a:lstStyle/>
          <a:p>
            <a:r>
              <a:rPr lang="en-US" i="1" dirty="0"/>
              <a:t>This</a:t>
            </a:r>
            <a:r>
              <a:rPr lang="en-US" dirty="0"/>
              <a:t> looks like </a:t>
            </a:r>
            <a:r>
              <a:rPr lang="en-US" i="1" dirty="0"/>
              <a:t>that</a:t>
            </a:r>
          </a:p>
        </p:txBody>
      </p:sp>
      <p:pic>
        <p:nvPicPr>
          <p:cNvPr id="4" name="Picture 3">
            <a:extLst>
              <a:ext uri="{FF2B5EF4-FFF2-40B4-BE49-F238E27FC236}">
                <a16:creationId xmlns:a16="http://schemas.microsoft.com/office/drawing/2014/main" id="{EA8F97E5-51AB-A490-7634-D11F99AB7DF8}"/>
              </a:ext>
            </a:extLst>
          </p:cNvPr>
          <p:cNvPicPr>
            <a:picLocks noChangeAspect="1"/>
          </p:cNvPicPr>
          <p:nvPr/>
        </p:nvPicPr>
        <p:blipFill>
          <a:blip r:embed="rId2"/>
          <a:stretch>
            <a:fillRect/>
          </a:stretch>
        </p:blipFill>
        <p:spPr>
          <a:xfrm>
            <a:off x="1283532" y="1540786"/>
            <a:ext cx="9624935" cy="3512195"/>
          </a:xfrm>
          <a:prstGeom prst="rect">
            <a:avLst/>
          </a:prstGeom>
        </p:spPr>
      </p:pic>
      <p:sp>
        <p:nvSpPr>
          <p:cNvPr id="5" name="TextBox 4">
            <a:extLst>
              <a:ext uri="{FF2B5EF4-FFF2-40B4-BE49-F238E27FC236}">
                <a16:creationId xmlns:a16="http://schemas.microsoft.com/office/drawing/2014/main" id="{F271CF0E-B1DD-934C-8616-8C5D595C8C72}"/>
              </a:ext>
            </a:extLst>
          </p:cNvPr>
          <p:cNvSpPr txBox="1"/>
          <p:nvPr/>
        </p:nvSpPr>
        <p:spPr>
          <a:xfrm>
            <a:off x="898133" y="5317214"/>
            <a:ext cx="10395731" cy="369332"/>
          </a:xfrm>
          <a:prstGeom prst="rect">
            <a:avLst/>
          </a:prstGeom>
          <a:noFill/>
        </p:spPr>
        <p:txBody>
          <a:bodyPr wrap="none" rtlCol="0">
            <a:spAutoFit/>
          </a:bodyPr>
          <a:lstStyle/>
          <a:p>
            <a:r>
              <a:rPr lang="en-US" u="sng" dirty="0"/>
              <a:t>Uses large convolutional filters that can then be used to retrieve best-matching patches from the training set.</a:t>
            </a:r>
          </a:p>
        </p:txBody>
      </p:sp>
      <p:sp>
        <p:nvSpPr>
          <p:cNvPr id="7" name="TextBox 6">
            <a:extLst>
              <a:ext uri="{FF2B5EF4-FFF2-40B4-BE49-F238E27FC236}">
                <a16:creationId xmlns:a16="http://schemas.microsoft.com/office/drawing/2014/main" id="{0A4E6861-8637-604A-5792-96EC4E4A927C}"/>
              </a:ext>
            </a:extLst>
          </p:cNvPr>
          <p:cNvSpPr txBox="1"/>
          <p:nvPr/>
        </p:nvSpPr>
        <p:spPr>
          <a:xfrm>
            <a:off x="2419659" y="5969655"/>
            <a:ext cx="7352677" cy="523220"/>
          </a:xfrm>
          <a:prstGeom prst="rect">
            <a:avLst/>
          </a:prstGeom>
          <a:noFill/>
        </p:spPr>
        <p:txBody>
          <a:bodyPr wrap="square">
            <a:spAutoFit/>
          </a:bodyPr>
          <a:lstStyle/>
          <a:p>
            <a:r>
              <a:rPr lang="en-US" sz="1400" dirty="0"/>
              <a:t>Chen C, Li O, Tao D, Barnett A, Rudin C, Su JK. This looks like that: deep learning for interpretable image recognition. Advances in neural information processing systems. 2019;32.</a:t>
            </a:r>
          </a:p>
        </p:txBody>
      </p:sp>
    </p:spTree>
    <p:extLst>
      <p:ext uri="{BB962C8B-B14F-4D97-AF65-F5344CB8AC3E}">
        <p14:creationId xmlns:p14="http://schemas.microsoft.com/office/powerpoint/2010/main" val="2384900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47620-AED1-EAA2-2AE7-45FA4DECA6A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9437B6E-032B-5971-82A7-2493A7FC96AC}"/>
              </a:ext>
            </a:extLst>
          </p:cNvPr>
          <p:cNvSpPr txBox="1"/>
          <p:nvPr/>
        </p:nvSpPr>
        <p:spPr>
          <a:xfrm>
            <a:off x="710703" y="943283"/>
            <a:ext cx="5025859" cy="1086485"/>
          </a:xfrm>
          <a:prstGeom prst="rect">
            <a:avLst/>
          </a:prstGeom>
        </p:spPr>
        <p:txBody>
          <a:bodyPr>
            <a:noAutofit/>
          </a:bodyPr>
          <a:lstStyle/>
          <a:p>
            <a:r>
              <a:rPr lang="en-US" altLang="zh-CN" sz="2400" b="1" dirty="0"/>
              <a:t>Our approach (IRIS):</a:t>
            </a:r>
          </a:p>
        </p:txBody>
      </p:sp>
      <p:sp>
        <p:nvSpPr>
          <p:cNvPr id="4" name="文本框 3">
            <a:extLst>
              <a:ext uri="{FF2B5EF4-FFF2-40B4-BE49-F238E27FC236}">
                <a16:creationId xmlns:a16="http://schemas.microsoft.com/office/drawing/2014/main" id="{9E4B5D59-F664-4329-F512-4D1DCC9038C3}"/>
              </a:ext>
            </a:extLst>
          </p:cNvPr>
          <p:cNvSpPr txBox="1"/>
          <p:nvPr/>
        </p:nvSpPr>
        <p:spPr>
          <a:xfrm>
            <a:off x="710703" y="2565200"/>
            <a:ext cx="3914913" cy="461665"/>
          </a:xfrm>
          <a:prstGeom prst="rect">
            <a:avLst/>
          </a:prstGeom>
        </p:spPr>
        <p:txBody>
          <a:bodyPr wrap="square">
            <a:spAutoFit/>
          </a:bodyPr>
          <a:lstStyle/>
          <a:p>
            <a:r>
              <a:rPr lang="en-US" altLang="zh-CN" sz="2400" b="1" dirty="0"/>
              <a:t>Model Structure</a:t>
            </a:r>
          </a:p>
        </p:txBody>
      </p:sp>
      <p:sp>
        <p:nvSpPr>
          <p:cNvPr id="5" name="文本框 4">
            <a:extLst>
              <a:ext uri="{FF2B5EF4-FFF2-40B4-BE49-F238E27FC236}">
                <a16:creationId xmlns:a16="http://schemas.microsoft.com/office/drawing/2014/main" id="{2A480944-8639-BFF4-1E17-CC4762880E9F}"/>
              </a:ext>
            </a:extLst>
          </p:cNvPr>
          <p:cNvSpPr txBox="1"/>
          <p:nvPr/>
        </p:nvSpPr>
        <p:spPr>
          <a:xfrm>
            <a:off x="639445" y="1439622"/>
            <a:ext cx="5872566" cy="1013024"/>
          </a:xfrm>
          <a:prstGeom prst="rect">
            <a:avLst/>
          </a:prstGeom>
          <a:noFill/>
        </p:spPr>
        <p:txBody>
          <a:bodyPr wrap="square" rtlCol="0">
            <a:noAutofit/>
          </a:bodyPr>
          <a:lstStyle/>
          <a:p>
            <a:pPr marL="342900" indent="-342900" algn="just">
              <a:buFont typeface="Arial" panose="020B0604020202020204" pitchFamily="34" charset="0"/>
              <a:buChar char="•"/>
            </a:pPr>
            <a:r>
              <a:rPr lang="en-US" altLang="zh-CN" sz="2000" dirty="0">
                <a:latin typeface="Calibri" panose="020F0502020204030204" pitchFamily="34" charset="0"/>
                <a:cs typeface="Calibri" panose="020F0502020204030204" pitchFamily="34" charset="0"/>
              </a:rPr>
              <a:t>Rather than manually defining queries using prior knowledge, the model learns query vectors directly from data.</a:t>
            </a:r>
          </a:p>
          <a:p>
            <a:pPr algn="ctr"/>
            <a:endParaRPr lang="en-US" altLang="zh-CN" sz="2000" dirty="0">
              <a:latin typeface="Calibri" panose="020F0502020204030204" pitchFamily="34" charset="0"/>
              <a:cs typeface="Calibri" panose="020F0502020204030204" pitchFamily="34" charset="0"/>
            </a:endParaRPr>
          </a:p>
          <a:p>
            <a:pPr algn="ctr"/>
            <a:endParaRPr lang="en-US" altLang="zh-CN" sz="2000" dirty="0">
              <a:latin typeface="Calibri" panose="020F0502020204030204" pitchFamily="34" charset="0"/>
              <a:cs typeface="Calibri" panose="020F0502020204030204" pitchFamily="34" charset="0"/>
            </a:endParaRPr>
          </a:p>
          <a:p>
            <a:pPr algn="ctr"/>
            <a:endParaRPr lang="en-US" altLang="zh-CN" sz="2000" dirty="0">
              <a:latin typeface="Times New Roman" panose="02020603050405020304" charset="0"/>
              <a:cs typeface="Times New Roman" panose="02020603050405020304" charset="0"/>
            </a:endParaRPr>
          </a:p>
        </p:txBody>
      </p:sp>
      <p:sp>
        <p:nvSpPr>
          <p:cNvPr id="6" name="文本框 4">
            <a:extLst>
              <a:ext uri="{FF2B5EF4-FFF2-40B4-BE49-F238E27FC236}">
                <a16:creationId xmlns:a16="http://schemas.microsoft.com/office/drawing/2014/main" id="{184F5727-2660-6BE4-5072-E6E18953676D}"/>
              </a:ext>
            </a:extLst>
          </p:cNvPr>
          <p:cNvSpPr txBox="1"/>
          <p:nvPr/>
        </p:nvSpPr>
        <p:spPr>
          <a:xfrm>
            <a:off x="710703" y="3017347"/>
            <a:ext cx="5872566" cy="1085850"/>
          </a:xfrm>
          <a:prstGeom prst="rect">
            <a:avLst/>
          </a:prstGeom>
          <a:noFill/>
        </p:spPr>
        <p:txBody>
          <a:bodyPr wrap="square" rtlCol="0">
            <a:noAutofit/>
          </a:bodyPr>
          <a:lstStyle/>
          <a:p>
            <a:pPr marL="342900" indent="-342900" algn="just">
              <a:buFont typeface="Arial" panose="020B0604020202020204" pitchFamily="34" charset="0"/>
              <a:buChar char="•"/>
            </a:pPr>
            <a:r>
              <a:rPr lang="en-US" altLang="zh-CN" sz="2000" dirty="0">
                <a:latin typeface="Calibri" panose="020F0502020204030204" pitchFamily="34" charset="0"/>
                <a:cs typeface="Calibri" panose="020F0502020204030204" pitchFamily="34" charset="0"/>
              </a:rPr>
              <a:t>The model has </a:t>
            </a:r>
            <a:r>
              <a:rPr lang="en-US" altLang="zh-CN" sz="2000" i="1" dirty="0">
                <a:latin typeface="Calibri" panose="020F0502020204030204" pitchFamily="34" charset="0"/>
                <a:cs typeface="Calibri" panose="020F0502020204030204" pitchFamily="34" charset="0"/>
              </a:rPr>
              <a:t>n</a:t>
            </a:r>
            <a:r>
              <a:rPr lang="en-US" altLang="zh-CN" sz="2000" dirty="0">
                <a:latin typeface="Calibri" panose="020F0502020204030204" pitchFamily="34" charset="0"/>
                <a:cs typeface="Calibri" panose="020F0502020204030204" pitchFamily="34" charset="0"/>
              </a:rPr>
              <a:t> query vectors, initialized randomly and optimized as learnable parameters</a:t>
            </a:r>
          </a:p>
          <a:p>
            <a:pPr marL="342900" indent="-342900" algn="just">
              <a:buFont typeface="Arial" panose="020B0604020202020204" pitchFamily="34" charset="0"/>
              <a:buChar char="•"/>
            </a:pPr>
            <a:r>
              <a:rPr lang="en-US" altLang="zh-CN" sz="2000" dirty="0">
                <a:latin typeface="Calibri" panose="020F0502020204030204" pitchFamily="34" charset="0"/>
                <a:cs typeface="Calibri" panose="020F0502020204030204" pitchFamily="34" charset="0"/>
              </a:rPr>
              <a:t>Each query vector retrieves </a:t>
            </a:r>
            <a:r>
              <a:rPr lang="en-US" altLang="zh-CN" sz="2000" i="1" dirty="0">
                <a:latin typeface="Calibri" panose="020F0502020204030204" pitchFamily="34" charset="0"/>
                <a:cs typeface="Calibri" panose="020F0502020204030204" pitchFamily="34" charset="0"/>
              </a:rPr>
              <a:t>k</a:t>
            </a:r>
            <a:r>
              <a:rPr lang="en-US" altLang="zh-CN" sz="2000" dirty="0">
                <a:latin typeface="Calibri" panose="020F0502020204030204" pitchFamily="34" charset="0"/>
                <a:cs typeface="Calibri" panose="020F0502020204030204" pitchFamily="34" charset="0"/>
              </a:rPr>
              <a:t> relevant clinical note embeddings. Only these retrieved embeddings are used for downstream risk prediction</a:t>
            </a:r>
          </a:p>
          <a:p>
            <a:pPr marL="342900" indent="-342900" algn="just">
              <a:buFont typeface="Arial" panose="020B0604020202020204" pitchFamily="34" charset="0"/>
              <a:buChar char="•"/>
            </a:pPr>
            <a:r>
              <a:rPr lang="en-US" altLang="zh-CN" sz="2000" dirty="0">
                <a:latin typeface="Calibri" panose="020F0502020204030204" pitchFamily="34" charset="0"/>
                <a:cs typeface="Calibri" panose="020F0502020204030204" pitchFamily="34" charset="0"/>
              </a:rPr>
              <a:t>A key mechanism aggregates the retrieved embeddings, enabling the dynamic refinement of the query vectors during training.</a:t>
            </a:r>
          </a:p>
          <a:p>
            <a:pPr marL="342900" indent="-342900" algn="just">
              <a:buFont typeface="Arial" panose="020B0604020202020204" pitchFamily="34" charset="0"/>
              <a:buChar char="•"/>
            </a:pPr>
            <a:r>
              <a:rPr lang="en-US" altLang="zh-CN" sz="2000" dirty="0">
                <a:latin typeface="Calibri" panose="020F0502020204030204" pitchFamily="34" charset="0"/>
                <a:cs typeface="Calibri" panose="020F0502020204030204" pitchFamily="34" charset="0"/>
              </a:rPr>
              <a:t>Specially designed tricks encourage each query to focus on a distinct, interpretable classification factor</a:t>
            </a:r>
          </a:p>
          <a:p>
            <a:pPr algn="ctr"/>
            <a:endParaRPr lang="en-US" altLang="zh-CN" sz="2000" dirty="0">
              <a:latin typeface="Calibri" panose="020F0502020204030204" pitchFamily="34" charset="0"/>
              <a:cs typeface="Calibri" panose="020F0502020204030204" pitchFamily="34" charset="0"/>
            </a:endParaRPr>
          </a:p>
          <a:p>
            <a:pPr algn="ctr"/>
            <a:endParaRPr lang="en-US" altLang="zh-CN" sz="2000" dirty="0">
              <a:latin typeface="Calibri" panose="020F0502020204030204" pitchFamily="34" charset="0"/>
              <a:cs typeface="Calibri" panose="020F0502020204030204" pitchFamily="34" charset="0"/>
            </a:endParaRPr>
          </a:p>
          <a:p>
            <a:pPr algn="ctr"/>
            <a:endParaRPr lang="en-US" altLang="zh-CN" sz="2000" dirty="0">
              <a:latin typeface="Times New Roman" panose="02020603050405020304" charset="0"/>
              <a:cs typeface="Times New Roman" panose="02020603050405020304" charset="0"/>
            </a:endParaRPr>
          </a:p>
        </p:txBody>
      </p:sp>
      <p:pic>
        <p:nvPicPr>
          <p:cNvPr id="7" name="Picture 6" descr="A diagram of a data processing process&#10;&#10;Description automatically generated">
            <a:extLst>
              <a:ext uri="{FF2B5EF4-FFF2-40B4-BE49-F238E27FC236}">
                <a16:creationId xmlns:a16="http://schemas.microsoft.com/office/drawing/2014/main" id="{742AEB25-B060-2D53-CD02-820C28DAB4A5}"/>
              </a:ext>
            </a:extLst>
          </p:cNvPr>
          <p:cNvPicPr>
            <a:picLocks noChangeAspect="1"/>
          </p:cNvPicPr>
          <p:nvPr/>
        </p:nvPicPr>
        <p:blipFill>
          <a:blip r:embed="rId3"/>
          <a:stretch>
            <a:fillRect/>
          </a:stretch>
        </p:blipFill>
        <p:spPr>
          <a:xfrm>
            <a:off x="7501234" y="505962"/>
            <a:ext cx="3846465" cy="5233979"/>
          </a:xfrm>
          <a:prstGeom prst="rect">
            <a:avLst/>
          </a:prstGeom>
        </p:spPr>
      </p:pic>
      <p:sp>
        <p:nvSpPr>
          <p:cNvPr id="8" name="TextBox 7">
            <a:extLst>
              <a:ext uri="{FF2B5EF4-FFF2-40B4-BE49-F238E27FC236}">
                <a16:creationId xmlns:a16="http://schemas.microsoft.com/office/drawing/2014/main" id="{52818E46-0CFE-D85F-07F6-7DC46AE024A6}"/>
              </a:ext>
            </a:extLst>
          </p:cNvPr>
          <p:cNvSpPr txBox="1"/>
          <p:nvPr/>
        </p:nvSpPr>
        <p:spPr>
          <a:xfrm>
            <a:off x="6816725" y="5866376"/>
            <a:ext cx="4000034" cy="707886"/>
          </a:xfrm>
          <a:prstGeom prst="rect">
            <a:avLst/>
          </a:prstGeom>
          <a:noFill/>
        </p:spPr>
        <p:txBody>
          <a:bodyPr wrap="square">
            <a:spAutoFit/>
          </a:bodyPr>
          <a:lstStyle/>
          <a:p>
            <a:r>
              <a:rPr lang="en-US" sz="1000" dirty="0" err="1">
                <a:solidFill>
                  <a:srgbClr val="2A313C"/>
                </a:solidFill>
              </a:rPr>
              <a:t>Fengnan</a:t>
            </a:r>
            <a:r>
              <a:rPr lang="en-US" sz="1000" dirty="0">
                <a:solidFill>
                  <a:srgbClr val="2A313C"/>
                </a:solidFill>
              </a:rPr>
              <a:t> Li, Elliot Hill, Jiang Shu, Jiaxin Gao, and Matthew Engelhard. IRIS: Interpretable Retrieval-Augmented Classification for Long Interspersed Document Sequences. </a:t>
            </a:r>
            <a:r>
              <a:rPr lang="en-US" sz="1000" b="0" i="0" u="none" strike="noStrike" dirty="0">
                <a:solidFill>
                  <a:srgbClr val="2A313C"/>
                </a:solidFill>
                <a:effectLst/>
              </a:rPr>
              <a:t>In: Proceedings of the 63rd Annual Meeting of the Association for Computational Linguistics (ACL 2025).</a:t>
            </a:r>
            <a:endParaRPr lang="en-US" sz="1000" dirty="0"/>
          </a:p>
        </p:txBody>
      </p:sp>
      <p:sp>
        <p:nvSpPr>
          <p:cNvPr id="11" name="Title 1">
            <a:extLst>
              <a:ext uri="{FF2B5EF4-FFF2-40B4-BE49-F238E27FC236}">
                <a16:creationId xmlns:a16="http://schemas.microsoft.com/office/drawing/2014/main" id="{847D2CEF-B930-B298-3B59-2652D4608747}"/>
              </a:ext>
            </a:extLst>
          </p:cNvPr>
          <p:cNvSpPr txBox="1">
            <a:spLocks/>
          </p:cNvSpPr>
          <p:nvPr/>
        </p:nvSpPr>
        <p:spPr>
          <a:xfrm>
            <a:off x="0" y="0"/>
            <a:ext cx="6821774" cy="790250"/>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Justify prediction from evidence</a:t>
            </a:r>
          </a:p>
        </p:txBody>
      </p:sp>
    </p:spTree>
    <p:extLst>
      <p:ext uri="{BB962C8B-B14F-4D97-AF65-F5344CB8AC3E}">
        <p14:creationId xmlns:p14="http://schemas.microsoft.com/office/powerpoint/2010/main" val="3450389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4DF40-4C13-D70B-083B-722709CB7BB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4F16BC7-86CC-3BDA-79CE-243AB19455A7}"/>
              </a:ext>
            </a:extLst>
          </p:cNvPr>
          <p:cNvSpPr txBox="1"/>
          <p:nvPr/>
        </p:nvSpPr>
        <p:spPr>
          <a:xfrm>
            <a:off x="710703" y="943283"/>
            <a:ext cx="5025859" cy="1086485"/>
          </a:xfrm>
          <a:prstGeom prst="rect">
            <a:avLst/>
          </a:prstGeom>
        </p:spPr>
        <p:txBody>
          <a:bodyPr>
            <a:noAutofit/>
          </a:bodyPr>
          <a:lstStyle/>
          <a:p>
            <a:endParaRPr lang="en-US" altLang="zh-CN" sz="2400" dirty="0"/>
          </a:p>
        </p:txBody>
      </p:sp>
      <p:sp>
        <p:nvSpPr>
          <p:cNvPr id="8" name="文本框 4">
            <a:extLst>
              <a:ext uri="{FF2B5EF4-FFF2-40B4-BE49-F238E27FC236}">
                <a16:creationId xmlns:a16="http://schemas.microsoft.com/office/drawing/2014/main" id="{DD74B9EB-0819-6DA4-9E74-F80D0BC3D636}"/>
              </a:ext>
            </a:extLst>
          </p:cNvPr>
          <p:cNvSpPr txBox="1"/>
          <p:nvPr/>
        </p:nvSpPr>
        <p:spPr>
          <a:xfrm>
            <a:off x="1468006" y="4749566"/>
            <a:ext cx="9517151" cy="1085850"/>
          </a:xfrm>
          <a:prstGeom prst="rect">
            <a:avLst/>
          </a:prstGeom>
          <a:noFill/>
        </p:spPr>
        <p:txBody>
          <a:bodyPr wrap="square" rtlCol="0">
            <a:noAutofit/>
          </a:bodyPr>
          <a:lstStyle/>
          <a:p>
            <a:pPr algn="just"/>
            <a:r>
              <a:rPr lang="en-US" altLang="zh-CN" dirty="0">
                <a:latin typeface="Calibri" panose="020F0502020204030204" pitchFamily="34" charset="0"/>
                <a:cs typeface="Calibri" panose="020F0502020204030204" pitchFamily="34" charset="0"/>
              </a:rPr>
              <a:t>To identify which risk factors the model recognizes, We extract query vectors from the trained model and use them to retrieve the most relevant clinical note segments from the vector database. Categories of descriptive findings predictive of autism, as identified by IRIS, are listed in the table. </a:t>
            </a:r>
          </a:p>
          <a:p>
            <a:pPr algn="ctr"/>
            <a:endParaRPr lang="en-US" altLang="zh-CN" dirty="0">
              <a:latin typeface="Times New Roman" panose="02020603050405020304" charset="0"/>
              <a:cs typeface="Times New Roman" panose="02020603050405020304" charset="0"/>
            </a:endParaRPr>
          </a:p>
        </p:txBody>
      </p:sp>
      <p:graphicFrame>
        <p:nvGraphicFramePr>
          <p:cNvPr id="4" name="Table 3">
            <a:extLst>
              <a:ext uri="{FF2B5EF4-FFF2-40B4-BE49-F238E27FC236}">
                <a16:creationId xmlns:a16="http://schemas.microsoft.com/office/drawing/2014/main" id="{5A7883D8-3D76-FCA9-5C2D-B51403F4A295}"/>
              </a:ext>
            </a:extLst>
          </p:cNvPr>
          <p:cNvGraphicFramePr>
            <a:graphicFrameLocks noGrp="1"/>
          </p:cNvGraphicFramePr>
          <p:nvPr/>
        </p:nvGraphicFramePr>
        <p:xfrm>
          <a:off x="2162581" y="900970"/>
          <a:ext cx="8128000" cy="35661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61703505"/>
                    </a:ext>
                  </a:extLst>
                </a:gridCol>
                <a:gridCol w="4064000">
                  <a:extLst>
                    <a:ext uri="{9D8B030D-6E8A-4147-A177-3AD203B41FA5}">
                      <a16:colId xmlns:a16="http://schemas.microsoft.com/office/drawing/2014/main" val="1950784473"/>
                    </a:ext>
                  </a:extLst>
                </a:gridCol>
              </a:tblGrid>
              <a:tr h="222044">
                <a:tc>
                  <a:txBody>
                    <a:bodyPr/>
                    <a:lstStyle/>
                    <a:p>
                      <a:pPr algn="ctr"/>
                      <a:r>
                        <a:rPr lang="en-US" dirty="0"/>
                        <a:t>Query Interpretation</a:t>
                      </a:r>
                    </a:p>
                  </a:txBody>
                  <a:tcPr/>
                </a:tc>
                <a:tc>
                  <a:txBody>
                    <a:bodyPr/>
                    <a:lstStyle/>
                    <a:p>
                      <a:r>
                        <a:rPr lang="en-US" dirty="0"/>
                        <a:t>Typical content of retrieved notes</a:t>
                      </a:r>
                    </a:p>
                  </a:txBody>
                  <a:tcPr/>
                </a:tc>
                <a:extLst>
                  <a:ext uri="{0D108BD9-81ED-4DB2-BD59-A6C34878D82A}">
                    <a16:rowId xmlns:a16="http://schemas.microsoft.com/office/drawing/2014/main" val="448599085"/>
                  </a:ext>
                </a:extLst>
              </a:tr>
              <a:tr h="370840">
                <a:tc>
                  <a:txBody>
                    <a:bodyPr/>
                    <a:lstStyle/>
                    <a:p>
                      <a:pPr algn="ctr"/>
                      <a:r>
                        <a:rPr lang="en-US" dirty="0"/>
                        <a:t>Skill development</a:t>
                      </a:r>
                    </a:p>
                  </a:txBody>
                  <a:tcPr/>
                </a:tc>
                <a:tc>
                  <a:txBody>
                    <a:bodyPr/>
                    <a:lstStyle/>
                    <a:p>
                      <a:pPr algn="ctr"/>
                      <a:r>
                        <a:rPr lang="en-US" dirty="0"/>
                        <a:t>Assessment of developmental milestones including motor skills</a:t>
                      </a:r>
                    </a:p>
                  </a:txBody>
                  <a:tcPr/>
                </a:tc>
                <a:extLst>
                  <a:ext uri="{0D108BD9-81ED-4DB2-BD59-A6C34878D82A}">
                    <a16:rowId xmlns:a16="http://schemas.microsoft.com/office/drawing/2014/main" val="1398043148"/>
                  </a:ext>
                </a:extLst>
              </a:tr>
              <a:tr h="370840">
                <a:tc>
                  <a:txBody>
                    <a:bodyPr/>
                    <a:lstStyle/>
                    <a:p>
                      <a:pPr algn="ctr"/>
                      <a:r>
                        <a:rPr lang="en-US" dirty="0"/>
                        <a:t>Ophthalmological findings*</a:t>
                      </a:r>
                    </a:p>
                  </a:txBody>
                  <a:tcPr/>
                </a:tc>
                <a:tc>
                  <a:txBody>
                    <a:bodyPr/>
                    <a:lstStyle/>
                    <a:p>
                      <a:pPr algn="ctr"/>
                      <a:r>
                        <a:rPr lang="en-US" dirty="0"/>
                        <a:t>Findings such as esotropia, exotropia, amblyopia, myopia</a:t>
                      </a:r>
                    </a:p>
                  </a:txBody>
                  <a:tcPr/>
                </a:tc>
                <a:extLst>
                  <a:ext uri="{0D108BD9-81ED-4DB2-BD59-A6C34878D82A}">
                    <a16:rowId xmlns:a16="http://schemas.microsoft.com/office/drawing/2014/main" val="1717619173"/>
                  </a:ext>
                </a:extLst>
              </a:tr>
              <a:tr h="370840">
                <a:tc>
                  <a:txBody>
                    <a:bodyPr/>
                    <a:lstStyle/>
                    <a:p>
                      <a:pPr algn="ctr"/>
                      <a:r>
                        <a:rPr lang="en-US" dirty="0"/>
                        <a:t>Referral to specialty care</a:t>
                      </a:r>
                    </a:p>
                  </a:txBody>
                  <a:tcPr/>
                </a:tc>
                <a:tc>
                  <a:txBody>
                    <a:bodyPr/>
                    <a:lstStyle/>
                    <a:p>
                      <a:pPr algn="ctr"/>
                      <a:r>
                        <a:rPr lang="en-US" dirty="0"/>
                        <a:t>Referral to services including ophthalmology and neurology</a:t>
                      </a:r>
                    </a:p>
                  </a:txBody>
                  <a:tcPr/>
                </a:tc>
                <a:extLst>
                  <a:ext uri="{0D108BD9-81ED-4DB2-BD59-A6C34878D82A}">
                    <a16:rowId xmlns:a16="http://schemas.microsoft.com/office/drawing/2014/main" val="605263280"/>
                  </a:ext>
                </a:extLst>
              </a:tr>
              <a:tr h="370840">
                <a:tc>
                  <a:txBody>
                    <a:bodyPr/>
                    <a:lstStyle/>
                    <a:p>
                      <a:pPr algn="ctr"/>
                      <a:r>
                        <a:rPr lang="en-US" dirty="0"/>
                        <a:t>Late talking</a:t>
                      </a:r>
                    </a:p>
                  </a:txBody>
                  <a:tcPr/>
                </a:tc>
                <a:tc>
                  <a:txBody>
                    <a:bodyPr/>
                    <a:lstStyle/>
                    <a:p>
                      <a:pPr algn="ctr"/>
                      <a:r>
                        <a:rPr lang="en-US" dirty="0"/>
                        <a:t>Speech history provided by parent, including current vocabulary</a:t>
                      </a:r>
                    </a:p>
                  </a:txBody>
                  <a:tcPr/>
                </a:tc>
                <a:extLst>
                  <a:ext uri="{0D108BD9-81ED-4DB2-BD59-A6C34878D82A}">
                    <a16:rowId xmlns:a16="http://schemas.microsoft.com/office/drawing/2014/main" val="1730392989"/>
                  </a:ext>
                </a:extLst>
              </a:tr>
              <a:tr h="370840">
                <a:tc>
                  <a:txBody>
                    <a:bodyPr/>
                    <a:lstStyle/>
                    <a:p>
                      <a:pPr algn="ctr"/>
                      <a:r>
                        <a:rPr lang="en-US" dirty="0"/>
                        <a:t>Birth measurements</a:t>
                      </a:r>
                    </a:p>
                  </a:txBody>
                  <a:tcPr/>
                </a:tc>
                <a:tc>
                  <a:txBody>
                    <a:bodyPr/>
                    <a:lstStyle/>
                    <a:p>
                      <a:pPr algn="ctr"/>
                      <a:r>
                        <a:rPr lang="en-US" dirty="0"/>
                        <a:t>Percentiles for birth weight, length, and head circumference</a:t>
                      </a:r>
                    </a:p>
                  </a:txBody>
                  <a:tcPr/>
                </a:tc>
                <a:extLst>
                  <a:ext uri="{0D108BD9-81ED-4DB2-BD59-A6C34878D82A}">
                    <a16:rowId xmlns:a16="http://schemas.microsoft.com/office/drawing/2014/main" val="3994069817"/>
                  </a:ext>
                </a:extLst>
              </a:tr>
            </a:tbl>
          </a:graphicData>
        </a:graphic>
      </p:graphicFrame>
      <p:sp>
        <p:nvSpPr>
          <p:cNvPr id="7" name="TextBox 6">
            <a:extLst>
              <a:ext uri="{FF2B5EF4-FFF2-40B4-BE49-F238E27FC236}">
                <a16:creationId xmlns:a16="http://schemas.microsoft.com/office/drawing/2014/main" id="{B5434ADF-0D06-6684-B529-9A75ADAFECFC}"/>
              </a:ext>
            </a:extLst>
          </p:cNvPr>
          <p:cNvSpPr txBox="1"/>
          <p:nvPr/>
        </p:nvSpPr>
        <p:spPr>
          <a:xfrm>
            <a:off x="6816725" y="5866376"/>
            <a:ext cx="4000034" cy="707886"/>
          </a:xfrm>
          <a:prstGeom prst="rect">
            <a:avLst/>
          </a:prstGeom>
          <a:noFill/>
        </p:spPr>
        <p:txBody>
          <a:bodyPr wrap="square">
            <a:spAutoFit/>
          </a:bodyPr>
          <a:lstStyle/>
          <a:p>
            <a:r>
              <a:rPr lang="en-US" sz="1000" dirty="0" err="1">
                <a:solidFill>
                  <a:srgbClr val="2A313C"/>
                </a:solidFill>
              </a:rPr>
              <a:t>Fengnan</a:t>
            </a:r>
            <a:r>
              <a:rPr lang="en-US" sz="1000" dirty="0">
                <a:solidFill>
                  <a:srgbClr val="2A313C"/>
                </a:solidFill>
              </a:rPr>
              <a:t> Li, Elliot Hill, Jiang Shu, Jiaxin Gao, and Matthew Engelhard. IRIS: Interpretable Retrieval-Augmented Classification for Long Interspersed Document Sequences. </a:t>
            </a:r>
            <a:r>
              <a:rPr lang="en-US" sz="1000" b="0" i="0" u="none" strike="noStrike" dirty="0">
                <a:solidFill>
                  <a:srgbClr val="2A313C"/>
                </a:solidFill>
                <a:effectLst/>
              </a:rPr>
              <a:t>In: Proceedings of the 63rd Annual Meeting of the Association for Computational Linguistics (ACL 2025).</a:t>
            </a:r>
            <a:endParaRPr lang="en-US" sz="1000" dirty="0"/>
          </a:p>
        </p:txBody>
      </p:sp>
      <p:sp>
        <p:nvSpPr>
          <p:cNvPr id="6" name="TextBox 5">
            <a:extLst>
              <a:ext uri="{FF2B5EF4-FFF2-40B4-BE49-F238E27FC236}">
                <a16:creationId xmlns:a16="http://schemas.microsoft.com/office/drawing/2014/main" id="{5367361E-37BE-4E0C-B63E-5324ACCDD38D}"/>
              </a:ext>
            </a:extLst>
          </p:cNvPr>
          <p:cNvSpPr txBox="1"/>
          <p:nvPr/>
        </p:nvSpPr>
        <p:spPr>
          <a:xfrm>
            <a:off x="373422" y="5835598"/>
            <a:ext cx="5190861" cy="738664"/>
          </a:xfrm>
          <a:prstGeom prst="rect">
            <a:avLst/>
          </a:prstGeom>
          <a:noFill/>
        </p:spPr>
        <p:txBody>
          <a:bodyPr wrap="square">
            <a:spAutoFit/>
          </a:bodyPr>
          <a:lstStyle/>
          <a:p>
            <a:r>
              <a:rPr lang="en-US" sz="1400" dirty="0"/>
              <a:t>*consistent with e.g. Perna et al., Association between Autism Spectrum Disorder (ASD) and vision problems. A systematic review and meta-analysis. Mol Psychiatry. 2023 Dec;28(12):5011-5023.</a:t>
            </a:r>
          </a:p>
        </p:txBody>
      </p:sp>
      <p:sp>
        <p:nvSpPr>
          <p:cNvPr id="10" name="Title 1">
            <a:extLst>
              <a:ext uri="{FF2B5EF4-FFF2-40B4-BE49-F238E27FC236}">
                <a16:creationId xmlns:a16="http://schemas.microsoft.com/office/drawing/2014/main" id="{29188D09-3DFA-0A6B-3E9B-A87C4D3346B5}"/>
              </a:ext>
            </a:extLst>
          </p:cNvPr>
          <p:cNvSpPr txBox="1">
            <a:spLocks/>
          </p:cNvSpPr>
          <p:nvPr/>
        </p:nvSpPr>
        <p:spPr>
          <a:xfrm>
            <a:off x="0" y="0"/>
            <a:ext cx="6821774" cy="790250"/>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Justify prediction from evidence</a:t>
            </a:r>
          </a:p>
        </p:txBody>
      </p:sp>
    </p:spTree>
    <p:extLst>
      <p:ext uri="{BB962C8B-B14F-4D97-AF65-F5344CB8AC3E}">
        <p14:creationId xmlns:p14="http://schemas.microsoft.com/office/powerpoint/2010/main" val="722649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FF0E-9F3A-81A6-1EAC-6C593809F062}"/>
              </a:ext>
            </a:extLst>
          </p:cNvPr>
          <p:cNvSpPr>
            <a:spLocks noGrp="1"/>
          </p:cNvSpPr>
          <p:nvPr>
            <p:ph type="title"/>
          </p:nvPr>
        </p:nvSpPr>
        <p:spPr/>
        <p:txBody>
          <a:bodyPr/>
          <a:lstStyle/>
          <a:p>
            <a:r>
              <a:rPr lang="en-US" dirty="0"/>
              <a:t>Simple explanation methods</a:t>
            </a:r>
          </a:p>
        </p:txBody>
      </p:sp>
      <p:sp>
        <p:nvSpPr>
          <p:cNvPr id="3" name="Text Placeholder 2">
            <a:extLst>
              <a:ext uri="{FF2B5EF4-FFF2-40B4-BE49-F238E27FC236}">
                <a16:creationId xmlns:a16="http://schemas.microsoft.com/office/drawing/2014/main" id="{BEBE72AF-763B-2D13-5036-9A27F94F0AC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49487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698D2-F7A2-8DB1-D530-A5312DD01E4C}"/>
              </a:ext>
            </a:extLst>
          </p:cNvPr>
          <p:cNvSpPr>
            <a:spLocks noGrp="1"/>
          </p:cNvSpPr>
          <p:nvPr>
            <p:ph type="title"/>
          </p:nvPr>
        </p:nvSpPr>
        <p:spPr/>
        <p:txBody>
          <a:bodyPr/>
          <a:lstStyle/>
          <a:p>
            <a:r>
              <a:rPr lang="en-US" dirty="0"/>
              <a:t>Saliency maps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04943C-B327-D7C1-038F-E4423F4B38B6}"/>
                  </a:ext>
                </a:extLst>
              </p:cNvPr>
              <p:cNvSpPr>
                <a:spLocks noGrp="1"/>
              </p:cNvSpPr>
              <p:nvPr>
                <p:ph idx="1"/>
              </p:nvPr>
            </p:nvSpPr>
            <p:spPr>
              <a:xfrm>
                <a:off x="838200" y="1825625"/>
                <a:ext cx="3913682" cy="4351338"/>
              </a:xfrm>
            </p:spPr>
            <p:txBody>
              <a:bodyPr>
                <a:normAutofit fontScale="85000" lnSpcReduction="20000"/>
              </a:bodyPr>
              <a:lstStyle/>
              <a:p>
                <a:pPr marL="0" indent="0">
                  <a:buNone/>
                </a:pPr>
                <a:r>
                  <a:rPr lang="en-US" sz="2400" dirty="0"/>
                  <a:t>For model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𝒳</m:t>
                    </m:r>
                    <m:r>
                      <a:rPr lang="en-US" sz="2400" i="1" dirty="0" smtClean="0">
                        <a:latin typeface="Cambria Math" panose="02040503050406030204" pitchFamily="18" charset="0"/>
                      </a:rPr>
                      <m:t>→(0,1)</m:t>
                    </m:r>
                  </m:oMath>
                </a14:m>
                <a:r>
                  <a:rPr lang="en-US" sz="2400" dirty="0"/>
                  <a:t>, the saliency map </a:t>
                </a:r>
                <a14:m>
                  <m:oMath xmlns:m="http://schemas.openxmlformats.org/officeDocument/2006/math">
                    <m:r>
                      <a:rPr lang="en-US" sz="2400" i="1" dirty="0" smtClean="0">
                        <a:latin typeface="Cambria Math" panose="02040503050406030204" pitchFamily="18" charset="0"/>
                      </a:rPr>
                      <m:t>𝑆</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is given by: </a:t>
                </a:r>
              </a:p>
              <a:p>
                <a:pPr marL="0" indent="0">
                  <a:buNone/>
                </a:pPr>
                <a:endParaRPr lang="en-US" sz="2400" i="1" dirty="0">
                  <a:latin typeface="Cambria Math" panose="02040503050406030204" pitchFamily="18" charset="0"/>
                </a:endParaRPr>
              </a:p>
              <a:p>
                <a:pPr marL="0" indent="0" algn="ctr">
                  <a:buNone/>
                </a:pPr>
                <a14:m>
                  <m:oMath xmlns:m="http://schemas.openxmlformats.org/officeDocument/2006/math">
                    <m:r>
                      <a:rPr lang="en-US" sz="2400" i="1" dirty="0" smtClean="0">
                        <a:latin typeface="Cambria Math" panose="02040503050406030204" pitchFamily="18" charset="0"/>
                      </a:rPr>
                      <m:t>𝑆</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sSub>
                      <m:sSubPr>
                        <m:ctrlPr>
                          <a:rPr lang="en-US" sz="2400" b="0" i="1" dirty="0" smtClean="0">
                            <a:latin typeface="Cambria Math" panose="02040503050406030204" pitchFamily="18" charset="0"/>
                          </a:rPr>
                        </m:ctrlPr>
                      </m:sSubPr>
                      <m:e>
                        <m:r>
                          <m:rPr>
                            <m:sty m:val="p"/>
                          </m:rPr>
                          <a:rPr lang="en-US" sz="2400" b="0" i="0" dirty="0" smtClean="0">
                            <a:latin typeface="Cambria Math" panose="02040503050406030204" pitchFamily="18" charset="0"/>
                          </a:rPr>
                          <m:t>∇</m:t>
                        </m:r>
                      </m:e>
                      <m:sub>
                        <m:r>
                          <a:rPr lang="en-US" sz="2400" b="0" i="1" dirty="0" smtClean="0">
                            <a:latin typeface="Cambria Math" panose="02040503050406030204" pitchFamily="18" charset="0"/>
                          </a:rPr>
                          <m:t>𝑥</m:t>
                        </m:r>
                      </m:sub>
                    </m:sSub>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a:t>
                </a:r>
              </a:p>
              <a:p>
                <a:pPr marL="0" indent="0">
                  <a:buNone/>
                </a:pPr>
                <a:endParaRPr lang="en-US" sz="2400" dirty="0"/>
              </a:p>
              <a:p>
                <a:pPr marL="0" indent="0">
                  <a:buNone/>
                </a:pPr>
                <a:r>
                  <a:rPr lang="en-US" sz="2400" dirty="0"/>
                  <a:t>The importance of pixel </a:t>
                </a:r>
                <a14:m>
                  <m:oMath xmlns:m="http://schemas.openxmlformats.org/officeDocument/2006/math">
                    <m:r>
                      <a:rPr lang="en-US" sz="2400" i="1" dirty="0" smtClean="0">
                        <a:latin typeface="Cambria Math" panose="02040503050406030204" pitchFamily="18" charset="0"/>
                      </a:rPr>
                      <m:t>𝑖</m:t>
                    </m:r>
                  </m:oMath>
                </a14:m>
                <a:r>
                  <a:rPr lang="en-US" sz="2400" dirty="0"/>
                  <a:t> is: </a:t>
                </a:r>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𝑆</m:t>
                          </m:r>
                        </m:e>
                        <m:sub>
                          <m:r>
                            <a:rPr lang="en-US" sz="2400" i="1" dirty="0" smtClean="0">
                              <a:latin typeface="Cambria Math" panose="02040503050406030204" pitchFamily="18" charset="0"/>
                            </a:rPr>
                            <m:t>𝑖</m:t>
                          </m:r>
                        </m:sub>
                      </m:sSub>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r>
                        <a:rPr lang="en-US" sz="2400" b="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f>
                            <m:fPr>
                              <m:ctrlPr>
                                <a:rPr lang="en-US" sz="2400" i="1" dirty="0">
                                  <a:latin typeface="Cambria Math" panose="02040503050406030204" pitchFamily="18" charset="0"/>
                                </a:rPr>
                              </m:ctrlPr>
                            </m:fPr>
                            <m:num>
                              <m:r>
                                <a:rPr lang="en-US" sz="2400" i="1" dirty="0">
                                  <a:latin typeface="Cambria Math" panose="02040503050406030204" pitchFamily="18" charset="0"/>
                                </a:rPr>
                                <m:t>𝜕</m:t>
                              </m:r>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num>
                            <m:den>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𝑖</m:t>
                                  </m:r>
                                </m:sub>
                              </m:sSub>
                            </m:den>
                          </m:f>
                        </m:e>
                      </m:d>
                    </m:oMath>
                  </m:oMathPara>
                </a14:m>
                <a:endParaRPr lang="en-US" sz="2400" dirty="0"/>
              </a:p>
              <a:p>
                <a:pPr marL="0" indent="0">
                  <a:buNone/>
                </a:pPr>
                <a:endParaRPr lang="en-US" sz="2400" dirty="0"/>
              </a:p>
              <a:p>
                <a:pPr marL="0" indent="0">
                  <a:buNone/>
                </a:pPr>
                <a:r>
                  <a:rPr lang="en-US" sz="2400" u="sng" dirty="0"/>
                  <a:t>Intuition</a:t>
                </a:r>
                <a:r>
                  <a:rPr lang="en-US" sz="2400" dirty="0"/>
                  <a:t>: </a:t>
                </a:r>
              </a:p>
              <a:p>
                <a:pPr marL="0" indent="0">
                  <a:buNone/>
                </a:pPr>
                <a:r>
                  <a:rPr lang="en-US" sz="2400" dirty="0"/>
                  <a:t>“How fast does the prediction change as I change pixel </a:t>
                </a:r>
                <a14:m>
                  <m:oMath xmlns:m="http://schemas.openxmlformats.org/officeDocument/2006/math">
                    <m:r>
                      <a:rPr lang="en-US" sz="2400" i="1" dirty="0" smtClean="0">
                        <a:latin typeface="Cambria Math" panose="02040503050406030204" pitchFamily="18" charset="0"/>
                      </a:rPr>
                      <m:t>𝑖</m:t>
                    </m:r>
                  </m:oMath>
                </a14:m>
                <a:r>
                  <a:rPr lang="en-US" sz="2400" dirty="0"/>
                  <a:t>?”</a:t>
                </a:r>
              </a:p>
            </p:txBody>
          </p:sp>
        </mc:Choice>
        <mc:Fallback xmlns="">
          <p:sp>
            <p:nvSpPr>
              <p:cNvPr id="3" name="Content Placeholder 2">
                <a:extLst>
                  <a:ext uri="{FF2B5EF4-FFF2-40B4-BE49-F238E27FC236}">
                    <a16:creationId xmlns:a16="http://schemas.microsoft.com/office/drawing/2014/main" id="{0804943C-B327-D7C1-038F-E4423F4B38B6}"/>
                  </a:ext>
                </a:extLst>
              </p:cNvPr>
              <p:cNvSpPr>
                <a:spLocks noGrp="1" noRot="1" noChangeAspect="1" noMove="1" noResize="1" noEditPoints="1" noAdjustHandles="1" noChangeArrowheads="1" noChangeShapeType="1" noTextEdit="1"/>
              </p:cNvSpPr>
              <p:nvPr>
                <p:ph idx="1"/>
              </p:nvPr>
            </p:nvSpPr>
            <p:spPr>
              <a:xfrm>
                <a:off x="838200" y="1825625"/>
                <a:ext cx="3913682" cy="4351338"/>
              </a:xfrm>
              <a:blipFill>
                <a:blip r:embed="rId2"/>
                <a:stretch>
                  <a:fillRect l="-1942" t="-261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BCAF584-3C9A-7491-61CF-C79E9CF22636}"/>
              </a:ext>
            </a:extLst>
          </p:cNvPr>
          <p:cNvPicPr>
            <a:picLocks noChangeAspect="1"/>
          </p:cNvPicPr>
          <p:nvPr/>
        </p:nvPicPr>
        <p:blipFill>
          <a:blip r:embed="rId3"/>
          <a:stretch>
            <a:fillRect/>
          </a:stretch>
        </p:blipFill>
        <p:spPr>
          <a:xfrm>
            <a:off x="5195033" y="1690688"/>
            <a:ext cx="6158767" cy="3264146"/>
          </a:xfrm>
          <a:prstGeom prst="rect">
            <a:avLst/>
          </a:prstGeom>
        </p:spPr>
      </p:pic>
      <p:sp>
        <p:nvSpPr>
          <p:cNvPr id="5" name="TextBox 4">
            <a:extLst>
              <a:ext uri="{FF2B5EF4-FFF2-40B4-BE49-F238E27FC236}">
                <a16:creationId xmlns:a16="http://schemas.microsoft.com/office/drawing/2014/main" id="{6944F794-E16E-D4B2-545A-76ECFDAEC30E}"/>
              </a:ext>
            </a:extLst>
          </p:cNvPr>
          <p:cNvSpPr txBox="1"/>
          <p:nvPr/>
        </p:nvSpPr>
        <p:spPr>
          <a:xfrm>
            <a:off x="7333902" y="5546361"/>
            <a:ext cx="1881028" cy="369332"/>
          </a:xfrm>
          <a:prstGeom prst="rect">
            <a:avLst/>
          </a:prstGeom>
          <a:noFill/>
        </p:spPr>
        <p:txBody>
          <a:bodyPr wrap="none" rtlCol="0">
            <a:spAutoFit/>
          </a:bodyPr>
          <a:lstStyle/>
          <a:p>
            <a:r>
              <a:rPr lang="en-US" dirty="0"/>
              <a:t>Esteva et al., 2017</a:t>
            </a:r>
          </a:p>
        </p:txBody>
      </p:sp>
    </p:spTree>
    <p:extLst>
      <p:ext uri="{BB962C8B-B14F-4D97-AF65-F5344CB8AC3E}">
        <p14:creationId xmlns:p14="http://schemas.microsoft.com/office/powerpoint/2010/main" val="160017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4C6BF-54FF-1A84-6671-2F47353AD469}"/>
              </a:ext>
            </a:extLst>
          </p:cNvPr>
          <p:cNvSpPr>
            <a:spLocks noGrp="1"/>
          </p:cNvSpPr>
          <p:nvPr>
            <p:ph type="title"/>
          </p:nvPr>
        </p:nvSpPr>
        <p:spPr/>
        <p:txBody>
          <a:bodyPr/>
          <a:lstStyle/>
          <a:p>
            <a:r>
              <a:rPr lang="en-US" dirty="0"/>
              <a:t>What’s wrong with saliency maps?</a:t>
            </a:r>
          </a:p>
        </p:txBody>
      </p:sp>
      <p:pic>
        <p:nvPicPr>
          <p:cNvPr id="6" name="Picture 5">
            <a:extLst>
              <a:ext uri="{FF2B5EF4-FFF2-40B4-BE49-F238E27FC236}">
                <a16:creationId xmlns:a16="http://schemas.microsoft.com/office/drawing/2014/main" id="{F168E608-F380-BF89-ABFC-A8198D3D54BA}"/>
              </a:ext>
            </a:extLst>
          </p:cNvPr>
          <p:cNvPicPr>
            <a:picLocks noChangeAspect="1"/>
          </p:cNvPicPr>
          <p:nvPr/>
        </p:nvPicPr>
        <p:blipFill>
          <a:blip r:embed="rId2"/>
          <a:stretch>
            <a:fillRect/>
          </a:stretch>
        </p:blipFill>
        <p:spPr>
          <a:xfrm>
            <a:off x="838200" y="2523362"/>
            <a:ext cx="4693952" cy="2790998"/>
          </a:xfrm>
          <a:prstGeom prst="rect">
            <a:avLst/>
          </a:prstGeom>
        </p:spPr>
      </p:pic>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E6A2131B-4171-E11E-F33D-EBC8FDE2133C}"/>
                  </a:ext>
                </a:extLst>
              </p:cNvPr>
              <p:cNvSpPr>
                <a:spLocks noGrp="1"/>
              </p:cNvSpPr>
              <p:nvPr>
                <p:ph idx="1"/>
              </p:nvPr>
            </p:nvSpPr>
            <p:spPr>
              <a:xfrm>
                <a:off x="5951095" y="1765143"/>
                <a:ext cx="5771213" cy="4727732"/>
              </a:xfrm>
            </p:spPr>
            <p:txBody>
              <a:bodyPr>
                <a:normAutofit fontScale="85000" lnSpcReduction="10000"/>
              </a:bodyPr>
              <a:lstStyle/>
              <a:p>
                <a:pPr marL="0" indent="0">
                  <a:buNone/>
                </a:pPr>
                <a:r>
                  <a:rPr lang="en-US" sz="2400" dirty="0"/>
                  <a:t>Suppose we have the following model predicting mortality risk:</a:t>
                </a:r>
              </a:p>
              <a:p>
                <a:pPr marL="0" indent="0">
                  <a:buNone/>
                </a:pPr>
                <a:endParaRPr lang="en-US" sz="2400" i="1" dirty="0">
                  <a:latin typeface="Cambria Math" panose="02040503050406030204" pitchFamily="18" charset="0"/>
                </a:endParaRPr>
              </a:p>
              <a:p>
                <a:pPr marL="0" indent="0" algn="ctr">
                  <a:buNone/>
                </a:pPr>
                <a14:m>
                  <m:oMath xmlns:m="http://schemas.openxmlformats.org/officeDocument/2006/math">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m:rPr>
                            <m:sty m:val="p"/>
                          </m:rPr>
                          <a:rPr lang="en-US" sz="2400" b="0" i="0" dirty="0" smtClean="0">
                            <a:latin typeface="Cambria Math" panose="02040503050406030204" pitchFamily="18" charset="0"/>
                          </a:rPr>
                          <m:t>SBP</m:t>
                        </m:r>
                        <m:r>
                          <a:rPr lang="en-US" sz="2400" b="0" i="1" dirty="0" smtClean="0">
                            <a:latin typeface="Cambria Math" panose="02040503050406030204" pitchFamily="18" charset="0"/>
                          </a:rPr>
                          <m:t>,</m:t>
                        </m:r>
                        <m:r>
                          <m:rPr>
                            <m:sty m:val="p"/>
                          </m:rPr>
                          <a:rPr lang="en-US" sz="2400" b="0" i="0" dirty="0" smtClean="0">
                            <a:latin typeface="Cambria Math" panose="02040503050406030204" pitchFamily="18" charset="0"/>
                          </a:rPr>
                          <m:t>AGE</m:t>
                        </m:r>
                      </m:e>
                    </m:d>
                    <m:r>
                      <a:rPr lang="en-US" sz="2400" i="1" dirty="0" smtClean="0">
                        <a:latin typeface="Cambria Math" panose="02040503050406030204" pitchFamily="18" charset="0"/>
                      </a:rPr>
                      <m:t>=</m:t>
                    </m:r>
                    <m:f>
                      <m:fPr>
                        <m:ctrlPr>
                          <a:rPr lang="en-US" sz="2400" b="0" i="1" dirty="0" smtClean="0">
                            <a:latin typeface="Cambria Math" panose="02040503050406030204" pitchFamily="18" charset="0"/>
                          </a:rPr>
                        </m:ctrlPr>
                      </m:fPr>
                      <m:num>
                        <m:r>
                          <m:rPr>
                            <m:sty m:val="p"/>
                          </m:rPr>
                          <a:rPr lang="en-US" sz="2400" b="0" i="0" dirty="0" smtClean="0">
                            <a:latin typeface="Cambria Math" panose="02040503050406030204" pitchFamily="18" charset="0"/>
                          </a:rPr>
                          <m:t>AGE</m:t>
                        </m:r>
                        <m:r>
                          <a:rPr lang="en-US" sz="2400" b="0" i="1" dirty="0" smtClean="0">
                            <a:latin typeface="Cambria Math" panose="02040503050406030204" pitchFamily="18" charset="0"/>
                          </a:rPr>
                          <m:t>−20</m:t>
                        </m:r>
                      </m:num>
                      <m:den>
                        <m:r>
                          <a:rPr lang="en-US" sz="2400" b="0" i="1" dirty="0" smtClean="0">
                            <a:latin typeface="Cambria Math" panose="02040503050406030204" pitchFamily="18" charset="0"/>
                          </a:rPr>
                          <m:t>400</m:t>
                        </m:r>
                      </m:den>
                    </m:f>
                    <m:r>
                      <a:rPr lang="en-US" sz="2400" b="0" i="1" dirty="0" smtClean="0">
                        <a:latin typeface="Cambria Math" panose="02040503050406030204" pitchFamily="18" charset="0"/>
                      </a:rPr>
                      <m:t>+</m:t>
                    </m:r>
                    <m:r>
                      <a:rPr lang="en-US" sz="2400" b="0" i="1" dirty="0" smtClean="0">
                        <a:latin typeface="Cambria Math" panose="02040503050406030204" pitchFamily="18" charset="0"/>
                      </a:rPr>
                      <m:t>𝜎</m:t>
                    </m:r>
                    <m:d>
                      <m:dPr>
                        <m:ctrlPr>
                          <a:rPr lang="en-US" sz="2400" b="0" i="1" dirty="0" smtClean="0">
                            <a:latin typeface="Cambria Math" panose="02040503050406030204" pitchFamily="18" charset="0"/>
                          </a:rPr>
                        </m:ctrlPr>
                      </m:dPr>
                      <m:e>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85−</m:t>
                            </m:r>
                            <m:r>
                              <m:rPr>
                                <m:sty m:val="p"/>
                              </m:rPr>
                              <a:rPr lang="en-US" sz="2400" b="0" i="0" dirty="0" smtClean="0">
                                <a:latin typeface="Cambria Math" panose="02040503050406030204" pitchFamily="18" charset="0"/>
                              </a:rPr>
                              <m:t>SBP</m:t>
                            </m:r>
                          </m:num>
                          <m:den>
                            <m:r>
                              <a:rPr lang="en-US" sz="2400" b="0" i="1" dirty="0" smtClean="0">
                                <a:latin typeface="Cambria Math" panose="02040503050406030204" pitchFamily="18" charset="0"/>
                              </a:rPr>
                              <m:t>7.5</m:t>
                            </m:r>
                          </m:den>
                        </m:f>
                      </m:e>
                    </m:d>
                    <m:r>
                      <a:rPr lang="en-US" sz="2400" b="0" i="1" dirty="0" smtClean="0">
                        <a:latin typeface="Cambria Math" panose="02040503050406030204" pitchFamily="18" charset="0"/>
                      </a:rPr>
                      <m:t>+</m:t>
                    </m:r>
                  </m:oMath>
                </a14:m>
                <a:r>
                  <a:rPr lang="en-US" sz="2400" dirty="0"/>
                  <a:t> </a:t>
                </a:r>
                <a14:m>
                  <m:oMath xmlns:m="http://schemas.openxmlformats.org/officeDocument/2006/math">
                    <m:r>
                      <a:rPr lang="en-US" sz="2400" i="1" dirty="0">
                        <a:latin typeface="Cambria Math" panose="02040503050406030204" pitchFamily="18" charset="0"/>
                      </a:rPr>
                      <m:t>𝜎</m:t>
                    </m:r>
                    <m:d>
                      <m:dPr>
                        <m:ctrlPr>
                          <a:rPr lang="en-US" sz="2400" i="1" dirty="0">
                            <a:latin typeface="Cambria Math" panose="02040503050406030204" pitchFamily="18" charset="0"/>
                          </a:rPr>
                        </m:ctrlPr>
                      </m:dPr>
                      <m:e>
                        <m:f>
                          <m:fPr>
                            <m:ctrlPr>
                              <a:rPr lang="en-US" sz="2400" i="1" dirty="0">
                                <a:latin typeface="Cambria Math" panose="02040503050406030204" pitchFamily="18" charset="0"/>
                              </a:rPr>
                            </m:ctrlPr>
                          </m:fPr>
                          <m:num>
                            <m:r>
                              <m:rPr>
                                <m:sty m:val="p"/>
                              </m:rPr>
                              <a:rPr lang="en-US" sz="2400" dirty="0">
                                <a:latin typeface="Cambria Math" panose="02040503050406030204" pitchFamily="18" charset="0"/>
                              </a:rPr>
                              <m:t>SBP</m:t>
                            </m:r>
                            <m:r>
                              <a:rPr lang="en-US" sz="2400" i="1" dirty="0">
                                <a:latin typeface="Cambria Math" panose="02040503050406030204" pitchFamily="18" charset="0"/>
                              </a:rPr>
                              <m:t>−160</m:t>
                            </m:r>
                          </m:num>
                          <m:den>
                            <m:r>
                              <a:rPr lang="en-US" sz="2400" i="1" dirty="0">
                                <a:latin typeface="Cambria Math" panose="02040503050406030204" pitchFamily="18" charset="0"/>
                              </a:rPr>
                              <m:t>7.5</m:t>
                            </m:r>
                          </m:den>
                        </m:f>
                      </m:e>
                    </m:d>
                  </m:oMath>
                </a14:m>
                <a:endParaRPr lang="en-US" sz="2400" dirty="0"/>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𝑆</m:t>
                          </m:r>
                        </m:e>
                        <m:sub>
                          <m:r>
                            <m:rPr>
                              <m:sty m:val="p"/>
                            </m:rPr>
                            <a:rPr lang="en-US" sz="2400" b="0" i="0" dirty="0" smtClean="0">
                              <a:latin typeface="Cambria Math" panose="02040503050406030204" pitchFamily="18" charset="0"/>
                            </a:rPr>
                            <m:t>SBP</m:t>
                          </m:r>
                        </m:sub>
                      </m:sSub>
                      <m:d>
                        <m:dPr>
                          <m:ctrlPr>
                            <a:rPr lang="en-US" sz="2400" i="1" dirty="0" smtClean="0">
                              <a:latin typeface="Cambria Math" panose="02040503050406030204" pitchFamily="18" charset="0"/>
                            </a:rPr>
                          </m:ctrlPr>
                        </m:dPr>
                        <m:e>
                          <m:r>
                            <m:rPr>
                              <m:sty m:val="p"/>
                            </m:rPr>
                            <a:rPr lang="en-US" sz="2400" b="0" i="0" dirty="0" smtClean="0">
                              <a:latin typeface="Cambria Math" panose="02040503050406030204" pitchFamily="18" charset="0"/>
                            </a:rPr>
                            <m:t>SBP</m:t>
                          </m:r>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AGE</m:t>
                          </m:r>
                        </m:e>
                      </m:d>
                      <m:r>
                        <a:rPr lang="en-US" sz="2400" b="0" i="1" dirty="0" smtClean="0">
                          <a:latin typeface="Cambria Math" panose="02040503050406030204" pitchFamily="18" charset="0"/>
                        </a:rPr>
                        <m:t>=</m:t>
                      </m:r>
                      <m:d>
                        <m:dPr>
                          <m:begChr m:val="|"/>
                          <m:endChr m:val="|"/>
                          <m:ctrlPr>
                            <a:rPr lang="en-US" sz="2400" i="1" dirty="0" smtClean="0">
                              <a:latin typeface="Cambria Math" panose="02040503050406030204" pitchFamily="18" charset="0"/>
                            </a:rPr>
                          </m:ctrlPr>
                        </m:dPr>
                        <m:e>
                          <m:f>
                            <m:fPr>
                              <m:ctrlPr>
                                <a:rPr lang="en-US" sz="2400" i="1" dirty="0">
                                  <a:latin typeface="Cambria Math" panose="02040503050406030204" pitchFamily="18" charset="0"/>
                                </a:rPr>
                              </m:ctrlPr>
                            </m:fPr>
                            <m:num>
                              <m:r>
                                <a:rPr lang="en-US" sz="2400" i="1" dirty="0">
                                  <a:latin typeface="Cambria Math" panose="02040503050406030204" pitchFamily="18" charset="0"/>
                                </a:rPr>
                                <m:t>𝜕</m:t>
                              </m:r>
                              <m:r>
                                <a:rPr lang="en-US" sz="2400" i="1" dirty="0">
                                  <a:latin typeface="Cambria Math" panose="02040503050406030204" pitchFamily="18" charset="0"/>
                                </a:rPr>
                                <m:t>𝑓</m:t>
                              </m:r>
                              <m:d>
                                <m:dPr>
                                  <m:ctrlPr>
                                    <a:rPr lang="en-US" sz="2400" i="1" dirty="0">
                                      <a:latin typeface="Cambria Math" panose="02040503050406030204" pitchFamily="18" charset="0"/>
                                    </a:rPr>
                                  </m:ctrlPr>
                                </m:dPr>
                                <m:e>
                                  <m:r>
                                    <m:rPr>
                                      <m:sty m:val="p"/>
                                    </m:rPr>
                                    <a:rPr lang="en-US" sz="2400" b="0" i="0" dirty="0" smtClean="0">
                                      <a:latin typeface="Cambria Math" panose="02040503050406030204" pitchFamily="18" charset="0"/>
                                    </a:rPr>
                                    <m:t>SBP</m:t>
                                  </m:r>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AGE</m:t>
                                  </m:r>
                                </m:e>
                              </m:d>
                            </m:num>
                            <m:den>
                              <m:r>
                                <a:rPr lang="en-US" sz="2400" i="1" dirty="0">
                                  <a:latin typeface="Cambria Math" panose="02040503050406030204" pitchFamily="18" charset="0"/>
                                </a:rPr>
                                <m:t>𝜕</m:t>
                              </m:r>
                              <m:r>
                                <m:rPr>
                                  <m:sty m:val="p"/>
                                </m:rPr>
                                <a:rPr lang="en-US" sz="2400" b="0" i="0" dirty="0" smtClean="0">
                                  <a:latin typeface="Cambria Math" panose="02040503050406030204" pitchFamily="18" charset="0"/>
                                </a:rPr>
                                <m:t>SBP</m:t>
                              </m:r>
                            </m:den>
                          </m:f>
                        </m:e>
                      </m:d>
                    </m:oMath>
                  </m:oMathPara>
                </a14:m>
                <a:endParaRPr lang="en-US" sz="2400" dirty="0"/>
              </a:p>
              <a:p>
                <a:pPr marL="0" indent="0">
                  <a:buNone/>
                </a:pPr>
                <a:endParaRPr lang="en-US" sz="2400" dirty="0"/>
              </a:p>
              <a:p>
                <a:pPr marL="0" indent="0">
                  <a:buNone/>
                </a:pPr>
                <a:r>
                  <a:rPr lang="en-US" sz="2400" dirty="0"/>
                  <a:t>Consider the saliency map for a 60 </a:t>
                </a:r>
                <a:r>
                  <a:rPr lang="en-US" sz="2400" dirty="0" err="1"/>
                  <a:t>y.o</a:t>
                </a:r>
                <a:r>
                  <a:rPr lang="en-US" sz="2400" dirty="0"/>
                  <a:t>. with SBP=200.</a:t>
                </a:r>
              </a:p>
              <a:p>
                <a:r>
                  <a:rPr lang="en-US" sz="2400" dirty="0"/>
                  <a:t>What is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𝑠</m:t>
                        </m:r>
                      </m:e>
                      <m:sub>
                        <m:r>
                          <m:rPr>
                            <m:sty m:val="p"/>
                          </m:rPr>
                          <a:rPr lang="en-US" sz="2400" i="0" dirty="0" smtClean="0">
                            <a:latin typeface="Cambria Math" panose="02040503050406030204" pitchFamily="18" charset="0"/>
                          </a:rPr>
                          <m:t>SBP</m:t>
                        </m:r>
                      </m:sub>
                    </m:sSub>
                  </m:oMath>
                </a14:m>
                <a:r>
                  <a:rPr lang="en-US" sz="2400" dirty="0"/>
                  <a:t>?</a:t>
                </a:r>
              </a:p>
              <a:p>
                <a:r>
                  <a:rPr lang="en-US" sz="2400" dirty="0"/>
                  <a:t>What is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𝑠</m:t>
                        </m:r>
                      </m:e>
                      <m:sub>
                        <m:r>
                          <m:rPr>
                            <m:sty m:val="p"/>
                          </m:rPr>
                          <a:rPr lang="en-US" sz="2400" i="0" dirty="0" smtClean="0">
                            <a:latin typeface="Cambria Math" panose="02040503050406030204" pitchFamily="18" charset="0"/>
                          </a:rPr>
                          <m:t>AGE</m:t>
                        </m:r>
                      </m:sub>
                    </m:sSub>
                  </m:oMath>
                </a14:m>
                <a:r>
                  <a:rPr lang="en-US" sz="2400" dirty="0"/>
                  <a:t>?</a:t>
                </a:r>
              </a:p>
              <a:p>
                <a:pPr marL="0" indent="0">
                  <a:buNone/>
                </a:pPr>
                <a:endParaRPr lang="en-US" sz="2400" dirty="0"/>
              </a:p>
              <a:p>
                <a:pPr marL="0" indent="0">
                  <a:buNone/>
                </a:pPr>
                <a:r>
                  <a:rPr lang="en-US" sz="2400" dirty="0"/>
                  <a:t>Is this an accurate assessment of importance?</a:t>
                </a:r>
              </a:p>
            </p:txBody>
          </p:sp>
        </mc:Choice>
        <mc:Fallback>
          <p:sp>
            <p:nvSpPr>
              <p:cNvPr id="7" name="Content Placeholder 2">
                <a:extLst>
                  <a:ext uri="{FF2B5EF4-FFF2-40B4-BE49-F238E27FC236}">
                    <a16:creationId xmlns:a16="http://schemas.microsoft.com/office/drawing/2014/main" id="{E6A2131B-4171-E11E-F33D-EBC8FDE2133C}"/>
                  </a:ext>
                </a:extLst>
              </p:cNvPr>
              <p:cNvSpPr>
                <a:spLocks noGrp="1" noRot="1" noChangeAspect="1" noMove="1" noResize="1" noEditPoints="1" noAdjustHandles="1" noChangeArrowheads="1" noChangeShapeType="1" noTextEdit="1"/>
              </p:cNvSpPr>
              <p:nvPr>
                <p:ph idx="1"/>
              </p:nvPr>
            </p:nvSpPr>
            <p:spPr>
              <a:xfrm>
                <a:off x="5951095" y="1765143"/>
                <a:ext cx="5771213" cy="4727732"/>
              </a:xfrm>
              <a:blipFill>
                <a:blip r:embed="rId3"/>
                <a:stretch>
                  <a:fillRect l="-1096" t="-2145" b="-536"/>
                </a:stretch>
              </a:blipFill>
            </p:spPr>
            <p:txBody>
              <a:bodyPr/>
              <a:lstStyle/>
              <a:p>
                <a:r>
                  <a:rPr lang="en-US">
                    <a:noFill/>
                  </a:rPr>
                  <a:t> </a:t>
                </a:r>
              </a:p>
            </p:txBody>
          </p:sp>
        </mc:Fallback>
      </mc:AlternateContent>
    </p:spTree>
    <p:extLst>
      <p:ext uri="{BB962C8B-B14F-4D97-AF65-F5344CB8AC3E}">
        <p14:creationId xmlns:p14="http://schemas.microsoft.com/office/powerpoint/2010/main" val="818709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5B072-8394-E7A5-77AE-5245F47378C8}"/>
              </a:ext>
            </a:extLst>
          </p:cNvPr>
          <p:cNvSpPr>
            <a:spLocks noGrp="1"/>
          </p:cNvSpPr>
          <p:nvPr>
            <p:ph type="title"/>
          </p:nvPr>
        </p:nvSpPr>
        <p:spPr/>
        <p:txBody>
          <a:bodyPr/>
          <a:lstStyle/>
          <a:p>
            <a:r>
              <a:rPr lang="en-US" dirty="0"/>
              <a:t>Grad-CAM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F039C6E-E84B-C211-A60D-755961B5482F}"/>
                  </a:ext>
                </a:extLst>
              </p:cNvPr>
              <p:cNvSpPr>
                <a:spLocks noGrp="1"/>
              </p:cNvSpPr>
              <p:nvPr>
                <p:ph idx="1"/>
              </p:nvPr>
            </p:nvSpPr>
            <p:spPr/>
            <p:txBody>
              <a:bodyPr>
                <a:normAutofit fontScale="77500" lnSpcReduction="20000"/>
              </a:bodyPr>
              <a:lstStyle/>
              <a:p>
                <a:pPr marL="0" indent="0">
                  <a:buNone/>
                </a:pPr>
                <a:r>
                  <a:rPr lang="en-US" dirty="0"/>
                  <a:t>Similar to saliency maps, but instead of the raw input we use the last convolutional feature maps, which gives a smoother localization map.</a:t>
                </a:r>
              </a:p>
              <a:p>
                <a:endParaRPr lang="en-US" dirty="0"/>
              </a:p>
              <a:p>
                <a:pPr marL="0" indent="0">
                  <a:buNone/>
                </a:pPr>
                <a:r>
                  <a:rPr lang="en-US" b="1" dirty="0"/>
                  <a:t>1. Compute importance weights</a:t>
                </a:r>
                <a:endParaRPr lang="en-US" i="0" dirty="0">
                  <a:latin typeface="Cambria Math" panose="02040503050406030204" pitchFamily="18" charset="0"/>
                </a:endParaRPr>
              </a:p>
              <a:p>
                <a:pPr marL="0" indent="0" algn="ctr">
                  <a:buNone/>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m:t>
                    </m:r>
                    <m:r>
                      <m:rPr>
                        <m:sty m:val="p"/>
                      </m:rPr>
                      <a:rPr lang="en-US" i="0" dirty="0" smtClean="0">
                        <a:latin typeface="Cambria Math" panose="02040503050406030204" pitchFamily="18" charset="0"/>
                      </a:rPr>
                      <m:t>mea</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n</m:t>
                        </m:r>
                      </m:e>
                      <m:sub>
                        <m:r>
                          <a:rPr lang="en-US"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Sub>
                    <m:d>
                      <m:dPr>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e>
                            </m:d>
                          </m:num>
                          <m:den>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𝐴</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up>
                                <m:r>
                                  <a:rPr lang="en-US" b="0" i="1" dirty="0" smtClean="0">
                                    <a:latin typeface="Cambria Math" panose="02040503050406030204" pitchFamily="18" charset="0"/>
                                  </a:rPr>
                                  <m:t>𝑘</m:t>
                                </m:r>
                              </m:sup>
                            </m:sSubSup>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den>
                        </m:f>
                      </m:e>
                    </m:d>
                  </m:oMath>
                </a14:m>
                <a:r>
                  <a:rPr lang="en-US" dirty="0"/>
                  <a:t> </a:t>
                </a:r>
              </a:p>
              <a:p>
                <a:pPr marL="0" indent="0">
                  <a:buNone/>
                </a:pPr>
                <a:r>
                  <a:rPr lang="en-US" dirty="0"/>
                  <a:t>	where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US" dirty="0"/>
                  <a:t> is the </a:t>
                </a:r>
                <a14:m>
                  <m:oMath xmlns:m="http://schemas.openxmlformats.org/officeDocument/2006/math">
                    <m:r>
                      <a:rPr lang="en-US" i="1" dirty="0" smtClean="0">
                        <a:latin typeface="Cambria Math" panose="02040503050406030204" pitchFamily="18" charset="0"/>
                      </a:rPr>
                      <m:t>𝑘</m:t>
                    </m:r>
                  </m:oMath>
                </a14:m>
                <a:r>
                  <a:rPr lang="en-US" dirty="0"/>
                  <a:t>th feature map and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m:t>
                    </m:r>
                    <m:r>
                      <a:rPr lang="en-US" i="1" dirty="0" smtClean="0">
                        <a:latin typeface="Cambria Math" panose="02040503050406030204" pitchFamily="18" charset="0"/>
                      </a:rPr>
                      <m:t>𝑗</m:t>
                    </m:r>
                  </m:oMath>
                </a14:m>
                <a:r>
                  <a:rPr lang="en-US" dirty="0"/>
                  <a:t> are spatial coordinates</a:t>
                </a:r>
              </a:p>
              <a:p>
                <a:pPr marL="0" indent="0">
                  <a:buNone/>
                </a:pPr>
                <a:endParaRPr lang="en-US" dirty="0"/>
              </a:p>
              <a:p>
                <a:pPr marL="0" indent="0">
                  <a:buNone/>
                </a:pPr>
                <a:r>
                  <a:rPr lang="en-US" b="1" dirty="0"/>
                  <a:t>2. Grad-CAM is then a weighted combination of the feature maps</a:t>
                </a:r>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𝐺𝐶</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𝑘</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𝑘</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nary>
                        </m:e>
                      </m:d>
                    </m:oMath>
                  </m:oMathPara>
                </a14:m>
                <a:endParaRPr lang="en-US" dirty="0"/>
              </a:p>
              <a:p>
                <a:pPr marL="514350" indent="-514350">
                  <a:buAutoNum type="arabicPeriod"/>
                </a:pPr>
                <a:endParaRPr lang="en-US" dirty="0"/>
              </a:p>
              <a:p>
                <a:pPr marL="514350" indent="-514350">
                  <a:buAutoNum type="arabicPeriod"/>
                </a:pPr>
                <a:endParaRPr lang="en-US" dirty="0"/>
              </a:p>
            </p:txBody>
          </p:sp>
        </mc:Choice>
        <mc:Fallback>
          <p:sp>
            <p:nvSpPr>
              <p:cNvPr id="3" name="Content Placeholder 2">
                <a:extLst>
                  <a:ext uri="{FF2B5EF4-FFF2-40B4-BE49-F238E27FC236}">
                    <a16:creationId xmlns:a16="http://schemas.microsoft.com/office/drawing/2014/main" id="{CF039C6E-E84B-C211-A60D-755961B5482F}"/>
                  </a:ext>
                </a:extLst>
              </p:cNvPr>
              <p:cNvSpPr>
                <a:spLocks noGrp="1" noRot="1" noChangeAspect="1" noMove="1" noResize="1" noEditPoints="1" noAdjustHandles="1" noChangeArrowheads="1" noChangeShapeType="1" noTextEdit="1"/>
              </p:cNvSpPr>
              <p:nvPr>
                <p:ph idx="1"/>
              </p:nvPr>
            </p:nvSpPr>
            <p:spPr>
              <a:blipFill>
                <a:blip r:embed="rId2"/>
                <a:stretch>
                  <a:fillRect l="-724" t="-2907" r="-483" b="-32849"/>
                </a:stretch>
              </a:blipFill>
            </p:spPr>
            <p:txBody>
              <a:bodyPr/>
              <a:lstStyle/>
              <a:p>
                <a:r>
                  <a:rPr lang="en-US">
                    <a:noFill/>
                  </a:rPr>
                  <a:t> </a:t>
                </a:r>
              </a:p>
            </p:txBody>
          </p:sp>
        </mc:Fallback>
      </mc:AlternateContent>
    </p:spTree>
    <p:extLst>
      <p:ext uri="{BB962C8B-B14F-4D97-AF65-F5344CB8AC3E}">
        <p14:creationId xmlns:p14="http://schemas.microsoft.com/office/powerpoint/2010/main" val="3983606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849E1-C1ED-DDB3-C1F3-3038C4DA421A}"/>
              </a:ext>
            </a:extLst>
          </p:cNvPr>
          <p:cNvSpPr>
            <a:spLocks noGrp="1"/>
          </p:cNvSpPr>
          <p:nvPr>
            <p:ph type="title"/>
          </p:nvPr>
        </p:nvSpPr>
        <p:spPr/>
        <p:txBody>
          <a:bodyPr/>
          <a:lstStyle/>
          <a:p>
            <a:r>
              <a:rPr lang="en-US" dirty="0"/>
              <a:t>Grad-CAM versus saliency maps for emotion recognition</a:t>
            </a:r>
          </a:p>
        </p:txBody>
      </p:sp>
      <p:pic>
        <p:nvPicPr>
          <p:cNvPr id="1028" name="Picture 4">
            <a:extLst>
              <a:ext uri="{FF2B5EF4-FFF2-40B4-BE49-F238E27FC236}">
                <a16:creationId xmlns:a16="http://schemas.microsoft.com/office/drawing/2014/main" id="{A0A86EB9-1E70-CDB5-8C41-638843B37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4353" y="1485900"/>
            <a:ext cx="6249447" cy="50069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1028AB0-7F21-78F6-DB16-73C3232A33F6}"/>
              </a:ext>
            </a:extLst>
          </p:cNvPr>
          <p:cNvSpPr txBox="1"/>
          <p:nvPr/>
        </p:nvSpPr>
        <p:spPr>
          <a:xfrm>
            <a:off x="1308100" y="3429000"/>
            <a:ext cx="3263900" cy="1200329"/>
          </a:xfrm>
          <a:prstGeom prst="rect">
            <a:avLst/>
          </a:prstGeom>
          <a:noFill/>
        </p:spPr>
        <p:txBody>
          <a:bodyPr wrap="square">
            <a:spAutoFit/>
          </a:bodyPr>
          <a:lstStyle/>
          <a:p>
            <a:r>
              <a:rPr lang="en-US" dirty="0"/>
              <a:t>Grad-CAM and Saliency maps for diﬀerent CNN architectures (16, 32), (32,64, 128), (16, 32, 64, 128) layers for angry emotion</a:t>
            </a:r>
          </a:p>
        </p:txBody>
      </p:sp>
    </p:spTree>
    <p:extLst>
      <p:ext uri="{BB962C8B-B14F-4D97-AF65-F5344CB8AC3E}">
        <p14:creationId xmlns:p14="http://schemas.microsoft.com/office/powerpoint/2010/main" val="2101149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2EA20-A646-DA39-B7DC-06348A8369C6}"/>
              </a:ext>
            </a:extLst>
          </p:cNvPr>
          <p:cNvSpPr>
            <a:spLocks noGrp="1"/>
          </p:cNvSpPr>
          <p:nvPr>
            <p:ph type="title"/>
          </p:nvPr>
        </p:nvSpPr>
        <p:spPr/>
        <p:txBody>
          <a:bodyPr/>
          <a:lstStyle/>
          <a:p>
            <a:r>
              <a:rPr lang="en-US" dirty="0"/>
              <a:t>What’s wrong with Grad-CAM?</a:t>
            </a:r>
          </a:p>
        </p:txBody>
      </p:sp>
      <p:sp>
        <p:nvSpPr>
          <p:cNvPr id="3" name="Content Placeholder 2">
            <a:extLst>
              <a:ext uri="{FF2B5EF4-FFF2-40B4-BE49-F238E27FC236}">
                <a16:creationId xmlns:a16="http://schemas.microsoft.com/office/drawing/2014/main" id="{670381DF-7E35-2E41-2CF5-2265F1FE4DF4}"/>
              </a:ext>
            </a:extLst>
          </p:cNvPr>
          <p:cNvSpPr>
            <a:spLocks noGrp="1"/>
          </p:cNvSpPr>
          <p:nvPr>
            <p:ph idx="1"/>
          </p:nvPr>
        </p:nvSpPr>
        <p:spPr>
          <a:xfrm>
            <a:off x="838200" y="1825625"/>
            <a:ext cx="4597400" cy="4351338"/>
          </a:xfrm>
        </p:spPr>
        <p:txBody>
          <a:bodyPr/>
          <a:lstStyle/>
          <a:p>
            <a:r>
              <a:rPr lang="en-US" dirty="0"/>
              <a:t>The limitation is the same as saliency maps</a:t>
            </a:r>
          </a:p>
          <a:p>
            <a:endParaRPr lang="en-US" dirty="0"/>
          </a:p>
          <a:p>
            <a:r>
              <a:rPr lang="en-US" dirty="0"/>
              <a:t>In short, this still focuses on the gradient evaluated at the current input which doesn’t always accurately assess the overall importance of a given feature or region</a:t>
            </a:r>
          </a:p>
        </p:txBody>
      </p:sp>
      <p:pic>
        <p:nvPicPr>
          <p:cNvPr id="4" name="Picture 3">
            <a:extLst>
              <a:ext uri="{FF2B5EF4-FFF2-40B4-BE49-F238E27FC236}">
                <a16:creationId xmlns:a16="http://schemas.microsoft.com/office/drawing/2014/main" id="{F5AA52E2-CD32-60A5-181D-E9B52C86DAE0}"/>
              </a:ext>
            </a:extLst>
          </p:cNvPr>
          <p:cNvPicPr>
            <a:picLocks noChangeAspect="1"/>
          </p:cNvPicPr>
          <p:nvPr/>
        </p:nvPicPr>
        <p:blipFill>
          <a:blip r:embed="rId2"/>
          <a:stretch>
            <a:fillRect/>
          </a:stretch>
        </p:blipFill>
        <p:spPr>
          <a:xfrm>
            <a:off x="6096000" y="2494756"/>
            <a:ext cx="5067445" cy="3013075"/>
          </a:xfrm>
          <a:prstGeom prst="rect">
            <a:avLst/>
          </a:prstGeom>
        </p:spPr>
      </p:pic>
    </p:spTree>
    <p:extLst>
      <p:ext uri="{BB962C8B-B14F-4D97-AF65-F5344CB8AC3E}">
        <p14:creationId xmlns:p14="http://schemas.microsoft.com/office/powerpoint/2010/main" val="2603091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950B-DCC0-1AD7-119B-9C9F9B852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1CF30-05C7-9996-1B19-15D33A0F61DD}"/>
              </a:ext>
            </a:extLst>
          </p:cNvPr>
          <p:cNvSpPr>
            <a:spLocks noGrp="1"/>
          </p:cNvSpPr>
          <p:nvPr>
            <p:ph type="title"/>
          </p:nvPr>
        </p:nvSpPr>
        <p:spPr/>
        <p:txBody>
          <a:bodyPr/>
          <a:lstStyle/>
          <a:p>
            <a:r>
              <a:rPr lang="en-US" dirty="0"/>
              <a:t>Better explanation methods</a:t>
            </a:r>
          </a:p>
        </p:txBody>
      </p:sp>
      <p:sp>
        <p:nvSpPr>
          <p:cNvPr id="3" name="Text Placeholder 2">
            <a:extLst>
              <a:ext uri="{FF2B5EF4-FFF2-40B4-BE49-F238E27FC236}">
                <a16:creationId xmlns:a16="http://schemas.microsoft.com/office/drawing/2014/main" id="{5A2870C3-4124-72F3-B207-1815AFC7F1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9245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2DCBD-3FC9-E8CB-A7EC-A62A094867ED}"/>
              </a:ext>
            </a:extLst>
          </p:cNvPr>
          <p:cNvSpPr>
            <a:spLocks noGrp="1"/>
          </p:cNvSpPr>
          <p:nvPr>
            <p:ph type="title"/>
          </p:nvPr>
        </p:nvSpPr>
        <p:spPr/>
        <p:txBody>
          <a:bodyPr/>
          <a:lstStyle/>
          <a:p>
            <a:r>
              <a:rPr lang="en-US" dirty="0"/>
              <a:t>Desirable properties of feature attributions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C347FC-0C38-91D4-B559-495B5DB7B9B4}"/>
                  </a:ext>
                </a:extLst>
              </p:cNvPr>
              <p:cNvSpPr>
                <a:spLocks noGrp="1"/>
              </p:cNvSpPr>
              <p:nvPr>
                <p:ph idx="1"/>
              </p:nvPr>
            </p:nvSpPr>
            <p:spPr>
              <a:xfrm>
                <a:off x="838200" y="1825625"/>
                <a:ext cx="10515600" cy="4041775"/>
              </a:xfrm>
            </p:spPr>
            <p:txBody>
              <a:bodyPr>
                <a:normAutofit fontScale="92500" lnSpcReduction="20000"/>
              </a:bodyPr>
              <a:lstStyle/>
              <a:p>
                <a:pPr marL="0" indent="0">
                  <a:buNone/>
                </a:pPr>
                <a:r>
                  <a:rPr lang="en-US" dirty="0"/>
                  <a:t>Consider feature attributions </a:t>
                </a:r>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 for model </a:t>
                </a:r>
                <a14:m>
                  <m:oMath xmlns:m="http://schemas.openxmlformats.org/officeDocument/2006/math">
                    <m:r>
                      <a:rPr lang="en-US" i="1" dirty="0" smtClean="0">
                        <a:latin typeface="Cambria Math" panose="02040503050406030204" pitchFamily="18" charset="0"/>
                      </a:rPr>
                      <m:t>𝑓</m:t>
                    </m:r>
                  </m:oMath>
                </a14:m>
                <a:r>
                  <a:rPr lang="en-US" dirty="0"/>
                  <a:t>, input </a:t>
                </a:r>
                <a14:m>
                  <m:oMath xmlns:m="http://schemas.openxmlformats.org/officeDocument/2006/math">
                    <m:r>
                      <a:rPr lang="en-US" i="1" dirty="0" smtClean="0">
                        <a:latin typeface="Cambria Math" panose="02040503050406030204" pitchFamily="18" charset="0"/>
                      </a:rPr>
                      <m:t>𝑥</m:t>
                    </m:r>
                  </m:oMath>
                </a14:m>
                <a:r>
                  <a:rPr lang="en-US" dirty="0"/>
                  <a:t>, and a reference input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a:t>
                </a:r>
              </a:p>
              <a:p>
                <a:endParaRPr lang="en-US" dirty="0"/>
              </a:p>
              <a:p>
                <a:r>
                  <a:rPr lang="en-US" u="sng" dirty="0"/>
                  <a:t>Sensitivity</a:t>
                </a:r>
                <a:r>
                  <a:rPr lang="en-US" dirty="0"/>
                  <a:t>: if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 differ in exactly one feature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𝑓</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r>
                      <a:rPr lang="en-US"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 then the attribution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i="1" dirty="0" err="1">
                            <a:latin typeface="Cambria Math" panose="02040503050406030204" pitchFamily="18" charset="0"/>
                          </a:rPr>
                          <m:t>𝑖</m:t>
                        </m:r>
                      </m:sub>
                    </m:sSub>
                    <m:r>
                      <a:rPr lang="en-US" i="1" dirty="0">
                        <a:latin typeface="Cambria Math" panose="02040503050406030204" pitchFamily="18" charset="0"/>
                      </a:rPr>
                      <m:t>(</m:t>
                    </m:r>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oMath>
                </a14:m>
                <a:r>
                  <a:rPr lang="en-US" dirty="0"/>
                  <a:t> should be nonzero.</a:t>
                </a:r>
              </a:p>
              <a:p>
                <a:endParaRPr lang="en-US" dirty="0"/>
              </a:p>
              <a:p>
                <a:r>
                  <a:rPr lang="en-US" u="sng" dirty="0"/>
                  <a:t>Implementation invariance</a:t>
                </a:r>
                <a:r>
                  <a:rPr lang="en-US" dirty="0"/>
                  <a:t>: if f=g pointwise, then </a:t>
                </a:r>
                <a14:m>
                  <m:oMath xmlns:m="http://schemas.openxmlformats.org/officeDocument/2006/math">
                    <m:r>
                      <a:rPr lang="en-US" b="0" i="1" dirty="0" smtClean="0">
                        <a:latin typeface="Cambria Math" panose="02040503050406030204" pitchFamily="18" charset="0"/>
                      </a:rPr>
                      <m:t>𝜙</m:t>
                    </m:r>
                    <m:d>
                      <m:dPr>
                        <m:ctrlPr>
                          <a:rPr lang="en-US" b="0" i="1" dirty="0">
                            <a:latin typeface="Cambria Math" panose="02040503050406030204" pitchFamily="18" charset="0"/>
                          </a:rPr>
                        </m:ctrlPr>
                      </m:dPr>
                      <m:e>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e>
                    </m:d>
                    <m:r>
                      <a:rPr lang="en-US" b="0" i="1" dirty="0" smtClean="0">
                        <a:latin typeface="Cambria Math" panose="02040503050406030204" pitchFamily="18" charset="0"/>
                      </a:rPr>
                      <m:t>=</m:t>
                    </m:r>
                    <m:r>
                      <a:rPr lang="en-US" i="1" dirty="0">
                        <a:latin typeface="Cambria Math" panose="02040503050406030204" pitchFamily="18" charset="0"/>
                      </a:rPr>
                      <m:t>𝜙</m:t>
                    </m:r>
                    <m:d>
                      <m:dPr>
                        <m:ctrlPr>
                          <a:rPr lang="en-US" i="1" dirty="0">
                            <a:latin typeface="Cambria Math" panose="02040503050406030204" pitchFamily="18" charset="0"/>
                          </a:rPr>
                        </m:ctrlPr>
                      </m:dPr>
                      <m:e>
                        <m:r>
                          <a:rPr lang="en-US" b="0" i="1" dirty="0" smtClean="0">
                            <a:latin typeface="Cambria Math" panose="02040503050406030204" pitchFamily="18" charset="0"/>
                          </a:rPr>
                          <m:t>𝑔</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e>
                    </m:d>
                  </m:oMath>
                </a14:m>
                <a:r>
                  <a:rPr lang="en-US" dirty="0"/>
                  <a:t> for all </a:t>
                </a:r>
                <a14:m>
                  <m:oMath xmlns:m="http://schemas.openxmlformats.org/officeDocument/2006/math">
                    <m:r>
                      <a:rPr lang="en-US" i="1" dirty="0" smtClean="0">
                        <a:latin typeface="Cambria Math" panose="02040503050406030204" pitchFamily="18" charset="0"/>
                      </a:rPr>
                      <m:t>𝑥</m:t>
                    </m:r>
                  </m:oMath>
                </a14:m>
                <a:r>
                  <a:rPr lang="en-US" dirty="0"/>
                  <a:t>.</a:t>
                </a:r>
              </a:p>
              <a:p>
                <a:endParaRPr lang="en-US" dirty="0"/>
              </a:p>
              <a:p>
                <a:r>
                  <a:rPr lang="en-US" u="sng" dirty="0"/>
                  <a:t>Completeness</a:t>
                </a:r>
                <a:r>
                  <a:rPr lang="en-US" dirty="0"/>
                  <a:t> (i.e. conservation): The sum of attributions across all features should satisfy </a:t>
                </a:r>
                <a14:m>
                  <m:oMath xmlns:m="http://schemas.openxmlformats.org/officeDocument/2006/math">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𝑖</m:t>
                            </m:r>
                          </m:sub>
                        </m:sSub>
                        <m:d>
                          <m:dPr>
                            <m:ctrlPr>
                              <a:rPr lang="en-US" b="0" i="1" dirty="0">
                                <a:latin typeface="Cambria Math" panose="02040503050406030204" pitchFamily="18" charset="0"/>
                              </a:rPr>
                            </m:ctrlPr>
                          </m:dPr>
                          <m:e>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e>
                        </m:d>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e>
                        </m:d>
                        <m:r>
                          <a:rPr lang="en-US" b="0" i="1" dirty="0" smtClean="0">
                            <a:latin typeface="Cambria Math" panose="02040503050406030204" pitchFamily="18" charset="0"/>
                          </a:rPr>
                          <m:t>−</m:t>
                        </m:r>
                        <m:r>
                          <a:rPr lang="en-US" b="0" i="1" dirty="0" smtClean="0">
                            <a:latin typeface="Cambria Math" panose="02040503050406030204" pitchFamily="18" charset="0"/>
                          </a:rPr>
                          <m:t>𝑓</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𝑥</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e>
                    </m:nary>
                  </m:oMath>
                </a14:m>
                <a:r>
                  <a:rPr lang="en-US" dirty="0"/>
                  <a:t>.</a:t>
                </a:r>
              </a:p>
            </p:txBody>
          </p:sp>
        </mc:Choice>
        <mc:Fallback>
          <p:sp>
            <p:nvSpPr>
              <p:cNvPr id="3" name="Content Placeholder 2">
                <a:extLst>
                  <a:ext uri="{FF2B5EF4-FFF2-40B4-BE49-F238E27FC236}">
                    <a16:creationId xmlns:a16="http://schemas.microsoft.com/office/drawing/2014/main" id="{60C347FC-0C38-91D4-B559-495B5DB7B9B4}"/>
                  </a:ext>
                </a:extLst>
              </p:cNvPr>
              <p:cNvSpPr>
                <a:spLocks noGrp="1" noRot="1" noChangeAspect="1" noMove="1" noResize="1" noEditPoints="1" noAdjustHandles="1" noChangeArrowheads="1" noChangeShapeType="1" noTextEdit="1"/>
              </p:cNvSpPr>
              <p:nvPr>
                <p:ph idx="1"/>
              </p:nvPr>
            </p:nvSpPr>
            <p:spPr>
              <a:xfrm>
                <a:off x="838200" y="1825625"/>
                <a:ext cx="10515600" cy="4041775"/>
              </a:xfrm>
              <a:blipFill>
                <a:blip r:embed="rId3"/>
                <a:stretch>
                  <a:fillRect l="-1086" t="-3750" b="-2156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47C7098-9568-CEC0-CE71-B200D58A3068}"/>
              </a:ext>
            </a:extLst>
          </p:cNvPr>
          <p:cNvSpPr txBox="1"/>
          <p:nvPr/>
        </p:nvSpPr>
        <p:spPr>
          <a:xfrm>
            <a:off x="3048000" y="6262042"/>
            <a:ext cx="6096000" cy="461665"/>
          </a:xfrm>
          <a:prstGeom prst="rect">
            <a:avLst/>
          </a:prstGeom>
          <a:noFill/>
        </p:spPr>
        <p:txBody>
          <a:bodyPr wrap="square">
            <a:spAutoFit/>
          </a:bodyPr>
          <a:lstStyle/>
          <a:p>
            <a:r>
              <a:rPr lang="en-US" sz="1200" b="0" i="0" u="none" strike="noStrike" dirty="0">
                <a:solidFill>
                  <a:srgbClr val="222222"/>
                </a:solidFill>
                <a:effectLst/>
                <a:latin typeface="Arial" panose="020B0604020202020204" pitchFamily="34" charset="0"/>
              </a:rPr>
              <a:t>Sundararajan M, Taly A, Yan Q. Axiomatic attribution for deep networks. In: International conference on machine learning 2017 Jul 17 (pp. 3319-3328). PMLR.</a:t>
            </a:r>
            <a:endParaRPr lang="en-US" sz="1200" dirty="0"/>
          </a:p>
        </p:txBody>
      </p:sp>
    </p:spTree>
    <p:extLst>
      <p:ext uri="{BB962C8B-B14F-4D97-AF65-F5344CB8AC3E}">
        <p14:creationId xmlns:p14="http://schemas.microsoft.com/office/powerpoint/2010/main" val="3976353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15427-1744-CC96-9550-410E8B515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17358-16D0-26CA-EDE1-699C87331A11}"/>
              </a:ext>
            </a:extLst>
          </p:cNvPr>
          <p:cNvSpPr>
            <a:spLocks noGrp="1"/>
          </p:cNvSpPr>
          <p:nvPr>
            <p:ph type="title"/>
          </p:nvPr>
        </p:nvSpPr>
        <p:spPr/>
        <p:txBody>
          <a:bodyPr/>
          <a:lstStyle/>
          <a:p>
            <a:r>
              <a:rPr lang="en-US" dirty="0"/>
              <a:t>Desirable properties of feature attributions</a:t>
            </a:r>
          </a:p>
        </p:txBody>
      </p:sp>
      <p:pic>
        <p:nvPicPr>
          <p:cNvPr id="7" name="Picture 2" descr="Welcome to the SHAP documentation — SHAP latest documentation">
            <a:extLst>
              <a:ext uri="{FF2B5EF4-FFF2-40B4-BE49-F238E27FC236}">
                <a16:creationId xmlns:a16="http://schemas.microsoft.com/office/drawing/2014/main" id="{C4097ABB-14A3-8AEF-51DD-117F54AC29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719"/>
          <a:stretch>
            <a:fillRect/>
          </a:stretch>
        </p:blipFill>
        <p:spPr bwMode="auto">
          <a:xfrm>
            <a:off x="1109530" y="1967706"/>
            <a:ext cx="9972940" cy="29670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E91B529-090D-1AF9-738A-23F3C6F0B083}"/>
                  </a:ext>
                </a:extLst>
              </p:cNvPr>
              <p:cNvSpPr txBox="1"/>
              <p:nvPr/>
            </p:nvSpPr>
            <p:spPr>
              <a:xfrm>
                <a:off x="2046558" y="5416034"/>
                <a:ext cx="8098884" cy="369332"/>
              </a:xfrm>
              <a:prstGeom prst="rect">
                <a:avLst/>
              </a:prstGeom>
              <a:noFill/>
            </p:spPr>
            <p:txBody>
              <a:bodyPr wrap="none" rtlCol="0">
                <a:spAutoFit/>
              </a:bodyPr>
              <a:lstStyle/>
              <a:p>
                <a:pPr algn="ctr"/>
                <a:r>
                  <a:rPr lang="en-US" dirty="0"/>
                  <a:t>Goal: decompose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oMath>
                </a14:m>
                <a:r>
                  <a:rPr lang="en-US" dirty="0"/>
                  <a:t>into the additive contributions of individual features.</a:t>
                </a:r>
              </a:p>
            </p:txBody>
          </p:sp>
        </mc:Choice>
        <mc:Fallback>
          <p:sp>
            <p:nvSpPr>
              <p:cNvPr id="8" name="TextBox 7">
                <a:extLst>
                  <a:ext uri="{FF2B5EF4-FFF2-40B4-BE49-F238E27FC236}">
                    <a16:creationId xmlns:a16="http://schemas.microsoft.com/office/drawing/2014/main" id="{DE91B529-090D-1AF9-738A-23F3C6F0B083}"/>
                  </a:ext>
                </a:extLst>
              </p:cNvPr>
              <p:cNvSpPr txBox="1">
                <a:spLocks noRot="1" noChangeAspect="1" noMove="1" noResize="1" noEditPoints="1" noAdjustHandles="1" noChangeArrowheads="1" noChangeShapeType="1" noTextEdit="1"/>
              </p:cNvSpPr>
              <p:nvPr/>
            </p:nvSpPr>
            <p:spPr>
              <a:xfrm>
                <a:off x="2046558" y="5416034"/>
                <a:ext cx="8098884" cy="369332"/>
              </a:xfrm>
              <a:prstGeom prst="rect">
                <a:avLst/>
              </a:prstGeom>
              <a:blipFill>
                <a:blip r:embed="rId4"/>
                <a:stretch>
                  <a:fillRect l="-157" t="-6667" r="-157" b="-2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76EAC4B-1F95-220B-57BC-5C88F89A5AB2}"/>
              </a:ext>
            </a:extLst>
          </p:cNvPr>
          <p:cNvSpPr txBox="1"/>
          <p:nvPr/>
        </p:nvSpPr>
        <p:spPr>
          <a:xfrm>
            <a:off x="3048000" y="6266656"/>
            <a:ext cx="6096000" cy="369332"/>
          </a:xfrm>
          <a:prstGeom prst="rect">
            <a:avLst/>
          </a:prstGeom>
          <a:noFill/>
        </p:spPr>
        <p:txBody>
          <a:bodyPr wrap="square">
            <a:spAutoFit/>
          </a:bodyPr>
          <a:lstStyle/>
          <a:p>
            <a:pPr algn="ctr"/>
            <a:r>
              <a:rPr lang="en-US" dirty="0"/>
              <a:t>https://</a:t>
            </a:r>
            <a:r>
              <a:rPr lang="en-US" dirty="0" err="1"/>
              <a:t>shap.readthedocs.io</a:t>
            </a:r>
            <a:endParaRPr lang="en-US" dirty="0"/>
          </a:p>
        </p:txBody>
      </p:sp>
    </p:spTree>
    <p:extLst>
      <p:ext uri="{BB962C8B-B14F-4D97-AF65-F5344CB8AC3E}">
        <p14:creationId xmlns:p14="http://schemas.microsoft.com/office/powerpoint/2010/main" val="2520463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74E34-F21C-C814-D84A-C92AAB7CD10C}"/>
              </a:ext>
            </a:extLst>
          </p:cNvPr>
          <p:cNvSpPr>
            <a:spLocks noGrp="1"/>
          </p:cNvSpPr>
          <p:nvPr>
            <p:ph type="title"/>
          </p:nvPr>
        </p:nvSpPr>
        <p:spPr/>
        <p:txBody>
          <a:bodyPr/>
          <a:lstStyle/>
          <a:p>
            <a:r>
              <a:rPr lang="en-US" dirty="0"/>
              <a:t>A simple proposal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4B31AB-6439-E456-0AC4-D7B2E9229908}"/>
                  </a:ext>
                </a:extLst>
              </p:cNvPr>
              <p:cNvSpPr>
                <a:spLocks noGrp="1"/>
              </p:cNvSpPr>
              <p:nvPr>
                <p:ph idx="1"/>
              </p:nvPr>
            </p:nvSpPr>
            <p:spPr/>
            <p:txBody>
              <a:bodyPr>
                <a:normAutofit/>
              </a:bodyPr>
              <a:lstStyle/>
              <a:p>
                <a:pPr marL="0" indent="0">
                  <a:buNone/>
                </a:pPr>
                <a:r>
                  <a:rPr lang="en-US" sz="2400" dirty="0"/>
                  <a:t>Define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oMath>
                </a14:m>
                <a:r>
                  <a:rPr lang="en-US" sz="2400" dirty="0"/>
                  <a:t> by setting the </a:t>
                </a:r>
                <a14:m>
                  <m:oMath xmlns:m="http://schemas.openxmlformats.org/officeDocument/2006/math">
                    <m:r>
                      <a:rPr lang="en-US" sz="2400" b="0" i="1"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oMath>
                </a14:m>
                <a:r>
                  <a:rPr lang="en-US" sz="2400" dirty="0"/>
                  <a:t> to the </a:t>
                </a:r>
                <a14:m>
                  <m:oMath xmlns:m="http://schemas.openxmlformats.org/officeDocument/2006/math">
                    <m:r>
                      <a:rPr lang="en-US" sz="2400" i="1" dirty="0"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and consider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err="1">
                            <a:latin typeface="Cambria Math" panose="02040503050406030204" pitchFamily="18" charset="0"/>
                          </a:rPr>
                          <m:t>𝑖</m:t>
                        </m:r>
                      </m:sub>
                    </m:sSub>
                    <m:d>
                      <m:dPr>
                        <m:ctrlPr>
                          <a:rPr lang="en-US" sz="2400" i="1" dirty="0" err="1">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r>
                      <a:rPr lang="en-US" sz="2400" b="0" i="1" dirty="0" smtClean="0">
                        <a:latin typeface="Cambria Math" panose="02040503050406030204" pitchFamily="18" charset="0"/>
                      </a:rPr>
                      <m:t>)</m:t>
                    </m:r>
                  </m:oMath>
                </a14:m>
                <a:r>
                  <a:rPr lang="en-US" sz="2400" dirty="0"/>
                  <a:t>. Note that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i="1" dirty="0" smtClean="0">
                            <a:latin typeface="Cambria Math" panose="02040503050406030204" pitchFamily="18" charset="0"/>
                          </a:rPr>
                          <m:t>−</m:t>
                        </m:r>
                        <m:r>
                          <a:rPr lang="en-US" sz="2400" i="1" dirty="0" err="1" smtClean="0">
                            <a:latin typeface="Cambria Math" panose="02040503050406030204" pitchFamily="18" charset="0"/>
                          </a:rPr>
                          <m:t>𝑖</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e>
                    </m:d>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𝑒</m:t>
                        </m:r>
                      </m:e>
                      <m:sub>
                        <m:r>
                          <a:rPr lang="en-US" sz="2400" b="0" i="1" dirty="0" smtClean="0">
                            <a:latin typeface="Cambria Math" panose="02040503050406030204" pitchFamily="18" charset="0"/>
                          </a:rPr>
                          <m:t>𝑖</m:t>
                        </m:r>
                      </m:sub>
                    </m:sSub>
                  </m:oMath>
                </a14:m>
                <a:r>
                  <a:rPr lang="en-US" sz="2400" dirty="0"/>
                  <a:t>.</a:t>
                </a:r>
              </a:p>
              <a:p>
                <a:pPr marL="0" indent="0">
                  <a:buNone/>
                </a:pPr>
                <a:endParaRPr lang="en-US" sz="2400" dirty="0"/>
              </a:p>
              <a:p>
                <a:pPr marL="0" indent="0">
                  <a:buNone/>
                </a:pPr>
                <a:r>
                  <a:rPr lang="en-US" sz="2400" dirty="0"/>
                  <a:t>Does this satisfy the completeness axiom?       </a:t>
                </a:r>
                <a14:m>
                  <m:oMath xmlns:m="http://schemas.openxmlformats.org/officeDocument/2006/math">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a:latin typeface="Cambria Math" panose="02040503050406030204" pitchFamily="18" charset="0"/>
                              </a:rPr>
                              <m:t>𝑖</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i="1" dirty="0">
                            <a:latin typeface="Cambria Math" panose="02040503050406030204" pitchFamily="18" charset="0"/>
                          </a:rPr>
                          <m:t>=</m:t>
                        </m:r>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𝑥</m:t>
                            </m:r>
                          </m:e>
                          <m:sup>
                            <m:r>
                              <a:rPr lang="en-US" sz="2400" i="1" dirty="0">
                                <a:latin typeface="Cambria Math" panose="02040503050406030204" pitchFamily="18" charset="0"/>
                              </a:rPr>
                              <m:t>′</m:t>
                            </m:r>
                          </m:sup>
                        </m:sSup>
                        <m:r>
                          <a:rPr lang="en-US" sz="2400" i="1" dirty="0">
                            <a:latin typeface="Cambria Math" panose="02040503050406030204" pitchFamily="18" charset="0"/>
                          </a:rPr>
                          <m:t>)</m:t>
                        </m:r>
                      </m:e>
                    </m:nary>
                  </m:oMath>
                </a14:m>
                <a:endParaRPr lang="en-US" sz="2400" dirty="0"/>
              </a:p>
              <a:p>
                <a:pPr marL="0" indent="0">
                  <a:buNone/>
                </a:pPr>
                <a:endParaRPr lang="en-US" sz="2400" dirty="0"/>
              </a:p>
              <a:p>
                <a:pPr marL="0" indent="0">
                  <a:buNone/>
                </a:pPr>
                <a:r>
                  <a:rPr lang="en-US" sz="2400" dirty="0"/>
                  <a:t>Suppose the model is linear. Then:</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a:latin typeface="Cambria Math" panose="02040503050406030204" pitchFamily="18" charset="0"/>
                                </a:rPr>
                                <m:t>𝑖</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i="1" dirty="0">
                              <a:latin typeface="Cambria Math" panose="02040503050406030204" pitchFamily="18" charset="0"/>
                            </a:rPr>
                            <m:t>=</m:t>
                          </m:r>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d>
                                <m:dPr>
                                  <m:ctrlPr>
                                    <a:rPr lang="en-US" sz="2400" i="1" dirty="0">
                                      <a:latin typeface="Cambria Math" panose="02040503050406030204" pitchFamily="18" charset="0"/>
                                    </a:rPr>
                                  </m:ctrlPr>
                                </m:dPr>
                                <m:e>
                                  <m:sSup>
                                    <m:sSupPr>
                                      <m:ctrlPr>
                                        <a:rPr lang="en-US" sz="2400" i="1" dirty="0">
                                          <a:latin typeface="Cambria Math" panose="02040503050406030204" pitchFamily="18" charset="0"/>
                                        </a:rPr>
                                      </m:ctrlPr>
                                    </m:sSupPr>
                                    <m:e>
                                      <m:r>
                                        <a:rPr lang="en-US" sz="2400" i="1" dirty="0">
                                          <a:latin typeface="Cambria Math" panose="02040503050406030204" pitchFamily="18" charset="0"/>
                                        </a:rPr>
                                        <m:t>𝑥</m:t>
                                      </m:r>
                                    </m:e>
                                    <m:sup>
                                      <m:r>
                                        <a:rPr lang="en-US" sz="2400" i="1" dirty="0">
                                          <a:latin typeface="Cambria Math" panose="02040503050406030204" pitchFamily="18" charset="0"/>
                                        </a:rPr>
                                        <m:t>′</m:t>
                                      </m:r>
                                    </m:sup>
                                  </m:sSup>
                                  <m:r>
                                    <a:rPr lang="en-US" sz="2400" i="1" dirty="0">
                                      <a:latin typeface="Cambria Math" panose="02040503050406030204" pitchFamily="18" charset="0"/>
                                    </a:rPr>
                                    <m:t>−</m:t>
                                  </m:r>
                                  <m:r>
                                    <a:rPr lang="en-US" sz="2400" i="1" dirty="0">
                                      <a:latin typeface="Cambria Math" panose="02040503050406030204" pitchFamily="18" charset="0"/>
                                    </a:rPr>
                                    <m:t>𝑥</m:t>
                                  </m:r>
                                </m:e>
                              </m:d>
                              <m:sSub>
                                <m:sSubPr>
                                  <m:ctrlPr>
                                    <a:rPr lang="en-US" sz="2400" i="1" dirty="0">
                                      <a:latin typeface="Cambria Math" panose="02040503050406030204" pitchFamily="18" charset="0"/>
                                    </a:rPr>
                                  </m:ctrlPr>
                                </m:sSubPr>
                                <m:e>
                                  <m:r>
                                    <a:rPr lang="en-US" sz="2400" i="1" dirty="0">
                                      <a:latin typeface="Cambria Math" panose="02040503050406030204" pitchFamily="18" charset="0"/>
                                    </a:rPr>
                                    <m:t>𝑒</m:t>
                                  </m:r>
                                </m:e>
                                <m:sub>
                                  <m:r>
                                    <a:rPr lang="en-US" sz="2400" i="1" dirty="0">
                                      <a:latin typeface="Cambria Math" panose="02040503050406030204" pitchFamily="18" charset="0"/>
                                    </a:rPr>
                                    <m:t>𝑖</m:t>
                                  </m:r>
                                </m:sub>
                              </m:sSub>
                              <m:r>
                                <a:rPr lang="en-US" sz="2400" b="0" i="1" dirty="0" smtClean="0">
                                  <a:latin typeface="Cambria Math" panose="02040503050406030204" pitchFamily="18" charset="0"/>
                                </a:rPr>
                                <m:t>)</m:t>
                              </m:r>
                              <m:r>
                                <a:rPr lang="en-US" sz="2400" i="1" dirty="0" smtClean="0">
                                  <a:latin typeface="Cambria Math" panose="02040503050406030204" pitchFamily="18" charset="0"/>
                                </a:rPr>
                                <m:t> </m:t>
                              </m:r>
                            </m:e>
                          </m:nary>
                          <m:r>
                            <a:rPr lang="en-US" sz="2400" b="0" i="1" dirty="0" smtClean="0">
                              <a:latin typeface="Cambria Math" panose="02040503050406030204" pitchFamily="18" charset="0"/>
                            </a:rPr>
                            <m:t>=</m:t>
                          </m:r>
                        </m:e>
                      </m:nary>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e>
                          </m:d>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𝑒</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oMath>
                  </m:oMathPara>
                </a14:m>
                <a:endParaRPr lang="en-US" sz="2400" dirty="0"/>
              </a:p>
              <a:p>
                <a:pPr marL="0" indent="0">
                  <a:buNone/>
                </a:pPr>
                <a:endParaRPr lang="en-US" sz="2400" dirty="0"/>
              </a:p>
            </p:txBody>
          </p:sp>
        </mc:Choice>
        <mc:Fallback>
          <p:sp>
            <p:nvSpPr>
              <p:cNvPr id="3" name="Content Placeholder 2">
                <a:extLst>
                  <a:ext uri="{FF2B5EF4-FFF2-40B4-BE49-F238E27FC236}">
                    <a16:creationId xmlns:a16="http://schemas.microsoft.com/office/drawing/2014/main" id="{CA4B31AB-6439-E456-0AC4-D7B2E9229908}"/>
                  </a:ext>
                </a:extLst>
              </p:cNvPr>
              <p:cNvSpPr>
                <a:spLocks noGrp="1" noRot="1" noChangeAspect="1" noMove="1" noResize="1" noEditPoints="1" noAdjustHandles="1" noChangeArrowheads="1" noChangeShapeType="1" noTextEdit="1"/>
              </p:cNvSpPr>
              <p:nvPr>
                <p:ph idx="1"/>
              </p:nvPr>
            </p:nvSpPr>
            <p:spPr>
              <a:blipFill>
                <a:blip r:embed="rId2"/>
                <a:stretch>
                  <a:fillRect l="-10253" t="-1453" r="-362" b="-30523"/>
                </a:stretch>
              </a:blipFill>
            </p:spPr>
            <p:txBody>
              <a:bodyPr/>
              <a:lstStyle/>
              <a:p>
                <a:r>
                  <a:rPr lang="en-US">
                    <a:noFill/>
                  </a:rPr>
                  <a:t> </a:t>
                </a:r>
              </a:p>
            </p:txBody>
          </p:sp>
        </mc:Fallback>
      </mc:AlternateContent>
    </p:spTree>
    <p:extLst>
      <p:ext uri="{BB962C8B-B14F-4D97-AF65-F5344CB8AC3E}">
        <p14:creationId xmlns:p14="http://schemas.microsoft.com/office/powerpoint/2010/main" val="1467976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E613C-B7B7-9764-90A4-AD8EBBBBB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60DA3-ABE5-1FA8-1207-8A0EE327F80A}"/>
              </a:ext>
            </a:extLst>
          </p:cNvPr>
          <p:cNvSpPr>
            <a:spLocks noGrp="1"/>
          </p:cNvSpPr>
          <p:nvPr>
            <p:ph type="title"/>
          </p:nvPr>
        </p:nvSpPr>
        <p:spPr/>
        <p:txBody>
          <a:bodyPr/>
          <a:lstStyle/>
          <a:p>
            <a:r>
              <a:rPr lang="en-US" dirty="0"/>
              <a:t>A simple proposal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C7AFD3-818D-5EE9-7A86-F6B644B538B6}"/>
                  </a:ext>
                </a:extLst>
              </p:cNvPr>
              <p:cNvSpPr>
                <a:spLocks noGrp="1"/>
              </p:cNvSpPr>
              <p:nvPr>
                <p:ph idx="1"/>
              </p:nvPr>
            </p:nvSpPr>
            <p:spPr/>
            <p:txBody>
              <a:bodyPr>
                <a:normAutofit/>
              </a:bodyPr>
              <a:lstStyle/>
              <a:p>
                <a:pPr marL="0" indent="0">
                  <a:buNone/>
                </a:pPr>
                <a:r>
                  <a:rPr lang="en-US" sz="2400" dirty="0"/>
                  <a:t>Define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oMath>
                </a14:m>
                <a:r>
                  <a:rPr lang="en-US" sz="2400" dirty="0"/>
                  <a:t> by setting the </a:t>
                </a:r>
                <a14:m>
                  <m:oMath xmlns:m="http://schemas.openxmlformats.org/officeDocument/2006/math">
                    <m:r>
                      <a:rPr lang="en-US" sz="2400" b="0" i="1"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oMath>
                </a14:m>
                <a:r>
                  <a:rPr lang="en-US" sz="2400" dirty="0"/>
                  <a:t> to the </a:t>
                </a:r>
                <a14:m>
                  <m:oMath xmlns:m="http://schemas.openxmlformats.org/officeDocument/2006/math">
                    <m:r>
                      <a:rPr lang="en-US" sz="2400" i="1" dirty="0"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and consider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err="1">
                            <a:latin typeface="Cambria Math" panose="02040503050406030204" pitchFamily="18" charset="0"/>
                          </a:rPr>
                          <m:t>𝑖</m:t>
                        </m:r>
                      </m:sub>
                    </m:sSub>
                    <m:d>
                      <m:dPr>
                        <m:ctrlPr>
                          <a:rPr lang="en-US" sz="2400" i="1" dirty="0" err="1">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r>
                      <a:rPr lang="en-US" sz="2400" b="0" i="1" dirty="0" smtClean="0">
                        <a:latin typeface="Cambria Math" panose="02040503050406030204" pitchFamily="18" charset="0"/>
                      </a:rPr>
                      <m:t>)</m:t>
                    </m:r>
                  </m:oMath>
                </a14:m>
                <a:r>
                  <a:rPr lang="en-US" sz="2400" dirty="0"/>
                  <a:t>. Note that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i="1" dirty="0" smtClean="0">
                            <a:latin typeface="Cambria Math" panose="02040503050406030204" pitchFamily="18" charset="0"/>
                          </a:rPr>
                          <m:t>−</m:t>
                        </m:r>
                        <m:r>
                          <a:rPr lang="en-US" sz="2400" i="1" dirty="0" err="1" smtClean="0">
                            <a:latin typeface="Cambria Math" panose="02040503050406030204" pitchFamily="18" charset="0"/>
                          </a:rPr>
                          <m:t>𝑖</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e>
                    </m:d>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𝑒</m:t>
                        </m:r>
                      </m:e>
                      <m:sub>
                        <m:r>
                          <a:rPr lang="en-US" sz="2400" b="0" i="1" dirty="0" smtClean="0">
                            <a:latin typeface="Cambria Math" panose="02040503050406030204" pitchFamily="18" charset="0"/>
                          </a:rPr>
                          <m:t>𝑖</m:t>
                        </m:r>
                      </m:sub>
                    </m:sSub>
                  </m:oMath>
                </a14:m>
                <a:r>
                  <a:rPr lang="en-US" sz="2400" dirty="0"/>
                  <a:t>.</a:t>
                </a:r>
              </a:p>
              <a:p>
                <a:pPr marL="0" indent="0">
                  <a:buNone/>
                </a:pPr>
                <a:endParaRPr lang="en-US" sz="2400" dirty="0"/>
              </a:p>
              <a:p>
                <a:pPr marL="0" indent="0">
                  <a:buNone/>
                </a:pPr>
                <a:r>
                  <a:rPr lang="en-US" sz="2400" dirty="0"/>
                  <a:t>Does this satisfy the completeness axiom?       </a:t>
                </a:r>
                <a14:m>
                  <m:oMath xmlns:m="http://schemas.openxmlformats.org/officeDocument/2006/math">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a:latin typeface="Cambria Math" panose="02040503050406030204" pitchFamily="18" charset="0"/>
                              </a:rPr>
                              <m:t>𝑖</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i="1" dirty="0">
                            <a:latin typeface="Cambria Math" panose="02040503050406030204" pitchFamily="18" charset="0"/>
                          </a:rPr>
                          <m:t>=</m:t>
                        </m:r>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𝑥</m:t>
                            </m:r>
                          </m:e>
                          <m:sup>
                            <m:r>
                              <a:rPr lang="en-US" sz="2400" i="1" dirty="0">
                                <a:latin typeface="Cambria Math" panose="02040503050406030204" pitchFamily="18" charset="0"/>
                              </a:rPr>
                              <m:t>′</m:t>
                            </m:r>
                          </m:sup>
                        </m:sSup>
                        <m:r>
                          <a:rPr lang="en-US" sz="2400" i="1" dirty="0">
                            <a:latin typeface="Cambria Math" panose="02040503050406030204" pitchFamily="18" charset="0"/>
                          </a:rPr>
                          <m:t>)</m:t>
                        </m:r>
                      </m:e>
                    </m:nary>
                  </m:oMath>
                </a14:m>
                <a:endParaRPr lang="en-US" sz="2400" dirty="0"/>
              </a:p>
              <a:p>
                <a:pPr marL="0" indent="0">
                  <a:buNone/>
                </a:pPr>
                <a:endParaRPr lang="en-US" sz="2400" dirty="0"/>
              </a:p>
              <a:p>
                <a:pPr marL="0" indent="0">
                  <a:buNone/>
                </a:pPr>
                <a:r>
                  <a:rPr lang="en-US" sz="2400" dirty="0"/>
                  <a:t>What goes wrong when the model is not linear? Consider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b="0" i="1" dirty="0" smtClean="0">
                        <a:latin typeface="Cambria Math" panose="02040503050406030204" pitchFamily="18" charset="0"/>
                      </a:rPr>
                      <m:t>𝑥</m:t>
                    </m:r>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r>
                  <a:rPr lang="en-US" sz="2400" dirty="0"/>
                  <a:t> for </a:t>
                </a:r>
                <a14:m>
                  <m:oMath xmlns:m="http://schemas.openxmlformats.org/officeDocument/2006/math">
                    <m:r>
                      <a:rPr lang="en-US" sz="2400" b="0" i="1" dirty="0" smtClean="0">
                        <a:latin typeface="Cambria Math" panose="02040503050406030204" pitchFamily="18" charset="0"/>
                      </a:rPr>
                      <m:t>𝑥</m:t>
                    </m:r>
                    <m:r>
                      <a:rPr lang="en-US" sz="2400" i="1" dirty="0" smtClean="0">
                        <a:latin typeface="Cambria Math" panose="02040503050406030204" pitchFamily="18" charset="0"/>
                      </a:rPr>
                      <m:t>’=(0,0)</m:t>
                    </m:r>
                  </m:oMath>
                </a14:m>
                <a:r>
                  <a:rPr lang="en-US" sz="2400" dirty="0"/>
                  <a:t> and </a:t>
                </a:r>
                <a14:m>
                  <m:oMath xmlns:m="http://schemas.openxmlformats.org/officeDocument/2006/math">
                    <m:r>
                      <a:rPr lang="en-US" sz="2400" b="0" i="1" dirty="0" smtClean="0">
                        <a:latin typeface="Cambria Math" panose="02040503050406030204" pitchFamily="18" charset="0"/>
                      </a:rPr>
                      <m:t>𝑥</m:t>
                    </m:r>
                    <m:r>
                      <a:rPr lang="en-US" sz="2400" i="1" dirty="0" smtClean="0">
                        <a:latin typeface="Cambria Math" panose="02040503050406030204" pitchFamily="18" charset="0"/>
                      </a:rPr>
                      <m:t>=</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1,1</m:t>
                        </m:r>
                      </m:e>
                    </m:d>
                  </m:oMath>
                </a14:m>
                <a:r>
                  <a:rPr lang="en-US" sz="2400" dirty="0"/>
                  <a:t>.</a:t>
                </a:r>
              </a:p>
            </p:txBody>
          </p:sp>
        </mc:Choice>
        <mc:Fallback>
          <p:sp>
            <p:nvSpPr>
              <p:cNvPr id="3" name="Content Placeholder 2">
                <a:extLst>
                  <a:ext uri="{FF2B5EF4-FFF2-40B4-BE49-F238E27FC236}">
                    <a16:creationId xmlns:a16="http://schemas.microsoft.com/office/drawing/2014/main" id="{CAC7AFD3-818D-5EE9-7A86-F6B644B538B6}"/>
                  </a:ext>
                </a:extLst>
              </p:cNvPr>
              <p:cNvSpPr>
                <a:spLocks noGrp="1" noRot="1" noChangeAspect="1" noMove="1" noResize="1" noEditPoints="1" noAdjustHandles="1" noChangeArrowheads="1" noChangeShapeType="1" noTextEdit="1"/>
              </p:cNvSpPr>
              <p:nvPr>
                <p:ph idx="1"/>
              </p:nvPr>
            </p:nvSpPr>
            <p:spPr>
              <a:blipFill>
                <a:blip r:embed="rId2"/>
                <a:stretch>
                  <a:fillRect l="-965" t="-1453"/>
                </a:stretch>
              </a:blipFill>
            </p:spPr>
            <p:txBody>
              <a:bodyPr/>
              <a:lstStyle/>
              <a:p>
                <a:r>
                  <a:rPr lang="en-US">
                    <a:noFill/>
                  </a:rPr>
                  <a:t> </a:t>
                </a:r>
              </a:p>
            </p:txBody>
          </p:sp>
        </mc:Fallback>
      </mc:AlternateContent>
    </p:spTree>
    <p:extLst>
      <p:ext uri="{BB962C8B-B14F-4D97-AF65-F5344CB8AC3E}">
        <p14:creationId xmlns:p14="http://schemas.microsoft.com/office/powerpoint/2010/main" val="2713585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9DC5-5849-01AF-E122-FE6193265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494C1-6706-D705-A87E-D4E8005A6CBD}"/>
              </a:ext>
            </a:extLst>
          </p:cNvPr>
          <p:cNvSpPr>
            <a:spLocks noGrp="1"/>
          </p:cNvSpPr>
          <p:nvPr>
            <p:ph type="title"/>
          </p:nvPr>
        </p:nvSpPr>
        <p:spPr/>
        <p:txBody>
          <a:bodyPr/>
          <a:lstStyle/>
          <a:p>
            <a:r>
              <a:rPr lang="en-US" dirty="0"/>
              <a:t>A simple proposal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767D4A-BC72-0359-52B7-0CF952CFF4AF}"/>
                  </a:ext>
                </a:extLst>
              </p:cNvPr>
              <p:cNvSpPr>
                <a:spLocks noGrp="1"/>
              </p:cNvSpPr>
              <p:nvPr>
                <p:ph idx="1"/>
              </p:nvPr>
            </p:nvSpPr>
            <p:spPr/>
            <p:txBody>
              <a:bodyPr>
                <a:normAutofit fontScale="77500" lnSpcReduction="20000"/>
              </a:bodyPr>
              <a:lstStyle/>
              <a:p>
                <a:pPr marL="0" indent="0">
                  <a:buNone/>
                </a:pPr>
                <a:r>
                  <a:rPr lang="en-US" sz="2400" dirty="0"/>
                  <a:t>Define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oMath>
                </a14:m>
                <a:r>
                  <a:rPr lang="en-US" sz="2400" dirty="0"/>
                  <a:t> by setting the </a:t>
                </a:r>
                <a14:m>
                  <m:oMath xmlns:m="http://schemas.openxmlformats.org/officeDocument/2006/math">
                    <m:r>
                      <a:rPr lang="en-US" sz="2400" b="0" i="1"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oMath>
                </a14:m>
                <a:r>
                  <a:rPr lang="en-US" sz="2400" dirty="0"/>
                  <a:t> to the </a:t>
                </a:r>
                <a14:m>
                  <m:oMath xmlns:m="http://schemas.openxmlformats.org/officeDocument/2006/math">
                    <m:r>
                      <a:rPr lang="en-US" sz="2400" i="1" dirty="0" smtClean="0">
                        <a:latin typeface="Cambria Math" panose="02040503050406030204" pitchFamily="18" charset="0"/>
                      </a:rPr>
                      <m:t>𝑖</m:t>
                    </m:r>
                  </m:oMath>
                </a14:m>
                <a:r>
                  <a:rPr lang="en-US" sz="2400" dirty="0" err="1"/>
                  <a:t>th</a:t>
                </a:r>
                <a:r>
                  <a:rPr lang="en-US" sz="2400" dirty="0"/>
                  <a:t> feature of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r>
                  <a:rPr lang="en-US" sz="2400" dirty="0"/>
                  <a:t> and consider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err="1">
                            <a:latin typeface="Cambria Math" panose="02040503050406030204" pitchFamily="18" charset="0"/>
                          </a:rPr>
                          <m:t>𝑖</m:t>
                        </m:r>
                      </m:sub>
                    </m:sSub>
                    <m:d>
                      <m:dPr>
                        <m:ctrlPr>
                          <a:rPr lang="en-US" sz="2400" i="1" dirty="0" err="1">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p>
                    </m:sSup>
                    <m:r>
                      <a:rPr lang="en-US" sz="2400" b="0" i="1" dirty="0" smtClean="0">
                        <a:latin typeface="Cambria Math" panose="02040503050406030204" pitchFamily="18" charset="0"/>
                      </a:rPr>
                      <m:t>)</m:t>
                    </m:r>
                  </m:oMath>
                </a14:m>
                <a:r>
                  <a:rPr lang="en-US" sz="2400" dirty="0"/>
                  <a:t>. Note that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i="1" dirty="0" smtClean="0">
                            <a:latin typeface="Cambria Math" panose="02040503050406030204" pitchFamily="18" charset="0"/>
                          </a:rPr>
                          <m:t>−</m:t>
                        </m:r>
                        <m:r>
                          <a:rPr lang="en-US" sz="2400" i="1" dirty="0" err="1" smtClean="0">
                            <a:latin typeface="Cambria Math" panose="02040503050406030204" pitchFamily="18" charset="0"/>
                          </a:rPr>
                          <m:t>𝑖</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e>
                    </m:d>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𝑒</m:t>
                        </m:r>
                      </m:e>
                      <m:sub>
                        <m:r>
                          <a:rPr lang="en-US" sz="2400" b="0" i="1" dirty="0" smtClean="0">
                            <a:latin typeface="Cambria Math" panose="02040503050406030204" pitchFamily="18" charset="0"/>
                          </a:rPr>
                          <m:t>𝑖</m:t>
                        </m:r>
                      </m:sub>
                    </m:sSub>
                  </m:oMath>
                </a14:m>
                <a:r>
                  <a:rPr lang="en-US" sz="2400" dirty="0"/>
                  <a:t>.</a:t>
                </a:r>
              </a:p>
              <a:p>
                <a:pPr marL="0" indent="0">
                  <a:buNone/>
                </a:pPr>
                <a:endParaRPr lang="en-US" sz="2400" dirty="0"/>
              </a:p>
              <a:p>
                <a:pPr marL="0" indent="0">
                  <a:buNone/>
                </a:pPr>
                <a:r>
                  <a:rPr lang="en-US" sz="2400" dirty="0"/>
                  <a:t>Does this satisfy the completeness axiom?       </a:t>
                </a:r>
                <a14:m>
                  <m:oMath xmlns:m="http://schemas.openxmlformats.org/officeDocument/2006/math">
                    <m:nary>
                      <m:naryPr>
                        <m:chr m:val="∑"/>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𝑖</m:t>
                        </m:r>
                      </m:sub>
                      <m:sup/>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a:latin typeface="Cambria Math" panose="02040503050406030204" pitchFamily="18" charset="0"/>
                              </a:rPr>
                              <m:t>𝑖</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i="1" dirty="0">
                            <a:latin typeface="Cambria Math" panose="02040503050406030204" pitchFamily="18" charset="0"/>
                          </a:rPr>
                          <m:t>=</m:t>
                        </m:r>
                        <m:r>
                          <a:rPr lang="en-US" sz="2400" i="1" dirty="0">
                            <a:latin typeface="Cambria Math" panose="02040503050406030204" pitchFamily="18" charset="0"/>
                          </a:rPr>
                          <m:t>𝑓</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𝑥</m:t>
                            </m:r>
                          </m:e>
                          <m:sup>
                            <m:r>
                              <a:rPr lang="en-US" sz="2400" i="1" dirty="0">
                                <a:latin typeface="Cambria Math" panose="02040503050406030204" pitchFamily="18" charset="0"/>
                              </a:rPr>
                              <m:t>′</m:t>
                            </m:r>
                          </m:sup>
                        </m:sSup>
                        <m:r>
                          <a:rPr lang="en-US" sz="2400" i="1" dirty="0">
                            <a:latin typeface="Cambria Math" panose="02040503050406030204" pitchFamily="18" charset="0"/>
                          </a:rPr>
                          <m:t>)</m:t>
                        </m:r>
                      </m:e>
                    </m:nary>
                  </m:oMath>
                </a14:m>
                <a:endParaRPr lang="en-US" sz="2400" dirty="0"/>
              </a:p>
              <a:p>
                <a:pPr marL="0" indent="0">
                  <a:buNone/>
                </a:pPr>
                <a:endParaRPr lang="en-US" sz="2400" dirty="0"/>
              </a:p>
              <a:p>
                <a:pPr marL="0" indent="0">
                  <a:buNone/>
                </a:pPr>
                <a:r>
                  <a:rPr lang="en-US" sz="2400" dirty="0"/>
                  <a:t>What goes wrong when the model is not linear? Consider </a:t>
                </a:r>
                <a14:m>
                  <m:oMath xmlns:m="http://schemas.openxmlformats.org/officeDocument/2006/math">
                    <m:r>
                      <a:rPr lang="en-US" sz="2400" i="1" dirty="0" smtClean="0">
                        <a:latin typeface="Cambria Math" panose="02040503050406030204" pitchFamily="18" charset="0"/>
                      </a:rPr>
                      <m:t>𝑓</m:t>
                    </m:r>
                    <m:r>
                      <a:rPr lang="en-US" sz="2400" i="1" dirty="0" smtClean="0">
                        <a:latin typeface="Cambria Math" panose="02040503050406030204" pitchFamily="18" charset="0"/>
                      </a:rPr>
                      <m:t>(</m:t>
                    </m:r>
                    <m:r>
                      <a:rPr lang="en-US" sz="2400" b="0" i="1" dirty="0" smtClean="0">
                        <a:latin typeface="Cambria Math" panose="02040503050406030204" pitchFamily="18" charset="0"/>
                      </a:rPr>
                      <m:t>𝑥</m:t>
                    </m:r>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oMath>
                </a14:m>
                <a:r>
                  <a:rPr lang="en-US" sz="2400" dirty="0"/>
                  <a:t> for </a:t>
                </a:r>
                <a14:m>
                  <m:oMath xmlns:m="http://schemas.openxmlformats.org/officeDocument/2006/math">
                    <m:r>
                      <a:rPr lang="en-US" sz="2400" b="0" i="1" dirty="0" smtClean="0">
                        <a:latin typeface="Cambria Math" panose="02040503050406030204" pitchFamily="18" charset="0"/>
                      </a:rPr>
                      <m:t>𝑥</m:t>
                    </m:r>
                    <m:r>
                      <a:rPr lang="en-US" sz="2400" i="1" dirty="0" smtClean="0">
                        <a:latin typeface="Cambria Math" panose="02040503050406030204" pitchFamily="18" charset="0"/>
                      </a:rPr>
                      <m:t>’=(0,0)</m:t>
                    </m:r>
                  </m:oMath>
                </a14:m>
                <a:r>
                  <a:rPr lang="en-US" sz="2400" dirty="0"/>
                  <a:t> and </a:t>
                </a:r>
                <a14:m>
                  <m:oMath xmlns:m="http://schemas.openxmlformats.org/officeDocument/2006/math">
                    <m:r>
                      <a:rPr lang="en-US" sz="2400" b="0" i="1" dirty="0" smtClean="0">
                        <a:latin typeface="Cambria Math" panose="02040503050406030204" pitchFamily="18" charset="0"/>
                      </a:rPr>
                      <m:t>𝑥</m:t>
                    </m:r>
                    <m:r>
                      <a:rPr lang="en-US" sz="2400" i="1" dirty="0" smtClean="0">
                        <a:latin typeface="Cambria Math" panose="02040503050406030204" pitchFamily="18" charset="0"/>
                      </a:rPr>
                      <m:t>=</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1,1</m:t>
                        </m:r>
                      </m:e>
                    </m:d>
                  </m:oMath>
                </a14:m>
                <a:r>
                  <a:rPr lang="en-US" sz="2400" dirty="0"/>
                  <a:t>.</a:t>
                </a:r>
              </a:p>
              <a:p>
                <a:pPr marL="0" indent="0">
                  <a:buNone/>
                </a:pPr>
                <a:endParaRPr lang="en-US" sz="2400" dirty="0"/>
              </a:p>
              <a:p>
                <a:pPr marL="0" indent="0">
                  <a:buNone/>
                </a:pPr>
                <a:r>
                  <a:rPr lang="en-US" sz="2400" dirty="0"/>
                  <a:t>We then have:</a:t>
                </a: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r>
                        <a:rPr lang="en-US" sz="2400" i="1" dirty="0" smtClean="0">
                          <a:latin typeface="Cambria Math" panose="02040503050406030204" pitchFamily="18" charset="0"/>
                        </a:rPr>
                        <m:t>−</m:t>
                      </m:r>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r>
                            <a:rPr lang="en-US" sz="2400" i="1" dirty="0" smtClean="0">
                              <a:latin typeface="Cambria Math" panose="02040503050406030204" pitchFamily="18" charset="0"/>
                            </a:rPr>
                            <m:t>’</m:t>
                          </m:r>
                        </m:e>
                      </m:d>
                      <m:r>
                        <a:rPr lang="en-US" sz="2400" i="1" dirty="0" smtClean="0">
                          <a:latin typeface="Cambria Math" panose="02040503050406030204" pitchFamily="18" charset="0"/>
                        </a:rPr>
                        <m:t>=1</m:t>
                      </m:r>
                    </m:oMath>
                  </m:oMathPara>
                </a14:m>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𝜙</m:t>
                          </m:r>
                        </m:e>
                        <m:sub>
                          <m:r>
                            <a:rPr lang="en-US" sz="2400" i="1" dirty="0" smtClean="0">
                              <a:latin typeface="Cambria Math" panose="02040503050406030204" pitchFamily="18" charset="0"/>
                            </a:rPr>
                            <m:t>1</m:t>
                          </m:r>
                        </m:sub>
                      </m:sSub>
                      <m:d>
                        <m:dPr>
                          <m:ctrlPr>
                            <a:rPr lang="en-US" sz="2400" i="1" dirty="0" smtClean="0">
                              <a:latin typeface="Cambria Math" panose="02040503050406030204" pitchFamily="18" charset="0"/>
                            </a:rPr>
                          </m:ctrlPr>
                        </m:dPr>
                        <m:e>
                          <m:r>
                            <a:rPr lang="en-US" sz="2400" i="1" dirty="0" err="1" smtClean="0">
                              <a:latin typeface="Cambria Math" panose="02040503050406030204" pitchFamily="18" charset="0"/>
                            </a:rPr>
                            <m:t>𝑓</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𝑥</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𝑥</m:t>
                          </m:r>
                          <m:r>
                            <a:rPr lang="en-US" sz="2400" i="1" dirty="0" smtClean="0">
                              <a:latin typeface="Cambria Math" panose="02040503050406030204" pitchFamily="18" charset="0"/>
                            </a:rPr>
                            <m:t>’</m:t>
                          </m:r>
                        </m:e>
                      </m:d>
                      <m:r>
                        <a:rPr lang="en-US" sz="2400" i="1" dirty="0" smtClean="0">
                          <a:latin typeface="Cambria Math" panose="02040503050406030204" pitchFamily="18" charset="0"/>
                        </a:rPr>
                        <m:t>=</m:t>
                      </m:r>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m:t>
                          </m:r>
                          <m:r>
                            <a:rPr lang="en-US" sz="2400" i="1" dirty="0" smtClean="0">
                              <a:latin typeface="Cambria Math" panose="02040503050406030204" pitchFamily="18" charset="0"/>
                            </a:rPr>
                            <m:t>1,1</m:t>
                          </m:r>
                          <m:r>
                            <a:rPr lang="en-US" sz="2400" b="0" i="1" dirty="0" smtClean="0">
                              <a:latin typeface="Cambria Math" panose="02040503050406030204" pitchFamily="18" charset="0"/>
                            </a:rPr>
                            <m:t>)</m:t>
                          </m:r>
                        </m:e>
                      </m:d>
                      <m:r>
                        <a:rPr lang="en-US" sz="2400" i="1" dirty="0" smtClean="0">
                          <a:latin typeface="Cambria Math" panose="02040503050406030204" pitchFamily="18" charset="0"/>
                        </a:rPr>
                        <m:t>−</m:t>
                      </m:r>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m:t>
                          </m:r>
                          <m:r>
                            <a:rPr lang="en-US" sz="2400" i="1" dirty="0" smtClean="0">
                              <a:latin typeface="Cambria Math" panose="02040503050406030204" pitchFamily="18" charset="0"/>
                            </a:rPr>
                            <m:t>0,1</m:t>
                          </m:r>
                          <m:r>
                            <a:rPr lang="en-US" sz="2400" b="0" i="1" dirty="0" smtClean="0">
                              <a:latin typeface="Cambria Math" panose="02040503050406030204" pitchFamily="18" charset="0"/>
                            </a:rPr>
                            <m:t>)</m:t>
                          </m:r>
                        </m:e>
                      </m:d>
                      <m:r>
                        <a:rPr lang="en-US" sz="2400" i="1" dirty="0" smtClean="0">
                          <a:latin typeface="Cambria Math" panose="02040503050406030204" pitchFamily="18" charset="0"/>
                        </a:rPr>
                        <m:t>=1</m:t>
                      </m:r>
                    </m:oMath>
                  </m:oMathPara>
                </a14:m>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b="0" i="1" dirty="0" smtClean="0">
                              <a:latin typeface="Cambria Math" panose="02040503050406030204" pitchFamily="18" charset="0"/>
                            </a:rPr>
                            <m:t>2</m:t>
                          </m:r>
                        </m:sub>
                      </m:sSub>
                      <m:r>
                        <a:rPr lang="en-US" sz="2400" i="1" dirty="0">
                          <a:latin typeface="Cambria Math" panose="02040503050406030204" pitchFamily="18" charset="0"/>
                        </a:rPr>
                        <m:t>(</m:t>
                      </m:r>
                      <m:r>
                        <a:rPr lang="en-US" sz="2400" i="1" dirty="0" err="1">
                          <a:latin typeface="Cambria Math" panose="02040503050406030204" pitchFamily="18" charset="0"/>
                        </a:rPr>
                        <m:t>𝑓</m:t>
                      </m:r>
                      <m:r>
                        <a:rPr lang="en-US" sz="2400" i="1" dirty="0" err="1">
                          <a:latin typeface="Cambria Math" panose="02040503050406030204" pitchFamily="18" charset="0"/>
                        </a:rPr>
                        <m:t>,</m:t>
                      </m:r>
                      <m:r>
                        <a:rPr lang="en-US" sz="2400" i="1" dirty="0" err="1">
                          <a:latin typeface="Cambria Math" panose="02040503050406030204" pitchFamily="18" charset="0"/>
                        </a:rPr>
                        <m:t>𝑥</m:t>
                      </m:r>
                      <m:r>
                        <a:rPr lang="en-US" sz="2400" i="1" dirty="0" err="1">
                          <a:latin typeface="Cambria Math" panose="02040503050406030204" pitchFamily="18" charset="0"/>
                        </a:rPr>
                        <m:t>,</m:t>
                      </m:r>
                      <m:r>
                        <a:rPr lang="en-US" sz="2400" i="1" dirty="0" err="1">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𝑓</m:t>
                      </m:r>
                      <m:r>
                        <a:rPr lang="en-US" sz="2400" i="1" dirty="0">
                          <a:latin typeface="Cambria Math" panose="02040503050406030204" pitchFamily="18" charset="0"/>
                        </a:rPr>
                        <m:t>((1,1))−</m:t>
                      </m:r>
                      <m:r>
                        <a:rPr lang="en-US" sz="2400" i="1" dirty="0">
                          <a:latin typeface="Cambria Math" panose="02040503050406030204" pitchFamily="18" charset="0"/>
                        </a:rPr>
                        <m:t>𝑓</m:t>
                      </m:r>
                      <m:r>
                        <a:rPr lang="en-US" sz="2400" i="1" dirty="0">
                          <a:latin typeface="Cambria Math" panose="02040503050406030204" pitchFamily="18" charset="0"/>
                        </a:rPr>
                        <m:t>((1,0))=1</m:t>
                      </m:r>
                    </m:oMath>
                  </m:oMathPara>
                </a14:m>
                <a:endParaRPr lang="en-US" sz="2400" dirty="0"/>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2400" i="1" dirty="0" smtClean="0">
                              <a:latin typeface="Cambria Math" panose="02040503050406030204" pitchFamily="18" charset="0"/>
                            </a:rPr>
                          </m:ctrlPr>
                        </m:naryPr>
                        <m:sub>
                          <m:r>
                            <a:rPr lang="en-US" sz="2400" i="1" dirty="0">
                              <a:latin typeface="Cambria Math" panose="02040503050406030204" pitchFamily="18" charset="0"/>
                            </a:rPr>
                            <m:t>𝑖</m:t>
                          </m:r>
                        </m:sub>
                        <m:sup/>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𝜙</m:t>
                              </m:r>
                            </m:e>
                            <m:sub>
                              <m:r>
                                <a:rPr lang="en-US" sz="2400" i="1" dirty="0">
                                  <a:latin typeface="Cambria Math" panose="02040503050406030204" pitchFamily="18" charset="0"/>
                                </a:rPr>
                                <m:t>𝑖</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𝑓</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 </m:t>
                              </m:r>
                              <m:r>
                                <a:rPr lang="en-US" sz="2400" i="1" dirty="0">
                                  <a:latin typeface="Cambria Math" panose="02040503050406030204" pitchFamily="18" charset="0"/>
                                </a:rPr>
                                <m:t>𝑥</m:t>
                              </m:r>
                              <m:r>
                                <a:rPr lang="en-US" sz="2400" i="1" dirty="0">
                                  <a:latin typeface="Cambria Math" panose="02040503050406030204" pitchFamily="18" charset="0"/>
                                </a:rPr>
                                <m:t>’</m:t>
                              </m:r>
                            </m:e>
                          </m:d>
                          <m:r>
                            <a:rPr lang="en-US" sz="2400" i="1" dirty="0">
                              <a:latin typeface="Cambria Math" panose="02040503050406030204" pitchFamily="18" charset="0"/>
                            </a:rPr>
                            <m:t>=</m:t>
                          </m:r>
                          <m:r>
                            <a:rPr lang="en-US" sz="2400" b="0" i="1" dirty="0" smtClean="0">
                              <a:latin typeface="Cambria Math" panose="02040503050406030204" pitchFamily="18" charset="0"/>
                            </a:rPr>
                            <m:t>2≠</m:t>
                          </m:r>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r>
                            <a:rPr lang="en-US" sz="2400" i="1" dirty="0" smtClean="0">
                              <a:latin typeface="Cambria Math" panose="02040503050406030204" pitchFamily="18" charset="0"/>
                            </a:rPr>
                            <m:t> </m:t>
                          </m:r>
                        </m:e>
                      </m:nary>
                    </m:oMath>
                  </m:oMathPara>
                </a14:m>
                <a:endParaRPr lang="en-US" sz="2400" dirty="0"/>
              </a:p>
            </p:txBody>
          </p:sp>
        </mc:Choice>
        <mc:Fallback>
          <p:sp>
            <p:nvSpPr>
              <p:cNvPr id="3" name="Content Placeholder 2">
                <a:extLst>
                  <a:ext uri="{FF2B5EF4-FFF2-40B4-BE49-F238E27FC236}">
                    <a16:creationId xmlns:a16="http://schemas.microsoft.com/office/drawing/2014/main" id="{67767D4A-BC72-0359-52B7-0CF952CFF4AF}"/>
                  </a:ext>
                </a:extLst>
              </p:cNvPr>
              <p:cNvSpPr>
                <a:spLocks noGrp="1" noRot="1" noChangeAspect="1" noMove="1" noResize="1" noEditPoints="1" noAdjustHandles="1" noChangeArrowheads="1" noChangeShapeType="1" noTextEdit="1"/>
              </p:cNvSpPr>
              <p:nvPr>
                <p:ph idx="1"/>
              </p:nvPr>
            </p:nvSpPr>
            <p:spPr>
              <a:blipFill>
                <a:blip r:embed="rId2"/>
                <a:stretch>
                  <a:fillRect l="-603" t="-2326" b="-29651"/>
                </a:stretch>
              </a:blipFill>
            </p:spPr>
            <p:txBody>
              <a:bodyPr/>
              <a:lstStyle/>
              <a:p>
                <a:r>
                  <a:rPr lang="en-US">
                    <a:noFill/>
                  </a:rPr>
                  <a:t> </a:t>
                </a:r>
              </a:p>
            </p:txBody>
          </p:sp>
        </mc:Fallback>
      </mc:AlternateContent>
    </p:spTree>
    <p:extLst>
      <p:ext uri="{BB962C8B-B14F-4D97-AF65-F5344CB8AC3E}">
        <p14:creationId xmlns:p14="http://schemas.microsoft.com/office/powerpoint/2010/main" val="178796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1BF45-7968-9203-0F77-B49479F59346}"/>
              </a:ext>
            </a:extLst>
          </p:cNvPr>
          <p:cNvSpPr>
            <a:spLocks noGrp="1"/>
          </p:cNvSpPr>
          <p:nvPr>
            <p:ph type="title"/>
          </p:nvPr>
        </p:nvSpPr>
        <p:spPr/>
        <p:txBody>
          <a:bodyPr/>
          <a:lstStyle/>
          <a:p>
            <a:r>
              <a:rPr lang="en-US" dirty="0"/>
              <a:t>Integrated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6545B07-9D6C-9C19-4C2D-A66A1555AA1F}"/>
                  </a:ext>
                </a:extLst>
              </p:cNvPr>
              <p:cNvSpPr>
                <a:spLocks noGrp="1"/>
              </p:cNvSpPr>
              <p:nvPr>
                <p:ph idx="1"/>
              </p:nvPr>
            </p:nvSpPr>
            <p:spPr/>
            <p:txBody>
              <a:bodyPr>
                <a:normAutofit fontScale="70000" lnSpcReduction="20000"/>
              </a:bodyPr>
              <a:lstStyle/>
              <a:p>
                <a:pPr marL="0" indent="0">
                  <a:buNone/>
                </a:pPr>
                <a:r>
                  <a:rPr lang="en-US" dirty="0"/>
                  <a:t>Define feature attributions </a:t>
                </a:r>
                <a14:m>
                  <m:oMath xmlns:m="http://schemas.openxmlformats.org/officeDocument/2006/math">
                    <m:sSub>
                      <m:sSubPr>
                        <m:ctrlPr>
                          <a:rPr lang="en-US" i="1" dirty="0" err="1">
                            <a:latin typeface="Cambria Math" panose="02040503050406030204" pitchFamily="18" charset="0"/>
                          </a:rPr>
                        </m:ctrlPr>
                      </m:sSubPr>
                      <m:e>
                        <m:r>
                          <a:rPr lang="en-US" i="1" dirty="0">
                            <a:latin typeface="Cambria Math" panose="02040503050406030204" pitchFamily="18" charset="0"/>
                          </a:rPr>
                          <m:t>𝜙</m:t>
                        </m:r>
                      </m:e>
                      <m:sub>
                        <m:r>
                          <a:rPr lang="en-US" i="1" dirty="0" err="1">
                            <a:latin typeface="Cambria Math" panose="02040503050406030204" pitchFamily="18" charset="0"/>
                          </a:rPr>
                          <m:t>𝑖</m:t>
                        </m:r>
                      </m:sub>
                    </m:sSub>
                    <m:r>
                      <a:rPr lang="en-US" i="1" dirty="0">
                        <a:latin typeface="Cambria Math" panose="02040503050406030204" pitchFamily="18" charset="0"/>
                      </a:rPr>
                      <m:t>(</m:t>
                    </m:r>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oMath>
                </a14:m>
                <a:r>
                  <a:rPr lang="en-US" dirty="0"/>
                  <a:t> for model </a:t>
                </a:r>
                <a14:m>
                  <m:oMath xmlns:m="http://schemas.openxmlformats.org/officeDocument/2006/math">
                    <m:r>
                      <a:rPr lang="en-US" i="1" dirty="0">
                        <a:latin typeface="Cambria Math" panose="02040503050406030204" pitchFamily="18" charset="0"/>
                      </a:rPr>
                      <m:t>𝑓</m:t>
                    </m:r>
                  </m:oMath>
                </a14:m>
                <a:r>
                  <a:rPr lang="en-US" dirty="0"/>
                  <a:t>, input </a:t>
                </a:r>
                <a14:m>
                  <m:oMath xmlns:m="http://schemas.openxmlformats.org/officeDocument/2006/math">
                    <m:r>
                      <a:rPr lang="en-US" i="1" dirty="0">
                        <a:latin typeface="Cambria Math" panose="02040503050406030204" pitchFamily="18" charset="0"/>
                      </a:rPr>
                      <m:t>𝑥</m:t>
                    </m:r>
                  </m:oMath>
                </a14:m>
                <a:r>
                  <a:rPr lang="en-US" dirty="0"/>
                  <a:t>, and a reference input </a:t>
                </a:r>
                <a14:m>
                  <m:oMath xmlns:m="http://schemas.openxmlformats.org/officeDocument/2006/math">
                    <m:r>
                      <a:rPr lang="en-US" i="1" dirty="0">
                        <a:latin typeface="Cambria Math" panose="02040503050406030204" pitchFamily="18" charset="0"/>
                      </a:rPr>
                      <m:t>𝑥</m:t>
                    </m:r>
                    <m:r>
                      <a:rPr lang="en-US" i="1" dirty="0">
                        <a:latin typeface="Cambria Math" panose="02040503050406030204" pitchFamily="18" charset="0"/>
                      </a:rPr>
                      <m:t>’</m:t>
                    </m:r>
                  </m:oMath>
                </a14:m>
                <a:r>
                  <a:rPr lang="en-US" dirty="0"/>
                  <a:t>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i="1" dirty="0" err="1">
                              <a:latin typeface="Cambria Math" panose="02040503050406030204" pitchFamily="18" charset="0"/>
                            </a:rPr>
                            <m:t>𝑖</m:t>
                          </m:r>
                        </m:sub>
                      </m:sSub>
                      <m:d>
                        <m:dPr>
                          <m:ctrlPr>
                            <a:rPr lang="en-US" i="1" dirty="0" err="1">
                              <a:latin typeface="Cambria Math" panose="02040503050406030204" pitchFamily="18" charset="0"/>
                            </a:rPr>
                          </m:ctrlPr>
                        </m:dPr>
                        <m:e>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up>
                              <m:r>
                                <a:rPr lang="en-US" b="0" i="1" dirty="0" smtClean="0">
                                  <a:latin typeface="Cambria Math" panose="02040503050406030204" pitchFamily="18" charset="0"/>
                                </a:rPr>
                                <m:t>′</m:t>
                              </m:r>
                            </m:sup>
                          </m:sSubSup>
                        </m:e>
                      </m:d>
                      <m:nary>
                        <m:naryPr>
                          <m:ctrlPr>
                            <a:rPr lang="en-US" b="0" i="1" dirty="0" smtClean="0">
                              <a:latin typeface="Cambria Math" panose="02040503050406030204" pitchFamily="18" charset="0"/>
                            </a:rPr>
                          </m:ctrlPr>
                        </m:naryPr>
                        <m:sub>
                          <m:r>
                            <a:rPr lang="en-US" b="0" i="1" dirty="0" smtClean="0">
                              <a:latin typeface="Cambria Math" panose="02040503050406030204" pitchFamily="18" charset="0"/>
                            </a:rPr>
                            <m:t>0</m:t>
                          </m:r>
                        </m:sub>
                        <m:sup>
                          <m:r>
                            <a:rPr lang="en-US" b="0" i="1" dirty="0" smtClean="0">
                              <a:latin typeface="Cambria Math" panose="02040503050406030204" pitchFamily="18" charset="0"/>
                            </a:rPr>
                            <m:t>1</m:t>
                          </m:r>
                        </m:sup>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r>
                                <a:rPr lang="en-US" b="0" i="1" dirty="0" smtClean="0">
                                  <a:latin typeface="Cambria Math" panose="02040503050406030204" pitchFamily="18" charset="0"/>
                                </a:rPr>
                                <m:t>𝑓</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𝑥</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r>
                                <a:rPr lang="en-US" b="0" i="1" dirty="0" smtClean="0">
                                  <a:latin typeface="Cambria Math" panose="02040503050406030204" pitchFamily="18" charset="0"/>
                                </a:rPr>
                                <m:t>𝛼</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𝑥</m:t>
                                      </m:r>
                                    </m:e>
                                    <m:sup>
                                      <m:r>
                                        <a:rPr lang="en-US" b="0" i="1" dirty="0" smtClean="0">
                                          <a:latin typeface="Cambria Math" panose="02040503050406030204" pitchFamily="18" charset="0"/>
                                        </a:rPr>
                                        <m:t>′</m:t>
                                      </m:r>
                                    </m:sup>
                                  </m:sSup>
                                </m:e>
                              </m:d>
                              <m:r>
                                <a:rPr lang="en-US" b="0" i="1" dirty="0" smtClean="0">
                                  <a:latin typeface="Cambria Math" panose="02040503050406030204" pitchFamily="18" charset="0"/>
                                </a:rPr>
                                <m:t>)</m:t>
                              </m:r>
                            </m:num>
                            <m:den>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den>
                          </m:f>
                          <m:r>
                            <a:rPr lang="en-US" b="0" i="1" dirty="0" smtClean="0">
                              <a:latin typeface="Cambria Math" panose="02040503050406030204" pitchFamily="18" charset="0"/>
                            </a:rPr>
                            <m:t>𝑑</m:t>
                          </m:r>
                          <m:r>
                            <a:rPr lang="en-US" b="0" i="1" dirty="0" smtClean="0">
                              <a:latin typeface="Cambria Math" panose="02040503050406030204" pitchFamily="18" charset="0"/>
                            </a:rPr>
                            <m:t>𝛼</m:t>
                          </m:r>
                        </m:e>
                      </m:nary>
                    </m:oMath>
                  </m:oMathPara>
                </a14:m>
                <a:endParaRPr lang="en-US" dirty="0"/>
              </a:p>
              <a:p>
                <a:pPr marL="0" indent="0">
                  <a:buNone/>
                </a:pPr>
                <a:endParaRPr lang="en-US" dirty="0"/>
              </a:p>
              <a:p>
                <a:pPr marL="0" indent="0">
                  <a:buNone/>
                </a:pPr>
                <a:endParaRPr lang="en-US" dirty="0"/>
              </a:p>
              <a:p>
                <a:pPr marL="0" indent="0">
                  <a:buNone/>
                </a:pPr>
                <a:r>
                  <a:rPr lang="en-US" dirty="0"/>
                  <a:t>Consider our previous example: </a:t>
                </a:r>
                <a14:m>
                  <m:oMath xmlns:m="http://schemas.openxmlformats.org/officeDocument/2006/math">
                    <m:r>
                      <a:rPr lang="en-US" i="1" dirty="0">
                        <a:latin typeface="Cambria Math" panose="02040503050406030204" pitchFamily="18" charset="0"/>
                      </a:rPr>
                      <m:t>𝑓</m:t>
                    </m:r>
                    <m:r>
                      <a:rPr lang="en-US" i="1" dirty="0">
                        <a:latin typeface="Cambria Math" panose="02040503050406030204" pitchFamily="18" charset="0"/>
                      </a:rPr>
                      <m:t>(</m:t>
                    </m:r>
                    <m:r>
                      <a:rPr lang="en-US" b="1" i="1" dirty="0" smtClean="0">
                        <a:latin typeface="Cambria Math" panose="02040503050406030204" pitchFamily="18" charset="0"/>
                      </a:rPr>
                      <m:t>𝒙</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oMath>
                </a14:m>
                <a:r>
                  <a:rPr lang="en-US" dirty="0"/>
                  <a:t> for </a:t>
                </a:r>
                <a14:m>
                  <m:oMath xmlns:m="http://schemas.openxmlformats.org/officeDocument/2006/math">
                    <m:r>
                      <a:rPr lang="en-US" b="1" i="1" dirty="0">
                        <a:latin typeface="Cambria Math" panose="02040503050406030204" pitchFamily="18" charset="0"/>
                      </a:rPr>
                      <m:t>𝒙</m:t>
                    </m:r>
                    <m:r>
                      <a:rPr lang="en-US" i="1" dirty="0">
                        <a:latin typeface="Cambria Math" panose="02040503050406030204" pitchFamily="18" charset="0"/>
                      </a:rPr>
                      <m:t>’=(0,0)</m:t>
                    </m:r>
                  </m:oMath>
                </a14:m>
                <a:r>
                  <a:rPr lang="en-US" dirty="0"/>
                  <a:t> and </a:t>
                </a:r>
                <a14:m>
                  <m:oMath xmlns:m="http://schemas.openxmlformats.org/officeDocument/2006/math">
                    <m:r>
                      <a:rPr lang="en-US" b="1" i="1" dirty="0">
                        <a:latin typeface="Cambria Math" panose="02040503050406030204" pitchFamily="18" charset="0"/>
                      </a:rPr>
                      <m:t>𝒙</m:t>
                    </m:r>
                    <m:r>
                      <a:rPr lang="en-US" i="1" dirty="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1,1</m:t>
                        </m:r>
                      </m:e>
                    </m:d>
                  </m:oMath>
                </a14:m>
                <a:endParaRPr lang="en-US" dirty="0"/>
              </a:p>
              <a:p>
                <a:pPr marL="0" indent="0">
                  <a:buNone/>
                </a:pPr>
                <a:r>
                  <a:rPr lang="en-US" dirty="0"/>
                  <a:t>(on the board)</a:t>
                </a:r>
              </a:p>
              <a:p>
                <a:pPr marL="0" indent="0">
                  <a:buNone/>
                </a:pPr>
                <a:endParaRPr lang="en-US" dirty="0"/>
              </a:p>
              <a:p>
                <a:pPr marL="0" indent="0">
                  <a:buNone/>
                </a:pPr>
                <a:r>
                  <a:rPr lang="en-US" u="sng" dirty="0"/>
                  <a:t>Interpretation</a:t>
                </a:r>
                <a:r>
                  <a:rPr lang="en-US" dirty="0"/>
                  <a:t>: We are integrating the </a:t>
                </a:r>
                <a14:m>
                  <m:oMath xmlns:m="http://schemas.openxmlformats.org/officeDocument/2006/math">
                    <m:r>
                      <a:rPr lang="en-US" i="1" dirty="0" smtClean="0">
                        <a:latin typeface="Cambria Math" panose="02040503050406030204" pitchFamily="18" charset="0"/>
                      </a:rPr>
                      <m:t>𝑖</m:t>
                    </m:r>
                  </m:oMath>
                </a14:m>
                <a:r>
                  <a:rPr lang="en-US" dirty="0" err="1"/>
                  <a:t>th</a:t>
                </a:r>
                <a:r>
                  <a:rPr lang="en-US" dirty="0"/>
                  <a:t> component of the gradient along the straight-line path from x’ to x, then scaling by the displacement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up>
                        <m:r>
                          <a:rPr lang="en-US" b="0" i="1" dirty="0" smtClean="0">
                            <a:latin typeface="Cambria Math" panose="02040503050406030204" pitchFamily="18" charset="0"/>
                          </a:rPr>
                          <m:t>′</m:t>
                        </m:r>
                      </m:sup>
                    </m:sSubSup>
                  </m:oMath>
                </a14:m>
                <a:r>
                  <a:rPr lang="en-US" dirty="0"/>
                  <a:t>.</a:t>
                </a:r>
              </a:p>
              <a:p>
                <a:pPr marL="0" indent="0">
                  <a:buNone/>
                </a:pPr>
                <a:endParaRPr lang="en-US" dirty="0"/>
              </a:p>
              <a:p>
                <a:pPr marL="0" indent="0">
                  <a:buNone/>
                </a:pPr>
                <a:r>
                  <a:rPr lang="en-US" dirty="0"/>
                  <a:t>Contrast this with evaluating the gradient at </a:t>
                </a:r>
                <a14:m>
                  <m:oMath xmlns:m="http://schemas.openxmlformats.org/officeDocument/2006/math">
                    <m:r>
                      <a:rPr lang="en-US" i="1" dirty="0" smtClean="0">
                        <a:latin typeface="Cambria Math" panose="02040503050406030204" pitchFamily="18" charset="0"/>
                      </a:rPr>
                      <m:t>𝑥</m:t>
                    </m:r>
                  </m:oMath>
                </a14:m>
                <a:r>
                  <a:rPr lang="en-US" dirty="0"/>
                  <a:t> only (saliency maps).</a:t>
                </a:r>
              </a:p>
            </p:txBody>
          </p:sp>
        </mc:Choice>
        <mc:Fallback>
          <p:sp>
            <p:nvSpPr>
              <p:cNvPr id="3" name="Content Placeholder 2">
                <a:extLst>
                  <a:ext uri="{FF2B5EF4-FFF2-40B4-BE49-F238E27FC236}">
                    <a16:creationId xmlns:a16="http://schemas.microsoft.com/office/drawing/2014/main" id="{96545B07-9D6C-9C19-4C2D-A66A1555AA1F}"/>
                  </a:ext>
                </a:extLst>
              </p:cNvPr>
              <p:cNvSpPr>
                <a:spLocks noGrp="1" noRot="1" noChangeAspect="1" noMove="1" noResize="1" noEditPoints="1" noAdjustHandles="1" noChangeArrowheads="1" noChangeShapeType="1" noTextEdit="1"/>
              </p:cNvSpPr>
              <p:nvPr>
                <p:ph idx="1"/>
              </p:nvPr>
            </p:nvSpPr>
            <p:spPr>
              <a:blipFill>
                <a:blip r:embed="rId2"/>
                <a:stretch>
                  <a:fillRect l="-724" t="-16570"/>
                </a:stretch>
              </a:blipFill>
            </p:spPr>
            <p:txBody>
              <a:bodyPr/>
              <a:lstStyle/>
              <a:p>
                <a:r>
                  <a:rPr lang="en-US">
                    <a:noFill/>
                  </a:rPr>
                  <a:t> </a:t>
                </a:r>
              </a:p>
            </p:txBody>
          </p:sp>
        </mc:Fallback>
      </mc:AlternateContent>
    </p:spTree>
    <p:extLst>
      <p:ext uri="{BB962C8B-B14F-4D97-AF65-F5344CB8AC3E}">
        <p14:creationId xmlns:p14="http://schemas.microsoft.com/office/powerpoint/2010/main" val="2464735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133EC-62B5-F790-565C-6F2C424D2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E20FB-4E04-9FFD-C00D-73BD8B77DBDC}"/>
              </a:ext>
            </a:extLst>
          </p:cNvPr>
          <p:cNvSpPr>
            <a:spLocks noGrp="1"/>
          </p:cNvSpPr>
          <p:nvPr>
            <p:ph type="title"/>
          </p:nvPr>
        </p:nvSpPr>
        <p:spPr/>
        <p:txBody>
          <a:bodyPr/>
          <a:lstStyle/>
          <a:p>
            <a:r>
              <a:rPr lang="en-US" dirty="0"/>
              <a:t>Integrated Gradients</a:t>
            </a:r>
          </a:p>
        </p:txBody>
      </p:sp>
      <p:sp>
        <p:nvSpPr>
          <p:cNvPr id="3" name="Content Placeholder 2">
            <a:extLst>
              <a:ext uri="{FF2B5EF4-FFF2-40B4-BE49-F238E27FC236}">
                <a16:creationId xmlns:a16="http://schemas.microsoft.com/office/drawing/2014/main" id="{F61D7FB6-4F77-7935-CE78-2496DA7AC16F}"/>
              </a:ext>
            </a:extLst>
          </p:cNvPr>
          <p:cNvSpPr>
            <a:spLocks noGrp="1"/>
          </p:cNvSpPr>
          <p:nvPr>
            <p:ph idx="1"/>
          </p:nvPr>
        </p:nvSpPr>
        <p:spPr/>
        <p:txBody>
          <a:bodyPr>
            <a:normAutofit/>
          </a:bodyPr>
          <a:lstStyle/>
          <a:p>
            <a:pPr marL="0" indent="0">
              <a:buNone/>
            </a:pPr>
            <a:r>
              <a:rPr lang="en-US" dirty="0"/>
              <a:t>We must select a baseline. Common choices are:</a:t>
            </a:r>
          </a:p>
          <a:p>
            <a:pPr marL="0" indent="0">
              <a:buNone/>
            </a:pPr>
            <a:endParaRPr lang="en-US" dirty="0"/>
          </a:p>
          <a:p>
            <a:r>
              <a:rPr lang="en-US" dirty="0"/>
              <a:t>A black image x’=</a:t>
            </a:r>
            <a:r>
              <a:rPr lang="en-US" b="1" dirty="0"/>
              <a:t>0</a:t>
            </a:r>
          </a:p>
          <a:p>
            <a:r>
              <a:rPr lang="en-US" dirty="0"/>
              <a:t>The average image x’=E[X]</a:t>
            </a:r>
          </a:p>
          <a:p>
            <a:r>
              <a:rPr lang="en-US" dirty="0"/>
              <a:t>A blurred version of x</a:t>
            </a:r>
          </a:p>
        </p:txBody>
      </p:sp>
    </p:spTree>
    <p:extLst>
      <p:ext uri="{BB962C8B-B14F-4D97-AF65-F5344CB8AC3E}">
        <p14:creationId xmlns:p14="http://schemas.microsoft.com/office/powerpoint/2010/main" val="37942295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DD33-443B-3744-DE6E-ECD4992506FF}"/>
              </a:ext>
            </a:extLst>
          </p:cNvPr>
          <p:cNvSpPr>
            <a:spLocks noGrp="1"/>
          </p:cNvSpPr>
          <p:nvPr>
            <p:ph type="title"/>
          </p:nvPr>
        </p:nvSpPr>
        <p:spPr/>
        <p:txBody>
          <a:bodyPr/>
          <a:lstStyle/>
          <a:p>
            <a:r>
              <a:rPr lang="en-US" dirty="0"/>
              <a:t>Expected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CCEB3AA-F102-FA37-8BE0-7EA9BF60543D}"/>
                  </a:ext>
                </a:extLst>
              </p:cNvPr>
              <p:cNvSpPr>
                <a:spLocks noGrp="1"/>
              </p:cNvSpPr>
              <p:nvPr>
                <p:ph idx="1"/>
              </p:nvPr>
            </p:nvSpPr>
            <p:spPr/>
            <p:txBody>
              <a:bodyPr/>
              <a:lstStyle/>
              <a:p>
                <a:r>
                  <a:rPr lang="en-US" dirty="0"/>
                  <a:t>Sometimes there is a natural way to define a baseline x’</a:t>
                </a:r>
              </a:p>
              <a:p>
                <a:r>
                  <a:rPr lang="en-US" dirty="0"/>
                  <a:t>But this is not always the case</a:t>
                </a:r>
              </a:p>
              <a:p>
                <a:r>
                  <a:rPr lang="en-US" dirty="0"/>
                  <a:t>Expected gradients avoids the need to define x’</a:t>
                </a:r>
              </a:p>
              <a:p>
                <a:r>
                  <a:rPr lang="en-US" u="sng" dirty="0"/>
                  <a:t>Intuition</a:t>
                </a:r>
                <a:r>
                  <a:rPr lang="en-US" dirty="0"/>
                  <a:t>: take expected integrated gradients when drawing the baseline from the data distribution</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𝐸𝐺</m:t>
                          </m:r>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𝐼𝐺</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FCCEB3AA-F102-FA37-8BE0-7EA9BF60543D}"/>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340311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161F-52FE-2E2E-44B6-BF673A6105CA}"/>
              </a:ext>
            </a:extLst>
          </p:cNvPr>
          <p:cNvSpPr>
            <a:spLocks noGrp="1"/>
          </p:cNvSpPr>
          <p:nvPr>
            <p:ph type="title"/>
          </p:nvPr>
        </p:nvSpPr>
        <p:spPr/>
        <p:txBody>
          <a:bodyPr/>
          <a:lstStyle/>
          <a:p>
            <a:r>
              <a:rPr lang="en-US" dirty="0"/>
              <a:t>SHAP Values: a game-theoretic approach</a:t>
            </a:r>
          </a:p>
        </p:txBody>
      </p:sp>
      <p:pic>
        <p:nvPicPr>
          <p:cNvPr id="2050" name="Picture 2">
            <a:extLst>
              <a:ext uri="{FF2B5EF4-FFF2-40B4-BE49-F238E27FC236}">
                <a16:creationId xmlns:a16="http://schemas.microsoft.com/office/drawing/2014/main" id="{DBA71F50-7FA2-9DFB-0177-37EEFD7DC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3517" y="2415433"/>
            <a:ext cx="6283908" cy="35719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E94BEC6-8CE3-AC15-CC98-4F29CB7041E1}"/>
              </a:ext>
            </a:extLst>
          </p:cNvPr>
          <p:cNvSpPr txBox="1"/>
          <p:nvPr/>
        </p:nvSpPr>
        <p:spPr>
          <a:xfrm>
            <a:off x="3048000" y="6488668"/>
            <a:ext cx="6096000" cy="338554"/>
          </a:xfrm>
          <a:prstGeom prst="rect">
            <a:avLst/>
          </a:prstGeom>
          <a:noFill/>
        </p:spPr>
        <p:txBody>
          <a:bodyPr wrap="square">
            <a:spAutoFit/>
          </a:bodyPr>
          <a:lstStyle/>
          <a:p>
            <a:pPr algn="ctr"/>
            <a:r>
              <a:rPr lang="en-US" sz="1600" dirty="0"/>
              <a:t>https://</a:t>
            </a:r>
            <a:r>
              <a:rPr lang="en-US" sz="1600" dirty="0" err="1"/>
              <a:t>github.com</a:t>
            </a:r>
            <a:r>
              <a:rPr lang="en-US" sz="1600" dirty="0"/>
              <a:t>/</a:t>
            </a:r>
            <a:r>
              <a:rPr lang="en-US" sz="1600" dirty="0" err="1"/>
              <a:t>slundberg</a:t>
            </a:r>
            <a:r>
              <a:rPr lang="en-US" sz="1600" dirty="0"/>
              <a:t>/</a:t>
            </a:r>
            <a:r>
              <a:rPr lang="en-US" sz="1600" dirty="0" err="1"/>
              <a:t>shap</a:t>
            </a:r>
            <a:endParaRPr lang="en-US" sz="1600" dirty="0"/>
          </a:p>
        </p:txBody>
      </p:sp>
      <p:pic>
        <p:nvPicPr>
          <p:cNvPr id="2052" name="Picture 4">
            <a:extLst>
              <a:ext uri="{FF2B5EF4-FFF2-40B4-BE49-F238E27FC236}">
                <a16:creationId xmlns:a16="http://schemas.microsoft.com/office/drawing/2014/main" id="{2E23C03D-411D-BE33-609F-4A67CBCB1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70" y="2415433"/>
            <a:ext cx="5213439" cy="357190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B64C15C-81C6-A02A-0BB0-DBD1A72C23A3}"/>
              </a:ext>
            </a:extLst>
          </p:cNvPr>
          <p:cNvSpPr>
            <a:spLocks noGrp="1"/>
          </p:cNvSpPr>
          <p:nvPr>
            <p:ph idx="1"/>
          </p:nvPr>
        </p:nvSpPr>
        <p:spPr>
          <a:xfrm>
            <a:off x="1494231" y="1952503"/>
            <a:ext cx="10515600" cy="479032"/>
          </a:xfrm>
        </p:spPr>
        <p:txBody>
          <a:bodyPr/>
          <a:lstStyle/>
          <a:p>
            <a:pPr marL="0" indent="0">
              <a:buNone/>
            </a:pPr>
            <a:r>
              <a:rPr lang="en-US" sz="2133" b="1" dirty="0"/>
              <a:t>For one prediction					For all predictions</a:t>
            </a:r>
          </a:p>
        </p:txBody>
      </p:sp>
    </p:spTree>
    <p:extLst>
      <p:ext uri="{BB962C8B-B14F-4D97-AF65-F5344CB8AC3E}">
        <p14:creationId xmlns:p14="http://schemas.microsoft.com/office/powerpoint/2010/main" val="11339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412376" y="1690688"/>
            <a:ext cx="11546541" cy="4880442"/>
          </a:xfrm>
        </p:spPr>
        <p:txBody>
          <a:bodyPr>
            <a:normAutofit fontScale="92500" lnSpcReduction="20000"/>
          </a:bodyPr>
          <a:lstStyle/>
          <a:p>
            <a:r>
              <a:rPr lang="en-US" dirty="0"/>
              <a:t>Interpretable and explainable are related but distinct ideas</a:t>
            </a:r>
          </a:p>
          <a:p>
            <a:endParaRPr lang="en-US" dirty="0"/>
          </a:p>
          <a:p>
            <a:r>
              <a:rPr lang="en-US" dirty="0"/>
              <a:t>The importance of interpretability is argued and views are changing</a:t>
            </a:r>
          </a:p>
          <a:p>
            <a:endParaRPr lang="en-US" dirty="0"/>
          </a:p>
          <a:p>
            <a:r>
              <a:rPr lang="en-US" dirty="0"/>
              <a:t>Neural networks are not </a:t>
            </a:r>
            <a:r>
              <a:rPr lang="en-US" i="1" dirty="0"/>
              <a:t>interpretable</a:t>
            </a:r>
            <a:r>
              <a:rPr lang="en-US" dirty="0"/>
              <a:t>, but we have techniques that can quantify the effect of features on each individual prediction – in other words, </a:t>
            </a:r>
            <a:r>
              <a:rPr lang="en-US" i="1" dirty="0"/>
              <a:t>explain</a:t>
            </a:r>
            <a:r>
              <a:rPr lang="en-US" dirty="0"/>
              <a:t> the prediction</a:t>
            </a:r>
          </a:p>
          <a:p>
            <a:endParaRPr lang="en-US" dirty="0"/>
          </a:p>
          <a:p>
            <a:r>
              <a:rPr lang="en-US" dirty="0"/>
              <a:t>Saliency maps and Grad-CAM are convenient but have limitations</a:t>
            </a:r>
          </a:p>
          <a:p>
            <a:endParaRPr lang="en-US" dirty="0"/>
          </a:p>
          <a:p>
            <a:r>
              <a:rPr lang="en-US" dirty="0"/>
              <a:t>Integrated gradients, expected gradients, and SHAP are more principled but also more computationally intensive</a:t>
            </a:r>
          </a:p>
        </p:txBody>
      </p:sp>
    </p:spTree>
    <p:extLst>
      <p:ext uri="{BB962C8B-B14F-4D97-AF65-F5344CB8AC3E}">
        <p14:creationId xmlns:p14="http://schemas.microsoft.com/office/powerpoint/2010/main" val="937703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2032</TotalTime>
  <Words>2801</Words>
  <Application>Microsoft Macintosh PowerPoint</Application>
  <PresentationFormat>Widescreen</PresentationFormat>
  <Paragraphs>332</Paragraphs>
  <Slides>38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Cambria Math</vt:lpstr>
      <vt:lpstr>Times New Roman</vt:lpstr>
      <vt:lpstr>Office Theme</vt:lpstr>
      <vt:lpstr>Explainable AI Methods</vt:lpstr>
      <vt:lpstr>Today</vt:lpstr>
      <vt:lpstr>Interpretable vs Explainable</vt:lpstr>
      <vt:lpstr>Interpretable versus explainable models</vt:lpstr>
      <vt:lpstr>Interpretable    Explainable</vt:lpstr>
      <vt:lpstr>Interpretable: logistic regression</vt:lpstr>
      <vt:lpstr>Other Interpretable Models?</vt:lpstr>
      <vt:lpstr>Explainable: CNN</vt:lpstr>
      <vt:lpstr>Explainable: CNN</vt:lpstr>
      <vt:lpstr>Interpretable versus explainable models</vt:lpstr>
      <vt:lpstr>Competing perspectives on interpretability</vt:lpstr>
      <vt:lpstr>Interpretable  ?  Explainable where does clinician decision-making fall on this spectrum?</vt:lpstr>
      <vt:lpstr>Compared to simpler models, DNNs are a black box. We can explain model predictions, but it’s case by case.</vt:lpstr>
      <vt:lpstr>Is PSA measurement a black box?</vt:lpstr>
      <vt:lpstr>Is clinician decision-making a black box?</vt:lpstr>
      <vt:lpstr>Two competing perspectives</vt:lpstr>
      <vt:lpstr>Evolving views of interpretability</vt:lpstr>
      <vt:lpstr>Evolving views of interpretability</vt:lpstr>
      <vt:lpstr>This looks like that</vt:lpstr>
      <vt:lpstr>PowerPoint Presentation</vt:lpstr>
      <vt:lpstr>PowerPoint Presentation</vt:lpstr>
      <vt:lpstr>Simple explanation methods</vt:lpstr>
      <vt:lpstr>Saliency maps</vt:lpstr>
      <vt:lpstr>What’s wrong with saliency maps?</vt:lpstr>
      <vt:lpstr>Grad-CAM</vt:lpstr>
      <vt:lpstr>Grad-CAM versus saliency maps for emotion recognition</vt:lpstr>
      <vt:lpstr>What’s wrong with Grad-CAM?</vt:lpstr>
      <vt:lpstr>Better explanation methods</vt:lpstr>
      <vt:lpstr>Desirable properties of feature attributions</vt:lpstr>
      <vt:lpstr>Desirable properties of feature attributions</vt:lpstr>
      <vt:lpstr>A simple proposal</vt:lpstr>
      <vt:lpstr>A simple proposal</vt:lpstr>
      <vt:lpstr>A simple proposal</vt:lpstr>
      <vt:lpstr>Integrated Gradients</vt:lpstr>
      <vt:lpstr>Integrated Gradients</vt:lpstr>
      <vt:lpstr>Expected Gradients</vt:lpstr>
      <vt:lpstr>SHAP Values: a game-theoretic approach</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Engelhard, M.D., Ph.D.</dc:creator>
  <cp:lastModifiedBy>Matthew Engelhard, M.D., Ph.D.</cp:lastModifiedBy>
  <cp:revision>36</cp:revision>
  <dcterms:created xsi:type="dcterms:W3CDTF">2023-10-25T18:29:18Z</dcterms:created>
  <dcterms:modified xsi:type="dcterms:W3CDTF">2026-02-25T21:54:58Z</dcterms:modified>
</cp:coreProperties>
</file>