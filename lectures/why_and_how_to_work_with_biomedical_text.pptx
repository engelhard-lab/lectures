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57"/>
  </p:notesMasterIdLst>
  <p:handoutMasterIdLst>
    <p:handoutMasterId r:id="rId58"/>
  </p:handoutMasterIdLst>
  <p:sldIdLst>
    <p:sldId id="297" r:id="rId3"/>
    <p:sldId id="889" r:id="rId4"/>
    <p:sldId id="933" r:id="rId5"/>
    <p:sldId id="875" r:id="rId6"/>
    <p:sldId id="925" r:id="rId7"/>
    <p:sldId id="876" r:id="rId8"/>
    <p:sldId id="886" r:id="rId9"/>
    <p:sldId id="878" r:id="rId10"/>
    <p:sldId id="893" r:id="rId11"/>
    <p:sldId id="926" r:id="rId12"/>
    <p:sldId id="927" r:id="rId13"/>
    <p:sldId id="928" r:id="rId14"/>
    <p:sldId id="881" r:id="rId15"/>
    <p:sldId id="935" r:id="rId16"/>
    <p:sldId id="936" r:id="rId17"/>
    <p:sldId id="929" r:id="rId18"/>
    <p:sldId id="879" r:id="rId19"/>
    <p:sldId id="562" r:id="rId20"/>
    <p:sldId id="930" r:id="rId21"/>
    <p:sldId id="931" r:id="rId22"/>
    <p:sldId id="932" r:id="rId23"/>
    <p:sldId id="934" r:id="rId24"/>
    <p:sldId id="877" r:id="rId25"/>
    <p:sldId id="844" r:id="rId26"/>
    <p:sldId id="941" r:id="rId27"/>
    <p:sldId id="553" r:id="rId28"/>
    <p:sldId id="554" r:id="rId29"/>
    <p:sldId id="832" r:id="rId30"/>
    <p:sldId id="604" r:id="rId31"/>
    <p:sldId id="890" r:id="rId32"/>
    <p:sldId id="891" r:id="rId33"/>
    <p:sldId id="892" r:id="rId34"/>
    <p:sldId id="939" r:id="rId35"/>
    <p:sldId id="940" r:id="rId36"/>
    <p:sldId id="894" r:id="rId37"/>
    <p:sldId id="897" r:id="rId38"/>
    <p:sldId id="905" r:id="rId39"/>
    <p:sldId id="906" r:id="rId40"/>
    <p:sldId id="907" r:id="rId41"/>
    <p:sldId id="908" r:id="rId42"/>
    <p:sldId id="909" r:id="rId43"/>
    <p:sldId id="910" r:id="rId44"/>
    <p:sldId id="911" r:id="rId45"/>
    <p:sldId id="912" r:id="rId46"/>
    <p:sldId id="913" r:id="rId47"/>
    <p:sldId id="914" r:id="rId48"/>
    <p:sldId id="915" r:id="rId49"/>
    <p:sldId id="945" r:id="rId50"/>
    <p:sldId id="916" r:id="rId51"/>
    <p:sldId id="582" r:id="rId52"/>
    <p:sldId id="917" r:id="rId53"/>
    <p:sldId id="942" r:id="rId54"/>
    <p:sldId id="918" r:id="rId55"/>
    <p:sldId id="944" r:id="rId56"/>
  </p:sldIdLst>
  <p:sldSz cx="9144000" cy="5143500" type="screen16x9"/>
  <p:notesSz cx="6858000" cy="9144000"/>
  <p:defaultTextStyle>
    <a:defPPr>
      <a:defRPr lang="en-US"/>
    </a:defPPr>
    <a:lvl1pPr marL="0" algn="l" defTabSz="457166" rtl="0" eaLnBrk="1" latinLnBrk="0" hangingPunct="1">
      <a:defRPr sz="1800" kern="1200">
        <a:solidFill>
          <a:schemeClr val="tx1"/>
        </a:solidFill>
        <a:latin typeface="+mn-lt"/>
        <a:ea typeface="+mn-ea"/>
        <a:cs typeface="+mn-cs"/>
      </a:defRPr>
    </a:lvl1pPr>
    <a:lvl2pPr marL="457166" algn="l" defTabSz="457166" rtl="0" eaLnBrk="1" latinLnBrk="0" hangingPunct="1">
      <a:defRPr sz="1800" kern="1200">
        <a:solidFill>
          <a:schemeClr val="tx1"/>
        </a:solidFill>
        <a:latin typeface="+mn-lt"/>
        <a:ea typeface="+mn-ea"/>
        <a:cs typeface="+mn-cs"/>
      </a:defRPr>
    </a:lvl2pPr>
    <a:lvl3pPr marL="914333" algn="l" defTabSz="457166" rtl="0" eaLnBrk="1" latinLnBrk="0" hangingPunct="1">
      <a:defRPr sz="1800" kern="1200">
        <a:solidFill>
          <a:schemeClr val="tx1"/>
        </a:solidFill>
        <a:latin typeface="+mn-lt"/>
        <a:ea typeface="+mn-ea"/>
        <a:cs typeface="+mn-cs"/>
      </a:defRPr>
    </a:lvl3pPr>
    <a:lvl4pPr marL="1371499" algn="l" defTabSz="457166" rtl="0" eaLnBrk="1" latinLnBrk="0" hangingPunct="1">
      <a:defRPr sz="1800" kern="1200">
        <a:solidFill>
          <a:schemeClr val="tx1"/>
        </a:solidFill>
        <a:latin typeface="+mn-lt"/>
        <a:ea typeface="+mn-ea"/>
        <a:cs typeface="+mn-cs"/>
      </a:defRPr>
    </a:lvl4pPr>
    <a:lvl5pPr marL="1828666" algn="l" defTabSz="457166" rtl="0" eaLnBrk="1" latinLnBrk="0" hangingPunct="1">
      <a:defRPr sz="1800" kern="1200">
        <a:solidFill>
          <a:schemeClr val="tx1"/>
        </a:solidFill>
        <a:latin typeface="+mn-lt"/>
        <a:ea typeface="+mn-ea"/>
        <a:cs typeface="+mn-cs"/>
      </a:defRPr>
    </a:lvl5pPr>
    <a:lvl6pPr marL="2285832" algn="l" defTabSz="457166" rtl="0" eaLnBrk="1" latinLnBrk="0" hangingPunct="1">
      <a:defRPr sz="1800" kern="1200">
        <a:solidFill>
          <a:schemeClr val="tx1"/>
        </a:solidFill>
        <a:latin typeface="+mn-lt"/>
        <a:ea typeface="+mn-ea"/>
        <a:cs typeface="+mn-cs"/>
      </a:defRPr>
    </a:lvl6pPr>
    <a:lvl7pPr marL="2742998" algn="l" defTabSz="457166" rtl="0" eaLnBrk="1" latinLnBrk="0" hangingPunct="1">
      <a:defRPr sz="1800" kern="1200">
        <a:solidFill>
          <a:schemeClr val="tx1"/>
        </a:solidFill>
        <a:latin typeface="+mn-lt"/>
        <a:ea typeface="+mn-ea"/>
        <a:cs typeface="+mn-cs"/>
      </a:defRPr>
    </a:lvl7pPr>
    <a:lvl8pPr marL="3200165" algn="l" defTabSz="457166" rtl="0" eaLnBrk="1" latinLnBrk="0" hangingPunct="1">
      <a:defRPr sz="1800" kern="1200">
        <a:solidFill>
          <a:schemeClr val="tx1"/>
        </a:solidFill>
        <a:latin typeface="+mn-lt"/>
        <a:ea typeface="+mn-ea"/>
        <a:cs typeface="+mn-cs"/>
      </a:defRPr>
    </a:lvl8pPr>
    <a:lvl9pPr marL="3657331" algn="l" defTabSz="45716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C00"/>
    <a:srgbClr val="FF5D00"/>
    <a:srgbClr val="3F80CD"/>
    <a:srgbClr val="235F9C"/>
    <a:srgbClr val="001A5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04"/>
    <p:restoredTop sz="58057"/>
  </p:normalViewPr>
  <p:slideViewPr>
    <p:cSldViewPr snapToGrid="0" snapToObjects="1">
      <p:cViewPr varScale="1">
        <p:scale>
          <a:sx n="120" d="100"/>
          <a:sy n="120" d="100"/>
        </p:scale>
        <p:origin x="1760" y="16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7F71E0-0D53-DC45-B2CB-C90849DC5EA0}"/>
              </a:ext>
            </a:extLst>
          </p:cNvPr>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8A5AE21-28DC-384A-9615-D2A234C1720F}"/>
              </a:ext>
            </a:extLst>
          </p:cNvPr>
          <p:cNvSpPr>
            <a:spLocks noGrp="1"/>
          </p:cNvSpPr>
          <p:nvPr>
            <p:ph type="dt" sz="quarter" idx="1"/>
          </p:nvPr>
        </p:nvSpPr>
        <p:spPr>
          <a:xfrm>
            <a:off x="3885010" y="0"/>
            <a:ext cx="2971800" cy="459317"/>
          </a:xfrm>
          <a:prstGeom prst="rect">
            <a:avLst/>
          </a:prstGeom>
        </p:spPr>
        <p:txBody>
          <a:bodyPr vert="horz" lIns="91440" tIns="45720" rIns="91440" bIns="45720" rtlCol="0"/>
          <a:lstStyle>
            <a:lvl1pPr algn="r">
              <a:defRPr sz="1200"/>
            </a:lvl1pPr>
          </a:lstStyle>
          <a:p>
            <a:fld id="{51727395-C8D8-FC4E-A947-CB2BD1422AA7}" type="datetimeFigureOut">
              <a:rPr lang="en-US" smtClean="0"/>
              <a:t>3/18/26</a:t>
            </a:fld>
            <a:endParaRPr lang="en-US"/>
          </a:p>
        </p:txBody>
      </p:sp>
      <p:sp>
        <p:nvSpPr>
          <p:cNvPr id="4" name="Footer Placeholder 3">
            <a:extLst>
              <a:ext uri="{FF2B5EF4-FFF2-40B4-BE49-F238E27FC236}">
                <a16:creationId xmlns:a16="http://schemas.microsoft.com/office/drawing/2014/main" id="{C80266FC-5661-134A-A28E-52A0750FBAD1}"/>
              </a:ext>
            </a:extLst>
          </p:cNvPr>
          <p:cNvSpPr>
            <a:spLocks noGrp="1"/>
          </p:cNvSpPr>
          <p:nvPr>
            <p:ph type="ftr" sz="quarter" idx="2"/>
          </p:nvPr>
        </p:nvSpPr>
        <p:spPr>
          <a:xfrm>
            <a:off x="0" y="8684685"/>
            <a:ext cx="2971800" cy="45931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3260C2E-86CE-434C-81DE-82F82C9B8D9C}"/>
              </a:ext>
            </a:extLst>
          </p:cNvPr>
          <p:cNvSpPr>
            <a:spLocks noGrp="1"/>
          </p:cNvSpPr>
          <p:nvPr>
            <p:ph type="sldNum" sz="quarter" idx="3"/>
          </p:nvPr>
        </p:nvSpPr>
        <p:spPr>
          <a:xfrm>
            <a:off x="3885010" y="8684685"/>
            <a:ext cx="2971800" cy="459316"/>
          </a:xfrm>
          <a:prstGeom prst="rect">
            <a:avLst/>
          </a:prstGeom>
        </p:spPr>
        <p:txBody>
          <a:bodyPr vert="horz" lIns="91440" tIns="45720" rIns="91440" bIns="45720" rtlCol="0" anchor="b"/>
          <a:lstStyle>
            <a:lvl1pPr algn="r">
              <a:defRPr sz="1200"/>
            </a:lvl1pPr>
          </a:lstStyle>
          <a:p>
            <a:fld id="{CCC4DDE5-AA14-DD42-BEF8-7DF8E3623279}" type="slidenum">
              <a:rPr lang="en-US" smtClean="0"/>
              <a:t>‹#›</a:t>
            </a:fld>
            <a:endParaRPr lang="en-US"/>
          </a:p>
        </p:txBody>
      </p:sp>
    </p:spTree>
    <p:extLst>
      <p:ext uri="{BB962C8B-B14F-4D97-AF65-F5344CB8AC3E}">
        <p14:creationId xmlns:p14="http://schemas.microsoft.com/office/powerpoint/2010/main" val="3157634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5010" y="0"/>
            <a:ext cx="2971800" cy="459317"/>
          </a:xfrm>
          <a:prstGeom prst="rect">
            <a:avLst/>
          </a:prstGeom>
        </p:spPr>
        <p:txBody>
          <a:bodyPr vert="horz" lIns="91440" tIns="45720" rIns="91440" bIns="45720" rtlCol="0"/>
          <a:lstStyle>
            <a:lvl1pPr algn="r">
              <a:defRPr sz="1200"/>
            </a:lvl1pPr>
          </a:lstStyle>
          <a:p>
            <a:fld id="{910927A9-B8DC-384B-BF68-738F1B31EAB2}" type="datetimeFigureOut">
              <a:rPr lang="en-US" smtClean="0"/>
              <a:t>3/18/26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2"/>
            <a:ext cx="5486400" cy="360044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4685"/>
            <a:ext cx="2971800" cy="45931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5010" y="8684685"/>
            <a:ext cx="2971800" cy="459316"/>
          </a:xfrm>
          <a:prstGeom prst="rect">
            <a:avLst/>
          </a:prstGeom>
        </p:spPr>
        <p:txBody>
          <a:bodyPr vert="horz" lIns="91440" tIns="45720" rIns="91440" bIns="45720" rtlCol="0" anchor="b"/>
          <a:lstStyle>
            <a:lvl1pPr algn="r">
              <a:defRPr sz="1200"/>
            </a:lvl1pPr>
          </a:lstStyle>
          <a:p>
            <a:fld id="{DB333E9F-084A-8543-BC6F-0AE70009C29B}" type="slidenum">
              <a:rPr lang="en-US" smtClean="0"/>
              <a:t>‹#›</a:t>
            </a:fld>
            <a:endParaRPr lang="en-US"/>
          </a:p>
        </p:txBody>
      </p:sp>
    </p:spTree>
    <p:extLst>
      <p:ext uri="{BB962C8B-B14F-4D97-AF65-F5344CB8AC3E}">
        <p14:creationId xmlns:p14="http://schemas.microsoft.com/office/powerpoint/2010/main" val="1283024862"/>
      </p:ext>
    </p:extLst>
  </p:cSld>
  <p:clrMap bg1="lt1" tx1="dk1" bg2="lt2" tx2="dk2" accent1="accent1" accent2="accent2" accent3="accent3" accent4="accent4" accent5="accent5" accent6="accent6" hlink="hlink" folHlink="folHlink"/>
  <p:notesStyle>
    <a:lvl1pPr marL="0" algn="l" defTabSz="914333" rtl="0" eaLnBrk="1" latinLnBrk="0" hangingPunct="1">
      <a:defRPr sz="1199" kern="1200">
        <a:solidFill>
          <a:schemeClr val="tx1"/>
        </a:solidFill>
        <a:latin typeface="+mn-lt"/>
        <a:ea typeface="+mn-ea"/>
        <a:cs typeface="+mn-cs"/>
      </a:defRPr>
    </a:lvl1pPr>
    <a:lvl2pPr marL="457166" algn="l" defTabSz="914333" rtl="0" eaLnBrk="1" latinLnBrk="0" hangingPunct="1">
      <a:defRPr sz="1199" kern="1200">
        <a:solidFill>
          <a:schemeClr val="tx1"/>
        </a:solidFill>
        <a:latin typeface="+mn-lt"/>
        <a:ea typeface="+mn-ea"/>
        <a:cs typeface="+mn-cs"/>
      </a:defRPr>
    </a:lvl2pPr>
    <a:lvl3pPr marL="914333" algn="l" defTabSz="914333" rtl="0" eaLnBrk="1" latinLnBrk="0" hangingPunct="1">
      <a:defRPr sz="1199" kern="1200">
        <a:solidFill>
          <a:schemeClr val="tx1"/>
        </a:solidFill>
        <a:latin typeface="+mn-lt"/>
        <a:ea typeface="+mn-ea"/>
        <a:cs typeface="+mn-cs"/>
      </a:defRPr>
    </a:lvl3pPr>
    <a:lvl4pPr marL="1371499" algn="l" defTabSz="914333" rtl="0" eaLnBrk="1" latinLnBrk="0" hangingPunct="1">
      <a:defRPr sz="1199" kern="1200">
        <a:solidFill>
          <a:schemeClr val="tx1"/>
        </a:solidFill>
        <a:latin typeface="+mn-lt"/>
        <a:ea typeface="+mn-ea"/>
        <a:cs typeface="+mn-cs"/>
      </a:defRPr>
    </a:lvl4pPr>
    <a:lvl5pPr marL="1828666" algn="l" defTabSz="914333" rtl="0" eaLnBrk="1" latinLnBrk="0" hangingPunct="1">
      <a:defRPr sz="1199" kern="1200">
        <a:solidFill>
          <a:schemeClr val="tx1"/>
        </a:solidFill>
        <a:latin typeface="+mn-lt"/>
        <a:ea typeface="+mn-ea"/>
        <a:cs typeface="+mn-cs"/>
      </a:defRPr>
    </a:lvl5pPr>
    <a:lvl6pPr marL="2285832" algn="l" defTabSz="914333" rtl="0" eaLnBrk="1" latinLnBrk="0" hangingPunct="1">
      <a:defRPr sz="1199" kern="1200">
        <a:solidFill>
          <a:schemeClr val="tx1"/>
        </a:solidFill>
        <a:latin typeface="+mn-lt"/>
        <a:ea typeface="+mn-ea"/>
        <a:cs typeface="+mn-cs"/>
      </a:defRPr>
    </a:lvl6pPr>
    <a:lvl7pPr marL="2742998" algn="l" defTabSz="914333" rtl="0" eaLnBrk="1" latinLnBrk="0" hangingPunct="1">
      <a:defRPr sz="1199" kern="1200">
        <a:solidFill>
          <a:schemeClr val="tx1"/>
        </a:solidFill>
        <a:latin typeface="+mn-lt"/>
        <a:ea typeface="+mn-ea"/>
        <a:cs typeface="+mn-cs"/>
      </a:defRPr>
    </a:lvl7pPr>
    <a:lvl8pPr marL="3200165" algn="l" defTabSz="914333" rtl="0" eaLnBrk="1" latinLnBrk="0" hangingPunct="1">
      <a:defRPr sz="1199" kern="1200">
        <a:solidFill>
          <a:schemeClr val="tx1"/>
        </a:solidFill>
        <a:latin typeface="+mn-lt"/>
        <a:ea typeface="+mn-ea"/>
        <a:cs typeface="+mn-cs"/>
      </a:defRPr>
    </a:lvl8pPr>
    <a:lvl9pPr marL="3657331" algn="l" defTabSz="914333"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175F3A6-6971-5D47-A3A5-1EDC47BAF5FB}" type="slidenum">
              <a:rPr lang="en-US" smtClean="0"/>
              <a:t>1</a:t>
            </a:fld>
            <a:endParaRPr lang="en-US"/>
          </a:p>
        </p:txBody>
      </p:sp>
    </p:spTree>
    <p:extLst>
      <p:ext uri="{BB962C8B-B14F-4D97-AF65-F5344CB8AC3E}">
        <p14:creationId xmlns:p14="http://schemas.microsoft.com/office/powerpoint/2010/main" val="3814061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begin by defining unstructured data, contrasting them with structured data, and seeing a few examples</a:t>
            </a:r>
          </a:p>
          <a:p>
            <a:r>
              <a:rPr lang="en-US" dirty="0"/>
              <a:t>then, digging deeper into examples of unstructured data -- clinical notes, images, and so on -- we'll start to see why learning from these data is so important. For those of you who aren't clinicians, I hope this will start to make these data a little more concrete and intuitive</a:t>
            </a:r>
          </a:p>
          <a:p>
            <a:r>
              <a:rPr lang="en-US" dirty="0"/>
              <a:t>Hopefully by this point I'll have convinced you that including these data in predictive models is a good idea, and so we'll start thinking about how we do that</a:t>
            </a:r>
          </a:p>
          <a:p>
            <a:r>
              <a:rPr lang="en-US" dirty="0"/>
              <a:t>First, we'll look at models that use JUST unstructured data -- models that make predictions just from notes, or just from images</a:t>
            </a:r>
          </a:p>
          <a:p>
            <a:r>
              <a:rPr lang="en-US" dirty="0"/>
              <a:t>And then, finally, we'll see how we can combine unstructured data with structured data in our predictive models</a:t>
            </a:r>
          </a:p>
        </p:txBody>
      </p:sp>
      <p:sp>
        <p:nvSpPr>
          <p:cNvPr id="4" name="Slide Number Placeholder 3"/>
          <p:cNvSpPr>
            <a:spLocks noGrp="1"/>
          </p:cNvSpPr>
          <p:nvPr>
            <p:ph type="sldNum" sz="quarter" idx="5"/>
          </p:nvPr>
        </p:nvSpPr>
        <p:spPr/>
        <p:txBody>
          <a:bodyPr/>
          <a:lstStyle/>
          <a:p>
            <a:fld id="{FA87938A-5C4B-C644-A452-8D4D784107A7}" type="slidenum">
              <a:rPr lang="en-US" smtClean="0"/>
              <a:t>2</a:t>
            </a:fld>
            <a:endParaRPr lang="en-US"/>
          </a:p>
        </p:txBody>
      </p:sp>
    </p:spTree>
    <p:extLst>
      <p:ext uri="{BB962C8B-B14F-4D97-AF65-F5344CB8AC3E}">
        <p14:creationId xmlns:p14="http://schemas.microsoft.com/office/powerpoint/2010/main" val="2504557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to define </a:t>
            </a:r>
            <a:r>
              <a:rPr lang="en-US" dirty="0" err="1"/>
              <a:t>UNstructured</a:t>
            </a:r>
            <a:r>
              <a:rPr lang="en-US" dirty="0"/>
              <a:t> data, we first need to define structured data</a:t>
            </a:r>
          </a:p>
          <a:p>
            <a:endParaRPr lang="en-US" dirty="0"/>
          </a:p>
          <a:p>
            <a:r>
              <a:rPr lang="en-US" dirty="0"/>
              <a:t>Structured data is...</a:t>
            </a:r>
          </a:p>
          <a:p>
            <a:endParaRPr lang="en-US" dirty="0"/>
          </a:p>
          <a:p>
            <a:r>
              <a:rPr lang="en-US" dirty="0"/>
              <a:t>these data are usually stored in a table, maybe as part of an overarching data model, or in a spreadsheet, say as a csv file</a:t>
            </a:r>
          </a:p>
          <a:p>
            <a:r>
              <a:rPr lang="en-US" dirty="0"/>
              <a:t>they're comprised of columns of distinct variables, which are usually going to be numeric or categorical, and you might have some text fields here and there </a:t>
            </a:r>
          </a:p>
          <a:p>
            <a:endParaRPr lang="en-US" dirty="0"/>
          </a:p>
          <a:p>
            <a:r>
              <a:rPr lang="en-US" dirty="0"/>
              <a:t>if somebody said they're we're going to hand you a dataset from their clinical study, this is what you'd expect to get</a:t>
            </a:r>
          </a:p>
          <a:p>
            <a:r>
              <a:rPr lang="en-US" dirty="0"/>
              <a:t>and in the EHR, this is all the stuff you'd pull out of a system like DEDUCE here at duke -- a table of demographics, a table of diagnoses, and so on</a:t>
            </a:r>
          </a:p>
        </p:txBody>
      </p:sp>
      <p:sp>
        <p:nvSpPr>
          <p:cNvPr id="4" name="Slide Number Placeholder 3"/>
          <p:cNvSpPr>
            <a:spLocks noGrp="1"/>
          </p:cNvSpPr>
          <p:nvPr>
            <p:ph type="sldNum" sz="quarter" idx="5"/>
          </p:nvPr>
        </p:nvSpPr>
        <p:spPr/>
        <p:txBody>
          <a:bodyPr/>
          <a:lstStyle/>
          <a:p>
            <a:fld id="{FA87938A-5C4B-C644-A452-8D4D784107A7}" type="slidenum">
              <a:rPr lang="en-US" smtClean="0"/>
              <a:t>4</a:t>
            </a:fld>
            <a:endParaRPr lang="en-US"/>
          </a:p>
        </p:txBody>
      </p:sp>
    </p:spTree>
    <p:extLst>
      <p:ext uri="{BB962C8B-B14F-4D97-AF65-F5344CB8AC3E}">
        <p14:creationId xmlns:p14="http://schemas.microsoft.com/office/powerpoint/2010/main" val="3028126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from Duke's clinical research </a:t>
            </a:r>
            <a:r>
              <a:rPr lang="en-US" dirty="0" err="1"/>
              <a:t>datamart</a:t>
            </a:r>
            <a:endParaRPr lang="en-US" dirty="0"/>
          </a:p>
          <a:p>
            <a:endParaRPr lang="en-US" dirty="0"/>
          </a:p>
          <a:p>
            <a:r>
              <a:rPr lang="en-US" dirty="0"/>
              <a:t>we have rows of identifiers, some of which can be used to link this table to other tables, including the patient id</a:t>
            </a:r>
          </a:p>
          <a:p>
            <a:endParaRPr lang="en-US" dirty="0"/>
          </a:p>
          <a:p>
            <a:r>
              <a:rPr lang="en-US" dirty="0"/>
              <a:t>this is a table of diagnoses, so the key column is the column of diagnosis codes</a:t>
            </a:r>
          </a:p>
          <a:p>
            <a:r>
              <a:rPr lang="en-US" dirty="0"/>
              <a:t>and then we have additional columns of supporting details, including the date and time, and so on</a:t>
            </a:r>
          </a:p>
          <a:p>
            <a:endParaRPr lang="en-US" dirty="0"/>
          </a:p>
          <a:p>
            <a:r>
              <a:rPr lang="en-US" dirty="0"/>
              <a:t>importantly, associated with this table we have a key, or dictionary, which explains what we're seeing in each of the columns</a:t>
            </a:r>
          </a:p>
        </p:txBody>
      </p:sp>
      <p:sp>
        <p:nvSpPr>
          <p:cNvPr id="4" name="Slide Number Placeholder 3"/>
          <p:cNvSpPr>
            <a:spLocks noGrp="1"/>
          </p:cNvSpPr>
          <p:nvPr>
            <p:ph type="sldNum" sz="quarter" idx="5"/>
          </p:nvPr>
        </p:nvSpPr>
        <p:spPr/>
        <p:txBody>
          <a:bodyPr/>
          <a:lstStyle/>
          <a:p>
            <a:fld id="{FA87938A-5C4B-C644-A452-8D4D784107A7}" type="slidenum">
              <a:rPr lang="en-US" smtClean="0"/>
              <a:t>5</a:t>
            </a:fld>
            <a:endParaRPr lang="en-US"/>
          </a:p>
        </p:txBody>
      </p:sp>
    </p:spTree>
    <p:extLst>
      <p:ext uri="{BB962C8B-B14F-4D97-AF65-F5344CB8AC3E}">
        <p14:creationId xmlns:p14="http://schemas.microsoft.com/office/powerpoint/2010/main" val="1816880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needed to start with structured data, because the precise definition of unstructured data is:::</a:t>
            </a:r>
          </a:p>
          <a:p>
            <a:endParaRPr lang="en-US" dirty="0"/>
          </a:p>
          <a:p>
            <a:r>
              <a:rPr lang="en-US" dirty="0"/>
              <a:t>data that is NOT structured data</a:t>
            </a:r>
          </a:p>
          <a:p>
            <a:r>
              <a:rPr lang="en-US" dirty="0"/>
              <a:t>in other words -- everything else (it's a catch-all term)</a:t>
            </a:r>
          </a:p>
          <a:p>
            <a:endParaRPr lang="en-US" dirty="0"/>
          </a:p>
          <a:p>
            <a:r>
              <a:rPr lang="en-US" dirty="0"/>
              <a:t>these are your clinical notes -- of course, there are many different types</a:t>
            </a:r>
          </a:p>
          <a:p>
            <a:r>
              <a:rPr lang="en-US" dirty="0"/>
              <a:t>your images, which could be from radiological studies, but they could also be from pathology, or </a:t>
            </a:r>
            <a:r>
              <a:rPr lang="en-US" dirty="0" err="1"/>
              <a:t>opthalmology</a:t>
            </a:r>
            <a:r>
              <a:rPr lang="en-US" dirty="0"/>
              <a:t>, and many more</a:t>
            </a:r>
          </a:p>
          <a:p>
            <a:r>
              <a:rPr lang="en-US" dirty="0"/>
              <a:t>your electrophysiologic studies -- electrocardiograms, electroencephalograms, </a:t>
            </a:r>
            <a:r>
              <a:rPr lang="en-US" dirty="0" err="1"/>
              <a:t>electromyelograms</a:t>
            </a:r>
            <a:r>
              <a:rPr lang="en-US" dirty="0"/>
              <a:t>, </a:t>
            </a:r>
            <a:r>
              <a:rPr lang="en-US" dirty="0" err="1"/>
              <a:t>electrowhateverograms</a:t>
            </a:r>
            <a:endParaRPr lang="en-US" dirty="0"/>
          </a:p>
          <a:p>
            <a:r>
              <a:rPr lang="en-US" dirty="0"/>
              <a:t>it includes digital health data -- we're seeing more and more efforts to incorporate this stuff in the EHR</a:t>
            </a:r>
          </a:p>
          <a:p>
            <a:r>
              <a:rPr lang="en-US" dirty="0"/>
              <a:t>it might even include audio data</a:t>
            </a:r>
          </a:p>
          <a:p>
            <a:endParaRPr lang="en-US" dirty="0"/>
          </a:p>
          <a:p>
            <a:r>
              <a:rPr lang="en-US" dirty="0"/>
              <a:t>and the list is always growing</a:t>
            </a:r>
          </a:p>
          <a:p>
            <a:endParaRPr lang="en-US" dirty="0"/>
          </a:p>
          <a:p>
            <a:r>
              <a:rPr lang="en-US" dirty="0"/>
              <a:t>NOT organized into specific, </a:t>
            </a:r>
            <a:r>
              <a:rPr lang="en-US" dirty="0" err="1"/>
              <a:t>queryable</a:t>
            </a:r>
            <a:r>
              <a:rPr lang="en-US" dirty="0"/>
              <a:t> fields as part of an overarching model</a:t>
            </a:r>
          </a:p>
          <a:p>
            <a:r>
              <a:rPr lang="en-US" dirty="0"/>
              <a:t>and they do NOT fit neatly into a csv file -- instead, they tend to be stored in specific, specialized formats</a:t>
            </a:r>
          </a:p>
          <a:p>
            <a:endParaRPr lang="en-US" dirty="0"/>
          </a:p>
          <a:p>
            <a:r>
              <a:rPr lang="en-US" dirty="0"/>
              <a:t>for images you've got your </a:t>
            </a:r>
            <a:r>
              <a:rPr lang="en-US" dirty="0" err="1"/>
              <a:t>pngs</a:t>
            </a:r>
            <a:r>
              <a:rPr lang="en-US" dirty="0"/>
              <a:t> and jpegs, but you've also got your DICOM files, for example</a:t>
            </a:r>
          </a:p>
          <a:p>
            <a:r>
              <a:rPr lang="en-US" dirty="0"/>
              <a:t>there's a huge variety here -- far too big to cover in a single lecture</a:t>
            </a:r>
          </a:p>
          <a:p>
            <a:endParaRPr lang="en-US" dirty="0"/>
          </a:p>
          <a:p>
            <a:r>
              <a:rPr lang="en-US" dirty="0"/>
              <a:t>and so we're going to be talking about some general principles and focusing mostly on the most common modalities, which are images and text</a:t>
            </a:r>
          </a:p>
        </p:txBody>
      </p:sp>
      <p:sp>
        <p:nvSpPr>
          <p:cNvPr id="4" name="Slide Number Placeholder 3"/>
          <p:cNvSpPr>
            <a:spLocks noGrp="1"/>
          </p:cNvSpPr>
          <p:nvPr>
            <p:ph type="sldNum" sz="quarter" idx="5"/>
          </p:nvPr>
        </p:nvSpPr>
        <p:spPr/>
        <p:txBody>
          <a:bodyPr/>
          <a:lstStyle/>
          <a:p>
            <a:fld id="{FA87938A-5C4B-C644-A452-8D4D784107A7}" type="slidenum">
              <a:rPr lang="en-US" smtClean="0"/>
              <a:t>6</a:t>
            </a:fld>
            <a:endParaRPr lang="en-US"/>
          </a:p>
        </p:txBody>
      </p:sp>
    </p:spTree>
    <p:extLst>
      <p:ext uri="{BB962C8B-B14F-4D97-AF65-F5344CB8AC3E}">
        <p14:creationId xmlns:p14="http://schemas.microsoft.com/office/powerpoint/2010/main" val="2400549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run through a really simplified case to think about what data, both structured and unstructured, will be generated</a:t>
            </a:r>
          </a:p>
          <a:p>
            <a:endParaRPr lang="en-US" dirty="0"/>
          </a:p>
          <a:p>
            <a:r>
              <a:rPr lang="en-US" dirty="0"/>
              <a:t>Suppose we have a patient that goes to urgent care – they’re transferred to the emergency department because the providers at urgent care suspect a PE, or pulmonary embolism</a:t>
            </a:r>
          </a:p>
          <a:p>
            <a:r>
              <a:rPr lang="en-US" dirty="0"/>
              <a:t>This is a blood that forms usually in the veins in your leg, then dislodges and travels through the right heart and into the lungs, where it can go no further, so it gets stuck, blocking blood flow, damaging tissue, and so on – not good</a:t>
            </a:r>
          </a:p>
          <a:p>
            <a:endParaRPr lang="en-US" dirty="0"/>
          </a:p>
          <a:p>
            <a:r>
              <a:rPr lang="en-US" dirty="0"/>
              <a:t>So they transfer this person to the emergency department, where a bunch of things happen, not necessarily in the particular order I’m showing here</a:t>
            </a:r>
          </a:p>
          <a:p>
            <a:endParaRPr lang="en-US" dirty="0"/>
          </a:p>
          <a:p>
            <a:r>
              <a:rPr lang="en-US" dirty="0"/>
              <a:t>1, a provider is going to document the patient’s story, including all the details believed to be relevant to the current situation</a:t>
            </a:r>
          </a:p>
          <a:p>
            <a:r>
              <a:rPr lang="en-US" dirty="0"/>
              <a:t>This is going to include the patient’s broader medical history – other medical conditions, their medications, any allergies</a:t>
            </a:r>
          </a:p>
          <a:p>
            <a:r>
              <a:rPr lang="en-US" dirty="0"/>
              <a:t>As well as their social history and family history – what conditions do family members have</a:t>
            </a:r>
          </a:p>
          <a:p>
            <a:endParaRPr lang="en-US" dirty="0"/>
          </a:p>
          <a:p>
            <a:r>
              <a:rPr lang="en-US" dirty="0"/>
              <a:t>The provider will do a physical examination at some point, again with emphasis on the current situation, and they’ll do a review of systems – this is a head to toe review of patient covering all the different organ systems</a:t>
            </a:r>
          </a:p>
          <a:p>
            <a:endParaRPr lang="en-US" dirty="0"/>
          </a:p>
          <a:p>
            <a:r>
              <a:rPr lang="en-US" dirty="0"/>
              <a:t>They’re also going to get some lab results – in this case, they’ll get a basic metabolic panel, which is a very common, standard set of labs </a:t>
            </a:r>
            <a:r>
              <a:rPr lang="en-US" sz="1200" b="0" i="0" u="none" strike="noStrike" kern="1200" dirty="0">
                <a:solidFill>
                  <a:schemeClr val="tx1"/>
                </a:solidFill>
                <a:effectLst/>
                <a:latin typeface="+mn-lt"/>
                <a:ea typeface="+mn-ea"/>
                <a:cs typeface="+mn-cs"/>
              </a:rPr>
              <a:t>that summarizes your fluid and electrolyte status, kidney function, and blood sugar levels</a:t>
            </a:r>
          </a:p>
          <a:p>
            <a:r>
              <a:rPr lang="en-US" sz="1200" b="0" i="0" u="none" strike="noStrike" kern="1200" dirty="0">
                <a:solidFill>
                  <a:schemeClr val="tx1"/>
                </a:solidFill>
                <a:effectLst/>
                <a:latin typeface="+mn-lt"/>
                <a:ea typeface="+mn-ea"/>
                <a:cs typeface="+mn-cs"/>
              </a:rPr>
              <a:t>And they also get a complete blood count, which gives information about the cells in your blood – both white cells and red cells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They’ll also get a CT scan of the lungs, which along with the labs will help them determine whether it’s really a pulmonary embolism versus something else, pinpoint the location, see the extent of the damage, and so on</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And this is a pretty serious issue, so this patient needs to be hospitalized – the emergency department is going to go ahead and admit them to the hospital</a:t>
            </a:r>
            <a:endParaRPr lang="en-US" dirty="0"/>
          </a:p>
        </p:txBody>
      </p:sp>
      <p:sp>
        <p:nvSpPr>
          <p:cNvPr id="4" name="Slide Number Placeholder 3"/>
          <p:cNvSpPr>
            <a:spLocks noGrp="1"/>
          </p:cNvSpPr>
          <p:nvPr>
            <p:ph type="sldNum" sz="quarter" idx="5"/>
          </p:nvPr>
        </p:nvSpPr>
        <p:spPr/>
        <p:txBody>
          <a:bodyPr/>
          <a:lstStyle/>
          <a:p>
            <a:fld id="{FA87938A-5C4B-C644-A452-8D4D784107A7}" type="slidenum">
              <a:rPr lang="en-US" smtClean="0"/>
              <a:t>8</a:t>
            </a:fld>
            <a:endParaRPr lang="en-US"/>
          </a:p>
        </p:txBody>
      </p:sp>
    </p:spTree>
    <p:extLst>
      <p:ext uri="{BB962C8B-B14F-4D97-AF65-F5344CB8AC3E}">
        <p14:creationId xmlns:p14="http://schemas.microsoft.com/office/powerpoint/2010/main" val="1553289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parts of this fairly complicated story -- and again, this is the super simple, quick and dirty version coming from a non-clinician – which parts are going to make it into the structured data?</a:t>
            </a:r>
          </a:p>
          <a:p>
            <a:endParaRPr lang="en-US" dirty="0"/>
          </a:p>
          <a:p>
            <a:r>
              <a:rPr lang="en-US" dirty="0"/>
              <a:t>Well, we’ll see who the patient is -- their age, sex, race</a:t>
            </a:r>
          </a:p>
          <a:p>
            <a:r>
              <a:rPr lang="en-US" dirty="0"/>
              <a:t>We’ll see that they came to the emergency department, and that they were admitted from the ED</a:t>
            </a:r>
          </a:p>
          <a:p>
            <a:endParaRPr lang="en-US" dirty="0"/>
          </a:p>
          <a:p>
            <a:r>
              <a:rPr lang="en-US" dirty="0"/>
              <a:t>We’ll see diagnosis codes, so we SHOULD end up seeing codes related to pulmonary embolism, supposing that ends up being the issue</a:t>
            </a:r>
          </a:p>
          <a:p>
            <a:r>
              <a:rPr lang="en-US" dirty="0"/>
              <a:t>And we’ll see procedure codes – we’ll see that they got a CT, for example</a:t>
            </a:r>
          </a:p>
          <a:p>
            <a:endParaRPr lang="en-US" dirty="0"/>
          </a:p>
          <a:p>
            <a:r>
              <a:rPr lang="en-US" dirty="0"/>
              <a:t>We’ll even see the details of those labs – the exact electrolyte values, their white cell count, and so on</a:t>
            </a:r>
          </a:p>
          <a:p>
            <a:endParaRPr lang="en-US" dirty="0"/>
          </a:p>
          <a:p>
            <a:r>
              <a:rPr lang="en-US" dirty="0"/>
              <a:t>So, that’s a lot of information. But it is really a comprehensive summary of the encounter?</a:t>
            </a:r>
          </a:p>
          <a:p>
            <a:r>
              <a:rPr lang="en-US" dirty="0"/>
              <a:t>Let’s thing about what we WON’T see.</a:t>
            </a:r>
          </a:p>
        </p:txBody>
      </p:sp>
      <p:sp>
        <p:nvSpPr>
          <p:cNvPr id="4" name="Slide Number Placeholder 3"/>
          <p:cNvSpPr>
            <a:spLocks noGrp="1"/>
          </p:cNvSpPr>
          <p:nvPr>
            <p:ph type="sldNum" sz="quarter" idx="5"/>
          </p:nvPr>
        </p:nvSpPr>
        <p:spPr/>
        <p:txBody>
          <a:bodyPr/>
          <a:lstStyle/>
          <a:p>
            <a:fld id="{FA87938A-5C4B-C644-A452-8D4D784107A7}" type="slidenum">
              <a:rPr lang="en-US" smtClean="0"/>
              <a:t>9</a:t>
            </a:fld>
            <a:endParaRPr lang="en-US"/>
          </a:p>
        </p:txBody>
      </p:sp>
    </p:spTree>
    <p:extLst>
      <p:ext uri="{BB962C8B-B14F-4D97-AF65-F5344CB8AC3E}">
        <p14:creationId xmlns:p14="http://schemas.microsoft.com/office/powerpoint/2010/main" val="1433392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that, let’s start by looking at patient’s story, as documented by a provider</a:t>
            </a:r>
          </a:p>
          <a:p>
            <a:endParaRPr lang="en-US" dirty="0"/>
          </a:p>
          <a:p>
            <a:r>
              <a:rPr lang="en-US" dirty="0"/>
              <a:t>This example I’m showing you is publicly available on the internet, in case anybody is concerned</a:t>
            </a:r>
          </a:p>
          <a:p>
            <a:r>
              <a:rPr lang="en-US" dirty="0"/>
              <a:t>In fact, this is a note written by a UNC medical student as an example of how to write a history and physical, which is a detailed note covering all the elements I mentioned a moment ago</a:t>
            </a:r>
          </a:p>
          <a:p>
            <a:endParaRPr lang="en-US" dirty="0"/>
          </a:p>
          <a:p>
            <a:r>
              <a:rPr lang="en-US" dirty="0"/>
              <a:t>It’s also one of the note types required as part of the FHIR standard.</a:t>
            </a:r>
          </a:p>
          <a:p>
            <a:endParaRPr lang="en-US" dirty="0"/>
          </a:p>
          <a:p>
            <a:r>
              <a:rPr lang="en-US" dirty="0"/>
              <a:t>Now, if you read through this note, what you’ll find is that it’s very information dense.</a:t>
            </a:r>
          </a:p>
          <a:p>
            <a:r>
              <a:rPr lang="en-US" dirty="0"/>
              <a:t>There’s a ton of detailed information here, and all of it is potentially very important</a:t>
            </a:r>
          </a:p>
          <a:p>
            <a:endParaRPr lang="en-US" dirty="0"/>
          </a:p>
          <a:p>
            <a:r>
              <a:rPr lang="en-US" dirty="0"/>
              <a:t>We get his pain level and a description of the nature of the pain</a:t>
            </a:r>
          </a:p>
          <a:p>
            <a:r>
              <a:rPr lang="en-US" dirty="0"/>
              <a:t>We get subjective elements of his experience – a ”rattling” in his chest</a:t>
            </a:r>
          </a:p>
          <a:p>
            <a:endParaRPr lang="en-US" dirty="0"/>
          </a:p>
          <a:p>
            <a:r>
              <a:rPr lang="en-US" dirty="0"/>
              <a:t>We see that he had pneumonia about two months ago – this context may be very important to understand</a:t>
            </a:r>
          </a:p>
          <a:p>
            <a:endParaRPr lang="en-US" dirty="0"/>
          </a:p>
          <a:p>
            <a:r>
              <a:rPr lang="en-US" dirty="0"/>
              <a:t>Some of this makes it into structured fields, but more of it doesn’t</a:t>
            </a:r>
          </a:p>
        </p:txBody>
      </p:sp>
      <p:sp>
        <p:nvSpPr>
          <p:cNvPr id="4" name="Slide Number Placeholder 3"/>
          <p:cNvSpPr>
            <a:spLocks noGrp="1"/>
          </p:cNvSpPr>
          <p:nvPr>
            <p:ph type="sldNum" sz="quarter" idx="5"/>
          </p:nvPr>
        </p:nvSpPr>
        <p:spPr/>
        <p:txBody>
          <a:bodyPr/>
          <a:lstStyle/>
          <a:p>
            <a:fld id="{FA87938A-5C4B-C644-A452-8D4D784107A7}" type="slidenum">
              <a:rPr lang="en-US" smtClean="0"/>
              <a:t>10</a:t>
            </a:fld>
            <a:endParaRPr lang="en-US"/>
          </a:p>
        </p:txBody>
      </p:sp>
    </p:spTree>
    <p:extLst>
      <p:ext uri="{BB962C8B-B14F-4D97-AF65-F5344CB8AC3E}">
        <p14:creationId xmlns:p14="http://schemas.microsoft.com/office/powerpoint/2010/main" val="4011287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on, we see all those different elements I mentioned</a:t>
            </a:r>
          </a:p>
          <a:p>
            <a:r>
              <a:rPr lang="en-US" dirty="0"/>
              <a:t>His past medical history, medications, review of systems</a:t>
            </a:r>
          </a:p>
        </p:txBody>
      </p:sp>
      <p:sp>
        <p:nvSpPr>
          <p:cNvPr id="4" name="Slide Number Placeholder 3"/>
          <p:cNvSpPr>
            <a:spLocks noGrp="1"/>
          </p:cNvSpPr>
          <p:nvPr>
            <p:ph type="sldNum" sz="quarter" idx="5"/>
          </p:nvPr>
        </p:nvSpPr>
        <p:spPr/>
        <p:txBody>
          <a:bodyPr/>
          <a:lstStyle/>
          <a:p>
            <a:fld id="{FA87938A-5C4B-C644-A452-8D4D784107A7}" type="slidenum">
              <a:rPr lang="en-US" smtClean="0"/>
              <a:t>11</a:t>
            </a:fld>
            <a:endParaRPr lang="en-US"/>
          </a:p>
        </p:txBody>
      </p:sp>
    </p:spTree>
    <p:extLst>
      <p:ext uri="{BB962C8B-B14F-4D97-AF65-F5344CB8AC3E}">
        <p14:creationId xmlns:p14="http://schemas.microsoft.com/office/powerpoint/2010/main" val="1260909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 get to the assessment and plan --</a:t>
            </a:r>
          </a:p>
          <a:p>
            <a:r>
              <a:rPr lang="en-US" dirty="0"/>
              <a:t>This is the providers putting all the pieces together, summarizing the situation, and plotting next steps</a:t>
            </a:r>
          </a:p>
          <a:p>
            <a:endParaRPr lang="en-US" dirty="0"/>
          </a:p>
          <a:p>
            <a:r>
              <a:rPr lang="en-US" dirty="0"/>
              <a:t>The structured data will tell us a little bit about what they ended up doing, but it won’t really tell us why.</a:t>
            </a:r>
          </a:p>
          <a:p>
            <a:r>
              <a:rPr lang="en-US" dirty="0"/>
              <a:t>Here we get quite a bit of insight into the details of their thought process at the time.</a:t>
            </a:r>
          </a:p>
          <a:p>
            <a:endParaRPr lang="en-US" dirty="0"/>
          </a:p>
          <a:p>
            <a:r>
              <a:rPr lang="en-US" dirty="0"/>
              <a:t>This is not something you’ll find in a csv file</a:t>
            </a:r>
          </a:p>
        </p:txBody>
      </p:sp>
      <p:sp>
        <p:nvSpPr>
          <p:cNvPr id="4" name="Slide Number Placeholder 3"/>
          <p:cNvSpPr>
            <a:spLocks noGrp="1"/>
          </p:cNvSpPr>
          <p:nvPr>
            <p:ph type="sldNum" sz="quarter" idx="5"/>
          </p:nvPr>
        </p:nvSpPr>
        <p:spPr/>
        <p:txBody>
          <a:bodyPr/>
          <a:lstStyle/>
          <a:p>
            <a:fld id="{FA87938A-5C4B-C644-A452-8D4D784107A7}" type="slidenum">
              <a:rPr lang="en-US" smtClean="0"/>
              <a:t>12</a:t>
            </a:fld>
            <a:endParaRPr lang="en-US"/>
          </a:p>
        </p:txBody>
      </p:sp>
    </p:spTree>
    <p:extLst>
      <p:ext uri="{BB962C8B-B14F-4D97-AF65-F5344CB8AC3E}">
        <p14:creationId xmlns:p14="http://schemas.microsoft.com/office/powerpoint/2010/main" val="2627038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might think – well, this is interesting, and maybe it was very important at the time, but is it really important for the kinds of things that I want to do with the data.</a:t>
            </a:r>
          </a:p>
          <a:p>
            <a:endParaRPr lang="en-US" dirty="0"/>
          </a:p>
          <a:p>
            <a:r>
              <a:rPr lang="en-US" dirty="0"/>
              <a:t>And of course it depends on what you’re doing, exactly, but in general the answer it YES – it matters more than you might think</a:t>
            </a:r>
          </a:p>
          <a:p>
            <a:endParaRPr lang="en-US" dirty="0"/>
          </a:p>
          <a:p>
            <a:r>
              <a:rPr lang="en-US" dirty="0"/>
              <a:t>Here’s the key finding of a recent JAMIA paper focused on identifying cardiovascular diseases and procedures from EHR data</a:t>
            </a:r>
          </a:p>
          <a:p>
            <a:r>
              <a:rPr lang="en-US" dirty="0"/>
              <a:t>Each of these concepts was identified by chart review by clinical expert annotators</a:t>
            </a:r>
          </a:p>
          <a:p>
            <a:endParaRPr lang="en-US" dirty="0"/>
          </a:p>
          <a:p>
            <a:r>
              <a:rPr lang="en-US" dirty="0"/>
              <a:t>And then they train models to identify those concepts based on</a:t>
            </a:r>
          </a:p>
          <a:p>
            <a:r>
              <a:rPr lang="en-US" dirty="0"/>
              <a:t>(a) structured data – this is “EHR-S”</a:t>
            </a:r>
          </a:p>
          <a:p>
            <a:r>
              <a:rPr lang="en-US" dirty="0"/>
              <a:t>And (b) clinical notes – this is “EHR-U”</a:t>
            </a:r>
          </a:p>
          <a:p>
            <a:endParaRPr lang="en-US" dirty="0"/>
          </a:p>
          <a:p>
            <a:r>
              <a:rPr lang="en-US" dirty="0"/>
              <a:t>Their findings tell a pretty consistent and compelling story</a:t>
            </a:r>
          </a:p>
          <a:p>
            <a:endParaRPr lang="en-US" dirty="0"/>
          </a:p>
          <a:p>
            <a:r>
              <a:rPr lang="en-US" dirty="0"/>
              <a:t>Both approaches do pretty well in terms of precision – also known as positive predictive value – in other words, both models are usually right when they tell you they’ve identified one of these concepts</a:t>
            </a:r>
          </a:p>
          <a:p>
            <a:r>
              <a:rPr lang="en-US" dirty="0"/>
              <a:t>However, the recall – aka the sensitivity – is FAR better for the unstructured models</a:t>
            </a:r>
          </a:p>
          <a:p>
            <a:endParaRPr lang="en-US" dirty="0"/>
          </a:p>
          <a:p>
            <a:r>
              <a:rPr lang="en-US" dirty="0"/>
              <a:t>Very often, the structured data models miss it</a:t>
            </a:r>
          </a:p>
          <a:p>
            <a:r>
              <a:rPr lang="en-US" dirty="0"/>
              <a:t>And if you look through the details, they do a good job building these models</a:t>
            </a:r>
          </a:p>
          <a:p>
            <a:r>
              <a:rPr lang="en-US" dirty="0"/>
              <a:t>The issue is not the models themselves – it’s that the structured data very often doesn’t contain the relevant information. It’s only found in the notes.</a:t>
            </a:r>
          </a:p>
        </p:txBody>
      </p:sp>
      <p:sp>
        <p:nvSpPr>
          <p:cNvPr id="4" name="Slide Number Placeholder 3"/>
          <p:cNvSpPr>
            <a:spLocks noGrp="1"/>
          </p:cNvSpPr>
          <p:nvPr>
            <p:ph type="sldNum" sz="quarter" idx="5"/>
          </p:nvPr>
        </p:nvSpPr>
        <p:spPr/>
        <p:txBody>
          <a:bodyPr/>
          <a:lstStyle/>
          <a:p>
            <a:fld id="{FA87938A-5C4B-C644-A452-8D4D784107A7}" type="slidenum">
              <a:rPr lang="en-US" smtClean="0"/>
              <a:t>13</a:t>
            </a:fld>
            <a:endParaRPr lang="en-US"/>
          </a:p>
        </p:txBody>
      </p:sp>
    </p:spTree>
    <p:extLst>
      <p:ext uri="{BB962C8B-B14F-4D97-AF65-F5344CB8AC3E}">
        <p14:creationId xmlns:p14="http://schemas.microsoft.com/office/powerpoint/2010/main" val="311791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so hopefully I’ve convinced you that the notes matter</a:t>
            </a:r>
          </a:p>
          <a:p>
            <a:r>
              <a:rPr lang="en-US" dirty="0"/>
              <a:t>What about images?</a:t>
            </a:r>
          </a:p>
          <a:p>
            <a:endParaRPr lang="en-US" dirty="0"/>
          </a:p>
          <a:p>
            <a:r>
              <a:rPr lang="en-US" dirty="0"/>
              <a:t>Going back to our case, we know this patient also had a CT scan</a:t>
            </a:r>
          </a:p>
        </p:txBody>
      </p:sp>
      <p:sp>
        <p:nvSpPr>
          <p:cNvPr id="4" name="Slide Number Placeholder 3"/>
          <p:cNvSpPr>
            <a:spLocks noGrp="1"/>
          </p:cNvSpPr>
          <p:nvPr>
            <p:ph type="sldNum" sz="quarter" idx="5"/>
          </p:nvPr>
        </p:nvSpPr>
        <p:spPr/>
        <p:txBody>
          <a:bodyPr/>
          <a:lstStyle/>
          <a:p>
            <a:fld id="{FA87938A-5C4B-C644-A452-8D4D784107A7}" type="slidenum">
              <a:rPr lang="en-US" smtClean="0"/>
              <a:t>16</a:t>
            </a:fld>
            <a:endParaRPr lang="en-US"/>
          </a:p>
        </p:txBody>
      </p:sp>
    </p:spTree>
    <p:extLst>
      <p:ext uri="{BB962C8B-B14F-4D97-AF65-F5344CB8AC3E}">
        <p14:creationId xmlns:p14="http://schemas.microsoft.com/office/powerpoint/2010/main" val="3944349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CT slice – this is coming from a really useful site called </a:t>
            </a:r>
            <a:r>
              <a:rPr lang="en-US" dirty="0" err="1"/>
              <a:t>radiopedia</a:t>
            </a:r>
            <a:r>
              <a:rPr lang="en-US" dirty="0"/>
              <a:t> – that shows a large blood clot sitting over the first branching of the main pulmonary artery</a:t>
            </a:r>
          </a:p>
          <a:p>
            <a:r>
              <a:rPr lang="en-US" dirty="0"/>
              <a:t>Reading a CT is a little beyond the current scope, but here we’re looking at a slice of a patient who’s lying down, with their feet coming out toward you, if you could see them</a:t>
            </a:r>
          </a:p>
          <a:p>
            <a:r>
              <a:rPr lang="en-US" dirty="0"/>
              <a:t>And the dark areas on either side of the center are lung tissue</a:t>
            </a:r>
          </a:p>
          <a:p>
            <a:endParaRPr lang="en-US" dirty="0"/>
          </a:p>
          <a:p>
            <a:r>
              <a:rPr lang="en-US" dirty="0"/>
              <a:t>So again, think about all the information that’s contained in this image</a:t>
            </a:r>
          </a:p>
          <a:p>
            <a:r>
              <a:rPr lang="en-US" dirty="0"/>
              <a:t>Without being a radiologist, it’s a little bit hard to even think it through</a:t>
            </a:r>
          </a:p>
          <a:p>
            <a:endParaRPr lang="en-US" dirty="0"/>
          </a:p>
          <a:p>
            <a:r>
              <a:rPr lang="en-US" dirty="0"/>
              <a:t>But it shouldn’t be too hard to convince yourself that there’s a ton information here about the physical characteristics of the blood clot, the surrounding vessels and tissue, and this patient’s anatomy</a:t>
            </a:r>
          </a:p>
          <a:p>
            <a:r>
              <a:rPr lang="en-US" dirty="0"/>
              <a:t>1000 words wouldn’t be nearly enough to describe it all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little to none of this information makes it into structured fields</a:t>
            </a:r>
          </a:p>
          <a:p>
            <a:r>
              <a:rPr lang="en-US" dirty="0"/>
              <a:t>The structured data tells us that the CT scan happened, and what was done as a result – that’s about it.</a:t>
            </a:r>
          </a:p>
          <a:p>
            <a:endParaRPr lang="en-US" dirty="0"/>
          </a:p>
          <a:p>
            <a:r>
              <a:rPr lang="en-US" dirty="0"/>
              <a:t>Now, on top of the scan itself, there will be a note with the radiologist’s description of the image and their interpretation</a:t>
            </a:r>
          </a:p>
          <a:p>
            <a:r>
              <a:rPr lang="en-US" dirty="0"/>
              <a:t>So, if we use that note, we get part of the way there – we get information about this scan, as interpreted by the radiologist, that is not found in structured fields</a:t>
            </a:r>
          </a:p>
          <a:p>
            <a:endParaRPr lang="en-US" dirty="0"/>
          </a:p>
          <a:p>
            <a:r>
              <a:rPr lang="en-US" dirty="0"/>
              <a:t>Even so, the original scan of course contains more information than the radiologist’s note – at the end of the day, both are very valuable</a:t>
            </a:r>
          </a:p>
        </p:txBody>
      </p:sp>
      <p:sp>
        <p:nvSpPr>
          <p:cNvPr id="4" name="Slide Number Placeholder 3"/>
          <p:cNvSpPr>
            <a:spLocks noGrp="1"/>
          </p:cNvSpPr>
          <p:nvPr>
            <p:ph type="sldNum" sz="quarter" idx="5"/>
          </p:nvPr>
        </p:nvSpPr>
        <p:spPr/>
        <p:txBody>
          <a:bodyPr/>
          <a:lstStyle/>
          <a:p>
            <a:fld id="{FA87938A-5C4B-C644-A452-8D4D784107A7}" type="slidenum">
              <a:rPr lang="en-US" smtClean="0"/>
              <a:t>17</a:t>
            </a:fld>
            <a:endParaRPr lang="en-US"/>
          </a:p>
        </p:txBody>
      </p:sp>
    </p:spTree>
    <p:extLst>
      <p:ext uri="{BB962C8B-B14F-4D97-AF65-F5344CB8AC3E}">
        <p14:creationId xmlns:p14="http://schemas.microsoft.com/office/powerpoint/2010/main" val="3884025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a:t>But as before, we don’t really need to speculate about the value of information in images, or our ability to extract this information</a:t>
            </a:r>
          </a:p>
          <a:p>
            <a:pPr marL="171450" indent="-171450">
              <a:buFontTx/>
              <a:buChar char="-"/>
            </a:pPr>
            <a:endParaRPr lang="en-US" baseline="0" dirty="0"/>
          </a:p>
          <a:p>
            <a:pPr marL="171450" indent="-171450">
              <a:buFontTx/>
              <a:buChar char="-"/>
            </a:pPr>
            <a:r>
              <a:rPr lang="en-US" baseline="0" dirty="0"/>
              <a:t>Over the last few years, we’ve seen quite a few results showing that deep neural networks, if given a sufficiently large dataset to learn from -- are capable of analyzing medical images as well as – or in some cases, better than – trained specialists</a:t>
            </a:r>
          </a:p>
          <a:p>
            <a:pPr marL="171450" indent="-171450">
              <a:buFontTx/>
              <a:buChar char="-"/>
            </a:pPr>
            <a:endParaRPr lang="en-US" baseline="0" dirty="0"/>
          </a:p>
          <a:p>
            <a:pPr marL="171450" indent="-171450">
              <a:buFontTx/>
              <a:buChar char="-"/>
            </a:pPr>
            <a:r>
              <a:rPr lang="en-US" baseline="0" dirty="0"/>
              <a:t>Here we see the performance of a model that takes a fundoscopic image – that is, an image of the back of the eye – and predicts whether the patient has referrable diabetic retinopathy.</a:t>
            </a:r>
          </a:p>
          <a:p>
            <a:pPr marL="171450" indent="-171450">
              <a:buFontTx/>
              <a:buChar char="-"/>
            </a:pPr>
            <a:r>
              <a:rPr lang="en-US" baseline="0" dirty="0"/>
              <a:t>In this case, we see that the sensitivity and specificity of the model are on par with retina specialists</a:t>
            </a:r>
          </a:p>
          <a:p>
            <a:pPr marL="171450" indent="-171450">
              <a:buFontTx/>
              <a:buChar char="-"/>
            </a:pPr>
            <a:endParaRPr lang="en-US" baseline="0" dirty="0"/>
          </a:p>
          <a:p>
            <a:pPr marL="171450" indent="-171450">
              <a:buFontTx/>
              <a:buChar char="-"/>
            </a:pPr>
            <a:r>
              <a:rPr lang="en-US" baseline="0" dirty="0"/>
              <a:t>And similar findings have been observed in dermatology – a deep neural network was able to identify malignant skin lesions as well as trained dermatologists – as well as in pathology, radiology, </a:t>
            </a:r>
            <a:r>
              <a:rPr lang="en-US" baseline="0" dirty="0" err="1"/>
              <a:t>etc</a:t>
            </a:r>
            <a:endParaRPr lang="en-US" baseline="0" dirty="0"/>
          </a:p>
          <a:p>
            <a:pPr marL="171450" indent="-171450">
              <a:buFontTx/>
              <a:buChar char="-"/>
            </a:pPr>
            <a:r>
              <a:rPr lang="en-US" baseline="0" dirty="0"/>
              <a:t>These results hold only for very specific scenarios and again, they also require large amounts of training data</a:t>
            </a:r>
          </a:p>
          <a:p>
            <a:pPr marL="171450" indent="-171450">
              <a:buFontTx/>
              <a:buChar char="-"/>
            </a:pPr>
            <a:endParaRPr lang="en-US" baseline="0" dirty="0"/>
          </a:p>
          <a:p>
            <a:pPr marL="171450" indent="-171450">
              <a:buFontTx/>
              <a:buChar char="-"/>
            </a:pPr>
            <a:r>
              <a:rPr lang="en-US" baseline="0" dirty="0"/>
              <a:t>Nevertheless, it’s very clear that there’s information in these images that you wouldn’t get from going over a patient’s previous medical history and other information previously captured in structured fields</a:t>
            </a:r>
          </a:p>
        </p:txBody>
      </p:sp>
      <p:sp>
        <p:nvSpPr>
          <p:cNvPr id="4" name="Slide Number Placeholder 3"/>
          <p:cNvSpPr>
            <a:spLocks noGrp="1"/>
          </p:cNvSpPr>
          <p:nvPr>
            <p:ph type="sldNum" sz="quarter" idx="10"/>
          </p:nvPr>
        </p:nvSpPr>
        <p:spPr/>
        <p:txBody>
          <a:bodyPr/>
          <a:lstStyle/>
          <a:p>
            <a:fld id="{0175F3A6-6971-5D47-A3A5-1EDC47BAF5FB}" type="slidenum">
              <a:rPr lang="en-US" smtClean="0"/>
              <a:t>18</a:t>
            </a:fld>
            <a:endParaRPr lang="en-US"/>
          </a:p>
        </p:txBody>
      </p:sp>
    </p:spTree>
    <p:extLst>
      <p:ext uri="{BB962C8B-B14F-4D97-AF65-F5344CB8AC3E}">
        <p14:creationId xmlns:p14="http://schemas.microsoft.com/office/powerpoint/2010/main" val="1796465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going back to our snapshot once more, we do see that this patient had an EKG – an electrocardiogram</a:t>
            </a:r>
          </a:p>
          <a:p>
            <a:endParaRPr lang="en-US" dirty="0"/>
          </a:p>
        </p:txBody>
      </p:sp>
      <p:sp>
        <p:nvSpPr>
          <p:cNvPr id="4" name="Slide Number Placeholder 3"/>
          <p:cNvSpPr>
            <a:spLocks noGrp="1"/>
          </p:cNvSpPr>
          <p:nvPr>
            <p:ph type="sldNum" sz="quarter" idx="5"/>
          </p:nvPr>
        </p:nvSpPr>
        <p:spPr/>
        <p:txBody>
          <a:bodyPr/>
          <a:lstStyle/>
          <a:p>
            <a:fld id="{FA87938A-5C4B-C644-A452-8D4D784107A7}" type="slidenum">
              <a:rPr lang="en-US" smtClean="0"/>
              <a:t>19</a:t>
            </a:fld>
            <a:endParaRPr lang="en-US"/>
          </a:p>
        </p:txBody>
      </p:sp>
    </p:spTree>
    <p:extLst>
      <p:ext uri="{BB962C8B-B14F-4D97-AF65-F5344CB8AC3E}">
        <p14:creationId xmlns:p14="http://schemas.microsoft.com/office/powerpoint/2010/main" val="8016118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focus less on electrophysiologic studies today, but suffice to say that an analogous argument holds for these data as well</a:t>
            </a:r>
          </a:p>
          <a:p>
            <a:r>
              <a:rPr lang="en-US" dirty="0"/>
              <a:t>Each of these studies generates a multi-dimensional physiologic time series that contains much more information than the resulting report</a:t>
            </a:r>
          </a:p>
          <a:p>
            <a:endParaRPr lang="en-US" dirty="0"/>
          </a:p>
          <a:p>
            <a:r>
              <a:rPr lang="en-US" dirty="0"/>
              <a:t>And in each case, the value of these data across a range of prediction tasks has been demonstrated in the biomedical literature. In fact, models for these data are fairly similar to the models that are used for image processing</a:t>
            </a:r>
          </a:p>
          <a:p>
            <a:r>
              <a:rPr lang="en-US" dirty="0"/>
              <a:t>I’m focusing even less on digital </a:t>
            </a:r>
            <a:r>
              <a:rPr lang="en-US" dirty="0" err="1"/>
              <a:t>heatlh</a:t>
            </a:r>
            <a:r>
              <a:rPr lang="en-US" dirty="0"/>
              <a:t> data in this lecture – that is, data captured by wearable devices and pertaining to the wearer’s physiology</a:t>
            </a:r>
          </a:p>
          <a:p>
            <a:r>
              <a:rPr lang="en-US" dirty="0"/>
              <a:t>But the same arguments hold for digital </a:t>
            </a:r>
            <a:r>
              <a:rPr lang="en-US" dirty="0" err="1"/>
              <a:t>heatlh</a:t>
            </a:r>
            <a:r>
              <a:rPr lang="en-US" dirty="0"/>
              <a:t> data, too, and we anticipate seeing these data integrated in EHR systems in the near future</a:t>
            </a:r>
          </a:p>
        </p:txBody>
      </p:sp>
      <p:sp>
        <p:nvSpPr>
          <p:cNvPr id="4" name="Slide Number Placeholder 3"/>
          <p:cNvSpPr>
            <a:spLocks noGrp="1"/>
          </p:cNvSpPr>
          <p:nvPr>
            <p:ph type="sldNum" sz="quarter" idx="5"/>
          </p:nvPr>
        </p:nvSpPr>
        <p:spPr/>
        <p:txBody>
          <a:bodyPr/>
          <a:lstStyle/>
          <a:p>
            <a:fld id="{FA87938A-5C4B-C644-A452-8D4D784107A7}" type="slidenum">
              <a:rPr lang="en-US" smtClean="0"/>
              <a:t>20</a:t>
            </a:fld>
            <a:endParaRPr lang="en-US"/>
          </a:p>
        </p:txBody>
      </p:sp>
    </p:spTree>
    <p:extLst>
      <p:ext uri="{BB962C8B-B14F-4D97-AF65-F5344CB8AC3E}">
        <p14:creationId xmlns:p14="http://schemas.microsoft.com/office/powerpoint/2010/main" val="928239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on to HOW we can use unstructured data, let’s take a last, quick, 10000 ft view of why this is a good idea</a:t>
            </a:r>
          </a:p>
          <a:p>
            <a:endParaRPr lang="en-US" dirty="0"/>
          </a:p>
          <a:p>
            <a:r>
              <a:rPr lang="en-US" dirty="0"/>
              <a:t>The first reason, and the one I’ve emphasized most here, is that these data contain information that’s not found in structured fields, yet is useful for a wide variety of analyses and prediction tasks</a:t>
            </a:r>
          </a:p>
          <a:p>
            <a:r>
              <a:rPr lang="en-US" dirty="0"/>
              <a:t>Now, the importance of that data compared to the structured data depends on the task, and knowing whether and when different data elements are likely to be important really depends on clinical knowledge</a:t>
            </a:r>
          </a:p>
          <a:p>
            <a:endParaRPr lang="en-US" dirty="0"/>
          </a:p>
          <a:p>
            <a:r>
              <a:rPr lang="en-US" dirty="0"/>
              <a:t>As a rule of thumb, it’s good to assume that these data MIGHT be important</a:t>
            </a:r>
          </a:p>
          <a:p>
            <a:r>
              <a:rPr lang="en-US" dirty="0"/>
              <a:t>So, when both structured and unstructured data are available, it often make sense to first build a simple model that uses structured data only</a:t>
            </a:r>
          </a:p>
          <a:p>
            <a:r>
              <a:rPr lang="en-US" dirty="0"/>
              <a:t>then see whether you get an improvement from adding an unstructured data modality that you hypothesize may be relevant. We’ll take a look at how to do that in just a moment.</a:t>
            </a:r>
          </a:p>
          <a:p>
            <a:endParaRPr lang="en-US" dirty="0"/>
          </a:p>
          <a:p>
            <a:r>
              <a:rPr lang="en-US" dirty="0"/>
              <a:t>But there are a couple other reasons we might use unstructured data</a:t>
            </a:r>
          </a:p>
          <a:p>
            <a:endParaRPr lang="en-US" dirty="0"/>
          </a:p>
          <a:p>
            <a:r>
              <a:rPr lang="en-US" dirty="0"/>
              <a:t>Reason 2 is that although we might be accessing the data through an EHR system initially, it might be possible to obtain similar data outside of an HER setting as well</a:t>
            </a:r>
          </a:p>
          <a:p>
            <a:r>
              <a:rPr lang="en-US" dirty="0"/>
              <a:t>If we find we can predict malignancy from images of skin lesions available in the HER, for example, we might ultimately aim to adapt and deploy the resulting model in a smartphone app</a:t>
            </a:r>
          </a:p>
          <a:p>
            <a:endParaRPr lang="en-US" dirty="0"/>
          </a:p>
          <a:p>
            <a:r>
              <a:rPr lang="en-US" dirty="0"/>
              <a:t>Finally, a third reason is that in some cases, we want to use unstructured, raw data exactly BECAUSE it has not been interpreted by a provider</a:t>
            </a:r>
          </a:p>
          <a:p>
            <a:r>
              <a:rPr lang="en-US" dirty="0"/>
              <a:t>Most structured data elements are affected by provider decision-making – if the provider things the patient has a PE, they’ll order different labs than if they think the patient had a heart attack</a:t>
            </a:r>
          </a:p>
          <a:p>
            <a:r>
              <a:rPr lang="en-US" dirty="0"/>
              <a:t>In most cases, this is helpful -- we want to take advantage of this information</a:t>
            </a:r>
          </a:p>
          <a:p>
            <a:r>
              <a:rPr lang="en-US" dirty="0"/>
              <a:t>But in other cases – prediction of referable diabetic retinopathy, going back to our earlier example – our goal is just the opposite – we want to see whether an algorithm can identify the condition WITHOUT the retina specialist’s interpretation</a:t>
            </a:r>
          </a:p>
          <a:p>
            <a:r>
              <a:rPr lang="en-US" dirty="0"/>
              <a:t>If that’s the case, we need to avoid structured elements that reflect provider decisions – and instead work only from that fundoscopic image</a:t>
            </a:r>
          </a:p>
        </p:txBody>
      </p:sp>
      <p:sp>
        <p:nvSpPr>
          <p:cNvPr id="4" name="Slide Number Placeholder 3"/>
          <p:cNvSpPr>
            <a:spLocks noGrp="1"/>
          </p:cNvSpPr>
          <p:nvPr>
            <p:ph type="sldNum" sz="quarter" idx="5"/>
          </p:nvPr>
        </p:nvSpPr>
        <p:spPr/>
        <p:txBody>
          <a:bodyPr/>
          <a:lstStyle/>
          <a:p>
            <a:fld id="{FA87938A-5C4B-C644-A452-8D4D784107A7}" type="slidenum">
              <a:rPr lang="en-US" smtClean="0"/>
              <a:t>21</a:t>
            </a:fld>
            <a:endParaRPr lang="en-US"/>
          </a:p>
        </p:txBody>
      </p:sp>
    </p:spTree>
    <p:extLst>
      <p:ext uri="{BB962C8B-B14F-4D97-AF65-F5344CB8AC3E}">
        <p14:creationId xmlns:p14="http://schemas.microsoft.com/office/powerpoint/2010/main" val="42903252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set the stage with some pros and cons</a:t>
            </a:r>
          </a:p>
          <a:p>
            <a:pPr lvl="0"/>
            <a:endParaRPr lang="en-US" dirty="0"/>
          </a:p>
          <a:p>
            <a:pPr lvl="0"/>
            <a:r>
              <a:rPr lang="en-US" dirty="0"/>
              <a:t>Structured data, as you know, often require a lot of data wrangling</a:t>
            </a:r>
          </a:p>
          <a:p>
            <a:pPr lvl="0"/>
            <a:r>
              <a:rPr lang="en-US" dirty="0"/>
              <a:t>We have to deal with missing values, which differ from column to column</a:t>
            </a:r>
          </a:p>
          <a:p>
            <a:pPr lvl="0"/>
            <a:r>
              <a:rPr lang="en-US" dirty="0"/>
              <a:t>There might be outliers – these might be incorrectly entered values that we need to identify and remove</a:t>
            </a:r>
          </a:p>
          <a:p>
            <a:pPr lvl="0"/>
            <a:r>
              <a:rPr lang="en-US" dirty="0"/>
              <a:t>There might be formatting issues with our columns, and we might need to make sure the data type in each column is specified and interpreted correctly </a:t>
            </a:r>
          </a:p>
          <a:p>
            <a:pPr lvl="0"/>
            <a:endParaRPr lang="en-US" dirty="0"/>
          </a:p>
          <a:p>
            <a:pPr lvl="0"/>
            <a:r>
              <a:rPr lang="en-US" dirty="0"/>
              <a:t>Dealing with these things takes time, and these issues don’t really apply to unstructured data</a:t>
            </a:r>
          </a:p>
          <a:p>
            <a:pPr lvl="0"/>
            <a:endParaRPr lang="en-US" dirty="0"/>
          </a:p>
          <a:p>
            <a:pPr lvl="0"/>
            <a:r>
              <a:rPr lang="en-US" dirty="0"/>
              <a:t>Instead, we have a whole different set of headaches to deal with</a:t>
            </a:r>
          </a:p>
          <a:p>
            <a:pPr lvl="0"/>
            <a:endParaRPr lang="en-US" dirty="0"/>
          </a:p>
          <a:p>
            <a:pPr lvl="0"/>
            <a:r>
              <a:rPr lang="en-US" dirty="0"/>
              <a:t>One is that unstructured data tend to take up a lot of space.</a:t>
            </a:r>
          </a:p>
          <a:p>
            <a:pPr lvl="0"/>
            <a:r>
              <a:rPr lang="en-US" dirty="0"/>
              <a:t>On top requiring more storage, this means they’re slower to copy and move around</a:t>
            </a:r>
          </a:p>
          <a:p>
            <a:pPr lvl="0"/>
            <a:r>
              <a:rPr lang="en-US" dirty="0"/>
              <a:t>They’re slower to load</a:t>
            </a:r>
          </a:p>
          <a:p>
            <a:pPr lvl="0"/>
            <a:r>
              <a:rPr lang="en-US" dirty="0"/>
              <a:t>And, critically, usually your whole dataset won’t fit in memory at once</a:t>
            </a:r>
          </a:p>
          <a:p>
            <a:pPr lvl="0"/>
            <a:endParaRPr lang="en-US" dirty="0"/>
          </a:p>
          <a:p>
            <a:pPr lvl="0"/>
            <a:r>
              <a:rPr lang="en-US" dirty="0"/>
              <a:t>This means you have to be more thoughtful about how and when you load the data when training your models</a:t>
            </a:r>
          </a:p>
          <a:p>
            <a:pPr lvl="0"/>
            <a:r>
              <a:rPr lang="en-US" dirty="0"/>
              <a:t>Machine learning libraries have tools to help with this, but still, it can be a challenge that you’re much less likely to encounter for most structured datasets</a:t>
            </a:r>
          </a:p>
          <a:p>
            <a:pPr lvl="0"/>
            <a:endParaRPr lang="en-US" dirty="0"/>
          </a:p>
          <a:p>
            <a:pPr lvl="0"/>
            <a:r>
              <a:rPr lang="en-US" dirty="0"/>
              <a:t>The second big challenge is that you really need to have an understanding of the specific modality you’re working with</a:t>
            </a:r>
          </a:p>
          <a:p>
            <a:pPr lvl="0"/>
            <a:r>
              <a:rPr lang="en-US" dirty="0"/>
              <a:t>How it’s stored – different file formats, which is beyond the current scope</a:t>
            </a:r>
          </a:p>
          <a:p>
            <a:pPr lvl="0"/>
            <a:r>
              <a:rPr lang="en-US" dirty="0"/>
              <a:t>And which models are appropriate for a given modality – why they’re appropriate – and how they work.</a:t>
            </a:r>
          </a:p>
        </p:txBody>
      </p:sp>
      <p:sp>
        <p:nvSpPr>
          <p:cNvPr id="4" name="Slide Number Placeholder 3"/>
          <p:cNvSpPr>
            <a:spLocks noGrp="1"/>
          </p:cNvSpPr>
          <p:nvPr>
            <p:ph type="sldNum" sz="quarter" idx="5"/>
          </p:nvPr>
        </p:nvSpPr>
        <p:spPr/>
        <p:txBody>
          <a:bodyPr/>
          <a:lstStyle/>
          <a:p>
            <a:fld id="{FA87938A-5C4B-C644-A452-8D4D784107A7}" type="slidenum">
              <a:rPr lang="en-US" smtClean="0"/>
              <a:t>23</a:t>
            </a:fld>
            <a:endParaRPr lang="en-US"/>
          </a:p>
        </p:txBody>
      </p:sp>
    </p:spTree>
    <p:extLst>
      <p:ext uri="{BB962C8B-B14F-4D97-AF65-F5344CB8AC3E}">
        <p14:creationId xmlns:p14="http://schemas.microsoft.com/office/powerpoint/2010/main" val="36746861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Let’s take a moment to review what we discussed last time</a:t>
            </a:r>
          </a:p>
          <a:p>
            <a:r>
              <a:rPr lang="en-US" dirty="0"/>
              <a:t>Opportunity to answer questions, which we didn’t have before</a:t>
            </a:r>
          </a:p>
          <a:p>
            <a:endParaRPr lang="en-US" dirty="0"/>
          </a:p>
          <a:p>
            <a:r>
              <a:rPr lang="en-US" dirty="0"/>
              <a:t>We talked about the basics of a predictive model.</a:t>
            </a:r>
          </a:p>
          <a:p>
            <a:r>
              <a:rPr lang="en-US" dirty="0"/>
              <a:t>It takes a set of data, or features, x, and applies a mathematical function or logic to make a prediction about an associated value, y</a:t>
            </a:r>
          </a:p>
          <a:p>
            <a:endParaRPr lang="en-US" dirty="0"/>
          </a:p>
          <a:p>
            <a:r>
              <a:rPr lang="en-US" dirty="0"/>
              <a:t>The thing that takes x and returns the prediction about y – that’s the model, the ”machine” in machine learning.</a:t>
            </a:r>
          </a:p>
        </p:txBody>
      </p:sp>
      <p:sp>
        <p:nvSpPr>
          <p:cNvPr id="4" name="Slide Number Placeholder 3"/>
          <p:cNvSpPr>
            <a:spLocks noGrp="1"/>
          </p:cNvSpPr>
          <p:nvPr>
            <p:ph type="sldNum" sz="quarter" idx="10"/>
          </p:nvPr>
        </p:nvSpPr>
        <p:spPr/>
        <p:txBody>
          <a:bodyPr/>
          <a:lstStyle/>
          <a:p>
            <a:fld id="{DB333E9F-084A-8543-BC6F-0AE70009C29B}" type="slidenum">
              <a:rPr lang="en-US" smtClean="0"/>
              <a:t>26</a:t>
            </a:fld>
            <a:endParaRPr lang="en-US"/>
          </a:p>
        </p:txBody>
      </p:sp>
    </p:spTree>
    <p:extLst>
      <p:ext uri="{BB962C8B-B14F-4D97-AF65-F5344CB8AC3E}">
        <p14:creationId xmlns:p14="http://schemas.microsoft.com/office/powerpoint/2010/main" val="849583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just another predictive model.</a:t>
            </a:r>
          </a:p>
          <a:p>
            <a:r>
              <a:rPr lang="en-US" dirty="0"/>
              <a:t>But, we need a much more complex model to due to the complex, spatial structure of these data</a:t>
            </a:r>
          </a:p>
          <a:p>
            <a:r>
              <a:rPr lang="en-US" dirty="0"/>
              <a:t>Extract a hierarchy of increasingly complex features</a:t>
            </a:r>
          </a:p>
        </p:txBody>
      </p:sp>
      <p:sp>
        <p:nvSpPr>
          <p:cNvPr id="4" name="Slide Number Placeholder 3"/>
          <p:cNvSpPr>
            <a:spLocks noGrp="1"/>
          </p:cNvSpPr>
          <p:nvPr>
            <p:ph type="sldNum" sz="quarter" idx="5"/>
          </p:nvPr>
        </p:nvSpPr>
        <p:spPr/>
        <p:txBody>
          <a:bodyPr/>
          <a:lstStyle/>
          <a:p>
            <a:fld id="{9FCDE58F-843A-8447-AF7F-7BD31329CDC1}" type="slidenum">
              <a:rPr lang="en-US" smtClean="0"/>
              <a:t>27</a:t>
            </a:fld>
            <a:endParaRPr lang="en-US"/>
          </a:p>
        </p:txBody>
      </p:sp>
    </p:spTree>
    <p:extLst>
      <p:ext uri="{BB962C8B-B14F-4D97-AF65-F5344CB8AC3E}">
        <p14:creationId xmlns:p14="http://schemas.microsoft.com/office/powerpoint/2010/main" val="1278649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going to consider a new kind of predictive model, one in which the input to the model is a text document, and the output is a label associated with that document</a:t>
            </a:r>
          </a:p>
          <a:p>
            <a:r>
              <a:rPr lang="en-US" dirty="0"/>
              <a:t>For example, the input might be a radiology report, and the output might be a binary label indicating whether an abnormal finding was noted in the report</a:t>
            </a:r>
          </a:p>
          <a:p>
            <a:r>
              <a:rPr lang="en-US" dirty="0"/>
              <a:t>But as we know, all our predictive models – logistic regression, MLP, CNN – they all work with numbers</a:t>
            </a:r>
          </a:p>
          <a:p>
            <a:r>
              <a:rPr lang="en-US" dirty="0"/>
              <a:t>So, right from the start we’re faced with a difficult problem – how can we convert a document into a feature vector that encodes its contents?</a:t>
            </a:r>
          </a:p>
          <a:p>
            <a:r>
              <a:rPr lang="en-US" dirty="0"/>
              <a:t>If we can do that, we can then apply any of the classification models we’ve previously discussed</a:t>
            </a:r>
          </a:p>
          <a:p>
            <a:r>
              <a:rPr lang="en-US" dirty="0"/>
              <a:t>So, that’s the problem we’ll be solving today.</a:t>
            </a:r>
          </a:p>
        </p:txBody>
      </p:sp>
      <p:sp>
        <p:nvSpPr>
          <p:cNvPr id="4" name="Slide Number Placeholder 3"/>
          <p:cNvSpPr>
            <a:spLocks noGrp="1"/>
          </p:cNvSpPr>
          <p:nvPr>
            <p:ph type="sldNum" sz="quarter" idx="5"/>
          </p:nvPr>
        </p:nvSpPr>
        <p:spPr/>
        <p:txBody>
          <a:bodyPr/>
          <a:lstStyle/>
          <a:p>
            <a:fld id="{DB333E9F-084A-8543-BC6F-0AE70009C29B}" type="slidenum">
              <a:rPr lang="en-US" smtClean="0"/>
              <a:t>28</a:t>
            </a:fld>
            <a:endParaRPr lang="en-US"/>
          </a:p>
        </p:txBody>
      </p:sp>
    </p:spTree>
    <p:extLst>
      <p:ext uri="{BB962C8B-B14F-4D97-AF65-F5344CB8AC3E}">
        <p14:creationId xmlns:p14="http://schemas.microsoft.com/office/powerpoint/2010/main" val="1796391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about the systems we’re seeing today?</a:t>
            </a:r>
          </a:p>
          <a:p>
            <a:r>
              <a:rPr lang="en-US" dirty="0"/>
              <a:t>Does the paradigm I’ve described still fit?</a:t>
            </a:r>
          </a:p>
          <a:p>
            <a:endParaRPr lang="en-US" dirty="0"/>
          </a:p>
          <a:p>
            <a:r>
              <a:rPr lang="en-US" dirty="0"/>
              <a:t>“next-token predictor”</a:t>
            </a:r>
          </a:p>
          <a:p>
            <a:r>
              <a:rPr lang="en-US" dirty="0"/>
              <a:t>“stochastic parrot”</a:t>
            </a:r>
          </a:p>
          <a:p>
            <a:endParaRPr lang="en-US" dirty="0"/>
          </a:p>
          <a:p>
            <a:r>
              <a:rPr lang="en-US" dirty="0"/>
              <a:t>Generation via repeated prediction</a:t>
            </a:r>
          </a:p>
          <a:p>
            <a:endParaRPr lang="en-US" dirty="0"/>
          </a:p>
          <a:p>
            <a:r>
              <a:rPr lang="en-US" dirty="0"/>
              <a:t>Make the point about truth</a:t>
            </a:r>
          </a:p>
        </p:txBody>
      </p:sp>
      <p:sp>
        <p:nvSpPr>
          <p:cNvPr id="4" name="Slide Number Placeholder 3"/>
          <p:cNvSpPr>
            <a:spLocks noGrp="1"/>
          </p:cNvSpPr>
          <p:nvPr>
            <p:ph type="sldNum" sz="quarter" idx="5"/>
          </p:nvPr>
        </p:nvSpPr>
        <p:spPr/>
        <p:txBody>
          <a:bodyPr/>
          <a:lstStyle/>
          <a:p>
            <a:fld id="{9FCDE58F-843A-8447-AF7F-7BD31329CDC1}" type="slidenum">
              <a:rPr lang="en-US" smtClean="0"/>
              <a:t>29</a:t>
            </a:fld>
            <a:endParaRPr lang="en-US"/>
          </a:p>
        </p:txBody>
      </p:sp>
    </p:spTree>
    <p:extLst>
      <p:ext uri="{BB962C8B-B14F-4D97-AF65-F5344CB8AC3E}">
        <p14:creationId xmlns:p14="http://schemas.microsoft.com/office/powerpoint/2010/main" val="1286015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*should we* be using generative models for all NLP tasks?</a:t>
            </a:r>
          </a:p>
          <a:p>
            <a:endParaRPr lang="en-US" dirty="0"/>
          </a:p>
          <a:p>
            <a:r>
              <a:rPr lang="en-US" dirty="0"/>
              <a:t>Advantages?</a:t>
            </a:r>
          </a:p>
          <a:p>
            <a:pPr marL="171450" indent="-171450">
              <a:buFontTx/>
              <a:buChar char="-"/>
            </a:pPr>
            <a:r>
              <a:rPr lang="en-US" dirty="0"/>
              <a:t>zero-shot</a:t>
            </a:r>
          </a:p>
          <a:p>
            <a:pPr marL="171450" indent="-171450">
              <a:buFontTx/>
              <a:buChar char="-"/>
            </a:pPr>
            <a:r>
              <a:rPr lang="en-US" dirty="0"/>
              <a:t>convenient</a:t>
            </a:r>
          </a:p>
          <a:p>
            <a:endParaRPr lang="en-US" dirty="0"/>
          </a:p>
          <a:p>
            <a:r>
              <a:rPr lang="en-US" dirty="0"/>
              <a:t>Disadvantages?</a:t>
            </a:r>
          </a:p>
          <a:p>
            <a:r>
              <a:rPr lang="en-US" dirty="0"/>
              <a:t>- expensive</a:t>
            </a:r>
          </a:p>
          <a:p>
            <a:endParaRPr lang="en-US" dirty="0"/>
          </a:p>
        </p:txBody>
      </p:sp>
      <p:sp>
        <p:nvSpPr>
          <p:cNvPr id="4" name="Slide Number Placeholder 3"/>
          <p:cNvSpPr>
            <a:spLocks noGrp="1"/>
          </p:cNvSpPr>
          <p:nvPr>
            <p:ph type="sldNum" sz="quarter" idx="5"/>
          </p:nvPr>
        </p:nvSpPr>
        <p:spPr/>
        <p:txBody>
          <a:bodyPr/>
          <a:lstStyle/>
          <a:p>
            <a:fld id="{DB333E9F-084A-8543-BC6F-0AE70009C29B}" type="slidenum">
              <a:rPr lang="en-US" smtClean="0"/>
              <a:t>30</a:t>
            </a:fld>
            <a:endParaRPr lang="en-US"/>
          </a:p>
        </p:txBody>
      </p:sp>
    </p:spTree>
    <p:extLst>
      <p:ext uri="{BB962C8B-B14F-4D97-AF65-F5344CB8AC3E}">
        <p14:creationId xmlns:p14="http://schemas.microsoft.com/office/powerpoint/2010/main" val="11083598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*should we* be using generative models for all NLP tasks?</a:t>
            </a:r>
          </a:p>
          <a:p>
            <a:endParaRPr lang="en-US" dirty="0"/>
          </a:p>
          <a:p>
            <a:r>
              <a:rPr lang="en-US" dirty="0"/>
              <a:t>Advantages?</a:t>
            </a:r>
          </a:p>
          <a:p>
            <a:pPr marL="171450" indent="-171450">
              <a:buFontTx/>
              <a:buChar char="-"/>
            </a:pPr>
            <a:r>
              <a:rPr lang="en-US" dirty="0"/>
              <a:t>zero-shot</a:t>
            </a:r>
          </a:p>
          <a:p>
            <a:pPr marL="171450" indent="-171450">
              <a:buFontTx/>
              <a:buChar char="-"/>
            </a:pPr>
            <a:r>
              <a:rPr lang="en-US" dirty="0"/>
              <a:t>convenient</a:t>
            </a:r>
          </a:p>
          <a:p>
            <a:endParaRPr lang="en-US" dirty="0"/>
          </a:p>
          <a:p>
            <a:r>
              <a:rPr lang="en-US" dirty="0"/>
              <a:t>Disadvantages?</a:t>
            </a:r>
          </a:p>
          <a:p>
            <a:r>
              <a:rPr lang="en-US" dirty="0"/>
              <a:t>- expensive</a:t>
            </a:r>
          </a:p>
          <a:p>
            <a:endParaRPr lang="en-US" dirty="0"/>
          </a:p>
        </p:txBody>
      </p:sp>
      <p:sp>
        <p:nvSpPr>
          <p:cNvPr id="4" name="Slide Number Placeholder 3"/>
          <p:cNvSpPr>
            <a:spLocks noGrp="1"/>
          </p:cNvSpPr>
          <p:nvPr>
            <p:ph type="sldNum" sz="quarter" idx="5"/>
          </p:nvPr>
        </p:nvSpPr>
        <p:spPr/>
        <p:txBody>
          <a:bodyPr/>
          <a:lstStyle/>
          <a:p>
            <a:fld id="{DB333E9F-084A-8543-BC6F-0AE70009C29B}" type="slidenum">
              <a:rPr lang="en-US" smtClean="0"/>
              <a:t>31</a:t>
            </a:fld>
            <a:endParaRPr lang="en-US"/>
          </a:p>
        </p:txBody>
      </p:sp>
    </p:spTree>
    <p:extLst>
      <p:ext uri="{BB962C8B-B14F-4D97-AF65-F5344CB8AC3E}">
        <p14:creationId xmlns:p14="http://schemas.microsoft.com/office/powerpoint/2010/main" val="42349869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*should we* be using generative models for all NLP tasks?</a:t>
            </a:r>
          </a:p>
          <a:p>
            <a:endParaRPr lang="en-US" dirty="0"/>
          </a:p>
          <a:p>
            <a:r>
              <a:rPr lang="en-US" dirty="0"/>
              <a:t>Advantages?</a:t>
            </a:r>
          </a:p>
          <a:p>
            <a:pPr marL="171450" indent="-171450">
              <a:buFontTx/>
              <a:buChar char="-"/>
            </a:pPr>
            <a:r>
              <a:rPr lang="en-US" dirty="0"/>
              <a:t>zero-shot</a:t>
            </a:r>
          </a:p>
          <a:p>
            <a:pPr marL="171450" indent="-171450">
              <a:buFontTx/>
              <a:buChar char="-"/>
            </a:pPr>
            <a:r>
              <a:rPr lang="en-US" dirty="0"/>
              <a:t>convenient</a:t>
            </a:r>
          </a:p>
          <a:p>
            <a:endParaRPr lang="en-US" dirty="0"/>
          </a:p>
          <a:p>
            <a:r>
              <a:rPr lang="en-US" dirty="0"/>
              <a:t>Disadvantages?</a:t>
            </a:r>
          </a:p>
          <a:p>
            <a:r>
              <a:rPr lang="en-US" dirty="0"/>
              <a:t>- expensive</a:t>
            </a:r>
          </a:p>
        </p:txBody>
      </p:sp>
      <p:sp>
        <p:nvSpPr>
          <p:cNvPr id="4" name="Slide Number Placeholder 3"/>
          <p:cNvSpPr>
            <a:spLocks noGrp="1"/>
          </p:cNvSpPr>
          <p:nvPr>
            <p:ph type="sldNum" sz="quarter" idx="5"/>
          </p:nvPr>
        </p:nvSpPr>
        <p:spPr/>
        <p:txBody>
          <a:bodyPr/>
          <a:lstStyle/>
          <a:p>
            <a:fld id="{DB333E9F-084A-8543-BC6F-0AE70009C29B}" type="slidenum">
              <a:rPr lang="en-US" smtClean="0"/>
              <a:t>32</a:t>
            </a:fld>
            <a:endParaRPr lang="en-US"/>
          </a:p>
        </p:txBody>
      </p:sp>
    </p:spTree>
    <p:extLst>
      <p:ext uri="{BB962C8B-B14F-4D97-AF65-F5344CB8AC3E}">
        <p14:creationId xmlns:p14="http://schemas.microsoft.com/office/powerpoint/2010/main" val="39160888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B1346-36B9-CEF5-4FA4-E472E74F2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50C03-40CA-00C7-49B0-B0610DE7C0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9028E3-2E1C-2766-A4C5-27085F3B971B}"/>
              </a:ext>
            </a:extLst>
          </p:cNvPr>
          <p:cNvSpPr>
            <a:spLocks noGrp="1"/>
          </p:cNvSpPr>
          <p:nvPr>
            <p:ph type="body" idx="1"/>
          </p:nvPr>
        </p:nvSpPr>
        <p:spPr/>
        <p:txBody>
          <a:bodyPr/>
          <a:lstStyle/>
          <a:p>
            <a:r>
              <a:rPr lang="en-US" dirty="0"/>
              <a:t>Now, what about the systems we’re seeing today?</a:t>
            </a:r>
          </a:p>
          <a:p>
            <a:r>
              <a:rPr lang="en-US" dirty="0"/>
              <a:t>Does the paradigm I’ve described still fit?</a:t>
            </a:r>
          </a:p>
          <a:p>
            <a:endParaRPr lang="en-US" dirty="0"/>
          </a:p>
          <a:p>
            <a:r>
              <a:rPr lang="en-US" dirty="0"/>
              <a:t>“next-token predictor”</a:t>
            </a:r>
          </a:p>
          <a:p>
            <a:r>
              <a:rPr lang="en-US" dirty="0"/>
              <a:t>“stochastic parrot”</a:t>
            </a:r>
          </a:p>
          <a:p>
            <a:endParaRPr lang="en-US" dirty="0"/>
          </a:p>
          <a:p>
            <a:r>
              <a:rPr lang="en-US" dirty="0"/>
              <a:t>Generation via repeated prediction</a:t>
            </a:r>
          </a:p>
          <a:p>
            <a:endParaRPr lang="en-US" dirty="0"/>
          </a:p>
          <a:p>
            <a:r>
              <a:rPr lang="en-US" dirty="0"/>
              <a:t>Make the point about truth</a:t>
            </a:r>
          </a:p>
        </p:txBody>
      </p:sp>
      <p:sp>
        <p:nvSpPr>
          <p:cNvPr id="4" name="Slide Number Placeholder 3">
            <a:extLst>
              <a:ext uri="{FF2B5EF4-FFF2-40B4-BE49-F238E27FC236}">
                <a16:creationId xmlns:a16="http://schemas.microsoft.com/office/drawing/2014/main" id="{22771A71-5AB7-3326-5218-7A094267436E}"/>
              </a:ext>
            </a:extLst>
          </p:cNvPr>
          <p:cNvSpPr>
            <a:spLocks noGrp="1"/>
          </p:cNvSpPr>
          <p:nvPr>
            <p:ph type="sldNum" sz="quarter" idx="5"/>
          </p:nvPr>
        </p:nvSpPr>
        <p:spPr/>
        <p:txBody>
          <a:bodyPr/>
          <a:lstStyle/>
          <a:p>
            <a:fld id="{9FCDE58F-843A-8447-AF7F-7BD31329CDC1}" type="slidenum">
              <a:rPr lang="en-US" smtClean="0"/>
              <a:t>33</a:t>
            </a:fld>
            <a:endParaRPr lang="en-US"/>
          </a:p>
        </p:txBody>
      </p:sp>
    </p:spTree>
    <p:extLst>
      <p:ext uri="{BB962C8B-B14F-4D97-AF65-F5344CB8AC3E}">
        <p14:creationId xmlns:p14="http://schemas.microsoft.com/office/powerpoint/2010/main" val="3190971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E1F99-AA73-85E3-DC6C-85782C357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98F60-AF9B-04D3-C3F7-74BA91DE1F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FCBB4-2490-D2C9-B6FC-DE1B24CE219A}"/>
              </a:ext>
            </a:extLst>
          </p:cNvPr>
          <p:cNvSpPr>
            <a:spLocks noGrp="1"/>
          </p:cNvSpPr>
          <p:nvPr>
            <p:ph type="body" idx="1"/>
          </p:nvPr>
        </p:nvSpPr>
        <p:spPr/>
        <p:txBody>
          <a:bodyPr/>
          <a:lstStyle/>
          <a:p>
            <a:r>
              <a:rPr lang="en-US" dirty="0"/>
              <a:t>Now, what about the systems we’re seeing today?</a:t>
            </a:r>
          </a:p>
          <a:p>
            <a:r>
              <a:rPr lang="en-US" dirty="0"/>
              <a:t>Does the paradigm I’ve described still fit?</a:t>
            </a:r>
          </a:p>
          <a:p>
            <a:endParaRPr lang="en-US" dirty="0"/>
          </a:p>
          <a:p>
            <a:r>
              <a:rPr lang="en-US" dirty="0"/>
              <a:t>“next-token predictor”</a:t>
            </a:r>
          </a:p>
          <a:p>
            <a:r>
              <a:rPr lang="en-US" dirty="0"/>
              <a:t>“stochastic parrot”</a:t>
            </a:r>
          </a:p>
          <a:p>
            <a:endParaRPr lang="en-US" dirty="0"/>
          </a:p>
          <a:p>
            <a:r>
              <a:rPr lang="en-US" dirty="0"/>
              <a:t>Generation via repeated prediction</a:t>
            </a:r>
          </a:p>
          <a:p>
            <a:endParaRPr lang="en-US" dirty="0"/>
          </a:p>
          <a:p>
            <a:r>
              <a:rPr lang="en-US" dirty="0"/>
              <a:t>Make the point about truth</a:t>
            </a:r>
          </a:p>
          <a:p>
            <a:endParaRPr lang="en-US" dirty="0"/>
          </a:p>
        </p:txBody>
      </p:sp>
      <p:sp>
        <p:nvSpPr>
          <p:cNvPr id="4" name="Slide Number Placeholder 3">
            <a:extLst>
              <a:ext uri="{FF2B5EF4-FFF2-40B4-BE49-F238E27FC236}">
                <a16:creationId xmlns:a16="http://schemas.microsoft.com/office/drawing/2014/main" id="{64860E72-66E5-B2F4-38B7-7C6CD173A374}"/>
              </a:ext>
            </a:extLst>
          </p:cNvPr>
          <p:cNvSpPr>
            <a:spLocks noGrp="1"/>
          </p:cNvSpPr>
          <p:nvPr>
            <p:ph type="sldNum" sz="quarter" idx="5"/>
          </p:nvPr>
        </p:nvSpPr>
        <p:spPr/>
        <p:txBody>
          <a:bodyPr/>
          <a:lstStyle/>
          <a:p>
            <a:fld id="{9FCDE58F-843A-8447-AF7F-7BD31329CDC1}" type="slidenum">
              <a:rPr lang="en-US" smtClean="0"/>
              <a:t>34</a:t>
            </a:fld>
            <a:endParaRPr lang="en-US"/>
          </a:p>
        </p:txBody>
      </p:sp>
    </p:spTree>
    <p:extLst>
      <p:ext uri="{BB962C8B-B14F-4D97-AF65-F5344CB8AC3E}">
        <p14:creationId xmlns:p14="http://schemas.microsoft.com/office/powerpoint/2010/main" val="25445688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Stimulate discussion here</a:t>
            </a:r>
          </a:p>
        </p:txBody>
      </p:sp>
      <p:sp>
        <p:nvSpPr>
          <p:cNvPr id="4" name="Slide Number Placeholder 3"/>
          <p:cNvSpPr>
            <a:spLocks noGrp="1"/>
          </p:cNvSpPr>
          <p:nvPr>
            <p:ph type="sldNum" sz="quarter" idx="5"/>
          </p:nvPr>
        </p:nvSpPr>
        <p:spPr/>
        <p:txBody>
          <a:bodyPr/>
          <a:lstStyle/>
          <a:p>
            <a:fld id="{DB333E9F-084A-8543-BC6F-0AE70009C29B}" type="slidenum">
              <a:rPr lang="en-US" smtClean="0"/>
              <a:t>35</a:t>
            </a:fld>
            <a:endParaRPr lang="en-US"/>
          </a:p>
        </p:txBody>
      </p:sp>
    </p:spTree>
    <p:extLst>
      <p:ext uri="{BB962C8B-B14F-4D97-AF65-F5344CB8AC3E}">
        <p14:creationId xmlns:p14="http://schemas.microsoft.com/office/powerpoint/2010/main" val="36238262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8EA247-0547-4418-98F2-216488368539}" type="slidenum">
              <a:rPr lang="en-US" smtClean="0"/>
              <a:t>36</a:t>
            </a:fld>
            <a:endParaRPr lang="en-US"/>
          </a:p>
        </p:txBody>
      </p:sp>
    </p:spTree>
    <p:extLst>
      <p:ext uri="{BB962C8B-B14F-4D97-AF65-F5344CB8AC3E}">
        <p14:creationId xmlns:p14="http://schemas.microsoft.com/office/powerpoint/2010/main" val="18648079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What goes in these boxes?</a:t>
            </a:r>
          </a:p>
        </p:txBody>
      </p:sp>
      <p:sp>
        <p:nvSpPr>
          <p:cNvPr id="4" name="Slide Number Placeholder 3"/>
          <p:cNvSpPr>
            <a:spLocks noGrp="1"/>
          </p:cNvSpPr>
          <p:nvPr>
            <p:ph type="sldNum" sz="quarter" idx="5"/>
          </p:nvPr>
        </p:nvSpPr>
        <p:spPr/>
        <p:txBody>
          <a:bodyPr/>
          <a:lstStyle/>
          <a:p>
            <a:fld id="{9FCDE58F-843A-8447-AF7F-7BD31329CDC1}" type="slidenum">
              <a:rPr lang="en-US" smtClean="0"/>
              <a:t>37</a:t>
            </a:fld>
            <a:endParaRPr lang="en-US"/>
          </a:p>
        </p:txBody>
      </p:sp>
    </p:spTree>
    <p:extLst>
      <p:ext uri="{BB962C8B-B14F-4D97-AF65-F5344CB8AC3E}">
        <p14:creationId xmlns:p14="http://schemas.microsoft.com/office/powerpoint/2010/main" val="18467023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How do we do that?</a:t>
            </a:r>
          </a:p>
          <a:p>
            <a:r>
              <a:rPr lang="en-US" dirty="0"/>
              <a:t>Gather a bunch of historical data</a:t>
            </a:r>
          </a:p>
          <a:p>
            <a:r>
              <a:rPr lang="en-US" dirty="0"/>
              <a:t>Want to find an equation that predicts y well based on x across that historical data</a:t>
            </a:r>
          </a:p>
          <a:p>
            <a:endParaRPr lang="en-US" dirty="0"/>
          </a:p>
          <a:p>
            <a:r>
              <a:rPr lang="en-US" dirty="0"/>
              <a:t>So we take all this data, we use it to find the parameters that are most consistent with the patterns of x and y that are present</a:t>
            </a:r>
          </a:p>
        </p:txBody>
      </p:sp>
      <p:sp>
        <p:nvSpPr>
          <p:cNvPr id="4" name="Slide Number Placeholder 3"/>
          <p:cNvSpPr>
            <a:spLocks noGrp="1"/>
          </p:cNvSpPr>
          <p:nvPr>
            <p:ph type="sldNum" sz="quarter" idx="10"/>
          </p:nvPr>
        </p:nvSpPr>
        <p:spPr/>
        <p:txBody>
          <a:bodyPr/>
          <a:lstStyle/>
          <a:p>
            <a:fld id="{DB333E9F-084A-8543-BC6F-0AE70009C29B}" type="slidenum">
              <a:rPr lang="en-US" smtClean="0"/>
              <a:t>38</a:t>
            </a:fld>
            <a:endParaRPr lang="en-US"/>
          </a:p>
        </p:txBody>
      </p:sp>
    </p:spTree>
    <p:extLst>
      <p:ext uri="{BB962C8B-B14F-4D97-AF65-F5344CB8AC3E}">
        <p14:creationId xmlns:p14="http://schemas.microsoft.com/office/powerpoint/2010/main" val="15016634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Having done that, we have a trained model. </a:t>
            </a:r>
          </a:p>
          <a:p>
            <a:r>
              <a:rPr lang="en-US" dirty="0"/>
              <a:t>Now, when we see a NEW value of x, we simply plug it into our “learned” equation, and it tells us what we expect y to be. This is prediction.</a:t>
            </a:r>
          </a:p>
        </p:txBody>
      </p:sp>
      <p:sp>
        <p:nvSpPr>
          <p:cNvPr id="4" name="Slide Number Placeholder 3"/>
          <p:cNvSpPr>
            <a:spLocks noGrp="1"/>
          </p:cNvSpPr>
          <p:nvPr>
            <p:ph type="sldNum" sz="quarter" idx="10"/>
          </p:nvPr>
        </p:nvSpPr>
        <p:spPr/>
        <p:txBody>
          <a:bodyPr/>
          <a:lstStyle/>
          <a:p>
            <a:fld id="{DB333E9F-084A-8543-BC6F-0AE70009C29B}" type="slidenum">
              <a:rPr lang="en-US" smtClean="0"/>
              <a:t>39</a:t>
            </a:fld>
            <a:endParaRPr lang="en-US"/>
          </a:p>
        </p:txBody>
      </p:sp>
    </p:spTree>
    <p:extLst>
      <p:ext uri="{BB962C8B-B14F-4D97-AF65-F5344CB8AC3E}">
        <p14:creationId xmlns:p14="http://schemas.microsoft.com/office/powerpoint/2010/main" val="33685918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8EA247-0547-4418-98F2-216488368539}" type="slidenum">
              <a:rPr lang="en-US" smtClean="0"/>
              <a:t>40</a:t>
            </a:fld>
            <a:endParaRPr lang="en-US"/>
          </a:p>
        </p:txBody>
      </p:sp>
    </p:spTree>
    <p:extLst>
      <p:ext uri="{BB962C8B-B14F-4D97-AF65-F5344CB8AC3E}">
        <p14:creationId xmlns:p14="http://schemas.microsoft.com/office/powerpoint/2010/main" val="3092228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Having done that, we have a trained model. Our parameters are learned – we hold them fixed.</a:t>
            </a:r>
          </a:p>
          <a:p>
            <a:r>
              <a:rPr lang="en-US" dirty="0"/>
              <a:t>Now, when we see a NEW value of x, we simply plug it into our “learned” equation, and it tells us what we expect y to be. This is prediction.</a:t>
            </a:r>
          </a:p>
        </p:txBody>
      </p:sp>
      <p:sp>
        <p:nvSpPr>
          <p:cNvPr id="4" name="Slide Number Placeholder 3"/>
          <p:cNvSpPr>
            <a:spLocks noGrp="1"/>
          </p:cNvSpPr>
          <p:nvPr>
            <p:ph type="sldNum" sz="quarter" idx="10"/>
          </p:nvPr>
        </p:nvSpPr>
        <p:spPr/>
        <p:txBody>
          <a:bodyPr/>
          <a:lstStyle/>
          <a:p>
            <a:fld id="{DB333E9F-084A-8543-BC6F-0AE70009C29B}" type="slidenum">
              <a:rPr lang="en-US" smtClean="0"/>
              <a:t>41</a:t>
            </a:fld>
            <a:endParaRPr lang="en-US"/>
          </a:p>
        </p:txBody>
      </p:sp>
    </p:spTree>
    <p:extLst>
      <p:ext uri="{BB962C8B-B14F-4D97-AF65-F5344CB8AC3E}">
        <p14:creationId xmlns:p14="http://schemas.microsoft.com/office/powerpoint/2010/main" val="3648570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33E9F-084A-8543-BC6F-0AE70009C29B}" type="slidenum">
              <a:rPr lang="en-US" smtClean="0"/>
              <a:t>43</a:t>
            </a:fld>
            <a:endParaRPr lang="en-US"/>
          </a:p>
        </p:txBody>
      </p:sp>
    </p:spTree>
    <p:extLst>
      <p:ext uri="{BB962C8B-B14F-4D97-AF65-F5344CB8AC3E}">
        <p14:creationId xmlns:p14="http://schemas.microsoft.com/office/powerpoint/2010/main" val="38065915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44</a:t>
            </a:fld>
            <a:endParaRPr lang="en-US"/>
          </a:p>
        </p:txBody>
      </p:sp>
    </p:spTree>
    <p:extLst>
      <p:ext uri="{BB962C8B-B14F-4D97-AF65-F5344CB8AC3E}">
        <p14:creationId xmlns:p14="http://schemas.microsoft.com/office/powerpoint/2010/main" val="31010669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45</a:t>
            </a:fld>
            <a:endParaRPr lang="en-US"/>
          </a:p>
        </p:txBody>
      </p:sp>
    </p:spTree>
    <p:extLst>
      <p:ext uri="{BB962C8B-B14F-4D97-AF65-F5344CB8AC3E}">
        <p14:creationId xmlns:p14="http://schemas.microsoft.com/office/powerpoint/2010/main" val="26455185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46</a:t>
            </a:fld>
            <a:endParaRPr lang="en-US"/>
          </a:p>
        </p:txBody>
      </p:sp>
    </p:spTree>
    <p:extLst>
      <p:ext uri="{BB962C8B-B14F-4D97-AF65-F5344CB8AC3E}">
        <p14:creationId xmlns:p14="http://schemas.microsoft.com/office/powerpoint/2010/main" val="13192535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49</a:t>
            </a:fld>
            <a:endParaRPr lang="en-US"/>
          </a:p>
        </p:txBody>
      </p:sp>
    </p:spTree>
    <p:extLst>
      <p:ext uri="{BB962C8B-B14F-4D97-AF65-F5344CB8AC3E}">
        <p14:creationId xmlns:p14="http://schemas.microsoft.com/office/powerpoint/2010/main" val="16846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23D3-97BA-8344-B77C-C3C47F735D95}"/>
              </a:ext>
            </a:extLst>
          </p:cNvPr>
          <p:cNvSpPr>
            <a:spLocks noGrp="1"/>
          </p:cNvSpPr>
          <p:nvPr>
            <p:ph type="ctrTitle"/>
          </p:nvPr>
        </p:nvSpPr>
        <p:spPr>
          <a:xfrm>
            <a:off x="1143000" y="841772"/>
            <a:ext cx="6858000" cy="17907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18DBA69F-5897-5F44-92BC-479B55DE9F72}"/>
              </a:ext>
            </a:extLst>
          </p:cNvPr>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1168764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744FE-227B-BB4B-AFCB-C70369A59A9D}"/>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3E786AE-9738-E14C-9B4A-B463D9070E75}"/>
              </a:ext>
            </a:extLst>
          </p:cNvPr>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6612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DDC07-CABA-9E4D-9E3A-95E05BCB87D8}"/>
              </a:ext>
            </a:extLst>
          </p:cNvPr>
          <p:cNvSpPr>
            <a:spLocks noGrp="1"/>
          </p:cNvSpPr>
          <p:nvPr>
            <p:ph type="title"/>
          </p:nvPr>
        </p:nvSpPr>
        <p:spPr>
          <a:xfrm>
            <a:off x="623888" y="1282304"/>
            <a:ext cx="7886700" cy="2139553"/>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28BD0F8-3355-CA42-8F79-D8191E4962BE}"/>
              </a:ext>
            </a:extLst>
          </p:cNvPr>
          <p:cNvSpPr>
            <a:spLocks noGrp="1"/>
          </p:cNvSpPr>
          <p:nvPr>
            <p:ph type="body" idx="1"/>
          </p:nvPr>
        </p:nvSpPr>
        <p:spPr>
          <a:xfrm>
            <a:off x="623888" y="3442098"/>
            <a:ext cx="7886700" cy="1125140"/>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10984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6984-E4BA-284B-B7AF-D51BD0BDCBE2}"/>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F353D1B-9EE2-4E4F-B36A-F0F237B8A8E4}"/>
              </a:ext>
            </a:extLst>
          </p:cNvPr>
          <p:cNvSpPr>
            <a:spLocks noGrp="1"/>
          </p:cNvSpPr>
          <p:nvPr>
            <p:ph sz="half" idx="1"/>
          </p:nvPr>
        </p:nvSpPr>
        <p:spPr>
          <a:xfrm>
            <a:off x="6286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8FBE0A-D618-A548-B1F3-E7BCD2D5715F}"/>
              </a:ext>
            </a:extLst>
          </p:cNvPr>
          <p:cNvSpPr>
            <a:spLocks noGrp="1"/>
          </p:cNvSpPr>
          <p:nvPr>
            <p:ph sz="half" idx="2"/>
          </p:nvPr>
        </p:nvSpPr>
        <p:spPr>
          <a:xfrm>
            <a:off x="46291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3170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8D306-FDF6-DE45-90F3-DD6E0A2416EE}"/>
              </a:ext>
            </a:extLst>
          </p:cNvPr>
          <p:cNvSpPr>
            <a:spLocks noGrp="1"/>
          </p:cNvSpPr>
          <p:nvPr>
            <p:ph type="title"/>
          </p:nvPr>
        </p:nvSpPr>
        <p:spPr>
          <a:xfrm>
            <a:off x="629841" y="273844"/>
            <a:ext cx="7886700" cy="994172"/>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EE7B324-C8C1-B34B-93B4-5E52FB3E7B79}"/>
              </a:ext>
            </a:extLst>
          </p:cNvPr>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695C052-E346-7A4E-A53F-178DCAB9D312}"/>
              </a:ext>
            </a:extLst>
          </p:cNvPr>
          <p:cNvSpPr>
            <a:spLocks noGrp="1"/>
          </p:cNvSpPr>
          <p:nvPr>
            <p:ph sz="half" idx="2"/>
          </p:nvPr>
        </p:nvSpPr>
        <p:spPr>
          <a:xfrm>
            <a:off x="629842" y="1878806"/>
            <a:ext cx="3868340"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0F207E-CBC1-6444-AE32-2D03AB9BEB81}"/>
              </a:ext>
            </a:extLst>
          </p:cNvPr>
          <p:cNvSpPr>
            <a:spLocks noGrp="1"/>
          </p:cNvSpPr>
          <p:nvPr>
            <p:ph type="body" sz="quarter" idx="3"/>
          </p:nvPr>
        </p:nvSpPr>
        <p:spPr>
          <a:xfrm>
            <a:off x="4629150"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BC86491-5FF8-E448-A837-D74C6F85ECFD}"/>
              </a:ext>
            </a:extLst>
          </p:cNvPr>
          <p:cNvSpPr>
            <a:spLocks noGrp="1"/>
          </p:cNvSpPr>
          <p:nvPr>
            <p:ph sz="quarter" idx="4"/>
          </p:nvPr>
        </p:nvSpPr>
        <p:spPr>
          <a:xfrm>
            <a:off x="4629150" y="1878806"/>
            <a:ext cx="3887391"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1452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D2B47-C6F1-2C47-83A6-7C9765DBB8CB}"/>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58633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387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1967C-A2EB-A742-BD60-241901035A23}"/>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6484264-1CC0-ED47-9FC4-17EA9AEE949C}"/>
              </a:ext>
            </a:extLst>
          </p:cNvPr>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82311-296D-B54E-84F6-B91B4D004E05}"/>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888621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E9CE1-388E-D644-BFC2-E3BA89CDFE77}"/>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2F9288A-BC67-054C-8D82-B775C7F3F0B2}"/>
              </a:ext>
            </a:extLst>
          </p:cNvPr>
          <p:cNvSpPr>
            <a:spLocks noGrp="1"/>
          </p:cNvSpPr>
          <p:nvPr>
            <p:ph type="pic" idx="1"/>
          </p:nvPr>
        </p:nvSpPr>
        <p:spPr>
          <a:xfrm>
            <a:off x="3887391" y="740569"/>
            <a:ext cx="4629150" cy="365521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B7354F2-00A4-E440-B3B4-24D0906C1040}"/>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737613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4A9F9-9678-2743-B0D7-2303C7428EE4}"/>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213DE2-E1E8-8C40-8B00-91EF68139310}"/>
              </a:ext>
            </a:extLst>
          </p:cNvPr>
          <p:cNvSpPr>
            <a:spLocks noGrp="1"/>
          </p:cNvSpPr>
          <p:nvPr>
            <p:ph type="body" orient="vert" idx="1"/>
          </p:nvPr>
        </p:nvSpPr>
        <p:spPr>
          <a:xfrm>
            <a:off x="628650" y="1369219"/>
            <a:ext cx="7886700" cy="326350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7732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645086-DAA8-FA49-915F-8B28AFD11691}"/>
              </a:ext>
            </a:extLst>
          </p:cNvPr>
          <p:cNvSpPr>
            <a:spLocks noGrp="1"/>
          </p:cNvSpPr>
          <p:nvPr>
            <p:ph type="title" orient="vert"/>
          </p:nvPr>
        </p:nvSpPr>
        <p:spPr>
          <a:xfrm>
            <a:off x="6543675" y="273844"/>
            <a:ext cx="1971675" cy="435887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7C3AEF-AC20-C245-8112-195AA156825C}"/>
              </a:ext>
            </a:extLst>
          </p:cNvPr>
          <p:cNvSpPr>
            <a:spLocks noGrp="1"/>
          </p:cNvSpPr>
          <p:nvPr>
            <p:ph type="body" orient="vert" idx="1"/>
          </p:nvPr>
        </p:nvSpPr>
        <p:spPr>
          <a:xfrm>
            <a:off x="628650" y="273844"/>
            <a:ext cx="5800725" cy="435887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6963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2978B-4908-E74D-904A-A9B895A7A4E8}"/>
              </a:ext>
            </a:extLst>
          </p:cNvPr>
          <p:cNvSpPr>
            <a:spLocks noGrp="1"/>
          </p:cNvSpPr>
          <p:nvPr>
            <p:ph type="ctrTitle"/>
          </p:nvPr>
        </p:nvSpPr>
        <p:spPr>
          <a:xfrm>
            <a:off x="1143000" y="841772"/>
            <a:ext cx="6858000" cy="17907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E95FDE3-C177-1D4F-8016-6A5AB9FFDB1A}"/>
              </a:ext>
            </a:extLst>
          </p:cNvPr>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314302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E1A6-E52F-4747-BDCC-731EBD265521}"/>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68F6EB1E-6EAC-2648-A744-4B558DCE75F3}"/>
              </a:ext>
            </a:extLst>
          </p:cNvPr>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2233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E9F5-3F39-8E4C-BD4D-1CE5E62BBBD0}"/>
              </a:ext>
            </a:extLst>
          </p:cNvPr>
          <p:cNvSpPr>
            <a:spLocks noGrp="1"/>
          </p:cNvSpPr>
          <p:nvPr>
            <p:ph type="title"/>
          </p:nvPr>
        </p:nvSpPr>
        <p:spPr>
          <a:xfrm>
            <a:off x="623888" y="1282304"/>
            <a:ext cx="7886700" cy="2139553"/>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74D2129-2C12-3841-9061-8E28A68014A4}"/>
              </a:ext>
            </a:extLst>
          </p:cNvPr>
          <p:cNvSpPr>
            <a:spLocks noGrp="1"/>
          </p:cNvSpPr>
          <p:nvPr>
            <p:ph type="body" idx="1"/>
          </p:nvPr>
        </p:nvSpPr>
        <p:spPr>
          <a:xfrm>
            <a:off x="623888" y="3442098"/>
            <a:ext cx="7886700" cy="1125140"/>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3919480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6D62C-5F4D-E44A-83A0-2BC6297AC534}"/>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6B95D4C-6239-3649-B2F4-8E6928D47EA6}"/>
              </a:ext>
            </a:extLst>
          </p:cNvPr>
          <p:cNvSpPr>
            <a:spLocks noGrp="1"/>
          </p:cNvSpPr>
          <p:nvPr>
            <p:ph sz="half" idx="1"/>
          </p:nvPr>
        </p:nvSpPr>
        <p:spPr>
          <a:xfrm>
            <a:off x="6286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F8D897-46F7-6F4A-923F-F54D4AC8EDCD}"/>
              </a:ext>
            </a:extLst>
          </p:cNvPr>
          <p:cNvSpPr>
            <a:spLocks noGrp="1"/>
          </p:cNvSpPr>
          <p:nvPr>
            <p:ph sz="half" idx="2"/>
          </p:nvPr>
        </p:nvSpPr>
        <p:spPr>
          <a:xfrm>
            <a:off x="46291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6443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388B0-8D06-274D-BE50-BA152C915180}"/>
              </a:ext>
            </a:extLst>
          </p:cNvPr>
          <p:cNvSpPr>
            <a:spLocks noGrp="1"/>
          </p:cNvSpPr>
          <p:nvPr>
            <p:ph type="title"/>
          </p:nvPr>
        </p:nvSpPr>
        <p:spPr>
          <a:xfrm>
            <a:off x="629841" y="273844"/>
            <a:ext cx="7886700" cy="994172"/>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FDF0989-E654-F74F-BDDF-08D57674E37E}"/>
              </a:ext>
            </a:extLst>
          </p:cNvPr>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230B350-276D-2F47-92C4-83C039986958}"/>
              </a:ext>
            </a:extLst>
          </p:cNvPr>
          <p:cNvSpPr>
            <a:spLocks noGrp="1"/>
          </p:cNvSpPr>
          <p:nvPr>
            <p:ph sz="half" idx="2"/>
          </p:nvPr>
        </p:nvSpPr>
        <p:spPr>
          <a:xfrm>
            <a:off x="629842" y="1878806"/>
            <a:ext cx="3868340"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37B8AD-206C-8C44-9626-E020EEC70A68}"/>
              </a:ext>
            </a:extLst>
          </p:cNvPr>
          <p:cNvSpPr>
            <a:spLocks noGrp="1"/>
          </p:cNvSpPr>
          <p:nvPr>
            <p:ph type="body" sz="quarter" idx="3"/>
          </p:nvPr>
        </p:nvSpPr>
        <p:spPr>
          <a:xfrm>
            <a:off x="4629150"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E5FD7E1-9246-8240-81C8-52CC098D2AF6}"/>
              </a:ext>
            </a:extLst>
          </p:cNvPr>
          <p:cNvSpPr>
            <a:spLocks noGrp="1"/>
          </p:cNvSpPr>
          <p:nvPr>
            <p:ph sz="quarter" idx="4"/>
          </p:nvPr>
        </p:nvSpPr>
        <p:spPr>
          <a:xfrm>
            <a:off x="4629150" y="1878806"/>
            <a:ext cx="3887391"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3078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858C-55E0-A347-B987-C8C09FC4D1CE}"/>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215805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35663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9015-2329-5341-BA02-B62A1090C2C9}"/>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A0FF641-56D6-9245-BB4A-FB626664FCEF}"/>
              </a:ext>
            </a:extLst>
          </p:cNvPr>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4B0617-AE85-6146-99DD-9CE2384C1EBB}"/>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078571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F484-86EC-9D4F-B229-7E1EAF28C763}"/>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FD461AC-7026-3144-A874-8D55CA87D4FA}"/>
              </a:ext>
            </a:extLst>
          </p:cNvPr>
          <p:cNvSpPr>
            <a:spLocks noGrp="1"/>
          </p:cNvSpPr>
          <p:nvPr>
            <p:ph type="pic" idx="1"/>
          </p:nvPr>
        </p:nvSpPr>
        <p:spPr>
          <a:xfrm>
            <a:off x="3887391" y="740569"/>
            <a:ext cx="4629150" cy="365521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DD8018D-F66B-1C4B-AB9A-982327027ACF}"/>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3878538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E7A1C-4A6B-7B44-8A98-088B9E5FDCA5}"/>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FFC838-A01F-6845-991B-CECF9A0A4ABA}"/>
              </a:ext>
            </a:extLst>
          </p:cNvPr>
          <p:cNvSpPr>
            <a:spLocks noGrp="1"/>
          </p:cNvSpPr>
          <p:nvPr>
            <p:ph type="body" orient="vert" idx="1"/>
          </p:nvPr>
        </p:nvSpPr>
        <p:spPr>
          <a:xfrm>
            <a:off x="628650" y="1369219"/>
            <a:ext cx="7886700" cy="326350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68119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3B298A-6686-FD4A-B48C-A4474FE37F1A}"/>
              </a:ext>
            </a:extLst>
          </p:cNvPr>
          <p:cNvSpPr>
            <a:spLocks noGrp="1"/>
          </p:cNvSpPr>
          <p:nvPr>
            <p:ph type="title" orient="vert"/>
          </p:nvPr>
        </p:nvSpPr>
        <p:spPr>
          <a:xfrm>
            <a:off x="6543675" y="273844"/>
            <a:ext cx="1971675" cy="435887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D5486A-4CA8-BE4C-8736-29596810DE67}"/>
              </a:ext>
            </a:extLst>
          </p:cNvPr>
          <p:cNvSpPr>
            <a:spLocks noGrp="1"/>
          </p:cNvSpPr>
          <p:nvPr>
            <p:ph type="body" orient="vert" idx="1"/>
          </p:nvPr>
        </p:nvSpPr>
        <p:spPr>
          <a:xfrm>
            <a:off x="628650" y="273844"/>
            <a:ext cx="5800725" cy="435887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2439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02646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9030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loinc.org/11506-3.html" TargetMode="External"/><Relationship Id="rId3" Type="http://schemas.openxmlformats.org/officeDocument/2006/relationships/image" Target="../media/image2.emf"/><Relationship Id="rId7" Type="http://schemas.openxmlformats.org/officeDocument/2006/relationships/hyperlink" Target="https://loinc.org/28570-0.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loinc.org/34117-2.html" TargetMode="External"/><Relationship Id="rId11" Type="http://schemas.openxmlformats.org/officeDocument/2006/relationships/hyperlink" Target="https://loinc.org/11526-1.html" TargetMode="External"/><Relationship Id="rId5" Type="http://schemas.openxmlformats.org/officeDocument/2006/relationships/hyperlink" Target="https://loinc.org/18842-5.html" TargetMode="External"/><Relationship Id="rId10" Type="http://schemas.openxmlformats.org/officeDocument/2006/relationships/hyperlink" Target="https://loinc.org/11502-2.html" TargetMode="External"/><Relationship Id="rId4" Type="http://schemas.openxmlformats.org/officeDocument/2006/relationships/hyperlink" Target="https://loinc.org/11488-4.html" TargetMode="External"/><Relationship Id="rId9" Type="http://schemas.openxmlformats.org/officeDocument/2006/relationships/hyperlink" Target="https://loinc.org/18748-4.html"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loinc.org/18748-4.html" TargetMode="External"/><Relationship Id="rId3" Type="http://schemas.openxmlformats.org/officeDocument/2006/relationships/hyperlink" Target="https://loinc.org/11488-4.html" TargetMode="External"/><Relationship Id="rId7" Type="http://schemas.openxmlformats.org/officeDocument/2006/relationships/hyperlink" Target="https://loinc.org/11506-3.html" TargetMode="External"/><Relationship Id="rId12" Type="http://schemas.openxmlformats.org/officeDocument/2006/relationships/image" Target="../media/image4.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loinc.org/28570-0.html" TargetMode="External"/><Relationship Id="rId11" Type="http://schemas.openxmlformats.org/officeDocument/2006/relationships/image" Target="../media/image3.emf"/><Relationship Id="rId5" Type="http://schemas.openxmlformats.org/officeDocument/2006/relationships/hyperlink" Target="https://loinc.org/34117-2.html" TargetMode="External"/><Relationship Id="rId10" Type="http://schemas.openxmlformats.org/officeDocument/2006/relationships/hyperlink" Target="https://loinc.org/11526-1.html" TargetMode="External"/><Relationship Id="rId4" Type="http://schemas.openxmlformats.org/officeDocument/2006/relationships/hyperlink" Target="https://loinc.org/18842-5.html" TargetMode="External"/><Relationship Id="rId9" Type="http://schemas.openxmlformats.org/officeDocument/2006/relationships/hyperlink" Target="https://loinc.org/11502-2.html"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loinc.org/18748-4.html" TargetMode="External"/><Relationship Id="rId3" Type="http://schemas.openxmlformats.org/officeDocument/2006/relationships/hyperlink" Target="https://loinc.org/11488-4.html" TargetMode="External"/><Relationship Id="rId7" Type="http://schemas.openxmlformats.org/officeDocument/2006/relationships/hyperlink" Target="https://loinc.org/11506-3.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loinc.org/28570-0.html" TargetMode="External"/><Relationship Id="rId11" Type="http://schemas.openxmlformats.org/officeDocument/2006/relationships/image" Target="../media/image5.emf"/><Relationship Id="rId5" Type="http://schemas.openxmlformats.org/officeDocument/2006/relationships/hyperlink" Target="https://loinc.org/34117-2.html" TargetMode="External"/><Relationship Id="rId10" Type="http://schemas.openxmlformats.org/officeDocument/2006/relationships/hyperlink" Target="https://loinc.org/11526-1.html" TargetMode="External"/><Relationship Id="rId4" Type="http://schemas.openxmlformats.org/officeDocument/2006/relationships/hyperlink" Target="https://loinc.org/18842-5.html" TargetMode="External"/><Relationship Id="rId9" Type="http://schemas.openxmlformats.org/officeDocument/2006/relationships/hyperlink" Target="https://loinc.org/11502-2.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NULL"/></Relationships>
</file>

<file path=ppt/slides/_rels/slide3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2.xml"/><Relationship Id="rId1" Type="http://schemas.openxmlformats.org/officeDocument/2006/relationships/slideLayout" Target="../slideLayouts/slideLayout6.xml"/><Relationship Id="rId5" Type="http://schemas.openxmlformats.org/officeDocument/2006/relationships/image" Target="NULL"/><Relationship Id="rId4" Type="http://schemas.openxmlformats.org/officeDocument/2006/relationships/image" Target="../media/image26.emf"/></Relationships>
</file>

<file path=ppt/slides/_rels/slide40.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4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NUL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NUL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96379"/>
            <a:ext cx="7772400" cy="2392291"/>
          </a:xfrm>
        </p:spPr>
        <p:txBody>
          <a:bodyPr>
            <a:normAutofit/>
          </a:bodyPr>
          <a:lstStyle/>
          <a:p>
            <a:pPr>
              <a:spcAft>
                <a:spcPts val="900"/>
              </a:spcAft>
            </a:pPr>
            <a:r>
              <a:rPr lang="en-US" dirty="0"/>
              <a:t>Intro to Natural Language Processing for Clinical Text</a:t>
            </a:r>
            <a:br>
              <a:rPr lang="en-US" dirty="0"/>
            </a:br>
            <a:endParaRPr lang="en-US" sz="3600" dirty="0"/>
          </a:p>
        </p:txBody>
      </p:sp>
      <p:sp>
        <p:nvSpPr>
          <p:cNvPr id="3" name="Subtitle 2"/>
          <p:cNvSpPr>
            <a:spLocks noGrp="1"/>
          </p:cNvSpPr>
          <p:nvPr>
            <p:ph type="subTitle" idx="1"/>
          </p:nvPr>
        </p:nvSpPr>
        <p:spPr>
          <a:xfrm>
            <a:off x="2124670" y="3959258"/>
            <a:ext cx="4894661" cy="814096"/>
          </a:xfrm>
        </p:spPr>
        <p:txBody>
          <a:bodyPr>
            <a:normAutofit/>
          </a:bodyPr>
          <a:lstStyle/>
          <a:p>
            <a:r>
              <a:rPr lang="en-US" dirty="0"/>
              <a:t>Matthew Engelhard</a:t>
            </a:r>
          </a:p>
        </p:txBody>
      </p:sp>
    </p:spTree>
    <p:extLst>
      <p:ext uri="{BB962C8B-B14F-4D97-AF65-F5344CB8AC3E}">
        <p14:creationId xmlns:p14="http://schemas.microsoft.com/office/powerpoint/2010/main" val="2670148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5B14-0132-9047-9170-243E2B9FBCAB}"/>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91131797-D256-4B48-A9DA-70A0B717EB64}"/>
              </a:ext>
            </a:extLst>
          </p:cNvPr>
          <p:cNvSpPr>
            <a:spLocks noGrp="1"/>
          </p:cNvSpPr>
          <p:nvPr>
            <p:ph idx="1"/>
          </p:nvPr>
        </p:nvSpPr>
        <p:spPr>
          <a:xfrm>
            <a:off x="628650" y="1139125"/>
            <a:ext cx="7886700" cy="3493598"/>
          </a:xfrm>
        </p:spPr>
        <p:txBody>
          <a:bodyPr/>
          <a:lstStyle/>
          <a:p>
            <a:pPr marL="0" indent="0">
              <a:buNone/>
            </a:pPr>
            <a:r>
              <a:rPr lang="en-US" dirty="0"/>
              <a:t>Part 1: </a:t>
            </a:r>
            <a:r>
              <a:rPr lang="en-US" i="1" dirty="0"/>
              <a:t>why</a:t>
            </a:r>
            <a:r>
              <a:rPr lang="en-US" dirty="0"/>
              <a:t> work with clinical text?</a:t>
            </a:r>
          </a:p>
          <a:p>
            <a:r>
              <a:rPr lang="en-US" u="sng" dirty="0"/>
              <a:t>Structured</a:t>
            </a:r>
            <a:r>
              <a:rPr lang="en-US" dirty="0"/>
              <a:t> (tabular) versus </a:t>
            </a:r>
            <a:r>
              <a:rPr lang="en-US" u="sng" dirty="0"/>
              <a:t>unstructured</a:t>
            </a:r>
            <a:r>
              <a:rPr lang="en-US" dirty="0"/>
              <a:t> (notes, </a:t>
            </a:r>
            <a:r>
              <a:rPr lang="en-US" dirty="0" err="1"/>
              <a:t>etc</a:t>
            </a:r>
            <a:r>
              <a:rPr lang="en-US" dirty="0"/>
              <a:t>) EHR data</a:t>
            </a:r>
          </a:p>
          <a:p>
            <a:r>
              <a:rPr lang="en-US" dirty="0"/>
              <a:t>What’s in notes and other unstructured data, and why is it important?</a:t>
            </a:r>
          </a:p>
          <a:p>
            <a:pPr marL="0" indent="0">
              <a:buNone/>
            </a:pPr>
            <a:endParaRPr lang="en-US" dirty="0"/>
          </a:p>
          <a:p>
            <a:pPr marL="0" indent="0">
              <a:buNone/>
            </a:pPr>
            <a:r>
              <a:rPr lang="en-US" dirty="0"/>
              <a:t>Part 2: </a:t>
            </a:r>
            <a:r>
              <a:rPr lang="en-US" i="1" dirty="0"/>
              <a:t>how</a:t>
            </a:r>
            <a:r>
              <a:rPr lang="en-US" dirty="0"/>
              <a:t> do we work with unstructured data?</a:t>
            </a:r>
          </a:p>
          <a:p>
            <a:r>
              <a:rPr lang="en-US" dirty="0"/>
              <a:t>Extracting clinical text</a:t>
            </a:r>
          </a:p>
          <a:p>
            <a:r>
              <a:rPr lang="en-US" dirty="0"/>
              <a:t>Converting to a format we can use</a:t>
            </a:r>
          </a:p>
          <a:p>
            <a:r>
              <a:rPr lang="en-US" dirty="0"/>
              <a:t>Simple models for text</a:t>
            </a:r>
          </a:p>
        </p:txBody>
      </p:sp>
    </p:spTree>
    <p:extLst>
      <p:ext uri="{BB962C8B-B14F-4D97-AF65-F5344CB8AC3E}">
        <p14:creationId xmlns:p14="http://schemas.microsoft.com/office/powerpoint/2010/main" val="1339145347"/>
      </p:ext>
    </p:extLst>
  </p:cSld>
  <p:clrMapOvr>
    <a:masterClrMapping/>
  </p:clrMapOvr>
  <mc:AlternateContent xmlns:mc="http://schemas.openxmlformats.org/markup-compatibility/2006" xmlns:p14="http://schemas.microsoft.com/office/powerpoint/2010/main">
    <mc:Choice Requires="p14">
      <p:transition spd="slow" p14:dur="2000" advTm="47058"/>
    </mc:Choice>
    <mc:Fallback xmlns="">
      <p:transition spd="slow" advTm="4705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AF3F4-D9FD-10FA-5F64-83BA9D28323E}"/>
              </a:ext>
            </a:extLst>
          </p:cNvPr>
          <p:cNvSpPr>
            <a:spLocks noGrp="1"/>
          </p:cNvSpPr>
          <p:nvPr>
            <p:ph type="title"/>
          </p:nvPr>
        </p:nvSpPr>
        <p:spPr/>
        <p:txBody>
          <a:bodyPr/>
          <a:lstStyle/>
          <a:p>
            <a:r>
              <a:rPr lang="en-US" dirty="0"/>
              <a:t>Part 1: </a:t>
            </a:r>
            <a:r>
              <a:rPr lang="en-US" i="1" dirty="0"/>
              <a:t>why</a:t>
            </a:r>
          </a:p>
        </p:txBody>
      </p:sp>
      <p:sp>
        <p:nvSpPr>
          <p:cNvPr id="3" name="Text Placeholder 2">
            <a:extLst>
              <a:ext uri="{FF2B5EF4-FFF2-40B4-BE49-F238E27FC236}">
                <a16:creationId xmlns:a16="http://schemas.microsoft.com/office/drawing/2014/main" id="{64E611BE-46A8-342A-A8CF-51A997213D8D}"/>
              </a:ext>
            </a:extLst>
          </p:cNvPr>
          <p:cNvSpPr>
            <a:spLocks noGrp="1"/>
          </p:cNvSpPr>
          <p:nvPr>
            <p:ph type="body" idx="1"/>
          </p:nvPr>
        </p:nvSpPr>
        <p:spPr/>
        <p:txBody>
          <a:bodyPr/>
          <a:lstStyle/>
          <a:p>
            <a:r>
              <a:rPr lang="en-US" dirty="0"/>
              <a:t>…do we care about clinical text and other unstructured data?</a:t>
            </a:r>
          </a:p>
        </p:txBody>
      </p:sp>
    </p:spTree>
    <p:extLst>
      <p:ext uri="{BB962C8B-B14F-4D97-AF65-F5344CB8AC3E}">
        <p14:creationId xmlns:p14="http://schemas.microsoft.com/office/powerpoint/2010/main" val="2327435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71108-8108-684B-B1CB-485544586870}"/>
              </a:ext>
            </a:extLst>
          </p:cNvPr>
          <p:cNvSpPr>
            <a:spLocks noGrp="1"/>
          </p:cNvSpPr>
          <p:nvPr>
            <p:ph type="title"/>
          </p:nvPr>
        </p:nvSpPr>
        <p:spPr/>
        <p:txBody>
          <a:bodyPr/>
          <a:lstStyle/>
          <a:p>
            <a:r>
              <a:rPr lang="en-US" dirty="0"/>
              <a:t>Structured Data</a:t>
            </a:r>
          </a:p>
        </p:txBody>
      </p:sp>
      <p:sp>
        <p:nvSpPr>
          <p:cNvPr id="3" name="Content Placeholder 2">
            <a:extLst>
              <a:ext uri="{FF2B5EF4-FFF2-40B4-BE49-F238E27FC236}">
                <a16:creationId xmlns:a16="http://schemas.microsoft.com/office/drawing/2014/main" id="{99ED91CE-103E-E941-9D95-75197E5BEE5F}"/>
              </a:ext>
            </a:extLst>
          </p:cNvPr>
          <p:cNvSpPr>
            <a:spLocks noGrp="1"/>
          </p:cNvSpPr>
          <p:nvPr>
            <p:ph idx="1"/>
          </p:nvPr>
        </p:nvSpPr>
        <p:spPr/>
        <p:txBody>
          <a:bodyPr/>
          <a:lstStyle/>
          <a:p>
            <a:pPr marL="0" indent="0">
              <a:buNone/>
            </a:pPr>
            <a:r>
              <a:rPr lang="en-US" i="1" dirty="0"/>
              <a:t>Definition</a:t>
            </a:r>
            <a:r>
              <a:rPr lang="en-US" dirty="0"/>
              <a:t>: data organized into specific, </a:t>
            </a:r>
            <a:r>
              <a:rPr lang="en-US" dirty="0" err="1"/>
              <a:t>queryable</a:t>
            </a:r>
            <a:r>
              <a:rPr lang="en-US" dirty="0"/>
              <a:t> fields as part of an overarching model, with each field having a defined purpose.</a:t>
            </a:r>
          </a:p>
          <a:p>
            <a:pPr marL="0" indent="0">
              <a:buNone/>
            </a:pPr>
            <a:endParaRPr lang="en-US" dirty="0"/>
          </a:p>
          <a:p>
            <a:r>
              <a:rPr lang="en-US" dirty="0"/>
              <a:t>typically stored in tabular (i.e. table, spreadsheet) format</a:t>
            </a:r>
          </a:p>
          <a:p>
            <a:r>
              <a:rPr lang="en-US" dirty="0"/>
              <a:t>numeric variables, categorical variables and/or short free text</a:t>
            </a:r>
          </a:p>
          <a:p>
            <a:pPr marL="0" indent="0">
              <a:buNone/>
            </a:pPr>
            <a:endParaRPr lang="en-US" dirty="0"/>
          </a:p>
          <a:p>
            <a:pPr marL="0" indent="0">
              <a:buNone/>
            </a:pPr>
            <a:r>
              <a:rPr lang="en-US" i="1" dirty="0"/>
              <a:t>Examples</a:t>
            </a:r>
            <a:r>
              <a:rPr lang="en-US" dirty="0"/>
              <a:t>: demographics, diagnoses, procedures, labs, meds, vitals</a:t>
            </a:r>
          </a:p>
        </p:txBody>
      </p:sp>
    </p:spTree>
    <p:extLst>
      <p:ext uri="{BB962C8B-B14F-4D97-AF65-F5344CB8AC3E}">
        <p14:creationId xmlns:p14="http://schemas.microsoft.com/office/powerpoint/2010/main" val="4184007842"/>
      </p:ext>
    </p:extLst>
  </p:cSld>
  <p:clrMapOvr>
    <a:masterClrMapping/>
  </p:clrMapOvr>
  <mc:AlternateContent xmlns:mc="http://schemas.openxmlformats.org/markup-compatibility/2006" xmlns:p14="http://schemas.microsoft.com/office/powerpoint/2010/main">
    <mc:Choice Requires="p14">
      <p:transition spd="slow" p14:dur="2000" advTm="52156"/>
    </mc:Choice>
    <mc:Fallback xmlns="">
      <p:transition spd="slow" advTm="5215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797BC-2B0F-7B4A-A0F0-09120EA2FC8F}"/>
              </a:ext>
            </a:extLst>
          </p:cNvPr>
          <p:cNvSpPr>
            <a:spLocks noGrp="1"/>
          </p:cNvSpPr>
          <p:nvPr>
            <p:ph type="title"/>
          </p:nvPr>
        </p:nvSpPr>
        <p:spPr>
          <a:xfrm>
            <a:off x="628650" y="273844"/>
            <a:ext cx="7886700" cy="594836"/>
          </a:xfrm>
        </p:spPr>
        <p:txBody>
          <a:bodyPr>
            <a:normAutofit fontScale="90000"/>
          </a:bodyPr>
          <a:lstStyle/>
          <a:p>
            <a:r>
              <a:rPr lang="en-US" dirty="0"/>
              <a:t>Example from Duke’s Clinical Research Datamart…</a:t>
            </a:r>
          </a:p>
        </p:txBody>
      </p:sp>
      <p:pic>
        <p:nvPicPr>
          <p:cNvPr id="4" name="Picture 3">
            <a:extLst>
              <a:ext uri="{FF2B5EF4-FFF2-40B4-BE49-F238E27FC236}">
                <a16:creationId xmlns:a16="http://schemas.microsoft.com/office/drawing/2014/main" id="{D13BB077-F810-D74B-B049-4F440949E2DD}"/>
              </a:ext>
            </a:extLst>
          </p:cNvPr>
          <p:cNvPicPr>
            <a:picLocks noChangeAspect="1"/>
          </p:cNvPicPr>
          <p:nvPr/>
        </p:nvPicPr>
        <p:blipFill>
          <a:blip r:embed="rId3"/>
          <a:stretch>
            <a:fillRect/>
          </a:stretch>
        </p:blipFill>
        <p:spPr>
          <a:xfrm>
            <a:off x="70139" y="868680"/>
            <a:ext cx="9003723" cy="1580024"/>
          </a:xfrm>
          <a:prstGeom prst="rect">
            <a:avLst/>
          </a:prstGeom>
          <a:ln>
            <a:solidFill>
              <a:schemeClr val="tx1"/>
            </a:solidFill>
          </a:ln>
        </p:spPr>
      </p:pic>
      <p:graphicFrame>
        <p:nvGraphicFramePr>
          <p:cNvPr id="5" name="Table 4">
            <a:extLst>
              <a:ext uri="{FF2B5EF4-FFF2-40B4-BE49-F238E27FC236}">
                <a16:creationId xmlns:a16="http://schemas.microsoft.com/office/drawing/2014/main" id="{008B139E-A7E2-314F-8622-FA8B39DEDBAD}"/>
              </a:ext>
            </a:extLst>
          </p:cNvPr>
          <p:cNvGraphicFramePr>
            <a:graphicFrameLocks noGrp="1"/>
          </p:cNvGraphicFramePr>
          <p:nvPr/>
        </p:nvGraphicFramePr>
        <p:xfrm>
          <a:off x="1938645" y="2571750"/>
          <a:ext cx="5266711" cy="3455161"/>
        </p:xfrm>
        <a:graphic>
          <a:graphicData uri="http://schemas.openxmlformats.org/drawingml/2006/table">
            <a:tbl>
              <a:tblPr/>
              <a:tblGrid>
                <a:gridCol w="773630">
                  <a:extLst>
                    <a:ext uri="{9D8B030D-6E8A-4147-A177-3AD203B41FA5}">
                      <a16:colId xmlns:a16="http://schemas.microsoft.com/office/drawing/2014/main" val="3540784887"/>
                    </a:ext>
                  </a:extLst>
                </a:gridCol>
                <a:gridCol w="4493081">
                  <a:extLst>
                    <a:ext uri="{9D8B030D-6E8A-4147-A177-3AD203B41FA5}">
                      <a16:colId xmlns:a16="http://schemas.microsoft.com/office/drawing/2014/main" val="793277010"/>
                    </a:ext>
                  </a:extLst>
                </a:gridCol>
              </a:tblGrid>
              <a:tr h="236592">
                <a:tc>
                  <a:txBody>
                    <a:bodyPr/>
                    <a:lstStyle/>
                    <a:p>
                      <a:pPr algn="l" fontAlgn="ctr"/>
                      <a:r>
                        <a:rPr lang="en-US" sz="900" b="1">
                          <a:effectLst/>
                          <a:latin typeface="inherit"/>
                        </a:rPr>
                        <a:t>COLUMN</a:t>
                      </a:r>
                    </a:p>
                  </a:txBody>
                  <a:tcPr marL="15245" marR="60977" marT="30489" marB="30489"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D9EDF7"/>
                    </a:solidFill>
                  </a:tcPr>
                </a:tc>
                <a:tc>
                  <a:txBody>
                    <a:bodyPr/>
                    <a:lstStyle/>
                    <a:p>
                      <a:pPr algn="l" fontAlgn="ctr"/>
                      <a:r>
                        <a:rPr lang="en-US" sz="900" b="1" dirty="0">
                          <a:effectLst/>
                          <a:latin typeface="inherit"/>
                        </a:rPr>
                        <a:t>DEFINITION</a:t>
                      </a:r>
                    </a:p>
                  </a:txBody>
                  <a:tcPr marL="15245" marR="60977" marT="30489" marB="30489"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3749709961"/>
                  </a:ext>
                </a:extLst>
              </a:tr>
              <a:tr h="206103">
                <a:tc>
                  <a:txBody>
                    <a:bodyPr/>
                    <a:lstStyle/>
                    <a:p>
                      <a:pPr algn="l" fontAlgn="t"/>
                      <a:r>
                        <a:rPr lang="en-US" sz="900">
                          <a:effectLst/>
                          <a:latin typeface="inherit"/>
                        </a:rPr>
                        <a:t>DIAGNOSISID:</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900">
                          <a:effectLst/>
                          <a:latin typeface="inherit"/>
                        </a:rPr>
                        <a:t>An arbitrary identifier for each record. Not currently useful for linkage across tables.</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045449251"/>
                  </a:ext>
                </a:extLst>
              </a:tr>
              <a:tr h="304809">
                <a:tc>
                  <a:txBody>
                    <a:bodyPr/>
                    <a:lstStyle/>
                    <a:p>
                      <a:pPr algn="l" fontAlgn="t"/>
                      <a:r>
                        <a:rPr lang="en-US" sz="900">
                          <a:effectLst/>
                          <a:latin typeface="inherit"/>
                        </a:rPr>
                        <a:t>ENCOUNTERID:</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900">
                          <a:effectLst/>
                          <a:latin typeface="inherit"/>
                        </a:rPr>
                        <a:t>The ENCOUNTERID (encounter ID) is an arbitrary identifier for a specific encounter that can be used to link information across tables in the model.</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817046843"/>
                  </a:ext>
                </a:extLst>
              </a:tr>
              <a:tr h="469525">
                <a:tc>
                  <a:txBody>
                    <a:bodyPr/>
                    <a:lstStyle/>
                    <a:p>
                      <a:pPr algn="l" fontAlgn="t"/>
                      <a:r>
                        <a:rPr lang="en-US" sz="900">
                          <a:effectLst/>
                          <a:latin typeface="inherit"/>
                        </a:rPr>
                        <a:t>PATID:</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900">
                          <a:effectLst/>
                          <a:latin typeface="inherit"/>
                        </a:rPr>
                        <a:t>The PATID (patient identifier) is an arbitrary, person-level identifier used to link information across tables within the data model. There is a table within the CRDM that allows an investigator with an appropriate IRB protocol to link PATID to MRN.</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9432620"/>
                  </a:ext>
                </a:extLst>
              </a:tr>
              <a:tr h="579129">
                <a:tc>
                  <a:txBody>
                    <a:bodyPr/>
                    <a:lstStyle/>
                    <a:p>
                      <a:pPr algn="l" fontAlgn="t"/>
                      <a:r>
                        <a:rPr lang="en-US" sz="900">
                          <a:effectLst/>
                          <a:latin typeface="inherit"/>
                        </a:rPr>
                        <a:t>ENC_TYPE:</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900">
                          <a:effectLst/>
                          <a:latin typeface="inherit"/>
                        </a:rPr>
                        <a:t>Encounter type indicates the setting in which the encounter took place (the same data are provided in the encounter table: AV=Ambulatory Visit, ED=Emergency Department, EI=Emergency Department Admit to Inpatient Hospital Stay, IP=Inpatient Hospital Stay, OS=Observation Stay, NI=No information, UN=Unknown, OT=Other</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4050141263"/>
                  </a:ext>
                </a:extLst>
              </a:tr>
              <a:tr h="206103">
                <a:tc>
                  <a:txBody>
                    <a:bodyPr/>
                    <a:lstStyle/>
                    <a:p>
                      <a:pPr algn="l" fontAlgn="t"/>
                      <a:r>
                        <a:rPr lang="en-US" sz="900">
                          <a:effectLst/>
                          <a:latin typeface="inherit"/>
                        </a:rPr>
                        <a:t>ADMIT_DATE:</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900">
                          <a:effectLst/>
                          <a:latin typeface="inherit"/>
                        </a:rPr>
                        <a:t>The date on which the encounter began (also included in the encounter table).</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87764221"/>
                  </a:ext>
                </a:extLst>
              </a:tr>
              <a:tr h="206103">
                <a:tc>
                  <a:txBody>
                    <a:bodyPr/>
                    <a:lstStyle/>
                    <a:p>
                      <a:pPr algn="l" fontAlgn="t"/>
                      <a:r>
                        <a:rPr lang="en-US" sz="900">
                          <a:effectLst/>
                          <a:latin typeface="inherit"/>
                        </a:rPr>
                        <a:t>PROVIDERID:</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900">
                          <a:effectLst/>
                          <a:latin typeface="inherit"/>
                        </a:rPr>
                        <a:t>Unique identifier for a provider ? can be used to link an encounter to the provider table.</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323285643"/>
                  </a:ext>
                </a:extLst>
              </a:tr>
              <a:tr h="167649">
                <a:tc>
                  <a:txBody>
                    <a:bodyPr/>
                    <a:lstStyle/>
                    <a:p>
                      <a:pPr algn="l" fontAlgn="t"/>
                      <a:r>
                        <a:rPr lang="en-US" sz="900">
                          <a:effectLst/>
                          <a:latin typeface="inherit"/>
                        </a:rPr>
                        <a:t>DX:</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900">
                          <a:effectLst/>
                          <a:latin typeface="inherit"/>
                        </a:rPr>
                        <a:t>The diagnosis code; uses either ICD-9 or ICD-10</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943604207"/>
                  </a:ext>
                </a:extLst>
              </a:tr>
              <a:tr h="304809">
                <a:tc>
                  <a:txBody>
                    <a:bodyPr/>
                    <a:lstStyle/>
                    <a:p>
                      <a:pPr algn="l" fontAlgn="t"/>
                      <a:r>
                        <a:rPr lang="en-US" sz="900">
                          <a:effectLst/>
                          <a:latin typeface="inherit"/>
                        </a:rPr>
                        <a:t>DX_TYPE:</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900">
                          <a:effectLst/>
                          <a:latin typeface="inherit"/>
                        </a:rPr>
                        <a:t>09=ICD-9-CM, 10=ICD-10-CM, 11=ICD-11-CM, SM=SNOMED CT, NI=No information, UN=Unknown, OT=Other</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413175896"/>
                  </a:ext>
                </a:extLst>
              </a:tr>
              <a:tr h="304809">
                <a:tc>
                  <a:txBody>
                    <a:bodyPr/>
                    <a:lstStyle/>
                    <a:p>
                      <a:pPr algn="l" fontAlgn="t"/>
                      <a:r>
                        <a:rPr lang="en-US" sz="900">
                          <a:effectLst/>
                          <a:latin typeface="inherit"/>
                        </a:rPr>
                        <a:t>DX_SOURCE:</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900">
                          <a:effectLst/>
                          <a:latin typeface="inherit"/>
                        </a:rPr>
                        <a:t>The approximate period within the encounter when the diagnosis was made for the patient; diagnoses are always ?Final Diagnosis (FI)?, from the billing codes. </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242086771"/>
                  </a:ext>
                </a:extLst>
              </a:tr>
              <a:tr h="469525">
                <a:tc>
                  <a:txBody>
                    <a:bodyPr/>
                    <a:lstStyle/>
                    <a:p>
                      <a:pPr algn="l" fontAlgn="t"/>
                      <a:r>
                        <a:rPr lang="en-US" sz="900">
                          <a:effectLst/>
                          <a:latin typeface="inherit"/>
                        </a:rPr>
                        <a:t>DX_ORIGIN:</a:t>
                      </a:r>
                    </a:p>
                  </a:txBody>
                  <a:tcPr marL="15245" marR="15245" marT="15245" marB="15245">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en-US" sz="900" dirty="0">
                          <a:effectLst/>
                          <a:latin typeface="inherit"/>
                        </a:rPr>
                        <a:t>The source of the diagnosis information. ?Billing (BI)? is always the source in this data model. In 2021 OD, other diagnosis types where added that are admission and </a:t>
                      </a:r>
                      <a:r>
                        <a:rPr lang="en-US" sz="900" dirty="0" err="1">
                          <a:effectLst/>
                          <a:latin typeface="inherit"/>
                        </a:rPr>
                        <a:t>encounter_diagnosis</a:t>
                      </a:r>
                      <a:r>
                        <a:rPr lang="en-US" sz="900" dirty="0">
                          <a:effectLst/>
                          <a:latin typeface="inherit"/>
                        </a:rPr>
                        <a:t>. Billing diagnosis are still the main diagnosis to use for research projects.</a:t>
                      </a:r>
                    </a:p>
                  </a:txBody>
                  <a:tcPr marL="15245" marR="15245" marT="15245" marB="15245">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179586423"/>
                  </a:ext>
                </a:extLst>
              </a:tr>
            </a:tbl>
          </a:graphicData>
        </a:graphic>
      </p:graphicFrame>
    </p:spTree>
    <p:extLst>
      <p:ext uri="{BB962C8B-B14F-4D97-AF65-F5344CB8AC3E}">
        <p14:creationId xmlns:p14="http://schemas.microsoft.com/office/powerpoint/2010/main" val="1034176086"/>
      </p:ext>
    </p:extLst>
  </p:cSld>
  <p:clrMapOvr>
    <a:masterClrMapping/>
  </p:clrMapOvr>
  <mc:AlternateContent xmlns:mc="http://schemas.openxmlformats.org/markup-compatibility/2006" xmlns:p14="http://schemas.microsoft.com/office/powerpoint/2010/main">
    <mc:Choice Requires="p14">
      <p:transition spd="slow" p14:dur="2000" advTm="31086"/>
    </mc:Choice>
    <mc:Fallback xmlns="">
      <p:transition spd="slow" advTm="3108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DC2E-FB0C-8F49-ABF5-4C597C02258E}"/>
              </a:ext>
            </a:extLst>
          </p:cNvPr>
          <p:cNvSpPr>
            <a:spLocks noGrp="1"/>
          </p:cNvSpPr>
          <p:nvPr>
            <p:ph type="title"/>
          </p:nvPr>
        </p:nvSpPr>
        <p:spPr/>
        <p:txBody>
          <a:bodyPr/>
          <a:lstStyle/>
          <a:p>
            <a:r>
              <a:rPr lang="en-US" dirty="0"/>
              <a:t>Unstructured Data</a:t>
            </a:r>
          </a:p>
        </p:txBody>
      </p:sp>
      <p:sp>
        <p:nvSpPr>
          <p:cNvPr id="3" name="Content Placeholder 2">
            <a:extLst>
              <a:ext uri="{FF2B5EF4-FFF2-40B4-BE49-F238E27FC236}">
                <a16:creationId xmlns:a16="http://schemas.microsoft.com/office/drawing/2014/main" id="{93FE3023-BB85-E042-AA61-E574B68313BE}"/>
              </a:ext>
            </a:extLst>
          </p:cNvPr>
          <p:cNvSpPr>
            <a:spLocks noGrp="1"/>
          </p:cNvSpPr>
          <p:nvPr>
            <p:ph idx="1"/>
          </p:nvPr>
        </p:nvSpPr>
        <p:spPr/>
        <p:txBody>
          <a:bodyPr>
            <a:normAutofit lnSpcReduction="10000"/>
          </a:bodyPr>
          <a:lstStyle/>
          <a:p>
            <a:pPr marL="0" indent="0">
              <a:buNone/>
            </a:pPr>
            <a:r>
              <a:rPr lang="en-US" i="1" dirty="0"/>
              <a:t>Definition</a:t>
            </a:r>
            <a:r>
              <a:rPr lang="en-US" dirty="0"/>
              <a:t>: data that is NOT structured data</a:t>
            </a:r>
          </a:p>
          <a:p>
            <a:pPr marL="0" indent="0">
              <a:buNone/>
            </a:pPr>
            <a:endParaRPr lang="en-US" dirty="0"/>
          </a:p>
          <a:p>
            <a:r>
              <a:rPr lang="en-US" dirty="0"/>
              <a:t>in other words, everything else</a:t>
            </a:r>
          </a:p>
          <a:p>
            <a:r>
              <a:rPr lang="en-US" dirty="0"/>
              <a:t>typically stored in a modality-specific format</a:t>
            </a:r>
          </a:p>
          <a:p>
            <a:pPr marL="0" indent="0">
              <a:buNone/>
            </a:pPr>
            <a:endParaRPr lang="en-US" dirty="0"/>
          </a:p>
          <a:p>
            <a:pPr marL="0" indent="0">
              <a:buNone/>
            </a:pPr>
            <a:r>
              <a:rPr lang="en-US" i="1" dirty="0"/>
              <a:t>Examples</a:t>
            </a:r>
            <a:r>
              <a:rPr lang="en-US" dirty="0"/>
              <a:t>:</a:t>
            </a:r>
          </a:p>
          <a:p>
            <a:r>
              <a:rPr lang="en-US" dirty="0"/>
              <a:t>clinical notes (also available through CRDM)</a:t>
            </a:r>
          </a:p>
          <a:p>
            <a:r>
              <a:rPr lang="en-US" dirty="0"/>
              <a:t>imaging (e.g. radiology, ophthalmology, ultrasound, pathology)</a:t>
            </a:r>
          </a:p>
          <a:p>
            <a:r>
              <a:rPr lang="en-US" dirty="0"/>
              <a:t>physiologic time series (e.g. electrophysiologic studies, digital health)</a:t>
            </a:r>
          </a:p>
        </p:txBody>
      </p:sp>
    </p:spTree>
    <p:extLst>
      <p:ext uri="{BB962C8B-B14F-4D97-AF65-F5344CB8AC3E}">
        <p14:creationId xmlns:p14="http://schemas.microsoft.com/office/powerpoint/2010/main" val="3151415851"/>
      </p:ext>
    </p:extLst>
  </p:cSld>
  <p:clrMapOvr>
    <a:masterClrMapping/>
  </p:clrMapOvr>
  <mc:AlternateContent xmlns:mc="http://schemas.openxmlformats.org/markup-compatibility/2006" xmlns:p14="http://schemas.microsoft.com/office/powerpoint/2010/main">
    <mc:Choice Requires="p14">
      <p:transition spd="slow" p14:dur="2000" advTm="76640"/>
    </mc:Choice>
    <mc:Fallback xmlns="">
      <p:transition spd="slow" advTm="7664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F2F0B-D400-0843-8342-3714B414BA30}"/>
              </a:ext>
            </a:extLst>
          </p:cNvPr>
          <p:cNvSpPr>
            <a:spLocks noGrp="1"/>
          </p:cNvSpPr>
          <p:nvPr>
            <p:ph type="title"/>
          </p:nvPr>
        </p:nvSpPr>
        <p:spPr/>
        <p:txBody>
          <a:bodyPr/>
          <a:lstStyle/>
          <a:p>
            <a:r>
              <a:rPr lang="en-US" dirty="0"/>
              <a:t>What information is in notes</a:t>
            </a:r>
          </a:p>
        </p:txBody>
      </p:sp>
      <p:sp>
        <p:nvSpPr>
          <p:cNvPr id="3" name="Text Placeholder 2">
            <a:extLst>
              <a:ext uri="{FF2B5EF4-FFF2-40B4-BE49-F238E27FC236}">
                <a16:creationId xmlns:a16="http://schemas.microsoft.com/office/drawing/2014/main" id="{C425C9A9-E884-F04C-BC69-3CFACC251D5D}"/>
              </a:ext>
            </a:extLst>
          </p:cNvPr>
          <p:cNvSpPr>
            <a:spLocks noGrp="1"/>
          </p:cNvSpPr>
          <p:nvPr>
            <p:ph type="body" idx="1"/>
          </p:nvPr>
        </p:nvSpPr>
        <p:spPr/>
        <p:txBody>
          <a:bodyPr/>
          <a:lstStyle/>
          <a:p>
            <a:r>
              <a:rPr lang="en-US" dirty="0"/>
              <a:t>…and why is it important?</a:t>
            </a:r>
          </a:p>
        </p:txBody>
      </p:sp>
    </p:spTree>
    <p:extLst>
      <p:ext uri="{BB962C8B-B14F-4D97-AF65-F5344CB8AC3E}">
        <p14:creationId xmlns:p14="http://schemas.microsoft.com/office/powerpoint/2010/main" val="2520685610"/>
      </p:ext>
    </p:extLst>
  </p:cSld>
  <p:clrMapOvr>
    <a:masterClrMapping/>
  </p:clrMapOvr>
  <mc:AlternateContent xmlns:mc="http://schemas.openxmlformats.org/markup-compatibility/2006" xmlns:p14="http://schemas.microsoft.com/office/powerpoint/2010/main">
    <mc:Choice Requires="p14">
      <p:transition spd="slow" p14:dur="2000" advTm="18382"/>
    </mc:Choice>
    <mc:Fallback xmlns="">
      <p:transition spd="slow" advTm="1838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D81F3-7E4F-0243-8459-79C328C913D6}"/>
              </a:ext>
            </a:extLst>
          </p:cNvPr>
          <p:cNvSpPr>
            <a:spLocks noGrp="1"/>
          </p:cNvSpPr>
          <p:nvPr>
            <p:ph type="title"/>
          </p:nvPr>
        </p:nvSpPr>
        <p:spPr/>
        <p:txBody>
          <a:bodyPr/>
          <a:lstStyle/>
          <a:p>
            <a:r>
              <a:rPr lang="en-US" dirty="0"/>
              <a:t>A patient presents with shortness of breath…</a:t>
            </a:r>
          </a:p>
        </p:txBody>
      </p:sp>
      <p:sp>
        <p:nvSpPr>
          <p:cNvPr id="3" name="Content Placeholder 2">
            <a:extLst>
              <a:ext uri="{FF2B5EF4-FFF2-40B4-BE49-F238E27FC236}">
                <a16:creationId xmlns:a16="http://schemas.microsoft.com/office/drawing/2014/main" id="{B92E46B9-4B97-FC46-AF92-3A164EA55D23}"/>
              </a:ext>
            </a:extLst>
          </p:cNvPr>
          <p:cNvSpPr>
            <a:spLocks noGrp="1"/>
          </p:cNvSpPr>
          <p:nvPr>
            <p:ph idx="1"/>
          </p:nvPr>
        </p:nvSpPr>
        <p:spPr/>
        <p:txBody>
          <a:bodyPr>
            <a:normAutofit lnSpcReduction="10000"/>
          </a:bodyPr>
          <a:lstStyle/>
          <a:p>
            <a:r>
              <a:rPr lang="en-US" dirty="0"/>
              <a:t>Presents to urgent care and is transferred to the ED</a:t>
            </a:r>
          </a:p>
          <a:p>
            <a:endParaRPr lang="en-US" dirty="0"/>
          </a:p>
          <a:p>
            <a:r>
              <a:rPr lang="en-US" dirty="0"/>
              <a:t>Evaluated in the ED</a:t>
            </a:r>
          </a:p>
          <a:p>
            <a:pPr lvl="1"/>
            <a:r>
              <a:rPr lang="en-US" dirty="0"/>
              <a:t>History of present illness</a:t>
            </a:r>
          </a:p>
          <a:p>
            <a:pPr lvl="1"/>
            <a:r>
              <a:rPr lang="en-US" dirty="0"/>
              <a:t>Review of medical history (including meds and allergies) + social and family hx</a:t>
            </a:r>
          </a:p>
          <a:p>
            <a:pPr lvl="1"/>
            <a:r>
              <a:rPr lang="en-US" dirty="0"/>
              <a:t>Physical exam and review of systems</a:t>
            </a:r>
          </a:p>
          <a:p>
            <a:pPr lvl="1"/>
            <a:r>
              <a:rPr lang="en-US" u="sng" dirty="0"/>
              <a:t>Lab results</a:t>
            </a:r>
            <a:r>
              <a:rPr lang="en-US" dirty="0"/>
              <a:t>: BMP and CBC</a:t>
            </a:r>
          </a:p>
          <a:p>
            <a:pPr lvl="1"/>
            <a:r>
              <a:rPr lang="en-US" u="sng" dirty="0"/>
              <a:t>Imaging &amp; other studies</a:t>
            </a:r>
            <a:r>
              <a:rPr lang="en-US" dirty="0"/>
              <a:t>: CT and EKG</a:t>
            </a:r>
          </a:p>
          <a:p>
            <a:pPr lvl="1"/>
            <a:endParaRPr lang="en-US" dirty="0"/>
          </a:p>
          <a:p>
            <a:r>
              <a:rPr lang="en-US" dirty="0"/>
              <a:t>Admitted to the hospital</a:t>
            </a:r>
          </a:p>
          <a:p>
            <a:endParaRPr lang="en-US" dirty="0"/>
          </a:p>
        </p:txBody>
      </p:sp>
    </p:spTree>
    <p:extLst>
      <p:ext uri="{BB962C8B-B14F-4D97-AF65-F5344CB8AC3E}">
        <p14:creationId xmlns:p14="http://schemas.microsoft.com/office/powerpoint/2010/main" val="4131874962"/>
      </p:ext>
    </p:extLst>
  </p:cSld>
  <p:clrMapOvr>
    <a:masterClrMapping/>
  </p:clrMapOvr>
  <mc:AlternateContent xmlns:mc="http://schemas.openxmlformats.org/markup-compatibility/2006" xmlns:p14="http://schemas.microsoft.com/office/powerpoint/2010/main">
    <mc:Choice Requires="p14">
      <p:transition spd="slow" p14:dur="2000" advTm="120942"/>
    </mc:Choice>
    <mc:Fallback xmlns="">
      <p:transition spd="slow" advTm="12094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63950-B144-A74A-9DB3-545D6E33DD46}"/>
              </a:ext>
            </a:extLst>
          </p:cNvPr>
          <p:cNvSpPr>
            <a:spLocks noGrp="1"/>
          </p:cNvSpPr>
          <p:nvPr>
            <p:ph type="title"/>
          </p:nvPr>
        </p:nvSpPr>
        <p:spPr/>
        <p:txBody>
          <a:bodyPr/>
          <a:lstStyle/>
          <a:p>
            <a:r>
              <a:rPr lang="en-US" dirty="0"/>
              <a:t>What will we find in the structured data?</a:t>
            </a:r>
          </a:p>
        </p:txBody>
      </p:sp>
      <p:sp>
        <p:nvSpPr>
          <p:cNvPr id="3" name="Content Placeholder 2">
            <a:extLst>
              <a:ext uri="{FF2B5EF4-FFF2-40B4-BE49-F238E27FC236}">
                <a16:creationId xmlns:a16="http://schemas.microsoft.com/office/drawing/2014/main" id="{3FF826EF-54F8-934E-BB1C-B4E684ABA6C1}"/>
              </a:ext>
            </a:extLst>
          </p:cNvPr>
          <p:cNvSpPr>
            <a:spLocks noGrp="1"/>
          </p:cNvSpPr>
          <p:nvPr>
            <p:ph idx="1"/>
          </p:nvPr>
        </p:nvSpPr>
        <p:spPr/>
        <p:txBody>
          <a:bodyPr/>
          <a:lstStyle/>
          <a:p>
            <a:r>
              <a:rPr lang="en-US" dirty="0"/>
              <a:t>Encounter details (ED admission)</a:t>
            </a:r>
          </a:p>
          <a:p>
            <a:r>
              <a:rPr lang="en-US" dirty="0"/>
              <a:t>Labs (BMP, CBC)</a:t>
            </a:r>
          </a:p>
          <a:p>
            <a:r>
              <a:rPr lang="en-US" dirty="0"/>
              <a:t>Vital signs</a:t>
            </a:r>
          </a:p>
          <a:p>
            <a:r>
              <a:rPr lang="en-US" dirty="0"/>
              <a:t>Procedure codes (CT)</a:t>
            </a:r>
          </a:p>
          <a:p>
            <a:r>
              <a:rPr lang="en-US" dirty="0"/>
              <a:t>Diagnosis codes (PE)</a:t>
            </a:r>
          </a:p>
          <a:p>
            <a:endParaRPr lang="en-US" dirty="0"/>
          </a:p>
          <a:p>
            <a:endParaRPr lang="en-US" dirty="0"/>
          </a:p>
          <a:p>
            <a:r>
              <a:rPr lang="en-US" dirty="0"/>
              <a:t>…what </a:t>
            </a:r>
            <a:r>
              <a:rPr lang="en-US" i="1" dirty="0"/>
              <a:t>won’t</a:t>
            </a:r>
            <a:r>
              <a:rPr lang="en-US" dirty="0"/>
              <a:t> we find?</a:t>
            </a:r>
          </a:p>
        </p:txBody>
      </p:sp>
    </p:spTree>
    <p:extLst>
      <p:ext uri="{BB962C8B-B14F-4D97-AF65-F5344CB8AC3E}">
        <p14:creationId xmlns:p14="http://schemas.microsoft.com/office/powerpoint/2010/main" val="1794435784"/>
      </p:ext>
    </p:extLst>
  </p:cSld>
  <p:clrMapOvr>
    <a:masterClrMapping/>
  </p:clrMapOvr>
  <mc:AlternateContent xmlns:mc="http://schemas.openxmlformats.org/markup-compatibility/2006" xmlns:p14="http://schemas.microsoft.com/office/powerpoint/2010/main">
    <mc:Choice Requires="p14">
      <p:transition spd="slow" p14:dur="2000" advTm="53289"/>
    </mc:Choice>
    <mc:Fallback xmlns="">
      <p:transition spd="slow" advTm="5328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52029E-FC5D-4E4C-9C20-4BEF7DBD04E3}"/>
              </a:ext>
            </a:extLst>
          </p:cNvPr>
          <p:cNvPicPr>
            <a:picLocks noChangeAspect="1"/>
          </p:cNvPicPr>
          <p:nvPr/>
        </p:nvPicPr>
        <p:blipFill rotWithShape="1">
          <a:blip r:embed="rId3"/>
          <a:srcRect l="11976" t="10928" r="11177"/>
          <a:stretch/>
        </p:blipFill>
        <p:spPr>
          <a:xfrm>
            <a:off x="3892640" y="280115"/>
            <a:ext cx="4935827" cy="7403742"/>
          </a:xfrm>
          <a:prstGeom prst="rect">
            <a:avLst/>
          </a:prstGeom>
          <a:ln>
            <a:solidFill>
              <a:schemeClr val="tx1"/>
            </a:solidFill>
          </a:ln>
        </p:spPr>
      </p:pic>
      <p:sp>
        <p:nvSpPr>
          <p:cNvPr id="6" name="Title 1">
            <a:extLst>
              <a:ext uri="{FF2B5EF4-FFF2-40B4-BE49-F238E27FC236}">
                <a16:creationId xmlns:a16="http://schemas.microsoft.com/office/drawing/2014/main" id="{3660DA80-C53B-0542-8A08-251DA8A31DF5}"/>
              </a:ext>
            </a:extLst>
          </p:cNvPr>
          <p:cNvSpPr>
            <a:spLocks noGrp="1"/>
          </p:cNvSpPr>
          <p:nvPr>
            <p:ph type="title"/>
          </p:nvPr>
        </p:nvSpPr>
        <p:spPr>
          <a:xfrm>
            <a:off x="628650" y="273844"/>
            <a:ext cx="7886700" cy="994172"/>
          </a:xfrm>
        </p:spPr>
        <p:txBody>
          <a:bodyPr>
            <a:normAutofit/>
          </a:bodyPr>
          <a:lstStyle/>
          <a:p>
            <a:r>
              <a:rPr lang="en-US" dirty="0"/>
              <a:t>The H&amp;P</a:t>
            </a:r>
          </a:p>
        </p:txBody>
      </p:sp>
      <p:sp>
        <p:nvSpPr>
          <p:cNvPr id="7" name="Rectangle 6">
            <a:extLst>
              <a:ext uri="{FF2B5EF4-FFF2-40B4-BE49-F238E27FC236}">
                <a16:creationId xmlns:a16="http://schemas.microsoft.com/office/drawing/2014/main" id="{4F64F63A-58CA-0441-9A7D-CA2B8E9BD133}"/>
              </a:ext>
            </a:extLst>
          </p:cNvPr>
          <p:cNvSpPr/>
          <p:nvPr/>
        </p:nvSpPr>
        <p:spPr>
          <a:xfrm>
            <a:off x="315533" y="3058657"/>
            <a:ext cx="3113466" cy="2031325"/>
          </a:xfrm>
          <a:prstGeom prst="rect">
            <a:avLst/>
          </a:prstGeom>
        </p:spPr>
        <p:txBody>
          <a:bodyPr wrap="square">
            <a:spAutoFit/>
          </a:bodyPr>
          <a:lstStyle/>
          <a:p>
            <a:r>
              <a:rPr lang="en-US" sz="1050" dirty="0">
                <a:solidFill>
                  <a:srgbClr val="333333"/>
                </a:solidFill>
                <a:latin typeface="verdana" panose="020B0604030504040204" pitchFamily="34" charset="0"/>
              </a:rPr>
              <a:t>FHIR systems </a:t>
            </a:r>
            <a:r>
              <a:rPr lang="en-US" sz="1050" b="1" dirty="0">
                <a:solidFill>
                  <a:srgbClr val="333333"/>
                </a:solidFill>
                <a:latin typeface="verdana" panose="020B0604030504040204" pitchFamily="34" charset="0"/>
              </a:rPr>
              <a:t>SHALL</a:t>
            </a:r>
            <a:r>
              <a:rPr lang="en-US" sz="1050" dirty="0">
                <a:solidFill>
                  <a:srgbClr val="333333"/>
                </a:solidFill>
                <a:latin typeface="verdana" panose="020B0604030504040204" pitchFamily="34" charset="0"/>
              </a:rPr>
              <a:t> support, at </a:t>
            </a:r>
            <a:r>
              <a:rPr lang="en-US" sz="1050" i="1" dirty="0">
                <a:solidFill>
                  <a:srgbClr val="333333"/>
                </a:solidFill>
                <a:latin typeface="verdana" panose="020B0604030504040204" pitchFamily="34" charset="0"/>
              </a:rPr>
              <a:t>minimum</a:t>
            </a:r>
            <a:r>
              <a:rPr lang="en-US" sz="1050" dirty="0">
                <a:solidFill>
                  <a:srgbClr val="333333"/>
                </a:solidFill>
                <a:latin typeface="verdana" panose="020B0604030504040204" pitchFamily="34" charset="0"/>
              </a:rPr>
              <a:t>, these eight “Common Clinical Notes”:</a:t>
            </a:r>
          </a:p>
          <a:p>
            <a:endParaRPr lang="en-US" sz="1050" dirty="0">
              <a:solidFill>
                <a:srgbClr val="333333"/>
              </a:solidFill>
              <a:latin typeface="verdana" panose="020B0604030504040204" pitchFamily="34" charset="0"/>
            </a:endParaRPr>
          </a:p>
          <a:p>
            <a:pPr>
              <a:buFont typeface="+mj-lt"/>
              <a:buAutoNum type="arabicPeriod"/>
            </a:pPr>
            <a:r>
              <a:rPr lang="en-US" sz="1050" dirty="0">
                <a:latin typeface="verdana" panose="020B0604030504040204" pitchFamily="34" charset="0"/>
                <a:hlinkClick r:id="rId4">
                  <a:extLst>
                    <a:ext uri="{A12FA001-AC4F-418D-AE19-62706E023703}">
                      <ahyp:hlinkClr xmlns:ahyp="http://schemas.microsoft.com/office/drawing/2018/hyperlinkcolor" val="tx"/>
                    </a:ext>
                  </a:extLst>
                </a:hlinkClick>
              </a:rPr>
              <a:t>Consultation Note (11488-4)</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5">
                  <a:extLst>
                    <a:ext uri="{A12FA001-AC4F-418D-AE19-62706E023703}">
                      <ahyp:hlinkClr xmlns:ahyp="http://schemas.microsoft.com/office/drawing/2018/hyperlinkcolor" val="tx"/>
                    </a:ext>
                  </a:extLst>
                </a:hlinkClick>
              </a:rPr>
              <a:t>Discharge Summary (18842-5)</a:t>
            </a:r>
            <a:endParaRPr lang="en-US" sz="1050" dirty="0">
              <a:latin typeface="verdana" panose="020B0604030504040204" pitchFamily="34" charset="0"/>
            </a:endParaRPr>
          </a:p>
          <a:p>
            <a:pPr>
              <a:buFont typeface="+mj-lt"/>
              <a:buAutoNum type="arabicPeriod"/>
            </a:pPr>
            <a:r>
              <a:rPr lang="en-US" sz="1050" dirty="0">
                <a:highlight>
                  <a:srgbClr val="FFFF00"/>
                </a:highlight>
                <a:latin typeface="verdana" panose="020B0604030504040204" pitchFamily="34" charset="0"/>
                <a:hlinkClick r:id="rId6">
                  <a:extLst>
                    <a:ext uri="{A12FA001-AC4F-418D-AE19-62706E023703}">
                      <ahyp:hlinkClr xmlns:ahyp="http://schemas.microsoft.com/office/drawing/2018/hyperlinkcolor" val="tx"/>
                    </a:ext>
                  </a:extLst>
                </a:hlinkClick>
              </a:rPr>
              <a:t>History &amp; Physical Note (34117-2)</a:t>
            </a:r>
            <a:endParaRPr lang="en-US" sz="1050" dirty="0">
              <a:highlight>
                <a:srgbClr val="FFFF00"/>
              </a:highlight>
              <a:latin typeface="verdana" panose="020B0604030504040204" pitchFamily="34" charset="0"/>
            </a:endParaRPr>
          </a:p>
          <a:p>
            <a:pPr>
              <a:buFont typeface="+mj-lt"/>
              <a:buAutoNum type="arabicPeriod"/>
            </a:pPr>
            <a:r>
              <a:rPr lang="en-US" sz="1050" dirty="0">
                <a:latin typeface="verdana" panose="020B0604030504040204" pitchFamily="34" charset="0"/>
                <a:hlinkClick r:id="rId7">
                  <a:extLst>
                    <a:ext uri="{A12FA001-AC4F-418D-AE19-62706E023703}">
                      <ahyp:hlinkClr xmlns:ahyp="http://schemas.microsoft.com/office/drawing/2018/hyperlinkcolor" val="tx"/>
                    </a:ext>
                  </a:extLst>
                </a:hlinkClick>
              </a:rPr>
              <a:t>Procedures Note (28570-0)</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8">
                  <a:extLst>
                    <a:ext uri="{A12FA001-AC4F-418D-AE19-62706E023703}">
                      <ahyp:hlinkClr xmlns:ahyp="http://schemas.microsoft.com/office/drawing/2018/hyperlinkcolor" val="tx"/>
                    </a:ext>
                  </a:extLst>
                </a:hlinkClick>
              </a:rPr>
              <a:t>Progress Note (11506-3)</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9">
                  <a:extLst>
                    <a:ext uri="{A12FA001-AC4F-418D-AE19-62706E023703}">
                      <ahyp:hlinkClr xmlns:ahyp="http://schemas.microsoft.com/office/drawing/2018/hyperlinkcolor" val="tx"/>
                    </a:ext>
                  </a:extLst>
                </a:hlinkClick>
              </a:rPr>
              <a:t>Imaging Narrative (18748-4)</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10">
                  <a:extLst>
                    <a:ext uri="{A12FA001-AC4F-418D-AE19-62706E023703}">
                      <ahyp:hlinkClr xmlns:ahyp="http://schemas.microsoft.com/office/drawing/2018/hyperlinkcolor" val="tx"/>
                    </a:ext>
                  </a:extLst>
                </a:hlinkClick>
              </a:rPr>
              <a:t>Laboratory Report Narrative (11502-2)</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11">
                  <a:extLst>
                    <a:ext uri="{A12FA001-AC4F-418D-AE19-62706E023703}">
                      <ahyp:hlinkClr xmlns:ahyp="http://schemas.microsoft.com/office/drawing/2018/hyperlinkcolor" val="tx"/>
                    </a:ext>
                  </a:extLst>
                </a:hlinkClick>
              </a:rPr>
              <a:t>Pathology Report Narrative (11526-1)</a:t>
            </a:r>
            <a:endParaRPr lang="en-US" sz="1050" dirty="0">
              <a:latin typeface="verdana" panose="020B0604030504040204" pitchFamily="34" charset="0"/>
            </a:endParaRPr>
          </a:p>
        </p:txBody>
      </p:sp>
      <p:sp>
        <p:nvSpPr>
          <p:cNvPr id="8" name="Rectangle 7">
            <a:extLst>
              <a:ext uri="{FF2B5EF4-FFF2-40B4-BE49-F238E27FC236}">
                <a16:creationId xmlns:a16="http://schemas.microsoft.com/office/drawing/2014/main" id="{9892FAA4-4F81-B549-8072-4AD661F6B6C9}"/>
              </a:ext>
            </a:extLst>
          </p:cNvPr>
          <p:cNvSpPr/>
          <p:nvPr/>
        </p:nvSpPr>
        <p:spPr>
          <a:xfrm>
            <a:off x="628651" y="1280342"/>
            <a:ext cx="2800349" cy="646331"/>
          </a:xfrm>
          <a:prstGeom prst="rect">
            <a:avLst/>
          </a:prstGeom>
        </p:spPr>
        <p:txBody>
          <a:bodyPr wrap="square">
            <a:spAutoFit/>
          </a:bodyPr>
          <a:lstStyle/>
          <a:p>
            <a:r>
              <a:rPr lang="en-US" sz="900" dirty="0"/>
              <a:t>written by a UNC student and publicly available:</a:t>
            </a:r>
          </a:p>
          <a:p>
            <a:endParaRPr lang="en-US" sz="900" dirty="0"/>
          </a:p>
          <a:p>
            <a:r>
              <a:rPr lang="en-US" sz="900" dirty="0"/>
              <a:t>https://</a:t>
            </a:r>
            <a:r>
              <a:rPr lang="en-US" sz="900" dirty="0" err="1"/>
              <a:t>www.med.unc.edu</a:t>
            </a:r>
            <a:r>
              <a:rPr lang="en-US" sz="900" dirty="0"/>
              <a:t>/</a:t>
            </a:r>
            <a:r>
              <a:rPr lang="en-US" sz="900" dirty="0" err="1"/>
              <a:t>medclerk</a:t>
            </a:r>
            <a:r>
              <a:rPr lang="en-US" sz="900" dirty="0"/>
              <a:t>/education/grading/history-and-physical-examination-h-p-examples/</a:t>
            </a:r>
          </a:p>
        </p:txBody>
      </p:sp>
    </p:spTree>
    <p:extLst>
      <p:ext uri="{BB962C8B-B14F-4D97-AF65-F5344CB8AC3E}">
        <p14:creationId xmlns:p14="http://schemas.microsoft.com/office/powerpoint/2010/main" val="301344397"/>
      </p:ext>
    </p:extLst>
  </p:cSld>
  <p:clrMapOvr>
    <a:masterClrMapping/>
  </p:clrMapOvr>
  <mc:AlternateContent xmlns:mc="http://schemas.openxmlformats.org/markup-compatibility/2006" xmlns:p14="http://schemas.microsoft.com/office/powerpoint/2010/main">
    <mc:Choice Requires="p14">
      <p:transition spd="slow" p14:dur="2000" advTm="57359"/>
    </mc:Choice>
    <mc:Fallback xmlns="">
      <p:transition spd="slow" advTm="5735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660DA80-C53B-0542-8A08-251DA8A31DF5}"/>
              </a:ext>
            </a:extLst>
          </p:cNvPr>
          <p:cNvSpPr>
            <a:spLocks noGrp="1"/>
          </p:cNvSpPr>
          <p:nvPr>
            <p:ph type="title"/>
          </p:nvPr>
        </p:nvSpPr>
        <p:spPr>
          <a:xfrm>
            <a:off x="628650" y="273844"/>
            <a:ext cx="7886700" cy="994172"/>
          </a:xfrm>
        </p:spPr>
        <p:txBody>
          <a:bodyPr>
            <a:normAutofit/>
          </a:bodyPr>
          <a:lstStyle/>
          <a:p>
            <a:r>
              <a:rPr lang="en-US" dirty="0"/>
              <a:t>The H&amp;P</a:t>
            </a:r>
          </a:p>
        </p:txBody>
      </p:sp>
      <p:sp>
        <p:nvSpPr>
          <p:cNvPr id="7" name="Rectangle 6">
            <a:extLst>
              <a:ext uri="{FF2B5EF4-FFF2-40B4-BE49-F238E27FC236}">
                <a16:creationId xmlns:a16="http://schemas.microsoft.com/office/drawing/2014/main" id="{4F64F63A-58CA-0441-9A7D-CA2B8E9BD133}"/>
              </a:ext>
            </a:extLst>
          </p:cNvPr>
          <p:cNvSpPr/>
          <p:nvPr/>
        </p:nvSpPr>
        <p:spPr>
          <a:xfrm>
            <a:off x="315533" y="3058657"/>
            <a:ext cx="3113466" cy="2031325"/>
          </a:xfrm>
          <a:prstGeom prst="rect">
            <a:avLst/>
          </a:prstGeom>
        </p:spPr>
        <p:txBody>
          <a:bodyPr wrap="square">
            <a:spAutoFit/>
          </a:bodyPr>
          <a:lstStyle/>
          <a:p>
            <a:r>
              <a:rPr lang="en-US" sz="1050" dirty="0">
                <a:solidFill>
                  <a:srgbClr val="333333"/>
                </a:solidFill>
                <a:latin typeface="verdana" panose="020B0604030504040204" pitchFamily="34" charset="0"/>
              </a:rPr>
              <a:t>FHIR systems </a:t>
            </a:r>
            <a:r>
              <a:rPr lang="en-US" sz="1050" b="1" dirty="0">
                <a:solidFill>
                  <a:srgbClr val="333333"/>
                </a:solidFill>
                <a:latin typeface="verdana" panose="020B0604030504040204" pitchFamily="34" charset="0"/>
              </a:rPr>
              <a:t>SHALL</a:t>
            </a:r>
            <a:r>
              <a:rPr lang="en-US" sz="1050" dirty="0">
                <a:solidFill>
                  <a:srgbClr val="333333"/>
                </a:solidFill>
                <a:latin typeface="verdana" panose="020B0604030504040204" pitchFamily="34" charset="0"/>
              </a:rPr>
              <a:t> support, at </a:t>
            </a:r>
            <a:r>
              <a:rPr lang="en-US" sz="1050" i="1" dirty="0">
                <a:solidFill>
                  <a:srgbClr val="333333"/>
                </a:solidFill>
                <a:latin typeface="verdana" panose="020B0604030504040204" pitchFamily="34" charset="0"/>
              </a:rPr>
              <a:t>minimum</a:t>
            </a:r>
            <a:r>
              <a:rPr lang="en-US" sz="1050" dirty="0">
                <a:solidFill>
                  <a:srgbClr val="333333"/>
                </a:solidFill>
                <a:latin typeface="verdana" panose="020B0604030504040204" pitchFamily="34" charset="0"/>
              </a:rPr>
              <a:t>, these eight “Common Clinical Notes”:</a:t>
            </a:r>
          </a:p>
          <a:p>
            <a:endParaRPr lang="en-US" sz="1050" dirty="0">
              <a:solidFill>
                <a:srgbClr val="333333"/>
              </a:solidFill>
              <a:latin typeface="verdana" panose="020B0604030504040204" pitchFamily="34" charset="0"/>
            </a:endParaRPr>
          </a:p>
          <a:p>
            <a:pPr>
              <a:buFont typeface="+mj-lt"/>
              <a:buAutoNum type="arabicPeriod"/>
            </a:pPr>
            <a:r>
              <a:rPr lang="en-US" sz="1050" dirty="0">
                <a:latin typeface="verdana" panose="020B0604030504040204" pitchFamily="34" charset="0"/>
                <a:hlinkClick r:id="rId3">
                  <a:extLst>
                    <a:ext uri="{A12FA001-AC4F-418D-AE19-62706E023703}">
                      <ahyp:hlinkClr xmlns:ahyp="http://schemas.microsoft.com/office/drawing/2018/hyperlinkcolor" val="tx"/>
                    </a:ext>
                  </a:extLst>
                </a:hlinkClick>
              </a:rPr>
              <a:t>Consultation Note (11488-4)</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4">
                  <a:extLst>
                    <a:ext uri="{A12FA001-AC4F-418D-AE19-62706E023703}">
                      <ahyp:hlinkClr xmlns:ahyp="http://schemas.microsoft.com/office/drawing/2018/hyperlinkcolor" val="tx"/>
                    </a:ext>
                  </a:extLst>
                </a:hlinkClick>
              </a:rPr>
              <a:t>Discharge Summary (18842-5)</a:t>
            </a:r>
            <a:endParaRPr lang="en-US" sz="1050" dirty="0">
              <a:latin typeface="verdana" panose="020B0604030504040204" pitchFamily="34" charset="0"/>
            </a:endParaRPr>
          </a:p>
          <a:p>
            <a:pPr>
              <a:buFont typeface="+mj-lt"/>
              <a:buAutoNum type="arabicPeriod"/>
            </a:pPr>
            <a:r>
              <a:rPr lang="en-US" sz="1050" dirty="0">
                <a:highlight>
                  <a:srgbClr val="FFFF00"/>
                </a:highlight>
                <a:latin typeface="verdana" panose="020B0604030504040204" pitchFamily="34" charset="0"/>
                <a:hlinkClick r:id="rId5">
                  <a:extLst>
                    <a:ext uri="{A12FA001-AC4F-418D-AE19-62706E023703}">
                      <ahyp:hlinkClr xmlns:ahyp="http://schemas.microsoft.com/office/drawing/2018/hyperlinkcolor" val="tx"/>
                    </a:ext>
                  </a:extLst>
                </a:hlinkClick>
              </a:rPr>
              <a:t>History &amp; Physical Note (34117-2)</a:t>
            </a:r>
            <a:endParaRPr lang="en-US" sz="1050" dirty="0">
              <a:highlight>
                <a:srgbClr val="FFFF00"/>
              </a:highlight>
              <a:latin typeface="verdana" panose="020B0604030504040204" pitchFamily="34" charset="0"/>
            </a:endParaRPr>
          </a:p>
          <a:p>
            <a:pPr>
              <a:buFont typeface="+mj-lt"/>
              <a:buAutoNum type="arabicPeriod"/>
            </a:pPr>
            <a:r>
              <a:rPr lang="en-US" sz="1050" dirty="0">
                <a:latin typeface="verdana" panose="020B0604030504040204" pitchFamily="34" charset="0"/>
                <a:hlinkClick r:id="rId6">
                  <a:extLst>
                    <a:ext uri="{A12FA001-AC4F-418D-AE19-62706E023703}">
                      <ahyp:hlinkClr xmlns:ahyp="http://schemas.microsoft.com/office/drawing/2018/hyperlinkcolor" val="tx"/>
                    </a:ext>
                  </a:extLst>
                </a:hlinkClick>
              </a:rPr>
              <a:t>Procedures Note (28570-0)</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7">
                  <a:extLst>
                    <a:ext uri="{A12FA001-AC4F-418D-AE19-62706E023703}">
                      <ahyp:hlinkClr xmlns:ahyp="http://schemas.microsoft.com/office/drawing/2018/hyperlinkcolor" val="tx"/>
                    </a:ext>
                  </a:extLst>
                </a:hlinkClick>
              </a:rPr>
              <a:t>Progress Note (11506-3)</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8">
                  <a:extLst>
                    <a:ext uri="{A12FA001-AC4F-418D-AE19-62706E023703}">
                      <ahyp:hlinkClr xmlns:ahyp="http://schemas.microsoft.com/office/drawing/2018/hyperlinkcolor" val="tx"/>
                    </a:ext>
                  </a:extLst>
                </a:hlinkClick>
              </a:rPr>
              <a:t>Imaging Narrative (18748-4)</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9">
                  <a:extLst>
                    <a:ext uri="{A12FA001-AC4F-418D-AE19-62706E023703}">
                      <ahyp:hlinkClr xmlns:ahyp="http://schemas.microsoft.com/office/drawing/2018/hyperlinkcolor" val="tx"/>
                    </a:ext>
                  </a:extLst>
                </a:hlinkClick>
              </a:rPr>
              <a:t>Laboratory Report Narrative (11502-2)</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10">
                  <a:extLst>
                    <a:ext uri="{A12FA001-AC4F-418D-AE19-62706E023703}">
                      <ahyp:hlinkClr xmlns:ahyp="http://schemas.microsoft.com/office/drawing/2018/hyperlinkcolor" val="tx"/>
                    </a:ext>
                  </a:extLst>
                </a:hlinkClick>
              </a:rPr>
              <a:t>Pathology Report Narrative (11526-1)</a:t>
            </a:r>
            <a:endParaRPr lang="en-US" sz="1050" dirty="0">
              <a:latin typeface="verdana" panose="020B0604030504040204" pitchFamily="34" charset="0"/>
            </a:endParaRPr>
          </a:p>
        </p:txBody>
      </p:sp>
      <p:sp>
        <p:nvSpPr>
          <p:cNvPr id="8" name="Rectangle 7">
            <a:extLst>
              <a:ext uri="{FF2B5EF4-FFF2-40B4-BE49-F238E27FC236}">
                <a16:creationId xmlns:a16="http://schemas.microsoft.com/office/drawing/2014/main" id="{9892FAA4-4F81-B549-8072-4AD661F6B6C9}"/>
              </a:ext>
            </a:extLst>
          </p:cNvPr>
          <p:cNvSpPr/>
          <p:nvPr/>
        </p:nvSpPr>
        <p:spPr>
          <a:xfrm>
            <a:off x="628651" y="1280342"/>
            <a:ext cx="2800349" cy="646331"/>
          </a:xfrm>
          <a:prstGeom prst="rect">
            <a:avLst/>
          </a:prstGeom>
        </p:spPr>
        <p:txBody>
          <a:bodyPr wrap="square">
            <a:spAutoFit/>
          </a:bodyPr>
          <a:lstStyle/>
          <a:p>
            <a:r>
              <a:rPr lang="en-US" sz="900" dirty="0"/>
              <a:t>written by a UNC student and publicly available:</a:t>
            </a:r>
          </a:p>
          <a:p>
            <a:endParaRPr lang="en-US" sz="900" dirty="0"/>
          </a:p>
          <a:p>
            <a:r>
              <a:rPr lang="en-US" sz="900" dirty="0"/>
              <a:t>https://</a:t>
            </a:r>
            <a:r>
              <a:rPr lang="en-US" sz="900" dirty="0" err="1"/>
              <a:t>www.med.unc.edu</a:t>
            </a:r>
            <a:r>
              <a:rPr lang="en-US" sz="900" dirty="0"/>
              <a:t>/</a:t>
            </a:r>
            <a:r>
              <a:rPr lang="en-US" sz="900" dirty="0" err="1"/>
              <a:t>medclerk</a:t>
            </a:r>
            <a:r>
              <a:rPr lang="en-US" sz="900" dirty="0"/>
              <a:t>/education/grading/history-and-physical-examination-h-p-examples/</a:t>
            </a:r>
          </a:p>
        </p:txBody>
      </p:sp>
      <p:pic>
        <p:nvPicPr>
          <p:cNvPr id="2" name="Picture 1">
            <a:extLst>
              <a:ext uri="{FF2B5EF4-FFF2-40B4-BE49-F238E27FC236}">
                <a16:creationId xmlns:a16="http://schemas.microsoft.com/office/drawing/2014/main" id="{F9F0F4FC-D645-154D-A008-0101B4CB90B7}"/>
              </a:ext>
            </a:extLst>
          </p:cNvPr>
          <p:cNvPicPr>
            <a:picLocks noChangeAspect="1"/>
          </p:cNvPicPr>
          <p:nvPr/>
        </p:nvPicPr>
        <p:blipFill rotWithShape="1">
          <a:blip r:embed="rId11"/>
          <a:srcRect t="69654" b="13302"/>
          <a:stretch/>
        </p:blipFill>
        <p:spPr>
          <a:xfrm>
            <a:off x="3209537" y="368960"/>
            <a:ext cx="6067905" cy="1338449"/>
          </a:xfrm>
          <a:prstGeom prst="rect">
            <a:avLst/>
          </a:prstGeom>
        </p:spPr>
      </p:pic>
      <p:pic>
        <p:nvPicPr>
          <p:cNvPr id="3" name="Picture 2">
            <a:extLst>
              <a:ext uri="{FF2B5EF4-FFF2-40B4-BE49-F238E27FC236}">
                <a16:creationId xmlns:a16="http://schemas.microsoft.com/office/drawing/2014/main" id="{F14B0BF3-6092-2E4A-8387-91696E529462}"/>
              </a:ext>
            </a:extLst>
          </p:cNvPr>
          <p:cNvPicPr>
            <a:picLocks noChangeAspect="1"/>
          </p:cNvPicPr>
          <p:nvPr/>
        </p:nvPicPr>
        <p:blipFill rotWithShape="1">
          <a:blip r:embed="rId12"/>
          <a:srcRect t="11573"/>
          <a:stretch/>
        </p:blipFill>
        <p:spPr>
          <a:xfrm>
            <a:off x="3209537" y="1724753"/>
            <a:ext cx="6067905" cy="6943759"/>
          </a:xfrm>
          <a:prstGeom prst="rect">
            <a:avLst/>
          </a:prstGeom>
        </p:spPr>
      </p:pic>
      <p:sp>
        <p:nvSpPr>
          <p:cNvPr id="9" name="Rectangle 8">
            <a:extLst>
              <a:ext uri="{FF2B5EF4-FFF2-40B4-BE49-F238E27FC236}">
                <a16:creationId xmlns:a16="http://schemas.microsoft.com/office/drawing/2014/main" id="{FC6E2B1F-DB15-FE4F-A4E4-00CE4DC5976C}"/>
              </a:ext>
            </a:extLst>
          </p:cNvPr>
          <p:cNvSpPr/>
          <p:nvPr/>
        </p:nvSpPr>
        <p:spPr>
          <a:xfrm>
            <a:off x="3892640" y="-72591"/>
            <a:ext cx="4935827" cy="561555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Tree>
    <p:extLst>
      <p:ext uri="{BB962C8B-B14F-4D97-AF65-F5344CB8AC3E}">
        <p14:creationId xmlns:p14="http://schemas.microsoft.com/office/powerpoint/2010/main" val="2192364589"/>
      </p:ext>
    </p:extLst>
  </p:cSld>
  <p:clrMapOvr>
    <a:masterClrMapping/>
  </p:clrMapOvr>
  <mc:AlternateContent xmlns:mc="http://schemas.openxmlformats.org/markup-compatibility/2006" xmlns:p14="http://schemas.microsoft.com/office/powerpoint/2010/main">
    <mc:Choice Requires="p14">
      <p:transition spd="slow" p14:dur="2000" advTm="13347"/>
    </mc:Choice>
    <mc:Fallback xmlns="">
      <p:transition spd="slow" advTm="1334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660DA80-C53B-0542-8A08-251DA8A31DF5}"/>
              </a:ext>
            </a:extLst>
          </p:cNvPr>
          <p:cNvSpPr>
            <a:spLocks noGrp="1"/>
          </p:cNvSpPr>
          <p:nvPr>
            <p:ph type="title"/>
          </p:nvPr>
        </p:nvSpPr>
        <p:spPr>
          <a:xfrm>
            <a:off x="628650" y="273844"/>
            <a:ext cx="7886700" cy="994172"/>
          </a:xfrm>
        </p:spPr>
        <p:txBody>
          <a:bodyPr>
            <a:normAutofit/>
          </a:bodyPr>
          <a:lstStyle/>
          <a:p>
            <a:r>
              <a:rPr lang="en-US" dirty="0"/>
              <a:t>The H&amp;P</a:t>
            </a:r>
          </a:p>
        </p:txBody>
      </p:sp>
      <p:sp>
        <p:nvSpPr>
          <p:cNvPr id="7" name="Rectangle 6">
            <a:extLst>
              <a:ext uri="{FF2B5EF4-FFF2-40B4-BE49-F238E27FC236}">
                <a16:creationId xmlns:a16="http://schemas.microsoft.com/office/drawing/2014/main" id="{4F64F63A-58CA-0441-9A7D-CA2B8E9BD133}"/>
              </a:ext>
            </a:extLst>
          </p:cNvPr>
          <p:cNvSpPr/>
          <p:nvPr/>
        </p:nvSpPr>
        <p:spPr>
          <a:xfrm>
            <a:off x="315533" y="3058657"/>
            <a:ext cx="3113466" cy="2031325"/>
          </a:xfrm>
          <a:prstGeom prst="rect">
            <a:avLst/>
          </a:prstGeom>
        </p:spPr>
        <p:txBody>
          <a:bodyPr wrap="square">
            <a:spAutoFit/>
          </a:bodyPr>
          <a:lstStyle/>
          <a:p>
            <a:r>
              <a:rPr lang="en-US" sz="1050" dirty="0">
                <a:solidFill>
                  <a:srgbClr val="333333"/>
                </a:solidFill>
                <a:latin typeface="verdana" panose="020B0604030504040204" pitchFamily="34" charset="0"/>
              </a:rPr>
              <a:t>FHIR systems </a:t>
            </a:r>
            <a:r>
              <a:rPr lang="en-US" sz="1050" b="1" dirty="0">
                <a:solidFill>
                  <a:srgbClr val="333333"/>
                </a:solidFill>
                <a:latin typeface="verdana" panose="020B0604030504040204" pitchFamily="34" charset="0"/>
              </a:rPr>
              <a:t>SHALL</a:t>
            </a:r>
            <a:r>
              <a:rPr lang="en-US" sz="1050" dirty="0">
                <a:solidFill>
                  <a:srgbClr val="333333"/>
                </a:solidFill>
                <a:latin typeface="verdana" panose="020B0604030504040204" pitchFamily="34" charset="0"/>
              </a:rPr>
              <a:t> support, at </a:t>
            </a:r>
            <a:r>
              <a:rPr lang="en-US" sz="1050" i="1" dirty="0">
                <a:solidFill>
                  <a:srgbClr val="333333"/>
                </a:solidFill>
                <a:latin typeface="verdana" panose="020B0604030504040204" pitchFamily="34" charset="0"/>
              </a:rPr>
              <a:t>minimum</a:t>
            </a:r>
            <a:r>
              <a:rPr lang="en-US" sz="1050" dirty="0">
                <a:solidFill>
                  <a:srgbClr val="333333"/>
                </a:solidFill>
                <a:latin typeface="verdana" panose="020B0604030504040204" pitchFamily="34" charset="0"/>
              </a:rPr>
              <a:t>, these eight “Common Clinical Notes”:</a:t>
            </a:r>
          </a:p>
          <a:p>
            <a:endParaRPr lang="en-US" sz="1050" dirty="0">
              <a:solidFill>
                <a:srgbClr val="333333"/>
              </a:solidFill>
              <a:latin typeface="verdana" panose="020B0604030504040204" pitchFamily="34" charset="0"/>
            </a:endParaRPr>
          </a:p>
          <a:p>
            <a:pPr>
              <a:buFont typeface="+mj-lt"/>
              <a:buAutoNum type="arabicPeriod"/>
            </a:pPr>
            <a:r>
              <a:rPr lang="en-US" sz="1050" dirty="0">
                <a:latin typeface="verdana" panose="020B0604030504040204" pitchFamily="34" charset="0"/>
                <a:hlinkClick r:id="rId3">
                  <a:extLst>
                    <a:ext uri="{A12FA001-AC4F-418D-AE19-62706E023703}">
                      <ahyp:hlinkClr xmlns:ahyp="http://schemas.microsoft.com/office/drawing/2018/hyperlinkcolor" val="tx"/>
                    </a:ext>
                  </a:extLst>
                </a:hlinkClick>
              </a:rPr>
              <a:t>Consultation Note (11488-4)</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4">
                  <a:extLst>
                    <a:ext uri="{A12FA001-AC4F-418D-AE19-62706E023703}">
                      <ahyp:hlinkClr xmlns:ahyp="http://schemas.microsoft.com/office/drawing/2018/hyperlinkcolor" val="tx"/>
                    </a:ext>
                  </a:extLst>
                </a:hlinkClick>
              </a:rPr>
              <a:t>Discharge Summary (18842-5)</a:t>
            </a:r>
            <a:endParaRPr lang="en-US" sz="1050" dirty="0">
              <a:latin typeface="verdana" panose="020B0604030504040204" pitchFamily="34" charset="0"/>
            </a:endParaRPr>
          </a:p>
          <a:p>
            <a:pPr>
              <a:buFont typeface="+mj-lt"/>
              <a:buAutoNum type="arabicPeriod"/>
            </a:pPr>
            <a:r>
              <a:rPr lang="en-US" sz="1050" dirty="0">
                <a:highlight>
                  <a:srgbClr val="FFFF00"/>
                </a:highlight>
                <a:latin typeface="verdana" panose="020B0604030504040204" pitchFamily="34" charset="0"/>
                <a:hlinkClick r:id="rId5">
                  <a:extLst>
                    <a:ext uri="{A12FA001-AC4F-418D-AE19-62706E023703}">
                      <ahyp:hlinkClr xmlns:ahyp="http://schemas.microsoft.com/office/drawing/2018/hyperlinkcolor" val="tx"/>
                    </a:ext>
                  </a:extLst>
                </a:hlinkClick>
              </a:rPr>
              <a:t>History &amp; Physical Note (34117-2)</a:t>
            </a:r>
            <a:endParaRPr lang="en-US" sz="1050" dirty="0">
              <a:highlight>
                <a:srgbClr val="FFFF00"/>
              </a:highlight>
              <a:latin typeface="verdana" panose="020B0604030504040204" pitchFamily="34" charset="0"/>
            </a:endParaRPr>
          </a:p>
          <a:p>
            <a:pPr>
              <a:buFont typeface="+mj-lt"/>
              <a:buAutoNum type="arabicPeriod"/>
            </a:pPr>
            <a:r>
              <a:rPr lang="en-US" sz="1050" dirty="0">
                <a:latin typeface="verdana" panose="020B0604030504040204" pitchFamily="34" charset="0"/>
                <a:hlinkClick r:id="rId6">
                  <a:extLst>
                    <a:ext uri="{A12FA001-AC4F-418D-AE19-62706E023703}">
                      <ahyp:hlinkClr xmlns:ahyp="http://schemas.microsoft.com/office/drawing/2018/hyperlinkcolor" val="tx"/>
                    </a:ext>
                  </a:extLst>
                </a:hlinkClick>
              </a:rPr>
              <a:t>Procedures Note (28570-0)</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7">
                  <a:extLst>
                    <a:ext uri="{A12FA001-AC4F-418D-AE19-62706E023703}">
                      <ahyp:hlinkClr xmlns:ahyp="http://schemas.microsoft.com/office/drawing/2018/hyperlinkcolor" val="tx"/>
                    </a:ext>
                  </a:extLst>
                </a:hlinkClick>
              </a:rPr>
              <a:t>Progress Note (11506-3)</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8">
                  <a:extLst>
                    <a:ext uri="{A12FA001-AC4F-418D-AE19-62706E023703}">
                      <ahyp:hlinkClr xmlns:ahyp="http://schemas.microsoft.com/office/drawing/2018/hyperlinkcolor" val="tx"/>
                    </a:ext>
                  </a:extLst>
                </a:hlinkClick>
              </a:rPr>
              <a:t>Imaging Narrative (18748-4)</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9">
                  <a:extLst>
                    <a:ext uri="{A12FA001-AC4F-418D-AE19-62706E023703}">
                      <ahyp:hlinkClr xmlns:ahyp="http://schemas.microsoft.com/office/drawing/2018/hyperlinkcolor" val="tx"/>
                    </a:ext>
                  </a:extLst>
                </a:hlinkClick>
              </a:rPr>
              <a:t>Laboratory Report Narrative (11502-2)</a:t>
            </a:r>
            <a:endParaRPr lang="en-US" sz="1050" dirty="0">
              <a:latin typeface="verdana" panose="020B0604030504040204" pitchFamily="34" charset="0"/>
            </a:endParaRPr>
          </a:p>
          <a:p>
            <a:pPr>
              <a:buFont typeface="+mj-lt"/>
              <a:buAutoNum type="arabicPeriod"/>
            </a:pPr>
            <a:r>
              <a:rPr lang="en-US" sz="1050" dirty="0">
                <a:latin typeface="verdana" panose="020B0604030504040204" pitchFamily="34" charset="0"/>
                <a:hlinkClick r:id="rId10">
                  <a:extLst>
                    <a:ext uri="{A12FA001-AC4F-418D-AE19-62706E023703}">
                      <ahyp:hlinkClr xmlns:ahyp="http://schemas.microsoft.com/office/drawing/2018/hyperlinkcolor" val="tx"/>
                    </a:ext>
                  </a:extLst>
                </a:hlinkClick>
              </a:rPr>
              <a:t>Pathology Report Narrative (11526-1)</a:t>
            </a:r>
            <a:endParaRPr lang="en-US" sz="1050" dirty="0">
              <a:latin typeface="verdana" panose="020B0604030504040204" pitchFamily="34" charset="0"/>
            </a:endParaRPr>
          </a:p>
        </p:txBody>
      </p:sp>
      <p:sp>
        <p:nvSpPr>
          <p:cNvPr id="8" name="Rectangle 7">
            <a:extLst>
              <a:ext uri="{FF2B5EF4-FFF2-40B4-BE49-F238E27FC236}">
                <a16:creationId xmlns:a16="http://schemas.microsoft.com/office/drawing/2014/main" id="{9892FAA4-4F81-B549-8072-4AD661F6B6C9}"/>
              </a:ext>
            </a:extLst>
          </p:cNvPr>
          <p:cNvSpPr/>
          <p:nvPr/>
        </p:nvSpPr>
        <p:spPr>
          <a:xfrm>
            <a:off x="628651" y="1280342"/>
            <a:ext cx="2800349" cy="646331"/>
          </a:xfrm>
          <a:prstGeom prst="rect">
            <a:avLst/>
          </a:prstGeom>
        </p:spPr>
        <p:txBody>
          <a:bodyPr wrap="square">
            <a:spAutoFit/>
          </a:bodyPr>
          <a:lstStyle/>
          <a:p>
            <a:r>
              <a:rPr lang="en-US" sz="900" dirty="0"/>
              <a:t>written by a UNC student and publicly available:</a:t>
            </a:r>
          </a:p>
          <a:p>
            <a:endParaRPr lang="en-US" sz="900" dirty="0"/>
          </a:p>
          <a:p>
            <a:r>
              <a:rPr lang="en-US" sz="900" dirty="0"/>
              <a:t>https://</a:t>
            </a:r>
            <a:r>
              <a:rPr lang="en-US" sz="900" dirty="0" err="1"/>
              <a:t>www.med.unc.edu</a:t>
            </a:r>
            <a:r>
              <a:rPr lang="en-US" sz="900" dirty="0"/>
              <a:t>/</a:t>
            </a:r>
            <a:r>
              <a:rPr lang="en-US" sz="900" dirty="0" err="1"/>
              <a:t>medclerk</a:t>
            </a:r>
            <a:r>
              <a:rPr lang="en-US" sz="900" dirty="0"/>
              <a:t>/education/grading/history-and-physical-examination-h-p-examples/</a:t>
            </a:r>
          </a:p>
        </p:txBody>
      </p:sp>
      <p:pic>
        <p:nvPicPr>
          <p:cNvPr id="4" name="Picture 3">
            <a:extLst>
              <a:ext uri="{FF2B5EF4-FFF2-40B4-BE49-F238E27FC236}">
                <a16:creationId xmlns:a16="http://schemas.microsoft.com/office/drawing/2014/main" id="{36953209-B713-B44B-A821-78E7A04A0218}"/>
              </a:ext>
            </a:extLst>
          </p:cNvPr>
          <p:cNvPicPr>
            <a:picLocks noChangeAspect="1"/>
          </p:cNvPicPr>
          <p:nvPr/>
        </p:nvPicPr>
        <p:blipFill rotWithShape="1">
          <a:blip r:embed="rId11"/>
          <a:srcRect t="11074"/>
          <a:stretch/>
        </p:blipFill>
        <p:spPr>
          <a:xfrm>
            <a:off x="3138565" y="63704"/>
            <a:ext cx="6130341" cy="7054845"/>
          </a:xfrm>
          <a:prstGeom prst="rect">
            <a:avLst/>
          </a:prstGeom>
        </p:spPr>
      </p:pic>
      <p:sp>
        <p:nvSpPr>
          <p:cNvPr id="9" name="Rectangle 8">
            <a:extLst>
              <a:ext uri="{FF2B5EF4-FFF2-40B4-BE49-F238E27FC236}">
                <a16:creationId xmlns:a16="http://schemas.microsoft.com/office/drawing/2014/main" id="{D2DF6E56-684D-9D40-A269-E5AFB62140C3}"/>
              </a:ext>
            </a:extLst>
          </p:cNvPr>
          <p:cNvSpPr/>
          <p:nvPr/>
        </p:nvSpPr>
        <p:spPr>
          <a:xfrm>
            <a:off x="3892640" y="-72591"/>
            <a:ext cx="4935827" cy="561555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Tree>
    <p:extLst>
      <p:ext uri="{BB962C8B-B14F-4D97-AF65-F5344CB8AC3E}">
        <p14:creationId xmlns:p14="http://schemas.microsoft.com/office/powerpoint/2010/main" val="1831524637"/>
      </p:ext>
    </p:extLst>
  </p:cSld>
  <p:clrMapOvr>
    <a:masterClrMapping/>
  </p:clrMapOvr>
  <mc:AlternateContent xmlns:mc="http://schemas.openxmlformats.org/markup-compatibility/2006" xmlns:p14="http://schemas.microsoft.com/office/powerpoint/2010/main">
    <mc:Choice Requires="p14">
      <p:transition spd="slow" p14:dur="2000" advTm="23993"/>
    </mc:Choice>
    <mc:Fallback xmlns="">
      <p:transition spd="slow" advTm="2399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A5650E-D03F-4C4B-BC74-1688B5209B47}"/>
              </a:ext>
            </a:extLst>
          </p:cNvPr>
          <p:cNvPicPr>
            <a:picLocks noChangeAspect="1"/>
          </p:cNvPicPr>
          <p:nvPr/>
        </p:nvPicPr>
        <p:blipFill rotWithShape="1">
          <a:blip r:embed="rId3"/>
          <a:srcRect l="7106" t="5333" r="8248" b="70311"/>
          <a:stretch/>
        </p:blipFill>
        <p:spPr>
          <a:xfrm>
            <a:off x="4114800" y="91441"/>
            <a:ext cx="4921758" cy="1861253"/>
          </a:xfrm>
          <a:prstGeom prst="rect">
            <a:avLst/>
          </a:prstGeom>
          <a:ln>
            <a:solidFill>
              <a:schemeClr val="tx1"/>
            </a:solidFill>
          </a:ln>
        </p:spPr>
      </p:pic>
      <p:sp>
        <p:nvSpPr>
          <p:cNvPr id="7" name="Title 1">
            <a:extLst>
              <a:ext uri="{FF2B5EF4-FFF2-40B4-BE49-F238E27FC236}">
                <a16:creationId xmlns:a16="http://schemas.microsoft.com/office/drawing/2014/main" id="{CB833CE4-E42C-B849-A3E6-D30F660548D2}"/>
              </a:ext>
            </a:extLst>
          </p:cNvPr>
          <p:cNvSpPr>
            <a:spLocks noGrp="1"/>
          </p:cNvSpPr>
          <p:nvPr>
            <p:ph type="title"/>
          </p:nvPr>
        </p:nvSpPr>
        <p:spPr>
          <a:xfrm>
            <a:off x="299466" y="308596"/>
            <a:ext cx="3815334" cy="1426940"/>
          </a:xfrm>
        </p:spPr>
        <p:txBody>
          <a:bodyPr>
            <a:normAutofit/>
          </a:bodyPr>
          <a:lstStyle/>
          <a:p>
            <a:r>
              <a:rPr lang="en-US" dirty="0"/>
              <a:t>Notes are a rich source of info</a:t>
            </a:r>
          </a:p>
        </p:txBody>
      </p:sp>
      <p:pic>
        <p:nvPicPr>
          <p:cNvPr id="8" name="Picture 7">
            <a:extLst>
              <a:ext uri="{FF2B5EF4-FFF2-40B4-BE49-F238E27FC236}">
                <a16:creationId xmlns:a16="http://schemas.microsoft.com/office/drawing/2014/main" id="{B52C8493-527D-2145-8762-E61E61043D87}"/>
              </a:ext>
            </a:extLst>
          </p:cNvPr>
          <p:cNvPicPr>
            <a:picLocks noChangeAspect="1"/>
          </p:cNvPicPr>
          <p:nvPr/>
        </p:nvPicPr>
        <p:blipFill rotWithShape="1">
          <a:blip r:embed="rId4"/>
          <a:srcRect l="7549" t="6577" r="7510" b="68889"/>
          <a:stretch/>
        </p:blipFill>
        <p:spPr>
          <a:xfrm>
            <a:off x="614654" y="2047617"/>
            <a:ext cx="7914692" cy="3004444"/>
          </a:xfrm>
          <a:prstGeom prst="rect">
            <a:avLst/>
          </a:prstGeom>
        </p:spPr>
      </p:pic>
    </p:spTree>
    <p:extLst>
      <p:ext uri="{BB962C8B-B14F-4D97-AF65-F5344CB8AC3E}">
        <p14:creationId xmlns:p14="http://schemas.microsoft.com/office/powerpoint/2010/main" val="936913299"/>
      </p:ext>
    </p:extLst>
  </p:cSld>
  <p:clrMapOvr>
    <a:masterClrMapping/>
  </p:clrMapOvr>
  <mc:AlternateContent xmlns:mc="http://schemas.openxmlformats.org/markup-compatibility/2006" xmlns:p14="http://schemas.microsoft.com/office/powerpoint/2010/main">
    <mc:Choice Requires="p14">
      <p:transition spd="slow" p14:dur="2000" advTm="95022"/>
    </mc:Choice>
    <mc:Fallback xmlns="">
      <p:transition spd="slow" advTm="9502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62A7-70E0-9609-E809-FC4BBFF4ED6D}"/>
              </a:ext>
            </a:extLst>
          </p:cNvPr>
          <p:cNvSpPr>
            <a:spLocks noGrp="1"/>
          </p:cNvSpPr>
          <p:nvPr>
            <p:ph type="title"/>
          </p:nvPr>
        </p:nvSpPr>
        <p:spPr/>
        <p:txBody>
          <a:bodyPr/>
          <a:lstStyle/>
          <a:p>
            <a:r>
              <a:rPr lang="en-US" dirty="0"/>
              <a:t>Hot off the presses: identification of early GI symptoms via structured vs notes</a:t>
            </a:r>
          </a:p>
        </p:txBody>
      </p:sp>
      <p:sp>
        <p:nvSpPr>
          <p:cNvPr id="5" name="TextBox 4">
            <a:extLst>
              <a:ext uri="{FF2B5EF4-FFF2-40B4-BE49-F238E27FC236}">
                <a16:creationId xmlns:a16="http://schemas.microsoft.com/office/drawing/2014/main" id="{22C44F76-BE2A-760A-540B-1DCD42AFCDCB}"/>
              </a:ext>
            </a:extLst>
          </p:cNvPr>
          <p:cNvSpPr txBox="1"/>
          <p:nvPr/>
        </p:nvSpPr>
        <p:spPr>
          <a:xfrm>
            <a:off x="2214975" y="4646652"/>
            <a:ext cx="4714047" cy="369332"/>
          </a:xfrm>
          <a:prstGeom prst="rect">
            <a:avLst/>
          </a:prstGeom>
          <a:noFill/>
        </p:spPr>
        <p:txBody>
          <a:bodyPr wrap="none" rtlCol="0">
            <a:spAutoFit/>
          </a:bodyPr>
          <a:lstStyle/>
          <a:p>
            <a:r>
              <a:rPr lang="en-US" dirty="0"/>
              <a:t>Courtesy of Jiaxin (Cindy) Gao and Roshni Varma</a:t>
            </a:r>
          </a:p>
        </p:txBody>
      </p:sp>
      <p:pic>
        <p:nvPicPr>
          <p:cNvPr id="6" name="Picture 5">
            <a:extLst>
              <a:ext uri="{FF2B5EF4-FFF2-40B4-BE49-F238E27FC236}">
                <a16:creationId xmlns:a16="http://schemas.microsoft.com/office/drawing/2014/main" id="{60BB114A-FDF7-297D-5453-AC6A3B124910}"/>
              </a:ext>
            </a:extLst>
          </p:cNvPr>
          <p:cNvPicPr>
            <a:picLocks noChangeAspect="1"/>
          </p:cNvPicPr>
          <p:nvPr/>
        </p:nvPicPr>
        <p:blipFill>
          <a:blip r:embed="rId2"/>
          <a:stretch>
            <a:fillRect/>
          </a:stretch>
        </p:blipFill>
        <p:spPr>
          <a:xfrm>
            <a:off x="685798" y="1943643"/>
            <a:ext cx="7772400" cy="2027381"/>
          </a:xfrm>
          <a:prstGeom prst="rect">
            <a:avLst/>
          </a:prstGeom>
        </p:spPr>
      </p:pic>
    </p:spTree>
    <p:extLst>
      <p:ext uri="{BB962C8B-B14F-4D97-AF65-F5344CB8AC3E}">
        <p14:creationId xmlns:p14="http://schemas.microsoft.com/office/powerpoint/2010/main" val="76255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FE728-4F4D-E1D5-6F5D-4C25FB646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690DB-F60C-EFC6-87FA-0BA207187902}"/>
              </a:ext>
            </a:extLst>
          </p:cNvPr>
          <p:cNvSpPr>
            <a:spLocks noGrp="1"/>
          </p:cNvSpPr>
          <p:nvPr>
            <p:ph type="title"/>
          </p:nvPr>
        </p:nvSpPr>
        <p:spPr/>
        <p:txBody>
          <a:bodyPr/>
          <a:lstStyle/>
          <a:p>
            <a:r>
              <a:rPr lang="en-US" dirty="0"/>
              <a:t>Hot off the presses: identification of early GI symptoms via structured vs notes</a:t>
            </a:r>
          </a:p>
        </p:txBody>
      </p:sp>
      <p:pic>
        <p:nvPicPr>
          <p:cNvPr id="4" name="Picture 3">
            <a:extLst>
              <a:ext uri="{FF2B5EF4-FFF2-40B4-BE49-F238E27FC236}">
                <a16:creationId xmlns:a16="http://schemas.microsoft.com/office/drawing/2014/main" id="{ADFE153E-AD73-F708-366B-AD0F80DD2A6D}"/>
              </a:ext>
            </a:extLst>
          </p:cNvPr>
          <p:cNvPicPr>
            <a:picLocks noChangeAspect="1"/>
          </p:cNvPicPr>
          <p:nvPr/>
        </p:nvPicPr>
        <p:blipFill>
          <a:blip r:embed="rId2"/>
          <a:stretch>
            <a:fillRect/>
          </a:stretch>
        </p:blipFill>
        <p:spPr>
          <a:xfrm>
            <a:off x="869211" y="1397958"/>
            <a:ext cx="7405577" cy="3118752"/>
          </a:xfrm>
          <a:prstGeom prst="rect">
            <a:avLst/>
          </a:prstGeom>
        </p:spPr>
      </p:pic>
      <p:sp>
        <p:nvSpPr>
          <p:cNvPr id="5" name="TextBox 4">
            <a:extLst>
              <a:ext uri="{FF2B5EF4-FFF2-40B4-BE49-F238E27FC236}">
                <a16:creationId xmlns:a16="http://schemas.microsoft.com/office/drawing/2014/main" id="{E28E5C1C-1714-398F-0008-F7F1EC76C7EC}"/>
              </a:ext>
            </a:extLst>
          </p:cNvPr>
          <p:cNvSpPr txBox="1"/>
          <p:nvPr/>
        </p:nvSpPr>
        <p:spPr>
          <a:xfrm>
            <a:off x="2214975" y="4646652"/>
            <a:ext cx="4714047" cy="369332"/>
          </a:xfrm>
          <a:prstGeom prst="rect">
            <a:avLst/>
          </a:prstGeom>
          <a:noFill/>
        </p:spPr>
        <p:txBody>
          <a:bodyPr wrap="none" rtlCol="0">
            <a:spAutoFit/>
          </a:bodyPr>
          <a:lstStyle/>
          <a:p>
            <a:r>
              <a:rPr lang="en-US" dirty="0"/>
              <a:t>Courtesy of Jiaxin (Cindy) Gao and Roshni Varma</a:t>
            </a:r>
          </a:p>
        </p:txBody>
      </p:sp>
    </p:spTree>
    <p:extLst>
      <p:ext uri="{BB962C8B-B14F-4D97-AF65-F5344CB8AC3E}">
        <p14:creationId xmlns:p14="http://schemas.microsoft.com/office/powerpoint/2010/main" val="3860487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D81F3-7E4F-0243-8459-79C328C913D6}"/>
              </a:ext>
            </a:extLst>
          </p:cNvPr>
          <p:cNvSpPr>
            <a:spLocks noGrp="1"/>
          </p:cNvSpPr>
          <p:nvPr>
            <p:ph type="title"/>
          </p:nvPr>
        </p:nvSpPr>
        <p:spPr/>
        <p:txBody>
          <a:bodyPr/>
          <a:lstStyle/>
          <a:p>
            <a:r>
              <a:rPr lang="en-US" dirty="0"/>
              <a:t>A patient presents with shortness of breath…</a:t>
            </a:r>
          </a:p>
        </p:txBody>
      </p:sp>
      <p:sp>
        <p:nvSpPr>
          <p:cNvPr id="3" name="Content Placeholder 2">
            <a:extLst>
              <a:ext uri="{FF2B5EF4-FFF2-40B4-BE49-F238E27FC236}">
                <a16:creationId xmlns:a16="http://schemas.microsoft.com/office/drawing/2014/main" id="{B92E46B9-4B97-FC46-AF92-3A164EA55D23}"/>
              </a:ext>
            </a:extLst>
          </p:cNvPr>
          <p:cNvSpPr>
            <a:spLocks noGrp="1"/>
          </p:cNvSpPr>
          <p:nvPr>
            <p:ph idx="1"/>
          </p:nvPr>
        </p:nvSpPr>
        <p:spPr/>
        <p:txBody>
          <a:bodyPr>
            <a:normAutofit lnSpcReduction="10000"/>
          </a:bodyPr>
          <a:lstStyle/>
          <a:p>
            <a:r>
              <a:rPr lang="en-US" dirty="0"/>
              <a:t>Presents to urgent care and is transferred to the ED</a:t>
            </a:r>
          </a:p>
          <a:p>
            <a:endParaRPr lang="en-US" dirty="0"/>
          </a:p>
          <a:p>
            <a:r>
              <a:rPr lang="en-US" dirty="0"/>
              <a:t>Evaluated in the ED</a:t>
            </a:r>
          </a:p>
          <a:p>
            <a:pPr lvl="1"/>
            <a:r>
              <a:rPr lang="en-US" dirty="0"/>
              <a:t>History of present illness</a:t>
            </a:r>
          </a:p>
          <a:p>
            <a:pPr lvl="1"/>
            <a:r>
              <a:rPr lang="en-US" dirty="0"/>
              <a:t>Review of medical history (including meds and allergies) + social and family hx</a:t>
            </a:r>
          </a:p>
          <a:p>
            <a:pPr lvl="1"/>
            <a:r>
              <a:rPr lang="en-US" dirty="0"/>
              <a:t>Physical exam and review of systems</a:t>
            </a:r>
          </a:p>
          <a:p>
            <a:pPr lvl="1"/>
            <a:r>
              <a:rPr lang="en-US" u="sng" dirty="0"/>
              <a:t>Lab results</a:t>
            </a:r>
            <a:r>
              <a:rPr lang="en-US" dirty="0"/>
              <a:t>: BMP and CBC</a:t>
            </a:r>
          </a:p>
          <a:p>
            <a:pPr lvl="1"/>
            <a:r>
              <a:rPr lang="en-US" u="sng" dirty="0"/>
              <a:t>Imaging &amp; other studies</a:t>
            </a:r>
            <a:r>
              <a:rPr lang="en-US" dirty="0"/>
              <a:t>: CT and EKG</a:t>
            </a:r>
          </a:p>
          <a:p>
            <a:pPr lvl="1"/>
            <a:endParaRPr lang="en-US" dirty="0"/>
          </a:p>
          <a:p>
            <a:r>
              <a:rPr lang="en-US" dirty="0"/>
              <a:t>Admitted to the hospital</a:t>
            </a:r>
          </a:p>
          <a:p>
            <a:endParaRPr lang="en-US" dirty="0"/>
          </a:p>
        </p:txBody>
      </p:sp>
    </p:spTree>
    <p:extLst>
      <p:ext uri="{BB962C8B-B14F-4D97-AF65-F5344CB8AC3E}">
        <p14:creationId xmlns:p14="http://schemas.microsoft.com/office/powerpoint/2010/main" val="759382792"/>
      </p:ext>
    </p:extLst>
  </p:cSld>
  <p:clrMapOvr>
    <a:masterClrMapping/>
  </p:clrMapOvr>
  <mc:AlternateContent xmlns:mc="http://schemas.openxmlformats.org/markup-compatibility/2006" xmlns:p14="http://schemas.microsoft.com/office/powerpoint/2010/main">
    <mc:Choice Requires="p14">
      <p:transition spd="slow" p14:dur="2000" advTm="10081"/>
    </mc:Choice>
    <mc:Fallback xmlns="">
      <p:transition spd="slow" advTm="1008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464BD-AC78-CE48-8D93-700071197614}"/>
              </a:ext>
            </a:extLst>
          </p:cNvPr>
          <p:cNvSpPr>
            <a:spLocks noGrp="1"/>
          </p:cNvSpPr>
          <p:nvPr>
            <p:ph type="title"/>
          </p:nvPr>
        </p:nvSpPr>
        <p:spPr/>
        <p:txBody>
          <a:bodyPr/>
          <a:lstStyle/>
          <a:p>
            <a:r>
              <a:rPr lang="en-US" dirty="0"/>
              <a:t>CT / Imaging</a:t>
            </a:r>
          </a:p>
        </p:txBody>
      </p:sp>
      <p:sp>
        <p:nvSpPr>
          <p:cNvPr id="3" name="Content Placeholder 2">
            <a:extLst>
              <a:ext uri="{FF2B5EF4-FFF2-40B4-BE49-F238E27FC236}">
                <a16:creationId xmlns:a16="http://schemas.microsoft.com/office/drawing/2014/main" id="{FBE00D6D-00DF-AA4E-B8D7-096E36E6B790}"/>
              </a:ext>
            </a:extLst>
          </p:cNvPr>
          <p:cNvSpPr>
            <a:spLocks noGrp="1"/>
          </p:cNvSpPr>
          <p:nvPr>
            <p:ph idx="1"/>
          </p:nvPr>
        </p:nvSpPr>
        <p:spPr>
          <a:xfrm>
            <a:off x="628650" y="1369219"/>
            <a:ext cx="3203346" cy="3263504"/>
          </a:xfrm>
        </p:spPr>
        <p:txBody>
          <a:bodyPr/>
          <a:lstStyle/>
          <a:p>
            <a:r>
              <a:rPr lang="en-US" dirty="0"/>
              <a:t>The scans / images themselves</a:t>
            </a:r>
          </a:p>
          <a:p>
            <a:endParaRPr lang="en-US" dirty="0"/>
          </a:p>
          <a:p>
            <a:r>
              <a:rPr lang="en-US" dirty="0"/>
              <a:t>Interpretation by radiologist (note)</a:t>
            </a:r>
          </a:p>
          <a:p>
            <a:endParaRPr lang="en-US" dirty="0"/>
          </a:p>
        </p:txBody>
      </p:sp>
      <p:pic>
        <p:nvPicPr>
          <p:cNvPr id="4" name="Picture 3">
            <a:extLst>
              <a:ext uri="{FF2B5EF4-FFF2-40B4-BE49-F238E27FC236}">
                <a16:creationId xmlns:a16="http://schemas.microsoft.com/office/drawing/2014/main" id="{B11B819F-D729-3A4F-A731-825BC26A61DB}"/>
              </a:ext>
            </a:extLst>
          </p:cNvPr>
          <p:cNvPicPr>
            <a:picLocks noChangeAspect="1"/>
          </p:cNvPicPr>
          <p:nvPr/>
        </p:nvPicPr>
        <p:blipFill>
          <a:blip r:embed="rId3"/>
          <a:stretch>
            <a:fillRect/>
          </a:stretch>
        </p:blipFill>
        <p:spPr>
          <a:xfrm>
            <a:off x="4770120" y="273844"/>
            <a:ext cx="3992356" cy="3992356"/>
          </a:xfrm>
          <a:prstGeom prst="rect">
            <a:avLst/>
          </a:prstGeom>
        </p:spPr>
      </p:pic>
      <p:sp>
        <p:nvSpPr>
          <p:cNvPr id="5" name="Rectangle 4">
            <a:extLst>
              <a:ext uri="{FF2B5EF4-FFF2-40B4-BE49-F238E27FC236}">
                <a16:creationId xmlns:a16="http://schemas.microsoft.com/office/drawing/2014/main" id="{F9F3BD41-69C4-AA4E-86C9-EAB980FE3E3E}"/>
              </a:ext>
            </a:extLst>
          </p:cNvPr>
          <p:cNvSpPr/>
          <p:nvPr/>
        </p:nvSpPr>
        <p:spPr>
          <a:xfrm>
            <a:off x="4770120" y="4323373"/>
            <a:ext cx="3992356" cy="369332"/>
          </a:xfrm>
          <a:prstGeom prst="rect">
            <a:avLst/>
          </a:prstGeom>
        </p:spPr>
        <p:txBody>
          <a:bodyPr wrap="square">
            <a:spAutoFit/>
          </a:bodyPr>
          <a:lstStyle/>
          <a:p>
            <a:r>
              <a:rPr lang="en-US" sz="900" dirty="0">
                <a:solidFill>
                  <a:srgbClr val="3D3D3D"/>
                </a:solidFill>
                <a:latin typeface="Open Sans" panose="020B0606030504020204" pitchFamily="34" charset="0"/>
              </a:rPr>
              <a:t>Large non-occlusive pulmonary embolus draped over the bifurcation of the main pulmonary artery; a saddle pulmonary embolus.</a:t>
            </a:r>
            <a:endParaRPr lang="en-US" sz="900" dirty="0"/>
          </a:p>
        </p:txBody>
      </p:sp>
      <p:sp>
        <p:nvSpPr>
          <p:cNvPr id="6" name="Rectangle 5">
            <a:extLst>
              <a:ext uri="{FF2B5EF4-FFF2-40B4-BE49-F238E27FC236}">
                <a16:creationId xmlns:a16="http://schemas.microsoft.com/office/drawing/2014/main" id="{ED1AC1B6-5DA2-FA4D-A325-72A94773EC5E}"/>
              </a:ext>
            </a:extLst>
          </p:cNvPr>
          <p:cNvSpPr/>
          <p:nvPr/>
        </p:nvSpPr>
        <p:spPr>
          <a:xfrm>
            <a:off x="4980049" y="4765781"/>
            <a:ext cx="3572498" cy="230832"/>
          </a:xfrm>
          <a:prstGeom prst="rect">
            <a:avLst/>
          </a:prstGeom>
        </p:spPr>
        <p:txBody>
          <a:bodyPr wrap="square">
            <a:spAutoFit/>
          </a:bodyPr>
          <a:lstStyle/>
          <a:p>
            <a:pPr algn="ctr"/>
            <a:r>
              <a:rPr lang="en-US" sz="900" dirty="0"/>
              <a:t>https://</a:t>
            </a:r>
            <a:r>
              <a:rPr lang="en-US" sz="900" dirty="0" err="1"/>
              <a:t>radiopaedia.org</a:t>
            </a:r>
            <a:r>
              <a:rPr lang="en-US" sz="900" dirty="0"/>
              <a:t>/cases/pulmonary-embolism-saddle-1?lang=us</a:t>
            </a:r>
          </a:p>
        </p:txBody>
      </p:sp>
    </p:spTree>
    <p:extLst>
      <p:ext uri="{BB962C8B-B14F-4D97-AF65-F5344CB8AC3E}">
        <p14:creationId xmlns:p14="http://schemas.microsoft.com/office/powerpoint/2010/main" val="1172222523"/>
      </p:ext>
    </p:extLst>
  </p:cSld>
  <p:clrMapOvr>
    <a:masterClrMapping/>
  </p:clrMapOvr>
  <mc:AlternateContent xmlns:mc="http://schemas.openxmlformats.org/markup-compatibility/2006" xmlns:p14="http://schemas.microsoft.com/office/powerpoint/2010/main">
    <mc:Choice Requires="p14">
      <p:transition spd="slow" p14:dur="2000" advTm="89957"/>
    </mc:Choice>
    <mc:Fallback xmlns="">
      <p:transition spd="slow" advTm="8995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DF44001-C088-4041-891F-354DADA19D2A}"/>
              </a:ext>
            </a:extLst>
          </p:cNvPr>
          <p:cNvSpPr txBox="1">
            <a:spLocks/>
          </p:cNvSpPr>
          <p:nvPr/>
        </p:nvSpPr>
        <p:spPr>
          <a:xfrm>
            <a:off x="0" y="167343"/>
            <a:ext cx="4694349" cy="857250"/>
          </a:xfrm>
          <a:prstGeom prst="rect">
            <a:avLst/>
          </a:prstGeom>
        </p:spPr>
        <p:txBody>
          <a:bodyPr/>
          <a:lstStyle>
            <a:lvl1pPr algn="ctr" defTabSz="609585" rtl="0" eaLnBrk="1" latinLnBrk="0" hangingPunct="1">
              <a:spcBef>
                <a:spcPct val="0"/>
              </a:spcBef>
              <a:buNone/>
              <a:defRPr sz="5867" kern="1200">
                <a:solidFill>
                  <a:srgbClr val="001A57"/>
                </a:solidFill>
                <a:latin typeface="Helvetica"/>
                <a:ea typeface="+mj-ea"/>
                <a:cs typeface="+mj-cs"/>
              </a:defRPr>
            </a:lvl1pPr>
          </a:lstStyle>
          <a:p>
            <a:r>
              <a:rPr lang="en-US" sz="3600" dirty="0">
                <a:solidFill>
                  <a:schemeClr val="tx1"/>
                </a:solidFill>
                <a:latin typeface="+mj-lt"/>
              </a:rPr>
              <a:t>Retinopathy prediction from fundus images</a:t>
            </a:r>
          </a:p>
        </p:txBody>
      </p:sp>
      <p:pic>
        <p:nvPicPr>
          <p:cNvPr id="7" name="Picture 13" descr="Cover">
            <a:extLst>
              <a:ext uri="{FF2B5EF4-FFF2-40B4-BE49-F238E27FC236}">
                <a16:creationId xmlns:a16="http://schemas.microsoft.com/office/drawing/2014/main" id="{4C6CD659-3901-B24E-87A1-7C34E248E513}"/>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r="48761"/>
          <a:stretch/>
        </p:blipFill>
        <p:spPr bwMode="auto">
          <a:xfrm>
            <a:off x="4559356" y="148503"/>
            <a:ext cx="4303466" cy="41766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5" descr="D:\kuloth\2016\Mar\10-03-2016\nrdp_issue\slides_img\nrdp.2016.12-f4.jpg">
            <a:extLst>
              <a:ext uri="{FF2B5EF4-FFF2-40B4-BE49-F238E27FC236}">
                <a16:creationId xmlns:a16="http://schemas.microsoft.com/office/drawing/2014/main" id="{0914C58D-ED14-5841-8CA6-B586414242C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37911" y="1492952"/>
            <a:ext cx="3480455" cy="286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15">
            <a:extLst>
              <a:ext uri="{FF2B5EF4-FFF2-40B4-BE49-F238E27FC236}">
                <a16:creationId xmlns:a16="http://schemas.microsoft.com/office/drawing/2014/main" id="{40BAA407-EC9D-304C-820F-FE2A1AA6BBCF}"/>
              </a:ext>
            </a:extLst>
          </p:cNvPr>
          <p:cNvSpPr txBox="1">
            <a:spLocks noChangeArrowheads="1"/>
          </p:cNvSpPr>
          <p:nvPr/>
        </p:nvSpPr>
        <p:spPr bwMode="auto">
          <a:xfrm>
            <a:off x="763162" y="4490023"/>
            <a:ext cx="282995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675" dirty="0">
                <a:latin typeface="Arial" panose="020B0604020202020204" pitchFamily="34" charset="0"/>
                <a:cs typeface="Arial" panose="020B0604020202020204" pitchFamily="34" charset="0"/>
              </a:rPr>
              <a:t>Wong, T. Y. </a:t>
            </a:r>
            <a:r>
              <a:rPr lang="en-US" altLang="en-US" sz="675" i="1" dirty="0">
                <a:latin typeface="Arial" panose="020B0604020202020204" pitchFamily="34" charset="0"/>
                <a:cs typeface="Arial" panose="020B0604020202020204" pitchFamily="34" charset="0"/>
              </a:rPr>
              <a:t>et al. </a:t>
            </a:r>
            <a:r>
              <a:rPr lang="en-GB" altLang="en-US" sz="675" dirty="0">
                <a:latin typeface="Arial" panose="020B0604020202020204" pitchFamily="34" charset="0"/>
                <a:cs typeface="Arial" panose="020B0604020202020204" pitchFamily="34" charset="0"/>
              </a:rPr>
              <a:t>(2016) </a:t>
            </a:r>
            <a:r>
              <a:rPr lang="en-US" altLang="en-US" sz="675" dirty="0">
                <a:latin typeface="Arial" panose="020B0604020202020204" pitchFamily="34" charset="0"/>
                <a:cs typeface="Arial" panose="020B0604020202020204" pitchFamily="34" charset="0"/>
              </a:rPr>
              <a:t>Diabetic retinopathy </a:t>
            </a:r>
          </a:p>
          <a:p>
            <a:pPr algn="ctr" eaLnBrk="1" hangingPunct="1"/>
            <a:r>
              <a:rPr lang="en-US" altLang="en-US" sz="675" i="1" dirty="0">
                <a:latin typeface="Arial" panose="020B0604020202020204" pitchFamily="34" charset="0"/>
                <a:cs typeface="Arial" panose="020B0604020202020204" pitchFamily="34" charset="0"/>
              </a:rPr>
              <a:t>Nat. Rev. Dis. Primers </a:t>
            </a:r>
            <a:r>
              <a:rPr lang="en-US" altLang="en-US" sz="675" dirty="0">
                <a:latin typeface="Arial" panose="020B0604020202020204" pitchFamily="34" charset="0"/>
                <a:cs typeface="Arial" panose="020B0604020202020204" pitchFamily="34" charset="0"/>
              </a:rPr>
              <a:t>doi:10.1038/nrdp.2016.12</a:t>
            </a:r>
          </a:p>
        </p:txBody>
      </p:sp>
      <p:sp>
        <p:nvSpPr>
          <p:cNvPr id="3" name="Rectangle 2"/>
          <p:cNvSpPr/>
          <p:nvPr/>
        </p:nvSpPr>
        <p:spPr>
          <a:xfrm>
            <a:off x="4337430" y="4566162"/>
            <a:ext cx="4572000" cy="276999"/>
          </a:xfrm>
          <a:prstGeom prst="rect">
            <a:avLst/>
          </a:prstGeom>
        </p:spPr>
        <p:txBody>
          <a:bodyPr>
            <a:spAutoFit/>
          </a:bodyPr>
          <a:lstStyle/>
          <a:p>
            <a:r>
              <a:rPr lang="en-US" sz="600" dirty="0" err="1">
                <a:solidFill>
                  <a:srgbClr val="333333"/>
                </a:solidFill>
                <a:latin typeface="Guardian TextSans Web"/>
              </a:rPr>
              <a:t>Gulshan</a:t>
            </a:r>
            <a:r>
              <a:rPr lang="en-US" sz="600" dirty="0">
                <a:solidFill>
                  <a:srgbClr val="333333"/>
                </a:solidFill>
                <a:latin typeface="Guardian TextSans Web"/>
              </a:rPr>
              <a:t> V, Peng L, Coram M, et al. Development and Validation of a Deep Learning Algorithm for Detection of Diabetic Retinopathy in Retinal Fundus Photographs. </a:t>
            </a:r>
            <a:r>
              <a:rPr lang="en-US" sz="600" i="1" dirty="0">
                <a:solidFill>
                  <a:srgbClr val="333333"/>
                </a:solidFill>
                <a:latin typeface="Guardian TextSans Web"/>
              </a:rPr>
              <a:t>JAMA.</a:t>
            </a:r>
            <a:r>
              <a:rPr lang="en-US" sz="600" dirty="0">
                <a:solidFill>
                  <a:srgbClr val="333333"/>
                </a:solidFill>
                <a:latin typeface="Guardian TextSans Web"/>
              </a:rPr>
              <a:t> 2016;316(22):2402–2410. doi:10.1001/jama.2016.17216</a:t>
            </a:r>
            <a:endParaRPr lang="en-US" sz="600" dirty="0"/>
          </a:p>
        </p:txBody>
      </p:sp>
      <p:sp>
        <p:nvSpPr>
          <p:cNvPr id="4" name="TextBox 3"/>
          <p:cNvSpPr txBox="1"/>
          <p:nvPr/>
        </p:nvSpPr>
        <p:spPr>
          <a:xfrm>
            <a:off x="6779009" y="2333441"/>
            <a:ext cx="1172837" cy="715581"/>
          </a:xfrm>
          <a:prstGeom prst="rect">
            <a:avLst/>
          </a:prstGeom>
          <a:noFill/>
        </p:spPr>
        <p:txBody>
          <a:bodyPr wrap="square" rtlCol="0">
            <a:spAutoFit/>
          </a:bodyPr>
          <a:lstStyle/>
          <a:p>
            <a:r>
              <a:rPr lang="en-US" sz="1350" b="1" i="1" dirty="0"/>
              <a:t>colored dots are expert performance</a:t>
            </a:r>
          </a:p>
        </p:txBody>
      </p:sp>
    </p:spTree>
    <p:extLst>
      <p:ext uri="{BB962C8B-B14F-4D97-AF65-F5344CB8AC3E}">
        <p14:creationId xmlns:p14="http://schemas.microsoft.com/office/powerpoint/2010/main" val="3280095451"/>
      </p:ext>
    </p:extLst>
  </p:cSld>
  <p:clrMapOvr>
    <a:masterClrMapping/>
  </p:clrMapOvr>
  <mc:AlternateContent xmlns:mc="http://schemas.openxmlformats.org/markup-compatibility/2006" xmlns:p14="http://schemas.microsoft.com/office/powerpoint/2010/main">
    <mc:Choice Requires="p14">
      <p:transition spd="slow" p14:dur="2000" advTm="71258"/>
    </mc:Choice>
    <mc:Fallback xmlns="">
      <p:transition spd="slow" advTm="7125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D81F3-7E4F-0243-8459-79C328C913D6}"/>
              </a:ext>
            </a:extLst>
          </p:cNvPr>
          <p:cNvSpPr>
            <a:spLocks noGrp="1"/>
          </p:cNvSpPr>
          <p:nvPr>
            <p:ph type="title"/>
          </p:nvPr>
        </p:nvSpPr>
        <p:spPr/>
        <p:txBody>
          <a:bodyPr/>
          <a:lstStyle/>
          <a:p>
            <a:r>
              <a:rPr lang="en-US" dirty="0"/>
              <a:t>A patient presents with shortness of breath…</a:t>
            </a:r>
          </a:p>
        </p:txBody>
      </p:sp>
      <p:sp>
        <p:nvSpPr>
          <p:cNvPr id="3" name="Content Placeholder 2">
            <a:extLst>
              <a:ext uri="{FF2B5EF4-FFF2-40B4-BE49-F238E27FC236}">
                <a16:creationId xmlns:a16="http://schemas.microsoft.com/office/drawing/2014/main" id="{B92E46B9-4B97-FC46-AF92-3A164EA55D23}"/>
              </a:ext>
            </a:extLst>
          </p:cNvPr>
          <p:cNvSpPr>
            <a:spLocks noGrp="1"/>
          </p:cNvSpPr>
          <p:nvPr>
            <p:ph idx="1"/>
          </p:nvPr>
        </p:nvSpPr>
        <p:spPr/>
        <p:txBody>
          <a:bodyPr>
            <a:normAutofit lnSpcReduction="10000"/>
          </a:bodyPr>
          <a:lstStyle/>
          <a:p>
            <a:r>
              <a:rPr lang="en-US" dirty="0"/>
              <a:t>Presents to urgent care and is transferred to the ED</a:t>
            </a:r>
          </a:p>
          <a:p>
            <a:endParaRPr lang="en-US" dirty="0"/>
          </a:p>
          <a:p>
            <a:r>
              <a:rPr lang="en-US" dirty="0"/>
              <a:t>Evaluated in the ED</a:t>
            </a:r>
          </a:p>
          <a:p>
            <a:pPr lvl="1"/>
            <a:r>
              <a:rPr lang="en-US" dirty="0"/>
              <a:t>History of present illness</a:t>
            </a:r>
          </a:p>
          <a:p>
            <a:pPr lvl="1"/>
            <a:r>
              <a:rPr lang="en-US" dirty="0"/>
              <a:t>Review of medical history (including meds and allergies) + social and family hx</a:t>
            </a:r>
          </a:p>
          <a:p>
            <a:pPr lvl="1"/>
            <a:r>
              <a:rPr lang="en-US" dirty="0"/>
              <a:t>Physical exam and review of systems</a:t>
            </a:r>
          </a:p>
          <a:p>
            <a:pPr lvl="1"/>
            <a:r>
              <a:rPr lang="en-US" u="sng" dirty="0"/>
              <a:t>Lab results</a:t>
            </a:r>
            <a:r>
              <a:rPr lang="en-US" dirty="0"/>
              <a:t>: BMP and CBC</a:t>
            </a:r>
          </a:p>
          <a:p>
            <a:pPr lvl="1"/>
            <a:r>
              <a:rPr lang="en-US" u="sng" dirty="0"/>
              <a:t>Imaging &amp; other studies</a:t>
            </a:r>
            <a:r>
              <a:rPr lang="en-US" dirty="0"/>
              <a:t>: CT and EKG</a:t>
            </a:r>
          </a:p>
          <a:p>
            <a:pPr lvl="1"/>
            <a:endParaRPr lang="en-US" dirty="0"/>
          </a:p>
          <a:p>
            <a:r>
              <a:rPr lang="en-US" dirty="0"/>
              <a:t>Admitted to the hospital</a:t>
            </a:r>
          </a:p>
          <a:p>
            <a:endParaRPr lang="en-US" dirty="0"/>
          </a:p>
        </p:txBody>
      </p:sp>
    </p:spTree>
    <p:extLst>
      <p:ext uri="{BB962C8B-B14F-4D97-AF65-F5344CB8AC3E}">
        <p14:creationId xmlns:p14="http://schemas.microsoft.com/office/powerpoint/2010/main" val="1232368998"/>
      </p:ext>
    </p:extLst>
  </p:cSld>
  <p:clrMapOvr>
    <a:masterClrMapping/>
  </p:clrMapOvr>
  <mc:AlternateContent xmlns:mc="http://schemas.openxmlformats.org/markup-compatibility/2006" xmlns:p14="http://schemas.microsoft.com/office/powerpoint/2010/main">
    <mc:Choice Requires="p14">
      <p:transition spd="slow" p14:dur="2000" advTm="9742"/>
    </mc:Choice>
    <mc:Fallback xmlns="">
      <p:transition spd="slow" advTm="974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BC571-2202-2144-8359-C5145CA1DD21}"/>
              </a:ext>
            </a:extLst>
          </p:cNvPr>
          <p:cNvSpPr>
            <a:spLocks noGrp="1"/>
          </p:cNvSpPr>
          <p:nvPr>
            <p:ph type="title"/>
          </p:nvPr>
        </p:nvSpPr>
        <p:spPr/>
        <p:txBody>
          <a:bodyPr/>
          <a:lstStyle/>
          <a:p>
            <a:r>
              <a:rPr lang="en-US" dirty="0"/>
              <a:t>Electrophysiology</a:t>
            </a:r>
          </a:p>
        </p:txBody>
      </p:sp>
      <p:pic>
        <p:nvPicPr>
          <p:cNvPr id="1028" name="Picture 4">
            <a:extLst>
              <a:ext uri="{FF2B5EF4-FFF2-40B4-BE49-F238E27FC236}">
                <a16:creationId xmlns:a16="http://schemas.microsoft.com/office/drawing/2014/main" id="{70539CA1-C65D-1140-9427-229BE7C1E7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5461" y="123006"/>
            <a:ext cx="4043898" cy="232813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A278054-454D-3149-8F34-862EAD66CE49}"/>
              </a:ext>
            </a:extLst>
          </p:cNvPr>
          <p:cNvSpPr txBox="1"/>
          <p:nvPr/>
        </p:nvSpPr>
        <p:spPr>
          <a:xfrm>
            <a:off x="7967364" y="2439728"/>
            <a:ext cx="1140953" cy="300082"/>
          </a:xfrm>
          <a:prstGeom prst="rect">
            <a:avLst/>
          </a:prstGeom>
          <a:noFill/>
        </p:spPr>
        <p:txBody>
          <a:bodyPr wrap="none" rtlCol="0">
            <a:spAutoFit/>
          </a:bodyPr>
          <a:lstStyle/>
          <a:p>
            <a:r>
              <a:rPr lang="en-US" sz="1350" dirty="0"/>
              <a:t>EKG (i.e. ECG)</a:t>
            </a:r>
          </a:p>
        </p:txBody>
      </p:sp>
      <p:sp>
        <p:nvSpPr>
          <p:cNvPr id="5" name="TextBox 4">
            <a:extLst>
              <a:ext uri="{FF2B5EF4-FFF2-40B4-BE49-F238E27FC236}">
                <a16:creationId xmlns:a16="http://schemas.microsoft.com/office/drawing/2014/main" id="{4211735C-47E7-A440-AE61-5E330F9093DF}"/>
              </a:ext>
            </a:extLst>
          </p:cNvPr>
          <p:cNvSpPr txBox="1"/>
          <p:nvPr/>
        </p:nvSpPr>
        <p:spPr>
          <a:xfrm>
            <a:off x="1861952" y="4744255"/>
            <a:ext cx="461537" cy="300082"/>
          </a:xfrm>
          <a:prstGeom prst="rect">
            <a:avLst/>
          </a:prstGeom>
          <a:noFill/>
        </p:spPr>
        <p:txBody>
          <a:bodyPr wrap="none" rtlCol="0">
            <a:spAutoFit/>
          </a:bodyPr>
          <a:lstStyle/>
          <a:p>
            <a:r>
              <a:rPr lang="en-US" sz="1350" dirty="0"/>
              <a:t>EEG</a:t>
            </a:r>
          </a:p>
        </p:txBody>
      </p:sp>
      <p:pic>
        <p:nvPicPr>
          <p:cNvPr id="1030" name="Picture 6">
            <a:extLst>
              <a:ext uri="{FF2B5EF4-FFF2-40B4-BE49-F238E27FC236}">
                <a16:creationId xmlns:a16="http://schemas.microsoft.com/office/drawing/2014/main" id="{830A19FA-41C5-4E4B-9346-AAB7BD7583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5960" y="2601973"/>
            <a:ext cx="3610986" cy="241852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DD45F77A-18AF-1340-81BD-48E81DB773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290" y="1799199"/>
            <a:ext cx="3307525" cy="294505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D0A0571-85CA-0C40-91A1-6C6B10532879}"/>
              </a:ext>
            </a:extLst>
          </p:cNvPr>
          <p:cNvSpPr txBox="1"/>
          <p:nvPr/>
        </p:nvSpPr>
        <p:spPr>
          <a:xfrm>
            <a:off x="7716946" y="4731157"/>
            <a:ext cx="526106" cy="300082"/>
          </a:xfrm>
          <a:prstGeom prst="rect">
            <a:avLst/>
          </a:prstGeom>
          <a:noFill/>
        </p:spPr>
        <p:txBody>
          <a:bodyPr wrap="none" rtlCol="0">
            <a:spAutoFit/>
          </a:bodyPr>
          <a:lstStyle/>
          <a:p>
            <a:r>
              <a:rPr lang="en-US" sz="1350" dirty="0"/>
              <a:t>EMG</a:t>
            </a:r>
          </a:p>
        </p:txBody>
      </p:sp>
    </p:spTree>
    <p:extLst>
      <p:ext uri="{BB962C8B-B14F-4D97-AF65-F5344CB8AC3E}">
        <p14:creationId xmlns:p14="http://schemas.microsoft.com/office/powerpoint/2010/main" val="3717516880"/>
      </p:ext>
    </p:extLst>
  </p:cSld>
  <p:clrMapOvr>
    <a:masterClrMapping/>
  </p:clrMapOvr>
  <mc:AlternateContent xmlns:mc="http://schemas.openxmlformats.org/markup-compatibility/2006" xmlns:p14="http://schemas.microsoft.com/office/powerpoint/2010/main">
    <mc:Choice Requires="p14">
      <p:transition spd="slow" p14:dur="2000" advTm="44870"/>
    </mc:Choice>
    <mc:Fallback xmlns="">
      <p:transition spd="slow" advTm="4487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CFEB7-2188-0547-8343-298474342C4E}"/>
              </a:ext>
            </a:extLst>
          </p:cNvPr>
          <p:cNvSpPr>
            <a:spLocks noGrp="1"/>
          </p:cNvSpPr>
          <p:nvPr>
            <p:ph type="title"/>
          </p:nvPr>
        </p:nvSpPr>
        <p:spPr/>
        <p:txBody>
          <a:bodyPr/>
          <a:lstStyle/>
          <a:p>
            <a:r>
              <a:rPr lang="en-US" dirty="0"/>
              <a:t>Why use unstructured data?</a:t>
            </a:r>
          </a:p>
        </p:txBody>
      </p:sp>
      <p:sp>
        <p:nvSpPr>
          <p:cNvPr id="3" name="Content Placeholder 2">
            <a:extLst>
              <a:ext uri="{FF2B5EF4-FFF2-40B4-BE49-F238E27FC236}">
                <a16:creationId xmlns:a16="http://schemas.microsoft.com/office/drawing/2014/main" id="{68A9E436-6002-DB43-A0FC-40B990773918}"/>
              </a:ext>
            </a:extLst>
          </p:cNvPr>
          <p:cNvSpPr>
            <a:spLocks noGrp="1"/>
          </p:cNvSpPr>
          <p:nvPr>
            <p:ph idx="1"/>
          </p:nvPr>
        </p:nvSpPr>
        <p:spPr>
          <a:xfrm>
            <a:off x="628650" y="1369219"/>
            <a:ext cx="8206068" cy="3263504"/>
          </a:xfrm>
        </p:spPr>
        <p:txBody>
          <a:bodyPr>
            <a:normAutofit/>
          </a:bodyPr>
          <a:lstStyle/>
          <a:p>
            <a:r>
              <a:rPr lang="en-US" u="sng" dirty="0"/>
              <a:t>Reason 1</a:t>
            </a:r>
            <a:r>
              <a:rPr lang="en-US" dirty="0"/>
              <a:t>: it contains information not found in structured fields</a:t>
            </a:r>
          </a:p>
          <a:p>
            <a:pPr lvl="1"/>
            <a:r>
              <a:rPr lang="en-US" dirty="0" err="1"/>
              <a:t>clinial</a:t>
            </a:r>
            <a:r>
              <a:rPr lang="en-US" dirty="0"/>
              <a:t>/domain knowledge helps gauge whether/when this info will be useful</a:t>
            </a:r>
          </a:p>
          <a:p>
            <a:pPr lvl="1"/>
            <a:r>
              <a:rPr lang="en-US" i="1" dirty="0"/>
              <a:t>example</a:t>
            </a:r>
            <a:r>
              <a:rPr lang="en-US" dirty="0"/>
              <a:t>: use radiological images when predicting COPD prognosis</a:t>
            </a:r>
          </a:p>
          <a:p>
            <a:endParaRPr lang="en-US" dirty="0"/>
          </a:p>
          <a:p>
            <a:r>
              <a:rPr lang="en-US" u="sng" dirty="0"/>
              <a:t>Reason 2</a:t>
            </a:r>
            <a:r>
              <a:rPr lang="en-US" dirty="0"/>
              <a:t>: it may be available or useful outside of the EHR setting</a:t>
            </a:r>
          </a:p>
          <a:p>
            <a:pPr lvl="1"/>
            <a:r>
              <a:rPr lang="en-US" i="1" dirty="0"/>
              <a:t>example</a:t>
            </a:r>
            <a:r>
              <a:rPr lang="en-US" dirty="0"/>
              <a:t>: predict malignancy from images of skin lesions</a:t>
            </a:r>
          </a:p>
          <a:p>
            <a:endParaRPr lang="en-US" u="sng" dirty="0"/>
          </a:p>
          <a:p>
            <a:r>
              <a:rPr lang="en-US" u="sng" dirty="0"/>
              <a:t>Reason 3</a:t>
            </a:r>
            <a:r>
              <a:rPr lang="en-US" dirty="0"/>
              <a:t>: it is unaffected (or less affected) by provider decision-making</a:t>
            </a:r>
          </a:p>
          <a:p>
            <a:pPr lvl="1"/>
            <a:r>
              <a:rPr lang="en-US" i="1" dirty="0"/>
              <a:t>example</a:t>
            </a:r>
            <a:r>
              <a:rPr lang="en-US" dirty="0"/>
              <a:t>: predict need for surgery from imaging of small bowel obstruction</a:t>
            </a:r>
          </a:p>
        </p:txBody>
      </p:sp>
    </p:spTree>
    <p:extLst>
      <p:ext uri="{BB962C8B-B14F-4D97-AF65-F5344CB8AC3E}">
        <p14:creationId xmlns:p14="http://schemas.microsoft.com/office/powerpoint/2010/main" val="941504091"/>
      </p:ext>
    </p:extLst>
  </p:cSld>
  <p:clrMapOvr>
    <a:masterClrMapping/>
  </p:clrMapOvr>
  <mc:AlternateContent xmlns:mc="http://schemas.openxmlformats.org/markup-compatibility/2006" xmlns:p14="http://schemas.microsoft.com/office/powerpoint/2010/main">
    <mc:Choice Requires="p14">
      <p:transition spd="slow" p14:dur="2000" advTm="134601"/>
    </mc:Choice>
    <mc:Fallback xmlns="">
      <p:transition spd="slow" advTm="13460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D9669-0527-533D-1602-9A1114E6E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F98E9-0F60-90DB-F187-337FFAD105AD}"/>
              </a:ext>
            </a:extLst>
          </p:cNvPr>
          <p:cNvSpPr>
            <a:spLocks noGrp="1"/>
          </p:cNvSpPr>
          <p:nvPr>
            <p:ph type="title"/>
          </p:nvPr>
        </p:nvSpPr>
        <p:spPr/>
        <p:txBody>
          <a:bodyPr/>
          <a:lstStyle/>
          <a:p>
            <a:r>
              <a:rPr lang="en-US" dirty="0"/>
              <a:t>Part 1: </a:t>
            </a:r>
            <a:r>
              <a:rPr lang="en-US" i="1" dirty="0"/>
              <a:t>how</a:t>
            </a:r>
          </a:p>
        </p:txBody>
      </p:sp>
      <p:sp>
        <p:nvSpPr>
          <p:cNvPr id="3" name="Text Placeholder 2">
            <a:extLst>
              <a:ext uri="{FF2B5EF4-FFF2-40B4-BE49-F238E27FC236}">
                <a16:creationId xmlns:a16="http://schemas.microsoft.com/office/drawing/2014/main" id="{9C529129-F7E5-5518-CB92-A739B0DC990A}"/>
              </a:ext>
            </a:extLst>
          </p:cNvPr>
          <p:cNvSpPr>
            <a:spLocks noGrp="1"/>
          </p:cNvSpPr>
          <p:nvPr>
            <p:ph type="body" idx="1"/>
          </p:nvPr>
        </p:nvSpPr>
        <p:spPr/>
        <p:txBody>
          <a:bodyPr/>
          <a:lstStyle/>
          <a:p>
            <a:r>
              <a:rPr lang="en-US" dirty="0"/>
              <a:t>…do we work with clinical text?</a:t>
            </a:r>
          </a:p>
        </p:txBody>
      </p:sp>
    </p:spTree>
    <p:extLst>
      <p:ext uri="{BB962C8B-B14F-4D97-AF65-F5344CB8AC3E}">
        <p14:creationId xmlns:p14="http://schemas.microsoft.com/office/powerpoint/2010/main" val="3216831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5BC89-D942-1E42-AB67-B5C43607DF60}"/>
              </a:ext>
            </a:extLst>
          </p:cNvPr>
          <p:cNvSpPr>
            <a:spLocks noGrp="1"/>
          </p:cNvSpPr>
          <p:nvPr>
            <p:ph type="title"/>
          </p:nvPr>
        </p:nvSpPr>
        <p:spPr/>
        <p:txBody>
          <a:bodyPr/>
          <a:lstStyle/>
          <a:p>
            <a:r>
              <a:rPr lang="en-US" dirty="0"/>
              <a:t>In contrast to structured data…</a:t>
            </a:r>
          </a:p>
        </p:txBody>
      </p:sp>
      <p:sp>
        <p:nvSpPr>
          <p:cNvPr id="3" name="Content Placeholder 2">
            <a:extLst>
              <a:ext uri="{FF2B5EF4-FFF2-40B4-BE49-F238E27FC236}">
                <a16:creationId xmlns:a16="http://schemas.microsoft.com/office/drawing/2014/main" id="{538912AA-CA82-8147-B74A-5E5608D5C733}"/>
              </a:ext>
            </a:extLst>
          </p:cNvPr>
          <p:cNvSpPr>
            <a:spLocks noGrp="1"/>
          </p:cNvSpPr>
          <p:nvPr>
            <p:ph idx="1"/>
          </p:nvPr>
        </p:nvSpPr>
        <p:spPr/>
        <p:txBody>
          <a:bodyPr>
            <a:normAutofit/>
          </a:bodyPr>
          <a:lstStyle/>
          <a:p>
            <a:r>
              <a:rPr lang="en-US" u="sng" dirty="0"/>
              <a:t>Pro</a:t>
            </a:r>
            <a:r>
              <a:rPr lang="en-US" dirty="0"/>
              <a:t>: Less manual data wrangling (important caveats apply…)</a:t>
            </a:r>
          </a:p>
          <a:p>
            <a:endParaRPr lang="en-US" dirty="0"/>
          </a:p>
          <a:p>
            <a:r>
              <a:rPr lang="en-US" u="sng" dirty="0"/>
              <a:t>Con</a:t>
            </a:r>
            <a:r>
              <a:rPr lang="en-US" dirty="0"/>
              <a:t>: Typically larger in size and more difficult to store / load / manage</a:t>
            </a:r>
          </a:p>
          <a:p>
            <a:endParaRPr lang="en-US" dirty="0"/>
          </a:p>
          <a:p>
            <a:r>
              <a:rPr lang="en-US" u="sng" dirty="0"/>
              <a:t>Con</a:t>
            </a:r>
            <a:r>
              <a:rPr lang="en-US" dirty="0"/>
              <a:t>: Modality-specific knowledge and steps are required to incorporate these data in predictive models</a:t>
            </a:r>
          </a:p>
        </p:txBody>
      </p:sp>
    </p:spTree>
    <p:extLst>
      <p:ext uri="{BB962C8B-B14F-4D97-AF65-F5344CB8AC3E}">
        <p14:creationId xmlns:p14="http://schemas.microsoft.com/office/powerpoint/2010/main" val="3369194338"/>
      </p:ext>
    </p:extLst>
  </p:cSld>
  <p:clrMapOvr>
    <a:masterClrMapping/>
  </p:clrMapOvr>
  <mc:AlternateContent xmlns:mc="http://schemas.openxmlformats.org/markup-compatibility/2006" xmlns:p14="http://schemas.microsoft.com/office/powerpoint/2010/main">
    <mc:Choice Requires="p14">
      <p:transition spd="slow" p14:dur="2000" advTm="86698"/>
    </mc:Choice>
    <mc:Fallback xmlns="">
      <p:transition spd="slow" advTm="8669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0F9B0-7455-1DCF-7796-A893440730DA}"/>
              </a:ext>
            </a:extLst>
          </p:cNvPr>
          <p:cNvSpPr>
            <a:spLocks noGrp="1"/>
          </p:cNvSpPr>
          <p:nvPr>
            <p:ph type="title"/>
          </p:nvPr>
        </p:nvSpPr>
        <p:spPr/>
        <p:txBody>
          <a:bodyPr/>
          <a:lstStyle/>
          <a:p>
            <a:r>
              <a:rPr lang="en-US" dirty="0"/>
              <a:t>Roadmap: NLP for clinical text</a:t>
            </a:r>
          </a:p>
        </p:txBody>
      </p:sp>
      <p:sp>
        <p:nvSpPr>
          <p:cNvPr id="3" name="Content Placeholder 2">
            <a:extLst>
              <a:ext uri="{FF2B5EF4-FFF2-40B4-BE49-F238E27FC236}">
                <a16:creationId xmlns:a16="http://schemas.microsoft.com/office/drawing/2014/main" id="{640A7A67-AC40-C30E-C46A-CE1E608900BC}"/>
              </a:ext>
            </a:extLst>
          </p:cNvPr>
          <p:cNvSpPr>
            <a:spLocks noGrp="1"/>
          </p:cNvSpPr>
          <p:nvPr>
            <p:ph idx="1"/>
          </p:nvPr>
        </p:nvSpPr>
        <p:spPr/>
        <p:txBody>
          <a:bodyPr/>
          <a:lstStyle/>
          <a:p>
            <a:pPr lvl="1"/>
            <a:r>
              <a:rPr lang="en-US" dirty="0"/>
              <a:t>Today: why use clinical text</a:t>
            </a:r>
          </a:p>
          <a:p>
            <a:pPr lvl="1"/>
            <a:r>
              <a:rPr lang="en-US" dirty="0"/>
              <a:t>Today: on prediction versus generation</a:t>
            </a:r>
          </a:p>
          <a:p>
            <a:pPr lvl="1"/>
            <a:r>
              <a:rPr lang="en-US" dirty="0"/>
              <a:t>Today: foundations of NLP and count-based models</a:t>
            </a:r>
          </a:p>
          <a:p>
            <a:pPr lvl="1"/>
            <a:endParaRPr lang="en-US" dirty="0"/>
          </a:p>
          <a:p>
            <a:pPr lvl="1"/>
            <a:r>
              <a:rPr lang="en-US" dirty="0"/>
              <a:t>Next time: word embeddings and medical concept embeddings</a:t>
            </a:r>
          </a:p>
          <a:p>
            <a:pPr lvl="1"/>
            <a:r>
              <a:rPr lang="en-US" dirty="0"/>
              <a:t>After that: current architectures</a:t>
            </a:r>
          </a:p>
        </p:txBody>
      </p:sp>
    </p:spTree>
    <p:extLst>
      <p:ext uri="{BB962C8B-B14F-4D97-AF65-F5344CB8AC3E}">
        <p14:creationId xmlns:p14="http://schemas.microsoft.com/office/powerpoint/2010/main" val="10553510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1C7F7-E147-851D-F904-312F86BAE341}"/>
              </a:ext>
            </a:extLst>
          </p:cNvPr>
          <p:cNvSpPr>
            <a:spLocks noGrp="1"/>
          </p:cNvSpPr>
          <p:nvPr>
            <p:ph type="title"/>
          </p:nvPr>
        </p:nvSpPr>
        <p:spPr/>
        <p:txBody>
          <a:bodyPr/>
          <a:lstStyle/>
          <a:p>
            <a:r>
              <a:rPr lang="en-US" dirty="0"/>
              <a:t>On prediction vs generation</a:t>
            </a:r>
          </a:p>
        </p:txBody>
      </p:sp>
      <p:sp>
        <p:nvSpPr>
          <p:cNvPr id="3" name="Text Placeholder 2">
            <a:extLst>
              <a:ext uri="{FF2B5EF4-FFF2-40B4-BE49-F238E27FC236}">
                <a16:creationId xmlns:a16="http://schemas.microsoft.com/office/drawing/2014/main" id="{993E9682-7C47-2CA6-3F7D-E165DF3B57B9}"/>
              </a:ext>
            </a:extLst>
          </p:cNvPr>
          <p:cNvSpPr>
            <a:spLocks noGrp="1"/>
          </p:cNvSpPr>
          <p:nvPr>
            <p:ph type="body" idx="1"/>
          </p:nvPr>
        </p:nvSpPr>
        <p:spPr/>
        <p:txBody>
          <a:bodyPr/>
          <a:lstStyle/>
          <a:p>
            <a:r>
              <a:rPr lang="en-US" dirty="0"/>
              <a:t>Using current LLMs</a:t>
            </a:r>
          </a:p>
        </p:txBody>
      </p:sp>
    </p:spTree>
    <p:extLst>
      <p:ext uri="{BB962C8B-B14F-4D97-AF65-F5344CB8AC3E}">
        <p14:creationId xmlns:p14="http://schemas.microsoft.com/office/powerpoint/2010/main" val="2832764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Left Brace 41">
            <a:extLst>
              <a:ext uri="{FF2B5EF4-FFF2-40B4-BE49-F238E27FC236}">
                <a16:creationId xmlns:a16="http://schemas.microsoft.com/office/drawing/2014/main" id="{CD7BE56E-0060-4A54-AA69-1EB18933245C}"/>
              </a:ext>
            </a:extLst>
          </p:cNvPr>
          <p:cNvSpPr/>
          <p:nvPr/>
        </p:nvSpPr>
        <p:spPr>
          <a:xfrm rot="16200000">
            <a:off x="3178716" y="467266"/>
            <a:ext cx="262758" cy="4338186"/>
          </a:xfrm>
          <a:prstGeom prst="leftBrace">
            <a:avLst>
              <a:gd name="adj1" fmla="val 8333"/>
              <a:gd name="adj2" fmla="val 24681"/>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43" name="TextBox 42">
            <a:extLst>
              <a:ext uri="{FF2B5EF4-FFF2-40B4-BE49-F238E27FC236}">
                <a16:creationId xmlns:a16="http://schemas.microsoft.com/office/drawing/2014/main" id="{CC32AC06-632F-43A5-BCC3-B6853BF55ED1}"/>
              </a:ext>
            </a:extLst>
          </p:cNvPr>
          <p:cNvSpPr txBox="1"/>
          <p:nvPr/>
        </p:nvSpPr>
        <p:spPr>
          <a:xfrm>
            <a:off x="2083537" y="2908291"/>
            <a:ext cx="2240351" cy="738023"/>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data/features for a subject or patient</a:t>
            </a:r>
          </a:p>
        </p:txBody>
      </p:sp>
      <p:sp>
        <p:nvSpPr>
          <p:cNvPr id="44" name="TextBox 43">
            <a:extLst>
              <a:ext uri="{FF2B5EF4-FFF2-40B4-BE49-F238E27FC236}">
                <a16:creationId xmlns:a16="http://schemas.microsoft.com/office/drawing/2014/main" id="{5AC2050F-9E94-4BD9-B0FA-61947BD99315}"/>
              </a:ext>
            </a:extLst>
          </p:cNvPr>
          <p:cNvSpPr txBox="1"/>
          <p:nvPr/>
        </p:nvSpPr>
        <p:spPr>
          <a:xfrm>
            <a:off x="6386821" y="2458390"/>
            <a:ext cx="2003517" cy="738023"/>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associated value or label</a:t>
            </a:r>
          </a:p>
        </p:txBody>
      </p:sp>
      <p:sp>
        <p:nvSpPr>
          <p:cNvPr id="29" name="Title 28"/>
          <p:cNvSpPr>
            <a:spLocks noGrp="1"/>
          </p:cNvSpPr>
          <p:nvPr>
            <p:ph type="title"/>
          </p:nvPr>
        </p:nvSpPr>
        <p:spPr>
          <a:xfrm>
            <a:off x="0" y="273844"/>
            <a:ext cx="9144000" cy="994172"/>
          </a:xfrm>
        </p:spPr>
        <p:txBody>
          <a:bodyPr>
            <a:normAutofit/>
          </a:bodyPr>
          <a:lstStyle/>
          <a:p>
            <a:pPr algn="ctr"/>
            <a:r>
              <a:rPr lang="en-US" dirty="0"/>
              <a:t>Previously: predictive models for tabular data</a:t>
            </a:r>
          </a:p>
        </p:txBody>
      </p:sp>
      <p:sp>
        <p:nvSpPr>
          <p:cNvPr id="2" name="TextBox 1">
            <a:extLst>
              <a:ext uri="{FF2B5EF4-FFF2-40B4-BE49-F238E27FC236}">
                <a16:creationId xmlns:a16="http://schemas.microsoft.com/office/drawing/2014/main" id="{A89DB9E1-43B6-E249-9D75-E82D12E3759D}"/>
              </a:ext>
            </a:extLst>
          </p:cNvPr>
          <p:cNvSpPr txBox="1"/>
          <p:nvPr/>
        </p:nvSpPr>
        <p:spPr>
          <a:xfrm>
            <a:off x="3395818" y="3952674"/>
            <a:ext cx="2865336" cy="396583"/>
          </a:xfrm>
          <a:prstGeom prst="rect">
            <a:avLst/>
          </a:prstGeom>
          <a:noFill/>
        </p:spPr>
        <p:txBody>
          <a:bodyPr wrap="none" rtlCol="0">
            <a:spAutoFit/>
          </a:bodyPr>
          <a:lstStyle/>
          <a:p>
            <a:r>
              <a:rPr lang="en-US" sz="1977" dirty="0"/>
              <a:t>End goal: predict</a:t>
            </a:r>
            <a:r>
              <a:rPr lang="en-US" sz="1977" i="1" dirty="0"/>
              <a:t> </a:t>
            </a:r>
            <a:r>
              <a:rPr lang="en-US" sz="1977" i="1" dirty="0">
                <a:latin typeface="Times New Roman" panose="02020603050405020304" pitchFamily="18" charset="0"/>
                <a:cs typeface="Times New Roman" panose="02020603050405020304" pitchFamily="18" charset="0"/>
              </a:rPr>
              <a:t>y</a:t>
            </a:r>
            <a:r>
              <a:rPr lang="en-US" sz="1977" dirty="0"/>
              <a:t> from </a:t>
            </a:r>
            <a:r>
              <a:rPr lang="en-US" sz="1977" i="1" dirty="0">
                <a:latin typeface="Times New Roman" panose="02020603050405020304" pitchFamily="18" charset="0"/>
                <a:cs typeface="Times New Roman" panose="02020603050405020304" pitchFamily="18" charset="0"/>
              </a:rPr>
              <a:t>x</a:t>
            </a:r>
            <a:r>
              <a:rPr lang="en-US" sz="1977" dirty="0"/>
              <a:t> </a:t>
            </a:r>
          </a:p>
        </p:txBody>
      </p:sp>
      <p:graphicFrame>
        <p:nvGraphicFramePr>
          <p:cNvPr id="3" name="Table 2">
            <a:extLst>
              <a:ext uri="{FF2B5EF4-FFF2-40B4-BE49-F238E27FC236}">
                <a16:creationId xmlns:a16="http://schemas.microsoft.com/office/drawing/2014/main" id="{DD8BA628-E6A5-5247-A47F-F2F8A1018A52}"/>
              </a:ext>
            </a:extLst>
          </p:cNvPr>
          <p:cNvGraphicFramePr>
            <a:graphicFrameLocks noGrp="1"/>
          </p:cNvGraphicFramePr>
          <p:nvPr/>
        </p:nvGraphicFramePr>
        <p:xfrm>
          <a:off x="1141002" y="1833538"/>
          <a:ext cx="4338184"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gridCol w="542273">
                  <a:extLst>
                    <a:ext uri="{9D8B030D-6E8A-4147-A177-3AD203B41FA5}">
                      <a16:colId xmlns:a16="http://schemas.microsoft.com/office/drawing/2014/main" val="440623976"/>
                    </a:ext>
                  </a:extLst>
                </a:gridCol>
                <a:gridCol w="542273">
                  <a:extLst>
                    <a:ext uri="{9D8B030D-6E8A-4147-A177-3AD203B41FA5}">
                      <a16:colId xmlns:a16="http://schemas.microsoft.com/office/drawing/2014/main" val="2300620790"/>
                    </a:ext>
                  </a:extLst>
                </a:gridCol>
                <a:gridCol w="542273">
                  <a:extLst>
                    <a:ext uri="{9D8B030D-6E8A-4147-A177-3AD203B41FA5}">
                      <a16:colId xmlns:a16="http://schemas.microsoft.com/office/drawing/2014/main" val="387841067"/>
                    </a:ext>
                  </a:extLst>
                </a:gridCol>
                <a:gridCol w="542273">
                  <a:extLst>
                    <a:ext uri="{9D8B030D-6E8A-4147-A177-3AD203B41FA5}">
                      <a16:colId xmlns:a16="http://schemas.microsoft.com/office/drawing/2014/main" val="2317106339"/>
                    </a:ext>
                  </a:extLst>
                </a:gridCol>
                <a:gridCol w="542273">
                  <a:extLst>
                    <a:ext uri="{9D8B030D-6E8A-4147-A177-3AD203B41FA5}">
                      <a16:colId xmlns:a16="http://schemas.microsoft.com/office/drawing/2014/main" val="3112262120"/>
                    </a:ext>
                  </a:extLst>
                </a:gridCol>
                <a:gridCol w="542273">
                  <a:extLst>
                    <a:ext uri="{9D8B030D-6E8A-4147-A177-3AD203B41FA5}">
                      <a16:colId xmlns:a16="http://schemas.microsoft.com/office/drawing/2014/main" val="1492693499"/>
                    </a:ext>
                  </a:extLst>
                </a:gridCol>
                <a:gridCol w="542273">
                  <a:extLst>
                    <a:ext uri="{9D8B030D-6E8A-4147-A177-3AD203B41FA5}">
                      <a16:colId xmlns:a16="http://schemas.microsoft.com/office/drawing/2014/main" val="4043894517"/>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27" name="Table 26">
            <a:extLst>
              <a:ext uri="{FF2B5EF4-FFF2-40B4-BE49-F238E27FC236}">
                <a16:creationId xmlns:a16="http://schemas.microsoft.com/office/drawing/2014/main" id="{E283A621-29B9-E442-B229-1B0F3F74F338}"/>
              </a:ext>
            </a:extLst>
          </p:cNvPr>
          <p:cNvGraphicFramePr>
            <a:graphicFrameLocks noGrp="1"/>
          </p:cNvGraphicFramePr>
          <p:nvPr/>
        </p:nvGraphicFramePr>
        <p:xfrm>
          <a:off x="6258233" y="1833537"/>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Tree>
    <p:extLst>
      <p:ext uri="{BB962C8B-B14F-4D97-AF65-F5344CB8AC3E}">
        <p14:creationId xmlns:p14="http://schemas.microsoft.com/office/powerpoint/2010/main" val="803834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68C3235-6DCE-8140-93D4-47C68B213675}"/>
              </a:ext>
            </a:extLst>
          </p:cNvPr>
          <p:cNvSpPr/>
          <p:nvPr/>
        </p:nvSpPr>
        <p:spPr>
          <a:xfrm>
            <a:off x="1609726" y="1101330"/>
            <a:ext cx="2609850" cy="264199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2530BD9E-75C9-6348-9BBF-41E194FA296B}"/>
              </a:ext>
            </a:extLst>
          </p:cNvPr>
          <p:cNvSpPr>
            <a:spLocks noGrp="1"/>
          </p:cNvSpPr>
          <p:nvPr>
            <p:ph type="title"/>
          </p:nvPr>
        </p:nvSpPr>
        <p:spPr>
          <a:xfrm>
            <a:off x="0" y="169774"/>
            <a:ext cx="9144000" cy="650536"/>
          </a:xfrm>
        </p:spPr>
        <p:txBody>
          <a:bodyPr>
            <a:normAutofit/>
          </a:bodyPr>
          <a:lstStyle/>
          <a:p>
            <a:pPr algn="ctr"/>
            <a:r>
              <a:rPr lang="en-US" dirty="0"/>
              <a:t>Previously: predictive models for image data</a:t>
            </a:r>
          </a:p>
        </p:txBody>
      </p:sp>
      <p:sp>
        <p:nvSpPr>
          <p:cNvPr id="8" name="Left Brace 7">
            <a:extLst>
              <a:ext uri="{FF2B5EF4-FFF2-40B4-BE49-F238E27FC236}">
                <a16:creationId xmlns:a16="http://schemas.microsoft.com/office/drawing/2014/main" id="{E33066B2-0A7C-8A4E-AC35-E6F80161D0E4}"/>
              </a:ext>
            </a:extLst>
          </p:cNvPr>
          <p:cNvSpPr/>
          <p:nvPr/>
        </p:nvSpPr>
        <p:spPr>
          <a:xfrm rot="16200000">
            <a:off x="2783272" y="2658275"/>
            <a:ext cx="262758" cy="2609850"/>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9" name="TextBox 8">
            <a:extLst>
              <a:ext uri="{FF2B5EF4-FFF2-40B4-BE49-F238E27FC236}">
                <a16:creationId xmlns:a16="http://schemas.microsoft.com/office/drawing/2014/main" id="{B0F8ED1D-42C3-9141-AE77-27407422E154}"/>
              </a:ext>
            </a:extLst>
          </p:cNvPr>
          <p:cNvSpPr txBox="1"/>
          <p:nvPr/>
        </p:nvSpPr>
        <p:spPr>
          <a:xfrm>
            <a:off x="2122407" y="4068394"/>
            <a:ext cx="2240351"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retinal image</a:t>
            </a:r>
          </a:p>
        </p:txBody>
      </p:sp>
      <p:sp>
        <p:nvSpPr>
          <p:cNvPr id="10" name="TextBox 9">
            <a:extLst>
              <a:ext uri="{FF2B5EF4-FFF2-40B4-BE49-F238E27FC236}">
                <a16:creationId xmlns:a16="http://schemas.microsoft.com/office/drawing/2014/main" id="{F2C42C99-ECFD-CC46-8C0C-7FE9900CF424}"/>
              </a:ext>
            </a:extLst>
          </p:cNvPr>
          <p:cNvSpPr txBox="1"/>
          <p:nvPr/>
        </p:nvSpPr>
        <p:spPr>
          <a:xfrm>
            <a:off x="6434446" y="2726473"/>
            <a:ext cx="2408009" cy="738023"/>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referrable diabetic retinopathy</a:t>
            </a:r>
          </a:p>
        </p:txBody>
      </p:sp>
      <p:sp>
        <p:nvSpPr>
          <p:cNvPr id="11" name="TextBox 10">
            <a:extLst>
              <a:ext uri="{FF2B5EF4-FFF2-40B4-BE49-F238E27FC236}">
                <a16:creationId xmlns:a16="http://schemas.microsoft.com/office/drawing/2014/main" id="{69F4C887-30DE-6142-A3B8-73F2E6FB683F}"/>
              </a:ext>
            </a:extLst>
          </p:cNvPr>
          <p:cNvSpPr txBox="1"/>
          <p:nvPr/>
        </p:nvSpPr>
        <p:spPr>
          <a:xfrm>
            <a:off x="6029954" y="4239114"/>
            <a:ext cx="2865336" cy="396583"/>
          </a:xfrm>
          <a:prstGeom prst="rect">
            <a:avLst/>
          </a:prstGeom>
          <a:noFill/>
        </p:spPr>
        <p:txBody>
          <a:bodyPr wrap="none" rtlCol="0">
            <a:spAutoFit/>
          </a:bodyPr>
          <a:lstStyle/>
          <a:p>
            <a:r>
              <a:rPr lang="en-US" sz="1977" dirty="0"/>
              <a:t>End goal: predict</a:t>
            </a:r>
            <a:r>
              <a:rPr lang="en-US" sz="1977" i="1" dirty="0"/>
              <a:t> </a:t>
            </a:r>
            <a:r>
              <a:rPr lang="en-US" sz="1977" i="1" dirty="0">
                <a:latin typeface="Times New Roman" panose="02020603050405020304" pitchFamily="18" charset="0"/>
                <a:cs typeface="Times New Roman" panose="02020603050405020304" pitchFamily="18" charset="0"/>
              </a:rPr>
              <a:t>y</a:t>
            </a:r>
            <a:r>
              <a:rPr lang="en-US" sz="1977" dirty="0"/>
              <a:t> from </a:t>
            </a:r>
            <a:r>
              <a:rPr lang="en-US" sz="1977" i="1" dirty="0">
                <a:latin typeface="Times New Roman" panose="02020603050405020304" pitchFamily="18" charset="0"/>
                <a:cs typeface="Times New Roman" panose="02020603050405020304" pitchFamily="18" charset="0"/>
              </a:rPr>
              <a:t>x</a:t>
            </a:r>
            <a:r>
              <a:rPr lang="en-US" sz="1977" dirty="0"/>
              <a:t> </a:t>
            </a:r>
          </a:p>
        </p:txBody>
      </p:sp>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nvGraphicFramePr>
        <p:xfrm>
          <a:off x="6295900" y="2156882"/>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pic>
        <p:nvPicPr>
          <p:cNvPr id="14" name="Picture 13" descr="Cover">
            <a:extLst>
              <a:ext uri="{FF2B5EF4-FFF2-40B4-BE49-F238E27FC236}">
                <a16:creationId xmlns:a16="http://schemas.microsoft.com/office/drawing/2014/main" id="{537A91F6-53A6-2F45-BFF7-32E00B2E46FD}"/>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1661679" y="1189825"/>
            <a:ext cx="2466976" cy="2445541"/>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2004C370-95FF-1047-B986-B06FCDF88F5F}"/>
              </a:ext>
            </a:extLst>
          </p:cNvPr>
          <p:cNvCxnSpPr>
            <a:stCxn id="3" idx="3"/>
            <a:endCxn id="13" idx="1"/>
          </p:cNvCxnSpPr>
          <p:nvPr/>
        </p:nvCxnSpPr>
        <p:spPr>
          <a:xfrm flipV="1">
            <a:off x="4219576" y="2422326"/>
            <a:ext cx="2076323"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669962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590A7-9AFD-6047-B83E-6C0852C0E54F}"/>
              </a:ext>
            </a:extLst>
          </p:cNvPr>
          <p:cNvSpPr>
            <a:spLocks noGrp="1"/>
          </p:cNvSpPr>
          <p:nvPr>
            <p:ph type="title"/>
          </p:nvPr>
        </p:nvSpPr>
        <p:spPr/>
        <p:txBody>
          <a:bodyPr/>
          <a:lstStyle/>
          <a:p>
            <a:r>
              <a:rPr lang="en-US" dirty="0"/>
              <a:t>Now: predictive models for text data (NLP)</a:t>
            </a:r>
          </a:p>
        </p:txBody>
      </p:sp>
      <p:pic>
        <p:nvPicPr>
          <p:cNvPr id="3" name="Picture 2">
            <a:extLst>
              <a:ext uri="{FF2B5EF4-FFF2-40B4-BE49-F238E27FC236}">
                <a16:creationId xmlns:a16="http://schemas.microsoft.com/office/drawing/2014/main" id="{DC964ED3-CBD5-784D-889B-CF349214AB7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09727" y="1268015"/>
            <a:ext cx="2593732" cy="2445519"/>
          </a:xfrm>
          <a:prstGeom prst="rect">
            <a:avLst/>
          </a:prstGeom>
        </p:spPr>
      </p:pic>
      <p:sp>
        <p:nvSpPr>
          <p:cNvPr id="6" name="Left Brace 5">
            <a:extLst>
              <a:ext uri="{FF2B5EF4-FFF2-40B4-BE49-F238E27FC236}">
                <a16:creationId xmlns:a16="http://schemas.microsoft.com/office/drawing/2014/main" id="{396CAD57-A6AD-2542-9076-2A724D5F3B94}"/>
              </a:ext>
            </a:extLst>
          </p:cNvPr>
          <p:cNvSpPr/>
          <p:nvPr/>
        </p:nvSpPr>
        <p:spPr>
          <a:xfrm rot="16200000">
            <a:off x="2518233" y="2923314"/>
            <a:ext cx="262758" cy="2079772"/>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7" name="TextBox 6">
            <a:extLst>
              <a:ext uri="{FF2B5EF4-FFF2-40B4-BE49-F238E27FC236}">
                <a16:creationId xmlns:a16="http://schemas.microsoft.com/office/drawing/2014/main" id="{5A605090-9BC4-5544-99A3-B7474FB3F0D4}"/>
              </a:ext>
            </a:extLst>
          </p:cNvPr>
          <p:cNvSpPr txBox="1"/>
          <p:nvPr/>
        </p:nvSpPr>
        <p:spPr>
          <a:xfrm>
            <a:off x="1963108" y="4094580"/>
            <a:ext cx="2240351"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radiology report</a:t>
            </a:r>
          </a:p>
        </p:txBody>
      </p:sp>
      <p:sp>
        <p:nvSpPr>
          <p:cNvPr id="8" name="TextBox 7">
            <a:extLst>
              <a:ext uri="{FF2B5EF4-FFF2-40B4-BE49-F238E27FC236}">
                <a16:creationId xmlns:a16="http://schemas.microsoft.com/office/drawing/2014/main" id="{30B1EFBE-A19E-3647-AB0C-EA73A10292D5}"/>
              </a:ext>
            </a:extLst>
          </p:cNvPr>
          <p:cNvSpPr txBox="1"/>
          <p:nvPr/>
        </p:nvSpPr>
        <p:spPr>
          <a:xfrm>
            <a:off x="6434446" y="2726473"/>
            <a:ext cx="2408009" cy="738023"/>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abnormality present</a:t>
            </a:r>
          </a:p>
        </p:txBody>
      </p:sp>
      <p:sp>
        <p:nvSpPr>
          <p:cNvPr id="9" name="TextBox 8">
            <a:extLst>
              <a:ext uri="{FF2B5EF4-FFF2-40B4-BE49-F238E27FC236}">
                <a16:creationId xmlns:a16="http://schemas.microsoft.com/office/drawing/2014/main" id="{6A55DB8C-6AD0-564D-8432-886D4E5DB82F}"/>
              </a:ext>
            </a:extLst>
          </p:cNvPr>
          <p:cNvSpPr txBox="1"/>
          <p:nvPr/>
        </p:nvSpPr>
        <p:spPr>
          <a:xfrm>
            <a:off x="6029954" y="4239114"/>
            <a:ext cx="2865336" cy="396583"/>
          </a:xfrm>
          <a:prstGeom prst="rect">
            <a:avLst/>
          </a:prstGeom>
          <a:noFill/>
        </p:spPr>
        <p:txBody>
          <a:bodyPr wrap="none" rtlCol="0">
            <a:spAutoFit/>
          </a:bodyPr>
          <a:lstStyle/>
          <a:p>
            <a:r>
              <a:rPr lang="en-US" sz="1977" dirty="0"/>
              <a:t>End goal: predict</a:t>
            </a:r>
            <a:r>
              <a:rPr lang="en-US" sz="1977" i="1" dirty="0"/>
              <a:t> </a:t>
            </a:r>
            <a:r>
              <a:rPr lang="en-US" sz="1977" i="1" dirty="0">
                <a:latin typeface="Times New Roman" panose="02020603050405020304" pitchFamily="18" charset="0"/>
                <a:cs typeface="Times New Roman" panose="02020603050405020304" pitchFamily="18" charset="0"/>
              </a:rPr>
              <a:t>y</a:t>
            </a:r>
            <a:r>
              <a:rPr lang="en-US" sz="1977" dirty="0"/>
              <a:t> from </a:t>
            </a:r>
            <a:r>
              <a:rPr lang="en-US" sz="1977" i="1" dirty="0">
                <a:latin typeface="Times New Roman" panose="02020603050405020304" pitchFamily="18" charset="0"/>
                <a:cs typeface="Times New Roman" panose="02020603050405020304" pitchFamily="18" charset="0"/>
              </a:rPr>
              <a:t>x</a:t>
            </a:r>
            <a:r>
              <a:rPr lang="en-US" sz="1977" dirty="0"/>
              <a:t> </a:t>
            </a:r>
          </a:p>
        </p:txBody>
      </p:sp>
      <p:graphicFrame>
        <p:nvGraphicFramePr>
          <p:cNvPr id="10" name="Table 9">
            <a:extLst>
              <a:ext uri="{FF2B5EF4-FFF2-40B4-BE49-F238E27FC236}">
                <a16:creationId xmlns:a16="http://schemas.microsoft.com/office/drawing/2014/main" id="{9D0EB304-8081-7044-B592-636E140495DC}"/>
              </a:ext>
            </a:extLst>
          </p:cNvPr>
          <p:cNvGraphicFramePr>
            <a:graphicFrameLocks noGrp="1"/>
          </p:cNvGraphicFramePr>
          <p:nvPr/>
        </p:nvGraphicFramePr>
        <p:xfrm>
          <a:off x="6295900" y="2156882"/>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2" name="Straight Arrow Connector 11">
            <a:extLst>
              <a:ext uri="{FF2B5EF4-FFF2-40B4-BE49-F238E27FC236}">
                <a16:creationId xmlns:a16="http://schemas.microsoft.com/office/drawing/2014/main" id="{81398347-372D-1843-8EAB-04AE6E74E2A0}"/>
              </a:ext>
            </a:extLst>
          </p:cNvPr>
          <p:cNvCxnSpPr>
            <a:cxnSpLocks/>
            <a:endCxn id="10" idx="1"/>
          </p:cNvCxnSpPr>
          <p:nvPr/>
        </p:nvCxnSpPr>
        <p:spPr>
          <a:xfrm flipV="1">
            <a:off x="4219576" y="2422326"/>
            <a:ext cx="2076323"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254391980"/>
      </p:ext>
    </p:extLst>
  </p:cSld>
  <p:clrMapOvr>
    <a:masterClrMapping/>
  </p:clrMapOvr>
  <mc:AlternateContent xmlns:mc="http://schemas.openxmlformats.org/markup-compatibility/2006" xmlns:p14="http://schemas.microsoft.com/office/powerpoint/2010/main">
    <mc:Choice Requires="p14">
      <p:transition spd="slow" p14:dur="2000" advTm="46390"/>
    </mc:Choice>
    <mc:Fallback xmlns="">
      <p:transition spd="slow" advTm="4639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0BD9E-75C9-6348-9BBF-41E194FA296B}"/>
              </a:ext>
            </a:extLst>
          </p:cNvPr>
          <p:cNvSpPr>
            <a:spLocks noGrp="1"/>
          </p:cNvSpPr>
          <p:nvPr>
            <p:ph type="title"/>
          </p:nvPr>
        </p:nvSpPr>
        <p:spPr>
          <a:xfrm>
            <a:off x="0" y="249757"/>
            <a:ext cx="9144000" cy="650536"/>
          </a:xfrm>
        </p:spPr>
        <p:txBody>
          <a:bodyPr>
            <a:normAutofit/>
          </a:bodyPr>
          <a:lstStyle/>
          <a:p>
            <a:pPr algn="ctr"/>
            <a:r>
              <a:rPr lang="en-US" dirty="0"/>
              <a:t>Is this generative or predictive?</a:t>
            </a:r>
          </a:p>
        </p:txBody>
      </p:sp>
      <p:sp>
        <p:nvSpPr>
          <p:cNvPr id="8" name="Left Brace 7">
            <a:extLst>
              <a:ext uri="{FF2B5EF4-FFF2-40B4-BE49-F238E27FC236}">
                <a16:creationId xmlns:a16="http://schemas.microsoft.com/office/drawing/2014/main" id="{E33066B2-0A7C-8A4E-AC35-E6F80161D0E4}"/>
              </a:ext>
            </a:extLst>
          </p:cNvPr>
          <p:cNvSpPr/>
          <p:nvPr/>
        </p:nvSpPr>
        <p:spPr>
          <a:xfrm rot="16200000">
            <a:off x="3401010" y="1086033"/>
            <a:ext cx="262758" cy="4671293"/>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9" name="TextBox 8">
            <a:extLst>
              <a:ext uri="{FF2B5EF4-FFF2-40B4-BE49-F238E27FC236}">
                <a16:creationId xmlns:a16="http://schemas.microsoft.com/office/drawing/2014/main" id="{B0F8ED1D-42C3-9141-AE77-27407422E154}"/>
              </a:ext>
            </a:extLst>
          </p:cNvPr>
          <p:cNvSpPr txBox="1"/>
          <p:nvPr/>
        </p:nvSpPr>
        <p:spPr>
          <a:xfrm>
            <a:off x="2210847" y="3589940"/>
            <a:ext cx="26430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conversation history</a:t>
            </a:r>
          </a:p>
        </p:txBody>
      </p:sp>
      <p:sp>
        <p:nvSpPr>
          <p:cNvPr id="10" name="TextBox 9">
            <a:extLst>
              <a:ext uri="{FF2B5EF4-FFF2-40B4-BE49-F238E27FC236}">
                <a16:creationId xmlns:a16="http://schemas.microsoft.com/office/drawing/2014/main" id="{F2C42C99-ECFD-CC46-8C0C-7FE9900CF424}"/>
              </a:ext>
            </a:extLst>
          </p:cNvPr>
          <p:cNvSpPr txBox="1"/>
          <p:nvPr/>
        </p:nvSpPr>
        <p:spPr>
          <a:xfrm>
            <a:off x="6944811" y="2741057"/>
            <a:ext cx="19014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next word</a:t>
            </a:r>
          </a:p>
        </p:txBody>
      </p:sp>
      <p:sp>
        <p:nvSpPr>
          <p:cNvPr id="11" name="TextBox 10">
            <a:extLst>
              <a:ext uri="{FF2B5EF4-FFF2-40B4-BE49-F238E27FC236}">
                <a16:creationId xmlns:a16="http://schemas.microsoft.com/office/drawing/2014/main" id="{69F4C887-30DE-6142-A3B8-73F2E6FB683F}"/>
              </a:ext>
            </a:extLst>
          </p:cNvPr>
          <p:cNvSpPr txBox="1"/>
          <p:nvPr/>
        </p:nvSpPr>
        <p:spPr>
          <a:xfrm>
            <a:off x="3270618" y="4480696"/>
            <a:ext cx="2602764" cy="396583"/>
          </a:xfrm>
          <a:prstGeom prst="rect">
            <a:avLst/>
          </a:prstGeom>
          <a:noFill/>
        </p:spPr>
        <p:txBody>
          <a:bodyPr wrap="none" rtlCol="0">
            <a:spAutoFit/>
          </a:bodyPr>
          <a:lstStyle/>
          <a:p>
            <a:r>
              <a:rPr lang="en-US" sz="1977" dirty="0"/>
              <a:t>“next-token prediction”</a:t>
            </a:r>
          </a:p>
        </p:txBody>
      </p:sp>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extLst>
              <p:ext uri="{D42A27DB-BD31-4B8C-83A1-F6EECF244321}">
                <p14:modId xmlns:p14="http://schemas.microsoft.com/office/powerpoint/2010/main" val="3418264443"/>
              </p:ext>
            </p:extLst>
          </p:nvPr>
        </p:nvGraphicFramePr>
        <p:xfrm>
          <a:off x="6827528" y="2173311"/>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2004C370-95FF-1047-B986-B06FCDF88F5F}"/>
              </a:ext>
            </a:extLst>
          </p:cNvPr>
          <p:cNvCxnSpPr>
            <a:cxnSpLocks/>
            <a:stCxn id="4" idx="3"/>
            <a:endCxn id="13" idx="1"/>
          </p:cNvCxnSpPr>
          <p:nvPr/>
        </p:nvCxnSpPr>
        <p:spPr>
          <a:xfrm>
            <a:off x="5868033" y="2438756"/>
            <a:ext cx="95949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C6C14DAE-B47E-A86D-3415-BA60E214F72A}"/>
              </a:ext>
            </a:extLst>
          </p:cNvPr>
          <p:cNvPicPr>
            <a:picLocks noChangeAspect="1"/>
          </p:cNvPicPr>
          <p:nvPr/>
        </p:nvPicPr>
        <p:blipFill>
          <a:blip r:embed="rId3"/>
          <a:srcRect b="25088"/>
          <a:stretch>
            <a:fillRect/>
          </a:stretch>
        </p:blipFill>
        <p:spPr>
          <a:xfrm>
            <a:off x="1196741" y="1721277"/>
            <a:ext cx="4671292" cy="1434958"/>
          </a:xfrm>
          <a:prstGeom prst="rect">
            <a:avLst/>
          </a:prstGeom>
          <a:ln>
            <a:solidFill>
              <a:schemeClr val="tx1"/>
            </a:solidFill>
          </a:ln>
        </p:spPr>
      </p:pic>
      <p:pic>
        <p:nvPicPr>
          <p:cNvPr id="5" name="Picture 2">
            <a:extLst>
              <a:ext uri="{FF2B5EF4-FFF2-40B4-BE49-F238E27FC236}">
                <a16:creationId xmlns:a16="http://schemas.microsoft.com/office/drawing/2014/main" id="{017E5B6B-3FB1-7654-027C-7EFC2F8A6D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9494" y="1827930"/>
            <a:ext cx="522772" cy="52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990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7D113-C35E-46A2-CBB6-1378216018BE}"/>
              </a:ext>
            </a:extLst>
          </p:cNvPr>
          <p:cNvSpPr>
            <a:spLocks noGrp="1"/>
          </p:cNvSpPr>
          <p:nvPr>
            <p:ph type="title"/>
          </p:nvPr>
        </p:nvSpPr>
        <p:spPr/>
        <p:txBody>
          <a:bodyPr/>
          <a:lstStyle/>
          <a:p>
            <a:r>
              <a:rPr lang="en-US" dirty="0"/>
              <a:t>Are all tasks special cases of text generation?</a:t>
            </a:r>
          </a:p>
        </p:txBody>
      </p:sp>
      <p:pic>
        <p:nvPicPr>
          <p:cNvPr id="4" name="Picture 3">
            <a:extLst>
              <a:ext uri="{FF2B5EF4-FFF2-40B4-BE49-F238E27FC236}">
                <a16:creationId xmlns:a16="http://schemas.microsoft.com/office/drawing/2014/main" id="{921D5FC5-1A47-FF1F-8552-D6E818AF19B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67464" y="1075385"/>
            <a:ext cx="6209071" cy="3915683"/>
          </a:xfrm>
          <a:prstGeom prst="rect">
            <a:avLst/>
          </a:prstGeom>
        </p:spPr>
      </p:pic>
    </p:spTree>
    <p:extLst>
      <p:ext uri="{BB962C8B-B14F-4D97-AF65-F5344CB8AC3E}">
        <p14:creationId xmlns:p14="http://schemas.microsoft.com/office/powerpoint/2010/main" val="3428611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7D113-C35E-46A2-CBB6-1378216018BE}"/>
              </a:ext>
            </a:extLst>
          </p:cNvPr>
          <p:cNvSpPr>
            <a:spLocks noGrp="1"/>
          </p:cNvSpPr>
          <p:nvPr>
            <p:ph type="title"/>
          </p:nvPr>
        </p:nvSpPr>
        <p:spPr/>
        <p:txBody>
          <a:bodyPr/>
          <a:lstStyle/>
          <a:p>
            <a:r>
              <a:rPr lang="en-US" dirty="0"/>
              <a:t>Are all tasks special cases of text generation?</a:t>
            </a:r>
          </a:p>
        </p:txBody>
      </p:sp>
      <p:pic>
        <p:nvPicPr>
          <p:cNvPr id="3" name="Picture 2">
            <a:extLst>
              <a:ext uri="{FF2B5EF4-FFF2-40B4-BE49-F238E27FC236}">
                <a16:creationId xmlns:a16="http://schemas.microsoft.com/office/drawing/2014/main" id="{3C4AEDE3-343A-975E-CD12-FC7778CCD80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19486" y="1031070"/>
            <a:ext cx="5905027" cy="4112430"/>
          </a:xfrm>
          <a:prstGeom prst="rect">
            <a:avLst/>
          </a:prstGeom>
        </p:spPr>
      </p:pic>
    </p:spTree>
    <p:extLst>
      <p:ext uri="{BB962C8B-B14F-4D97-AF65-F5344CB8AC3E}">
        <p14:creationId xmlns:p14="http://schemas.microsoft.com/office/powerpoint/2010/main" val="2397836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7D113-C35E-46A2-CBB6-1378216018BE}"/>
              </a:ext>
            </a:extLst>
          </p:cNvPr>
          <p:cNvSpPr>
            <a:spLocks noGrp="1"/>
          </p:cNvSpPr>
          <p:nvPr>
            <p:ph type="title"/>
          </p:nvPr>
        </p:nvSpPr>
        <p:spPr/>
        <p:txBody>
          <a:bodyPr/>
          <a:lstStyle/>
          <a:p>
            <a:r>
              <a:rPr lang="en-US" dirty="0"/>
              <a:t>Are all tasks special cases of text generation?</a:t>
            </a:r>
          </a:p>
        </p:txBody>
      </p:sp>
      <p:pic>
        <p:nvPicPr>
          <p:cNvPr id="4" name="Picture 3">
            <a:extLst>
              <a:ext uri="{FF2B5EF4-FFF2-40B4-BE49-F238E27FC236}">
                <a16:creationId xmlns:a16="http://schemas.microsoft.com/office/drawing/2014/main" id="{447DC276-C773-FCBB-0884-43D6D3DB9D8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5800" y="1319481"/>
            <a:ext cx="7772400" cy="3550175"/>
          </a:xfrm>
          <a:prstGeom prst="rect">
            <a:avLst/>
          </a:prstGeom>
        </p:spPr>
      </p:pic>
    </p:spTree>
    <p:extLst>
      <p:ext uri="{BB962C8B-B14F-4D97-AF65-F5344CB8AC3E}">
        <p14:creationId xmlns:p14="http://schemas.microsoft.com/office/powerpoint/2010/main" val="2756961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D3D5B-C8A0-76DA-707D-C7CF98890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1931A-5386-EE82-0B36-C9263A88A263}"/>
              </a:ext>
            </a:extLst>
          </p:cNvPr>
          <p:cNvSpPr>
            <a:spLocks noGrp="1"/>
          </p:cNvSpPr>
          <p:nvPr>
            <p:ph type="title"/>
          </p:nvPr>
        </p:nvSpPr>
        <p:spPr>
          <a:xfrm>
            <a:off x="638117" y="396817"/>
            <a:ext cx="8431619" cy="650536"/>
          </a:xfrm>
        </p:spPr>
        <p:txBody>
          <a:bodyPr>
            <a:normAutofit fontScale="90000"/>
          </a:bodyPr>
          <a:lstStyle/>
          <a:p>
            <a:r>
              <a:rPr lang="en-US" dirty="0"/>
              <a:t>A look ahead:</a:t>
            </a:r>
            <a:br>
              <a:rPr lang="en-US" dirty="0"/>
            </a:br>
            <a:r>
              <a:rPr lang="en-US" dirty="0"/>
              <a:t>LLMs are initially trained to predict the next word</a:t>
            </a:r>
          </a:p>
        </p:txBody>
      </p:sp>
      <p:sp>
        <p:nvSpPr>
          <p:cNvPr id="8" name="Left Brace 7">
            <a:extLst>
              <a:ext uri="{FF2B5EF4-FFF2-40B4-BE49-F238E27FC236}">
                <a16:creationId xmlns:a16="http://schemas.microsoft.com/office/drawing/2014/main" id="{A53FD2C0-73EE-5299-8822-C38D8914C202}"/>
              </a:ext>
            </a:extLst>
          </p:cNvPr>
          <p:cNvSpPr/>
          <p:nvPr/>
        </p:nvSpPr>
        <p:spPr>
          <a:xfrm rot="16200000">
            <a:off x="3401010" y="1086033"/>
            <a:ext cx="262758" cy="4671293"/>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9" name="TextBox 8">
            <a:extLst>
              <a:ext uri="{FF2B5EF4-FFF2-40B4-BE49-F238E27FC236}">
                <a16:creationId xmlns:a16="http://schemas.microsoft.com/office/drawing/2014/main" id="{67C952CF-F6EE-118E-7FD5-525FD374E2E9}"/>
              </a:ext>
            </a:extLst>
          </p:cNvPr>
          <p:cNvSpPr txBox="1"/>
          <p:nvPr/>
        </p:nvSpPr>
        <p:spPr>
          <a:xfrm>
            <a:off x="2210847" y="3589940"/>
            <a:ext cx="26430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conversation history</a:t>
            </a:r>
          </a:p>
        </p:txBody>
      </p:sp>
      <p:sp>
        <p:nvSpPr>
          <p:cNvPr id="10" name="TextBox 9">
            <a:extLst>
              <a:ext uri="{FF2B5EF4-FFF2-40B4-BE49-F238E27FC236}">
                <a16:creationId xmlns:a16="http://schemas.microsoft.com/office/drawing/2014/main" id="{5FD665E9-ADB9-B688-BDEE-64A5938FBCF9}"/>
              </a:ext>
            </a:extLst>
          </p:cNvPr>
          <p:cNvSpPr txBox="1"/>
          <p:nvPr/>
        </p:nvSpPr>
        <p:spPr>
          <a:xfrm>
            <a:off x="6944811" y="2741057"/>
            <a:ext cx="19014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next word</a:t>
            </a:r>
          </a:p>
        </p:txBody>
      </p:sp>
      <p:sp>
        <p:nvSpPr>
          <p:cNvPr id="11" name="TextBox 10">
            <a:extLst>
              <a:ext uri="{FF2B5EF4-FFF2-40B4-BE49-F238E27FC236}">
                <a16:creationId xmlns:a16="http://schemas.microsoft.com/office/drawing/2014/main" id="{8FDF5511-0827-8322-A6E9-40A8A871C2A7}"/>
              </a:ext>
            </a:extLst>
          </p:cNvPr>
          <p:cNvSpPr txBox="1"/>
          <p:nvPr/>
        </p:nvSpPr>
        <p:spPr>
          <a:xfrm>
            <a:off x="3270618" y="4480696"/>
            <a:ext cx="2602764" cy="396583"/>
          </a:xfrm>
          <a:prstGeom prst="rect">
            <a:avLst/>
          </a:prstGeom>
          <a:noFill/>
        </p:spPr>
        <p:txBody>
          <a:bodyPr wrap="none" rtlCol="0">
            <a:spAutoFit/>
          </a:bodyPr>
          <a:lstStyle/>
          <a:p>
            <a:r>
              <a:rPr lang="en-US" sz="1977" dirty="0"/>
              <a:t>“next-token prediction”</a:t>
            </a:r>
          </a:p>
        </p:txBody>
      </p:sp>
      <p:graphicFrame>
        <p:nvGraphicFramePr>
          <p:cNvPr id="13" name="Table 12">
            <a:extLst>
              <a:ext uri="{FF2B5EF4-FFF2-40B4-BE49-F238E27FC236}">
                <a16:creationId xmlns:a16="http://schemas.microsoft.com/office/drawing/2014/main" id="{D2BCD5A5-CAE9-A72D-8B02-A9E943B0C694}"/>
              </a:ext>
            </a:extLst>
          </p:cNvPr>
          <p:cNvGraphicFramePr>
            <a:graphicFrameLocks noGrp="1"/>
          </p:cNvGraphicFramePr>
          <p:nvPr/>
        </p:nvGraphicFramePr>
        <p:xfrm>
          <a:off x="6827528" y="2173311"/>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CFD7152E-DC43-6356-7FD3-81709886A7DF}"/>
              </a:ext>
            </a:extLst>
          </p:cNvPr>
          <p:cNvCxnSpPr>
            <a:cxnSpLocks/>
            <a:stCxn id="4" idx="3"/>
            <a:endCxn id="13" idx="1"/>
          </p:cNvCxnSpPr>
          <p:nvPr/>
        </p:nvCxnSpPr>
        <p:spPr>
          <a:xfrm>
            <a:off x="5868033" y="2438756"/>
            <a:ext cx="95949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6F18EA68-19EA-D9AD-1124-FA0F3952AD50}"/>
              </a:ext>
            </a:extLst>
          </p:cNvPr>
          <p:cNvPicPr>
            <a:picLocks noChangeAspect="1"/>
          </p:cNvPicPr>
          <p:nvPr/>
        </p:nvPicPr>
        <p:blipFill>
          <a:blip r:embed="rId3"/>
          <a:srcRect b="25088"/>
          <a:stretch>
            <a:fillRect/>
          </a:stretch>
        </p:blipFill>
        <p:spPr>
          <a:xfrm>
            <a:off x="1196741" y="1721277"/>
            <a:ext cx="4671292" cy="1434958"/>
          </a:xfrm>
          <a:prstGeom prst="rect">
            <a:avLst/>
          </a:prstGeom>
          <a:ln>
            <a:solidFill>
              <a:schemeClr val="tx1"/>
            </a:solidFill>
          </a:ln>
        </p:spPr>
      </p:pic>
      <p:pic>
        <p:nvPicPr>
          <p:cNvPr id="5" name="Picture 2">
            <a:extLst>
              <a:ext uri="{FF2B5EF4-FFF2-40B4-BE49-F238E27FC236}">
                <a16:creationId xmlns:a16="http://schemas.microsoft.com/office/drawing/2014/main" id="{F59BDC1A-749B-C361-4481-66D441947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9494" y="1827930"/>
            <a:ext cx="522772" cy="52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9123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724BD-E320-0662-278C-6176F14271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F43E1-FA1E-E1BE-A5B5-50CCF9122CA8}"/>
              </a:ext>
            </a:extLst>
          </p:cNvPr>
          <p:cNvSpPr>
            <a:spLocks noGrp="1"/>
          </p:cNvSpPr>
          <p:nvPr>
            <p:ph type="title"/>
          </p:nvPr>
        </p:nvSpPr>
        <p:spPr>
          <a:xfrm>
            <a:off x="0" y="249757"/>
            <a:ext cx="9144000" cy="650536"/>
          </a:xfrm>
        </p:spPr>
        <p:txBody>
          <a:bodyPr>
            <a:normAutofit/>
          </a:bodyPr>
          <a:lstStyle/>
          <a:p>
            <a:pPr algn="ctr"/>
            <a:r>
              <a:rPr lang="en-US" dirty="0"/>
              <a:t>They’re then fine-tuned to match our preferences</a:t>
            </a:r>
          </a:p>
        </p:txBody>
      </p:sp>
      <p:pic>
        <p:nvPicPr>
          <p:cNvPr id="3" name="Picture 2">
            <a:extLst>
              <a:ext uri="{FF2B5EF4-FFF2-40B4-BE49-F238E27FC236}">
                <a16:creationId xmlns:a16="http://schemas.microsoft.com/office/drawing/2014/main" id="{A9908C31-3066-97F8-2E92-8FEA13E0D7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8701" y="916664"/>
            <a:ext cx="4216649" cy="35935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D0EF25E-860A-299F-423A-A90128FAC65D}"/>
              </a:ext>
            </a:extLst>
          </p:cNvPr>
          <p:cNvSpPr txBox="1"/>
          <p:nvPr/>
        </p:nvSpPr>
        <p:spPr>
          <a:xfrm>
            <a:off x="4298701" y="4526629"/>
            <a:ext cx="4268476" cy="646331"/>
          </a:xfrm>
          <a:prstGeom prst="rect">
            <a:avLst/>
          </a:prstGeom>
          <a:noFill/>
        </p:spPr>
        <p:txBody>
          <a:bodyPr wrap="none" rtlCol="0">
            <a:spAutoFit/>
          </a:bodyPr>
          <a:lstStyle/>
          <a:p>
            <a:r>
              <a:rPr lang="en-US" sz="1200" dirty="0"/>
              <a:t>Illustrating Reinforcement Learning from Human Feedback (RLHF)</a:t>
            </a:r>
          </a:p>
          <a:p>
            <a:r>
              <a:rPr lang="en-US" sz="1200" dirty="0"/>
              <a:t>https://</a:t>
            </a:r>
            <a:r>
              <a:rPr lang="en-US" sz="1200" dirty="0" err="1"/>
              <a:t>huggingface.co</a:t>
            </a:r>
            <a:r>
              <a:rPr lang="en-US" sz="1200" dirty="0"/>
              <a:t>/blog/</a:t>
            </a:r>
            <a:r>
              <a:rPr lang="en-US" sz="1200" dirty="0" err="1"/>
              <a:t>rlhf</a:t>
            </a:r>
            <a:endParaRPr lang="en-US" sz="1200" dirty="0"/>
          </a:p>
          <a:p>
            <a:endParaRPr lang="en-US" sz="1200" dirty="0"/>
          </a:p>
        </p:txBody>
      </p:sp>
      <p:sp>
        <p:nvSpPr>
          <p:cNvPr id="15" name="TextBox 14">
            <a:extLst>
              <a:ext uri="{FF2B5EF4-FFF2-40B4-BE49-F238E27FC236}">
                <a16:creationId xmlns:a16="http://schemas.microsoft.com/office/drawing/2014/main" id="{BB97B5DF-BDCD-96B7-843B-4A8A456F002D}"/>
              </a:ext>
            </a:extLst>
          </p:cNvPr>
          <p:cNvSpPr txBox="1"/>
          <p:nvPr/>
        </p:nvSpPr>
        <p:spPr>
          <a:xfrm>
            <a:off x="628650" y="1173182"/>
            <a:ext cx="2878758" cy="3970318"/>
          </a:xfrm>
          <a:prstGeom prst="rect">
            <a:avLst/>
          </a:prstGeom>
          <a:noFill/>
        </p:spPr>
        <p:txBody>
          <a:bodyPr wrap="square" rtlCol="0">
            <a:spAutoFit/>
          </a:bodyPr>
          <a:lstStyle/>
          <a:p>
            <a:r>
              <a:rPr lang="en-US" b="1" dirty="0"/>
              <a:t>Step 1</a:t>
            </a:r>
            <a:r>
              <a:rPr lang="en-US" dirty="0"/>
              <a:t>: Train an auxiliary preference model (via human feedback) to assign scores to LLM-generated text that are consistent with our preferences</a:t>
            </a:r>
          </a:p>
          <a:p>
            <a:endParaRPr lang="en-US" dirty="0"/>
          </a:p>
          <a:p>
            <a:r>
              <a:rPr lang="en-US" b="1" dirty="0"/>
              <a:t>Step 2</a:t>
            </a:r>
            <a:r>
              <a:rPr lang="en-US" dirty="0"/>
              <a:t>: Fine-tune the initial LLM (via reinforcement learning) to achieve better scores, implying better alignment with our preferences</a:t>
            </a:r>
          </a:p>
          <a:p>
            <a:endParaRPr lang="en-US" dirty="0"/>
          </a:p>
        </p:txBody>
      </p:sp>
    </p:spTree>
    <p:extLst>
      <p:ext uri="{BB962C8B-B14F-4D97-AF65-F5344CB8AC3E}">
        <p14:creationId xmlns:p14="http://schemas.microsoft.com/office/powerpoint/2010/main" val="10497786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569C8-63B8-F7D6-BD0A-D57ECEA19E99}"/>
              </a:ext>
            </a:extLst>
          </p:cNvPr>
          <p:cNvSpPr>
            <a:spLocks noGrp="1"/>
          </p:cNvSpPr>
          <p:nvPr>
            <p:ph type="title"/>
          </p:nvPr>
        </p:nvSpPr>
        <p:spPr/>
        <p:txBody>
          <a:bodyPr/>
          <a:lstStyle/>
          <a:p>
            <a:r>
              <a:rPr lang="en-US" dirty="0"/>
              <a:t>Foundations of NLP</a:t>
            </a:r>
          </a:p>
        </p:txBody>
      </p:sp>
      <p:sp>
        <p:nvSpPr>
          <p:cNvPr id="3" name="Text Placeholder 2">
            <a:extLst>
              <a:ext uri="{FF2B5EF4-FFF2-40B4-BE49-F238E27FC236}">
                <a16:creationId xmlns:a16="http://schemas.microsoft.com/office/drawing/2014/main" id="{662F93A6-7A72-8F1D-3D39-FE4BACD4F5AF}"/>
              </a:ext>
            </a:extLst>
          </p:cNvPr>
          <p:cNvSpPr>
            <a:spLocks noGrp="1"/>
          </p:cNvSpPr>
          <p:nvPr>
            <p:ph type="body" idx="1"/>
          </p:nvPr>
        </p:nvSpPr>
        <p:spPr/>
        <p:txBody>
          <a:bodyPr/>
          <a:lstStyle/>
          <a:p>
            <a:r>
              <a:rPr lang="en-US" dirty="0"/>
              <a:t>A count-based model for maternal health triage</a:t>
            </a:r>
          </a:p>
        </p:txBody>
      </p:sp>
    </p:spTree>
    <p:extLst>
      <p:ext uri="{BB962C8B-B14F-4D97-AF65-F5344CB8AC3E}">
        <p14:creationId xmlns:p14="http://schemas.microsoft.com/office/powerpoint/2010/main" val="1139511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5A9C0F-C73E-5044-BA14-46B00A07B47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04070" y="1089129"/>
            <a:ext cx="4920863" cy="2617899"/>
          </a:xfrm>
          <a:prstGeom prst="rect">
            <a:avLst/>
          </a:prstGeom>
        </p:spPr>
      </p:pic>
      <p:sp>
        <p:nvSpPr>
          <p:cNvPr id="4" name="Title 1">
            <a:extLst>
              <a:ext uri="{FF2B5EF4-FFF2-40B4-BE49-F238E27FC236}">
                <a16:creationId xmlns:a16="http://schemas.microsoft.com/office/drawing/2014/main" id="{8A4FEACA-2FD0-CB41-8405-C78FC168150A}"/>
              </a:ext>
            </a:extLst>
          </p:cNvPr>
          <p:cNvSpPr>
            <a:spLocks noGrp="1"/>
          </p:cNvSpPr>
          <p:nvPr>
            <p:ph type="title"/>
          </p:nvPr>
        </p:nvSpPr>
        <p:spPr>
          <a:xfrm>
            <a:off x="139336" y="104743"/>
            <a:ext cx="9004663" cy="552875"/>
          </a:xfrm>
        </p:spPr>
        <p:txBody>
          <a:bodyPr>
            <a:normAutofit/>
          </a:bodyPr>
          <a:lstStyle/>
          <a:p>
            <a:r>
              <a:rPr lang="en-US" dirty="0"/>
              <a:t>Case Study: SMS Triage for Global Maternal Health</a:t>
            </a:r>
          </a:p>
        </p:txBody>
      </p:sp>
      <p:pic>
        <p:nvPicPr>
          <p:cNvPr id="5" name="Picture 4">
            <a:extLst>
              <a:ext uri="{FF2B5EF4-FFF2-40B4-BE49-F238E27FC236}">
                <a16:creationId xmlns:a16="http://schemas.microsoft.com/office/drawing/2014/main" id="{9AD5F0AE-E388-7445-B1D8-1105038B331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76042" y="1964781"/>
            <a:ext cx="3020255" cy="2011490"/>
          </a:xfrm>
          <a:prstGeom prst="rect">
            <a:avLst/>
          </a:prstGeom>
        </p:spPr>
      </p:pic>
      <p:sp>
        <p:nvSpPr>
          <p:cNvPr id="6" name="Rectangle 5">
            <a:extLst>
              <a:ext uri="{FF2B5EF4-FFF2-40B4-BE49-F238E27FC236}">
                <a16:creationId xmlns:a16="http://schemas.microsoft.com/office/drawing/2014/main" id="{592026FB-1925-2E46-B2A1-98454C1EDDB0}"/>
              </a:ext>
            </a:extLst>
          </p:cNvPr>
          <p:cNvSpPr/>
          <p:nvPr/>
        </p:nvSpPr>
        <p:spPr>
          <a:xfrm>
            <a:off x="428285" y="861076"/>
            <a:ext cx="2715768" cy="923330"/>
          </a:xfrm>
          <a:prstGeom prst="rect">
            <a:avLst/>
          </a:prstGeom>
        </p:spPr>
        <p:txBody>
          <a:bodyPr wrap="square">
            <a:spAutoFit/>
          </a:bodyPr>
          <a:lstStyle/>
          <a:p>
            <a:pPr algn="ctr"/>
            <a:r>
              <a:rPr lang="en-US" sz="1350" b="1" dirty="0">
                <a:solidFill>
                  <a:srgbClr val="212326"/>
                </a:solidFill>
                <a:latin typeface="freight-sans-pro"/>
              </a:rPr>
              <a:t>Maternal Health </a:t>
            </a:r>
            <a:r>
              <a:rPr lang="en-US" sz="1350" b="1" dirty="0" err="1">
                <a:solidFill>
                  <a:srgbClr val="212326"/>
                </a:solidFill>
                <a:latin typeface="freight-sans-pro"/>
              </a:rPr>
              <a:t>HelpDesk</a:t>
            </a:r>
            <a:r>
              <a:rPr lang="en-US" sz="1350" b="1" dirty="0">
                <a:solidFill>
                  <a:srgbClr val="212326"/>
                </a:solidFill>
                <a:latin typeface="freight-sans-pro"/>
              </a:rPr>
              <a:t>:</a:t>
            </a:r>
          </a:p>
          <a:p>
            <a:pPr algn="ctr"/>
            <a:endParaRPr lang="en-US" sz="1350" b="1" dirty="0">
              <a:solidFill>
                <a:srgbClr val="212326"/>
              </a:solidFill>
              <a:latin typeface="freight-sans-pro"/>
            </a:endParaRPr>
          </a:p>
          <a:p>
            <a:pPr algn="ctr"/>
            <a:r>
              <a:rPr lang="en-US" sz="1350" b="1" dirty="0">
                <a:solidFill>
                  <a:srgbClr val="212326"/>
                </a:solidFill>
                <a:latin typeface="freight-sans-pro"/>
              </a:rPr>
              <a:t>2 million women connected to </a:t>
            </a:r>
            <a:r>
              <a:rPr lang="en-US" sz="1350" b="1" dirty="0" err="1">
                <a:solidFill>
                  <a:srgbClr val="212326"/>
                </a:solidFill>
                <a:latin typeface="freight-sans-pro"/>
              </a:rPr>
              <a:t>NDoH</a:t>
            </a:r>
            <a:r>
              <a:rPr lang="en-US" sz="1350" b="1" dirty="0">
                <a:solidFill>
                  <a:srgbClr val="212326"/>
                </a:solidFill>
                <a:latin typeface="freight-sans-pro"/>
              </a:rPr>
              <a:t> staff via SMS</a:t>
            </a:r>
            <a:endParaRPr lang="en-US" sz="1350" dirty="0">
              <a:latin typeface="freight-sans-pro"/>
            </a:endParaRPr>
          </a:p>
        </p:txBody>
      </p:sp>
      <p:sp>
        <p:nvSpPr>
          <p:cNvPr id="7" name="Rectangle 6">
            <a:extLst>
              <a:ext uri="{FF2B5EF4-FFF2-40B4-BE49-F238E27FC236}">
                <a16:creationId xmlns:a16="http://schemas.microsoft.com/office/drawing/2014/main" id="{6D48AE61-F0ED-384B-9E2C-BD7F3C5A231F}"/>
              </a:ext>
            </a:extLst>
          </p:cNvPr>
          <p:cNvSpPr/>
          <p:nvPr/>
        </p:nvSpPr>
        <p:spPr>
          <a:xfrm>
            <a:off x="7299203" y="3707029"/>
            <a:ext cx="1778820" cy="276999"/>
          </a:xfrm>
          <a:prstGeom prst="rect">
            <a:avLst/>
          </a:prstGeom>
        </p:spPr>
        <p:txBody>
          <a:bodyPr wrap="none">
            <a:spAutoFit/>
          </a:bodyPr>
          <a:lstStyle/>
          <a:p>
            <a:r>
              <a:rPr lang="en-US" sz="1200" dirty="0"/>
              <a:t>https://</a:t>
            </a:r>
            <a:r>
              <a:rPr lang="en-US" sz="1200" dirty="0" err="1"/>
              <a:t>www.praekelt.org</a:t>
            </a:r>
            <a:endParaRPr lang="en-US" sz="1200" dirty="0"/>
          </a:p>
        </p:txBody>
      </p:sp>
      <p:sp>
        <p:nvSpPr>
          <p:cNvPr id="8" name="TextBox 7"/>
          <p:cNvSpPr txBox="1"/>
          <p:nvPr/>
        </p:nvSpPr>
        <p:spPr>
          <a:xfrm>
            <a:off x="1523401" y="4184934"/>
            <a:ext cx="6131935" cy="461665"/>
          </a:xfrm>
          <a:prstGeom prst="rect">
            <a:avLst/>
          </a:prstGeom>
          <a:noFill/>
        </p:spPr>
        <p:txBody>
          <a:bodyPr wrap="none" rtlCol="0">
            <a:spAutoFit/>
          </a:bodyPr>
          <a:lstStyle/>
          <a:p>
            <a:r>
              <a:rPr lang="en-US" sz="2400" dirty="0">
                <a:solidFill>
                  <a:srgbClr val="FF0000"/>
                </a:solidFill>
              </a:rPr>
              <a:t>Binary Classification: Urgent Message? (Yes/No)</a:t>
            </a:r>
          </a:p>
        </p:txBody>
      </p:sp>
    </p:spTree>
    <p:extLst>
      <p:ext uri="{BB962C8B-B14F-4D97-AF65-F5344CB8AC3E}">
        <p14:creationId xmlns:p14="http://schemas.microsoft.com/office/powerpoint/2010/main" val="3245586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p:txBody>
          <a:bodyPr>
            <a:normAutofit/>
          </a:bodyPr>
          <a:lstStyle/>
          <a:p>
            <a:r>
              <a:rPr lang="en-US" dirty="0"/>
              <a:t>A Simple Predictive Model: ICU Mortality</a:t>
            </a:r>
          </a:p>
        </p:txBody>
      </p:sp>
      <p:sp>
        <p:nvSpPr>
          <p:cNvPr id="11" name="TextBox 10">
            <a:extLst>
              <a:ext uri="{FF2B5EF4-FFF2-40B4-BE49-F238E27FC236}">
                <a16:creationId xmlns:a16="http://schemas.microsoft.com/office/drawing/2014/main" id="{3522C4F1-C657-EA47-A958-6BC9C8AFC8F6}"/>
              </a:ext>
            </a:extLst>
          </p:cNvPr>
          <p:cNvSpPr txBox="1"/>
          <p:nvPr/>
        </p:nvSpPr>
        <p:spPr>
          <a:xfrm>
            <a:off x="2301571" y="4314966"/>
            <a:ext cx="4587859" cy="396583"/>
          </a:xfrm>
          <a:prstGeom prst="rect">
            <a:avLst/>
          </a:prstGeom>
          <a:noFill/>
        </p:spPr>
        <p:txBody>
          <a:bodyPr wrap="none" rtlCol="0">
            <a:spAutoFit/>
          </a:bodyPr>
          <a:lstStyle/>
          <a:p>
            <a:r>
              <a:rPr lang="en-US" sz="1977" dirty="0"/>
              <a:t>End goal: predict</a:t>
            </a:r>
            <a:r>
              <a:rPr lang="en-US" sz="1977" i="1" dirty="0"/>
              <a:t> </a:t>
            </a:r>
            <a:r>
              <a:rPr lang="en-US" sz="1977" dirty="0">
                <a:latin typeface="Times New Roman" panose="02020603050405020304" pitchFamily="18" charset="0"/>
                <a:cs typeface="Times New Roman" panose="02020603050405020304" pitchFamily="18" charset="0"/>
              </a:rPr>
              <a:t>odds of hospital mortality</a:t>
            </a:r>
            <a:endParaRPr lang="en-US" sz="1977" dirty="0"/>
          </a:p>
        </p:txBody>
      </p:sp>
      <p:graphicFrame>
        <p:nvGraphicFramePr>
          <p:cNvPr id="12" name="Table 11">
            <a:extLst>
              <a:ext uri="{FF2B5EF4-FFF2-40B4-BE49-F238E27FC236}">
                <a16:creationId xmlns:a16="http://schemas.microsoft.com/office/drawing/2014/main" id="{7330BF0F-64E0-9F47-A64C-360C3C7ED0DD}"/>
              </a:ext>
            </a:extLst>
          </p:cNvPr>
          <p:cNvGraphicFramePr>
            <a:graphicFrameLocks noGrp="1"/>
          </p:cNvGraphicFramePr>
          <p:nvPr/>
        </p:nvGraphicFramePr>
        <p:xfrm>
          <a:off x="1323179" y="1833538"/>
          <a:ext cx="4338184"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gridCol w="542273">
                  <a:extLst>
                    <a:ext uri="{9D8B030D-6E8A-4147-A177-3AD203B41FA5}">
                      <a16:colId xmlns:a16="http://schemas.microsoft.com/office/drawing/2014/main" val="440623976"/>
                    </a:ext>
                  </a:extLst>
                </a:gridCol>
                <a:gridCol w="542273">
                  <a:extLst>
                    <a:ext uri="{9D8B030D-6E8A-4147-A177-3AD203B41FA5}">
                      <a16:colId xmlns:a16="http://schemas.microsoft.com/office/drawing/2014/main" val="2300620790"/>
                    </a:ext>
                  </a:extLst>
                </a:gridCol>
                <a:gridCol w="542273">
                  <a:extLst>
                    <a:ext uri="{9D8B030D-6E8A-4147-A177-3AD203B41FA5}">
                      <a16:colId xmlns:a16="http://schemas.microsoft.com/office/drawing/2014/main" val="387841067"/>
                    </a:ext>
                  </a:extLst>
                </a:gridCol>
                <a:gridCol w="542273">
                  <a:extLst>
                    <a:ext uri="{9D8B030D-6E8A-4147-A177-3AD203B41FA5}">
                      <a16:colId xmlns:a16="http://schemas.microsoft.com/office/drawing/2014/main" val="2317106339"/>
                    </a:ext>
                  </a:extLst>
                </a:gridCol>
                <a:gridCol w="542273">
                  <a:extLst>
                    <a:ext uri="{9D8B030D-6E8A-4147-A177-3AD203B41FA5}">
                      <a16:colId xmlns:a16="http://schemas.microsoft.com/office/drawing/2014/main" val="3112262120"/>
                    </a:ext>
                  </a:extLst>
                </a:gridCol>
                <a:gridCol w="542273">
                  <a:extLst>
                    <a:ext uri="{9D8B030D-6E8A-4147-A177-3AD203B41FA5}">
                      <a16:colId xmlns:a16="http://schemas.microsoft.com/office/drawing/2014/main" val="1492693499"/>
                    </a:ext>
                  </a:extLst>
                </a:gridCol>
                <a:gridCol w="542273">
                  <a:extLst>
                    <a:ext uri="{9D8B030D-6E8A-4147-A177-3AD203B41FA5}">
                      <a16:colId xmlns:a16="http://schemas.microsoft.com/office/drawing/2014/main" val="4043894517"/>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13" name="Table 12">
            <a:extLst>
              <a:ext uri="{FF2B5EF4-FFF2-40B4-BE49-F238E27FC236}">
                <a16:creationId xmlns:a16="http://schemas.microsoft.com/office/drawing/2014/main" id="{46A4145C-93C9-8E44-A49F-42688A16B578}"/>
              </a:ext>
            </a:extLst>
          </p:cNvPr>
          <p:cNvGraphicFramePr>
            <a:graphicFrameLocks noGrp="1"/>
          </p:cNvGraphicFramePr>
          <p:nvPr/>
        </p:nvGraphicFramePr>
        <p:xfrm>
          <a:off x="6440410" y="1833537"/>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16" name="TextBox 15">
            <a:extLst>
              <a:ext uri="{FF2B5EF4-FFF2-40B4-BE49-F238E27FC236}">
                <a16:creationId xmlns:a16="http://schemas.microsoft.com/office/drawing/2014/main" id="{45F1BB00-7856-7446-8C5E-2FBA67162D88}"/>
              </a:ext>
            </a:extLst>
          </p:cNvPr>
          <p:cNvSpPr txBox="1"/>
          <p:nvPr/>
        </p:nvSpPr>
        <p:spPr>
          <a:xfrm rot="18054908">
            <a:off x="157747" y="3066435"/>
            <a:ext cx="1880762" cy="396583"/>
          </a:xfrm>
          <a:prstGeom prst="rect">
            <a:avLst/>
          </a:prstGeom>
          <a:noFill/>
        </p:spPr>
        <p:txBody>
          <a:bodyPr wrap="square" rtlCol="0">
            <a:spAutoFit/>
          </a:bodyPr>
          <a:lstStyle/>
          <a:p>
            <a:pPr algn="r"/>
            <a:r>
              <a:rPr lang="en-US" sz="1977" dirty="0"/>
              <a:t>Age</a:t>
            </a:r>
          </a:p>
        </p:txBody>
      </p:sp>
      <p:sp>
        <p:nvSpPr>
          <p:cNvPr id="17" name="TextBox 16">
            <a:extLst>
              <a:ext uri="{FF2B5EF4-FFF2-40B4-BE49-F238E27FC236}">
                <a16:creationId xmlns:a16="http://schemas.microsoft.com/office/drawing/2014/main" id="{98BFDD58-EB3C-C34E-BB34-451CCAD8F698}"/>
              </a:ext>
            </a:extLst>
          </p:cNvPr>
          <p:cNvSpPr txBox="1"/>
          <p:nvPr/>
        </p:nvSpPr>
        <p:spPr>
          <a:xfrm rot="18054908">
            <a:off x="700180" y="3066435"/>
            <a:ext cx="1880762" cy="396583"/>
          </a:xfrm>
          <a:prstGeom prst="rect">
            <a:avLst/>
          </a:prstGeom>
          <a:noFill/>
        </p:spPr>
        <p:txBody>
          <a:bodyPr wrap="square" rtlCol="0">
            <a:spAutoFit/>
          </a:bodyPr>
          <a:lstStyle/>
          <a:p>
            <a:pPr algn="r"/>
            <a:r>
              <a:rPr lang="en-US" sz="1977" dirty="0"/>
              <a:t>Pulse Rate</a:t>
            </a:r>
          </a:p>
        </p:txBody>
      </p:sp>
      <p:sp>
        <p:nvSpPr>
          <p:cNvPr id="18" name="TextBox 17">
            <a:extLst>
              <a:ext uri="{FF2B5EF4-FFF2-40B4-BE49-F238E27FC236}">
                <a16:creationId xmlns:a16="http://schemas.microsoft.com/office/drawing/2014/main" id="{13818781-A770-454B-80A9-94744A7FF37F}"/>
              </a:ext>
            </a:extLst>
          </p:cNvPr>
          <p:cNvSpPr txBox="1"/>
          <p:nvPr/>
        </p:nvSpPr>
        <p:spPr>
          <a:xfrm rot="18054908">
            <a:off x="1242613" y="3064566"/>
            <a:ext cx="1880762" cy="396583"/>
          </a:xfrm>
          <a:prstGeom prst="rect">
            <a:avLst/>
          </a:prstGeom>
          <a:noFill/>
        </p:spPr>
        <p:txBody>
          <a:bodyPr wrap="square" rtlCol="0">
            <a:spAutoFit/>
          </a:bodyPr>
          <a:lstStyle/>
          <a:p>
            <a:pPr algn="r"/>
            <a:r>
              <a:rPr lang="en-US" sz="1977" dirty="0"/>
              <a:t>Mean BP</a:t>
            </a:r>
          </a:p>
        </p:txBody>
      </p:sp>
      <p:sp>
        <p:nvSpPr>
          <p:cNvPr id="19" name="TextBox 18">
            <a:extLst>
              <a:ext uri="{FF2B5EF4-FFF2-40B4-BE49-F238E27FC236}">
                <a16:creationId xmlns:a16="http://schemas.microsoft.com/office/drawing/2014/main" id="{171F8335-ECB2-7A4D-82D0-3DCE61D73934}"/>
              </a:ext>
            </a:extLst>
          </p:cNvPr>
          <p:cNvSpPr txBox="1"/>
          <p:nvPr/>
        </p:nvSpPr>
        <p:spPr>
          <a:xfrm rot="18054908">
            <a:off x="1785046" y="3064566"/>
            <a:ext cx="1880762" cy="396583"/>
          </a:xfrm>
          <a:prstGeom prst="rect">
            <a:avLst/>
          </a:prstGeom>
          <a:noFill/>
        </p:spPr>
        <p:txBody>
          <a:bodyPr wrap="square" rtlCol="0">
            <a:spAutoFit/>
          </a:bodyPr>
          <a:lstStyle/>
          <a:p>
            <a:pPr algn="r"/>
            <a:r>
              <a:rPr lang="en-US" sz="1977" dirty="0"/>
              <a:t>Temperature</a:t>
            </a:r>
          </a:p>
        </p:txBody>
      </p:sp>
      <p:sp>
        <p:nvSpPr>
          <p:cNvPr id="20" name="TextBox 19">
            <a:extLst>
              <a:ext uri="{FF2B5EF4-FFF2-40B4-BE49-F238E27FC236}">
                <a16:creationId xmlns:a16="http://schemas.microsoft.com/office/drawing/2014/main" id="{39A63E6B-5114-B340-BC65-DBD86141279A}"/>
              </a:ext>
            </a:extLst>
          </p:cNvPr>
          <p:cNvSpPr txBox="1"/>
          <p:nvPr/>
        </p:nvSpPr>
        <p:spPr>
          <a:xfrm rot="18054908">
            <a:off x="2327479" y="3064564"/>
            <a:ext cx="1880762" cy="396583"/>
          </a:xfrm>
          <a:prstGeom prst="rect">
            <a:avLst/>
          </a:prstGeom>
          <a:noFill/>
        </p:spPr>
        <p:txBody>
          <a:bodyPr wrap="square" rtlCol="0">
            <a:spAutoFit/>
          </a:bodyPr>
          <a:lstStyle/>
          <a:p>
            <a:pPr algn="r"/>
            <a:r>
              <a:rPr lang="en-US" sz="1977" dirty="0"/>
              <a:t>Respiratory Rate</a:t>
            </a:r>
          </a:p>
        </p:txBody>
      </p:sp>
      <p:sp>
        <p:nvSpPr>
          <p:cNvPr id="21" name="TextBox 20">
            <a:extLst>
              <a:ext uri="{FF2B5EF4-FFF2-40B4-BE49-F238E27FC236}">
                <a16:creationId xmlns:a16="http://schemas.microsoft.com/office/drawing/2014/main" id="{403C6FED-0EF4-B34D-9DD5-ED78AC7B4C80}"/>
              </a:ext>
            </a:extLst>
          </p:cNvPr>
          <p:cNvSpPr txBox="1"/>
          <p:nvPr/>
        </p:nvSpPr>
        <p:spPr>
          <a:xfrm rot="18054908">
            <a:off x="2869912" y="3064564"/>
            <a:ext cx="1880762" cy="396583"/>
          </a:xfrm>
          <a:prstGeom prst="rect">
            <a:avLst/>
          </a:prstGeom>
          <a:noFill/>
        </p:spPr>
        <p:txBody>
          <a:bodyPr wrap="square" rtlCol="0">
            <a:spAutoFit/>
          </a:bodyPr>
          <a:lstStyle/>
          <a:p>
            <a:pPr algn="r"/>
            <a:r>
              <a:rPr lang="en-US" sz="1977" dirty="0"/>
              <a:t>Hematocrit</a:t>
            </a:r>
          </a:p>
        </p:txBody>
      </p:sp>
      <p:sp>
        <p:nvSpPr>
          <p:cNvPr id="22" name="TextBox 21">
            <a:extLst>
              <a:ext uri="{FF2B5EF4-FFF2-40B4-BE49-F238E27FC236}">
                <a16:creationId xmlns:a16="http://schemas.microsoft.com/office/drawing/2014/main" id="{B763DE9A-E18E-2C45-B7B8-FB7AB28B149B}"/>
              </a:ext>
            </a:extLst>
          </p:cNvPr>
          <p:cNvSpPr txBox="1"/>
          <p:nvPr/>
        </p:nvSpPr>
        <p:spPr>
          <a:xfrm rot="18054908">
            <a:off x="3412345" y="3062694"/>
            <a:ext cx="1880762" cy="396583"/>
          </a:xfrm>
          <a:prstGeom prst="rect">
            <a:avLst/>
          </a:prstGeom>
          <a:noFill/>
        </p:spPr>
        <p:txBody>
          <a:bodyPr wrap="square" rtlCol="0">
            <a:spAutoFit/>
          </a:bodyPr>
          <a:lstStyle/>
          <a:p>
            <a:pPr algn="r"/>
            <a:r>
              <a:rPr lang="en-US" sz="1977" dirty="0"/>
              <a:t>WBC Count</a:t>
            </a:r>
          </a:p>
        </p:txBody>
      </p:sp>
      <p:sp>
        <p:nvSpPr>
          <p:cNvPr id="23" name="TextBox 22">
            <a:extLst>
              <a:ext uri="{FF2B5EF4-FFF2-40B4-BE49-F238E27FC236}">
                <a16:creationId xmlns:a16="http://schemas.microsoft.com/office/drawing/2014/main" id="{A174C37D-8A18-434E-873B-38FBA9E7BABB}"/>
              </a:ext>
            </a:extLst>
          </p:cNvPr>
          <p:cNvSpPr txBox="1"/>
          <p:nvPr/>
        </p:nvSpPr>
        <p:spPr>
          <a:xfrm rot="18054908">
            <a:off x="3954780" y="3064563"/>
            <a:ext cx="1880762" cy="396583"/>
          </a:xfrm>
          <a:prstGeom prst="rect">
            <a:avLst/>
          </a:prstGeom>
          <a:noFill/>
        </p:spPr>
        <p:txBody>
          <a:bodyPr wrap="square" rtlCol="0">
            <a:spAutoFit/>
          </a:bodyPr>
          <a:lstStyle/>
          <a:p>
            <a:pPr algn="r"/>
            <a:r>
              <a:rPr lang="en-US" sz="1977" dirty="0"/>
              <a:t>Creatinine</a:t>
            </a:r>
          </a:p>
        </p:txBody>
      </p:sp>
      <p:sp>
        <p:nvSpPr>
          <p:cNvPr id="25" name="TextBox 24">
            <a:extLst>
              <a:ext uri="{FF2B5EF4-FFF2-40B4-BE49-F238E27FC236}">
                <a16:creationId xmlns:a16="http://schemas.microsoft.com/office/drawing/2014/main" id="{B25DDCFB-B31B-9441-A0A6-0ACFDC31396E}"/>
              </a:ext>
            </a:extLst>
          </p:cNvPr>
          <p:cNvSpPr txBox="1"/>
          <p:nvPr/>
        </p:nvSpPr>
        <p:spPr>
          <a:xfrm rot="18054908">
            <a:off x="5273812" y="3067646"/>
            <a:ext cx="1880762" cy="396583"/>
          </a:xfrm>
          <a:prstGeom prst="rect">
            <a:avLst/>
          </a:prstGeom>
          <a:noFill/>
        </p:spPr>
        <p:txBody>
          <a:bodyPr wrap="square" rtlCol="0">
            <a:spAutoFit/>
          </a:bodyPr>
          <a:lstStyle/>
          <a:p>
            <a:pPr algn="r"/>
            <a:r>
              <a:rPr lang="en-US" sz="1977" dirty="0"/>
              <a:t>Survival</a:t>
            </a:r>
          </a:p>
        </p:txBody>
      </p:sp>
      <p:sp>
        <p:nvSpPr>
          <p:cNvPr id="15" name="Right Brace 14"/>
          <p:cNvSpPr/>
          <p:nvPr/>
        </p:nvSpPr>
        <p:spPr>
          <a:xfrm rot="16200000">
            <a:off x="3337099" y="-613518"/>
            <a:ext cx="310346" cy="4338186"/>
          </a:xfrm>
          <a:prstGeom prst="rightBrace">
            <a:avLst>
              <a:gd name="adj1" fmla="val 37820"/>
              <a:gd name="adj2" fmla="val 50000"/>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350"/>
          </a:p>
        </p:txBody>
      </p:sp>
      <p:sp>
        <p:nvSpPr>
          <p:cNvPr id="3" name="TextBox 2"/>
          <p:cNvSpPr txBox="1"/>
          <p:nvPr/>
        </p:nvSpPr>
        <p:spPr>
          <a:xfrm>
            <a:off x="3262520" y="992758"/>
            <a:ext cx="506870" cy="369332"/>
          </a:xfrm>
          <a:prstGeom prst="rect">
            <a:avLst/>
          </a:prstGeom>
          <a:noFill/>
        </p:spPr>
        <p:txBody>
          <a:bodyPr wrap="none" rtlCol="0">
            <a:spAutoFit/>
          </a:bodyPr>
          <a:lstStyle/>
          <a:p>
            <a:r>
              <a:rPr lang="en-US" dirty="0">
                <a:solidFill>
                  <a:schemeClr val="accent2"/>
                </a:solidFill>
              </a:rPr>
              <a:t>???</a:t>
            </a:r>
          </a:p>
        </p:txBody>
      </p:sp>
    </p:spTree>
    <p:extLst>
      <p:ext uri="{BB962C8B-B14F-4D97-AF65-F5344CB8AC3E}">
        <p14:creationId xmlns:p14="http://schemas.microsoft.com/office/powerpoint/2010/main" val="40373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CC32AC06-632F-43A5-BCC3-B6853BF55ED1}"/>
              </a:ext>
            </a:extLst>
          </p:cNvPr>
          <p:cNvSpPr txBox="1"/>
          <p:nvPr/>
        </p:nvSpPr>
        <p:spPr>
          <a:xfrm>
            <a:off x="1014609" y="1293060"/>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
        <p:nvSpPr>
          <p:cNvPr id="29" name="Title 28"/>
          <p:cNvSpPr>
            <a:spLocks noGrp="1"/>
          </p:cNvSpPr>
          <p:nvPr>
            <p:ph type="title"/>
          </p:nvPr>
        </p:nvSpPr>
        <p:spPr/>
        <p:txBody>
          <a:bodyPr>
            <a:normAutofit/>
          </a:bodyPr>
          <a:lstStyle/>
          <a:p>
            <a:r>
              <a:rPr lang="en-US" dirty="0"/>
              <a:t>Training Set (Historical Data)</a:t>
            </a:r>
          </a:p>
        </p:txBody>
      </p:sp>
      <p:pic>
        <p:nvPicPr>
          <p:cNvPr id="4" name="Picture 3">
            <a:extLst>
              <a:ext uri="{FF2B5EF4-FFF2-40B4-BE49-F238E27FC236}">
                <a16:creationId xmlns:a16="http://schemas.microsoft.com/office/drawing/2014/main" id="{DF949832-3210-E048-BCD9-B031071D27F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1355083"/>
            <a:ext cx="3241044" cy="330056"/>
          </a:xfrm>
          <a:prstGeom prst="rect">
            <a:avLst/>
          </a:prstGeom>
        </p:spPr>
      </p:pic>
      <p:pic>
        <p:nvPicPr>
          <p:cNvPr id="14" name="Picture 13">
            <a:extLst>
              <a:ext uri="{FF2B5EF4-FFF2-40B4-BE49-F238E27FC236}">
                <a16:creationId xmlns:a16="http://schemas.microsoft.com/office/drawing/2014/main" id="{D986E90C-0D83-5245-A5C5-1EA0D395D4C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3786386"/>
            <a:ext cx="3241044" cy="330056"/>
          </a:xfrm>
          <a:prstGeom prst="rect">
            <a:avLst/>
          </a:prstGeom>
        </p:spPr>
      </p:pic>
      <p:pic>
        <p:nvPicPr>
          <p:cNvPr id="15" name="Picture 14">
            <a:extLst>
              <a:ext uri="{FF2B5EF4-FFF2-40B4-BE49-F238E27FC236}">
                <a16:creationId xmlns:a16="http://schemas.microsoft.com/office/drawing/2014/main" id="{BA481802-9EF2-7E4E-95BD-7B89706DF55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3360250"/>
            <a:ext cx="3241044" cy="330056"/>
          </a:xfrm>
          <a:prstGeom prst="rect">
            <a:avLst/>
          </a:prstGeom>
        </p:spPr>
      </p:pic>
      <p:pic>
        <p:nvPicPr>
          <p:cNvPr id="16" name="Picture 15">
            <a:extLst>
              <a:ext uri="{FF2B5EF4-FFF2-40B4-BE49-F238E27FC236}">
                <a16:creationId xmlns:a16="http://schemas.microsoft.com/office/drawing/2014/main" id="{860D1EF4-59BA-2744-BF60-28D5DCCC75D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1781219"/>
            <a:ext cx="3241044" cy="330056"/>
          </a:xfrm>
          <a:prstGeom prst="rect">
            <a:avLst/>
          </a:prstGeom>
        </p:spPr>
      </p:pic>
      <p:pic>
        <p:nvPicPr>
          <p:cNvPr id="17" name="Picture 16">
            <a:extLst>
              <a:ext uri="{FF2B5EF4-FFF2-40B4-BE49-F238E27FC236}">
                <a16:creationId xmlns:a16="http://schemas.microsoft.com/office/drawing/2014/main" id="{E8B2ECE0-2C3F-F142-A668-C41BC037476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2207355"/>
            <a:ext cx="3241044" cy="330056"/>
          </a:xfrm>
          <a:prstGeom prst="rect">
            <a:avLst/>
          </a:prstGeom>
        </p:spPr>
      </p:pic>
      <p:pic>
        <p:nvPicPr>
          <p:cNvPr id="18" name="Picture 17">
            <a:extLst>
              <a:ext uri="{FF2B5EF4-FFF2-40B4-BE49-F238E27FC236}">
                <a16:creationId xmlns:a16="http://schemas.microsoft.com/office/drawing/2014/main" id="{2A742A57-DBB1-0049-BF70-A5B51379DA5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1504722" y="2633491"/>
            <a:ext cx="3241044" cy="330056"/>
          </a:xfrm>
          <a:prstGeom prst="rect">
            <a:avLst/>
          </a:prstGeom>
        </p:spPr>
      </p:pic>
      <p:sp>
        <p:nvSpPr>
          <p:cNvPr id="19" name="TextBox 18">
            <a:extLst>
              <a:ext uri="{FF2B5EF4-FFF2-40B4-BE49-F238E27FC236}">
                <a16:creationId xmlns:a16="http://schemas.microsoft.com/office/drawing/2014/main" id="{6E6BEB0E-7CAC-2C4B-BE3C-0FC7BB528639}"/>
              </a:ext>
            </a:extLst>
          </p:cNvPr>
          <p:cNvSpPr txBox="1"/>
          <p:nvPr/>
        </p:nvSpPr>
        <p:spPr>
          <a:xfrm>
            <a:off x="1014609" y="3298227"/>
            <a:ext cx="821448"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65AF3C1-3019-CB4E-975D-7C1DBF49BC61}"/>
              </a:ext>
            </a:extLst>
          </p:cNvPr>
          <p:cNvSpPr txBox="1"/>
          <p:nvPr/>
        </p:nvSpPr>
        <p:spPr>
          <a:xfrm>
            <a:off x="1014609" y="1719196"/>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6D1204DE-DCAD-3D42-A018-EE1A7FB7B342}"/>
              </a:ext>
            </a:extLst>
          </p:cNvPr>
          <p:cNvSpPr txBox="1"/>
          <p:nvPr/>
        </p:nvSpPr>
        <p:spPr>
          <a:xfrm>
            <a:off x="1014609" y="3724363"/>
            <a:ext cx="886762"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x</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49241119-D9B5-5540-A9B7-A9E03ABEF578}"/>
              </a:ext>
            </a:extLst>
          </p:cNvPr>
          <p:cNvSpPr txBox="1"/>
          <p:nvPr/>
        </p:nvSpPr>
        <p:spPr>
          <a:xfrm>
            <a:off x="1014609" y="2571467"/>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C904E9F7-89B4-5949-8C3E-677A00A15AE0}"/>
              </a:ext>
            </a:extLst>
          </p:cNvPr>
          <p:cNvSpPr txBox="1"/>
          <p:nvPr/>
        </p:nvSpPr>
        <p:spPr>
          <a:xfrm>
            <a:off x="1014609" y="2145331"/>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EC37B96-BC81-804B-8D34-24D748686457}"/>
              </a:ext>
            </a:extLst>
          </p:cNvPr>
          <p:cNvSpPr txBox="1"/>
          <p:nvPr/>
        </p:nvSpPr>
        <p:spPr>
          <a:xfrm>
            <a:off x="4839712" y="3724363"/>
            <a:ext cx="697488"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y</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BD292AD3-4E90-F447-AE1D-6BE89D6DD9D4}"/>
              </a:ext>
            </a:extLst>
          </p:cNvPr>
          <p:cNvSpPr txBox="1"/>
          <p:nvPr/>
        </p:nvSpPr>
        <p:spPr>
          <a:xfrm>
            <a:off x="4839711" y="3298227"/>
            <a:ext cx="599717"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7E0F8B-C015-E04D-89EB-FCAB517F7AD5}"/>
              </a:ext>
            </a:extLst>
          </p:cNvPr>
          <p:cNvSpPr txBox="1"/>
          <p:nvPr/>
        </p:nvSpPr>
        <p:spPr>
          <a:xfrm>
            <a:off x="4839712" y="2571467"/>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F1CEB7A-B8A9-584C-8BB0-06ED6BF0C714}"/>
              </a:ext>
            </a:extLst>
          </p:cNvPr>
          <p:cNvSpPr txBox="1"/>
          <p:nvPr/>
        </p:nvSpPr>
        <p:spPr>
          <a:xfrm>
            <a:off x="4839712" y="2145331"/>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2BF836B4-2919-894E-9669-5B41DAA4075D}"/>
              </a:ext>
            </a:extLst>
          </p:cNvPr>
          <p:cNvSpPr txBox="1"/>
          <p:nvPr/>
        </p:nvSpPr>
        <p:spPr>
          <a:xfrm>
            <a:off x="4839712" y="1719196"/>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BD5008AA-189E-3942-9502-A1FB6B6DA029}"/>
              </a:ext>
            </a:extLst>
          </p:cNvPr>
          <p:cNvSpPr txBox="1"/>
          <p:nvPr/>
        </p:nvSpPr>
        <p:spPr>
          <a:xfrm>
            <a:off x="4839712" y="1293060"/>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F7B0C2-A517-BB4D-BA95-F5FD1409712E}"/>
              </a:ext>
            </a:extLst>
          </p:cNvPr>
          <p:cNvSpPr txBox="1"/>
          <p:nvPr/>
        </p:nvSpPr>
        <p:spPr>
          <a:xfrm rot="5400000">
            <a:off x="2629397" y="2907983"/>
            <a:ext cx="423514" cy="507831"/>
          </a:xfrm>
          <a:prstGeom prst="rect">
            <a:avLst/>
          </a:prstGeom>
          <a:noFill/>
        </p:spPr>
        <p:txBody>
          <a:bodyPr wrap="none" rtlCol="0">
            <a:spAutoFit/>
          </a:bodyPr>
          <a:lstStyle/>
          <a:p>
            <a:r>
              <a:rPr lang="en-US" sz="2700" dirty="0"/>
              <a:t>…</a:t>
            </a:r>
          </a:p>
        </p:txBody>
      </p:sp>
      <p:sp>
        <p:nvSpPr>
          <p:cNvPr id="32" name="TextBox 31">
            <a:extLst>
              <a:ext uri="{FF2B5EF4-FFF2-40B4-BE49-F238E27FC236}">
                <a16:creationId xmlns:a16="http://schemas.microsoft.com/office/drawing/2014/main" id="{61EB7271-5058-8544-9697-2A0D44FF5656}"/>
              </a:ext>
            </a:extLst>
          </p:cNvPr>
          <p:cNvSpPr txBox="1"/>
          <p:nvPr/>
        </p:nvSpPr>
        <p:spPr>
          <a:xfrm rot="5400000">
            <a:off x="4456335" y="2914634"/>
            <a:ext cx="423514" cy="507831"/>
          </a:xfrm>
          <a:prstGeom prst="rect">
            <a:avLst/>
          </a:prstGeom>
          <a:noFill/>
        </p:spPr>
        <p:txBody>
          <a:bodyPr wrap="none" rtlCol="0">
            <a:spAutoFit/>
          </a:bodyPr>
          <a:lstStyle/>
          <a:p>
            <a:r>
              <a:rPr lang="en-US" sz="2700" dirty="0"/>
              <a:t>…</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3DDA1BC-33A6-0D48-846F-FEBC897DFCB8}"/>
                  </a:ext>
                </a:extLst>
              </p:cNvPr>
              <p:cNvSpPr txBox="1"/>
              <p:nvPr/>
            </p:nvSpPr>
            <p:spPr>
              <a:xfrm>
                <a:off x="5953300" y="1520111"/>
                <a:ext cx="2733500" cy="1005083"/>
              </a:xfrm>
              <a:prstGeom prst="rect">
                <a:avLst/>
              </a:prstGeom>
              <a:noFill/>
            </p:spPr>
            <p:txBody>
              <a:bodyPr wrap="square" rtlCol="0">
                <a:spAutoFit/>
              </a:bodyPr>
              <a:lstStyle/>
              <a:p>
                <a:r>
                  <a:rPr lang="en-US" sz="1977" dirty="0"/>
                  <a:t>Find an equation that predicts </a:t>
                </a:r>
                <a14:m>
                  <m:oMath xmlns:m="http://schemas.openxmlformats.org/officeDocument/2006/math">
                    <m:r>
                      <a:rPr lang="en-US" sz="1977" i="1" dirty="0">
                        <a:latin typeface="Cambria Math" panose="02040503050406030204" pitchFamily="18" charset="0"/>
                      </a:rPr>
                      <m:t>𝑦</m:t>
                    </m:r>
                  </m:oMath>
                </a14:m>
                <a:r>
                  <a:rPr lang="en-US" sz="1977" dirty="0"/>
                  <a:t> based on </a:t>
                </a:r>
                <a14:m>
                  <m:oMath xmlns:m="http://schemas.openxmlformats.org/officeDocument/2006/math">
                    <m:r>
                      <a:rPr lang="en-US" sz="1977" i="1" dirty="0">
                        <a:latin typeface="Cambria Math" panose="02040503050406030204" pitchFamily="18" charset="0"/>
                      </a:rPr>
                      <m:t>𝑥</m:t>
                    </m:r>
                  </m:oMath>
                </a14:m>
                <a:r>
                  <a:rPr lang="en-US" sz="1977" dirty="0"/>
                  <a:t> across the training set</a:t>
                </a:r>
              </a:p>
            </p:txBody>
          </p:sp>
        </mc:Choice>
        <mc:Fallback xmlns="">
          <p:sp>
            <p:nvSpPr>
              <p:cNvPr id="36" name="TextBox 35">
                <a:extLst>
                  <a:ext uri="{FF2B5EF4-FFF2-40B4-BE49-F238E27FC236}">
                    <a16:creationId xmlns:a16="http://schemas.microsoft.com/office/drawing/2014/main" id="{F3DDA1BC-33A6-0D48-846F-FEBC897DFCB8}"/>
                  </a:ext>
                </a:extLst>
              </p:cNvPr>
              <p:cNvSpPr txBox="1">
                <a:spLocks noRot="1" noChangeAspect="1" noMove="1" noResize="1" noEditPoints="1" noAdjustHandles="1" noChangeArrowheads="1" noChangeShapeType="1" noTextEdit="1"/>
              </p:cNvSpPr>
              <p:nvPr/>
            </p:nvSpPr>
            <p:spPr>
              <a:xfrm>
                <a:off x="5953300" y="1520111"/>
                <a:ext cx="2733500" cy="1005083"/>
              </a:xfrm>
              <a:prstGeom prst="rect">
                <a:avLst/>
              </a:prstGeom>
              <a:blipFill>
                <a:blip r:embed="rId4"/>
                <a:stretch>
                  <a:fillRect l="-2315" t="-2500" b="-10000"/>
                </a:stretch>
              </a:blipFill>
            </p:spPr>
            <p:txBody>
              <a:bodyPr/>
              <a:lstStyle/>
              <a:p>
                <a:r>
                  <a:rPr lang="en-US">
                    <a:noFill/>
                  </a:rPr>
                  <a:t> </a:t>
                </a:r>
              </a:p>
            </p:txBody>
          </p:sp>
        </mc:Fallback>
      </mc:AlternateContent>
    </p:spTree>
    <p:extLst>
      <p:ext uri="{BB962C8B-B14F-4D97-AF65-F5344CB8AC3E}">
        <p14:creationId xmlns:p14="http://schemas.microsoft.com/office/powerpoint/2010/main" val="256400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CC32AC06-632F-43A5-BCC3-B6853BF55ED1}"/>
              </a:ext>
            </a:extLst>
          </p:cNvPr>
          <p:cNvSpPr txBox="1"/>
          <p:nvPr/>
        </p:nvSpPr>
        <p:spPr>
          <a:xfrm>
            <a:off x="1014609" y="106759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89DB9E1-43B6-E249-9D75-E82D12E3759D}"/>
                  </a:ext>
                </a:extLst>
              </p:cNvPr>
              <p:cNvSpPr txBox="1"/>
              <p:nvPr/>
            </p:nvSpPr>
            <p:spPr>
              <a:xfrm>
                <a:off x="5953300" y="1520111"/>
                <a:ext cx="2801594" cy="3134833"/>
              </a:xfrm>
              <a:prstGeom prst="rect">
                <a:avLst/>
              </a:prstGeom>
              <a:noFill/>
            </p:spPr>
            <p:txBody>
              <a:bodyPr wrap="square" rtlCol="0">
                <a:spAutoFit/>
              </a:bodyPr>
              <a:lstStyle/>
              <a:p>
                <a:r>
                  <a:rPr lang="en-US" sz="1977" dirty="0"/>
                  <a:t>Find an equation that predicts </a:t>
                </a:r>
                <a14:m>
                  <m:oMath xmlns:m="http://schemas.openxmlformats.org/officeDocument/2006/math">
                    <m:r>
                      <a:rPr lang="en-US" sz="1977" i="1" dirty="0">
                        <a:latin typeface="Cambria Math" panose="02040503050406030204" pitchFamily="18" charset="0"/>
                      </a:rPr>
                      <m:t>𝑦</m:t>
                    </m:r>
                  </m:oMath>
                </a14:m>
                <a:r>
                  <a:rPr lang="en-US" sz="1977" dirty="0"/>
                  <a:t> based on </a:t>
                </a:r>
                <a14:m>
                  <m:oMath xmlns:m="http://schemas.openxmlformats.org/officeDocument/2006/math">
                    <m:r>
                      <a:rPr lang="en-US" sz="1977" i="1" dirty="0">
                        <a:latin typeface="Cambria Math" panose="02040503050406030204" pitchFamily="18" charset="0"/>
                      </a:rPr>
                      <m:t>𝑥</m:t>
                    </m:r>
                  </m:oMath>
                </a14:m>
                <a:r>
                  <a:rPr lang="en-US" sz="1977" dirty="0"/>
                  <a:t> across the training set</a:t>
                </a:r>
              </a:p>
              <a:p>
                <a:endParaRPr lang="en-US" sz="1977" dirty="0"/>
              </a:p>
              <a:p>
                <a:endParaRPr lang="en-US" sz="1977" dirty="0"/>
              </a:p>
              <a:p>
                <a:endParaRPr lang="en-US" sz="1977" dirty="0"/>
              </a:p>
              <a:p>
                <a:endParaRPr lang="en-US" sz="1977" dirty="0"/>
              </a:p>
              <a:p>
                <a:endParaRPr lang="en-US" sz="1977" dirty="0"/>
              </a:p>
              <a:p>
                <a:endParaRPr lang="en-US" sz="1977" dirty="0"/>
              </a:p>
              <a:p>
                <a:r>
                  <a:rPr lang="en-US" sz="1977" dirty="0"/>
                  <a:t>&lt;- Learn to predict new </a:t>
                </a:r>
                <a14:m>
                  <m:oMath xmlns:m="http://schemas.openxmlformats.org/officeDocument/2006/math">
                    <m:r>
                      <a:rPr lang="en-US" sz="1977" i="1" dirty="0">
                        <a:latin typeface="Cambria Math" panose="02040503050406030204" pitchFamily="18" charset="0"/>
                      </a:rPr>
                      <m:t>𝑦</m:t>
                    </m:r>
                  </m:oMath>
                </a14:m>
                <a:endParaRPr lang="en-US" sz="1977" dirty="0"/>
              </a:p>
            </p:txBody>
          </p:sp>
        </mc:Choice>
        <mc:Fallback xmlns="">
          <p:sp>
            <p:nvSpPr>
              <p:cNvPr id="2" name="TextBox 1">
                <a:extLst>
                  <a:ext uri="{FF2B5EF4-FFF2-40B4-BE49-F238E27FC236}">
                    <a16:creationId xmlns:a16="http://schemas.microsoft.com/office/drawing/2014/main" id="{A89DB9E1-43B6-E249-9D75-E82D12E3759D}"/>
                  </a:ext>
                </a:extLst>
              </p:cNvPr>
              <p:cNvSpPr txBox="1">
                <a:spLocks noRot="1" noChangeAspect="1" noMove="1" noResize="1" noEditPoints="1" noAdjustHandles="1" noChangeArrowheads="1" noChangeShapeType="1" noTextEdit="1"/>
              </p:cNvSpPr>
              <p:nvPr/>
            </p:nvSpPr>
            <p:spPr>
              <a:xfrm>
                <a:off x="5953300" y="1520111"/>
                <a:ext cx="2801594" cy="3134833"/>
              </a:xfrm>
              <a:prstGeom prst="rect">
                <a:avLst/>
              </a:prstGeom>
              <a:blipFill>
                <a:blip r:embed="rId3"/>
                <a:stretch>
                  <a:fillRect l="-2252" t="-806" b="-241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F949832-3210-E048-BCD9-B031071D27F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1129615"/>
            <a:ext cx="3241044" cy="330056"/>
          </a:xfrm>
          <a:prstGeom prst="rect">
            <a:avLst/>
          </a:prstGeom>
        </p:spPr>
      </p:pic>
      <p:pic>
        <p:nvPicPr>
          <p:cNvPr id="14" name="Picture 13">
            <a:extLst>
              <a:ext uri="{FF2B5EF4-FFF2-40B4-BE49-F238E27FC236}">
                <a16:creationId xmlns:a16="http://schemas.microsoft.com/office/drawing/2014/main" id="{D986E90C-0D83-5245-A5C5-1EA0D395D4C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3560918"/>
            <a:ext cx="3241044" cy="330056"/>
          </a:xfrm>
          <a:prstGeom prst="rect">
            <a:avLst/>
          </a:prstGeom>
        </p:spPr>
      </p:pic>
      <p:pic>
        <p:nvPicPr>
          <p:cNvPr id="15" name="Picture 14">
            <a:extLst>
              <a:ext uri="{FF2B5EF4-FFF2-40B4-BE49-F238E27FC236}">
                <a16:creationId xmlns:a16="http://schemas.microsoft.com/office/drawing/2014/main" id="{BA481802-9EF2-7E4E-95BD-7B89706DF55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3134782"/>
            <a:ext cx="3241044" cy="330056"/>
          </a:xfrm>
          <a:prstGeom prst="rect">
            <a:avLst/>
          </a:prstGeom>
        </p:spPr>
      </p:pic>
      <p:pic>
        <p:nvPicPr>
          <p:cNvPr id="16" name="Picture 15">
            <a:extLst>
              <a:ext uri="{FF2B5EF4-FFF2-40B4-BE49-F238E27FC236}">
                <a16:creationId xmlns:a16="http://schemas.microsoft.com/office/drawing/2014/main" id="{860D1EF4-59BA-2744-BF60-28D5DCCC75D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1555751"/>
            <a:ext cx="3241044" cy="330056"/>
          </a:xfrm>
          <a:prstGeom prst="rect">
            <a:avLst/>
          </a:prstGeom>
        </p:spPr>
      </p:pic>
      <p:pic>
        <p:nvPicPr>
          <p:cNvPr id="17" name="Picture 16">
            <a:extLst>
              <a:ext uri="{FF2B5EF4-FFF2-40B4-BE49-F238E27FC236}">
                <a16:creationId xmlns:a16="http://schemas.microsoft.com/office/drawing/2014/main" id="{E8B2ECE0-2C3F-F142-A668-C41BC037476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1981887"/>
            <a:ext cx="3241044" cy="330056"/>
          </a:xfrm>
          <a:prstGeom prst="rect">
            <a:avLst/>
          </a:prstGeom>
        </p:spPr>
      </p:pic>
      <p:pic>
        <p:nvPicPr>
          <p:cNvPr id="18" name="Picture 17">
            <a:extLst>
              <a:ext uri="{FF2B5EF4-FFF2-40B4-BE49-F238E27FC236}">
                <a16:creationId xmlns:a16="http://schemas.microsoft.com/office/drawing/2014/main" id="{2A742A57-DBB1-0049-BF70-A5B51379DA5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2408023"/>
            <a:ext cx="3241044" cy="330056"/>
          </a:xfrm>
          <a:prstGeom prst="rect">
            <a:avLst/>
          </a:prstGeom>
        </p:spPr>
      </p:pic>
      <p:sp>
        <p:nvSpPr>
          <p:cNvPr id="19" name="TextBox 18">
            <a:extLst>
              <a:ext uri="{FF2B5EF4-FFF2-40B4-BE49-F238E27FC236}">
                <a16:creationId xmlns:a16="http://schemas.microsoft.com/office/drawing/2014/main" id="{6E6BEB0E-7CAC-2C4B-BE3C-0FC7BB528639}"/>
              </a:ext>
            </a:extLst>
          </p:cNvPr>
          <p:cNvSpPr txBox="1"/>
          <p:nvPr/>
        </p:nvSpPr>
        <p:spPr>
          <a:xfrm>
            <a:off x="1014609" y="3072759"/>
            <a:ext cx="65453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65AF3C1-3019-CB4E-975D-7C1DBF49BC61}"/>
              </a:ext>
            </a:extLst>
          </p:cNvPr>
          <p:cNvSpPr txBox="1"/>
          <p:nvPr/>
        </p:nvSpPr>
        <p:spPr>
          <a:xfrm>
            <a:off x="1014609" y="1493728"/>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6D1204DE-DCAD-3D42-A018-EE1A7FB7B342}"/>
              </a:ext>
            </a:extLst>
          </p:cNvPr>
          <p:cNvSpPr txBox="1"/>
          <p:nvPr/>
        </p:nvSpPr>
        <p:spPr>
          <a:xfrm>
            <a:off x="1014609" y="3498895"/>
            <a:ext cx="686354"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x</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49241119-D9B5-5540-A9B7-A9E03ABEF578}"/>
              </a:ext>
            </a:extLst>
          </p:cNvPr>
          <p:cNvSpPr txBox="1"/>
          <p:nvPr/>
        </p:nvSpPr>
        <p:spPr>
          <a:xfrm>
            <a:off x="1014609" y="2345999"/>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C904E9F7-89B4-5949-8C3E-677A00A15AE0}"/>
              </a:ext>
            </a:extLst>
          </p:cNvPr>
          <p:cNvSpPr txBox="1"/>
          <p:nvPr/>
        </p:nvSpPr>
        <p:spPr>
          <a:xfrm>
            <a:off x="1014609" y="1919863"/>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EC37B96-BC81-804B-8D34-24D748686457}"/>
              </a:ext>
            </a:extLst>
          </p:cNvPr>
          <p:cNvSpPr txBox="1"/>
          <p:nvPr/>
        </p:nvSpPr>
        <p:spPr>
          <a:xfrm>
            <a:off x="4839712" y="3498895"/>
            <a:ext cx="545088"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y</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BD292AD3-4E90-F447-AE1D-6BE89D6DD9D4}"/>
              </a:ext>
            </a:extLst>
          </p:cNvPr>
          <p:cNvSpPr txBox="1"/>
          <p:nvPr/>
        </p:nvSpPr>
        <p:spPr>
          <a:xfrm>
            <a:off x="4839711" y="3072759"/>
            <a:ext cx="599717"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7E0F8B-C015-E04D-89EB-FCAB517F7AD5}"/>
              </a:ext>
            </a:extLst>
          </p:cNvPr>
          <p:cNvSpPr txBox="1"/>
          <p:nvPr/>
        </p:nvSpPr>
        <p:spPr>
          <a:xfrm>
            <a:off x="4839712" y="2345999"/>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F1CEB7A-B8A9-584C-8BB0-06ED6BF0C714}"/>
              </a:ext>
            </a:extLst>
          </p:cNvPr>
          <p:cNvSpPr txBox="1"/>
          <p:nvPr/>
        </p:nvSpPr>
        <p:spPr>
          <a:xfrm>
            <a:off x="4839712" y="1919863"/>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2BF836B4-2919-894E-9669-5B41DAA4075D}"/>
              </a:ext>
            </a:extLst>
          </p:cNvPr>
          <p:cNvSpPr txBox="1"/>
          <p:nvPr/>
        </p:nvSpPr>
        <p:spPr>
          <a:xfrm>
            <a:off x="4839712" y="1493728"/>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BD5008AA-189E-3942-9502-A1FB6B6DA029}"/>
              </a:ext>
            </a:extLst>
          </p:cNvPr>
          <p:cNvSpPr txBox="1"/>
          <p:nvPr/>
        </p:nvSpPr>
        <p:spPr>
          <a:xfrm>
            <a:off x="4839712" y="106759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F7B0C2-A517-BB4D-BA95-F5FD1409712E}"/>
              </a:ext>
            </a:extLst>
          </p:cNvPr>
          <p:cNvSpPr txBox="1"/>
          <p:nvPr/>
        </p:nvSpPr>
        <p:spPr>
          <a:xfrm rot="5400000">
            <a:off x="2629397" y="2682515"/>
            <a:ext cx="423514" cy="507831"/>
          </a:xfrm>
          <a:prstGeom prst="rect">
            <a:avLst/>
          </a:prstGeom>
          <a:noFill/>
        </p:spPr>
        <p:txBody>
          <a:bodyPr wrap="none" rtlCol="0">
            <a:spAutoFit/>
          </a:bodyPr>
          <a:lstStyle/>
          <a:p>
            <a:r>
              <a:rPr lang="en-US" sz="2700" dirty="0"/>
              <a:t>…</a:t>
            </a:r>
          </a:p>
        </p:txBody>
      </p:sp>
      <p:sp>
        <p:nvSpPr>
          <p:cNvPr id="32" name="TextBox 31">
            <a:extLst>
              <a:ext uri="{FF2B5EF4-FFF2-40B4-BE49-F238E27FC236}">
                <a16:creationId xmlns:a16="http://schemas.microsoft.com/office/drawing/2014/main" id="{61EB7271-5058-8544-9697-2A0D44FF5656}"/>
              </a:ext>
            </a:extLst>
          </p:cNvPr>
          <p:cNvSpPr txBox="1"/>
          <p:nvPr/>
        </p:nvSpPr>
        <p:spPr>
          <a:xfrm rot="5400000">
            <a:off x="4456335" y="2689166"/>
            <a:ext cx="423514" cy="507831"/>
          </a:xfrm>
          <a:prstGeom prst="rect">
            <a:avLst/>
          </a:prstGeom>
          <a:noFill/>
        </p:spPr>
        <p:txBody>
          <a:bodyPr wrap="none" rtlCol="0">
            <a:spAutoFit/>
          </a:bodyPr>
          <a:lstStyle/>
          <a:p>
            <a:r>
              <a:rPr lang="en-US" sz="2700" dirty="0"/>
              <a:t>…</a:t>
            </a:r>
          </a:p>
        </p:txBody>
      </p:sp>
      <mc:AlternateContent xmlns:mc="http://schemas.openxmlformats.org/markup-compatibility/2006" xmlns:a14="http://schemas.microsoft.com/office/drawing/2010/main">
        <mc:Choice Requires="a14">
          <p:sp>
            <p:nvSpPr>
              <p:cNvPr id="27" name="Title 28">
                <a:extLst>
                  <a:ext uri="{FF2B5EF4-FFF2-40B4-BE49-F238E27FC236}">
                    <a16:creationId xmlns:a16="http://schemas.microsoft.com/office/drawing/2014/main" id="{AA5FECB6-0AC9-5941-8372-FA5CAE748FF4}"/>
                  </a:ext>
                </a:extLst>
              </p:cNvPr>
              <p:cNvSpPr>
                <a:spLocks noGrp="1"/>
              </p:cNvSpPr>
              <p:nvPr>
                <p:ph type="title"/>
              </p:nvPr>
            </p:nvSpPr>
            <p:spPr>
              <a:xfrm>
                <a:off x="457200" y="205979"/>
                <a:ext cx="8229600" cy="857250"/>
              </a:xfrm>
            </p:spPr>
            <p:txBody>
              <a:bodyPr>
                <a:normAutofit/>
              </a:bodyPr>
              <a:lstStyle/>
              <a:p>
                <a:r>
                  <a:rPr lang="en-US" dirty="0"/>
                  <a:t>Making Predictions for New </a:t>
                </a:r>
                <a14:m>
                  <m:oMath xmlns:m="http://schemas.openxmlformats.org/officeDocument/2006/math">
                    <m:r>
                      <a:rPr lang="en-US" i="1" dirty="0" smtClean="0">
                        <a:latin typeface="Cambria Math" panose="02040503050406030204" pitchFamily="18" charset="0"/>
                      </a:rPr>
                      <m:t>𝑥</m:t>
                    </m:r>
                  </m:oMath>
                </a14:m>
                <a:endParaRPr lang="en-US" dirty="0"/>
              </a:p>
            </p:txBody>
          </p:sp>
        </mc:Choice>
        <mc:Fallback xmlns="">
          <p:sp>
            <p:nvSpPr>
              <p:cNvPr id="27" name="Title 28">
                <a:extLst>
                  <a:ext uri="{FF2B5EF4-FFF2-40B4-BE49-F238E27FC236}">
                    <a16:creationId xmlns:a16="http://schemas.microsoft.com/office/drawing/2014/main" id="{AA5FECB6-0AC9-5941-8372-FA5CAE748FF4}"/>
                  </a:ext>
                </a:extLst>
              </p:cNvPr>
              <p:cNvSpPr>
                <a:spLocks noGrp="1" noRot="1" noChangeAspect="1" noMove="1" noResize="1" noEditPoints="1" noAdjustHandles="1" noChangeArrowheads="1" noChangeShapeType="1" noTextEdit="1"/>
              </p:cNvSpPr>
              <p:nvPr>
                <p:ph type="title"/>
              </p:nvPr>
            </p:nvSpPr>
            <p:spPr>
              <a:xfrm>
                <a:off x="457200" y="205979"/>
                <a:ext cx="8229600" cy="857250"/>
              </a:xfrm>
              <a:blipFill>
                <a:blip r:embed="rId5"/>
                <a:stretch>
                  <a:fillRect l="-2006" t="-16176"/>
                </a:stretch>
              </a:blipFill>
            </p:spPr>
            <p:txBody>
              <a:bodyPr/>
              <a:lstStyle/>
              <a:p>
                <a:r>
                  <a:rPr lang="en-US">
                    <a:noFill/>
                  </a:rPr>
                  <a:t> </a:t>
                </a:r>
              </a:p>
            </p:txBody>
          </p:sp>
        </mc:Fallback>
      </mc:AlternateContent>
      <p:pic>
        <p:nvPicPr>
          <p:cNvPr id="33" name="Picture 32">
            <a:extLst>
              <a:ext uri="{FF2B5EF4-FFF2-40B4-BE49-F238E27FC236}">
                <a16:creationId xmlns:a16="http://schemas.microsoft.com/office/drawing/2014/main" id="{54151142-EC40-B844-9BD4-5BB502118E8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1504722" y="4268280"/>
            <a:ext cx="3241044" cy="330056"/>
          </a:xfrm>
          <a:prstGeom prst="rect">
            <a:avLst/>
          </a:prstGeom>
        </p:spPr>
      </p:pic>
      <p:sp>
        <p:nvSpPr>
          <p:cNvPr id="34" name="TextBox 33">
            <a:extLst>
              <a:ext uri="{FF2B5EF4-FFF2-40B4-BE49-F238E27FC236}">
                <a16:creationId xmlns:a16="http://schemas.microsoft.com/office/drawing/2014/main" id="{791F0AF4-9E4E-2442-8A67-44BD0BC3EABF}"/>
              </a:ext>
            </a:extLst>
          </p:cNvPr>
          <p:cNvSpPr txBox="1"/>
          <p:nvPr/>
        </p:nvSpPr>
        <p:spPr>
          <a:xfrm>
            <a:off x="982789" y="4206256"/>
            <a:ext cx="68635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3B9BDD1C-3CC2-FC46-942A-54E15F48CE28}"/>
              </a:ext>
            </a:extLst>
          </p:cNvPr>
          <p:cNvSpPr txBox="1"/>
          <p:nvPr/>
        </p:nvSpPr>
        <p:spPr>
          <a:xfrm>
            <a:off x="4839711" y="4206256"/>
            <a:ext cx="68635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2D8C2377-E4E5-0A4A-B2B6-8716D5AAF77E}"/>
              </a:ext>
            </a:extLst>
          </p:cNvPr>
          <p:cNvCxnSpPr/>
          <p:nvPr/>
        </p:nvCxnSpPr>
        <p:spPr>
          <a:xfrm>
            <a:off x="541751" y="4058433"/>
            <a:ext cx="5245274"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13652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5A9C0F-C73E-5044-BA14-46B00A07B47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58629" y="962172"/>
            <a:ext cx="3595133" cy="1912610"/>
          </a:xfrm>
          <a:prstGeom prst="rect">
            <a:avLst/>
          </a:prstGeom>
        </p:spPr>
      </p:pic>
      <p:pic>
        <p:nvPicPr>
          <p:cNvPr id="5" name="Picture 4">
            <a:extLst>
              <a:ext uri="{FF2B5EF4-FFF2-40B4-BE49-F238E27FC236}">
                <a16:creationId xmlns:a16="http://schemas.microsoft.com/office/drawing/2014/main" id="{9AD5F0AE-E388-7445-B1D8-1105038B331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7955" y="1089129"/>
            <a:ext cx="3020255" cy="2011490"/>
          </a:xfrm>
          <a:prstGeom prst="rect">
            <a:avLst/>
          </a:prstGeom>
        </p:spPr>
      </p:pic>
      <p:sp>
        <p:nvSpPr>
          <p:cNvPr id="7" name="Rectangle 6">
            <a:extLst>
              <a:ext uri="{FF2B5EF4-FFF2-40B4-BE49-F238E27FC236}">
                <a16:creationId xmlns:a16="http://schemas.microsoft.com/office/drawing/2014/main" id="{6D48AE61-F0ED-384B-9E2C-BD7F3C5A231F}"/>
              </a:ext>
            </a:extLst>
          </p:cNvPr>
          <p:cNvSpPr/>
          <p:nvPr/>
        </p:nvSpPr>
        <p:spPr>
          <a:xfrm>
            <a:off x="7252865" y="2846704"/>
            <a:ext cx="1778820" cy="276999"/>
          </a:xfrm>
          <a:prstGeom prst="rect">
            <a:avLst/>
          </a:prstGeom>
        </p:spPr>
        <p:txBody>
          <a:bodyPr wrap="none">
            <a:spAutoFit/>
          </a:bodyPr>
          <a:lstStyle/>
          <a:p>
            <a:r>
              <a:rPr lang="en-US" sz="1200" dirty="0"/>
              <a:t>https://</a:t>
            </a:r>
            <a:r>
              <a:rPr lang="en-US" sz="1200" dirty="0" err="1"/>
              <a:t>www.praekelt.org</a:t>
            </a:r>
            <a:endParaRPr lang="en-US" sz="1200" dirty="0"/>
          </a:p>
        </p:txBody>
      </p:sp>
      <p:sp>
        <p:nvSpPr>
          <p:cNvPr id="8" name="TextBox 7"/>
          <p:cNvSpPr txBox="1"/>
          <p:nvPr/>
        </p:nvSpPr>
        <p:spPr>
          <a:xfrm>
            <a:off x="1115077" y="3890430"/>
            <a:ext cx="6913846" cy="830997"/>
          </a:xfrm>
          <a:prstGeom prst="rect">
            <a:avLst/>
          </a:prstGeom>
          <a:noFill/>
        </p:spPr>
        <p:txBody>
          <a:bodyPr wrap="square" rtlCol="0">
            <a:spAutoFit/>
          </a:bodyPr>
          <a:lstStyle/>
          <a:p>
            <a:pPr algn="ctr"/>
            <a:r>
              <a:rPr lang="en-US" sz="2400" dirty="0">
                <a:solidFill>
                  <a:srgbClr val="FF0000"/>
                </a:solidFill>
              </a:rPr>
              <a:t>Can we use a standard predictive model </a:t>
            </a:r>
          </a:p>
          <a:p>
            <a:pPr algn="ctr"/>
            <a:r>
              <a:rPr lang="en-US" sz="2400" dirty="0">
                <a:solidFill>
                  <a:srgbClr val="FF0000"/>
                </a:solidFill>
              </a:rPr>
              <a:t>setup to solve this problem?</a:t>
            </a:r>
          </a:p>
        </p:txBody>
      </p:sp>
      <p:sp>
        <p:nvSpPr>
          <p:cNvPr id="9" name="Title 1">
            <a:extLst>
              <a:ext uri="{FF2B5EF4-FFF2-40B4-BE49-F238E27FC236}">
                <a16:creationId xmlns:a16="http://schemas.microsoft.com/office/drawing/2014/main" id="{0F7E80F5-613B-C741-B35C-653641E4E56A}"/>
              </a:ext>
            </a:extLst>
          </p:cNvPr>
          <p:cNvSpPr>
            <a:spLocks noGrp="1"/>
          </p:cNvSpPr>
          <p:nvPr>
            <p:ph type="title"/>
          </p:nvPr>
        </p:nvSpPr>
        <p:spPr>
          <a:xfrm>
            <a:off x="139336" y="104743"/>
            <a:ext cx="9004663" cy="552875"/>
          </a:xfrm>
        </p:spPr>
        <p:txBody>
          <a:bodyPr>
            <a:normAutofit/>
          </a:bodyPr>
          <a:lstStyle/>
          <a:p>
            <a:r>
              <a:rPr lang="en-US" dirty="0"/>
              <a:t>Case Study: SMS Triage for Global Maternal Health</a:t>
            </a:r>
          </a:p>
        </p:txBody>
      </p:sp>
    </p:spTree>
    <p:extLst>
      <p:ext uri="{BB962C8B-B14F-4D97-AF65-F5344CB8AC3E}">
        <p14:creationId xmlns:p14="http://schemas.microsoft.com/office/powerpoint/2010/main" val="26348321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949832-3210-E048-BCD9-B031071D27F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1156794"/>
            <a:ext cx="3241044" cy="330056"/>
          </a:xfrm>
          <a:prstGeom prst="rect">
            <a:avLst/>
          </a:prstGeom>
        </p:spPr>
      </p:pic>
      <p:pic>
        <p:nvPicPr>
          <p:cNvPr id="14" name="Picture 13">
            <a:extLst>
              <a:ext uri="{FF2B5EF4-FFF2-40B4-BE49-F238E27FC236}">
                <a16:creationId xmlns:a16="http://schemas.microsoft.com/office/drawing/2014/main" id="{D986E90C-0D83-5245-A5C5-1EA0D395D4C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3588097"/>
            <a:ext cx="3241044" cy="330056"/>
          </a:xfrm>
          <a:prstGeom prst="rect">
            <a:avLst/>
          </a:prstGeom>
        </p:spPr>
      </p:pic>
      <p:pic>
        <p:nvPicPr>
          <p:cNvPr id="15" name="Picture 14">
            <a:extLst>
              <a:ext uri="{FF2B5EF4-FFF2-40B4-BE49-F238E27FC236}">
                <a16:creationId xmlns:a16="http://schemas.microsoft.com/office/drawing/2014/main" id="{BA481802-9EF2-7E4E-95BD-7B89706DF55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3161961"/>
            <a:ext cx="3241044" cy="330056"/>
          </a:xfrm>
          <a:prstGeom prst="rect">
            <a:avLst/>
          </a:prstGeom>
        </p:spPr>
      </p:pic>
      <p:pic>
        <p:nvPicPr>
          <p:cNvPr id="16" name="Picture 15">
            <a:extLst>
              <a:ext uri="{FF2B5EF4-FFF2-40B4-BE49-F238E27FC236}">
                <a16:creationId xmlns:a16="http://schemas.microsoft.com/office/drawing/2014/main" id="{860D1EF4-59BA-2744-BF60-28D5DCCC75D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1582930"/>
            <a:ext cx="3241044" cy="330056"/>
          </a:xfrm>
          <a:prstGeom prst="rect">
            <a:avLst/>
          </a:prstGeom>
        </p:spPr>
      </p:pic>
      <p:pic>
        <p:nvPicPr>
          <p:cNvPr id="17" name="Picture 16">
            <a:extLst>
              <a:ext uri="{FF2B5EF4-FFF2-40B4-BE49-F238E27FC236}">
                <a16:creationId xmlns:a16="http://schemas.microsoft.com/office/drawing/2014/main" id="{E8B2ECE0-2C3F-F142-A668-C41BC037476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2009065"/>
            <a:ext cx="3241044" cy="330056"/>
          </a:xfrm>
          <a:prstGeom prst="rect">
            <a:avLst/>
          </a:prstGeom>
        </p:spPr>
      </p:pic>
      <p:pic>
        <p:nvPicPr>
          <p:cNvPr id="18" name="Picture 17">
            <a:extLst>
              <a:ext uri="{FF2B5EF4-FFF2-40B4-BE49-F238E27FC236}">
                <a16:creationId xmlns:a16="http://schemas.microsoft.com/office/drawing/2014/main" id="{2A742A57-DBB1-0049-BF70-A5B51379DA5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2435201"/>
            <a:ext cx="3241044" cy="330056"/>
          </a:xfrm>
          <a:prstGeom prst="rect">
            <a:avLst/>
          </a:prstGeom>
        </p:spPr>
      </p:pic>
      <p:pic>
        <p:nvPicPr>
          <p:cNvPr id="33" name="Picture 32">
            <a:extLst>
              <a:ext uri="{FF2B5EF4-FFF2-40B4-BE49-F238E27FC236}">
                <a16:creationId xmlns:a16="http://schemas.microsoft.com/office/drawing/2014/main" id="{54151142-EC40-B844-9BD4-5BB502118E8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V="1">
            <a:off x="2302821" y="4295458"/>
            <a:ext cx="3241044" cy="330056"/>
          </a:xfrm>
          <a:prstGeom prst="rect">
            <a:avLst/>
          </a:prstGeom>
        </p:spPr>
      </p:pic>
      <p:sp>
        <p:nvSpPr>
          <p:cNvPr id="3" name="TextBox 2"/>
          <p:cNvSpPr txBox="1"/>
          <p:nvPr/>
        </p:nvSpPr>
        <p:spPr>
          <a:xfrm>
            <a:off x="1342641" y="1129615"/>
            <a:ext cx="3871209" cy="3554819"/>
          </a:xfrm>
          <a:prstGeom prst="rect">
            <a:avLst/>
          </a:prstGeom>
          <a:solidFill>
            <a:schemeClr val="bg1"/>
          </a:solidFill>
        </p:spPr>
        <p:txBody>
          <a:bodyPr wrap="square" rtlCol="0">
            <a:spAutoFit/>
          </a:bodyPr>
          <a:lstStyle/>
          <a:p>
            <a:r>
              <a:rPr lang="en-US" sz="1500" dirty="0"/>
              <a:t>What helps with morning sickness?</a:t>
            </a:r>
          </a:p>
          <a:p>
            <a:endParaRPr lang="en-US" sz="1500" dirty="0"/>
          </a:p>
          <a:p>
            <a:r>
              <a:rPr lang="en-US" sz="1500" dirty="0"/>
              <a:t>How many months should I breastfeed?</a:t>
            </a:r>
          </a:p>
          <a:p>
            <a:endParaRPr lang="en-US" sz="1500" dirty="0"/>
          </a:p>
          <a:p>
            <a:r>
              <a:rPr lang="en-US" sz="1500" dirty="0"/>
              <a:t>I passed out and Mom said I was shaking</a:t>
            </a:r>
          </a:p>
          <a:p>
            <a:endParaRPr lang="en-US" sz="1500" dirty="0"/>
          </a:p>
          <a:p>
            <a:r>
              <a:rPr lang="en-US" sz="1500" dirty="0"/>
              <a:t>Where is the nearest clinic?</a:t>
            </a:r>
          </a:p>
          <a:p>
            <a:endParaRPr lang="en-US" sz="1500" dirty="0"/>
          </a:p>
          <a:p>
            <a:endParaRPr lang="en-US" sz="1500" dirty="0"/>
          </a:p>
          <a:p>
            <a:r>
              <a:rPr lang="en-US" sz="1500" dirty="0"/>
              <a:t>I am having heavy bleeding, what should I do?</a:t>
            </a:r>
          </a:p>
          <a:p>
            <a:endParaRPr lang="en-US" sz="1500" dirty="0"/>
          </a:p>
          <a:p>
            <a:r>
              <a:rPr lang="en-US" sz="1500" dirty="0"/>
              <a:t>What foods should I eat while pregnant?</a:t>
            </a:r>
          </a:p>
          <a:p>
            <a:endParaRPr lang="en-US" sz="1500" dirty="0"/>
          </a:p>
          <a:p>
            <a:endParaRPr lang="en-US" sz="1500" dirty="0"/>
          </a:p>
          <a:p>
            <a:r>
              <a:rPr lang="en-US" sz="1500" dirty="0"/>
              <a:t>My heart is racing and I can’t catch my breath</a:t>
            </a:r>
          </a:p>
        </p:txBody>
      </p:sp>
      <p:sp>
        <p:nvSpPr>
          <p:cNvPr id="43" name="TextBox 42">
            <a:extLst>
              <a:ext uri="{FF2B5EF4-FFF2-40B4-BE49-F238E27FC236}">
                <a16:creationId xmlns:a16="http://schemas.microsoft.com/office/drawing/2014/main" id="{CC32AC06-632F-43A5-BCC3-B6853BF55ED1}"/>
              </a:ext>
            </a:extLst>
          </p:cNvPr>
          <p:cNvSpPr txBox="1"/>
          <p:nvPr/>
        </p:nvSpPr>
        <p:spPr>
          <a:xfrm>
            <a:off x="708777" y="106759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89DB9E1-43B6-E249-9D75-E82D12E3759D}"/>
                  </a:ext>
                </a:extLst>
              </p:cNvPr>
              <p:cNvSpPr txBox="1"/>
              <p:nvPr/>
            </p:nvSpPr>
            <p:spPr>
              <a:xfrm>
                <a:off x="6366372" y="1855693"/>
                <a:ext cx="2823024" cy="2830583"/>
              </a:xfrm>
              <a:prstGeom prst="rect">
                <a:avLst/>
              </a:prstGeom>
              <a:noFill/>
            </p:spPr>
            <p:txBody>
              <a:bodyPr wrap="square" rtlCol="0">
                <a:spAutoFit/>
              </a:bodyPr>
              <a:lstStyle/>
              <a:p>
                <a14:m>
                  <m:oMath xmlns:m="http://schemas.openxmlformats.org/officeDocument/2006/math">
                    <m:r>
                      <a:rPr lang="en-US" sz="1977" i="1" dirty="0">
                        <a:latin typeface="Cambria Math" panose="02040503050406030204" pitchFamily="18" charset="0"/>
                      </a:rPr>
                      <m:t>𝑦</m:t>
                    </m:r>
                    <m:r>
                      <a:rPr lang="en-US" sz="1977" i="1" baseline="-25000" dirty="0">
                        <a:latin typeface="Cambria Math" panose="02040503050406030204" pitchFamily="18" charset="0"/>
                      </a:rPr>
                      <m:t>𝑖</m:t>
                    </m:r>
                  </m:oMath>
                </a14:m>
                <a:r>
                  <a:rPr lang="en-US" sz="1977" dirty="0"/>
                  <a:t>: Urgent or </a:t>
                </a:r>
              </a:p>
              <a:p>
                <a:r>
                  <a:rPr lang="en-US" sz="1977" dirty="0"/>
                  <a:t>Not Urgent?</a:t>
                </a:r>
              </a:p>
              <a:p>
                <a:endParaRPr lang="en-US" sz="1977" dirty="0"/>
              </a:p>
              <a:p>
                <a:endParaRPr lang="en-US" sz="1977" dirty="0"/>
              </a:p>
              <a:p>
                <a:endParaRPr lang="en-US" sz="1977" dirty="0"/>
              </a:p>
              <a:p>
                <a:endParaRPr lang="en-US" sz="1977" dirty="0"/>
              </a:p>
              <a:p>
                <a:endParaRPr lang="en-US" sz="1977" dirty="0"/>
              </a:p>
              <a:p>
                <a:endParaRPr lang="en-US" sz="1977" dirty="0"/>
              </a:p>
              <a:p>
                <a:r>
                  <a:rPr lang="en-US" sz="1977" dirty="0"/>
                  <a:t>&lt;- Learn to predict new </a:t>
                </a:r>
                <a14:m>
                  <m:oMath xmlns:m="http://schemas.openxmlformats.org/officeDocument/2006/math">
                    <m:r>
                      <a:rPr lang="en-US" sz="1977" i="1" dirty="0">
                        <a:latin typeface="Cambria Math" panose="02040503050406030204" pitchFamily="18" charset="0"/>
                      </a:rPr>
                      <m:t>𝑦</m:t>
                    </m:r>
                  </m:oMath>
                </a14:m>
                <a:endParaRPr lang="en-US" sz="1977" dirty="0"/>
              </a:p>
            </p:txBody>
          </p:sp>
        </mc:Choice>
        <mc:Fallback xmlns="">
          <p:sp>
            <p:nvSpPr>
              <p:cNvPr id="2" name="TextBox 1">
                <a:extLst>
                  <a:ext uri="{FF2B5EF4-FFF2-40B4-BE49-F238E27FC236}">
                    <a16:creationId xmlns:a16="http://schemas.microsoft.com/office/drawing/2014/main" id="{A89DB9E1-43B6-E249-9D75-E82D12E3759D}"/>
                  </a:ext>
                </a:extLst>
              </p:cNvPr>
              <p:cNvSpPr txBox="1">
                <a:spLocks noRot="1" noChangeAspect="1" noMove="1" noResize="1" noEditPoints="1" noAdjustHandles="1" noChangeArrowheads="1" noChangeShapeType="1" noTextEdit="1"/>
              </p:cNvSpPr>
              <p:nvPr/>
            </p:nvSpPr>
            <p:spPr>
              <a:xfrm>
                <a:off x="6366372" y="1855693"/>
                <a:ext cx="2823024" cy="2830583"/>
              </a:xfrm>
              <a:prstGeom prst="rect">
                <a:avLst/>
              </a:prstGeom>
              <a:blipFill>
                <a:blip r:embed="rId4"/>
                <a:stretch>
                  <a:fillRect l="-2242" t="-889" b="-2222"/>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6E6BEB0E-7CAC-2C4B-BE3C-0FC7BB528639}"/>
              </a:ext>
            </a:extLst>
          </p:cNvPr>
          <p:cNvSpPr txBox="1"/>
          <p:nvPr/>
        </p:nvSpPr>
        <p:spPr>
          <a:xfrm>
            <a:off x="708777" y="3072759"/>
            <a:ext cx="63386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65AF3C1-3019-CB4E-975D-7C1DBF49BC61}"/>
              </a:ext>
            </a:extLst>
          </p:cNvPr>
          <p:cNvSpPr txBox="1"/>
          <p:nvPr/>
        </p:nvSpPr>
        <p:spPr>
          <a:xfrm>
            <a:off x="708777" y="1493728"/>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6D1204DE-DCAD-3D42-A018-EE1A7FB7B342}"/>
              </a:ext>
            </a:extLst>
          </p:cNvPr>
          <p:cNvSpPr txBox="1"/>
          <p:nvPr/>
        </p:nvSpPr>
        <p:spPr>
          <a:xfrm>
            <a:off x="708777" y="3498895"/>
            <a:ext cx="586106"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x</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49241119-D9B5-5540-A9B7-A9E03ABEF578}"/>
              </a:ext>
            </a:extLst>
          </p:cNvPr>
          <p:cNvSpPr txBox="1"/>
          <p:nvPr/>
        </p:nvSpPr>
        <p:spPr>
          <a:xfrm>
            <a:off x="708777" y="2345999"/>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C904E9F7-89B4-5949-8C3E-677A00A15AE0}"/>
              </a:ext>
            </a:extLst>
          </p:cNvPr>
          <p:cNvSpPr txBox="1"/>
          <p:nvPr/>
        </p:nvSpPr>
        <p:spPr>
          <a:xfrm>
            <a:off x="708777" y="1919863"/>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EC37B96-BC81-804B-8D34-24D748686457}"/>
              </a:ext>
            </a:extLst>
          </p:cNvPr>
          <p:cNvSpPr txBox="1"/>
          <p:nvPr/>
        </p:nvSpPr>
        <p:spPr>
          <a:xfrm>
            <a:off x="5655261" y="3498895"/>
            <a:ext cx="711111" cy="415178"/>
          </a:xfrm>
          <a:prstGeom prst="rect">
            <a:avLst/>
          </a:prstGeom>
          <a:noFill/>
        </p:spPr>
        <p:txBody>
          <a:bodyPr wrap="square" rtlCol="0">
            <a:spAutoFit/>
          </a:bodyPr>
          <a:lstStyle/>
          <a:p>
            <a:r>
              <a:rPr lang="en-US" sz="2098" i="1" dirty="0" err="1">
                <a:latin typeface="Times New Roman" panose="02020603050405020304" pitchFamily="18" charset="0"/>
                <a:cs typeface="Times New Roman" panose="02020603050405020304" pitchFamily="18" charset="0"/>
              </a:rPr>
              <a:t>y</a:t>
            </a:r>
            <a:r>
              <a:rPr lang="en-US" sz="2098" i="1" baseline="-25000" dirty="0" err="1">
                <a:latin typeface="Times New Roman" panose="02020603050405020304" pitchFamily="18" charset="0"/>
                <a:cs typeface="Times New Roman" panose="02020603050405020304" pitchFamily="18" charset="0"/>
              </a:rPr>
              <a:t>N</a:t>
            </a:r>
            <a:endParaRPr lang="en-US" sz="2098" baseline="-25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BD292AD3-4E90-F447-AE1D-6BE89D6DD9D4}"/>
              </a:ext>
            </a:extLst>
          </p:cNvPr>
          <p:cNvSpPr txBox="1"/>
          <p:nvPr/>
        </p:nvSpPr>
        <p:spPr>
          <a:xfrm>
            <a:off x="5655260" y="3072759"/>
            <a:ext cx="599717"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7E0F8B-C015-E04D-89EB-FCAB517F7AD5}"/>
              </a:ext>
            </a:extLst>
          </p:cNvPr>
          <p:cNvSpPr txBox="1"/>
          <p:nvPr/>
        </p:nvSpPr>
        <p:spPr>
          <a:xfrm>
            <a:off x="5655261" y="2345999"/>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F1CEB7A-B8A9-584C-8BB0-06ED6BF0C714}"/>
              </a:ext>
            </a:extLst>
          </p:cNvPr>
          <p:cNvSpPr txBox="1"/>
          <p:nvPr/>
        </p:nvSpPr>
        <p:spPr>
          <a:xfrm>
            <a:off x="5655261" y="1919863"/>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2BF836B4-2919-894E-9669-5B41DAA4075D}"/>
              </a:ext>
            </a:extLst>
          </p:cNvPr>
          <p:cNvSpPr txBox="1"/>
          <p:nvPr/>
        </p:nvSpPr>
        <p:spPr>
          <a:xfrm>
            <a:off x="5655261" y="1493728"/>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2</a:t>
            </a:r>
            <a:endParaRPr lang="en-US" sz="2098" baseline="-250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BD5008AA-189E-3942-9502-A1FB6B6DA029}"/>
              </a:ext>
            </a:extLst>
          </p:cNvPr>
          <p:cNvSpPr txBox="1"/>
          <p:nvPr/>
        </p:nvSpPr>
        <p:spPr>
          <a:xfrm>
            <a:off x="5655261" y="106759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F7B0C2-A517-BB4D-BA95-F5FD1409712E}"/>
              </a:ext>
            </a:extLst>
          </p:cNvPr>
          <p:cNvSpPr txBox="1"/>
          <p:nvPr/>
        </p:nvSpPr>
        <p:spPr>
          <a:xfrm rot="5400000">
            <a:off x="2952630" y="2709858"/>
            <a:ext cx="423514" cy="507831"/>
          </a:xfrm>
          <a:prstGeom prst="rect">
            <a:avLst/>
          </a:prstGeom>
          <a:noFill/>
        </p:spPr>
        <p:txBody>
          <a:bodyPr wrap="none" rtlCol="0">
            <a:spAutoFit/>
          </a:bodyPr>
          <a:lstStyle/>
          <a:p>
            <a:r>
              <a:rPr lang="en-US" sz="2700" dirty="0"/>
              <a:t>…</a:t>
            </a:r>
          </a:p>
        </p:txBody>
      </p:sp>
      <p:sp>
        <p:nvSpPr>
          <p:cNvPr id="32" name="TextBox 31">
            <a:extLst>
              <a:ext uri="{FF2B5EF4-FFF2-40B4-BE49-F238E27FC236}">
                <a16:creationId xmlns:a16="http://schemas.microsoft.com/office/drawing/2014/main" id="{61EB7271-5058-8544-9697-2A0D44FF5656}"/>
              </a:ext>
            </a:extLst>
          </p:cNvPr>
          <p:cNvSpPr txBox="1"/>
          <p:nvPr/>
        </p:nvSpPr>
        <p:spPr>
          <a:xfrm rot="5400000">
            <a:off x="5256009" y="2687594"/>
            <a:ext cx="423514" cy="507831"/>
          </a:xfrm>
          <a:prstGeom prst="rect">
            <a:avLst/>
          </a:prstGeom>
          <a:noFill/>
        </p:spPr>
        <p:txBody>
          <a:bodyPr wrap="none" rtlCol="0">
            <a:spAutoFit/>
          </a:bodyPr>
          <a:lstStyle/>
          <a:p>
            <a:r>
              <a:rPr lang="en-US" sz="2700" dirty="0"/>
              <a:t>…</a:t>
            </a:r>
          </a:p>
        </p:txBody>
      </p:sp>
      <p:sp>
        <p:nvSpPr>
          <p:cNvPr id="27" name="Title 28">
            <a:extLst>
              <a:ext uri="{FF2B5EF4-FFF2-40B4-BE49-F238E27FC236}">
                <a16:creationId xmlns:a16="http://schemas.microsoft.com/office/drawing/2014/main" id="{AA5FECB6-0AC9-5941-8372-FA5CAE748FF4}"/>
              </a:ext>
            </a:extLst>
          </p:cNvPr>
          <p:cNvSpPr>
            <a:spLocks noGrp="1"/>
          </p:cNvSpPr>
          <p:nvPr>
            <p:ph type="title"/>
          </p:nvPr>
        </p:nvSpPr>
        <p:spPr>
          <a:xfrm>
            <a:off x="457200" y="38324"/>
            <a:ext cx="8229600" cy="857250"/>
          </a:xfrm>
        </p:spPr>
        <p:txBody>
          <a:bodyPr>
            <a:normAutofit/>
          </a:bodyPr>
          <a:lstStyle/>
          <a:p>
            <a:r>
              <a:rPr lang="en-US" dirty="0"/>
              <a:t>This time, our training data is text</a:t>
            </a:r>
          </a:p>
        </p:txBody>
      </p:sp>
      <p:sp>
        <p:nvSpPr>
          <p:cNvPr id="34" name="TextBox 33">
            <a:extLst>
              <a:ext uri="{FF2B5EF4-FFF2-40B4-BE49-F238E27FC236}">
                <a16:creationId xmlns:a16="http://schemas.microsoft.com/office/drawing/2014/main" id="{791F0AF4-9E4E-2442-8A67-44BD0BC3EABF}"/>
              </a:ext>
            </a:extLst>
          </p:cNvPr>
          <p:cNvSpPr txBox="1"/>
          <p:nvPr/>
        </p:nvSpPr>
        <p:spPr>
          <a:xfrm>
            <a:off x="676957" y="4206256"/>
            <a:ext cx="665684"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3B9BDD1C-3CC2-FC46-942A-54E15F48CE28}"/>
              </a:ext>
            </a:extLst>
          </p:cNvPr>
          <p:cNvSpPr txBox="1"/>
          <p:nvPr/>
        </p:nvSpPr>
        <p:spPr>
          <a:xfrm>
            <a:off x="5655260" y="4206256"/>
            <a:ext cx="848785"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i="1" baseline="-25000" dirty="0">
                <a:latin typeface="Times New Roman" panose="02020603050405020304" pitchFamily="18" charset="0"/>
                <a:cs typeface="Times New Roman" panose="02020603050405020304" pitchFamily="18" charset="0"/>
              </a:rPr>
              <a:t>N+1</a:t>
            </a:r>
            <a:endParaRPr lang="en-US" sz="2098" baseline="-250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2D8C2377-E4E5-0A4A-B2B6-8716D5AAF77E}"/>
              </a:ext>
            </a:extLst>
          </p:cNvPr>
          <p:cNvCxnSpPr/>
          <p:nvPr/>
        </p:nvCxnSpPr>
        <p:spPr>
          <a:xfrm>
            <a:off x="541751" y="4058433"/>
            <a:ext cx="5245274"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923753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5B1F-FF3B-0343-BF72-5E560AFB1433}"/>
              </a:ext>
            </a:extLst>
          </p:cNvPr>
          <p:cNvSpPr>
            <a:spLocks noGrp="1"/>
          </p:cNvSpPr>
          <p:nvPr>
            <p:ph type="title"/>
          </p:nvPr>
        </p:nvSpPr>
        <p:spPr/>
        <p:txBody>
          <a:bodyPr/>
          <a:lstStyle/>
          <a:p>
            <a:r>
              <a:rPr lang="en-US" dirty="0"/>
              <a:t>We need numbers, not words</a:t>
            </a:r>
          </a:p>
        </p:txBody>
      </p:sp>
      <p:sp>
        <p:nvSpPr>
          <p:cNvPr id="3" name="Content Placeholder 2">
            <a:extLst>
              <a:ext uri="{FF2B5EF4-FFF2-40B4-BE49-F238E27FC236}">
                <a16:creationId xmlns:a16="http://schemas.microsoft.com/office/drawing/2014/main" id="{650C32A1-FAC9-DF4D-9BCD-37F50B6AA074}"/>
              </a:ext>
            </a:extLst>
          </p:cNvPr>
          <p:cNvSpPr>
            <a:spLocks noGrp="1"/>
          </p:cNvSpPr>
          <p:nvPr>
            <p:ph idx="1"/>
          </p:nvPr>
        </p:nvSpPr>
        <p:spPr>
          <a:xfrm>
            <a:off x="457200" y="1612557"/>
            <a:ext cx="8229600" cy="2982066"/>
          </a:xfrm>
        </p:spPr>
        <p:txBody>
          <a:bodyPr/>
          <a:lstStyle/>
          <a:p>
            <a:r>
              <a:rPr lang="en-US" b="1" dirty="0">
                <a:solidFill>
                  <a:schemeClr val="tx1"/>
                </a:solidFill>
              </a:rPr>
              <a:t>Can we convert our text to a </a:t>
            </a:r>
            <a:br>
              <a:rPr lang="en-US" b="1" dirty="0">
                <a:solidFill>
                  <a:schemeClr val="tx1"/>
                </a:solidFill>
              </a:rPr>
            </a:br>
            <a:r>
              <a:rPr lang="en-US" b="1" dirty="0">
                <a:solidFill>
                  <a:schemeClr val="tx1"/>
                </a:solidFill>
              </a:rPr>
              <a:t>vector or sequence of numbers?</a:t>
            </a:r>
          </a:p>
          <a:p>
            <a:endParaRPr lang="en-US" dirty="0"/>
          </a:p>
          <a:p>
            <a:r>
              <a:rPr lang="en-US" dirty="0"/>
              <a:t>If yes, we can use logistic regression (or any other predictive model)!</a:t>
            </a:r>
          </a:p>
        </p:txBody>
      </p:sp>
    </p:spTree>
    <p:extLst>
      <p:ext uri="{BB962C8B-B14F-4D97-AF65-F5344CB8AC3E}">
        <p14:creationId xmlns:p14="http://schemas.microsoft.com/office/powerpoint/2010/main" val="8345503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5FCA0-7397-D74D-9459-2C326CD88605}"/>
              </a:ext>
            </a:extLst>
          </p:cNvPr>
          <p:cNvSpPr>
            <a:spLocks noGrp="1"/>
          </p:cNvSpPr>
          <p:nvPr>
            <p:ph type="title"/>
          </p:nvPr>
        </p:nvSpPr>
        <p:spPr>
          <a:xfrm>
            <a:off x="194619" y="233998"/>
            <a:ext cx="8090587" cy="857250"/>
          </a:xfrm>
        </p:spPr>
        <p:txBody>
          <a:bodyPr>
            <a:noAutofit/>
          </a:bodyPr>
          <a:lstStyle/>
          <a:p>
            <a:pPr algn="l"/>
            <a:r>
              <a:rPr lang="en-US" sz="3600" dirty="0"/>
              <a:t>First try: count words in each SMS</a:t>
            </a:r>
            <a:br>
              <a:rPr lang="en-US" sz="3600" dirty="0"/>
            </a:br>
            <a:r>
              <a:rPr lang="en-US" sz="3600" dirty="0"/>
              <a:t>Step 1: </a:t>
            </a:r>
            <a:r>
              <a:rPr lang="en-US" sz="3600" u="sng" dirty="0"/>
              <a:t>Define a </a:t>
            </a:r>
            <a:r>
              <a:rPr lang="en-US" sz="3600" b="1" u="sng" dirty="0"/>
              <a:t>vocabulary</a:t>
            </a:r>
            <a:r>
              <a:rPr lang="en-US" sz="3600" u="sng" dirty="0"/>
              <a:t> of words</a:t>
            </a:r>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94619" y="2609084"/>
            <a:ext cx="3170396" cy="1251122"/>
          </a:xfrm>
          <a:prstGeom prst="rect">
            <a:avLst/>
          </a:prstGeom>
        </p:spPr>
      </p:pic>
      <p:sp>
        <p:nvSpPr>
          <p:cNvPr id="8" name="Right Arrow 7"/>
          <p:cNvSpPr/>
          <p:nvPr/>
        </p:nvSpPr>
        <p:spPr>
          <a:xfrm>
            <a:off x="3447535" y="2877844"/>
            <a:ext cx="1955457" cy="713603"/>
          </a:xfrm>
          <a:prstGeom prst="rightArrow">
            <a:avLst>
              <a:gd name="adj1" fmla="val 65863"/>
              <a:gd name="adj2" fmla="val 42950"/>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list of all words </a:t>
            </a:r>
          </a:p>
          <a:p>
            <a:pPr algn="ctr"/>
            <a:r>
              <a:rPr lang="en-US" sz="1200" dirty="0"/>
              <a:t>(in no particular order)</a:t>
            </a:r>
          </a:p>
        </p:txBody>
      </p:sp>
      <p:sp>
        <p:nvSpPr>
          <p:cNvPr id="22" name="TextBox 21"/>
          <p:cNvSpPr txBox="1"/>
          <p:nvPr/>
        </p:nvSpPr>
        <p:spPr>
          <a:xfrm>
            <a:off x="5696454" y="2369024"/>
            <a:ext cx="3200411" cy="1754326"/>
          </a:xfrm>
          <a:prstGeom prst="rect">
            <a:avLst/>
          </a:prstGeom>
          <a:noFill/>
        </p:spPr>
        <p:txBody>
          <a:bodyPr wrap="square" numCol="3" rtlCol="0">
            <a:spAutoFit/>
          </a:bodyPr>
          <a:lstStyle/>
          <a:p>
            <a:r>
              <a:rPr lang="en-US" sz="1350" dirty="0"/>
              <a:t>shaking</a:t>
            </a:r>
          </a:p>
          <a:p>
            <a:r>
              <a:rPr lang="en-US" sz="1350" dirty="0"/>
              <a:t>what</a:t>
            </a:r>
          </a:p>
          <a:p>
            <a:r>
              <a:rPr lang="en-US" sz="1350" dirty="0"/>
              <a:t>clinic</a:t>
            </a:r>
          </a:p>
          <a:p>
            <a:r>
              <a:rPr lang="en-US" sz="1350" dirty="0"/>
              <a:t>how</a:t>
            </a:r>
          </a:p>
          <a:p>
            <a:r>
              <a:rPr lang="en-US" sz="1350" dirty="0"/>
              <a:t>helps</a:t>
            </a:r>
          </a:p>
          <a:p>
            <a:r>
              <a:rPr lang="en-US" sz="1350" dirty="0"/>
              <a:t>was</a:t>
            </a:r>
          </a:p>
          <a:p>
            <a:r>
              <a:rPr lang="en-US" sz="1350" dirty="0"/>
              <a:t>nearest</a:t>
            </a:r>
          </a:p>
          <a:p>
            <a:r>
              <a:rPr lang="en-US" sz="1350" dirty="0"/>
              <a:t>many</a:t>
            </a:r>
          </a:p>
          <a:p>
            <a:r>
              <a:rPr lang="en-US" sz="1350" dirty="0"/>
              <a:t>with</a:t>
            </a:r>
          </a:p>
          <a:p>
            <a:r>
              <a:rPr lang="en-US" sz="1350" dirty="0"/>
              <a:t>said</a:t>
            </a:r>
          </a:p>
          <a:p>
            <a:r>
              <a:rPr lang="en-US" sz="1350" dirty="0"/>
              <a:t>months</a:t>
            </a:r>
          </a:p>
          <a:p>
            <a:r>
              <a:rPr lang="en-US" sz="1350" dirty="0"/>
              <a:t>the</a:t>
            </a:r>
          </a:p>
          <a:p>
            <a:r>
              <a:rPr lang="en-US" sz="1350" dirty="0"/>
              <a:t>morning</a:t>
            </a:r>
          </a:p>
          <a:p>
            <a:r>
              <a:rPr lang="en-US" sz="1350" dirty="0"/>
              <a:t>mom</a:t>
            </a:r>
          </a:p>
          <a:p>
            <a:r>
              <a:rPr lang="en-US" sz="1350" dirty="0"/>
              <a:t>should</a:t>
            </a:r>
          </a:p>
          <a:p>
            <a:r>
              <a:rPr lang="en-US" sz="1350" dirty="0"/>
              <a:t>sickness</a:t>
            </a:r>
          </a:p>
          <a:p>
            <a:r>
              <a:rPr lang="en-US" sz="1350" dirty="0"/>
              <a:t>and</a:t>
            </a:r>
          </a:p>
          <a:p>
            <a:r>
              <a:rPr lang="en-US" sz="1350" dirty="0"/>
              <a:t>I</a:t>
            </a:r>
          </a:p>
          <a:p>
            <a:r>
              <a:rPr lang="en-US" sz="1350" dirty="0"/>
              <a:t>is</a:t>
            </a:r>
          </a:p>
          <a:p>
            <a:r>
              <a:rPr lang="en-US" sz="1350" dirty="0"/>
              <a:t>how</a:t>
            </a:r>
          </a:p>
          <a:p>
            <a:r>
              <a:rPr lang="en-US" sz="1350" dirty="0"/>
              <a:t>out</a:t>
            </a:r>
          </a:p>
          <a:p>
            <a:r>
              <a:rPr lang="en-US" sz="1350" dirty="0"/>
              <a:t>breastfeed</a:t>
            </a:r>
          </a:p>
          <a:p>
            <a:r>
              <a:rPr lang="en-US" sz="1350" dirty="0"/>
              <a:t>passed</a:t>
            </a:r>
          </a:p>
          <a:p>
            <a:r>
              <a:rPr lang="en-US" sz="1350" dirty="0"/>
              <a:t>where</a:t>
            </a:r>
          </a:p>
        </p:txBody>
      </p:sp>
    </p:spTree>
    <p:extLst>
      <p:ext uri="{BB962C8B-B14F-4D97-AF65-F5344CB8AC3E}">
        <p14:creationId xmlns:p14="http://schemas.microsoft.com/office/powerpoint/2010/main" val="1698816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p:txBody>
          <a:bodyPr>
            <a:noAutofit/>
          </a:bodyPr>
          <a:lstStyle/>
          <a:p>
            <a:pPr algn="l"/>
            <a:r>
              <a:rPr lang="en-US" sz="3000" dirty="0"/>
              <a:t>Step 2: </a:t>
            </a:r>
            <a:r>
              <a:rPr lang="en-US" sz="3000" u="sng" dirty="0"/>
              <a:t>count how many times each vocabulary word appears in a given SMS</a:t>
            </a:r>
          </a:p>
        </p:txBody>
      </p:sp>
      <p:sp>
        <p:nvSpPr>
          <p:cNvPr id="24" name="TextBox 23"/>
          <p:cNvSpPr txBox="1"/>
          <p:nvPr/>
        </p:nvSpPr>
        <p:spPr>
          <a:xfrm rot="16200000">
            <a:off x="4205396" y="-680636"/>
            <a:ext cx="1047205" cy="7940635"/>
          </a:xfrm>
          <a:prstGeom prst="rect">
            <a:avLst/>
          </a:prstGeom>
          <a:noFill/>
        </p:spPr>
        <p:txBody>
          <a:bodyPr wrap="square" numCol="1" rtlCol="0">
            <a:spAutoFit/>
          </a:bodyPr>
          <a:lstStyle/>
          <a:p>
            <a:pPr algn="r">
              <a:spcAft>
                <a:spcPts val="900"/>
              </a:spcAft>
            </a:pPr>
            <a:r>
              <a:rPr lang="en-US" sz="1350" dirty="0"/>
              <a:t>shaking</a:t>
            </a:r>
          </a:p>
          <a:p>
            <a:pPr algn="r">
              <a:spcAft>
                <a:spcPts val="900"/>
              </a:spcAft>
            </a:pPr>
            <a:r>
              <a:rPr lang="en-US" sz="1350" dirty="0"/>
              <a:t>what</a:t>
            </a:r>
          </a:p>
          <a:p>
            <a:pPr algn="r">
              <a:spcAft>
                <a:spcPts val="900"/>
              </a:spcAft>
            </a:pPr>
            <a:r>
              <a:rPr lang="en-US" sz="1350" dirty="0"/>
              <a:t>clinic</a:t>
            </a:r>
          </a:p>
          <a:p>
            <a:pPr algn="r">
              <a:spcAft>
                <a:spcPts val="900"/>
              </a:spcAft>
            </a:pPr>
            <a:r>
              <a:rPr lang="en-US" sz="1350" dirty="0"/>
              <a:t>how</a:t>
            </a:r>
          </a:p>
          <a:p>
            <a:pPr algn="r">
              <a:spcAft>
                <a:spcPts val="900"/>
              </a:spcAft>
            </a:pPr>
            <a:r>
              <a:rPr lang="en-US" sz="1350" dirty="0"/>
              <a:t>helps</a:t>
            </a:r>
          </a:p>
          <a:p>
            <a:pPr algn="r">
              <a:spcAft>
                <a:spcPts val="900"/>
              </a:spcAft>
            </a:pPr>
            <a:r>
              <a:rPr lang="en-US" sz="1350" dirty="0"/>
              <a:t>was</a:t>
            </a:r>
          </a:p>
          <a:p>
            <a:pPr algn="r">
              <a:spcAft>
                <a:spcPts val="900"/>
              </a:spcAft>
            </a:pPr>
            <a:r>
              <a:rPr lang="en-US" sz="1350" dirty="0"/>
              <a:t>nearest</a:t>
            </a:r>
          </a:p>
          <a:p>
            <a:pPr algn="r">
              <a:spcAft>
                <a:spcPts val="900"/>
              </a:spcAft>
            </a:pPr>
            <a:r>
              <a:rPr lang="en-US" sz="1350" dirty="0"/>
              <a:t>many</a:t>
            </a:r>
          </a:p>
          <a:p>
            <a:pPr algn="r">
              <a:spcAft>
                <a:spcPts val="900"/>
              </a:spcAft>
            </a:pPr>
            <a:r>
              <a:rPr lang="en-US" sz="1350" dirty="0"/>
              <a:t>with</a:t>
            </a:r>
          </a:p>
          <a:p>
            <a:pPr algn="r">
              <a:spcAft>
                <a:spcPts val="900"/>
              </a:spcAft>
            </a:pPr>
            <a:r>
              <a:rPr lang="en-US" sz="1350" dirty="0"/>
              <a:t>said</a:t>
            </a:r>
          </a:p>
          <a:p>
            <a:pPr algn="r">
              <a:spcAft>
                <a:spcPts val="900"/>
              </a:spcAft>
            </a:pPr>
            <a:r>
              <a:rPr lang="en-US" sz="1350" dirty="0"/>
              <a:t>months</a:t>
            </a:r>
          </a:p>
          <a:p>
            <a:pPr algn="r">
              <a:spcAft>
                <a:spcPts val="900"/>
              </a:spcAft>
            </a:pPr>
            <a:r>
              <a:rPr lang="en-US" sz="1350" dirty="0"/>
              <a:t>the</a:t>
            </a:r>
          </a:p>
          <a:p>
            <a:pPr algn="r">
              <a:spcAft>
                <a:spcPts val="900"/>
              </a:spcAft>
            </a:pPr>
            <a:r>
              <a:rPr lang="en-US" sz="1350" dirty="0"/>
              <a:t>morning</a:t>
            </a:r>
          </a:p>
          <a:p>
            <a:pPr algn="r">
              <a:spcAft>
                <a:spcPts val="900"/>
              </a:spcAft>
            </a:pPr>
            <a:r>
              <a:rPr lang="en-US" sz="1350" dirty="0"/>
              <a:t>mom</a:t>
            </a:r>
          </a:p>
          <a:p>
            <a:pPr algn="r">
              <a:spcAft>
                <a:spcPts val="900"/>
              </a:spcAft>
            </a:pPr>
            <a:r>
              <a:rPr lang="en-US" sz="1350" dirty="0"/>
              <a:t>should</a:t>
            </a:r>
          </a:p>
          <a:p>
            <a:pPr algn="r">
              <a:spcAft>
                <a:spcPts val="900"/>
              </a:spcAft>
            </a:pPr>
            <a:r>
              <a:rPr lang="en-US" sz="1350" dirty="0"/>
              <a:t>sickness</a:t>
            </a:r>
          </a:p>
          <a:p>
            <a:pPr algn="r">
              <a:spcAft>
                <a:spcPts val="900"/>
              </a:spcAft>
            </a:pPr>
            <a:r>
              <a:rPr lang="en-US" sz="1350" dirty="0"/>
              <a:t>and</a:t>
            </a:r>
          </a:p>
          <a:p>
            <a:pPr algn="r">
              <a:spcAft>
                <a:spcPts val="900"/>
              </a:spcAft>
            </a:pPr>
            <a:r>
              <a:rPr lang="en-US" sz="1350" dirty="0"/>
              <a:t>I</a:t>
            </a:r>
          </a:p>
          <a:p>
            <a:pPr algn="r">
              <a:spcAft>
                <a:spcPts val="900"/>
              </a:spcAft>
            </a:pPr>
            <a:r>
              <a:rPr lang="en-US" sz="1350" dirty="0"/>
              <a:t>is</a:t>
            </a:r>
          </a:p>
          <a:p>
            <a:pPr algn="r">
              <a:spcAft>
                <a:spcPts val="900"/>
              </a:spcAft>
            </a:pPr>
            <a:r>
              <a:rPr lang="en-US" sz="1350" dirty="0"/>
              <a:t>how</a:t>
            </a:r>
          </a:p>
          <a:p>
            <a:pPr algn="r">
              <a:spcAft>
                <a:spcPts val="900"/>
              </a:spcAft>
            </a:pPr>
            <a:r>
              <a:rPr lang="en-US" sz="1350" dirty="0"/>
              <a:t>out</a:t>
            </a:r>
          </a:p>
          <a:p>
            <a:pPr algn="r">
              <a:spcAft>
                <a:spcPts val="900"/>
              </a:spcAft>
            </a:pPr>
            <a:r>
              <a:rPr lang="en-US" sz="1350" dirty="0"/>
              <a:t>breastfeed</a:t>
            </a:r>
          </a:p>
          <a:p>
            <a:pPr algn="r">
              <a:spcAft>
                <a:spcPts val="900"/>
              </a:spcAft>
            </a:pPr>
            <a:r>
              <a:rPr lang="en-US" sz="1350" dirty="0"/>
              <a:t>passed</a:t>
            </a:r>
          </a:p>
          <a:p>
            <a:pPr algn="r">
              <a:spcAft>
                <a:spcPts val="900"/>
              </a:spcAft>
            </a:pPr>
            <a:r>
              <a:rPr lang="en-US" sz="1350" dirty="0"/>
              <a:t>where</a:t>
            </a:r>
          </a:p>
        </p:txBody>
      </p:sp>
      <p:graphicFrame>
        <p:nvGraphicFramePr>
          <p:cNvPr id="4" name="Table 3"/>
          <p:cNvGraphicFramePr>
            <a:graphicFrameLocks noGrp="1"/>
          </p:cNvGraphicFramePr>
          <p:nvPr/>
        </p:nvGraphicFramePr>
        <p:xfrm>
          <a:off x="758681" y="2352522"/>
          <a:ext cx="7637736" cy="278130"/>
        </p:xfrm>
        <a:graphic>
          <a:graphicData uri="http://schemas.openxmlformats.org/drawingml/2006/table">
            <a:tbl>
              <a:tblPr firstRow="1" bandRow="1">
                <a:tableStyleId>{5C22544A-7EE6-4342-B048-85BDC9FD1C3A}</a:tableStyleId>
              </a:tblPr>
              <a:tblGrid>
                <a:gridCol w="318239">
                  <a:extLst>
                    <a:ext uri="{9D8B030D-6E8A-4147-A177-3AD203B41FA5}">
                      <a16:colId xmlns:a16="http://schemas.microsoft.com/office/drawing/2014/main" val="2123615854"/>
                    </a:ext>
                  </a:extLst>
                </a:gridCol>
                <a:gridCol w="318239">
                  <a:extLst>
                    <a:ext uri="{9D8B030D-6E8A-4147-A177-3AD203B41FA5}">
                      <a16:colId xmlns:a16="http://schemas.microsoft.com/office/drawing/2014/main" val="1026716743"/>
                    </a:ext>
                  </a:extLst>
                </a:gridCol>
                <a:gridCol w="318239">
                  <a:extLst>
                    <a:ext uri="{9D8B030D-6E8A-4147-A177-3AD203B41FA5}">
                      <a16:colId xmlns:a16="http://schemas.microsoft.com/office/drawing/2014/main" val="96650165"/>
                    </a:ext>
                  </a:extLst>
                </a:gridCol>
                <a:gridCol w="318239">
                  <a:extLst>
                    <a:ext uri="{9D8B030D-6E8A-4147-A177-3AD203B41FA5}">
                      <a16:colId xmlns:a16="http://schemas.microsoft.com/office/drawing/2014/main" val="3474831274"/>
                    </a:ext>
                  </a:extLst>
                </a:gridCol>
                <a:gridCol w="318239">
                  <a:extLst>
                    <a:ext uri="{9D8B030D-6E8A-4147-A177-3AD203B41FA5}">
                      <a16:colId xmlns:a16="http://schemas.microsoft.com/office/drawing/2014/main" val="217631323"/>
                    </a:ext>
                  </a:extLst>
                </a:gridCol>
                <a:gridCol w="318239">
                  <a:extLst>
                    <a:ext uri="{9D8B030D-6E8A-4147-A177-3AD203B41FA5}">
                      <a16:colId xmlns:a16="http://schemas.microsoft.com/office/drawing/2014/main" val="3527401608"/>
                    </a:ext>
                  </a:extLst>
                </a:gridCol>
                <a:gridCol w="318239">
                  <a:extLst>
                    <a:ext uri="{9D8B030D-6E8A-4147-A177-3AD203B41FA5}">
                      <a16:colId xmlns:a16="http://schemas.microsoft.com/office/drawing/2014/main" val="71044606"/>
                    </a:ext>
                  </a:extLst>
                </a:gridCol>
                <a:gridCol w="318239">
                  <a:extLst>
                    <a:ext uri="{9D8B030D-6E8A-4147-A177-3AD203B41FA5}">
                      <a16:colId xmlns:a16="http://schemas.microsoft.com/office/drawing/2014/main" val="1617904699"/>
                    </a:ext>
                  </a:extLst>
                </a:gridCol>
                <a:gridCol w="318239">
                  <a:extLst>
                    <a:ext uri="{9D8B030D-6E8A-4147-A177-3AD203B41FA5}">
                      <a16:colId xmlns:a16="http://schemas.microsoft.com/office/drawing/2014/main" val="1019104690"/>
                    </a:ext>
                  </a:extLst>
                </a:gridCol>
                <a:gridCol w="318239">
                  <a:extLst>
                    <a:ext uri="{9D8B030D-6E8A-4147-A177-3AD203B41FA5}">
                      <a16:colId xmlns:a16="http://schemas.microsoft.com/office/drawing/2014/main" val="1607840343"/>
                    </a:ext>
                  </a:extLst>
                </a:gridCol>
                <a:gridCol w="318239">
                  <a:extLst>
                    <a:ext uri="{9D8B030D-6E8A-4147-A177-3AD203B41FA5}">
                      <a16:colId xmlns:a16="http://schemas.microsoft.com/office/drawing/2014/main" val="3897121448"/>
                    </a:ext>
                  </a:extLst>
                </a:gridCol>
                <a:gridCol w="318239">
                  <a:extLst>
                    <a:ext uri="{9D8B030D-6E8A-4147-A177-3AD203B41FA5}">
                      <a16:colId xmlns:a16="http://schemas.microsoft.com/office/drawing/2014/main" val="1233070038"/>
                    </a:ext>
                  </a:extLst>
                </a:gridCol>
                <a:gridCol w="318239">
                  <a:extLst>
                    <a:ext uri="{9D8B030D-6E8A-4147-A177-3AD203B41FA5}">
                      <a16:colId xmlns:a16="http://schemas.microsoft.com/office/drawing/2014/main" val="227495959"/>
                    </a:ext>
                  </a:extLst>
                </a:gridCol>
                <a:gridCol w="318239">
                  <a:extLst>
                    <a:ext uri="{9D8B030D-6E8A-4147-A177-3AD203B41FA5}">
                      <a16:colId xmlns:a16="http://schemas.microsoft.com/office/drawing/2014/main" val="368435216"/>
                    </a:ext>
                  </a:extLst>
                </a:gridCol>
                <a:gridCol w="318239">
                  <a:extLst>
                    <a:ext uri="{9D8B030D-6E8A-4147-A177-3AD203B41FA5}">
                      <a16:colId xmlns:a16="http://schemas.microsoft.com/office/drawing/2014/main" val="4289944958"/>
                    </a:ext>
                  </a:extLst>
                </a:gridCol>
                <a:gridCol w="318239">
                  <a:extLst>
                    <a:ext uri="{9D8B030D-6E8A-4147-A177-3AD203B41FA5}">
                      <a16:colId xmlns:a16="http://schemas.microsoft.com/office/drawing/2014/main" val="2658057197"/>
                    </a:ext>
                  </a:extLst>
                </a:gridCol>
                <a:gridCol w="318239">
                  <a:extLst>
                    <a:ext uri="{9D8B030D-6E8A-4147-A177-3AD203B41FA5}">
                      <a16:colId xmlns:a16="http://schemas.microsoft.com/office/drawing/2014/main" val="3671936088"/>
                    </a:ext>
                  </a:extLst>
                </a:gridCol>
                <a:gridCol w="318239">
                  <a:extLst>
                    <a:ext uri="{9D8B030D-6E8A-4147-A177-3AD203B41FA5}">
                      <a16:colId xmlns:a16="http://schemas.microsoft.com/office/drawing/2014/main" val="2143562426"/>
                    </a:ext>
                  </a:extLst>
                </a:gridCol>
                <a:gridCol w="318239">
                  <a:extLst>
                    <a:ext uri="{9D8B030D-6E8A-4147-A177-3AD203B41FA5}">
                      <a16:colId xmlns:a16="http://schemas.microsoft.com/office/drawing/2014/main" val="1783432820"/>
                    </a:ext>
                  </a:extLst>
                </a:gridCol>
                <a:gridCol w="318239">
                  <a:extLst>
                    <a:ext uri="{9D8B030D-6E8A-4147-A177-3AD203B41FA5}">
                      <a16:colId xmlns:a16="http://schemas.microsoft.com/office/drawing/2014/main" val="2886668387"/>
                    </a:ext>
                  </a:extLst>
                </a:gridCol>
                <a:gridCol w="318239">
                  <a:extLst>
                    <a:ext uri="{9D8B030D-6E8A-4147-A177-3AD203B41FA5}">
                      <a16:colId xmlns:a16="http://schemas.microsoft.com/office/drawing/2014/main" val="1859944802"/>
                    </a:ext>
                  </a:extLst>
                </a:gridCol>
                <a:gridCol w="318239">
                  <a:extLst>
                    <a:ext uri="{9D8B030D-6E8A-4147-A177-3AD203B41FA5}">
                      <a16:colId xmlns:a16="http://schemas.microsoft.com/office/drawing/2014/main" val="433105886"/>
                    </a:ext>
                  </a:extLst>
                </a:gridCol>
                <a:gridCol w="318239">
                  <a:extLst>
                    <a:ext uri="{9D8B030D-6E8A-4147-A177-3AD203B41FA5}">
                      <a16:colId xmlns:a16="http://schemas.microsoft.com/office/drawing/2014/main" val="1830972493"/>
                    </a:ext>
                  </a:extLst>
                </a:gridCol>
                <a:gridCol w="318239">
                  <a:extLst>
                    <a:ext uri="{9D8B030D-6E8A-4147-A177-3AD203B41FA5}">
                      <a16:colId xmlns:a16="http://schemas.microsoft.com/office/drawing/2014/main" val="2541127130"/>
                    </a:ext>
                  </a:extLst>
                </a:gridCol>
              </a:tblGrid>
              <a:tr h="278130">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8829326"/>
                  </a:ext>
                </a:extLst>
              </a:tr>
            </a:tbl>
          </a:graphicData>
        </a:graphic>
      </p:graphicFrame>
      <p:sp>
        <p:nvSpPr>
          <p:cNvPr id="5" name="TextBox 4"/>
          <p:cNvSpPr txBox="1"/>
          <p:nvPr/>
        </p:nvSpPr>
        <p:spPr>
          <a:xfrm>
            <a:off x="3306033" y="1877937"/>
            <a:ext cx="2658869" cy="300082"/>
          </a:xfrm>
          <a:prstGeom prst="rect">
            <a:avLst/>
          </a:prstGeom>
          <a:noFill/>
        </p:spPr>
        <p:txBody>
          <a:bodyPr wrap="none" rtlCol="0">
            <a:spAutoFit/>
          </a:bodyPr>
          <a:lstStyle/>
          <a:p>
            <a:r>
              <a:rPr lang="en-US" sz="1350" dirty="0"/>
              <a:t>What helps with morning sickness?</a:t>
            </a:r>
          </a:p>
        </p:txBody>
      </p:sp>
      <p:sp>
        <p:nvSpPr>
          <p:cNvPr id="6" name="TextBox 5">
            <a:extLst>
              <a:ext uri="{FF2B5EF4-FFF2-40B4-BE49-F238E27FC236}">
                <a16:creationId xmlns:a16="http://schemas.microsoft.com/office/drawing/2014/main" id="{CC32AC06-632F-43A5-BCC3-B6853BF55ED1}"/>
              </a:ext>
            </a:extLst>
          </p:cNvPr>
          <p:cNvSpPr txBox="1"/>
          <p:nvPr/>
        </p:nvSpPr>
        <p:spPr>
          <a:xfrm>
            <a:off x="253396" y="232793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1</a:t>
            </a:r>
            <a:endParaRPr lang="en-US" sz="2098"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1582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p:txBody>
          <a:bodyPr>
            <a:noAutofit/>
          </a:bodyPr>
          <a:lstStyle/>
          <a:p>
            <a:pPr algn="l"/>
            <a:r>
              <a:rPr lang="en-US" sz="3000" dirty="0"/>
              <a:t>Step 2: </a:t>
            </a:r>
            <a:r>
              <a:rPr lang="en-US" sz="3000" u="sng" dirty="0"/>
              <a:t>count how many times each vocabulary word appears in a given SMS</a:t>
            </a:r>
          </a:p>
        </p:txBody>
      </p:sp>
      <p:sp>
        <p:nvSpPr>
          <p:cNvPr id="24" name="TextBox 23"/>
          <p:cNvSpPr txBox="1"/>
          <p:nvPr/>
        </p:nvSpPr>
        <p:spPr>
          <a:xfrm rot="16200000">
            <a:off x="4231914" y="-730122"/>
            <a:ext cx="994170" cy="7940635"/>
          </a:xfrm>
          <a:prstGeom prst="rect">
            <a:avLst/>
          </a:prstGeom>
          <a:noFill/>
        </p:spPr>
        <p:txBody>
          <a:bodyPr wrap="square" numCol="1" rtlCol="0">
            <a:spAutoFit/>
          </a:bodyPr>
          <a:lstStyle/>
          <a:p>
            <a:pPr algn="r">
              <a:spcAft>
                <a:spcPts val="900"/>
              </a:spcAft>
            </a:pPr>
            <a:r>
              <a:rPr lang="en-US" sz="1350" dirty="0"/>
              <a:t>shaking</a:t>
            </a:r>
          </a:p>
          <a:p>
            <a:pPr algn="r">
              <a:spcAft>
                <a:spcPts val="900"/>
              </a:spcAft>
            </a:pPr>
            <a:r>
              <a:rPr lang="en-US" sz="1350" dirty="0"/>
              <a:t>what</a:t>
            </a:r>
          </a:p>
          <a:p>
            <a:pPr algn="r">
              <a:spcAft>
                <a:spcPts val="900"/>
              </a:spcAft>
            </a:pPr>
            <a:r>
              <a:rPr lang="en-US" sz="1350" dirty="0"/>
              <a:t>clinic</a:t>
            </a:r>
          </a:p>
          <a:p>
            <a:pPr algn="r">
              <a:spcAft>
                <a:spcPts val="900"/>
              </a:spcAft>
            </a:pPr>
            <a:r>
              <a:rPr lang="en-US" sz="1350" dirty="0"/>
              <a:t>how</a:t>
            </a:r>
          </a:p>
          <a:p>
            <a:pPr algn="r">
              <a:spcAft>
                <a:spcPts val="900"/>
              </a:spcAft>
            </a:pPr>
            <a:r>
              <a:rPr lang="en-US" sz="1350" dirty="0"/>
              <a:t>helps</a:t>
            </a:r>
          </a:p>
          <a:p>
            <a:pPr algn="r">
              <a:spcAft>
                <a:spcPts val="900"/>
              </a:spcAft>
            </a:pPr>
            <a:r>
              <a:rPr lang="en-US" sz="1350" dirty="0"/>
              <a:t>was</a:t>
            </a:r>
          </a:p>
          <a:p>
            <a:pPr algn="r">
              <a:spcAft>
                <a:spcPts val="900"/>
              </a:spcAft>
            </a:pPr>
            <a:r>
              <a:rPr lang="en-US" sz="1350" dirty="0"/>
              <a:t>nearest</a:t>
            </a:r>
          </a:p>
          <a:p>
            <a:pPr algn="r">
              <a:spcAft>
                <a:spcPts val="900"/>
              </a:spcAft>
            </a:pPr>
            <a:r>
              <a:rPr lang="en-US" sz="1350" dirty="0"/>
              <a:t>many</a:t>
            </a:r>
          </a:p>
          <a:p>
            <a:pPr algn="r">
              <a:spcAft>
                <a:spcPts val="900"/>
              </a:spcAft>
            </a:pPr>
            <a:r>
              <a:rPr lang="en-US" sz="1350" dirty="0"/>
              <a:t>with</a:t>
            </a:r>
          </a:p>
          <a:p>
            <a:pPr algn="r">
              <a:spcAft>
                <a:spcPts val="900"/>
              </a:spcAft>
            </a:pPr>
            <a:r>
              <a:rPr lang="en-US" sz="1350" dirty="0"/>
              <a:t>said</a:t>
            </a:r>
          </a:p>
          <a:p>
            <a:pPr algn="r">
              <a:spcAft>
                <a:spcPts val="900"/>
              </a:spcAft>
            </a:pPr>
            <a:r>
              <a:rPr lang="en-US" sz="1350" dirty="0"/>
              <a:t>months</a:t>
            </a:r>
          </a:p>
          <a:p>
            <a:pPr algn="r">
              <a:spcAft>
                <a:spcPts val="900"/>
              </a:spcAft>
            </a:pPr>
            <a:r>
              <a:rPr lang="en-US" sz="1350" dirty="0"/>
              <a:t>the</a:t>
            </a:r>
          </a:p>
          <a:p>
            <a:pPr algn="r">
              <a:spcAft>
                <a:spcPts val="900"/>
              </a:spcAft>
            </a:pPr>
            <a:r>
              <a:rPr lang="en-US" sz="1350" dirty="0"/>
              <a:t>morning</a:t>
            </a:r>
          </a:p>
          <a:p>
            <a:pPr algn="r">
              <a:spcAft>
                <a:spcPts val="900"/>
              </a:spcAft>
            </a:pPr>
            <a:r>
              <a:rPr lang="en-US" sz="1350" dirty="0"/>
              <a:t>mom</a:t>
            </a:r>
          </a:p>
          <a:p>
            <a:pPr algn="r">
              <a:spcAft>
                <a:spcPts val="900"/>
              </a:spcAft>
            </a:pPr>
            <a:r>
              <a:rPr lang="en-US" sz="1350" dirty="0"/>
              <a:t>should</a:t>
            </a:r>
          </a:p>
          <a:p>
            <a:pPr algn="r">
              <a:spcAft>
                <a:spcPts val="900"/>
              </a:spcAft>
            </a:pPr>
            <a:r>
              <a:rPr lang="en-US" sz="1350" dirty="0"/>
              <a:t>sickness</a:t>
            </a:r>
          </a:p>
          <a:p>
            <a:pPr algn="r">
              <a:spcAft>
                <a:spcPts val="900"/>
              </a:spcAft>
            </a:pPr>
            <a:r>
              <a:rPr lang="en-US" sz="1350" dirty="0"/>
              <a:t>and</a:t>
            </a:r>
          </a:p>
          <a:p>
            <a:pPr algn="r">
              <a:spcAft>
                <a:spcPts val="900"/>
              </a:spcAft>
            </a:pPr>
            <a:r>
              <a:rPr lang="en-US" sz="1350" dirty="0"/>
              <a:t>I</a:t>
            </a:r>
          </a:p>
          <a:p>
            <a:pPr algn="r">
              <a:spcAft>
                <a:spcPts val="900"/>
              </a:spcAft>
            </a:pPr>
            <a:r>
              <a:rPr lang="en-US" sz="1350" dirty="0"/>
              <a:t>is</a:t>
            </a:r>
          </a:p>
          <a:p>
            <a:pPr algn="r">
              <a:spcAft>
                <a:spcPts val="900"/>
              </a:spcAft>
            </a:pPr>
            <a:r>
              <a:rPr lang="en-US" sz="1350" dirty="0"/>
              <a:t>how</a:t>
            </a:r>
          </a:p>
          <a:p>
            <a:pPr algn="r">
              <a:spcAft>
                <a:spcPts val="900"/>
              </a:spcAft>
            </a:pPr>
            <a:r>
              <a:rPr lang="en-US" sz="1350" dirty="0"/>
              <a:t>out</a:t>
            </a:r>
          </a:p>
          <a:p>
            <a:pPr algn="r">
              <a:spcAft>
                <a:spcPts val="900"/>
              </a:spcAft>
            </a:pPr>
            <a:r>
              <a:rPr lang="en-US" sz="1350" dirty="0"/>
              <a:t>breastfeed</a:t>
            </a:r>
          </a:p>
          <a:p>
            <a:pPr algn="r">
              <a:spcAft>
                <a:spcPts val="900"/>
              </a:spcAft>
            </a:pPr>
            <a:r>
              <a:rPr lang="en-US" sz="1350" dirty="0"/>
              <a:t>passed</a:t>
            </a:r>
          </a:p>
          <a:p>
            <a:pPr algn="r">
              <a:spcAft>
                <a:spcPts val="900"/>
              </a:spcAft>
            </a:pPr>
            <a:r>
              <a:rPr lang="en-US" sz="1350" dirty="0"/>
              <a:t>where</a:t>
            </a:r>
          </a:p>
        </p:txBody>
      </p:sp>
      <p:graphicFrame>
        <p:nvGraphicFramePr>
          <p:cNvPr id="4" name="Table 3"/>
          <p:cNvGraphicFramePr>
            <a:graphicFrameLocks noGrp="1"/>
          </p:cNvGraphicFramePr>
          <p:nvPr/>
        </p:nvGraphicFramePr>
        <p:xfrm>
          <a:off x="758681" y="2352522"/>
          <a:ext cx="7637736" cy="278130"/>
        </p:xfrm>
        <a:graphic>
          <a:graphicData uri="http://schemas.openxmlformats.org/drawingml/2006/table">
            <a:tbl>
              <a:tblPr firstRow="1" bandRow="1">
                <a:tableStyleId>{5C22544A-7EE6-4342-B048-85BDC9FD1C3A}</a:tableStyleId>
              </a:tblPr>
              <a:tblGrid>
                <a:gridCol w="318239">
                  <a:extLst>
                    <a:ext uri="{9D8B030D-6E8A-4147-A177-3AD203B41FA5}">
                      <a16:colId xmlns:a16="http://schemas.microsoft.com/office/drawing/2014/main" val="2123615854"/>
                    </a:ext>
                  </a:extLst>
                </a:gridCol>
                <a:gridCol w="318239">
                  <a:extLst>
                    <a:ext uri="{9D8B030D-6E8A-4147-A177-3AD203B41FA5}">
                      <a16:colId xmlns:a16="http://schemas.microsoft.com/office/drawing/2014/main" val="1026716743"/>
                    </a:ext>
                  </a:extLst>
                </a:gridCol>
                <a:gridCol w="318239">
                  <a:extLst>
                    <a:ext uri="{9D8B030D-6E8A-4147-A177-3AD203B41FA5}">
                      <a16:colId xmlns:a16="http://schemas.microsoft.com/office/drawing/2014/main" val="96650165"/>
                    </a:ext>
                  </a:extLst>
                </a:gridCol>
                <a:gridCol w="318239">
                  <a:extLst>
                    <a:ext uri="{9D8B030D-6E8A-4147-A177-3AD203B41FA5}">
                      <a16:colId xmlns:a16="http://schemas.microsoft.com/office/drawing/2014/main" val="3474831274"/>
                    </a:ext>
                  </a:extLst>
                </a:gridCol>
                <a:gridCol w="318239">
                  <a:extLst>
                    <a:ext uri="{9D8B030D-6E8A-4147-A177-3AD203B41FA5}">
                      <a16:colId xmlns:a16="http://schemas.microsoft.com/office/drawing/2014/main" val="217631323"/>
                    </a:ext>
                  </a:extLst>
                </a:gridCol>
                <a:gridCol w="318239">
                  <a:extLst>
                    <a:ext uri="{9D8B030D-6E8A-4147-A177-3AD203B41FA5}">
                      <a16:colId xmlns:a16="http://schemas.microsoft.com/office/drawing/2014/main" val="3527401608"/>
                    </a:ext>
                  </a:extLst>
                </a:gridCol>
                <a:gridCol w="318239">
                  <a:extLst>
                    <a:ext uri="{9D8B030D-6E8A-4147-A177-3AD203B41FA5}">
                      <a16:colId xmlns:a16="http://schemas.microsoft.com/office/drawing/2014/main" val="71044606"/>
                    </a:ext>
                  </a:extLst>
                </a:gridCol>
                <a:gridCol w="318239">
                  <a:extLst>
                    <a:ext uri="{9D8B030D-6E8A-4147-A177-3AD203B41FA5}">
                      <a16:colId xmlns:a16="http://schemas.microsoft.com/office/drawing/2014/main" val="1617904699"/>
                    </a:ext>
                  </a:extLst>
                </a:gridCol>
                <a:gridCol w="318239">
                  <a:extLst>
                    <a:ext uri="{9D8B030D-6E8A-4147-A177-3AD203B41FA5}">
                      <a16:colId xmlns:a16="http://schemas.microsoft.com/office/drawing/2014/main" val="1019104690"/>
                    </a:ext>
                  </a:extLst>
                </a:gridCol>
                <a:gridCol w="318239">
                  <a:extLst>
                    <a:ext uri="{9D8B030D-6E8A-4147-A177-3AD203B41FA5}">
                      <a16:colId xmlns:a16="http://schemas.microsoft.com/office/drawing/2014/main" val="1607840343"/>
                    </a:ext>
                  </a:extLst>
                </a:gridCol>
                <a:gridCol w="318239">
                  <a:extLst>
                    <a:ext uri="{9D8B030D-6E8A-4147-A177-3AD203B41FA5}">
                      <a16:colId xmlns:a16="http://schemas.microsoft.com/office/drawing/2014/main" val="3897121448"/>
                    </a:ext>
                  </a:extLst>
                </a:gridCol>
                <a:gridCol w="318239">
                  <a:extLst>
                    <a:ext uri="{9D8B030D-6E8A-4147-A177-3AD203B41FA5}">
                      <a16:colId xmlns:a16="http://schemas.microsoft.com/office/drawing/2014/main" val="1233070038"/>
                    </a:ext>
                  </a:extLst>
                </a:gridCol>
                <a:gridCol w="318239">
                  <a:extLst>
                    <a:ext uri="{9D8B030D-6E8A-4147-A177-3AD203B41FA5}">
                      <a16:colId xmlns:a16="http://schemas.microsoft.com/office/drawing/2014/main" val="227495959"/>
                    </a:ext>
                  </a:extLst>
                </a:gridCol>
                <a:gridCol w="318239">
                  <a:extLst>
                    <a:ext uri="{9D8B030D-6E8A-4147-A177-3AD203B41FA5}">
                      <a16:colId xmlns:a16="http://schemas.microsoft.com/office/drawing/2014/main" val="368435216"/>
                    </a:ext>
                  </a:extLst>
                </a:gridCol>
                <a:gridCol w="318239">
                  <a:extLst>
                    <a:ext uri="{9D8B030D-6E8A-4147-A177-3AD203B41FA5}">
                      <a16:colId xmlns:a16="http://schemas.microsoft.com/office/drawing/2014/main" val="4289944958"/>
                    </a:ext>
                  </a:extLst>
                </a:gridCol>
                <a:gridCol w="318239">
                  <a:extLst>
                    <a:ext uri="{9D8B030D-6E8A-4147-A177-3AD203B41FA5}">
                      <a16:colId xmlns:a16="http://schemas.microsoft.com/office/drawing/2014/main" val="2658057197"/>
                    </a:ext>
                  </a:extLst>
                </a:gridCol>
                <a:gridCol w="318239">
                  <a:extLst>
                    <a:ext uri="{9D8B030D-6E8A-4147-A177-3AD203B41FA5}">
                      <a16:colId xmlns:a16="http://schemas.microsoft.com/office/drawing/2014/main" val="3671936088"/>
                    </a:ext>
                  </a:extLst>
                </a:gridCol>
                <a:gridCol w="318239">
                  <a:extLst>
                    <a:ext uri="{9D8B030D-6E8A-4147-A177-3AD203B41FA5}">
                      <a16:colId xmlns:a16="http://schemas.microsoft.com/office/drawing/2014/main" val="2143562426"/>
                    </a:ext>
                  </a:extLst>
                </a:gridCol>
                <a:gridCol w="318239">
                  <a:extLst>
                    <a:ext uri="{9D8B030D-6E8A-4147-A177-3AD203B41FA5}">
                      <a16:colId xmlns:a16="http://schemas.microsoft.com/office/drawing/2014/main" val="1783432820"/>
                    </a:ext>
                  </a:extLst>
                </a:gridCol>
                <a:gridCol w="318239">
                  <a:extLst>
                    <a:ext uri="{9D8B030D-6E8A-4147-A177-3AD203B41FA5}">
                      <a16:colId xmlns:a16="http://schemas.microsoft.com/office/drawing/2014/main" val="2886668387"/>
                    </a:ext>
                  </a:extLst>
                </a:gridCol>
                <a:gridCol w="318239">
                  <a:extLst>
                    <a:ext uri="{9D8B030D-6E8A-4147-A177-3AD203B41FA5}">
                      <a16:colId xmlns:a16="http://schemas.microsoft.com/office/drawing/2014/main" val="1859944802"/>
                    </a:ext>
                  </a:extLst>
                </a:gridCol>
                <a:gridCol w="318239">
                  <a:extLst>
                    <a:ext uri="{9D8B030D-6E8A-4147-A177-3AD203B41FA5}">
                      <a16:colId xmlns:a16="http://schemas.microsoft.com/office/drawing/2014/main" val="433105886"/>
                    </a:ext>
                  </a:extLst>
                </a:gridCol>
                <a:gridCol w="318239">
                  <a:extLst>
                    <a:ext uri="{9D8B030D-6E8A-4147-A177-3AD203B41FA5}">
                      <a16:colId xmlns:a16="http://schemas.microsoft.com/office/drawing/2014/main" val="1830972493"/>
                    </a:ext>
                  </a:extLst>
                </a:gridCol>
                <a:gridCol w="318239">
                  <a:extLst>
                    <a:ext uri="{9D8B030D-6E8A-4147-A177-3AD203B41FA5}">
                      <a16:colId xmlns:a16="http://schemas.microsoft.com/office/drawing/2014/main" val="2541127130"/>
                    </a:ext>
                  </a:extLst>
                </a:gridCol>
              </a:tblGrid>
              <a:tr h="278130">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2</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8829326"/>
                  </a:ext>
                </a:extLst>
              </a:tr>
            </a:tbl>
          </a:graphicData>
        </a:graphic>
      </p:graphicFrame>
      <p:sp>
        <p:nvSpPr>
          <p:cNvPr id="5" name="TextBox 4"/>
          <p:cNvSpPr txBox="1"/>
          <p:nvPr/>
        </p:nvSpPr>
        <p:spPr>
          <a:xfrm>
            <a:off x="3114010" y="1877937"/>
            <a:ext cx="3037691" cy="300082"/>
          </a:xfrm>
          <a:prstGeom prst="rect">
            <a:avLst/>
          </a:prstGeom>
          <a:noFill/>
        </p:spPr>
        <p:txBody>
          <a:bodyPr wrap="none" rtlCol="0">
            <a:spAutoFit/>
          </a:bodyPr>
          <a:lstStyle/>
          <a:p>
            <a:r>
              <a:rPr lang="en-US" sz="1350" dirty="0"/>
              <a:t>I passed out and Mom said I was shaking</a:t>
            </a:r>
          </a:p>
        </p:txBody>
      </p:sp>
      <p:sp>
        <p:nvSpPr>
          <p:cNvPr id="26" name="TextBox 25">
            <a:extLst>
              <a:ext uri="{FF2B5EF4-FFF2-40B4-BE49-F238E27FC236}">
                <a16:creationId xmlns:a16="http://schemas.microsoft.com/office/drawing/2014/main" id="{CC32AC06-632F-43A5-BCC3-B6853BF55ED1}"/>
              </a:ext>
            </a:extLst>
          </p:cNvPr>
          <p:cNvSpPr txBox="1"/>
          <p:nvPr/>
        </p:nvSpPr>
        <p:spPr>
          <a:xfrm>
            <a:off x="253396" y="232793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3</a:t>
            </a:r>
            <a:endParaRPr lang="en-US" sz="2098"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7986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p:txBody>
          <a:bodyPr>
            <a:noAutofit/>
          </a:bodyPr>
          <a:lstStyle/>
          <a:p>
            <a:pPr algn="l"/>
            <a:r>
              <a:rPr lang="en-US" sz="3000" dirty="0"/>
              <a:t>Note that word order does not matter!</a:t>
            </a:r>
            <a:endParaRPr lang="en-US" sz="3000" u="sng" dirty="0"/>
          </a:p>
        </p:txBody>
      </p:sp>
      <p:sp>
        <p:nvSpPr>
          <p:cNvPr id="24" name="TextBox 23"/>
          <p:cNvSpPr txBox="1"/>
          <p:nvPr/>
        </p:nvSpPr>
        <p:spPr>
          <a:xfrm rot="16200000">
            <a:off x="4190882" y="-707793"/>
            <a:ext cx="1076234" cy="7940635"/>
          </a:xfrm>
          <a:prstGeom prst="rect">
            <a:avLst/>
          </a:prstGeom>
          <a:noFill/>
        </p:spPr>
        <p:txBody>
          <a:bodyPr wrap="square" numCol="1" rtlCol="0">
            <a:spAutoFit/>
          </a:bodyPr>
          <a:lstStyle/>
          <a:p>
            <a:pPr algn="r">
              <a:spcAft>
                <a:spcPts val="900"/>
              </a:spcAft>
            </a:pPr>
            <a:r>
              <a:rPr lang="en-US" sz="1350" dirty="0"/>
              <a:t>shaking</a:t>
            </a:r>
          </a:p>
          <a:p>
            <a:pPr algn="r">
              <a:spcAft>
                <a:spcPts val="900"/>
              </a:spcAft>
            </a:pPr>
            <a:r>
              <a:rPr lang="en-US" sz="1350" dirty="0"/>
              <a:t>what</a:t>
            </a:r>
          </a:p>
          <a:p>
            <a:pPr algn="r">
              <a:spcAft>
                <a:spcPts val="900"/>
              </a:spcAft>
            </a:pPr>
            <a:r>
              <a:rPr lang="en-US" sz="1350" dirty="0"/>
              <a:t>clinic</a:t>
            </a:r>
          </a:p>
          <a:p>
            <a:pPr algn="r">
              <a:spcAft>
                <a:spcPts val="900"/>
              </a:spcAft>
            </a:pPr>
            <a:r>
              <a:rPr lang="en-US" sz="1350" dirty="0"/>
              <a:t>how</a:t>
            </a:r>
          </a:p>
          <a:p>
            <a:pPr algn="r">
              <a:spcAft>
                <a:spcPts val="900"/>
              </a:spcAft>
            </a:pPr>
            <a:r>
              <a:rPr lang="en-US" sz="1350" dirty="0"/>
              <a:t>helps</a:t>
            </a:r>
          </a:p>
          <a:p>
            <a:pPr algn="r">
              <a:spcAft>
                <a:spcPts val="900"/>
              </a:spcAft>
            </a:pPr>
            <a:r>
              <a:rPr lang="en-US" sz="1350" dirty="0"/>
              <a:t>was</a:t>
            </a:r>
          </a:p>
          <a:p>
            <a:pPr algn="r">
              <a:spcAft>
                <a:spcPts val="900"/>
              </a:spcAft>
            </a:pPr>
            <a:r>
              <a:rPr lang="en-US" sz="1350" dirty="0"/>
              <a:t>nearest</a:t>
            </a:r>
          </a:p>
          <a:p>
            <a:pPr algn="r">
              <a:spcAft>
                <a:spcPts val="900"/>
              </a:spcAft>
            </a:pPr>
            <a:r>
              <a:rPr lang="en-US" sz="1350" dirty="0"/>
              <a:t>many</a:t>
            </a:r>
          </a:p>
          <a:p>
            <a:pPr algn="r">
              <a:spcAft>
                <a:spcPts val="900"/>
              </a:spcAft>
            </a:pPr>
            <a:r>
              <a:rPr lang="en-US" sz="1350" dirty="0"/>
              <a:t>with</a:t>
            </a:r>
          </a:p>
          <a:p>
            <a:pPr algn="r">
              <a:spcAft>
                <a:spcPts val="900"/>
              </a:spcAft>
            </a:pPr>
            <a:r>
              <a:rPr lang="en-US" sz="1350" dirty="0"/>
              <a:t>said</a:t>
            </a:r>
          </a:p>
          <a:p>
            <a:pPr algn="r">
              <a:spcAft>
                <a:spcPts val="900"/>
              </a:spcAft>
            </a:pPr>
            <a:r>
              <a:rPr lang="en-US" sz="1350" dirty="0"/>
              <a:t>months</a:t>
            </a:r>
          </a:p>
          <a:p>
            <a:pPr algn="r">
              <a:spcAft>
                <a:spcPts val="900"/>
              </a:spcAft>
            </a:pPr>
            <a:r>
              <a:rPr lang="en-US" sz="1350" dirty="0"/>
              <a:t>the</a:t>
            </a:r>
          </a:p>
          <a:p>
            <a:pPr algn="r">
              <a:spcAft>
                <a:spcPts val="900"/>
              </a:spcAft>
            </a:pPr>
            <a:r>
              <a:rPr lang="en-US" sz="1350" dirty="0"/>
              <a:t>morning</a:t>
            </a:r>
          </a:p>
          <a:p>
            <a:pPr algn="r">
              <a:spcAft>
                <a:spcPts val="900"/>
              </a:spcAft>
            </a:pPr>
            <a:r>
              <a:rPr lang="en-US" sz="1350" dirty="0"/>
              <a:t>mom</a:t>
            </a:r>
          </a:p>
          <a:p>
            <a:pPr algn="r">
              <a:spcAft>
                <a:spcPts val="900"/>
              </a:spcAft>
            </a:pPr>
            <a:r>
              <a:rPr lang="en-US" sz="1350" dirty="0"/>
              <a:t>should</a:t>
            </a:r>
          </a:p>
          <a:p>
            <a:pPr algn="r">
              <a:spcAft>
                <a:spcPts val="900"/>
              </a:spcAft>
            </a:pPr>
            <a:r>
              <a:rPr lang="en-US" sz="1350" dirty="0"/>
              <a:t>sickness</a:t>
            </a:r>
          </a:p>
          <a:p>
            <a:pPr algn="r">
              <a:spcAft>
                <a:spcPts val="900"/>
              </a:spcAft>
            </a:pPr>
            <a:r>
              <a:rPr lang="en-US" sz="1350" dirty="0"/>
              <a:t>and</a:t>
            </a:r>
          </a:p>
          <a:p>
            <a:pPr algn="r">
              <a:spcAft>
                <a:spcPts val="900"/>
              </a:spcAft>
            </a:pPr>
            <a:r>
              <a:rPr lang="en-US" sz="1350" dirty="0"/>
              <a:t>I</a:t>
            </a:r>
          </a:p>
          <a:p>
            <a:pPr algn="r">
              <a:spcAft>
                <a:spcPts val="900"/>
              </a:spcAft>
            </a:pPr>
            <a:r>
              <a:rPr lang="en-US" sz="1350" dirty="0"/>
              <a:t>is</a:t>
            </a:r>
          </a:p>
          <a:p>
            <a:pPr algn="r">
              <a:spcAft>
                <a:spcPts val="900"/>
              </a:spcAft>
            </a:pPr>
            <a:r>
              <a:rPr lang="en-US" sz="1350" dirty="0"/>
              <a:t>how</a:t>
            </a:r>
          </a:p>
          <a:p>
            <a:pPr algn="r">
              <a:spcAft>
                <a:spcPts val="900"/>
              </a:spcAft>
            </a:pPr>
            <a:r>
              <a:rPr lang="en-US" sz="1350" dirty="0"/>
              <a:t>out</a:t>
            </a:r>
          </a:p>
          <a:p>
            <a:pPr algn="r">
              <a:spcAft>
                <a:spcPts val="900"/>
              </a:spcAft>
            </a:pPr>
            <a:r>
              <a:rPr lang="en-US" sz="1350" dirty="0"/>
              <a:t>breastfeed</a:t>
            </a:r>
          </a:p>
          <a:p>
            <a:pPr algn="r">
              <a:spcAft>
                <a:spcPts val="900"/>
              </a:spcAft>
            </a:pPr>
            <a:r>
              <a:rPr lang="en-US" sz="1350" dirty="0"/>
              <a:t>passed</a:t>
            </a:r>
          </a:p>
          <a:p>
            <a:pPr algn="r">
              <a:spcAft>
                <a:spcPts val="900"/>
              </a:spcAft>
            </a:pPr>
            <a:r>
              <a:rPr lang="en-US" sz="1350" dirty="0"/>
              <a:t>where</a:t>
            </a:r>
          </a:p>
        </p:txBody>
      </p:sp>
      <p:graphicFrame>
        <p:nvGraphicFramePr>
          <p:cNvPr id="4" name="Table 3"/>
          <p:cNvGraphicFramePr>
            <a:graphicFrameLocks noGrp="1"/>
          </p:cNvGraphicFramePr>
          <p:nvPr/>
        </p:nvGraphicFramePr>
        <p:xfrm>
          <a:off x="758681" y="2352522"/>
          <a:ext cx="7637736" cy="278130"/>
        </p:xfrm>
        <a:graphic>
          <a:graphicData uri="http://schemas.openxmlformats.org/drawingml/2006/table">
            <a:tbl>
              <a:tblPr firstRow="1" bandRow="1">
                <a:tableStyleId>{5C22544A-7EE6-4342-B048-85BDC9FD1C3A}</a:tableStyleId>
              </a:tblPr>
              <a:tblGrid>
                <a:gridCol w="318239">
                  <a:extLst>
                    <a:ext uri="{9D8B030D-6E8A-4147-A177-3AD203B41FA5}">
                      <a16:colId xmlns:a16="http://schemas.microsoft.com/office/drawing/2014/main" val="2123615854"/>
                    </a:ext>
                  </a:extLst>
                </a:gridCol>
                <a:gridCol w="318239">
                  <a:extLst>
                    <a:ext uri="{9D8B030D-6E8A-4147-A177-3AD203B41FA5}">
                      <a16:colId xmlns:a16="http://schemas.microsoft.com/office/drawing/2014/main" val="1026716743"/>
                    </a:ext>
                  </a:extLst>
                </a:gridCol>
                <a:gridCol w="318239">
                  <a:extLst>
                    <a:ext uri="{9D8B030D-6E8A-4147-A177-3AD203B41FA5}">
                      <a16:colId xmlns:a16="http://schemas.microsoft.com/office/drawing/2014/main" val="96650165"/>
                    </a:ext>
                  </a:extLst>
                </a:gridCol>
                <a:gridCol w="318239">
                  <a:extLst>
                    <a:ext uri="{9D8B030D-6E8A-4147-A177-3AD203B41FA5}">
                      <a16:colId xmlns:a16="http://schemas.microsoft.com/office/drawing/2014/main" val="3474831274"/>
                    </a:ext>
                  </a:extLst>
                </a:gridCol>
                <a:gridCol w="318239">
                  <a:extLst>
                    <a:ext uri="{9D8B030D-6E8A-4147-A177-3AD203B41FA5}">
                      <a16:colId xmlns:a16="http://schemas.microsoft.com/office/drawing/2014/main" val="217631323"/>
                    </a:ext>
                  </a:extLst>
                </a:gridCol>
                <a:gridCol w="318239">
                  <a:extLst>
                    <a:ext uri="{9D8B030D-6E8A-4147-A177-3AD203B41FA5}">
                      <a16:colId xmlns:a16="http://schemas.microsoft.com/office/drawing/2014/main" val="3527401608"/>
                    </a:ext>
                  </a:extLst>
                </a:gridCol>
                <a:gridCol w="318239">
                  <a:extLst>
                    <a:ext uri="{9D8B030D-6E8A-4147-A177-3AD203B41FA5}">
                      <a16:colId xmlns:a16="http://schemas.microsoft.com/office/drawing/2014/main" val="71044606"/>
                    </a:ext>
                  </a:extLst>
                </a:gridCol>
                <a:gridCol w="318239">
                  <a:extLst>
                    <a:ext uri="{9D8B030D-6E8A-4147-A177-3AD203B41FA5}">
                      <a16:colId xmlns:a16="http://schemas.microsoft.com/office/drawing/2014/main" val="1617904699"/>
                    </a:ext>
                  </a:extLst>
                </a:gridCol>
                <a:gridCol w="318239">
                  <a:extLst>
                    <a:ext uri="{9D8B030D-6E8A-4147-A177-3AD203B41FA5}">
                      <a16:colId xmlns:a16="http://schemas.microsoft.com/office/drawing/2014/main" val="1019104690"/>
                    </a:ext>
                  </a:extLst>
                </a:gridCol>
                <a:gridCol w="318239">
                  <a:extLst>
                    <a:ext uri="{9D8B030D-6E8A-4147-A177-3AD203B41FA5}">
                      <a16:colId xmlns:a16="http://schemas.microsoft.com/office/drawing/2014/main" val="1607840343"/>
                    </a:ext>
                  </a:extLst>
                </a:gridCol>
                <a:gridCol w="318239">
                  <a:extLst>
                    <a:ext uri="{9D8B030D-6E8A-4147-A177-3AD203B41FA5}">
                      <a16:colId xmlns:a16="http://schemas.microsoft.com/office/drawing/2014/main" val="3897121448"/>
                    </a:ext>
                  </a:extLst>
                </a:gridCol>
                <a:gridCol w="318239">
                  <a:extLst>
                    <a:ext uri="{9D8B030D-6E8A-4147-A177-3AD203B41FA5}">
                      <a16:colId xmlns:a16="http://schemas.microsoft.com/office/drawing/2014/main" val="1233070038"/>
                    </a:ext>
                  </a:extLst>
                </a:gridCol>
                <a:gridCol w="318239">
                  <a:extLst>
                    <a:ext uri="{9D8B030D-6E8A-4147-A177-3AD203B41FA5}">
                      <a16:colId xmlns:a16="http://schemas.microsoft.com/office/drawing/2014/main" val="227495959"/>
                    </a:ext>
                  </a:extLst>
                </a:gridCol>
                <a:gridCol w="318239">
                  <a:extLst>
                    <a:ext uri="{9D8B030D-6E8A-4147-A177-3AD203B41FA5}">
                      <a16:colId xmlns:a16="http://schemas.microsoft.com/office/drawing/2014/main" val="368435216"/>
                    </a:ext>
                  </a:extLst>
                </a:gridCol>
                <a:gridCol w="318239">
                  <a:extLst>
                    <a:ext uri="{9D8B030D-6E8A-4147-A177-3AD203B41FA5}">
                      <a16:colId xmlns:a16="http://schemas.microsoft.com/office/drawing/2014/main" val="4289944958"/>
                    </a:ext>
                  </a:extLst>
                </a:gridCol>
                <a:gridCol w="318239">
                  <a:extLst>
                    <a:ext uri="{9D8B030D-6E8A-4147-A177-3AD203B41FA5}">
                      <a16:colId xmlns:a16="http://schemas.microsoft.com/office/drawing/2014/main" val="2658057197"/>
                    </a:ext>
                  </a:extLst>
                </a:gridCol>
                <a:gridCol w="318239">
                  <a:extLst>
                    <a:ext uri="{9D8B030D-6E8A-4147-A177-3AD203B41FA5}">
                      <a16:colId xmlns:a16="http://schemas.microsoft.com/office/drawing/2014/main" val="3671936088"/>
                    </a:ext>
                  </a:extLst>
                </a:gridCol>
                <a:gridCol w="318239">
                  <a:extLst>
                    <a:ext uri="{9D8B030D-6E8A-4147-A177-3AD203B41FA5}">
                      <a16:colId xmlns:a16="http://schemas.microsoft.com/office/drawing/2014/main" val="2143562426"/>
                    </a:ext>
                  </a:extLst>
                </a:gridCol>
                <a:gridCol w="318239">
                  <a:extLst>
                    <a:ext uri="{9D8B030D-6E8A-4147-A177-3AD203B41FA5}">
                      <a16:colId xmlns:a16="http://schemas.microsoft.com/office/drawing/2014/main" val="1783432820"/>
                    </a:ext>
                  </a:extLst>
                </a:gridCol>
                <a:gridCol w="318239">
                  <a:extLst>
                    <a:ext uri="{9D8B030D-6E8A-4147-A177-3AD203B41FA5}">
                      <a16:colId xmlns:a16="http://schemas.microsoft.com/office/drawing/2014/main" val="2886668387"/>
                    </a:ext>
                  </a:extLst>
                </a:gridCol>
                <a:gridCol w="318239">
                  <a:extLst>
                    <a:ext uri="{9D8B030D-6E8A-4147-A177-3AD203B41FA5}">
                      <a16:colId xmlns:a16="http://schemas.microsoft.com/office/drawing/2014/main" val="1859944802"/>
                    </a:ext>
                  </a:extLst>
                </a:gridCol>
                <a:gridCol w="318239">
                  <a:extLst>
                    <a:ext uri="{9D8B030D-6E8A-4147-A177-3AD203B41FA5}">
                      <a16:colId xmlns:a16="http://schemas.microsoft.com/office/drawing/2014/main" val="433105886"/>
                    </a:ext>
                  </a:extLst>
                </a:gridCol>
                <a:gridCol w="318239">
                  <a:extLst>
                    <a:ext uri="{9D8B030D-6E8A-4147-A177-3AD203B41FA5}">
                      <a16:colId xmlns:a16="http://schemas.microsoft.com/office/drawing/2014/main" val="1830972493"/>
                    </a:ext>
                  </a:extLst>
                </a:gridCol>
                <a:gridCol w="318239">
                  <a:extLst>
                    <a:ext uri="{9D8B030D-6E8A-4147-A177-3AD203B41FA5}">
                      <a16:colId xmlns:a16="http://schemas.microsoft.com/office/drawing/2014/main" val="2541127130"/>
                    </a:ext>
                  </a:extLst>
                </a:gridCol>
              </a:tblGrid>
              <a:tr h="278130">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0</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000" dirty="0">
                          <a:solidFill>
                            <a:schemeClr val="tx1"/>
                          </a:solidFill>
                        </a:rPr>
                        <a:t>1</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8829326"/>
                  </a:ext>
                </a:extLst>
              </a:tr>
            </a:tbl>
          </a:graphicData>
        </a:graphic>
      </p:graphicFrame>
      <p:sp>
        <p:nvSpPr>
          <p:cNvPr id="5" name="TextBox 4"/>
          <p:cNvSpPr txBox="1"/>
          <p:nvPr/>
        </p:nvSpPr>
        <p:spPr>
          <a:xfrm>
            <a:off x="3627829" y="1877937"/>
            <a:ext cx="2016771" cy="300082"/>
          </a:xfrm>
          <a:prstGeom prst="rect">
            <a:avLst/>
          </a:prstGeom>
          <a:noFill/>
        </p:spPr>
        <p:txBody>
          <a:bodyPr wrap="none" rtlCol="0">
            <a:spAutoFit/>
          </a:bodyPr>
          <a:lstStyle/>
          <a:p>
            <a:r>
              <a:rPr lang="en-US" sz="1350" dirty="0"/>
              <a:t>clinic is where nearest the</a:t>
            </a:r>
          </a:p>
        </p:txBody>
      </p:sp>
      <p:sp>
        <p:nvSpPr>
          <p:cNvPr id="6" name="TextBox 5">
            <a:extLst>
              <a:ext uri="{FF2B5EF4-FFF2-40B4-BE49-F238E27FC236}">
                <a16:creationId xmlns:a16="http://schemas.microsoft.com/office/drawing/2014/main" id="{CC32AC06-632F-43A5-BCC3-B6853BF55ED1}"/>
              </a:ext>
            </a:extLst>
          </p:cNvPr>
          <p:cNvSpPr txBox="1"/>
          <p:nvPr/>
        </p:nvSpPr>
        <p:spPr>
          <a:xfrm>
            <a:off x="253396" y="2327932"/>
            <a:ext cx="4076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i="1" baseline="-25000" dirty="0">
                <a:latin typeface="Times New Roman" panose="02020603050405020304" pitchFamily="18" charset="0"/>
                <a:cs typeface="Times New Roman" panose="02020603050405020304" pitchFamily="18" charset="0"/>
              </a:rPr>
              <a:t>4</a:t>
            </a:r>
            <a:endParaRPr lang="en-US" sz="2098"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27081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elated image"/>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625603" y="2214948"/>
            <a:ext cx="1722870" cy="17228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A “bag of words”</a:t>
            </a:r>
          </a:p>
        </p:txBody>
      </p:sp>
      <p:sp>
        <p:nvSpPr>
          <p:cNvPr id="4" name="TextBox 3"/>
          <p:cNvSpPr txBox="1"/>
          <p:nvPr/>
        </p:nvSpPr>
        <p:spPr>
          <a:xfrm>
            <a:off x="3955537" y="3070200"/>
            <a:ext cx="543739" cy="300082"/>
          </a:xfrm>
          <a:prstGeom prst="rect">
            <a:avLst/>
          </a:prstGeom>
          <a:noFill/>
        </p:spPr>
        <p:txBody>
          <a:bodyPr wrap="none" rtlCol="0">
            <a:spAutoFit/>
          </a:bodyPr>
          <a:lstStyle/>
          <a:p>
            <a:r>
              <a:rPr lang="en-US" sz="1350" dirty="0"/>
              <a:t>clinic</a:t>
            </a:r>
          </a:p>
        </p:txBody>
      </p:sp>
      <p:sp>
        <p:nvSpPr>
          <p:cNvPr id="5" name="TextBox 4"/>
          <p:cNvSpPr txBox="1"/>
          <p:nvPr/>
        </p:nvSpPr>
        <p:spPr>
          <a:xfrm>
            <a:off x="4222424" y="3531843"/>
            <a:ext cx="292068" cy="300082"/>
          </a:xfrm>
          <a:prstGeom prst="rect">
            <a:avLst/>
          </a:prstGeom>
          <a:noFill/>
        </p:spPr>
        <p:txBody>
          <a:bodyPr wrap="none" rtlCol="0">
            <a:spAutoFit/>
          </a:bodyPr>
          <a:lstStyle/>
          <a:p>
            <a:r>
              <a:rPr lang="en-US" sz="1350" dirty="0"/>
              <a:t>is</a:t>
            </a:r>
          </a:p>
        </p:txBody>
      </p:sp>
      <p:sp>
        <p:nvSpPr>
          <p:cNvPr id="6" name="TextBox 5"/>
          <p:cNvSpPr txBox="1"/>
          <p:nvPr/>
        </p:nvSpPr>
        <p:spPr>
          <a:xfrm>
            <a:off x="3849605" y="3294556"/>
            <a:ext cx="631198" cy="300082"/>
          </a:xfrm>
          <a:prstGeom prst="rect">
            <a:avLst/>
          </a:prstGeom>
          <a:noFill/>
        </p:spPr>
        <p:txBody>
          <a:bodyPr wrap="none" rtlCol="0">
            <a:spAutoFit/>
          </a:bodyPr>
          <a:lstStyle/>
          <a:p>
            <a:r>
              <a:rPr lang="en-US" sz="1350" dirty="0"/>
              <a:t>where</a:t>
            </a:r>
          </a:p>
        </p:txBody>
      </p:sp>
      <p:sp>
        <p:nvSpPr>
          <p:cNvPr id="7" name="TextBox 6"/>
          <p:cNvSpPr txBox="1"/>
          <p:nvPr/>
        </p:nvSpPr>
        <p:spPr>
          <a:xfrm>
            <a:off x="4471502" y="3402865"/>
            <a:ext cx="420308" cy="300082"/>
          </a:xfrm>
          <a:prstGeom prst="rect">
            <a:avLst/>
          </a:prstGeom>
          <a:noFill/>
        </p:spPr>
        <p:txBody>
          <a:bodyPr wrap="none" rtlCol="0">
            <a:spAutoFit/>
          </a:bodyPr>
          <a:lstStyle/>
          <a:p>
            <a:r>
              <a:rPr lang="en-US" sz="1350" dirty="0"/>
              <a:t>the</a:t>
            </a:r>
          </a:p>
        </p:txBody>
      </p:sp>
      <p:sp>
        <p:nvSpPr>
          <p:cNvPr id="8" name="TextBox 7"/>
          <p:cNvSpPr txBox="1"/>
          <p:nvPr/>
        </p:nvSpPr>
        <p:spPr>
          <a:xfrm>
            <a:off x="4380850" y="3125866"/>
            <a:ext cx="714234" cy="300082"/>
          </a:xfrm>
          <a:prstGeom prst="rect">
            <a:avLst/>
          </a:prstGeom>
          <a:noFill/>
        </p:spPr>
        <p:txBody>
          <a:bodyPr wrap="none" rtlCol="0">
            <a:spAutoFit/>
          </a:bodyPr>
          <a:lstStyle/>
          <a:p>
            <a:r>
              <a:rPr lang="en-US" sz="1350" dirty="0"/>
              <a:t>nearest</a:t>
            </a:r>
          </a:p>
        </p:txBody>
      </p:sp>
    </p:spTree>
    <p:extLst>
      <p:ext uri="{BB962C8B-B14F-4D97-AF65-F5344CB8AC3E}">
        <p14:creationId xmlns:p14="http://schemas.microsoft.com/office/powerpoint/2010/main" val="13371936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C28C9-C0B3-8D78-FFCA-5B74E7229E24}"/>
            </a:ext>
          </a:extLst>
        </p:cNvPr>
        <p:cNvGrpSpPr/>
        <p:nvPr/>
      </p:nvGrpSpPr>
      <p:grpSpPr>
        <a:xfrm>
          <a:off x="0" y="0"/>
          <a:ext cx="0" cy="0"/>
          <a:chOff x="0" y="0"/>
          <a:chExt cx="0" cy="0"/>
        </a:xfrm>
      </p:grpSpPr>
      <p:pic>
        <p:nvPicPr>
          <p:cNvPr id="1028" name="Picture 4" descr="Related image">
            <a:extLst>
              <a:ext uri="{FF2B5EF4-FFF2-40B4-BE49-F238E27FC236}">
                <a16:creationId xmlns:a16="http://schemas.microsoft.com/office/drawing/2014/main" id="{CB9B92AF-A756-A215-12A5-C51FE21373F1}"/>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892397" y="1268016"/>
            <a:ext cx="1722870" cy="17228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8E7675E-27AA-AC94-E754-1F4DAF1702A5}"/>
              </a:ext>
            </a:extLst>
          </p:cNvPr>
          <p:cNvSpPr>
            <a:spLocks noGrp="1"/>
          </p:cNvSpPr>
          <p:nvPr>
            <p:ph type="title"/>
          </p:nvPr>
        </p:nvSpPr>
        <p:spPr/>
        <p:txBody>
          <a:bodyPr/>
          <a:lstStyle/>
          <a:p>
            <a:r>
              <a:rPr lang="en-US" dirty="0"/>
              <a:t>A “bag of medical codes”</a:t>
            </a:r>
          </a:p>
        </p:txBody>
      </p:sp>
      <p:sp>
        <p:nvSpPr>
          <p:cNvPr id="4" name="TextBox 3">
            <a:extLst>
              <a:ext uri="{FF2B5EF4-FFF2-40B4-BE49-F238E27FC236}">
                <a16:creationId xmlns:a16="http://schemas.microsoft.com/office/drawing/2014/main" id="{BD5A2F07-EE1E-F043-5F75-8218A479B746}"/>
              </a:ext>
            </a:extLst>
          </p:cNvPr>
          <p:cNvSpPr txBox="1"/>
          <p:nvPr/>
        </p:nvSpPr>
        <p:spPr>
          <a:xfrm>
            <a:off x="2190432" y="2070103"/>
            <a:ext cx="591829" cy="307777"/>
          </a:xfrm>
          <a:prstGeom prst="rect">
            <a:avLst/>
          </a:prstGeom>
          <a:noFill/>
        </p:spPr>
        <p:txBody>
          <a:bodyPr wrap="none" rtlCol="0">
            <a:spAutoFit/>
          </a:bodyPr>
          <a:lstStyle/>
          <a:p>
            <a:r>
              <a:rPr lang="en-US" sz="1400" dirty="0"/>
              <a:t>E55.9</a:t>
            </a:r>
          </a:p>
        </p:txBody>
      </p:sp>
      <p:sp>
        <p:nvSpPr>
          <p:cNvPr id="5" name="TextBox 4">
            <a:extLst>
              <a:ext uri="{FF2B5EF4-FFF2-40B4-BE49-F238E27FC236}">
                <a16:creationId xmlns:a16="http://schemas.microsoft.com/office/drawing/2014/main" id="{1D96B855-235D-E069-29D7-13999041BE67}"/>
              </a:ext>
            </a:extLst>
          </p:cNvPr>
          <p:cNvSpPr txBox="1"/>
          <p:nvPr/>
        </p:nvSpPr>
        <p:spPr>
          <a:xfrm>
            <a:off x="2446686" y="2606177"/>
            <a:ext cx="604653" cy="300082"/>
          </a:xfrm>
          <a:prstGeom prst="rect">
            <a:avLst/>
          </a:prstGeom>
          <a:noFill/>
        </p:spPr>
        <p:txBody>
          <a:bodyPr wrap="none" rtlCol="0">
            <a:spAutoFit/>
          </a:bodyPr>
          <a:lstStyle/>
          <a:p>
            <a:r>
              <a:rPr lang="en-US" sz="1350" dirty="0"/>
              <a:t>N39.0</a:t>
            </a:r>
          </a:p>
        </p:txBody>
      </p:sp>
      <p:sp>
        <p:nvSpPr>
          <p:cNvPr id="6" name="TextBox 5">
            <a:extLst>
              <a:ext uri="{FF2B5EF4-FFF2-40B4-BE49-F238E27FC236}">
                <a16:creationId xmlns:a16="http://schemas.microsoft.com/office/drawing/2014/main" id="{DC6295D7-F7B4-92E2-9453-89E2B9E27CCC}"/>
              </a:ext>
            </a:extLst>
          </p:cNvPr>
          <p:cNvSpPr txBox="1"/>
          <p:nvPr/>
        </p:nvSpPr>
        <p:spPr>
          <a:xfrm>
            <a:off x="2116399" y="2347624"/>
            <a:ext cx="662361" cy="300082"/>
          </a:xfrm>
          <a:prstGeom prst="rect">
            <a:avLst/>
          </a:prstGeom>
          <a:noFill/>
        </p:spPr>
        <p:txBody>
          <a:bodyPr wrap="none" rtlCol="0">
            <a:spAutoFit/>
          </a:bodyPr>
          <a:lstStyle/>
          <a:p>
            <a:r>
              <a:rPr lang="en-US" sz="1350" dirty="0"/>
              <a:t>Z79.01</a:t>
            </a:r>
          </a:p>
        </p:txBody>
      </p:sp>
      <p:sp>
        <p:nvSpPr>
          <p:cNvPr id="7" name="TextBox 6">
            <a:extLst>
              <a:ext uri="{FF2B5EF4-FFF2-40B4-BE49-F238E27FC236}">
                <a16:creationId xmlns:a16="http://schemas.microsoft.com/office/drawing/2014/main" id="{E1470739-A038-E519-CE57-39F9AFC31CDA}"/>
              </a:ext>
            </a:extLst>
          </p:cNvPr>
          <p:cNvSpPr txBox="1"/>
          <p:nvPr/>
        </p:nvSpPr>
        <p:spPr>
          <a:xfrm>
            <a:off x="2738296" y="2402768"/>
            <a:ext cx="577402" cy="300082"/>
          </a:xfrm>
          <a:prstGeom prst="rect">
            <a:avLst/>
          </a:prstGeom>
          <a:noFill/>
        </p:spPr>
        <p:txBody>
          <a:bodyPr wrap="none" rtlCol="0">
            <a:spAutoFit/>
          </a:bodyPr>
          <a:lstStyle/>
          <a:p>
            <a:r>
              <a:rPr lang="en-US" sz="1350" dirty="0"/>
              <a:t>E11.9</a:t>
            </a:r>
          </a:p>
        </p:txBody>
      </p:sp>
      <p:sp>
        <p:nvSpPr>
          <p:cNvPr id="8" name="TextBox 7">
            <a:extLst>
              <a:ext uri="{FF2B5EF4-FFF2-40B4-BE49-F238E27FC236}">
                <a16:creationId xmlns:a16="http://schemas.microsoft.com/office/drawing/2014/main" id="{4C7CFEB6-3517-5605-C680-33666136CF67}"/>
              </a:ext>
            </a:extLst>
          </p:cNvPr>
          <p:cNvSpPr txBox="1"/>
          <p:nvPr/>
        </p:nvSpPr>
        <p:spPr>
          <a:xfrm>
            <a:off x="2690176" y="2178934"/>
            <a:ext cx="572593" cy="300082"/>
          </a:xfrm>
          <a:prstGeom prst="rect">
            <a:avLst/>
          </a:prstGeom>
          <a:noFill/>
        </p:spPr>
        <p:txBody>
          <a:bodyPr wrap="none" rtlCol="0">
            <a:spAutoFit/>
          </a:bodyPr>
          <a:lstStyle/>
          <a:p>
            <a:r>
              <a:rPr lang="en-US" sz="1350" dirty="0"/>
              <a:t>F84.5</a:t>
            </a:r>
          </a:p>
        </p:txBody>
      </p:sp>
      <p:pic>
        <p:nvPicPr>
          <p:cNvPr id="3" name="Picture 2">
            <a:extLst>
              <a:ext uri="{FF2B5EF4-FFF2-40B4-BE49-F238E27FC236}">
                <a16:creationId xmlns:a16="http://schemas.microsoft.com/office/drawing/2014/main" id="{CF46638A-8249-7EEF-3EE0-C3F9466C55D6}"/>
              </a:ext>
            </a:extLst>
          </p:cNvPr>
          <p:cNvPicPr>
            <a:picLocks noChangeAspect="1"/>
          </p:cNvPicPr>
          <p:nvPr/>
        </p:nvPicPr>
        <p:blipFill>
          <a:blip r:embed="rId3"/>
          <a:stretch>
            <a:fillRect/>
          </a:stretch>
        </p:blipFill>
        <p:spPr>
          <a:xfrm>
            <a:off x="189241" y="3347667"/>
            <a:ext cx="8765518" cy="1538222"/>
          </a:xfrm>
          <a:prstGeom prst="rect">
            <a:avLst/>
          </a:prstGeom>
          <a:ln>
            <a:solidFill>
              <a:schemeClr val="tx1"/>
            </a:solidFill>
          </a:ln>
        </p:spPr>
      </p:pic>
      <p:sp>
        <p:nvSpPr>
          <p:cNvPr id="9" name="TextBox 8">
            <a:extLst>
              <a:ext uri="{FF2B5EF4-FFF2-40B4-BE49-F238E27FC236}">
                <a16:creationId xmlns:a16="http://schemas.microsoft.com/office/drawing/2014/main" id="{5447EFD6-6915-6E62-70CD-2F8B3AF76E47}"/>
              </a:ext>
            </a:extLst>
          </p:cNvPr>
          <p:cNvSpPr txBox="1"/>
          <p:nvPr/>
        </p:nvSpPr>
        <p:spPr>
          <a:xfrm>
            <a:off x="4903784" y="1970401"/>
            <a:ext cx="3611566" cy="369332"/>
          </a:xfrm>
          <a:prstGeom prst="rect">
            <a:avLst/>
          </a:prstGeom>
          <a:noFill/>
        </p:spPr>
        <p:txBody>
          <a:bodyPr wrap="none" rtlCol="0">
            <a:spAutoFit/>
          </a:bodyPr>
          <a:lstStyle/>
          <a:p>
            <a:r>
              <a:rPr lang="en-US" dirty="0"/>
              <a:t>(you did this in coding assignment 1)</a:t>
            </a:r>
          </a:p>
        </p:txBody>
      </p:sp>
    </p:spTree>
    <p:extLst>
      <p:ext uri="{BB962C8B-B14F-4D97-AF65-F5344CB8AC3E}">
        <p14:creationId xmlns:p14="http://schemas.microsoft.com/office/powerpoint/2010/main" val="22728183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BFC9-08B6-9141-87F1-96E4551A043D}"/>
              </a:ext>
            </a:extLst>
          </p:cNvPr>
          <p:cNvSpPr>
            <a:spLocks noGrp="1"/>
          </p:cNvSpPr>
          <p:nvPr>
            <p:ph type="title"/>
          </p:nvPr>
        </p:nvSpPr>
        <p:spPr/>
        <p:txBody>
          <a:bodyPr>
            <a:normAutofit/>
          </a:bodyPr>
          <a:lstStyle/>
          <a:p>
            <a:r>
              <a:rPr lang="en-US" dirty="0"/>
              <a:t>Now we can use logistic regression.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E8CB7BD-1BF3-2044-88C1-8975BFB84F7A}"/>
                  </a:ext>
                </a:extLst>
              </p:cNvPr>
              <p:cNvSpPr txBox="1"/>
              <p:nvPr/>
            </p:nvSpPr>
            <p:spPr>
              <a:xfrm>
                <a:off x="915061" y="1569035"/>
                <a:ext cx="7560211"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3000" b="0" i="0" smtClean="0">
                          <a:latin typeface="Cambria Math" panose="02040503050406030204" pitchFamily="18" charset="0"/>
                        </a:rPr>
                        <m:t>URGENCY</m:t>
                      </m:r>
                      <m:r>
                        <a:rPr lang="en-US" sz="3000">
                          <a:latin typeface="Cambria Math" panose="02040503050406030204" pitchFamily="18" charset="0"/>
                        </a:rPr>
                        <m:t> </m:t>
                      </m:r>
                      <m:r>
                        <m:rPr>
                          <m:sty m:val="p"/>
                        </m:rPr>
                        <a:rPr lang="en-US" sz="3000">
                          <a:latin typeface="Cambria Math" panose="02040503050406030204" pitchFamily="18" charset="0"/>
                        </a:rPr>
                        <m:t>LOG</m:t>
                      </m:r>
                      <m:r>
                        <a:rPr lang="en-US" sz="3000">
                          <a:latin typeface="Cambria Math" panose="02040503050406030204" pitchFamily="18" charset="0"/>
                        </a:rPr>
                        <m:t> </m:t>
                      </m:r>
                      <m:r>
                        <m:rPr>
                          <m:sty m:val="p"/>
                        </m:rPr>
                        <a:rPr lang="en-US" sz="3000">
                          <a:latin typeface="Cambria Math" panose="02040503050406030204" pitchFamily="18" charset="0"/>
                        </a:rPr>
                        <m:t>ODDS</m:t>
                      </m:r>
                      <m:r>
                        <a:rPr lang="en-US" sz="3000" i="1">
                          <a:latin typeface="Cambria Math" panose="02040503050406030204" pitchFamily="18" charset="0"/>
                        </a:rPr>
                        <m:t>=</m:t>
                      </m:r>
                      <m:r>
                        <a:rPr lang="en-US" sz="3000" i="1">
                          <a:latin typeface="Cambria Math" panose="02040503050406030204" pitchFamily="18" charset="0"/>
                        </a:rPr>
                        <m:t>𝛽</m:t>
                      </m:r>
                      <m:r>
                        <a:rPr lang="en-US" sz="3000" i="1" baseline="-25000">
                          <a:latin typeface="Cambria Math" panose="02040503050406030204" pitchFamily="18" charset="0"/>
                        </a:rPr>
                        <m:t>0</m:t>
                      </m:r>
                      <m:r>
                        <a:rPr lang="en-US" sz="3000" i="1">
                          <a:latin typeface="Cambria Math" panose="02040503050406030204" pitchFamily="18" charset="0"/>
                        </a:rPr>
                        <m:t>+</m:t>
                      </m:r>
                      <m:r>
                        <a:rPr lang="en-US" sz="3000" i="1">
                          <a:latin typeface="Cambria Math" panose="02040503050406030204" pitchFamily="18" charset="0"/>
                        </a:rPr>
                        <m:t>𝛽</m:t>
                      </m:r>
                      <m:r>
                        <a:rPr lang="en-US" sz="3000" i="1" baseline="-25000">
                          <a:latin typeface="Cambria Math" panose="02040503050406030204" pitchFamily="18" charset="0"/>
                        </a:rPr>
                        <m:t>1</m:t>
                      </m:r>
                      <m:r>
                        <a:rPr lang="en-US" sz="3000" i="1">
                          <a:latin typeface="Cambria Math" panose="02040503050406030204" pitchFamily="18" charset="0"/>
                        </a:rPr>
                        <m:t>𝑥</m:t>
                      </m:r>
                      <m:r>
                        <a:rPr lang="en-US" sz="3000" i="1" baseline="-25000">
                          <a:latin typeface="Cambria Math" panose="02040503050406030204" pitchFamily="18" charset="0"/>
                        </a:rPr>
                        <m:t>1</m:t>
                      </m:r>
                      <m:r>
                        <a:rPr lang="en-US" sz="3000" i="1">
                          <a:latin typeface="Cambria Math" panose="02040503050406030204" pitchFamily="18" charset="0"/>
                        </a:rPr>
                        <m:t>+</m:t>
                      </m:r>
                      <m:r>
                        <a:rPr lang="en-US" sz="3000" i="1">
                          <a:latin typeface="Cambria Math" panose="02040503050406030204" pitchFamily="18" charset="0"/>
                        </a:rPr>
                        <m:t>𝛽</m:t>
                      </m:r>
                      <m:r>
                        <a:rPr lang="en-US" sz="3000" i="1" baseline="-25000">
                          <a:latin typeface="Cambria Math" panose="02040503050406030204" pitchFamily="18" charset="0"/>
                        </a:rPr>
                        <m:t>2</m:t>
                      </m:r>
                      <m:r>
                        <a:rPr lang="en-US" sz="3000" i="1">
                          <a:latin typeface="Cambria Math" panose="02040503050406030204" pitchFamily="18" charset="0"/>
                        </a:rPr>
                        <m:t>𝑥</m:t>
                      </m:r>
                      <m:r>
                        <a:rPr lang="en-US" sz="3000" i="1" baseline="-25000">
                          <a:latin typeface="Cambria Math" panose="02040503050406030204" pitchFamily="18" charset="0"/>
                        </a:rPr>
                        <m:t>2</m:t>
                      </m:r>
                      <m:r>
                        <a:rPr lang="en-US" sz="3000" i="1">
                          <a:latin typeface="Cambria Math" panose="02040503050406030204" pitchFamily="18" charset="0"/>
                        </a:rPr>
                        <m:t>+…</m:t>
                      </m:r>
                    </m:oMath>
                  </m:oMathPara>
                </a14:m>
                <a:endParaRPr lang="en-US" sz="3000" dirty="0"/>
              </a:p>
            </p:txBody>
          </p:sp>
        </mc:Choice>
        <mc:Fallback xmlns="">
          <p:sp>
            <p:nvSpPr>
              <p:cNvPr id="5" name="TextBox 4">
                <a:extLst>
                  <a:ext uri="{FF2B5EF4-FFF2-40B4-BE49-F238E27FC236}">
                    <a16:creationId xmlns:a16="http://schemas.microsoft.com/office/drawing/2014/main" id="{AE8CB7BD-1BF3-2044-88C1-8975BFB84F7A}"/>
                  </a:ext>
                </a:extLst>
              </p:cNvPr>
              <p:cNvSpPr txBox="1">
                <a:spLocks noRot="1" noChangeAspect="1" noMove="1" noResize="1" noEditPoints="1" noAdjustHandles="1" noChangeArrowheads="1" noChangeShapeType="1" noTextEdit="1"/>
              </p:cNvSpPr>
              <p:nvPr/>
            </p:nvSpPr>
            <p:spPr>
              <a:xfrm>
                <a:off x="915061" y="1569035"/>
                <a:ext cx="7560211" cy="461665"/>
              </a:xfrm>
              <a:prstGeom prst="rect">
                <a:avLst/>
              </a:prstGeom>
              <a:blipFill>
                <a:blip r:embed="rId3"/>
                <a:stretch>
                  <a:fillRect l="-671" t="-8108" b="-37838"/>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0B5B754-51FE-A94F-A056-B6109A1F44EE}"/>
              </a:ext>
            </a:extLst>
          </p:cNvPr>
          <p:cNvSpPr txBox="1"/>
          <p:nvPr/>
        </p:nvSpPr>
        <p:spPr>
          <a:xfrm>
            <a:off x="5830380" y="3007378"/>
            <a:ext cx="3157758" cy="738023"/>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associated label:</a:t>
            </a:r>
          </a:p>
          <a:p>
            <a:r>
              <a:rPr lang="en-US" sz="2098" dirty="0">
                <a:latin typeface="Times New Roman" panose="02020603050405020304" pitchFamily="18" charset="0"/>
                <a:cs typeface="Times New Roman" panose="02020603050405020304" pitchFamily="18" charset="0"/>
              </a:rPr>
              <a:t>(0 = not urgent, 1 = urgent)</a:t>
            </a:r>
          </a:p>
        </p:txBody>
      </p:sp>
      <p:graphicFrame>
        <p:nvGraphicFramePr>
          <p:cNvPr id="20" name="Table 19">
            <a:extLst>
              <a:ext uri="{FF2B5EF4-FFF2-40B4-BE49-F238E27FC236}">
                <a16:creationId xmlns:a16="http://schemas.microsoft.com/office/drawing/2014/main" id="{D5FF801F-27E2-6A4D-869B-4B14E91B4ACA}"/>
              </a:ext>
            </a:extLst>
          </p:cNvPr>
          <p:cNvGraphicFramePr>
            <a:graphicFrameLocks noGrp="1"/>
          </p:cNvGraphicFramePr>
          <p:nvPr/>
        </p:nvGraphicFramePr>
        <p:xfrm>
          <a:off x="457200" y="3696124"/>
          <a:ext cx="4295776" cy="530890"/>
        </p:xfrm>
        <a:graphic>
          <a:graphicData uri="http://schemas.openxmlformats.org/drawingml/2006/table">
            <a:tbl>
              <a:tblPr firstRow="1" bandRow="1">
                <a:tableStyleId>{5C22544A-7EE6-4342-B048-85BDC9FD1C3A}</a:tableStyleId>
              </a:tblPr>
              <a:tblGrid>
                <a:gridCol w="536972">
                  <a:extLst>
                    <a:ext uri="{9D8B030D-6E8A-4147-A177-3AD203B41FA5}">
                      <a16:colId xmlns:a16="http://schemas.microsoft.com/office/drawing/2014/main" val="3005286385"/>
                    </a:ext>
                  </a:extLst>
                </a:gridCol>
                <a:gridCol w="536972">
                  <a:extLst>
                    <a:ext uri="{9D8B030D-6E8A-4147-A177-3AD203B41FA5}">
                      <a16:colId xmlns:a16="http://schemas.microsoft.com/office/drawing/2014/main" val="4002730172"/>
                    </a:ext>
                  </a:extLst>
                </a:gridCol>
                <a:gridCol w="536972">
                  <a:extLst>
                    <a:ext uri="{9D8B030D-6E8A-4147-A177-3AD203B41FA5}">
                      <a16:colId xmlns:a16="http://schemas.microsoft.com/office/drawing/2014/main" val="440623976"/>
                    </a:ext>
                  </a:extLst>
                </a:gridCol>
                <a:gridCol w="536972">
                  <a:extLst>
                    <a:ext uri="{9D8B030D-6E8A-4147-A177-3AD203B41FA5}">
                      <a16:colId xmlns:a16="http://schemas.microsoft.com/office/drawing/2014/main" val="2300620790"/>
                    </a:ext>
                  </a:extLst>
                </a:gridCol>
                <a:gridCol w="536972">
                  <a:extLst>
                    <a:ext uri="{9D8B030D-6E8A-4147-A177-3AD203B41FA5}">
                      <a16:colId xmlns:a16="http://schemas.microsoft.com/office/drawing/2014/main" val="387841067"/>
                    </a:ext>
                  </a:extLst>
                </a:gridCol>
                <a:gridCol w="536972">
                  <a:extLst>
                    <a:ext uri="{9D8B030D-6E8A-4147-A177-3AD203B41FA5}">
                      <a16:colId xmlns:a16="http://schemas.microsoft.com/office/drawing/2014/main" val="2317106339"/>
                    </a:ext>
                  </a:extLst>
                </a:gridCol>
                <a:gridCol w="536972">
                  <a:extLst>
                    <a:ext uri="{9D8B030D-6E8A-4147-A177-3AD203B41FA5}">
                      <a16:colId xmlns:a16="http://schemas.microsoft.com/office/drawing/2014/main" val="3112262120"/>
                    </a:ext>
                  </a:extLst>
                </a:gridCol>
                <a:gridCol w="536972">
                  <a:extLst>
                    <a:ext uri="{9D8B030D-6E8A-4147-A177-3AD203B41FA5}">
                      <a16:colId xmlns:a16="http://schemas.microsoft.com/office/drawing/2014/main" val="1492693499"/>
                    </a:ext>
                  </a:extLst>
                </a:gridCol>
              </a:tblGrid>
              <a:tr h="530890">
                <a:tc>
                  <a:txBody>
                    <a:bodyPr/>
                    <a:lstStyle/>
                    <a:p>
                      <a:pPr algn="ctr"/>
                      <a:r>
                        <a:rPr lang="en-US" sz="1800" dirty="0">
                          <a:solidFill>
                            <a:schemeClr val="tx1"/>
                          </a:solidFill>
                        </a:rPr>
                        <a:t>x</a:t>
                      </a:r>
                      <a:r>
                        <a:rPr lang="en-US" sz="1800" baseline="-25000" dirty="0">
                          <a:solidFill>
                            <a:schemeClr val="tx1"/>
                          </a:solidFill>
                        </a:rPr>
                        <a:t>1</a:t>
                      </a:r>
                      <a:endParaRPr lang="en-US" sz="1800" baseline="0" dirty="0">
                        <a:solidFill>
                          <a:schemeClr val="tx1"/>
                        </a:solidFill>
                      </a:endParaRP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1800" dirty="0">
                          <a:solidFill>
                            <a:schemeClr val="tx1"/>
                          </a:solidFill>
                        </a:rPr>
                        <a:t>x</a:t>
                      </a:r>
                      <a:r>
                        <a:rPr lang="en-US" sz="1800" baseline="-25000" dirty="0">
                          <a:solidFill>
                            <a:schemeClr val="tx1"/>
                          </a:solidFill>
                        </a:rPr>
                        <a:t>2</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1800" dirty="0">
                          <a:solidFill>
                            <a:schemeClr val="tx1"/>
                          </a:solidFill>
                        </a:rPr>
                        <a:t>x</a:t>
                      </a:r>
                      <a:r>
                        <a:rPr lang="en-US" sz="1800" baseline="-25000" dirty="0">
                          <a:solidFill>
                            <a:schemeClr val="tx1"/>
                          </a:solidFill>
                        </a:rPr>
                        <a:t>3</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1800" dirty="0">
                          <a:solidFill>
                            <a:schemeClr val="tx1"/>
                          </a:solidFill>
                        </a:rPr>
                        <a:t>x</a:t>
                      </a:r>
                      <a:r>
                        <a:rPr lang="en-US" sz="1800" baseline="-25000" dirty="0">
                          <a:solidFill>
                            <a:schemeClr val="tx1"/>
                          </a:solidFill>
                        </a:rPr>
                        <a:t>4</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1800" dirty="0">
                          <a:solidFill>
                            <a:schemeClr val="tx1"/>
                          </a:solidFill>
                        </a:rPr>
                        <a:t>x</a:t>
                      </a:r>
                      <a:r>
                        <a:rPr lang="en-US" sz="1800" baseline="-25000" dirty="0">
                          <a:solidFill>
                            <a:schemeClr val="tx1"/>
                          </a:solidFill>
                        </a:rPr>
                        <a:t>5</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1800" dirty="0">
                          <a:solidFill>
                            <a:schemeClr val="tx1"/>
                          </a:solidFill>
                        </a:rPr>
                        <a:t>x</a:t>
                      </a:r>
                      <a:r>
                        <a:rPr lang="en-US" sz="1800" baseline="-25000" dirty="0">
                          <a:solidFill>
                            <a:schemeClr val="tx1"/>
                          </a:solidFill>
                        </a:rPr>
                        <a:t>6</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1800" dirty="0">
                          <a:solidFill>
                            <a:schemeClr val="tx1"/>
                          </a:solidFill>
                        </a:rPr>
                        <a:t>x</a:t>
                      </a:r>
                      <a:r>
                        <a:rPr lang="en-US" sz="1800" baseline="-25000" dirty="0">
                          <a:solidFill>
                            <a:schemeClr val="tx1"/>
                          </a:solidFill>
                        </a:rPr>
                        <a:t>7</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1800" dirty="0">
                          <a:solidFill>
                            <a:schemeClr val="tx1"/>
                          </a:solidFill>
                        </a:rPr>
                        <a:t>x</a:t>
                      </a:r>
                      <a:r>
                        <a:rPr lang="en-US" sz="1800" baseline="-25000" dirty="0">
                          <a:solidFill>
                            <a:schemeClr val="tx1"/>
                          </a:solidFill>
                        </a:rPr>
                        <a:t>8</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21" name="Table 20">
            <a:extLst>
              <a:ext uri="{FF2B5EF4-FFF2-40B4-BE49-F238E27FC236}">
                <a16:creationId xmlns:a16="http://schemas.microsoft.com/office/drawing/2014/main" id="{6DD45568-F134-054B-AB85-EA1DBA682FCD}"/>
              </a:ext>
            </a:extLst>
          </p:cNvPr>
          <p:cNvGraphicFramePr>
            <a:graphicFrameLocks noGrp="1"/>
          </p:cNvGraphicFramePr>
          <p:nvPr/>
        </p:nvGraphicFramePr>
        <p:xfrm>
          <a:off x="6068110" y="2241895"/>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pPr algn="ctr"/>
                      <a:r>
                        <a:rPr lang="en-US" sz="1000" dirty="0">
                          <a:solidFill>
                            <a:schemeClr val="tx1"/>
                          </a:solidFill>
                        </a:rPr>
                        <a:t>y</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24" name="Straight Arrow Connector 23">
            <a:extLst>
              <a:ext uri="{FF2B5EF4-FFF2-40B4-BE49-F238E27FC236}">
                <a16:creationId xmlns:a16="http://schemas.microsoft.com/office/drawing/2014/main" id="{06D7D232-509F-114A-9965-79FB3B02ED0A}"/>
              </a:ext>
            </a:extLst>
          </p:cNvPr>
          <p:cNvCxnSpPr>
            <a:cxnSpLocks/>
          </p:cNvCxnSpPr>
          <p:nvPr/>
        </p:nvCxnSpPr>
        <p:spPr>
          <a:xfrm flipV="1">
            <a:off x="714375" y="2774572"/>
            <a:ext cx="1926206" cy="9215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F31D012E-283B-F54A-BD66-686AE7318C28}"/>
              </a:ext>
            </a:extLst>
          </p:cNvPr>
          <p:cNvCxnSpPr>
            <a:cxnSpLocks/>
          </p:cNvCxnSpPr>
          <p:nvPr/>
        </p:nvCxnSpPr>
        <p:spPr>
          <a:xfrm flipV="1">
            <a:off x="1257300" y="2774572"/>
            <a:ext cx="1383281" cy="9215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7104BF68-3121-7543-9009-E1CB45AFA61E}"/>
              </a:ext>
            </a:extLst>
          </p:cNvPr>
          <p:cNvCxnSpPr>
            <a:cxnSpLocks/>
          </p:cNvCxnSpPr>
          <p:nvPr/>
        </p:nvCxnSpPr>
        <p:spPr>
          <a:xfrm flipH="1" flipV="1">
            <a:off x="2640580" y="2774572"/>
            <a:ext cx="754631" cy="917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27D776F5-26AD-694C-9A11-C5F30FA1476A}"/>
              </a:ext>
            </a:extLst>
          </p:cNvPr>
          <p:cNvCxnSpPr>
            <a:cxnSpLocks/>
          </p:cNvCxnSpPr>
          <p:nvPr/>
        </p:nvCxnSpPr>
        <p:spPr>
          <a:xfrm flipV="1">
            <a:off x="1824577" y="2774572"/>
            <a:ext cx="816004" cy="917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145CD86-D85F-814D-9579-1198E2B34DDC}"/>
              </a:ext>
            </a:extLst>
          </p:cNvPr>
          <p:cNvCxnSpPr>
            <a:cxnSpLocks/>
          </p:cNvCxnSpPr>
          <p:nvPr/>
        </p:nvCxnSpPr>
        <p:spPr>
          <a:xfrm flipV="1">
            <a:off x="2334703" y="2774572"/>
            <a:ext cx="305878" cy="917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EE0E5CCB-3F6F-4242-A38C-193DDBAA712A}"/>
              </a:ext>
            </a:extLst>
          </p:cNvPr>
          <p:cNvCxnSpPr>
            <a:cxnSpLocks/>
          </p:cNvCxnSpPr>
          <p:nvPr/>
        </p:nvCxnSpPr>
        <p:spPr>
          <a:xfrm flipH="1" flipV="1">
            <a:off x="2640581" y="2774572"/>
            <a:ext cx="257175" cy="917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EDAA6A46-DD1B-0240-94AD-CFC139A9FD24}"/>
              </a:ext>
            </a:extLst>
          </p:cNvPr>
          <p:cNvCxnSpPr>
            <a:cxnSpLocks/>
          </p:cNvCxnSpPr>
          <p:nvPr/>
        </p:nvCxnSpPr>
        <p:spPr>
          <a:xfrm flipH="1" flipV="1">
            <a:off x="2640581" y="2774572"/>
            <a:ext cx="1371600" cy="917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AA619066-C03B-DF40-81BA-A6A7BC71317E}"/>
              </a:ext>
            </a:extLst>
          </p:cNvPr>
          <p:cNvCxnSpPr>
            <a:cxnSpLocks/>
          </p:cNvCxnSpPr>
          <p:nvPr/>
        </p:nvCxnSpPr>
        <p:spPr>
          <a:xfrm flipH="1" flipV="1">
            <a:off x="2640580" y="2774572"/>
            <a:ext cx="1867604" cy="917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40A0CF62-549C-574C-9F1A-ECB6AAB7712C}"/>
              </a:ext>
            </a:extLst>
          </p:cNvPr>
          <p:cNvCxnSpPr>
            <a:cxnSpLocks/>
            <a:stCxn id="52" idx="3"/>
          </p:cNvCxnSpPr>
          <p:nvPr/>
        </p:nvCxnSpPr>
        <p:spPr>
          <a:xfrm>
            <a:off x="3045678" y="2507339"/>
            <a:ext cx="116004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CA0DAA8-EA8C-FC43-BF62-5299C04999FE}"/>
                  </a:ext>
                </a:extLst>
              </p:cNvPr>
              <p:cNvSpPr txBox="1"/>
              <p:nvPr/>
            </p:nvSpPr>
            <p:spPr>
              <a:xfrm>
                <a:off x="1105444" y="3007379"/>
                <a:ext cx="3056927" cy="3157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100" i="1" smtClean="0">
                          <a:latin typeface="Cambria Math" panose="02040503050406030204" pitchFamily="18" charset="0"/>
                        </a:rPr>
                        <m:t>𝛽</m:t>
                      </m:r>
                      <m:r>
                        <a:rPr lang="en-US" sz="2100" b="0" i="1" baseline="-25000" smtClean="0">
                          <a:latin typeface="Cambria Math" panose="02040503050406030204" pitchFamily="18" charset="0"/>
                        </a:rPr>
                        <m:t>1</m:t>
                      </m:r>
                      <m:r>
                        <a:rPr lang="en-US" sz="2100" i="1">
                          <a:latin typeface="Cambria Math" panose="02040503050406030204" pitchFamily="18" charset="0"/>
                        </a:rPr>
                        <m:t>                                          </m:t>
                      </m:r>
                      <m:r>
                        <a:rPr lang="en-US" sz="2100" i="1">
                          <a:latin typeface="Cambria Math" panose="02040503050406030204" pitchFamily="18" charset="0"/>
                        </a:rPr>
                        <m:t>𝛽</m:t>
                      </m:r>
                      <m:r>
                        <a:rPr lang="en-US" sz="2100" b="0" i="1" baseline="-25000" smtClean="0">
                          <a:latin typeface="Cambria Math" panose="02040503050406030204" pitchFamily="18" charset="0"/>
                        </a:rPr>
                        <m:t>8</m:t>
                      </m:r>
                    </m:oMath>
                  </m:oMathPara>
                </a14:m>
                <a:endParaRPr lang="en-US" sz="2100" baseline="-25000" dirty="0"/>
              </a:p>
            </p:txBody>
          </p:sp>
        </mc:Choice>
        <mc:Fallback xmlns="">
          <p:sp>
            <p:nvSpPr>
              <p:cNvPr id="50" name="TextBox 49">
                <a:extLst>
                  <a:ext uri="{FF2B5EF4-FFF2-40B4-BE49-F238E27FC236}">
                    <a16:creationId xmlns:a16="http://schemas.microsoft.com/office/drawing/2014/main" id="{ECA0DAA8-EA8C-FC43-BF62-5299C04999FE}"/>
                  </a:ext>
                </a:extLst>
              </p:cNvPr>
              <p:cNvSpPr txBox="1">
                <a:spLocks noRot="1" noChangeAspect="1" noMove="1" noResize="1" noEditPoints="1" noAdjustHandles="1" noChangeArrowheads="1" noChangeShapeType="1" noTextEdit="1"/>
              </p:cNvSpPr>
              <p:nvPr/>
            </p:nvSpPr>
            <p:spPr>
              <a:xfrm>
                <a:off x="1105444" y="3007379"/>
                <a:ext cx="3056927" cy="315727"/>
              </a:xfrm>
              <a:prstGeom prst="rect">
                <a:avLst/>
              </a:prstGeom>
              <a:blipFill>
                <a:blip r:embed="rId4"/>
                <a:stretch>
                  <a:fillRect l="-2479" t="-3846" r="-826" b="-42308"/>
                </a:stretch>
              </a:blipFill>
            </p:spPr>
            <p:txBody>
              <a:bodyPr/>
              <a:lstStyle/>
              <a:p>
                <a:r>
                  <a:rPr lang="en-US">
                    <a:noFill/>
                  </a:rPr>
                  <a:t> </a:t>
                </a:r>
              </a:p>
            </p:txBody>
          </p:sp>
        </mc:Fallback>
      </mc:AlternateContent>
      <p:graphicFrame>
        <p:nvGraphicFramePr>
          <p:cNvPr id="52" name="Table 51">
            <a:extLst>
              <a:ext uri="{FF2B5EF4-FFF2-40B4-BE49-F238E27FC236}">
                <a16:creationId xmlns:a16="http://schemas.microsoft.com/office/drawing/2014/main" id="{9E997665-9453-F34D-9151-0F053E35EF03}"/>
              </a:ext>
            </a:extLst>
          </p:cNvPr>
          <p:cNvGraphicFramePr>
            <a:graphicFrameLocks noGrp="1"/>
          </p:cNvGraphicFramePr>
          <p:nvPr/>
        </p:nvGraphicFramePr>
        <p:xfrm>
          <a:off x="2274774" y="2241895"/>
          <a:ext cx="770905" cy="530890"/>
        </p:xfrm>
        <a:graphic>
          <a:graphicData uri="http://schemas.openxmlformats.org/drawingml/2006/table">
            <a:tbl>
              <a:tblPr firstRow="1" bandRow="1">
                <a:tableStyleId>{5C22544A-7EE6-4342-B048-85BDC9FD1C3A}</a:tableStyleId>
              </a:tblPr>
              <a:tblGrid>
                <a:gridCol w="770905">
                  <a:extLst>
                    <a:ext uri="{9D8B030D-6E8A-4147-A177-3AD203B41FA5}">
                      <a16:colId xmlns:a16="http://schemas.microsoft.com/office/drawing/2014/main" val="4002730172"/>
                    </a:ext>
                  </a:extLst>
                </a:gridCol>
              </a:tblGrid>
              <a:tr h="530890">
                <a:tc>
                  <a:txBody>
                    <a:bodyPr/>
                    <a:lstStyle/>
                    <a:p>
                      <a:pPr algn="ctr"/>
                      <a:r>
                        <a:rPr lang="en-US" sz="1000" dirty="0">
                          <a:solidFill>
                            <a:schemeClr val="tx1"/>
                          </a:solidFill>
                        </a:rPr>
                        <a:t>LOG ODDS</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56" name="Oval 55">
            <a:extLst>
              <a:ext uri="{FF2B5EF4-FFF2-40B4-BE49-F238E27FC236}">
                <a16:creationId xmlns:a16="http://schemas.microsoft.com/office/drawing/2014/main" id="{A9BAF5F3-ED7D-A749-9BD9-9D8EBAD76781}"/>
              </a:ext>
            </a:extLst>
          </p:cNvPr>
          <p:cNvSpPr/>
          <p:nvPr/>
        </p:nvSpPr>
        <p:spPr>
          <a:xfrm>
            <a:off x="4205722" y="2272188"/>
            <a:ext cx="452115" cy="470301"/>
          </a:xfrm>
          <a:prstGeom prst="ellipse">
            <a:avLst/>
          </a:prstGeom>
        </p:spPr>
        <p:style>
          <a:lnRef idx="2">
            <a:schemeClr val="dk1"/>
          </a:lnRef>
          <a:fillRef idx="1">
            <a:schemeClr val="lt1"/>
          </a:fillRef>
          <a:effectRef idx="0">
            <a:schemeClr val="dk1"/>
          </a:effectRef>
          <a:fontRef idx="minor">
            <a:schemeClr val="dk1"/>
          </a:fontRef>
        </p:style>
        <p:txBody>
          <a:bodyPr rtlCol="0" anchor="b"/>
          <a:lstStyle/>
          <a:p>
            <a:pPr algn="ctr"/>
            <a:r>
              <a:rPr lang="en-US" sz="2100" dirty="0">
                <a:solidFill>
                  <a:schemeClr val="tx1"/>
                </a:solidFill>
              </a:rPr>
              <a:t>𝜎</a:t>
            </a:r>
            <a:endParaRPr lang="en-US" sz="1350" dirty="0">
              <a:solidFill>
                <a:schemeClr val="tx1"/>
              </a:solidFill>
            </a:endParaRPr>
          </a:p>
        </p:txBody>
      </p:sp>
      <p:cxnSp>
        <p:nvCxnSpPr>
          <p:cNvPr id="57" name="Straight Arrow Connector 56">
            <a:extLst>
              <a:ext uri="{FF2B5EF4-FFF2-40B4-BE49-F238E27FC236}">
                <a16:creationId xmlns:a16="http://schemas.microsoft.com/office/drawing/2014/main" id="{4B271F4C-7F15-BE43-9105-32E5EE40FBF4}"/>
              </a:ext>
            </a:extLst>
          </p:cNvPr>
          <p:cNvCxnSpPr>
            <a:cxnSpLocks/>
            <a:endCxn id="21" idx="1"/>
          </p:cNvCxnSpPr>
          <p:nvPr/>
        </p:nvCxnSpPr>
        <p:spPr>
          <a:xfrm>
            <a:off x="4657836" y="2507339"/>
            <a:ext cx="141027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AAD26E7E-7BF0-BD13-E6E5-BB73F78537B7}"/>
              </a:ext>
            </a:extLst>
          </p:cNvPr>
          <p:cNvSpPr txBox="1"/>
          <p:nvPr/>
        </p:nvSpPr>
        <p:spPr>
          <a:xfrm rot="16200000">
            <a:off x="2052555" y="2667211"/>
            <a:ext cx="1105066" cy="4247317"/>
          </a:xfrm>
          <a:prstGeom prst="rect">
            <a:avLst/>
          </a:prstGeom>
          <a:noFill/>
        </p:spPr>
        <p:txBody>
          <a:bodyPr wrap="square" numCol="1" rtlCol="0">
            <a:spAutoFit/>
          </a:bodyPr>
          <a:lstStyle/>
          <a:p>
            <a:pPr algn="r">
              <a:spcAft>
                <a:spcPts val="900"/>
              </a:spcAft>
            </a:pPr>
            <a:r>
              <a:rPr lang="en-US" sz="1100" dirty="0"/>
              <a:t>shaking</a:t>
            </a:r>
          </a:p>
          <a:p>
            <a:pPr algn="r">
              <a:spcAft>
                <a:spcPts val="900"/>
              </a:spcAft>
            </a:pPr>
            <a:endParaRPr lang="en-US" sz="1100" dirty="0"/>
          </a:p>
          <a:p>
            <a:pPr algn="r">
              <a:spcAft>
                <a:spcPts val="900"/>
              </a:spcAft>
            </a:pPr>
            <a:r>
              <a:rPr lang="en-US" sz="1100" dirty="0"/>
              <a:t>clinic</a:t>
            </a:r>
          </a:p>
          <a:p>
            <a:pPr algn="r">
              <a:spcAft>
                <a:spcPts val="900"/>
              </a:spcAft>
            </a:pPr>
            <a:endParaRPr lang="en-US" sz="1100" dirty="0"/>
          </a:p>
          <a:p>
            <a:pPr algn="r">
              <a:spcAft>
                <a:spcPts val="900"/>
              </a:spcAft>
            </a:pPr>
            <a:r>
              <a:rPr lang="en-US" sz="1100" dirty="0"/>
              <a:t>morning</a:t>
            </a:r>
          </a:p>
          <a:p>
            <a:pPr algn="r">
              <a:spcAft>
                <a:spcPts val="900"/>
              </a:spcAft>
            </a:pPr>
            <a:endParaRPr lang="en-US" sz="1100" dirty="0"/>
          </a:p>
          <a:p>
            <a:pPr algn="r">
              <a:spcAft>
                <a:spcPts val="900"/>
              </a:spcAft>
            </a:pPr>
            <a:r>
              <a:rPr lang="en-US" sz="1100" dirty="0"/>
              <a:t>mom</a:t>
            </a:r>
          </a:p>
          <a:p>
            <a:pPr algn="r">
              <a:spcAft>
                <a:spcPts val="900"/>
              </a:spcAft>
            </a:pPr>
            <a:endParaRPr lang="en-US" sz="1100" dirty="0"/>
          </a:p>
          <a:p>
            <a:pPr algn="r">
              <a:spcAft>
                <a:spcPts val="900"/>
              </a:spcAft>
            </a:pPr>
            <a:r>
              <a:rPr lang="en-US" sz="1100" dirty="0"/>
              <a:t>sickness</a:t>
            </a:r>
          </a:p>
          <a:p>
            <a:pPr algn="r">
              <a:spcAft>
                <a:spcPts val="900"/>
              </a:spcAft>
            </a:pPr>
            <a:endParaRPr lang="en-US" sz="1100" dirty="0"/>
          </a:p>
          <a:p>
            <a:pPr algn="r">
              <a:spcAft>
                <a:spcPts val="900"/>
              </a:spcAft>
            </a:pPr>
            <a:r>
              <a:rPr lang="en-US" sz="1100" dirty="0"/>
              <a:t>breastfeed</a:t>
            </a:r>
          </a:p>
          <a:p>
            <a:pPr algn="r">
              <a:spcAft>
                <a:spcPts val="900"/>
              </a:spcAft>
            </a:pPr>
            <a:endParaRPr lang="en-US" sz="1100" dirty="0"/>
          </a:p>
          <a:p>
            <a:pPr algn="r">
              <a:spcAft>
                <a:spcPts val="900"/>
              </a:spcAft>
            </a:pPr>
            <a:r>
              <a:rPr lang="en-US" sz="1100" dirty="0"/>
              <a:t>passed</a:t>
            </a:r>
          </a:p>
          <a:p>
            <a:pPr algn="r">
              <a:spcAft>
                <a:spcPts val="900"/>
              </a:spcAft>
            </a:pPr>
            <a:endParaRPr lang="en-US" sz="1100" dirty="0"/>
          </a:p>
          <a:p>
            <a:pPr algn="r">
              <a:spcAft>
                <a:spcPts val="900"/>
              </a:spcAft>
            </a:pPr>
            <a:r>
              <a:rPr lang="en-US" sz="1100" dirty="0"/>
              <a:t>where</a:t>
            </a:r>
          </a:p>
        </p:txBody>
      </p:sp>
    </p:spTree>
    <p:extLst>
      <p:ext uri="{BB962C8B-B14F-4D97-AF65-F5344CB8AC3E}">
        <p14:creationId xmlns:p14="http://schemas.microsoft.com/office/powerpoint/2010/main" val="20490542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080" y="154229"/>
            <a:ext cx="9144000" cy="1059007"/>
          </a:xfrm>
        </p:spPr>
        <p:txBody>
          <a:bodyPr>
            <a:noAutofit/>
          </a:bodyPr>
          <a:lstStyle/>
          <a:p>
            <a:r>
              <a:rPr lang="en-US" sz="3000" dirty="0"/>
              <a:t>Variation on counts: </a:t>
            </a:r>
            <a:br>
              <a:rPr lang="en-US" sz="3000" dirty="0"/>
            </a:br>
            <a:r>
              <a:rPr lang="en-US" sz="3000" dirty="0"/>
              <a:t>term frequency-inverse document frequency (</a:t>
            </a:r>
            <a:r>
              <a:rPr lang="en-US" sz="3000" dirty="0" err="1"/>
              <a:t>tf-idf</a:t>
            </a:r>
            <a:r>
              <a:rPr lang="en-US" sz="3000" dirty="0"/>
              <a:t>)</a:t>
            </a:r>
          </a:p>
        </p:txBody>
      </p:sp>
      <mc:AlternateContent xmlns:mc="http://schemas.openxmlformats.org/markup-compatibility/2006">
        <mc:Choice xmlns:a14="http://schemas.microsoft.com/office/drawing/2010/main" Requires="a14">
          <p:sp>
            <p:nvSpPr>
              <p:cNvPr id="6" name="TextBox 5"/>
              <p:cNvSpPr txBox="1"/>
              <p:nvPr/>
            </p:nvSpPr>
            <p:spPr>
              <a:xfrm>
                <a:off x="4571998" y="1289794"/>
                <a:ext cx="4168834" cy="1648336"/>
              </a:xfrm>
              <a:prstGeom prst="rect">
                <a:avLst/>
              </a:prstGeom>
              <a:noFill/>
            </p:spPr>
            <p:txBody>
              <a:bodyPr wrap="none" rtlCol="0">
                <a:spAutoFit/>
              </a:bodyPr>
              <a:lstStyle/>
              <a:p>
                <a14:m>
                  <m:oMath xmlns:m="http://schemas.openxmlformats.org/officeDocument/2006/math">
                    <m:f>
                      <m:fPr>
                        <m:ctrlPr>
                          <a:rPr lang="en-US" sz="2100" i="1">
                            <a:latin typeface="Cambria Math" panose="02040503050406030204" pitchFamily="18" charset="0"/>
                          </a:rPr>
                        </m:ctrlPr>
                      </m:fPr>
                      <m:num>
                        <m:r>
                          <m:rPr>
                            <m:nor/>
                          </m:rPr>
                          <a:rPr lang="en-US" sz="2100" dirty="0"/>
                          <m:t>term</m:t>
                        </m:r>
                        <m:r>
                          <m:rPr>
                            <m:nor/>
                          </m:rPr>
                          <a:rPr lang="en-US" sz="2100" dirty="0"/>
                          <m:t> </m:t>
                        </m:r>
                        <m:r>
                          <m:rPr>
                            <m:nor/>
                          </m:rPr>
                          <a:rPr lang="en-US" sz="2100" dirty="0"/>
                          <m:t>frequency</m:t>
                        </m:r>
                      </m:num>
                      <m:den>
                        <m:r>
                          <m:rPr>
                            <m:nor/>
                          </m:rPr>
                          <a:rPr lang="en-US" sz="2100" dirty="0"/>
                          <m:t>document</m:t>
                        </m:r>
                        <m:r>
                          <m:rPr>
                            <m:nor/>
                          </m:rPr>
                          <a:rPr lang="en-US" sz="2100" dirty="0"/>
                          <m:t> </m:t>
                        </m:r>
                        <m:r>
                          <m:rPr>
                            <m:nor/>
                          </m:rPr>
                          <a:rPr lang="en-US" sz="2100" dirty="0"/>
                          <m:t>frequency</m:t>
                        </m:r>
                      </m:den>
                    </m:f>
                  </m:oMath>
                </a14:m>
                <a:r>
                  <a:rPr lang="en-US" sz="2100" dirty="0"/>
                  <a:t>      for ‘shaking’</a:t>
                </a:r>
              </a:p>
              <a:p>
                <a:endParaRPr lang="en-US" sz="2100" dirty="0"/>
              </a:p>
              <a:p>
                <a:pPr/>
                <a14:m>
                  <m:oMathPara xmlns:m="http://schemas.openxmlformats.org/officeDocument/2006/math">
                    <m:oMathParaPr>
                      <m:jc m:val="centerGroup"/>
                    </m:oMathParaPr>
                    <m:oMath xmlns:m="http://schemas.openxmlformats.org/officeDocument/2006/math">
                      <m:f>
                        <m:fPr>
                          <m:ctrlPr>
                            <a:rPr lang="en-US" sz="2100" i="1" dirty="0">
                              <a:latin typeface="Cambria Math" panose="02040503050406030204" pitchFamily="18" charset="0"/>
                            </a:rPr>
                          </m:ctrlPr>
                        </m:fPr>
                        <m:num>
                          <m:r>
                            <a:rPr lang="en-US" sz="2100" i="1" dirty="0">
                              <a:latin typeface="Cambria Math" panose="02040503050406030204" pitchFamily="18" charset="0"/>
                            </a:rPr>
                            <m:t>1/9</m:t>
                          </m:r>
                        </m:num>
                        <m:den>
                          <m:r>
                            <a:rPr lang="en-US" sz="2100" i="1" dirty="0">
                              <a:latin typeface="Cambria Math" panose="02040503050406030204" pitchFamily="18" charset="0"/>
                            </a:rPr>
                            <m:t>1/7</m:t>
                          </m:r>
                        </m:den>
                      </m:f>
                      <m:r>
                        <a:rPr lang="en-US" sz="2100" i="1" dirty="0">
                          <a:latin typeface="Cambria Math" panose="02040503050406030204" pitchFamily="18" charset="0"/>
                        </a:rPr>
                        <m:t>=.78</m:t>
                      </m:r>
                    </m:oMath>
                  </m:oMathPara>
                </a14:m>
                <a:endParaRPr lang="en-US" sz="2100" dirty="0"/>
              </a:p>
            </p:txBody>
          </p:sp>
        </mc:Choice>
        <mc:Fallback>
          <p:sp>
            <p:nvSpPr>
              <p:cNvPr id="6" name="TextBox 5"/>
              <p:cNvSpPr txBox="1">
                <a:spLocks noRot="1" noChangeAspect="1" noMove="1" noResize="1" noEditPoints="1" noAdjustHandles="1" noChangeArrowheads="1" noChangeShapeType="1" noTextEdit="1"/>
              </p:cNvSpPr>
              <p:nvPr/>
            </p:nvSpPr>
            <p:spPr>
              <a:xfrm>
                <a:off x="4571998" y="1289794"/>
                <a:ext cx="4168834" cy="1648336"/>
              </a:xfrm>
              <a:prstGeom prst="rect">
                <a:avLst/>
              </a:prstGeom>
              <a:blipFill>
                <a:blip r:embed="rId2"/>
                <a:stretch>
                  <a:fillRect l="-304" t="-3053" r="-608" b="-3817"/>
                </a:stretch>
              </a:blipFill>
            </p:spPr>
            <p:txBody>
              <a:bodyPr/>
              <a:lstStyle/>
              <a:p>
                <a:r>
                  <a:rPr lang="en-US">
                    <a:noFill/>
                  </a:rPr>
                  <a:t> </a:t>
                </a:r>
              </a:p>
            </p:txBody>
          </p:sp>
        </mc:Fallback>
      </mc:AlternateContent>
      <p:sp>
        <p:nvSpPr>
          <p:cNvPr id="11" name="TextBox 10"/>
          <p:cNvSpPr txBox="1"/>
          <p:nvPr/>
        </p:nvSpPr>
        <p:spPr>
          <a:xfrm>
            <a:off x="369547" y="1289794"/>
            <a:ext cx="3726719" cy="3554819"/>
          </a:xfrm>
          <a:prstGeom prst="rect">
            <a:avLst/>
          </a:prstGeom>
          <a:solidFill>
            <a:schemeClr val="bg1"/>
          </a:solidFill>
        </p:spPr>
        <p:txBody>
          <a:bodyPr wrap="square" rtlCol="0">
            <a:spAutoFit/>
          </a:bodyPr>
          <a:lstStyle/>
          <a:p>
            <a:pPr marL="257175" indent="-257175">
              <a:buFont typeface="Arial" panose="020B0604020202020204" pitchFamily="34" charset="0"/>
              <a:buChar char="•"/>
            </a:pPr>
            <a:r>
              <a:rPr lang="en-US" sz="1500" dirty="0"/>
              <a:t>What helps with morning sickness?</a:t>
            </a:r>
          </a:p>
          <a:p>
            <a:pPr marL="257175" indent="-257175">
              <a:buFont typeface="Arial" panose="020B0604020202020204" pitchFamily="34" charset="0"/>
              <a:buChar char="•"/>
            </a:pPr>
            <a:endParaRPr lang="en-US" sz="1500" dirty="0"/>
          </a:p>
          <a:p>
            <a:pPr marL="257175" indent="-257175">
              <a:buFont typeface="Arial" panose="020B0604020202020204" pitchFamily="34" charset="0"/>
              <a:buChar char="•"/>
            </a:pPr>
            <a:r>
              <a:rPr lang="en-US" sz="1500" dirty="0"/>
              <a:t>How many months should I breastfeed?</a:t>
            </a:r>
          </a:p>
          <a:p>
            <a:pPr marL="257175" indent="-257175">
              <a:buFont typeface="Arial" panose="020B0604020202020204" pitchFamily="34" charset="0"/>
              <a:buChar char="•"/>
            </a:pPr>
            <a:endParaRPr lang="en-US" sz="1500" dirty="0"/>
          </a:p>
          <a:p>
            <a:pPr marL="257175" indent="-257175">
              <a:buFont typeface="Arial" panose="020B0604020202020204" pitchFamily="34" charset="0"/>
              <a:buChar char="•"/>
            </a:pPr>
            <a:r>
              <a:rPr lang="en-US" sz="1500" dirty="0">
                <a:solidFill>
                  <a:srgbClr val="FF0000"/>
                </a:solidFill>
              </a:rPr>
              <a:t>I passed out and Mom said I was shaking</a:t>
            </a:r>
          </a:p>
          <a:p>
            <a:pPr marL="257175" indent="-257175">
              <a:buFont typeface="Arial" panose="020B0604020202020204" pitchFamily="34" charset="0"/>
              <a:buChar char="•"/>
            </a:pPr>
            <a:endParaRPr lang="en-US" sz="1500" dirty="0"/>
          </a:p>
          <a:p>
            <a:pPr marL="257175" indent="-257175">
              <a:buFont typeface="Arial" panose="020B0604020202020204" pitchFamily="34" charset="0"/>
              <a:buChar char="•"/>
            </a:pPr>
            <a:r>
              <a:rPr lang="en-US" sz="1500" dirty="0"/>
              <a:t>Where is the nearest clinic?</a:t>
            </a:r>
          </a:p>
          <a:p>
            <a:pPr marL="257175" indent="-257175">
              <a:buFont typeface="Arial" panose="020B0604020202020204" pitchFamily="34" charset="0"/>
              <a:buChar char="•"/>
            </a:pPr>
            <a:endParaRPr lang="en-US" sz="1500" dirty="0"/>
          </a:p>
          <a:p>
            <a:pPr marL="257175" indent="-257175">
              <a:buFont typeface="Arial" panose="020B0604020202020204" pitchFamily="34" charset="0"/>
              <a:buChar char="•"/>
            </a:pPr>
            <a:r>
              <a:rPr lang="en-US" sz="1500" dirty="0"/>
              <a:t>I am having heavy bleeding, what should I do?</a:t>
            </a:r>
          </a:p>
          <a:p>
            <a:pPr marL="257175" indent="-257175">
              <a:buFont typeface="Arial" panose="020B0604020202020204" pitchFamily="34" charset="0"/>
              <a:buChar char="•"/>
            </a:pPr>
            <a:endParaRPr lang="en-US" sz="1500" dirty="0"/>
          </a:p>
          <a:p>
            <a:pPr marL="257175" indent="-257175">
              <a:buFont typeface="Arial" panose="020B0604020202020204" pitchFamily="34" charset="0"/>
              <a:buChar char="•"/>
            </a:pPr>
            <a:r>
              <a:rPr lang="en-US" sz="1500" dirty="0"/>
              <a:t>What foods should I eat while pregnant?</a:t>
            </a:r>
          </a:p>
          <a:p>
            <a:pPr marL="257175" indent="-257175">
              <a:buFont typeface="Arial" panose="020B0604020202020204" pitchFamily="34" charset="0"/>
              <a:buChar char="•"/>
            </a:pPr>
            <a:endParaRPr lang="en-US" sz="1500" dirty="0"/>
          </a:p>
          <a:p>
            <a:pPr marL="257175" indent="-257175">
              <a:buFont typeface="Arial" panose="020B0604020202020204" pitchFamily="34" charset="0"/>
              <a:buChar char="•"/>
            </a:pPr>
            <a:r>
              <a:rPr lang="en-US" sz="1500" dirty="0"/>
              <a:t>My heart is racing and I can’t catch my breath</a:t>
            </a:r>
          </a:p>
        </p:txBody>
      </p:sp>
      <mc:AlternateContent xmlns:mc="http://schemas.openxmlformats.org/markup-compatibility/2006">
        <mc:Choice xmlns:a14="http://schemas.microsoft.com/office/drawing/2010/main" Requires="a14">
          <p:sp>
            <p:nvSpPr>
              <p:cNvPr id="12" name="TextBox 11"/>
              <p:cNvSpPr txBox="1"/>
              <p:nvPr/>
            </p:nvSpPr>
            <p:spPr>
              <a:xfrm>
                <a:off x="4571999" y="3287772"/>
                <a:ext cx="4132622" cy="1648336"/>
              </a:xfrm>
              <a:prstGeom prst="rect">
                <a:avLst/>
              </a:prstGeom>
              <a:noFill/>
            </p:spPr>
            <p:txBody>
              <a:bodyPr wrap="square" rtlCol="0">
                <a:spAutoFit/>
              </a:bodyPr>
              <a:lstStyle/>
              <a:p>
                <a14:m>
                  <m:oMath xmlns:m="http://schemas.openxmlformats.org/officeDocument/2006/math">
                    <m:f>
                      <m:fPr>
                        <m:ctrlPr>
                          <a:rPr lang="en-US" sz="2100" i="1">
                            <a:latin typeface="Cambria Math" panose="02040503050406030204" pitchFamily="18" charset="0"/>
                          </a:rPr>
                        </m:ctrlPr>
                      </m:fPr>
                      <m:num>
                        <m:r>
                          <m:rPr>
                            <m:nor/>
                          </m:rPr>
                          <a:rPr lang="en-US" sz="2100" dirty="0"/>
                          <m:t>term</m:t>
                        </m:r>
                        <m:r>
                          <m:rPr>
                            <m:nor/>
                          </m:rPr>
                          <a:rPr lang="en-US" sz="2100" dirty="0"/>
                          <m:t> </m:t>
                        </m:r>
                        <m:r>
                          <m:rPr>
                            <m:nor/>
                          </m:rPr>
                          <a:rPr lang="en-US" sz="2100" dirty="0"/>
                          <m:t>frequency</m:t>
                        </m:r>
                      </m:num>
                      <m:den>
                        <m:r>
                          <m:rPr>
                            <m:nor/>
                          </m:rPr>
                          <a:rPr lang="en-US" sz="2100" dirty="0"/>
                          <m:t>document</m:t>
                        </m:r>
                        <m:r>
                          <m:rPr>
                            <m:nor/>
                          </m:rPr>
                          <a:rPr lang="en-US" sz="2100" dirty="0"/>
                          <m:t> </m:t>
                        </m:r>
                        <m:r>
                          <m:rPr>
                            <m:nor/>
                          </m:rPr>
                          <a:rPr lang="en-US" sz="2100" dirty="0"/>
                          <m:t>frequency</m:t>
                        </m:r>
                      </m:den>
                    </m:f>
                  </m:oMath>
                </a14:m>
                <a:r>
                  <a:rPr lang="en-US" sz="2100" dirty="0"/>
                  <a:t>      for ‘I’</a:t>
                </a:r>
              </a:p>
              <a:p>
                <a:endParaRPr lang="en-US" sz="2100" dirty="0"/>
              </a:p>
              <a:p>
                <a:pPr/>
                <a14:m>
                  <m:oMathPara xmlns:m="http://schemas.openxmlformats.org/officeDocument/2006/math">
                    <m:oMathParaPr>
                      <m:jc m:val="centerGroup"/>
                    </m:oMathParaPr>
                    <m:oMath xmlns:m="http://schemas.openxmlformats.org/officeDocument/2006/math">
                      <m:f>
                        <m:fPr>
                          <m:ctrlPr>
                            <a:rPr lang="en-US" sz="2100" i="1" dirty="0">
                              <a:latin typeface="Cambria Math" panose="02040503050406030204" pitchFamily="18" charset="0"/>
                            </a:rPr>
                          </m:ctrlPr>
                        </m:fPr>
                        <m:num>
                          <m:r>
                            <a:rPr lang="en-US" sz="2100" i="1" dirty="0">
                              <a:latin typeface="Cambria Math" panose="02040503050406030204" pitchFamily="18" charset="0"/>
                            </a:rPr>
                            <m:t>2/9</m:t>
                          </m:r>
                        </m:num>
                        <m:den>
                          <m:r>
                            <a:rPr lang="en-US" sz="2100" i="1" dirty="0">
                              <a:latin typeface="Cambria Math" panose="02040503050406030204" pitchFamily="18" charset="0"/>
                            </a:rPr>
                            <m:t>5/7</m:t>
                          </m:r>
                        </m:den>
                      </m:f>
                      <m:r>
                        <a:rPr lang="en-US" sz="2100" i="1" dirty="0">
                          <a:latin typeface="Cambria Math" panose="02040503050406030204" pitchFamily="18" charset="0"/>
                        </a:rPr>
                        <m:t>=.31</m:t>
                      </m:r>
                    </m:oMath>
                  </m:oMathPara>
                </a14:m>
                <a:endParaRPr lang="en-US" sz="2100" dirty="0"/>
              </a:p>
            </p:txBody>
          </p:sp>
        </mc:Choice>
        <mc:Fallback>
          <p:sp>
            <p:nvSpPr>
              <p:cNvPr id="12" name="TextBox 11"/>
              <p:cNvSpPr txBox="1">
                <a:spLocks noRot="1" noChangeAspect="1" noMove="1" noResize="1" noEditPoints="1" noAdjustHandles="1" noChangeArrowheads="1" noChangeShapeType="1" noTextEdit="1"/>
              </p:cNvSpPr>
              <p:nvPr/>
            </p:nvSpPr>
            <p:spPr>
              <a:xfrm>
                <a:off x="4571999" y="3287772"/>
                <a:ext cx="4132622" cy="1648336"/>
              </a:xfrm>
              <a:prstGeom prst="rect">
                <a:avLst/>
              </a:prstGeom>
              <a:blipFill>
                <a:blip r:embed="rId3"/>
                <a:stretch>
                  <a:fillRect l="-307" t="-3053" b="-3817"/>
                </a:stretch>
              </a:blipFill>
            </p:spPr>
            <p:txBody>
              <a:bodyPr/>
              <a:lstStyle/>
              <a:p>
                <a:r>
                  <a:rPr lang="en-US">
                    <a:noFill/>
                  </a:rPr>
                  <a:t> </a:t>
                </a:r>
              </a:p>
            </p:txBody>
          </p:sp>
        </mc:Fallback>
      </mc:AlternateContent>
    </p:spTree>
    <p:extLst>
      <p:ext uri="{BB962C8B-B14F-4D97-AF65-F5344CB8AC3E}">
        <p14:creationId xmlns:p14="http://schemas.microsoft.com/office/powerpoint/2010/main" val="33634878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1A18-FD3F-CA32-2F5A-B3D7C0D8E5D0}"/>
              </a:ext>
            </a:extLst>
          </p:cNvPr>
          <p:cNvSpPr>
            <a:spLocks noGrp="1"/>
          </p:cNvSpPr>
          <p:nvPr>
            <p:ph type="title"/>
          </p:nvPr>
        </p:nvSpPr>
        <p:spPr/>
        <p:txBody>
          <a:bodyPr/>
          <a:lstStyle/>
          <a:p>
            <a:r>
              <a:rPr lang="en-US" dirty="0"/>
              <a:t>Count-based feature extraction is still useful!</a:t>
            </a:r>
          </a:p>
        </p:txBody>
      </p:sp>
      <p:sp>
        <p:nvSpPr>
          <p:cNvPr id="3" name="Content Placeholder 2">
            <a:extLst>
              <a:ext uri="{FF2B5EF4-FFF2-40B4-BE49-F238E27FC236}">
                <a16:creationId xmlns:a16="http://schemas.microsoft.com/office/drawing/2014/main" id="{58DDBE8C-BA28-BF4B-A17C-FDF4F4BACAAC}"/>
              </a:ext>
            </a:extLst>
          </p:cNvPr>
          <p:cNvSpPr>
            <a:spLocks noGrp="1"/>
          </p:cNvSpPr>
          <p:nvPr>
            <p:ph idx="1"/>
          </p:nvPr>
        </p:nvSpPr>
        <p:spPr>
          <a:xfrm>
            <a:off x="628650" y="1369219"/>
            <a:ext cx="8064874" cy="3263504"/>
          </a:xfrm>
        </p:spPr>
        <p:txBody>
          <a:bodyPr/>
          <a:lstStyle/>
          <a:p>
            <a:r>
              <a:rPr lang="en-US" dirty="0"/>
              <a:t>Entirely data-driven</a:t>
            </a:r>
          </a:p>
          <a:p>
            <a:pPr lvl="1"/>
            <a:r>
              <a:rPr lang="en-US" dirty="0"/>
              <a:t>Vocabulary of words we care about is derived from the training data</a:t>
            </a:r>
          </a:p>
          <a:p>
            <a:pPr lvl="1"/>
            <a:r>
              <a:rPr lang="en-US" dirty="0"/>
              <a:t>We then represent text as counts of each vocabulary word</a:t>
            </a:r>
          </a:p>
          <a:p>
            <a:pPr lvl="1"/>
            <a:r>
              <a:rPr lang="en-US" dirty="0"/>
              <a:t>We can also count 2- and 3-word phrases; this helps with negation and context</a:t>
            </a:r>
          </a:p>
          <a:p>
            <a:endParaRPr lang="en-US" dirty="0"/>
          </a:p>
          <a:p>
            <a:r>
              <a:rPr lang="en-US" dirty="0"/>
              <a:t>Knowledge-driven extraction of key words or concepts</a:t>
            </a:r>
          </a:p>
          <a:p>
            <a:pPr lvl="1"/>
            <a:r>
              <a:rPr lang="en-US" dirty="0"/>
              <a:t>Rather than creating a vocabulary from the data, we can identify words we (or content experts) believe are important for a given task</a:t>
            </a:r>
          </a:p>
          <a:p>
            <a:pPr lvl="1"/>
            <a:r>
              <a:rPr lang="en-US" dirty="0"/>
              <a:t>Concept extraction systems (e.g. </a:t>
            </a:r>
            <a:r>
              <a:rPr lang="en-US" dirty="0" err="1"/>
              <a:t>cTakes</a:t>
            </a:r>
            <a:r>
              <a:rPr lang="en-US" dirty="0"/>
              <a:t>) will identify many alternative phrasings for the same clinical concept (e.g. diagnosis) and group them together as a single feature</a:t>
            </a:r>
          </a:p>
        </p:txBody>
      </p:sp>
    </p:spTree>
    <p:extLst>
      <p:ext uri="{BB962C8B-B14F-4D97-AF65-F5344CB8AC3E}">
        <p14:creationId xmlns:p14="http://schemas.microsoft.com/office/powerpoint/2010/main" val="10417263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258D6-F0AF-AE28-6369-DD43CBAFCEC4}"/>
              </a:ext>
            </a:extLst>
          </p:cNvPr>
          <p:cNvSpPr>
            <a:spLocks noGrp="1"/>
          </p:cNvSpPr>
          <p:nvPr>
            <p:ph type="title"/>
          </p:nvPr>
        </p:nvSpPr>
        <p:spPr/>
        <p:txBody>
          <a:bodyPr/>
          <a:lstStyle/>
          <a:p>
            <a:r>
              <a:rPr lang="en-US" dirty="0"/>
              <a:t>Discuss: </a:t>
            </a:r>
            <a:br>
              <a:rPr lang="en-US" dirty="0"/>
            </a:br>
            <a:r>
              <a:rPr lang="en-US" dirty="0"/>
              <a:t>pros and cons of the bag of words approach</a:t>
            </a:r>
          </a:p>
        </p:txBody>
      </p:sp>
      <p:sp>
        <p:nvSpPr>
          <p:cNvPr id="3" name="Content Placeholder 2">
            <a:extLst>
              <a:ext uri="{FF2B5EF4-FFF2-40B4-BE49-F238E27FC236}">
                <a16:creationId xmlns:a16="http://schemas.microsoft.com/office/drawing/2014/main" id="{DA8218AE-23B2-56CD-072D-97C534047A85}"/>
              </a:ext>
            </a:extLst>
          </p:cNvPr>
          <p:cNvSpPr>
            <a:spLocks noGrp="1"/>
          </p:cNvSpPr>
          <p:nvPr>
            <p:ph idx="1"/>
          </p:nvPr>
        </p:nvSpPr>
        <p:spPr/>
        <p:txBody>
          <a:bodyPr/>
          <a:lstStyle/>
          <a:p>
            <a:pPr marL="0" indent="0">
              <a:buNone/>
            </a:pPr>
            <a:endParaRPr lang="en-US" dirty="0"/>
          </a:p>
          <a:p>
            <a:pPr marL="0" indent="0">
              <a:buNone/>
            </a:pPr>
            <a:r>
              <a:rPr lang="en-US" u="sng" dirty="0"/>
              <a:t>This is important because</a:t>
            </a:r>
            <a:r>
              <a:rPr lang="en-US" dirty="0"/>
              <a:t>:</a:t>
            </a:r>
          </a:p>
          <a:p>
            <a:pPr marL="0" indent="0">
              <a:buNone/>
            </a:pPr>
            <a:endParaRPr lang="en-US" dirty="0"/>
          </a:p>
          <a:p>
            <a:r>
              <a:rPr lang="en-US" dirty="0"/>
              <a:t>Understanding the limitations of this approach is important before we consider how current approaches overcome them</a:t>
            </a:r>
          </a:p>
          <a:p>
            <a:endParaRPr lang="en-US" dirty="0"/>
          </a:p>
          <a:p>
            <a:r>
              <a:rPr lang="en-US" dirty="0"/>
              <a:t>Simple, bag of words models are still appropriate in some cases, and they are highly interpretable</a:t>
            </a:r>
          </a:p>
        </p:txBody>
      </p:sp>
    </p:spTree>
    <p:extLst>
      <p:ext uri="{BB962C8B-B14F-4D97-AF65-F5344CB8AC3E}">
        <p14:creationId xmlns:p14="http://schemas.microsoft.com/office/powerpoint/2010/main" val="19963826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63323-3803-9746-B8A5-4E93C893BE02}"/>
              </a:ext>
            </a:extLst>
          </p:cNvPr>
          <p:cNvSpPr>
            <a:spLocks noGrp="1"/>
          </p:cNvSpPr>
          <p:nvPr>
            <p:ph type="title"/>
          </p:nvPr>
        </p:nvSpPr>
        <p:spPr/>
        <p:txBody>
          <a:bodyPr/>
          <a:lstStyle/>
          <a:p>
            <a:r>
              <a:rPr lang="en-US" dirty="0"/>
              <a:t>Strengths and Weaknesses</a:t>
            </a:r>
          </a:p>
        </p:txBody>
      </p:sp>
      <p:sp>
        <p:nvSpPr>
          <p:cNvPr id="3" name="Content Placeholder 2">
            <a:extLst>
              <a:ext uri="{FF2B5EF4-FFF2-40B4-BE49-F238E27FC236}">
                <a16:creationId xmlns:a16="http://schemas.microsoft.com/office/drawing/2014/main" id="{B0ED79C7-1CAB-1D47-BFA3-AF07E42EA29C}"/>
              </a:ext>
            </a:extLst>
          </p:cNvPr>
          <p:cNvSpPr>
            <a:spLocks noGrp="1"/>
          </p:cNvSpPr>
          <p:nvPr>
            <p:ph idx="1"/>
          </p:nvPr>
        </p:nvSpPr>
        <p:spPr>
          <a:xfrm>
            <a:off x="457200" y="1404038"/>
            <a:ext cx="8229600" cy="3394472"/>
          </a:xfrm>
        </p:spPr>
        <p:txBody>
          <a:bodyPr>
            <a:normAutofit/>
          </a:bodyPr>
          <a:lstStyle/>
          <a:p>
            <a:r>
              <a:rPr lang="en-US" dirty="0"/>
              <a:t>(+) Count-based approaches are simple and work surprisingly well in practice</a:t>
            </a:r>
          </a:p>
          <a:p>
            <a:endParaRPr lang="en-US" dirty="0"/>
          </a:p>
          <a:p>
            <a:r>
              <a:rPr lang="en-US" dirty="0"/>
              <a:t>(+) Often the best approach with small datasets</a:t>
            </a:r>
          </a:p>
          <a:p>
            <a:endParaRPr lang="en-US" dirty="0"/>
          </a:p>
          <a:p>
            <a:r>
              <a:rPr lang="en-US" dirty="0"/>
              <a:t>(-) Does not capture word order or interpret words in context</a:t>
            </a:r>
          </a:p>
          <a:p>
            <a:endParaRPr lang="en-US" dirty="0"/>
          </a:p>
          <a:p>
            <a:r>
              <a:rPr lang="en-US" dirty="0"/>
              <a:t>(-) Does not group synonyms together or understand semantic relationships between words</a:t>
            </a:r>
          </a:p>
        </p:txBody>
      </p:sp>
    </p:spTree>
    <p:extLst>
      <p:ext uri="{BB962C8B-B14F-4D97-AF65-F5344CB8AC3E}">
        <p14:creationId xmlns:p14="http://schemas.microsoft.com/office/powerpoint/2010/main" val="39428535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B4C59-0CCA-B0D3-79F8-C153A1C17163}"/>
              </a:ext>
            </a:extLst>
          </p:cNvPr>
          <p:cNvSpPr>
            <a:spLocks noGrp="1"/>
          </p:cNvSpPr>
          <p:nvPr>
            <p:ph type="title"/>
          </p:nvPr>
        </p:nvSpPr>
        <p:spPr/>
        <p:txBody>
          <a:bodyPr/>
          <a:lstStyle/>
          <a:p>
            <a:r>
              <a:rPr lang="en-US" u="sng" dirty="0"/>
              <a:t>Next time</a:t>
            </a:r>
            <a:r>
              <a:rPr lang="en-US" dirty="0"/>
              <a:t>:</a:t>
            </a:r>
            <a:br>
              <a:rPr lang="en-US" dirty="0"/>
            </a:br>
            <a:r>
              <a:rPr lang="en-US" dirty="0"/>
              <a:t>word and concept embeddings</a:t>
            </a:r>
          </a:p>
        </p:txBody>
      </p:sp>
      <p:sp>
        <p:nvSpPr>
          <p:cNvPr id="3" name="Text Placeholder 2">
            <a:extLst>
              <a:ext uri="{FF2B5EF4-FFF2-40B4-BE49-F238E27FC236}">
                <a16:creationId xmlns:a16="http://schemas.microsoft.com/office/drawing/2014/main" id="{EB4F92B9-0C3E-B8C3-2C4D-69CFC3155E3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853903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0C20ED-7DC6-FA46-9DC3-473E7616BF38}">
  <we:reference id="wa104380121" version="2.0.0.0" store="en-US" storeType="OMEX"/>
  <we:alternateReferences>
    <we:reference id="wa104380121" version="2.0.0.0" store="WA10438012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13114</TotalTime>
  <Words>6288</Words>
  <Application>Microsoft Macintosh PowerPoint</Application>
  <PresentationFormat>On-screen Show (16:9)</PresentationFormat>
  <Paragraphs>908</Paragraphs>
  <Slides>54</Slides>
  <Notes>39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54</vt:i4>
      </vt:variant>
    </vt:vector>
  </HeadingPairs>
  <TitlesOfParts>
    <vt:vector size="65" baseType="lpstr">
      <vt:lpstr>Arial</vt:lpstr>
      <vt:lpstr>Calibri</vt:lpstr>
      <vt:lpstr>Cambria Math</vt:lpstr>
      <vt:lpstr>freight-sans-pro</vt:lpstr>
      <vt:lpstr>Guardian TextSans Web</vt:lpstr>
      <vt:lpstr>inherit</vt:lpstr>
      <vt:lpstr>Open Sans</vt:lpstr>
      <vt:lpstr>Times New Roman</vt:lpstr>
      <vt:lpstr>verdana</vt:lpstr>
      <vt:lpstr>1_Office Theme</vt:lpstr>
      <vt:lpstr>2_Office Theme</vt:lpstr>
      <vt:lpstr>Intro to Natural Language Processing for Clinical Text </vt:lpstr>
      <vt:lpstr>Lecture Outline</vt:lpstr>
      <vt:lpstr>Part 1: why</vt:lpstr>
      <vt:lpstr>Structured Data</vt:lpstr>
      <vt:lpstr>Example from Duke’s Clinical Research Datamart…</vt:lpstr>
      <vt:lpstr>Unstructured Data</vt:lpstr>
      <vt:lpstr>What information is in notes</vt:lpstr>
      <vt:lpstr>A patient presents with shortness of breath…</vt:lpstr>
      <vt:lpstr>What will we find in the structured data?</vt:lpstr>
      <vt:lpstr>The H&amp;P</vt:lpstr>
      <vt:lpstr>The H&amp;P</vt:lpstr>
      <vt:lpstr>The H&amp;P</vt:lpstr>
      <vt:lpstr>Notes are a rich source of info</vt:lpstr>
      <vt:lpstr>Hot off the presses: identification of early GI symptoms via structured vs notes</vt:lpstr>
      <vt:lpstr>Hot off the presses: identification of early GI symptoms via structured vs notes</vt:lpstr>
      <vt:lpstr>A patient presents with shortness of breath…</vt:lpstr>
      <vt:lpstr>CT / Imaging</vt:lpstr>
      <vt:lpstr>PowerPoint Presentation</vt:lpstr>
      <vt:lpstr>A patient presents with shortness of breath…</vt:lpstr>
      <vt:lpstr>Electrophysiology</vt:lpstr>
      <vt:lpstr>Why use unstructured data?</vt:lpstr>
      <vt:lpstr>Part 1: how</vt:lpstr>
      <vt:lpstr>In contrast to structured data…</vt:lpstr>
      <vt:lpstr>Roadmap: NLP for clinical text</vt:lpstr>
      <vt:lpstr>On prediction vs generation</vt:lpstr>
      <vt:lpstr>Previously: predictive models for tabular data</vt:lpstr>
      <vt:lpstr>Previously: predictive models for image data</vt:lpstr>
      <vt:lpstr>Now: predictive models for text data (NLP)</vt:lpstr>
      <vt:lpstr>Is this generative or predictive?</vt:lpstr>
      <vt:lpstr>Are all tasks special cases of text generation?</vt:lpstr>
      <vt:lpstr>Are all tasks special cases of text generation?</vt:lpstr>
      <vt:lpstr>Are all tasks special cases of text generation?</vt:lpstr>
      <vt:lpstr>A look ahead: LLMs are initially trained to predict the next word</vt:lpstr>
      <vt:lpstr>They’re then fine-tuned to match our preferences</vt:lpstr>
      <vt:lpstr>Foundations of NLP</vt:lpstr>
      <vt:lpstr>Case Study: SMS Triage for Global Maternal Health</vt:lpstr>
      <vt:lpstr>A Simple Predictive Model: ICU Mortality</vt:lpstr>
      <vt:lpstr>Training Set (Historical Data)</vt:lpstr>
      <vt:lpstr>Making Predictions for New x</vt:lpstr>
      <vt:lpstr>Case Study: SMS Triage for Global Maternal Health</vt:lpstr>
      <vt:lpstr>This time, our training data is text</vt:lpstr>
      <vt:lpstr>We need numbers, not words</vt:lpstr>
      <vt:lpstr>First try: count words in each SMS Step 1: Define a vocabulary of words</vt:lpstr>
      <vt:lpstr>Step 2: count how many times each vocabulary word appears in a given SMS</vt:lpstr>
      <vt:lpstr>Step 2: count how many times each vocabulary word appears in a given SMS</vt:lpstr>
      <vt:lpstr>Note that word order does not matter!</vt:lpstr>
      <vt:lpstr>A “bag of words”</vt:lpstr>
      <vt:lpstr>A “bag of medical codes”</vt:lpstr>
      <vt:lpstr>Now we can use logistic regression.</vt:lpstr>
      <vt:lpstr>Variation on counts:  term frequency-inverse document frequency (tf-idf)</vt:lpstr>
      <vt:lpstr>Count-based feature extraction is still useful!</vt:lpstr>
      <vt:lpstr>Discuss:  pros and cons of the bag of words approach</vt:lpstr>
      <vt:lpstr>Strengths and Weaknesses</vt:lpstr>
      <vt:lpstr>Next time: word and concept embeddings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Carlson, Ph.D.</dc:creator>
  <cp:lastModifiedBy>Matthew Engelhard, M.D., Ph.D.</cp:lastModifiedBy>
  <cp:revision>393</cp:revision>
  <cp:lastPrinted>2018-06-22T18:27:38Z</cp:lastPrinted>
  <dcterms:created xsi:type="dcterms:W3CDTF">2018-06-03T14:52:22Z</dcterms:created>
  <dcterms:modified xsi:type="dcterms:W3CDTF">2026-03-18T19:00:13Z</dcterms:modified>
</cp:coreProperties>
</file>