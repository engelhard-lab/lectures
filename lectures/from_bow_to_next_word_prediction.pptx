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Lst>
  <p:notesMasterIdLst>
    <p:notesMasterId r:id="rId55"/>
  </p:notesMasterIdLst>
  <p:handoutMasterIdLst>
    <p:handoutMasterId r:id="rId56"/>
  </p:handoutMasterIdLst>
  <p:sldIdLst>
    <p:sldId id="297" r:id="rId3"/>
    <p:sldId id="832" r:id="rId4"/>
    <p:sldId id="2147477852" r:id="rId5"/>
    <p:sldId id="604" r:id="rId6"/>
    <p:sldId id="2147477853" r:id="rId7"/>
    <p:sldId id="894" r:id="rId8"/>
    <p:sldId id="897" r:id="rId9"/>
    <p:sldId id="905" r:id="rId10"/>
    <p:sldId id="906" r:id="rId11"/>
    <p:sldId id="907" r:id="rId12"/>
    <p:sldId id="908" r:id="rId13"/>
    <p:sldId id="909" r:id="rId14"/>
    <p:sldId id="910" r:id="rId15"/>
    <p:sldId id="911" r:id="rId16"/>
    <p:sldId id="912" r:id="rId17"/>
    <p:sldId id="913" r:id="rId18"/>
    <p:sldId id="914" r:id="rId19"/>
    <p:sldId id="915" r:id="rId20"/>
    <p:sldId id="945" r:id="rId21"/>
    <p:sldId id="2147477854" r:id="rId22"/>
    <p:sldId id="919" r:id="rId23"/>
    <p:sldId id="833" r:id="rId24"/>
    <p:sldId id="326" r:id="rId25"/>
    <p:sldId id="327" r:id="rId26"/>
    <p:sldId id="851" r:id="rId27"/>
    <p:sldId id="927" r:id="rId28"/>
    <p:sldId id="836" r:id="rId29"/>
    <p:sldId id="837" r:id="rId30"/>
    <p:sldId id="621" r:id="rId31"/>
    <p:sldId id="570" r:id="rId32"/>
    <p:sldId id="931" r:id="rId33"/>
    <p:sldId id="932" r:id="rId34"/>
    <p:sldId id="2147477855" r:id="rId35"/>
    <p:sldId id="834" r:id="rId36"/>
    <p:sldId id="852" r:id="rId37"/>
    <p:sldId id="602" r:id="rId38"/>
    <p:sldId id="483" r:id="rId39"/>
    <p:sldId id="884" r:id="rId40"/>
    <p:sldId id="2147477856" r:id="rId41"/>
    <p:sldId id="2147477858" r:id="rId42"/>
    <p:sldId id="2147477916" r:id="rId43"/>
    <p:sldId id="2147477857" r:id="rId44"/>
    <p:sldId id="2147477880" r:id="rId45"/>
    <p:sldId id="2147477881" r:id="rId46"/>
    <p:sldId id="2147477917" r:id="rId47"/>
    <p:sldId id="2147477918" r:id="rId48"/>
    <p:sldId id="2147477859" r:id="rId49"/>
    <p:sldId id="2147477919" r:id="rId50"/>
    <p:sldId id="259" r:id="rId51"/>
    <p:sldId id="261" r:id="rId52"/>
    <p:sldId id="262" r:id="rId53"/>
    <p:sldId id="2147477920" r:id="rId54"/>
  </p:sldIdLst>
  <p:sldSz cx="9144000" cy="5143500" type="screen16x9"/>
  <p:notesSz cx="6858000" cy="9144000"/>
  <p:defaultTextStyle>
    <a:defPPr>
      <a:defRPr lang="en-US"/>
    </a:defPPr>
    <a:lvl1pPr marL="0" algn="l" defTabSz="457166" rtl="0" eaLnBrk="1" latinLnBrk="0" hangingPunct="1">
      <a:defRPr sz="1800" kern="1200">
        <a:solidFill>
          <a:schemeClr val="tx1"/>
        </a:solidFill>
        <a:latin typeface="+mn-lt"/>
        <a:ea typeface="+mn-ea"/>
        <a:cs typeface="+mn-cs"/>
      </a:defRPr>
    </a:lvl1pPr>
    <a:lvl2pPr marL="457166" algn="l" defTabSz="457166" rtl="0" eaLnBrk="1" latinLnBrk="0" hangingPunct="1">
      <a:defRPr sz="1800" kern="1200">
        <a:solidFill>
          <a:schemeClr val="tx1"/>
        </a:solidFill>
        <a:latin typeface="+mn-lt"/>
        <a:ea typeface="+mn-ea"/>
        <a:cs typeface="+mn-cs"/>
      </a:defRPr>
    </a:lvl2pPr>
    <a:lvl3pPr marL="914333" algn="l" defTabSz="457166" rtl="0" eaLnBrk="1" latinLnBrk="0" hangingPunct="1">
      <a:defRPr sz="1800" kern="1200">
        <a:solidFill>
          <a:schemeClr val="tx1"/>
        </a:solidFill>
        <a:latin typeface="+mn-lt"/>
        <a:ea typeface="+mn-ea"/>
        <a:cs typeface="+mn-cs"/>
      </a:defRPr>
    </a:lvl3pPr>
    <a:lvl4pPr marL="1371499" algn="l" defTabSz="457166" rtl="0" eaLnBrk="1" latinLnBrk="0" hangingPunct="1">
      <a:defRPr sz="1800" kern="1200">
        <a:solidFill>
          <a:schemeClr val="tx1"/>
        </a:solidFill>
        <a:latin typeface="+mn-lt"/>
        <a:ea typeface="+mn-ea"/>
        <a:cs typeface="+mn-cs"/>
      </a:defRPr>
    </a:lvl4pPr>
    <a:lvl5pPr marL="1828666" algn="l" defTabSz="457166" rtl="0" eaLnBrk="1" latinLnBrk="0" hangingPunct="1">
      <a:defRPr sz="1800" kern="1200">
        <a:solidFill>
          <a:schemeClr val="tx1"/>
        </a:solidFill>
        <a:latin typeface="+mn-lt"/>
        <a:ea typeface="+mn-ea"/>
        <a:cs typeface="+mn-cs"/>
      </a:defRPr>
    </a:lvl5pPr>
    <a:lvl6pPr marL="2285832" algn="l" defTabSz="457166" rtl="0" eaLnBrk="1" latinLnBrk="0" hangingPunct="1">
      <a:defRPr sz="1800" kern="1200">
        <a:solidFill>
          <a:schemeClr val="tx1"/>
        </a:solidFill>
        <a:latin typeface="+mn-lt"/>
        <a:ea typeface="+mn-ea"/>
        <a:cs typeface="+mn-cs"/>
      </a:defRPr>
    </a:lvl6pPr>
    <a:lvl7pPr marL="2742998" algn="l" defTabSz="457166" rtl="0" eaLnBrk="1" latinLnBrk="0" hangingPunct="1">
      <a:defRPr sz="1800" kern="1200">
        <a:solidFill>
          <a:schemeClr val="tx1"/>
        </a:solidFill>
        <a:latin typeface="+mn-lt"/>
        <a:ea typeface="+mn-ea"/>
        <a:cs typeface="+mn-cs"/>
      </a:defRPr>
    </a:lvl7pPr>
    <a:lvl8pPr marL="3200165" algn="l" defTabSz="457166" rtl="0" eaLnBrk="1" latinLnBrk="0" hangingPunct="1">
      <a:defRPr sz="1800" kern="1200">
        <a:solidFill>
          <a:schemeClr val="tx1"/>
        </a:solidFill>
        <a:latin typeface="+mn-lt"/>
        <a:ea typeface="+mn-ea"/>
        <a:cs typeface="+mn-cs"/>
      </a:defRPr>
    </a:lvl8pPr>
    <a:lvl9pPr marL="3657331" algn="l" defTabSz="457166"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C00"/>
    <a:srgbClr val="FF5D00"/>
    <a:srgbClr val="3F80CD"/>
    <a:srgbClr val="235F9C"/>
    <a:srgbClr val="001A5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18"/>
    <p:restoredTop sz="58082"/>
  </p:normalViewPr>
  <p:slideViewPr>
    <p:cSldViewPr snapToGrid="0" snapToObjects="1">
      <p:cViewPr varScale="1">
        <p:scale>
          <a:sx n="94" d="100"/>
          <a:sy n="94" d="100"/>
        </p:scale>
        <p:origin x="1920" y="192"/>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95" d="100"/>
          <a:sy n="95" d="100"/>
        </p:scale>
        <p:origin x="3720"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47F71E0-0D53-DC45-B2CB-C90849DC5EA0}"/>
              </a:ext>
            </a:extLst>
          </p:cNvPr>
          <p:cNvSpPr>
            <a:spLocks noGrp="1"/>
          </p:cNvSpPr>
          <p:nvPr>
            <p:ph type="hdr" sz="quarter"/>
          </p:nvPr>
        </p:nvSpPr>
        <p:spPr>
          <a:xfrm>
            <a:off x="0" y="0"/>
            <a:ext cx="2971800" cy="459317"/>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8A5AE21-28DC-384A-9615-D2A234C1720F}"/>
              </a:ext>
            </a:extLst>
          </p:cNvPr>
          <p:cNvSpPr>
            <a:spLocks noGrp="1"/>
          </p:cNvSpPr>
          <p:nvPr>
            <p:ph type="dt" sz="quarter" idx="1"/>
          </p:nvPr>
        </p:nvSpPr>
        <p:spPr>
          <a:xfrm>
            <a:off x="3885010" y="0"/>
            <a:ext cx="2971800" cy="459317"/>
          </a:xfrm>
          <a:prstGeom prst="rect">
            <a:avLst/>
          </a:prstGeom>
        </p:spPr>
        <p:txBody>
          <a:bodyPr vert="horz" lIns="91440" tIns="45720" rIns="91440" bIns="45720" rtlCol="0"/>
          <a:lstStyle>
            <a:lvl1pPr algn="r">
              <a:defRPr sz="1200"/>
            </a:lvl1pPr>
          </a:lstStyle>
          <a:p>
            <a:fld id="{51727395-C8D8-FC4E-A947-CB2BD1422AA7}" type="datetimeFigureOut">
              <a:rPr lang="en-US" smtClean="0"/>
              <a:t>6/25/26</a:t>
            </a:fld>
            <a:endParaRPr lang="en-US"/>
          </a:p>
        </p:txBody>
      </p:sp>
      <p:sp>
        <p:nvSpPr>
          <p:cNvPr id="4" name="Footer Placeholder 3">
            <a:extLst>
              <a:ext uri="{FF2B5EF4-FFF2-40B4-BE49-F238E27FC236}">
                <a16:creationId xmlns:a16="http://schemas.microsoft.com/office/drawing/2014/main" id="{C80266FC-5661-134A-A28E-52A0750FBAD1}"/>
              </a:ext>
            </a:extLst>
          </p:cNvPr>
          <p:cNvSpPr>
            <a:spLocks noGrp="1"/>
          </p:cNvSpPr>
          <p:nvPr>
            <p:ph type="ftr" sz="quarter" idx="2"/>
          </p:nvPr>
        </p:nvSpPr>
        <p:spPr>
          <a:xfrm>
            <a:off x="0" y="8684685"/>
            <a:ext cx="2971800" cy="459316"/>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3260C2E-86CE-434C-81DE-82F82C9B8D9C}"/>
              </a:ext>
            </a:extLst>
          </p:cNvPr>
          <p:cNvSpPr>
            <a:spLocks noGrp="1"/>
          </p:cNvSpPr>
          <p:nvPr>
            <p:ph type="sldNum" sz="quarter" idx="3"/>
          </p:nvPr>
        </p:nvSpPr>
        <p:spPr>
          <a:xfrm>
            <a:off x="3885010" y="8684685"/>
            <a:ext cx="2971800" cy="459316"/>
          </a:xfrm>
          <a:prstGeom prst="rect">
            <a:avLst/>
          </a:prstGeom>
        </p:spPr>
        <p:txBody>
          <a:bodyPr vert="horz" lIns="91440" tIns="45720" rIns="91440" bIns="45720" rtlCol="0" anchor="b"/>
          <a:lstStyle>
            <a:lvl1pPr algn="r">
              <a:defRPr sz="1200"/>
            </a:lvl1pPr>
          </a:lstStyle>
          <a:p>
            <a:fld id="{CCC4DDE5-AA14-DD42-BEF8-7DF8E3623279}" type="slidenum">
              <a:rPr lang="en-US" smtClean="0"/>
              <a:t>‹#›</a:t>
            </a:fld>
            <a:endParaRPr lang="en-US"/>
          </a:p>
        </p:txBody>
      </p:sp>
    </p:spTree>
    <p:extLst>
      <p:ext uri="{BB962C8B-B14F-4D97-AF65-F5344CB8AC3E}">
        <p14:creationId xmlns:p14="http://schemas.microsoft.com/office/powerpoint/2010/main" val="31576342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931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5010" y="0"/>
            <a:ext cx="2971800" cy="459317"/>
          </a:xfrm>
          <a:prstGeom prst="rect">
            <a:avLst/>
          </a:prstGeom>
        </p:spPr>
        <p:txBody>
          <a:bodyPr vert="horz" lIns="91440" tIns="45720" rIns="91440" bIns="45720" rtlCol="0"/>
          <a:lstStyle>
            <a:lvl1pPr algn="r">
              <a:defRPr sz="1200"/>
            </a:lvl1pPr>
          </a:lstStyle>
          <a:p>
            <a:fld id="{910927A9-B8DC-384B-BF68-738F1B31EAB2}" type="datetimeFigureOut">
              <a:rPr lang="en-US" smtClean="0"/>
              <a:t>6/25/26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2"/>
            <a:ext cx="5486400" cy="3600449"/>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4685"/>
            <a:ext cx="2971800" cy="45931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5010" y="8684685"/>
            <a:ext cx="2971800" cy="459316"/>
          </a:xfrm>
          <a:prstGeom prst="rect">
            <a:avLst/>
          </a:prstGeom>
        </p:spPr>
        <p:txBody>
          <a:bodyPr vert="horz" lIns="91440" tIns="45720" rIns="91440" bIns="45720" rtlCol="0" anchor="b"/>
          <a:lstStyle>
            <a:lvl1pPr algn="r">
              <a:defRPr sz="1200"/>
            </a:lvl1pPr>
          </a:lstStyle>
          <a:p>
            <a:fld id="{DB333E9F-084A-8543-BC6F-0AE70009C29B}" type="slidenum">
              <a:rPr lang="en-US" smtClean="0"/>
              <a:t>‹#›</a:t>
            </a:fld>
            <a:endParaRPr lang="en-US"/>
          </a:p>
        </p:txBody>
      </p:sp>
    </p:spTree>
    <p:extLst>
      <p:ext uri="{BB962C8B-B14F-4D97-AF65-F5344CB8AC3E}">
        <p14:creationId xmlns:p14="http://schemas.microsoft.com/office/powerpoint/2010/main" val="1283024862"/>
      </p:ext>
    </p:extLst>
  </p:cSld>
  <p:clrMap bg1="lt1" tx1="dk1" bg2="lt2" tx2="dk2" accent1="accent1" accent2="accent2" accent3="accent3" accent4="accent4" accent5="accent5" accent6="accent6" hlink="hlink" folHlink="folHlink"/>
  <p:notesStyle>
    <a:lvl1pPr marL="0" algn="l" defTabSz="914333" rtl="0" eaLnBrk="1" latinLnBrk="0" hangingPunct="1">
      <a:defRPr sz="1199" kern="1200">
        <a:solidFill>
          <a:schemeClr val="tx1"/>
        </a:solidFill>
        <a:latin typeface="+mn-lt"/>
        <a:ea typeface="+mn-ea"/>
        <a:cs typeface="+mn-cs"/>
      </a:defRPr>
    </a:lvl1pPr>
    <a:lvl2pPr marL="457166" algn="l" defTabSz="914333" rtl="0" eaLnBrk="1" latinLnBrk="0" hangingPunct="1">
      <a:defRPr sz="1199" kern="1200">
        <a:solidFill>
          <a:schemeClr val="tx1"/>
        </a:solidFill>
        <a:latin typeface="+mn-lt"/>
        <a:ea typeface="+mn-ea"/>
        <a:cs typeface="+mn-cs"/>
      </a:defRPr>
    </a:lvl2pPr>
    <a:lvl3pPr marL="914333" algn="l" defTabSz="914333" rtl="0" eaLnBrk="1" latinLnBrk="0" hangingPunct="1">
      <a:defRPr sz="1199" kern="1200">
        <a:solidFill>
          <a:schemeClr val="tx1"/>
        </a:solidFill>
        <a:latin typeface="+mn-lt"/>
        <a:ea typeface="+mn-ea"/>
        <a:cs typeface="+mn-cs"/>
      </a:defRPr>
    </a:lvl3pPr>
    <a:lvl4pPr marL="1371499" algn="l" defTabSz="914333" rtl="0" eaLnBrk="1" latinLnBrk="0" hangingPunct="1">
      <a:defRPr sz="1199" kern="1200">
        <a:solidFill>
          <a:schemeClr val="tx1"/>
        </a:solidFill>
        <a:latin typeface="+mn-lt"/>
        <a:ea typeface="+mn-ea"/>
        <a:cs typeface="+mn-cs"/>
      </a:defRPr>
    </a:lvl4pPr>
    <a:lvl5pPr marL="1828666" algn="l" defTabSz="914333" rtl="0" eaLnBrk="1" latinLnBrk="0" hangingPunct="1">
      <a:defRPr sz="1199" kern="1200">
        <a:solidFill>
          <a:schemeClr val="tx1"/>
        </a:solidFill>
        <a:latin typeface="+mn-lt"/>
        <a:ea typeface="+mn-ea"/>
        <a:cs typeface="+mn-cs"/>
      </a:defRPr>
    </a:lvl5pPr>
    <a:lvl6pPr marL="2285832" algn="l" defTabSz="914333" rtl="0" eaLnBrk="1" latinLnBrk="0" hangingPunct="1">
      <a:defRPr sz="1199" kern="1200">
        <a:solidFill>
          <a:schemeClr val="tx1"/>
        </a:solidFill>
        <a:latin typeface="+mn-lt"/>
        <a:ea typeface="+mn-ea"/>
        <a:cs typeface="+mn-cs"/>
      </a:defRPr>
    </a:lvl6pPr>
    <a:lvl7pPr marL="2742998" algn="l" defTabSz="914333" rtl="0" eaLnBrk="1" latinLnBrk="0" hangingPunct="1">
      <a:defRPr sz="1199" kern="1200">
        <a:solidFill>
          <a:schemeClr val="tx1"/>
        </a:solidFill>
        <a:latin typeface="+mn-lt"/>
        <a:ea typeface="+mn-ea"/>
        <a:cs typeface="+mn-cs"/>
      </a:defRPr>
    </a:lvl7pPr>
    <a:lvl8pPr marL="3200165" algn="l" defTabSz="914333" rtl="0" eaLnBrk="1" latinLnBrk="0" hangingPunct="1">
      <a:defRPr sz="1199" kern="1200">
        <a:solidFill>
          <a:schemeClr val="tx1"/>
        </a:solidFill>
        <a:latin typeface="+mn-lt"/>
        <a:ea typeface="+mn-ea"/>
        <a:cs typeface="+mn-cs"/>
      </a:defRPr>
    </a:lvl8pPr>
    <a:lvl9pPr marL="3657331" algn="l" defTabSz="914333" rtl="0" eaLnBrk="1" latinLnBrk="0" hangingPunct="1">
      <a:defRPr sz="119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0175F3A6-6971-5D47-A3A5-1EDC47BAF5FB}" type="slidenum">
              <a:rPr lang="en-US" smtClean="0"/>
              <a:t>1</a:t>
            </a:fld>
            <a:endParaRPr lang="en-US"/>
          </a:p>
        </p:txBody>
      </p:sp>
    </p:spTree>
    <p:extLst>
      <p:ext uri="{BB962C8B-B14F-4D97-AF65-F5344CB8AC3E}">
        <p14:creationId xmlns:p14="http://schemas.microsoft.com/office/powerpoint/2010/main" val="3814061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we’re going to consider a new kind of predictive model, one in which the input to the model is a text document, and the output is a label associated with that document</a:t>
            </a:r>
          </a:p>
          <a:p>
            <a:r>
              <a:rPr lang="en-US" dirty="0"/>
              <a:t>For example, the input might be a radiology report, and the output might be a binary label indicating whether an abnormal finding was noted in the report</a:t>
            </a:r>
          </a:p>
          <a:p>
            <a:r>
              <a:rPr lang="en-US" dirty="0"/>
              <a:t>But as we know, all our predictive models – logistic regression, MLP, CNN – they all work with numbers</a:t>
            </a:r>
          </a:p>
          <a:p>
            <a:r>
              <a:rPr lang="en-US" dirty="0"/>
              <a:t>So, right from the start we’re faced with a difficult problem – how can we convert a document into a feature vector that encodes its contents?</a:t>
            </a:r>
          </a:p>
          <a:p>
            <a:r>
              <a:rPr lang="en-US" dirty="0"/>
              <a:t>If we can do that, we can then apply any of the classification models we’ve previously discussed</a:t>
            </a:r>
          </a:p>
          <a:p>
            <a:r>
              <a:rPr lang="en-US" dirty="0"/>
              <a:t>So, that’s the problem we’ll be solving today.</a:t>
            </a:r>
          </a:p>
        </p:txBody>
      </p:sp>
      <p:sp>
        <p:nvSpPr>
          <p:cNvPr id="4" name="Slide Number Placeholder 3"/>
          <p:cNvSpPr>
            <a:spLocks noGrp="1"/>
          </p:cNvSpPr>
          <p:nvPr>
            <p:ph type="sldNum" sz="quarter" idx="5"/>
          </p:nvPr>
        </p:nvSpPr>
        <p:spPr/>
        <p:txBody>
          <a:bodyPr/>
          <a:lstStyle/>
          <a:p>
            <a:fld id="{DB333E9F-084A-8543-BC6F-0AE70009C29B}" type="slidenum">
              <a:rPr lang="en-US" smtClean="0"/>
              <a:t>2</a:t>
            </a:fld>
            <a:endParaRPr lang="en-US"/>
          </a:p>
        </p:txBody>
      </p:sp>
    </p:spTree>
    <p:extLst>
      <p:ext uri="{BB962C8B-B14F-4D97-AF65-F5344CB8AC3E}">
        <p14:creationId xmlns:p14="http://schemas.microsoft.com/office/powerpoint/2010/main" val="1796391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28BF7-922E-5529-63A6-95723D18C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8E8ED9-C41D-7280-8194-252220ADC6C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1D0B485-97DB-CE85-D0A7-8610838BD099}"/>
              </a:ext>
            </a:extLst>
          </p:cNvPr>
          <p:cNvSpPr>
            <a:spLocks noGrp="1"/>
          </p:cNvSpPr>
          <p:nvPr>
            <p:ph type="body" idx="1"/>
          </p:nvPr>
        </p:nvSpPr>
        <p:spPr/>
        <p:txBody>
          <a:bodyPr/>
          <a:lstStyle/>
          <a:p>
            <a:pPr marL="171450" indent="-171450">
              <a:buFontTx/>
              <a:buChar char="-"/>
            </a:pPr>
            <a:r>
              <a:rPr lang="en-US" dirty="0"/>
              <a:t>our focus: prediction machines</a:t>
            </a:r>
          </a:p>
          <a:p>
            <a:pPr marL="171450" indent="-171450">
              <a:buFontTx/>
              <a:buChar char="-"/>
            </a:pPr>
            <a:r>
              <a:rPr lang="en-US" dirty="0"/>
              <a:t>What are they? functions, algorithms</a:t>
            </a:r>
          </a:p>
          <a:p>
            <a:pPr marL="171450" indent="-171450">
              <a:buFontTx/>
              <a:buChar char="-"/>
            </a:pPr>
            <a:r>
              <a:rPr lang="en-US" dirty="0"/>
              <a:t>more specifically: neural network prediction machines</a:t>
            </a:r>
          </a:p>
          <a:p>
            <a:pPr marL="171450" indent="-171450">
              <a:buFontTx/>
              <a:buChar char="-"/>
            </a:pPr>
            <a:endParaRPr lang="en-US" dirty="0"/>
          </a:p>
          <a:p>
            <a:pPr marL="171450" indent="-171450">
              <a:buFontTx/>
              <a:buChar char="-"/>
            </a:pPr>
            <a:r>
              <a:rPr lang="en-US" dirty="0"/>
              <a:t>The goal? Predict as well as we can. Approach is secondary.</a:t>
            </a:r>
          </a:p>
        </p:txBody>
      </p:sp>
      <p:sp>
        <p:nvSpPr>
          <p:cNvPr id="4" name="Slide Number Placeholder 3">
            <a:extLst>
              <a:ext uri="{FF2B5EF4-FFF2-40B4-BE49-F238E27FC236}">
                <a16:creationId xmlns:a16="http://schemas.microsoft.com/office/drawing/2014/main" id="{B149F68C-692D-5CDD-FEE1-07DC00C55E85}"/>
              </a:ext>
            </a:extLst>
          </p:cNvPr>
          <p:cNvSpPr>
            <a:spLocks noGrp="1"/>
          </p:cNvSpPr>
          <p:nvPr>
            <p:ph type="sldNum" sz="quarter" idx="10"/>
          </p:nvPr>
        </p:nvSpPr>
        <p:spPr/>
        <p:txBody>
          <a:bodyPr/>
          <a:lstStyle/>
          <a:p>
            <a:fld id="{DB333E9F-084A-8543-BC6F-0AE70009C29B}" type="slidenum">
              <a:rPr lang="en-US" smtClean="0"/>
              <a:t>3</a:t>
            </a:fld>
            <a:endParaRPr lang="en-US"/>
          </a:p>
        </p:txBody>
      </p:sp>
    </p:spTree>
    <p:extLst>
      <p:ext uri="{BB962C8B-B14F-4D97-AF65-F5344CB8AC3E}">
        <p14:creationId xmlns:p14="http://schemas.microsoft.com/office/powerpoint/2010/main" val="1288591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what about the systems we’re seeing today?</a:t>
            </a:r>
          </a:p>
          <a:p>
            <a:r>
              <a:rPr lang="en-US" dirty="0"/>
              <a:t>Does the paradigm I’ve described still fit?</a:t>
            </a:r>
          </a:p>
          <a:p>
            <a:endParaRPr lang="en-US" dirty="0"/>
          </a:p>
          <a:p>
            <a:r>
              <a:rPr lang="en-US" dirty="0"/>
              <a:t>“next-token predictor”</a:t>
            </a:r>
          </a:p>
          <a:p>
            <a:r>
              <a:rPr lang="en-US" dirty="0"/>
              <a:t>“stochastic parrot”</a:t>
            </a:r>
          </a:p>
          <a:p>
            <a:endParaRPr lang="en-US" dirty="0"/>
          </a:p>
          <a:p>
            <a:r>
              <a:rPr lang="en-US" dirty="0"/>
              <a:t>Generation via repeated prediction</a:t>
            </a:r>
          </a:p>
          <a:p>
            <a:endParaRPr lang="en-US" dirty="0"/>
          </a:p>
          <a:p>
            <a:r>
              <a:rPr lang="en-US" dirty="0"/>
              <a:t>Make the point about truth</a:t>
            </a:r>
          </a:p>
        </p:txBody>
      </p:sp>
      <p:sp>
        <p:nvSpPr>
          <p:cNvPr id="4" name="Slide Number Placeholder 3"/>
          <p:cNvSpPr>
            <a:spLocks noGrp="1"/>
          </p:cNvSpPr>
          <p:nvPr>
            <p:ph type="sldNum" sz="quarter" idx="5"/>
          </p:nvPr>
        </p:nvSpPr>
        <p:spPr/>
        <p:txBody>
          <a:bodyPr/>
          <a:lstStyle/>
          <a:p>
            <a:fld id="{9FCDE58F-843A-8447-AF7F-7BD31329CDC1}" type="slidenum">
              <a:rPr lang="en-US" smtClean="0"/>
              <a:t>4</a:t>
            </a:fld>
            <a:endParaRPr lang="en-US"/>
          </a:p>
        </p:txBody>
      </p:sp>
    </p:spTree>
    <p:extLst>
      <p:ext uri="{BB962C8B-B14F-4D97-AF65-F5344CB8AC3E}">
        <p14:creationId xmlns:p14="http://schemas.microsoft.com/office/powerpoint/2010/main" val="1286015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Stimulate discussion here</a:t>
            </a:r>
          </a:p>
        </p:txBody>
      </p:sp>
      <p:sp>
        <p:nvSpPr>
          <p:cNvPr id="4" name="Slide Number Placeholder 3"/>
          <p:cNvSpPr>
            <a:spLocks noGrp="1"/>
          </p:cNvSpPr>
          <p:nvPr>
            <p:ph type="sldNum" sz="quarter" idx="5"/>
          </p:nvPr>
        </p:nvSpPr>
        <p:spPr/>
        <p:txBody>
          <a:bodyPr/>
          <a:lstStyle/>
          <a:p>
            <a:fld id="{DB333E9F-084A-8543-BC6F-0AE70009C29B}" type="slidenum">
              <a:rPr lang="en-US" smtClean="0"/>
              <a:t>6</a:t>
            </a:fld>
            <a:endParaRPr lang="en-US"/>
          </a:p>
        </p:txBody>
      </p:sp>
    </p:spTree>
    <p:extLst>
      <p:ext uri="{BB962C8B-B14F-4D97-AF65-F5344CB8AC3E}">
        <p14:creationId xmlns:p14="http://schemas.microsoft.com/office/powerpoint/2010/main" val="241477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38EA247-0547-4418-98F2-216488368539}" type="slidenum">
              <a:rPr lang="en-US" smtClean="0"/>
              <a:t>7</a:t>
            </a:fld>
            <a:endParaRPr lang="en-US"/>
          </a:p>
        </p:txBody>
      </p:sp>
    </p:spTree>
    <p:extLst>
      <p:ext uri="{BB962C8B-B14F-4D97-AF65-F5344CB8AC3E}">
        <p14:creationId xmlns:p14="http://schemas.microsoft.com/office/powerpoint/2010/main" val="4195235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What goes in these boxes?</a:t>
            </a:r>
          </a:p>
        </p:txBody>
      </p:sp>
      <p:sp>
        <p:nvSpPr>
          <p:cNvPr id="4" name="Slide Number Placeholder 3"/>
          <p:cNvSpPr>
            <a:spLocks noGrp="1"/>
          </p:cNvSpPr>
          <p:nvPr>
            <p:ph type="sldNum" sz="quarter" idx="5"/>
          </p:nvPr>
        </p:nvSpPr>
        <p:spPr/>
        <p:txBody>
          <a:bodyPr/>
          <a:lstStyle/>
          <a:p>
            <a:fld id="{9FCDE58F-843A-8447-AF7F-7BD31329CDC1}" type="slidenum">
              <a:rPr lang="en-US" smtClean="0"/>
              <a:t>8</a:t>
            </a:fld>
            <a:endParaRPr lang="en-US"/>
          </a:p>
        </p:txBody>
      </p:sp>
    </p:spTree>
    <p:extLst>
      <p:ext uri="{BB962C8B-B14F-4D97-AF65-F5344CB8AC3E}">
        <p14:creationId xmlns:p14="http://schemas.microsoft.com/office/powerpoint/2010/main" val="29891970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How do we do that?</a:t>
            </a:r>
          </a:p>
          <a:p>
            <a:r>
              <a:rPr lang="en-US" dirty="0"/>
              <a:t>Gather a bunch of historical data</a:t>
            </a:r>
          </a:p>
          <a:p>
            <a:r>
              <a:rPr lang="en-US" dirty="0"/>
              <a:t>Want to find an equation that predicts y well based on x across that historical data</a:t>
            </a:r>
          </a:p>
          <a:p>
            <a:endParaRPr lang="en-US" dirty="0"/>
          </a:p>
          <a:p>
            <a:r>
              <a:rPr lang="en-US" dirty="0"/>
              <a:t>So we take all this data, we use it to find the parameters that are most consistent with the patterns of x and y that are present</a:t>
            </a:r>
          </a:p>
        </p:txBody>
      </p:sp>
      <p:sp>
        <p:nvSpPr>
          <p:cNvPr id="4" name="Slide Number Placeholder 3"/>
          <p:cNvSpPr>
            <a:spLocks noGrp="1"/>
          </p:cNvSpPr>
          <p:nvPr>
            <p:ph type="sldNum" sz="quarter" idx="10"/>
          </p:nvPr>
        </p:nvSpPr>
        <p:spPr/>
        <p:txBody>
          <a:bodyPr/>
          <a:lstStyle/>
          <a:p>
            <a:fld id="{DB333E9F-084A-8543-BC6F-0AE70009C29B}" type="slidenum">
              <a:rPr lang="en-US" smtClean="0"/>
              <a:t>9</a:t>
            </a:fld>
            <a:endParaRPr lang="en-US"/>
          </a:p>
        </p:txBody>
      </p:sp>
    </p:spTree>
    <p:extLst>
      <p:ext uri="{BB962C8B-B14F-4D97-AF65-F5344CB8AC3E}">
        <p14:creationId xmlns:p14="http://schemas.microsoft.com/office/powerpoint/2010/main" val="10305917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Having done that, we have a trained model. </a:t>
            </a:r>
          </a:p>
          <a:p>
            <a:r>
              <a:rPr lang="en-US" dirty="0"/>
              <a:t>Now, when we see a NEW value of x, we simply plug it into our “learned” equation, and it tells us what we expect y to be. This is prediction.</a:t>
            </a:r>
          </a:p>
        </p:txBody>
      </p:sp>
      <p:sp>
        <p:nvSpPr>
          <p:cNvPr id="4" name="Slide Number Placeholder 3"/>
          <p:cNvSpPr>
            <a:spLocks noGrp="1"/>
          </p:cNvSpPr>
          <p:nvPr>
            <p:ph type="sldNum" sz="quarter" idx="10"/>
          </p:nvPr>
        </p:nvSpPr>
        <p:spPr/>
        <p:txBody>
          <a:bodyPr/>
          <a:lstStyle/>
          <a:p>
            <a:fld id="{DB333E9F-084A-8543-BC6F-0AE70009C29B}" type="slidenum">
              <a:rPr lang="en-US" smtClean="0"/>
              <a:t>10</a:t>
            </a:fld>
            <a:endParaRPr lang="en-US"/>
          </a:p>
        </p:txBody>
      </p:sp>
    </p:spTree>
    <p:extLst>
      <p:ext uri="{BB962C8B-B14F-4D97-AF65-F5344CB8AC3E}">
        <p14:creationId xmlns:p14="http://schemas.microsoft.com/office/powerpoint/2010/main" val="18210829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38EA247-0547-4418-98F2-216488368539}" type="slidenum">
              <a:rPr lang="en-US" smtClean="0"/>
              <a:t>11</a:t>
            </a:fld>
            <a:endParaRPr lang="en-US"/>
          </a:p>
        </p:txBody>
      </p:sp>
    </p:spTree>
    <p:extLst>
      <p:ext uri="{BB962C8B-B14F-4D97-AF65-F5344CB8AC3E}">
        <p14:creationId xmlns:p14="http://schemas.microsoft.com/office/powerpoint/2010/main" val="985462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Having done that, we have a trained model. Our parameters are learned – we hold them fixed.</a:t>
            </a:r>
          </a:p>
          <a:p>
            <a:r>
              <a:rPr lang="en-US" dirty="0"/>
              <a:t>Now, when we see a NEW value of x, we simply plug it into our “learned” equation, and it tells us what we expect y to be. This is prediction.</a:t>
            </a:r>
          </a:p>
        </p:txBody>
      </p:sp>
      <p:sp>
        <p:nvSpPr>
          <p:cNvPr id="4" name="Slide Number Placeholder 3"/>
          <p:cNvSpPr>
            <a:spLocks noGrp="1"/>
          </p:cNvSpPr>
          <p:nvPr>
            <p:ph type="sldNum" sz="quarter" idx="10"/>
          </p:nvPr>
        </p:nvSpPr>
        <p:spPr/>
        <p:txBody>
          <a:bodyPr/>
          <a:lstStyle/>
          <a:p>
            <a:fld id="{DB333E9F-084A-8543-BC6F-0AE70009C29B}" type="slidenum">
              <a:rPr lang="en-US" smtClean="0"/>
              <a:t>12</a:t>
            </a:fld>
            <a:endParaRPr lang="en-US"/>
          </a:p>
        </p:txBody>
      </p:sp>
    </p:spTree>
    <p:extLst>
      <p:ext uri="{BB962C8B-B14F-4D97-AF65-F5344CB8AC3E}">
        <p14:creationId xmlns:p14="http://schemas.microsoft.com/office/powerpoint/2010/main" val="25621243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333E9F-084A-8543-BC6F-0AE70009C29B}" type="slidenum">
              <a:rPr lang="en-US" smtClean="0"/>
              <a:t>14</a:t>
            </a:fld>
            <a:endParaRPr lang="en-US"/>
          </a:p>
        </p:txBody>
      </p:sp>
    </p:spTree>
    <p:extLst>
      <p:ext uri="{BB962C8B-B14F-4D97-AF65-F5344CB8AC3E}">
        <p14:creationId xmlns:p14="http://schemas.microsoft.com/office/powerpoint/2010/main" val="39706072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FCDE58F-843A-8447-AF7F-7BD31329CDC1}" type="slidenum">
              <a:rPr lang="en-US" smtClean="0"/>
              <a:t>15</a:t>
            </a:fld>
            <a:endParaRPr lang="en-US"/>
          </a:p>
        </p:txBody>
      </p:sp>
    </p:spTree>
    <p:extLst>
      <p:ext uri="{BB962C8B-B14F-4D97-AF65-F5344CB8AC3E}">
        <p14:creationId xmlns:p14="http://schemas.microsoft.com/office/powerpoint/2010/main" val="4560323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FCDE58F-843A-8447-AF7F-7BD31329CDC1}" type="slidenum">
              <a:rPr lang="en-US" smtClean="0"/>
              <a:t>16</a:t>
            </a:fld>
            <a:endParaRPr lang="en-US"/>
          </a:p>
        </p:txBody>
      </p:sp>
    </p:spTree>
    <p:extLst>
      <p:ext uri="{BB962C8B-B14F-4D97-AF65-F5344CB8AC3E}">
        <p14:creationId xmlns:p14="http://schemas.microsoft.com/office/powerpoint/2010/main" val="393484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FCDE58F-843A-8447-AF7F-7BD31329CDC1}" type="slidenum">
              <a:rPr lang="en-US" smtClean="0"/>
              <a:t>17</a:t>
            </a:fld>
            <a:endParaRPr lang="en-US"/>
          </a:p>
        </p:txBody>
      </p:sp>
    </p:spTree>
    <p:extLst>
      <p:ext uri="{BB962C8B-B14F-4D97-AF65-F5344CB8AC3E}">
        <p14:creationId xmlns:p14="http://schemas.microsoft.com/office/powerpoint/2010/main" val="11716996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 but important</a:t>
            </a:r>
          </a:p>
        </p:txBody>
      </p:sp>
      <p:sp>
        <p:nvSpPr>
          <p:cNvPr id="4" name="Slide Number Placeholder 3"/>
          <p:cNvSpPr>
            <a:spLocks noGrp="1"/>
          </p:cNvSpPr>
          <p:nvPr>
            <p:ph type="sldNum" sz="quarter" idx="5"/>
          </p:nvPr>
        </p:nvSpPr>
        <p:spPr/>
        <p:txBody>
          <a:bodyPr/>
          <a:lstStyle/>
          <a:p>
            <a:fld id="{DB333E9F-084A-8543-BC6F-0AE70009C29B}" type="slidenum">
              <a:rPr lang="en-US" smtClean="0"/>
              <a:t>21</a:t>
            </a:fld>
            <a:endParaRPr lang="en-US"/>
          </a:p>
        </p:txBody>
      </p:sp>
    </p:spTree>
    <p:extLst>
      <p:ext uri="{BB962C8B-B14F-4D97-AF65-F5344CB8AC3E}">
        <p14:creationId xmlns:p14="http://schemas.microsoft.com/office/powerpoint/2010/main" val="1551038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FCDE58F-843A-8447-AF7F-7BD31329CDC1}" type="slidenum">
              <a:rPr lang="en-US" smtClean="0"/>
              <a:t>22</a:t>
            </a:fld>
            <a:endParaRPr lang="en-US"/>
          </a:p>
        </p:txBody>
      </p:sp>
    </p:spTree>
    <p:extLst>
      <p:ext uri="{BB962C8B-B14F-4D97-AF65-F5344CB8AC3E}">
        <p14:creationId xmlns:p14="http://schemas.microsoft.com/office/powerpoint/2010/main" val="626477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robot doesn’t know all this stuff – too many grocery items!</a:t>
            </a:r>
          </a:p>
        </p:txBody>
      </p:sp>
      <p:sp>
        <p:nvSpPr>
          <p:cNvPr id="4" name="Slide Number Placeholder 3"/>
          <p:cNvSpPr>
            <a:spLocks noGrp="1"/>
          </p:cNvSpPr>
          <p:nvPr>
            <p:ph type="sldNum" sz="quarter" idx="5"/>
          </p:nvPr>
        </p:nvSpPr>
        <p:spPr/>
        <p:txBody>
          <a:bodyPr/>
          <a:lstStyle/>
          <a:p>
            <a:fld id="{DB333E9F-084A-8543-BC6F-0AE70009C29B}" type="slidenum">
              <a:rPr lang="en-US" smtClean="0"/>
              <a:t>23</a:t>
            </a:fld>
            <a:endParaRPr lang="en-US"/>
          </a:p>
        </p:txBody>
      </p:sp>
    </p:spTree>
    <p:extLst>
      <p:ext uri="{BB962C8B-B14F-4D97-AF65-F5344CB8AC3E}">
        <p14:creationId xmlns:p14="http://schemas.microsoft.com/office/powerpoint/2010/main" val="36423032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a (my) child: have the TV teach them!</a:t>
            </a:r>
          </a:p>
        </p:txBody>
      </p:sp>
      <p:sp>
        <p:nvSpPr>
          <p:cNvPr id="4" name="Slide Number Placeholder 3"/>
          <p:cNvSpPr>
            <a:spLocks noGrp="1"/>
          </p:cNvSpPr>
          <p:nvPr>
            <p:ph type="sldNum" sz="quarter" idx="5"/>
          </p:nvPr>
        </p:nvSpPr>
        <p:spPr/>
        <p:txBody>
          <a:bodyPr/>
          <a:lstStyle/>
          <a:p>
            <a:fld id="{1223B2E0-F841-4DF0-86E7-486D3B83D04F}" type="slidenum">
              <a:rPr lang="en-US" smtClean="0"/>
              <a:t>28</a:t>
            </a:fld>
            <a:endParaRPr lang="en-US"/>
          </a:p>
        </p:txBody>
      </p:sp>
    </p:spTree>
    <p:extLst>
      <p:ext uri="{BB962C8B-B14F-4D97-AF65-F5344CB8AC3E}">
        <p14:creationId xmlns:p14="http://schemas.microsoft.com/office/powerpoint/2010/main" val="17476108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our goal is to take an input word – in this example, ‘strolls’ – and predict the probability that each word in our vocabulary will appear in its context.</a:t>
            </a:r>
          </a:p>
          <a:p>
            <a:endParaRPr lang="en-US" dirty="0"/>
          </a:p>
          <a:p>
            <a:r>
              <a:rPr lang="en-US" dirty="0"/>
              <a:t>What is our training set?</a:t>
            </a:r>
          </a:p>
          <a:p>
            <a:r>
              <a:rPr lang="en-US" dirty="0"/>
              <a:t>We can crawl through a huge text corpus – it could be Wikipedia, Twitter, randomly collected internet sites, and so on – and sample pairs of words that appear near one another.</a:t>
            </a:r>
          </a:p>
          <a:p>
            <a:endParaRPr lang="en-US" dirty="0"/>
          </a:p>
          <a:p>
            <a:r>
              <a:rPr lang="en-US" dirty="0"/>
              <a:t>We find that strolls appears near man, so {strolls, man} becomes an input word, context word pair</a:t>
            </a:r>
          </a:p>
          <a:p>
            <a:r>
              <a:rPr lang="en-US" dirty="0"/>
              <a:t>Similarly, we find that ‘flies’ appears near ‘bird’, so {flies, bird} becomes an input word, context word pair</a:t>
            </a:r>
          </a:p>
          <a:p>
            <a:endParaRPr lang="en-US" dirty="0"/>
          </a:p>
          <a:p>
            <a:r>
              <a:rPr lang="en-US" dirty="0"/>
              <a:t>Note that {bird, flies} is also a valid input word, context word pair: if bird appears in the context of flies, then flies also appears in the context of bird – the relationship is symmetric.</a:t>
            </a:r>
          </a:p>
          <a:p>
            <a:endParaRPr lang="en-US" dirty="0"/>
          </a:p>
          <a:p>
            <a:r>
              <a:rPr lang="en-US" dirty="0"/>
              <a:t>We might use a ‘context window’ of length 5, as shown in the slide, so that the input words and context words can be separated by one intervening word at most</a:t>
            </a:r>
          </a:p>
          <a:p>
            <a:endParaRPr lang="en-US" dirty="0"/>
          </a:p>
          <a:p>
            <a:r>
              <a:rPr lang="en-US" dirty="0"/>
              <a:t>Now we’ll create a model that predicts input words from context words</a:t>
            </a:r>
          </a:p>
        </p:txBody>
      </p:sp>
      <p:sp>
        <p:nvSpPr>
          <p:cNvPr id="4" name="Slide Number Placeholder 3"/>
          <p:cNvSpPr>
            <a:spLocks noGrp="1"/>
          </p:cNvSpPr>
          <p:nvPr>
            <p:ph type="sldNum" sz="quarter" idx="5"/>
          </p:nvPr>
        </p:nvSpPr>
        <p:spPr/>
        <p:txBody>
          <a:bodyPr/>
          <a:lstStyle/>
          <a:p>
            <a:fld id="{1223B2E0-F841-4DF0-86E7-486D3B83D04F}" type="slidenum">
              <a:rPr lang="en-US" smtClean="0"/>
              <a:t>29</a:t>
            </a:fld>
            <a:endParaRPr lang="en-US"/>
          </a:p>
        </p:txBody>
      </p:sp>
    </p:spTree>
    <p:extLst>
      <p:ext uri="{BB962C8B-B14F-4D97-AF65-F5344CB8AC3E}">
        <p14:creationId xmlns:p14="http://schemas.microsoft.com/office/powerpoint/2010/main" val="12963385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set up the learning problem? Informally, we’re defining words based on context.</a:t>
            </a:r>
          </a:p>
          <a:p>
            <a:r>
              <a:rPr lang="en-US" dirty="0"/>
              <a:t>But to make that idea precise, let’s create a predictive model that encapsulates that intuition.</a:t>
            </a:r>
          </a:p>
          <a:p>
            <a:r>
              <a:rPr lang="en-US" dirty="0"/>
              <a:t>What we’d like to have is, for each word, a vector that allows us to </a:t>
            </a:r>
            <a:r>
              <a:rPr lang="en-US" i="1" dirty="0"/>
              <a:t>predict</a:t>
            </a:r>
            <a:r>
              <a:rPr lang="en-US" i="0" dirty="0"/>
              <a:t> which other words are likely to be nearby, and which words are not</a:t>
            </a:r>
          </a:p>
          <a:p>
            <a:r>
              <a:rPr lang="en-US" i="0" dirty="0"/>
              <a:t>In the example on the slide, we’d like to have a vector for the word ‘strolls’ that allows us to predict which words are likely to be found in its immediate context. The predicted probability of ‘woman’ should be fairly high, and the predicted probability of ‘concept’ should be very low</a:t>
            </a:r>
          </a:p>
          <a:p>
            <a:endParaRPr lang="en-US" i="0" dirty="0"/>
          </a:p>
          <a:p>
            <a:r>
              <a:rPr lang="en-US" i="0" dirty="0"/>
              <a:t>We’ll need predictions for each word in our vocabulary – again, this is the complete list of words we’re interested in, and for which we’d like to have word vectors. For each of those words, our model will predict the probability that that word will appear in the context of the word ‘strolls’, in this case</a:t>
            </a:r>
          </a:p>
          <a:p>
            <a:endParaRPr lang="en-US" i="0" dirty="0"/>
          </a:p>
          <a:p>
            <a:r>
              <a:rPr lang="en-US" i="0" dirty="0"/>
              <a:t>With this goal in mind, let’s consider how to set up our prediction task</a:t>
            </a:r>
            <a:endParaRPr lang="en-US" dirty="0"/>
          </a:p>
        </p:txBody>
      </p:sp>
      <p:sp>
        <p:nvSpPr>
          <p:cNvPr id="4" name="Slide Number Placeholder 3"/>
          <p:cNvSpPr>
            <a:spLocks noGrp="1"/>
          </p:cNvSpPr>
          <p:nvPr>
            <p:ph type="sldNum" sz="quarter" idx="5"/>
          </p:nvPr>
        </p:nvSpPr>
        <p:spPr/>
        <p:txBody>
          <a:bodyPr/>
          <a:lstStyle/>
          <a:p>
            <a:fld id="{1223B2E0-F841-4DF0-86E7-486D3B83D04F}" type="slidenum">
              <a:rPr lang="en-US" smtClean="0"/>
              <a:t>30</a:t>
            </a:fld>
            <a:endParaRPr lang="en-US"/>
          </a:p>
        </p:txBody>
      </p:sp>
    </p:spTree>
    <p:extLst>
      <p:ext uri="{BB962C8B-B14F-4D97-AF65-F5344CB8AC3E}">
        <p14:creationId xmlns:p14="http://schemas.microsoft.com/office/powerpoint/2010/main" val="1536857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3F41D-7761-8FBA-7AD9-E04AD7140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A02901-904C-F8BE-600C-D7B207586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32AC01-9C02-45DC-4555-40DCBFE23CA4}"/>
              </a:ext>
            </a:extLst>
          </p:cNvPr>
          <p:cNvSpPr>
            <a:spLocks noGrp="1"/>
          </p:cNvSpPr>
          <p:nvPr>
            <p:ph type="body" idx="1"/>
          </p:nvPr>
        </p:nvSpPr>
        <p:spPr/>
        <p:txBody>
          <a:bodyPr/>
          <a:lstStyle/>
          <a:p>
            <a:r>
              <a:rPr lang="en-US" dirty="0"/>
              <a:t>So, how do we set up the learning problem? Informally, we’re defining words based on context.</a:t>
            </a:r>
          </a:p>
          <a:p>
            <a:r>
              <a:rPr lang="en-US" dirty="0"/>
              <a:t>But to make that idea precise, let’s create a predictive model that encapsulates that intuition.</a:t>
            </a:r>
          </a:p>
          <a:p>
            <a:r>
              <a:rPr lang="en-US" dirty="0"/>
              <a:t>What we’d like to have is, for each word, a vector that allows us to </a:t>
            </a:r>
            <a:r>
              <a:rPr lang="en-US" i="1" dirty="0"/>
              <a:t>predict</a:t>
            </a:r>
            <a:r>
              <a:rPr lang="en-US" i="0" dirty="0"/>
              <a:t> which other words are likely to be nearby, and which words are not</a:t>
            </a:r>
          </a:p>
          <a:p>
            <a:r>
              <a:rPr lang="en-US" i="0" dirty="0"/>
              <a:t>In the example on the slide, we’d like to have a vector for the word ‘strolls’ that allows us to predict which words are likely to be found in its immediate context. The predicted probability of ‘woman’ should be fairly high, and the predicted probability of ‘concept’ should be very low</a:t>
            </a:r>
          </a:p>
          <a:p>
            <a:endParaRPr lang="en-US" i="0" dirty="0"/>
          </a:p>
          <a:p>
            <a:r>
              <a:rPr lang="en-US" i="0" dirty="0"/>
              <a:t>We’ll need predictions for each word in our vocabulary – again, this is the complete list of words we’re interested in, and for which we’d like to have word vectors. For each of those words, our model will predict the probability that that word will appear in the context of the word ‘strolls’, in this case</a:t>
            </a:r>
          </a:p>
          <a:p>
            <a:endParaRPr lang="en-US" i="0" dirty="0"/>
          </a:p>
          <a:p>
            <a:r>
              <a:rPr lang="en-US" i="0" dirty="0"/>
              <a:t>With this goal in mind, let’s consider how to set up our prediction task</a:t>
            </a:r>
            <a:endParaRPr lang="en-US" dirty="0"/>
          </a:p>
        </p:txBody>
      </p:sp>
      <p:sp>
        <p:nvSpPr>
          <p:cNvPr id="4" name="Slide Number Placeholder 3">
            <a:extLst>
              <a:ext uri="{FF2B5EF4-FFF2-40B4-BE49-F238E27FC236}">
                <a16:creationId xmlns:a16="http://schemas.microsoft.com/office/drawing/2014/main" id="{0E70EC6A-90DA-440A-55C5-593D3CD25E05}"/>
              </a:ext>
            </a:extLst>
          </p:cNvPr>
          <p:cNvSpPr>
            <a:spLocks noGrp="1"/>
          </p:cNvSpPr>
          <p:nvPr>
            <p:ph type="sldNum" sz="quarter" idx="5"/>
          </p:nvPr>
        </p:nvSpPr>
        <p:spPr/>
        <p:txBody>
          <a:bodyPr/>
          <a:lstStyle/>
          <a:p>
            <a:fld id="{1223B2E0-F841-4DF0-86E7-486D3B83D04F}" type="slidenum">
              <a:rPr lang="en-US" smtClean="0"/>
              <a:t>31</a:t>
            </a:fld>
            <a:endParaRPr lang="en-US"/>
          </a:p>
        </p:txBody>
      </p:sp>
    </p:spTree>
    <p:extLst>
      <p:ext uri="{BB962C8B-B14F-4D97-AF65-F5344CB8AC3E}">
        <p14:creationId xmlns:p14="http://schemas.microsoft.com/office/powerpoint/2010/main" val="34700778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278E7-1A32-585A-3EB2-C47511375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AC8798-0C72-9AE2-1A41-4648B29560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4AA9E0-7C94-F3BB-520E-5CB3D00AA3D8}"/>
              </a:ext>
            </a:extLst>
          </p:cNvPr>
          <p:cNvSpPr>
            <a:spLocks noGrp="1"/>
          </p:cNvSpPr>
          <p:nvPr>
            <p:ph type="body" idx="1"/>
          </p:nvPr>
        </p:nvSpPr>
        <p:spPr/>
        <p:txBody>
          <a:bodyPr/>
          <a:lstStyle/>
          <a:p>
            <a:r>
              <a:rPr lang="en-US" dirty="0"/>
              <a:t>So, how do we set up the learning problem? Informally, we’re defining words based on context.</a:t>
            </a:r>
          </a:p>
          <a:p>
            <a:r>
              <a:rPr lang="en-US" dirty="0"/>
              <a:t>But to make that idea precise, let’s create a predictive model that encapsulates that intuition.</a:t>
            </a:r>
          </a:p>
          <a:p>
            <a:r>
              <a:rPr lang="en-US" dirty="0"/>
              <a:t>What we’d like to have is, for each word, a vector that allows us to </a:t>
            </a:r>
            <a:r>
              <a:rPr lang="en-US" i="1" dirty="0"/>
              <a:t>predict</a:t>
            </a:r>
            <a:r>
              <a:rPr lang="en-US" i="0" dirty="0"/>
              <a:t> which other words are likely to be nearby, and which words are not</a:t>
            </a:r>
          </a:p>
          <a:p>
            <a:r>
              <a:rPr lang="en-US" i="0" dirty="0"/>
              <a:t>In the example on the slide, we’d like to have a vector for the word ‘strolls’ that allows us to predict which words are likely to be found in its immediate context. The predicted probability of ‘woman’ should be fairly high, and the predicted probability of ‘concept’ should be very low</a:t>
            </a:r>
          </a:p>
          <a:p>
            <a:endParaRPr lang="en-US" i="0" dirty="0"/>
          </a:p>
          <a:p>
            <a:r>
              <a:rPr lang="en-US" i="0" dirty="0"/>
              <a:t>We’ll need predictions for each word in our vocabulary – again, this is the complete list of words we’re interested in, and for which we’d like to have word vectors. For each of those words, our model will predict the probability that that word will appear in the context of the word ‘strolls’, in this case</a:t>
            </a:r>
          </a:p>
          <a:p>
            <a:endParaRPr lang="en-US" i="0" dirty="0"/>
          </a:p>
          <a:p>
            <a:r>
              <a:rPr lang="en-US" i="0" dirty="0"/>
              <a:t>With this goal in mind, let’s consider how to set up our prediction task</a:t>
            </a:r>
            <a:endParaRPr lang="en-US" dirty="0"/>
          </a:p>
        </p:txBody>
      </p:sp>
      <p:sp>
        <p:nvSpPr>
          <p:cNvPr id="4" name="Slide Number Placeholder 3">
            <a:extLst>
              <a:ext uri="{FF2B5EF4-FFF2-40B4-BE49-F238E27FC236}">
                <a16:creationId xmlns:a16="http://schemas.microsoft.com/office/drawing/2014/main" id="{1C2380A0-C9E1-79F3-2D05-0759DD5B49D7}"/>
              </a:ext>
            </a:extLst>
          </p:cNvPr>
          <p:cNvSpPr>
            <a:spLocks noGrp="1"/>
          </p:cNvSpPr>
          <p:nvPr>
            <p:ph type="sldNum" sz="quarter" idx="5"/>
          </p:nvPr>
        </p:nvSpPr>
        <p:spPr/>
        <p:txBody>
          <a:bodyPr/>
          <a:lstStyle/>
          <a:p>
            <a:fld id="{1223B2E0-F841-4DF0-86E7-486D3B83D04F}" type="slidenum">
              <a:rPr lang="en-US" smtClean="0"/>
              <a:t>32</a:t>
            </a:fld>
            <a:endParaRPr lang="en-US"/>
          </a:p>
        </p:txBody>
      </p:sp>
    </p:spTree>
    <p:extLst>
      <p:ext uri="{BB962C8B-B14F-4D97-AF65-F5344CB8AC3E}">
        <p14:creationId xmlns:p14="http://schemas.microsoft.com/office/powerpoint/2010/main" val="22508944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CDE58F-843A-8447-AF7F-7BD31329CDC1}" type="slidenum">
              <a:rPr lang="en-US" smtClean="0"/>
              <a:t>37</a:t>
            </a:fld>
            <a:endParaRPr lang="en-US"/>
          </a:p>
        </p:txBody>
      </p:sp>
    </p:spTree>
    <p:extLst>
      <p:ext uri="{BB962C8B-B14F-4D97-AF65-F5344CB8AC3E}">
        <p14:creationId xmlns:p14="http://schemas.microsoft.com/office/powerpoint/2010/main" val="3005168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 like in deep learning, low-level semantic features are often shared across domains/tasks, but higher level features are more task specific. So again, we can reuse models trained in different domains.</a:t>
            </a:r>
          </a:p>
        </p:txBody>
      </p:sp>
      <p:sp>
        <p:nvSpPr>
          <p:cNvPr id="4" name="Slide Number Placeholder 3"/>
          <p:cNvSpPr>
            <a:spLocks noGrp="1"/>
          </p:cNvSpPr>
          <p:nvPr>
            <p:ph type="sldNum" sz="quarter" idx="5"/>
          </p:nvPr>
        </p:nvSpPr>
        <p:spPr/>
        <p:txBody>
          <a:bodyPr/>
          <a:lstStyle/>
          <a:p>
            <a:fld id="{9FCDE58F-843A-8447-AF7F-7BD31329CDC1}" type="slidenum">
              <a:rPr lang="en-US" smtClean="0"/>
              <a:t>38</a:t>
            </a:fld>
            <a:endParaRPr lang="en-US"/>
          </a:p>
        </p:txBody>
      </p:sp>
    </p:spTree>
    <p:extLst>
      <p:ext uri="{BB962C8B-B14F-4D97-AF65-F5344CB8AC3E}">
        <p14:creationId xmlns:p14="http://schemas.microsoft.com/office/powerpoint/2010/main" val="22674336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B1346-36B9-CEF5-4FA4-E472E74F22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450C03-40CA-00C7-49B0-B0610DE7C0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9028E3-2E1C-2766-A4C5-27085F3B971B}"/>
              </a:ext>
            </a:extLst>
          </p:cNvPr>
          <p:cNvSpPr>
            <a:spLocks noGrp="1"/>
          </p:cNvSpPr>
          <p:nvPr>
            <p:ph type="body" idx="1"/>
          </p:nvPr>
        </p:nvSpPr>
        <p:spPr/>
        <p:txBody>
          <a:bodyPr/>
          <a:lstStyle/>
          <a:p>
            <a:r>
              <a:rPr lang="en-US" dirty="0"/>
              <a:t>Now, what about the systems we’re seeing today?</a:t>
            </a:r>
          </a:p>
          <a:p>
            <a:r>
              <a:rPr lang="en-US" dirty="0"/>
              <a:t>Does the paradigm I’ve described still fit?</a:t>
            </a:r>
          </a:p>
          <a:p>
            <a:endParaRPr lang="en-US" dirty="0"/>
          </a:p>
          <a:p>
            <a:r>
              <a:rPr lang="en-US" dirty="0"/>
              <a:t>“next-token predictor”</a:t>
            </a:r>
          </a:p>
          <a:p>
            <a:r>
              <a:rPr lang="en-US" dirty="0"/>
              <a:t>“stochastic parrot”</a:t>
            </a:r>
          </a:p>
          <a:p>
            <a:endParaRPr lang="en-US" dirty="0"/>
          </a:p>
          <a:p>
            <a:r>
              <a:rPr lang="en-US" dirty="0"/>
              <a:t>Generation via repeated prediction</a:t>
            </a:r>
          </a:p>
          <a:p>
            <a:endParaRPr lang="en-US" dirty="0"/>
          </a:p>
          <a:p>
            <a:r>
              <a:rPr lang="en-US" dirty="0"/>
              <a:t>Make the point about truth</a:t>
            </a:r>
          </a:p>
        </p:txBody>
      </p:sp>
      <p:sp>
        <p:nvSpPr>
          <p:cNvPr id="4" name="Slide Number Placeholder 3">
            <a:extLst>
              <a:ext uri="{FF2B5EF4-FFF2-40B4-BE49-F238E27FC236}">
                <a16:creationId xmlns:a16="http://schemas.microsoft.com/office/drawing/2014/main" id="{22771A71-5AB7-3326-5218-7A094267436E}"/>
              </a:ext>
            </a:extLst>
          </p:cNvPr>
          <p:cNvSpPr>
            <a:spLocks noGrp="1"/>
          </p:cNvSpPr>
          <p:nvPr>
            <p:ph type="sldNum" sz="quarter" idx="5"/>
          </p:nvPr>
        </p:nvSpPr>
        <p:spPr/>
        <p:txBody>
          <a:bodyPr/>
          <a:lstStyle/>
          <a:p>
            <a:fld id="{9FCDE58F-843A-8447-AF7F-7BD31329CDC1}" type="slidenum">
              <a:rPr lang="en-US" smtClean="0"/>
              <a:t>40</a:t>
            </a:fld>
            <a:endParaRPr lang="en-US"/>
          </a:p>
        </p:txBody>
      </p:sp>
    </p:spTree>
    <p:extLst>
      <p:ext uri="{BB962C8B-B14F-4D97-AF65-F5344CB8AC3E}">
        <p14:creationId xmlns:p14="http://schemas.microsoft.com/office/powerpoint/2010/main" val="31909710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5A287-71AC-5C89-48BA-3A605A82E3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F5790-D172-C248-094F-79929B0EF0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A210D0-4E92-9186-C3D3-E07D2A1D4FA5}"/>
              </a:ext>
            </a:extLst>
          </p:cNvPr>
          <p:cNvSpPr>
            <a:spLocks noGrp="1"/>
          </p:cNvSpPr>
          <p:nvPr>
            <p:ph type="body" idx="1"/>
          </p:nvPr>
        </p:nvSpPr>
        <p:spPr/>
        <p:txBody>
          <a:bodyPr/>
          <a:lstStyle/>
          <a:p>
            <a:r>
              <a:rPr lang="en-US" dirty="0"/>
              <a:t>Show input, block for encoder stack, prediction head</a:t>
            </a:r>
          </a:p>
          <a:p>
            <a:r>
              <a:rPr lang="en-US" dirty="0"/>
              <a:t>Note weight tying</a:t>
            </a:r>
          </a:p>
          <a:p>
            <a:endParaRPr lang="en-US" dirty="0"/>
          </a:p>
        </p:txBody>
      </p:sp>
      <p:sp>
        <p:nvSpPr>
          <p:cNvPr id="4" name="Slide Number Placeholder 3">
            <a:extLst>
              <a:ext uri="{FF2B5EF4-FFF2-40B4-BE49-F238E27FC236}">
                <a16:creationId xmlns:a16="http://schemas.microsoft.com/office/drawing/2014/main" id="{02E6D0FF-F0DF-B05F-74AB-CA396556A0D1}"/>
              </a:ext>
            </a:extLst>
          </p:cNvPr>
          <p:cNvSpPr>
            <a:spLocks noGrp="1"/>
          </p:cNvSpPr>
          <p:nvPr>
            <p:ph type="sldNum" sz="quarter" idx="5"/>
          </p:nvPr>
        </p:nvSpPr>
        <p:spPr/>
        <p:txBody>
          <a:bodyPr/>
          <a:lstStyle/>
          <a:p>
            <a:fld id="{034473FC-0C5D-CC45-9E3C-24DA0A6AE799}" type="slidenum">
              <a:rPr lang="en-US" smtClean="0"/>
              <a:t>41</a:t>
            </a:fld>
            <a:endParaRPr lang="en-US"/>
          </a:p>
        </p:txBody>
      </p:sp>
    </p:spTree>
    <p:extLst>
      <p:ext uri="{BB962C8B-B14F-4D97-AF65-F5344CB8AC3E}">
        <p14:creationId xmlns:p14="http://schemas.microsoft.com/office/powerpoint/2010/main" val="7495839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A1873-35F5-9A82-EEAF-8FA54D1A0D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DAD6A-96F5-AA65-DAD6-9D825A9731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E67DEC-ECDF-C3FE-2950-1A284BBAE5E6}"/>
              </a:ext>
            </a:extLst>
          </p:cNvPr>
          <p:cNvSpPr>
            <a:spLocks noGrp="1"/>
          </p:cNvSpPr>
          <p:nvPr>
            <p:ph type="body" idx="1"/>
          </p:nvPr>
        </p:nvSpPr>
        <p:spPr/>
        <p:txBody>
          <a:bodyPr/>
          <a:lstStyle/>
          <a:p>
            <a:r>
              <a:rPr lang="en-US" dirty="0"/>
              <a:t>Now, what about the systems we’re seeing today?</a:t>
            </a:r>
          </a:p>
          <a:p>
            <a:r>
              <a:rPr lang="en-US" dirty="0"/>
              <a:t>Does the paradigm I’ve described still fit?</a:t>
            </a:r>
          </a:p>
          <a:p>
            <a:endParaRPr lang="en-US" dirty="0"/>
          </a:p>
          <a:p>
            <a:r>
              <a:rPr lang="en-US" dirty="0"/>
              <a:t>“next-token predictor”</a:t>
            </a:r>
          </a:p>
          <a:p>
            <a:r>
              <a:rPr lang="en-US" dirty="0"/>
              <a:t>“stochastic parrot”</a:t>
            </a:r>
          </a:p>
          <a:p>
            <a:endParaRPr lang="en-US" dirty="0"/>
          </a:p>
          <a:p>
            <a:r>
              <a:rPr lang="en-US" dirty="0"/>
              <a:t>Generation via repeated prediction</a:t>
            </a:r>
          </a:p>
          <a:p>
            <a:endParaRPr lang="en-US" dirty="0"/>
          </a:p>
          <a:p>
            <a:r>
              <a:rPr lang="en-US" dirty="0"/>
              <a:t>Make the point about truth</a:t>
            </a:r>
          </a:p>
        </p:txBody>
      </p:sp>
      <p:sp>
        <p:nvSpPr>
          <p:cNvPr id="4" name="Slide Number Placeholder 3">
            <a:extLst>
              <a:ext uri="{FF2B5EF4-FFF2-40B4-BE49-F238E27FC236}">
                <a16:creationId xmlns:a16="http://schemas.microsoft.com/office/drawing/2014/main" id="{05ADAA6B-7499-AB4D-D358-1B15C620FA77}"/>
              </a:ext>
            </a:extLst>
          </p:cNvPr>
          <p:cNvSpPr>
            <a:spLocks noGrp="1"/>
          </p:cNvSpPr>
          <p:nvPr>
            <p:ph type="sldNum" sz="quarter" idx="5"/>
          </p:nvPr>
        </p:nvSpPr>
        <p:spPr/>
        <p:txBody>
          <a:bodyPr/>
          <a:lstStyle/>
          <a:p>
            <a:fld id="{9FCDE58F-843A-8447-AF7F-7BD31329CDC1}" type="slidenum">
              <a:rPr lang="en-US" smtClean="0"/>
              <a:t>42</a:t>
            </a:fld>
            <a:endParaRPr lang="en-US"/>
          </a:p>
        </p:txBody>
      </p:sp>
    </p:spTree>
    <p:extLst>
      <p:ext uri="{BB962C8B-B14F-4D97-AF65-F5344CB8AC3E}">
        <p14:creationId xmlns:p14="http://schemas.microsoft.com/office/powerpoint/2010/main" val="30009960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4B5F9-8F11-1BE2-7074-EE62D8D30F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8B6B9A-F394-9680-2800-40EB6BFB52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494EDA-C506-6B3A-0B1F-B9F3912DB297}"/>
              </a:ext>
            </a:extLst>
          </p:cNvPr>
          <p:cNvSpPr>
            <a:spLocks noGrp="1"/>
          </p:cNvSpPr>
          <p:nvPr>
            <p:ph type="body" idx="1"/>
          </p:nvPr>
        </p:nvSpPr>
        <p:spPr/>
        <p:txBody>
          <a:bodyPr/>
          <a:lstStyle/>
          <a:p>
            <a:r>
              <a:rPr lang="en-US" dirty="0"/>
              <a:t>Now, what about the systems we’re seeing today?</a:t>
            </a:r>
          </a:p>
          <a:p>
            <a:r>
              <a:rPr lang="en-US" dirty="0"/>
              <a:t>Does the paradigm I’ve described still fit?</a:t>
            </a:r>
          </a:p>
          <a:p>
            <a:endParaRPr lang="en-US" dirty="0"/>
          </a:p>
          <a:p>
            <a:r>
              <a:rPr lang="en-US" dirty="0"/>
              <a:t>“next-token predictor”</a:t>
            </a:r>
          </a:p>
          <a:p>
            <a:r>
              <a:rPr lang="en-US" dirty="0"/>
              <a:t>“stochastic parrot”</a:t>
            </a:r>
          </a:p>
          <a:p>
            <a:endParaRPr lang="en-US" dirty="0"/>
          </a:p>
          <a:p>
            <a:r>
              <a:rPr lang="en-US" dirty="0"/>
              <a:t>Generation via repeated prediction</a:t>
            </a:r>
          </a:p>
          <a:p>
            <a:endParaRPr lang="en-US" dirty="0"/>
          </a:p>
          <a:p>
            <a:r>
              <a:rPr lang="en-US" dirty="0"/>
              <a:t>Make the point about truth</a:t>
            </a:r>
          </a:p>
        </p:txBody>
      </p:sp>
      <p:sp>
        <p:nvSpPr>
          <p:cNvPr id="4" name="Slide Number Placeholder 3">
            <a:extLst>
              <a:ext uri="{FF2B5EF4-FFF2-40B4-BE49-F238E27FC236}">
                <a16:creationId xmlns:a16="http://schemas.microsoft.com/office/drawing/2014/main" id="{19304F21-D225-E4C1-1E6C-EFB3510B2916}"/>
              </a:ext>
            </a:extLst>
          </p:cNvPr>
          <p:cNvSpPr>
            <a:spLocks noGrp="1"/>
          </p:cNvSpPr>
          <p:nvPr>
            <p:ph type="sldNum" sz="quarter" idx="5"/>
          </p:nvPr>
        </p:nvSpPr>
        <p:spPr/>
        <p:txBody>
          <a:bodyPr/>
          <a:lstStyle/>
          <a:p>
            <a:fld id="{9FCDE58F-843A-8447-AF7F-7BD31329CDC1}" type="slidenum">
              <a:rPr lang="en-US" smtClean="0"/>
              <a:t>46</a:t>
            </a:fld>
            <a:endParaRPr lang="en-US"/>
          </a:p>
        </p:txBody>
      </p:sp>
    </p:spTree>
    <p:extLst>
      <p:ext uri="{BB962C8B-B14F-4D97-AF65-F5344CB8AC3E}">
        <p14:creationId xmlns:p14="http://schemas.microsoft.com/office/powerpoint/2010/main" val="22010517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E1F99-AA73-85E3-DC6C-85782C357E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098F60-AF9B-04D3-C3F7-74BA91DE1F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7FCBB4-2490-D2C9-B6FC-DE1B24CE219A}"/>
              </a:ext>
            </a:extLst>
          </p:cNvPr>
          <p:cNvSpPr>
            <a:spLocks noGrp="1"/>
          </p:cNvSpPr>
          <p:nvPr>
            <p:ph type="body" idx="1"/>
          </p:nvPr>
        </p:nvSpPr>
        <p:spPr/>
        <p:txBody>
          <a:bodyPr/>
          <a:lstStyle/>
          <a:p>
            <a:r>
              <a:rPr lang="en-US" dirty="0"/>
              <a:t>Now, what about the systems we’re seeing today?</a:t>
            </a:r>
          </a:p>
          <a:p>
            <a:r>
              <a:rPr lang="en-US" dirty="0"/>
              <a:t>Does the paradigm I’ve described still fit?</a:t>
            </a:r>
          </a:p>
          <a:p>
            <a:endParaRPr lang="en-US" dirty="0"/>
          </a:p>
          <a:p>
            <a:r>
              <a:rPr lang="en-US" dirty="0"/>
              <a:t>“next-token predictor”</a:t>
            </a:r>
          </a:p>
          <a:p>
            <a:r>
              <a:rPr lang="en-US" dirty="0"/>
              <a:t>“stochastic parrot”</a:t>
            </a:r>
          </a:p>
          <a:p>
            <a:endParaRPr lang="en-US" dirty="0"/>
          </a:p>
          <a:p>
            <a:r>
              <a:rPr lang="en-US" dirty="0"/>
              <a:t>Generation via repeated prediction</a:t>
            </a:r>
          </a:p>
          <a:p>
            <a:endParaRPr lang="en-US" dirty="0"/>
          </a:p>
          <a:p>
            <a:r>
              <a:rPr lang="en-US" dirty="0"/>
              <a:t>Make the point about truth</a:t>
            </a:r>
          </a:p>
          <a:p>
            <a:endParaRPr lang="en-US" dirty="0"/>
          </a:p>
        </p:txBody>
      </p:sp>
      <p:sp>
        <p:nvSpPr>
          <p:cNvPr id="4" name="Slide Number Placeholder 3">
            <a:extLst>
              <a:ext uri="{FF2B5EF4-FFF2-40B4-BE49-F238E27FC236}">
                <a16:creationId xmlns:a16="http://schemas.microsoft.com/office/drawing/2014/main" id="{64860E72-66E5-B2F4-38B7-7C6CD173A374}"/>
              </a:ext>
            </a:extLst>
          </p:cNvPr>
          <p:cNvSpPr>
            <a:spLocks noGrp="1"/>
          </p:cNvSpPr>
          <p:nvPr>
            <p:ph type="sldNum" sz="quarter" idx="5"/>
          </p:nvPr>
        </p:nvSpPr>
        <p:spPr/>
        <p:txBody>
          <a:bodyPr/>
          <a:lstStyle/>
          <a:p>
            <a:fld id="{9FCDE58F-843A-8447-AF7F-7BD31329CDC1}" type="slidenum">
              <a:rPr lang="en-US" smtClean="0"/>
              <a:t>47</a:t>
            </a:fld>
            <a:endParaRPr lang="en-US"/>
          </a:p>
        </p:txBody>
      </p:sp>
    </p:spTree>
    <p:extLst>
      <p:ext uri="{BB962C8B-B14F-4D97-AF65-F5344CB8AC3E}">
        <p14:creationId xmlns:p14="http://schemas.microsoft.com/office/powerpoint/2010/main" val="22358514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333E9F-084A-8543-BC6F-0AE70009C29B}" type="slidenum">
              <a:rPr lang="en-US" smtClean="0"/>
              <a:t>49</a:t>
            </a:fld>
            <a:endParaRPr lang="en-US"/>
          </a:p>
        </p:txBody>
      </p:sp>
    </p:spTree>
    <p:extLst>
      <p:ext uri="{BB962C8B-B14F-4D97-AF65-F5344CB8AC3E}">
        <p14:creationId xmlns:p14="http://schemas.microsoft.com/office/powerpoint/2010/main" val="458478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23D3-97BA-8344-B77C-C3C47F735D95}"/>
              </a:ext>
            </a:extLst>
          </p:cNvPr>
          <p:cNvSpPr>
            <a:spLocks noGrp="1"/>
          </p:cNvSpPr>
          <p:nvPr>
            <p:ph type="ctrTitle"/>
          </p:nvPr>
        </p:nvSpPr>
        <p:spPr>
          <a:xfrm>
            <a:off x="1143000" y="841772"/>
            <a:ext cx="6858000" cy="1790700"/>
          </a:xfrm>
          <a:prstGeom prst="rect">
            <a:avLst/>
          </a:prstGeo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18DBA69F-5897-5F44-92BC-479B55DE9F72}"/>
              </a:ext>
            </a:extLst>
          </p:cNvPr>
          <p:cNvSpPr>
            <a:spLocks noGrp="1"/>
          </p:cNvSpPr>
          <p:nvPr>
            <p:ph type="subTitle" idx="1"/>
          </p:nvPr>
        </p:nvSpPr>
        <p:spPr>
          <a:xfrm>
            <a:off x="1143000" y="2701528"/>
            <a:ext cx="6858000" cy="124182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1168764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744FE-227B-BB4B-AFCB-C70369A59A9D}"/>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03E786AE-9738-E14C-9B4A-B463D9070E75}"/>
              </a:ext>
            </a:extLst>
          </p:cNvPr>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6612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DDC07-CABA-9E4D-9E3A-95E05BCB87D8}"/>
              </a:ext>
            </a:extLst>
          </p:cNvPr>
          <p:cNvSpPr>
            <a:spLocks noGrp="1"/>
          </p:cNvSpPr>
          <p:nvPr>
            <p:ph type="title"/>
          </p:nvPr>
        </p:nvSpPr>
        <p:spPr>
          <a:xfrm>
            <a:off x="623888" y="1282304"/>
            <a:ext cx="7886700" cy="2139553"/>
          </a:xfrm>
          <a:prstGeom prst="rect">
            <a:avLst/>
          </a:prstGeo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A28BD0F8-3355-CA42-8F79-D8191E4962BE}"/>
              </a:ext>
            </a:extLst>
          </p:cNvPr>
          <p:cNvSpPr>
            <a:spLocks noGrp="1"/>
          </p:cNvSpPr>
          <p:nvPr>
            <p:ph type="body" idx="1"/>
          </p:nvPr>
        </p:nvSpPr>
        <p:spPr>
          <a:xfrm>
            <a:off x="623888" y="3442098"/>
            <a:ext cx="7886700" cy="1125140"/>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10984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B6984-E4BA-284B-B7AF-D51BD0BDCBE2}"/>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FF353D1B-9EE2-4E4F-B36A-F0F237B8A8E4}"/>
              </a:ext>
            </a:extLst>
          </p:cNvPr>
          <p:cNvSpPr>
            <a:spLocks noGrp="1"/>
          </p:cNvSpPr>
          <p:nvPr>
            <p:ph sz="half" idx="1"/>
          </p:nvPr>
        </p:nvSpPr>
        <p:spPr>
          <a:xfrm>
            <a:off x="628650" y="1369219"/>
            <a:ext cx="38862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8FBE0A-D618-A548-B1F3-E7BCD2D5715F}"/>
              </a:ext>
            </a:extLst>
          </p:cNvPr>
          <p:cNvSpPr>
            <a:spLocks noGrp="1"/>
          </p:cNvSpPr>
          <p:nvPr>
            <p:ph sz="half" idx="2"/>
          </p:nvPr>
        </p:nvSpPr>
        <p:spPr>
          <a:xfrm>
            <a:off x="4629150" y="1369219"/>
            <a:ext cx="38862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3170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8D306-FDF6-DE45-90F3-DD6E0A2416EE}"/>
              </a:ext>
            </a:extLst>
          </p:cNvPr>
          <p:cNvSpPr>
            <a:spLocks noGrp="1"/>
          </p:cNvSpPr>
          <p:nvPr>
            <p:ph type="title"/>
          </p:nvPr>
        </p:nvSpPr>
        <p:spPr>
          <a:xfrm>
            <a:off x="629841" y="273844"/>
            <a:ext cx="7886700" cy="994172"/>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EE7B324-C8C1-B34B-93B4-5E52FB3E7B79}"/>
              </a:ext>
            </a:extLst>
          </p:cNvPr>
          <p:cNvSpPr>
            <a:spLocks noGrp="1"/>
          </p:cNvSpPr>
          <p:nvPr>
            <p:ph type="body" idx="1"/>
          </p:nvPr>
        </p:nvSpPr>
        <p:spPr>
          <a:xfrm>
            <a:off x="629842" y="1260872"/>
            <a:ext cx="3868340"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695C052-E346-7A4E-A53F-178DCAB9D312}"/>
              </a:ext>
            </a:extLst>
          </p:cNvPr>
          <p:cNvSpPr>
            <a:spLocks noGrp="1"/>
          </p:cNvSpPr>
          <p:nvPr>
            <p:ph sz="half" idx="2"/>
          </p:nvPr>
        </p:nvSpPr>
        <p:spPr>
          <a:xfrm>
            <a:off x="629842" y="1878806"/>
            <a:ext cx="3868340" cy="276344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0F207E-CBC1-6444-AE32-2D03AB9BEB81}"/>
              </a:ext>
            </a:extLst>
          </p:cNvPr>
          <p:cNvSpPr>
            <a:spLocks noGrp="1"/>
          </p:cNvSpPr>
          <p:nvPr>
            <p:ph type="body" sz="quarter" idx="3"/>
          </p:nvPr>
        </p:nvSpPr>
        <p:spPr>
          <a:xfrm>
            <a:off x="4629150" y="1260872"/>
            <a:ext cx="3887391"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FBC86491-5FF8-E448-A837-D74C6F85ECFD}"/>
              </a:ext>
            </a:extLst>
          </p:cNvPr>
          <p:cNvSpPr>
            <a:spLocks noGrp="1"/>
          </p:cNvSpPr>
          <p:nvPr>
            <p:ph sz="quarter" idx="4"/>
          </p:nvPr>
        </p:nvSpPr>
        <p:spPr>
          <a:xfrm>
            <a:off x="4629150" y="1878806"/>
            <a:ext cx="3887391" cy="276344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21452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D2B47-C6F1-2C47-83A6-7C9765DBB8CB}"/>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58633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7387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1967C-A2EB-A742-BD60-241901035A23}"/>
              </a:ext>
            </a:extLst>
          </p:cNvPr>
          <p:cNvSpPr>
            <a:spLocks noGrp="1"/>
          </p:cNvSpPr>
          <p:nvPr>
            <p:ph type="title"/>
          </p:nvPr>
        </p:nvSpPr>
        <p:spPr>
          <a:xfrm>
            <a:off x="629841" y="342900"/>
            <a:ext cx="2949178" cy="1200150"/>
          </a:xfrm>
          <a:prstGeom prst="rect">
            <a:avLst/>
          </a:prstGeo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46484264-1CC0-ED47-9FC4-17EA9AEE949C}"/>
              </a:ext>
            </a:extLst>
          </p:cNvPr>
          <p:cNvSpPr>
            <a:spLocks noGrp="1"/>
          </p:cNvSpPr>
          <p:nvPr>
            <p:ph idx="1"/>
          </p:nvPr>
        </p:nvSpPr>
        <p:spPr>
          <a:xfrm>
            <a:off x="3887391" y="740569"/>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E82311-296D-B54E-84F6-B91B4D004E05}"/>
              </a:ext>
            </a:extLst>
          </p:cNvPr>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1888621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E9CE1-388E-D644-BFC2-E3BA89CDFE77}"/>
              </a:ext>
            </a:extLst>
          </p:cNvPr>
          <p:cNvSpPr>
            <a:spLocks noGrp="1"/>
          </p:cNvSpPr>
          <p:nvPr>
            <p:ph type="title"/>
          </p:nvPr>
        </p:nvSpPr>
        <p:spPr>
          <a:xfrm>
            <a:off x="629841" y="342900"/>
            <a:ext cx="2949178" cy="1200150"/>
          </a:xfrm>
          <a:prstGeom prst="rect">
            <a:avLst/>
          </a:prstGeo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52F9288A-BC67-054C-8D82-B775C7F3F0B2}"/>
              </a:ext>
            </a:extLst>
          </p:cNvPr>
          <p:cNvSpPr>
            <a:spLocks noGrp="1"/>
          </p:cNvSpPr>
          <p:nvPr>
            <p:ph type="pic" idx="1"/>
          </p:nvPr>
        </p:nvSpPr>
        <p:spPr>
          <a:xfrm>
            <a:off x="3887391" y="740569"/>
            <a:ext cx="4629150" cy="365521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B7354F2-00A4-E440-B3B4-24D0906C1040}"/>
              </a:ext>
            </a:extLst>
          </p:cNvPr>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737613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4A9F9-9678-2743-B0D7-2303C7428EE4}"/>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213DE2-E1E8-8C40-8B00-91EF68139310}"/>
              </a:ext>
            </a:extLst>
          </p:cNvPr>
          <p:cNvSpPr>
            <a:spLocks noGrp="1"/>
          </p:cNvSpPr>
          <p:nvPr>
            <p:ph type="body" orient="vert" idx="1"/>
          </p:nvPr>
        </p:nvSpPr>
        <p:spPr>
          <a:xfrm>
            <a:off x="628650" y="1369219"/>
            <a:ext cx="7886700" cy="326350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7732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645086-DAA8-FA49-915F-8B28AFD11691}"/>
              </a:ext>
            </a:extLst>
          </p:cNvPr>
          <p:cNvSpPr>
            <a:spLocks noGrp="1"/>
          </p:cNvSpPr>
          <p:nvPr>
            <p:ph type="title" orient="vert"/>
          </p:nvPr>
        </p:nvSpPr>
        <p:spPr>
          <a:xfrm>
            <a:off x="6543675" y="273844"/>
            <a:ext cx="1971675" cy="4358879"/>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7C3AEF-AC20-C245-8112-195AA156825C}"/>
              </a:ext>
            </a:extLst>
          </p:cNvPr>
          <p:cNvSpPr>
            <a:spLocks noGrp="1"/>
          </p:cNvSpPr>
          <p:nvPr>
            <p:ph type="body" orient="vert" idx="1"/>
          </p:nvPr>
        </p:nvSpPr>
        <p:spPr>
          <a:xfrm>
            <a:off x="628650" y="273844"/>
            <a:ext cx="5800725" cy="4358879"/>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6963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2978B-4908-E74D-904A-A9B895A7A4E8}"/>
              </a:ext>
            </a:extLst>
          </p:cNvPr>
          <p:cNvSpPr>
            <a:spLocks noGrp="1"/>
          </p:cNvSpPr>
          <p:nvPr>
            <p:ph type="ctrTitle"/>
          </p:nvPr>
        </p:nvSpPr>
        <p:spPr>
          <a:xfrm>
            <a:off x="1143000" y="841772"/>
            <a:ext cx="6858000" cy="1790700"/>
          </a:xfrm>
          <a:prstGeom prst="rect">
            <a:avLst/>
          </a:prstGeo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DE95FDE3-C177-1D4F-8016-6A5AB9FFDB1A}"/>
              </a:ext>
            </a:extLst>
          </p:cNvPr>
          <p:cNvSpPr>
            <a:spLocks noGrp="1"/>
          </p:cNvSpPr>
          <p:nvPr>
            <p:ph type="subTitle" idx="1"/>
          </p:nvPr>
        </p:nvSpPr>
        <p:spPr>
          <a:xfrm>
            <a:off x="1143000" y="2701528"/>
            <a:ext cx="6858000" cy="124182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314302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7E1A6-E52F-4747-BDCC-731EBD265521}"/>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68F6EB1E-6EAC-2648-A744-4B558DCE75F3}"/>
              </a:ext>
            </a:extLst>
          </p:cNvPr>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22331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9E9F5-3F39-8E4C-BD4D-1CE5E62BBBD0}"/>
              </a:ext>
            </a:extLst>
          </p:cNvPr>
          <p:cNvSpPr>
            <a:spLocks noGrp="1"/>
          </p:cNvSpPr>
          <p:nvPr>
            <p:ph type="title"/>
          </p:nvPr>
        </p:nvSpPr>
        <p:spPr>
          <a:xfrm>
            <a:off x="623888" y="1282304"/>
            <a:ext cx="7886700" cy="2139553"/>
          </a:xfrm>
          <a:prstGeom prst="rect">
            <a:avLst/>
          </a:prstGeo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274D2129-2C12-3841-9061-8E28A68014A4}"/>
              </a:ext>
            </a:extLst>
          </p:cNvPr>
          <p:cNvSpPr>
            <a:spLocks noGrp="1"/>
          </p:cNvSpPr>
          <p:nvPr>
            <p:ph type="body" idx="1"/>
          </p:nvPr>
        </p:nvSpPr>
        <p:spPr>
          <a:xfrm>
            <a:off x="623888" y="3442098"/>
            <a:ext cx="7886700" cy="1125140"/>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3919480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6D62C-5F4D-E44A-83A0-2BC6297AC534}"/>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A6B95D4C-6239-3649-B2F4-8E6928D47EA6}"/>
              </a:ext>
            </a:extLst>
          </p:cNvPr>
          <p:cNvSpPr>
            <a:spLocks noGrp="1"/>
          </p:cNvSpPr>
          <p:nvPr>
            <p:ph sz="half" idx="1"/>
          </p:nvPr>
        </p:nvSpPr>
        <p:spPr>
          <a:xfrm>
            <a:off x="628650" y="1369219"/>
            <a:ext cx="38862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F8D897-46F7-6F4A-923F-F54D4AC8EDCD}"/>
              </a:ext>
            </a:extLst>
          </p:cNvPr>
          <p:cNvSpPr>
            <a:spLocks noGrp="1"/>
          </p:cNvSpPr>
          <p:nvPr>
            <p:ph sz="half" idx="2"/>
          </p:nvPr>
        </p:nvSpPr>
        <p:spPr>
          <a:xfrm>
            <a:off x="4629150" y="1369219"/>
            <a:ext cx="38862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6443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388B0-8D06-274D-BE50-BA152C915180}"/>
              </a:ext>
            </a:extLst>
          </p:cNvPr>
          <p:cNvSpPr>
            <a:spLocks noGrp="1"/>
          </p:cNvSpPr>
          <p:nvPr>
            <p:ph type="title"/>
          </p:nvPr>
        </p:nvSpPr>
        <p:spPr>
          <a:xfrm>
            <a:off x="629841" y="273844"/>
            <a:ext cx="7886700" cy="994172"/>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FDF0989-E654-F74F-BDDF-08D57674E37E}"/>
              </a:ext>
            </a:extLst>
          </p:cNvPr>
          <p:cNvSpPr>
            <a:spLocks noGrp="1"/>
          </p:cNvSpPr>
          <p:nvPr>
            <p:ph type="body" idx="1"/>
          </p:nvPr>
        </p:nvSpPr>
        <p:spPr>
          <a:xfrm>
            <a:off x="629842" y="1260872"/>
            <a:ext cx="3868340"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230B350-276D-2F47-92C4-83C039986958}"/>
              </a:ext>
            </a:extLst>
          </p:cNvPr>
          <p:cNvSpPr>
            <a:spLocks noGrp="1"/>
          </p:cNvSpPr>
          <p:nvPr>
            <p:ph sz="half" idx="2"/>
          </p:nvPr>
        </p:nvSpPr>
        <p:spPr>
          <a:xfrm>
            <a:off x="629842" y="1878806"/>
            <a:ext cx="3868340" cy="276344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37B8AD-206C-8C44-9626-E020EEC70A68}"/>
              </a:ext>
            </a:extLst>
          </p:cNvPr>
          <p:cNvSpPr>
            <a:spLocks noGrp="1"/>
          </p:cNvSpPr>
          <p:nvPr>
            <p:ph type="body" sz="quarter" idx="3"/>
          </p:nvPr>
        </p:nvSpPr>
        <p:spPr>
          <a:xfrm>
            <a:off x="4629150" y="1260872"/>
            <a:ext cx="3887391"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E5FD7E1-9246-8240-81C8-52CC098D2AF6}"/>
              </a:ext>
            </a:extLst>
          </p:cNvPr>
          <p:cNvSpPr>
            <a:spLocks noGrp="1"/>
          </p:cNvSpPr>
          <p:nvPr>
            <p:ph sz="quarter" idx="4"/>
          </p:nvPr>
        </p:nvSpPr>
        <p:spPr>
          <a:xfrm>
            <a:off x="4629150" y="1878806"/>
            <a:ext cx="3887391" cy="276344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30786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858C-55E0-A347-B987-C8C09FC4D1CE}"/>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0215805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35663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E9015-2329-5341-BA02-B62A1090C2C9}"/>
              </a:ext>
            </a:extLst>
          </p:cNvPr>
          <p:cNvSpPr>
            <a:spLocks noGrp="1"/>
          </p:cNvSpPr>
          <p:nvPr>
            <p:ph type="title"/>
          </p:nvPr>
        </p:nvSpPr>
        <p:spPr>
          <a:xfrm>
            <a:off x="629841" y="342900"/>
            <a:ext cx="2949178" cy="1200150"/>
          </a:xfrm>
          <a:prstGeom prst="rect">
            <a:avLst/>
          </a:prstGeo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AA0FF641-56D6-9245-BB4A-FB626664FCEF}"/>
              </a:ext>
            </a:extLst>
          </p:cNvPr>
          <p:cNvSpPr>
            <a:spLocks noGrp="1"/>
          </p:cNvSpPr>
          <p:nvPr>
            <p:ph idx="1"/>
          </p:nvPr>
        </p:nvSpPr>
        <p:spPr>
          <a:xfrm>
            <a:off x="3887391" y="740569"/>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4B0617-AE85-6146-99DD-9CE2384C1EBB}"/>
              </a:ext>
            </a:extLst>
          </p:cNvPr>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078571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F484-86EC-9D4F-B229-7E1EAF28C763}"/>
              </a:ext>
            </a:extLst>
          </p:cNvPr>
          <p:cNvSpPr>
            <a:spLocks noGrp="1"/>
          </p:cNvSpPr>
          <p:nvPr>
            <p:ph type="title"/>
          </p:nvPr>
        </p:nvSpPr>
        <p:spPr>
          <a:xfrm>
            <a:off x="629841" y="342900"/>
            <a:ext cx="2949178" cy="1200150"/>
          </a:xfrm>
          <a:prstGeom prst="rect">
            <a:avLst/>
          </a:prstGeo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FD461AC-7026-3144-A874-8D55CA87D4FA}"/>
              </a:ext>
            </a:extLst>
          </p:cNvPr>
          <p:cNvSpPr>
            <a:spLocks noGrp="1"/>
          </p:cNvSpPr>
          <p:nvPr>
            <p:ph type="pic" idx="1"/>
          </p:nvPr>
        </p:nvSpPr>
        <p:spPr>
          <a:xfrm>
            <a:off x="3887391" y="740569"/>
            <a:ext cx="4629150" cy="365521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DD8018D-F66B-1C4B-AB9A-982327027ACF}"/>
              </a:ext>
            </a:extLst>
          </p:cNvPr>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3878538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E7A1C-4A6B-7B44-8A98-088B9E5FDCA5}"/>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FFC838-A01F-6845-991B-CECF9A0A4ABA}"/>
              </a:ext>
            </a:extLst>
          </p:cNvPr>
          <p:cNvSpPr>
            <a:spLocks noGrp="1"/>
          </p:cNvSpPr>
          <p:nvPr>
            <p:ph type="body" orient="vert" idx="1"/>
          </p:nvPr>
        </p:nvSpPr>
        <p:spPr>
          <a:xfrm>
            <a:off x="628650" y="1369219"/>
            <a:ext cx="7886700" cy="326350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68119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3B298A-6686-FD4A-B48C-A4474FE37F1A}"/>
              </a:ext>
            </a:extLst>
          </p:cNvPr>
          <p:cNvSpPr>
            <a:spLocks noGrp="1"/>
          </p:cNvSpPr>
          <p:nvPr>
            <p:ph type="title" orient="vert"/>
          </p:nvPr>
        </p:nvSpPr>
        <p:spPr>
          <a:xfrm>
            <a:off x="6543675" y="273844"/>
            <a:ext cx="1971675" cy="4358879"/>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D5486A-4CA8-BE4C-8736-29596810DE67}"/>
              </a:ext>
            </a:extLst>
          </p:cNvPr>
          <p:cNvSpPr>
            <a:spLocks noGrp="1"/>
          </p:cNvSpPr>
          <p:nvPr>
            <p:ph type="body" orient="vert" idx="1"/>
          </p:nvPr>
        </p:nvSpPr>
        <p:spPr>
          <a:xfrm>
            <a:off x="628650" y="273844"/>
            <a:ext cx="5800725" cy="4358879"/>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2439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02646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390304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NULL"/></Relationships>
</file>

<file path=ppt/slides/_rels/slide1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NULL"/><Relationship Id="rId4" Type="http://schemas.openxmlformats.org/officeDocument/2006/relationships/image" Target="../media/image9.emf"/></Relationships>
</file>

<file path=ppt/slides/_rels/slide11.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NUL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file:///C:\Local-Documents\git-docs\CI-Fellowship\Presentations\COVID-JC\2_pipeline\images\retail-robot-hospitality-1.jpg"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file:///C:\Local-Documents\git-docs\CI-Fellowship\Presentations\COVID-JC\2_pipeline\figs\roboshop_embedding.emf" TargetMode="External"/><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96380"/>
            <a:ext cx="7772400" cy="1792229"/>
          </a:xfrm>
        </p:spPr>
        <p:txBody>
          <a:bodyPr>
            <a:normAutofit/>
          </a:bodyPr>
          <a:lstStyle/>
          <a:p>
            <a:pPr>
              <a:spcAft>
                <a:spcPts val="900"/>
              </a:spcAft>
            </a:pPr>
            <a:r>
              <a:rPr lang="en-US" sz="3600" dirty="0"/>
              <a:t>From Bags of Words to </a:t>
            </a:r>
            <a:br>
              <a:rPr lang="en-US" sz="3600" dirty="0"/>
            </a:br>
            <a:r>
              <a:rPr lang="en-US" sz="3600" dirty="0"/>
              <a:t>Large Language Models</a:t>
            </a:r>
          </a:p>
        </p:txBody>
      </p:sp>
      <p:sp>
        <p:nvSpPr>
          <p:cNvPr id="3" name="Subtitle 2"/>
          <p:cNvSpPr>
            <a:spLocks noGrp="1"/>
          </p:cNvSpPr>
          <p:nvPr>
            <p:ph type="subTitle" idx="1"/>
          </p:nvPr>
        </p:nvSpPr>
        <p:spPr>
          <a:xfrm>
            <a:off x="2124669" y="3577121"/>
            <a:ext cx="4894661" cy="814096"/>
          </a:xfrm>
        </p:spPr>
        <p:txBody>
          <a:bodyPr>
            <a:normAutofit/>
          </a:bodyPr>
          <a:lstStyle/>
          <a:p>
            <a:r>
              <a:rPr lang="en-US" dirty="0"/>
              <a:t>Matthew Engelhard</a:t>
            </a:r>
          </a:p>
        </p:txBody>
      </p:sp>
    </p:spTree>
    <p:extLst>
      <p:ext uri="{BB962C8B-B14F-4D97-AF65-F5344CB8AC3E}">
        <p14:creationId xmlns:p14="http://schemas.microsoft.com/office/powerpoint/2010/main" val="2670148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590A7-9AFD-6047-B83E-6C0852C0E54F}"/>
              </a:ext>
            </a:extLst>
          </p:cNvPr>
          <p:cNvSpPr>
            <a:spLocks noGrp="1"/>
          </p:cNvSpPr>
          <p:nvPr>
            <p:ph type="title"/>
          </p:nvPr>
        </p:nvSpPr>
        <p:spPr/>
        <p:txBody>
          <a:bodyPr/>
          <a:lstStyle/>
          <a:p>
            <a:r>
              <a:rPr lang="en-US" dirty="0"/>
              <a:t>Problem 1: make predictions from text</a:t>
            </a:r>
          </a:p>
        </p:txBody>
      </p:sp>
      <p:pic>
        <p:nvPicPr>
          <p:cNvPr id="3" name="Picture 2">
            <a:extLst>
              <a:ext uri="{FF2B5EF4-FFF2-40B4-BE49-F238E27FC236}">
                <a16:creationId xmlns:a16="http://schemas.microsoft.com/office/drawing/2014/main" id="{DC964ED3-CBD5-784D-889B-CF349214AB7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609727" y="1268015"/>
            <a:ext cx="2593732" cy="2445519"/>
          </a:xfrm>
          <a:prstGeom prst="rect">
            <a:avLst/>
          </a:prstGeom>
        </p:spPr>
      </p:pic>
      <p:sp>
        <p:nvSpPr>
          <p:cNvPr id="6" name="Left Brace 5">
            <a:extLst>
              <a:ext uri="{FF2B5EF4-FFF2-40B4-BE49-F238E27FC236}">
                <a16:creationId xmlns:a16="http://schemas.microsoft.com/office/drawing/2014/main" id="{396CAD57-A6AD-2542-9076-2A724D5F3B94}"/>
              </a:ext>
            </a:extLst>
          </p:cNvPr>
          <p:cNvSpPr/>
          <p:nvPr/>
        </p:nvSpPr>
        <p:spPr>
          <a:xfrm rot="16200000">
            <a:off x="2518233" y="2923314"/>
            <a:ext cx="262758" cy="2079772"/>
          </a:xfrm>
          <a:prstGeom prst="leftBrace">
            <a:avLst>
              <a:gd name="adj1" fmla="val 8333"/>
              <a:gd name="adj2" fmla="val 24563"/>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348" dirty="0"/>
          </a:p>
        </p:txBody>
      </p:sp>
      <p:sp>
        <p:nvSpPr>
          <p:cNvPr id="7" name="TextBox 6">
            <a:extLst>
              <a:ext uri="{FF2B5EF4-FFF2-40B4-BE49-F238E27FC236}">
                <a16:creationId xmlns:a16="http://schemas.microsoft.com/office/drawing/2014/main" id="{5A605090-9BC4-5544-99A3-B7474FB3F0D4}"/>
              </a:ext>
            </a:extLst>
          </p:cNvPr>
          <p:cNvSpPr txBox="1"/>
          <p:nvPr/>
        </p:nvSpPr>
        <p:spPr>
          <a:xfrm>
            <a:off x="1963108" y="4094580"/>
            <a:ext cx="2240351"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dirty="0">
                <a:latin typeface="Times New Roman" panose="02020603050405020304" pitchFamily="18" charset="0"/>
                <a:cs typeface="Times New Roman" panose="02020603050405020304" pitchFamily="18" charset="0"/>
              </a:rPr>
              <a:t>, radiology report</a:t>
            </a:r>
          </a:p>
        </p:txBody>
      </p:sp>
      <p:sp>
        <p:nvSpPr>
          <p:cNvPr id="8" name="TextBox 7">
            <a:extLst>
              <a:ext uri="{FF2B5EF4-FFF2-40B4-BE49-F238E27FC236}">
                <a16:creationId xmlns:a16="http://schemas.microsoft.com/office/drawing/2014/main" id="{30B1EFBE-A19E-3647-AB0C-EA73A10292D5}"/>
              </a:ext>
            </a:extLst>
          </p:cNvPr>
          <p:cNvSpPr txBox="1"/>
          <p:nvPr/>
        </p:nvSpPr>
        <p:spPr>
          <a:xfrm>
            <a:off x="6434446" y="2726473"/>
            <a:ext cx="2408009" cy="738023"/>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dirty="0">
                <a:latin typeface="Times New Roman" panose="02020603050405020304" pitchFamily="18" charset="0"/>
                <a:cs typeface="Times New Roman" panose="02020603050405020304" pitchFamily="18" charset="0"/>
              </a:rPr>
              <a:t>, abnormality present</a:t>
            </a:r>
          </a:p>
        </p:txBody>
      </p:sp>
      <p:sp>
        <p:nvSpPr>
          <p:cNvPr id="9" name="TextBox 8">
            <a:extLst>
              <a:ext uri="{FF2B5EF4-FFF2-40B4-BE49-F238E27FC236}">
                <a16:creationId xmlns:a16="http://schemas.microsoft.com/office/drawing/2014/main" id="{6A55DB8C-6AD0-564D-8432-886D4E5DB82F}"/>
              </a:ext>
            </a:extLst>
          </p:cNvPr>
          <p:cNvSpPr txBox="1"/>
          <p:nvPr/>
        </p:nvSpPr>
        <p:spPr>
          <a:xfrm>
            <a:off x="6029954" y="4239114"/>
            <a:ext cx="2865336" cy="396583"/>
          </a:xfrm>
          <a:prstGeom prst="rect">
            <a:avLst/>
          </a:prstGeom>
          <a:noFill/>
        </p:spPr>
        <p:txBody>
          <a:bodyPr wrap="none" rtlCol="0">
            <a:spAutoFit/>
          </a:bodyPr>
          <a:lstStyle/>
          <a:p>
            <a:r>
              <a:rPr lang="en-US" sz="1977" dirty="0"/>
              <a:t>End goal: predict</a:t>
            </a:r>
            <a:r>
              <a:rPr lang="en-US" sz="1977" i="1" dirty="0"/>
              <a:t> </a:t>
            </a:r>
            <a:r>
              <a:rPr lang="en-US" sz="1977" i="1" dirty="0">
                <a:latin typeface="Times New Roman" panose="02020603050405020304" pitchFamily="18" charset="0"/>
                <a:cs typeface="Times New Roman" panose="02020603050405020304" pitchFamily="18" charset="0"/>
              </a:rPr>
              <a:t>y</a:t>
            </a:r>
            <a:r>
              <a:rPr lang="en-US" sz="1977" dirty="0"/>
              <a:t> from </a:t>
            </a:r>
            <a:r>
              <a:rPr lang="en-US" sz="1977" i="1" dirty="0">
                <a:latin typeface="Times New Roman" panose="02020603050405020304" pitchFamily="18" charset="0"/>
                <a:cs typeface="Times New Roman" panose="02020603050405020304" pitchFamily="18" charset="0"/>
              </a:rPr>
              <a:t>x</a:t>
            </a:r>
            <a:r>
              <a:rPr lang="en-US" sz="1977" dirty="0"/>
              <a:t> </a:t>
            </a:r>
          </a:p>
        </p:txBody>
      </p:sp>
      <p:graphicFrame>
        <p:nvGraphicFramePr>
          <p:cNvPr id="10" name="Table 9">
            <a:extLst>
              <a:ext uri="{FF2B5EF4-FFF2-40B4-BE49-F238E27FC236}">
                <a16:creationId xmlns:a16="http://schemas.microsoft.com/office/drawing/2014/main" id="{9D0EB304-8081-7044-B592-636E140495DC}"/>
              </a:ext>
            </a:extLst>
          </p:cNvPr>
          <p:cNvGraphicFramePr>
            <a:graphicFrameLocks noGrp="1"/>
          </p:cNvGraphicFramePr>
          <p:nvPr/>
        </p:nvGraphicFramePr>
        <p:xfrm>
          <a:off x="6295900" y="2156882"/>
          <a:ext cx="542273"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tblGrid>
              <a:tr h="530890">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2" name="Straight Arrow Connector 11">
            <a:extLst>
              <a:ext uri="{FF2B5EF4-FFF2-40B4-BE49-F238E27FC236}">
                <a16:creationId xmlns:a16="http://schemas.microsoft.com/office/drawing/2014/main" id="{81398347-372D-1843-8EAB-04AE6E74E2A0}"/>
              </a:ext>
            </a:extLst>
          </p:cNvPr>
          <p:cNvCxnSpPr>
            <a:cxnSpLocks/>
            <a:endCxn id="10" idx="1"/>
          </p:cNvCxnSpPr>
          <p:nvPr/>
        </p:nvCxnSpPr>
        <p:spPr>
          <a:xfrm flipV="1">
            <a:off x="4219576" y="2422326"/>
            <a:ext cx="2076323" cy="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254391980"/>
      </p:ext>
    </p:extLst>
  </p:cSld>
  <p:clrMapOvr>
    <a:masterClrMapping/>
  </p:clrMapOvr>
  <mc:AlternateContent xmlns:mc="http://schemas.openxmlformats.org/markup-compatibility/2006" xmlns:p14="http://schemas.microsoft.com/office/powerpoint/2010/main">
    <mc:Choice Requires="p14">
      <p:transition spd="slow" p14:dur="2000" advTm="46390"/>
    </mc:Choice>
    <mc:Fallback xmlns="">
      <p:transition spd="slow" advTm="4639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A882D-11CA-0CF9-A168-0CA08116FFC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A0E8468-2C04-5D1C-FD06-72E62C0F7C92}"/>
              </a:ext>
            </a:extLst>
          </p:cNvPr>
          <p:cNvSpPr>
            <a:spLocks noGrp="1"/>
          </p:cNvSpPr>
          <p:nvPr>
            <p:ph type="title"/>
          </p:nvPr>
        </p:nvSpPr>
        <p:spPr>
          <a:xfrm>
            <a:off x="628650" y="273844"/>
            <a:ext cx="7886700" cy="994172"/>
          </a:xfrm>
        </p:spPr>
        <p:txBody>
          <a:bodyPr/>
          <a:lstStyle/>
          <a:p>
            <a:r>
              <a:rPr lang="en-US" dirty="0"/>
              <a:t>Problem 2: generate text</a:t>
            </a:r>
          </a:p>
        </p:txBody>
      </p:sp>
      <p:sp>
        <p:nvSpPr>
          <p:cNvPr id="11" name="TextBox 10">
            <a:extLst>
              <a:ext uri="{FF2B5EF4-FFF2-40B4-BE49-F238E27FC236}">
                <a16:creationId xmlns:a16="http://schemas.microsoft.com/office/drawing/2014/main" id="{49364747-22B5-FB45-5588-AEC2A82A06E2}"/>
              </a:ext>
            </a:extLst>
          </p:cNvPr>
          <p:cNvSpPr txBox="1"/>
          <p:nvPr/>
        </p:nvSpPr>
        <p:spPr>
          <a:xfrm>
            <a:off x="328262" y="4585513"/>
            <a:ext cx="4706802" cy="396583"/>
          </a:xfrm>
          <a:prstGeom prst="rect">
            <a:avLst/>
          </a:prstGeom>
          <a:noFill/>
        </p:spPr>
        <p:txBody>
          <a:bodyPr wrap="none" rtlCol="0">
            <a:spAutoFit/>
          </a:bodyPr>
          <a:lstStyle/>
          <a:p>
            <a:pPr algn="ctr"/>
            <a:r>
              <a:rPr lang="en-US" sz="1977" dirty="0"/>
              <a:t>End goal: create structure from randomness</a:t>
            </a:r>
          </a:p>
        </p:txBody>
      </p:sp>
      <p:pic>
        <p:nvPicPr>
          <p:cNvPr id="3" name="Picture 2">
            <a:extLst>
              <a:ext uri="{FF2B5EF4-FFF2-40B4-BE49-F238E27FC236}">
                <a16:creationId xmlns:a16="http://schemas.microsoft.com/office/drawing/2014/main" id="{B6093445-37F0-22B3-0826-268870D0F28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13777" y="1567345"/>
            <a:ext cx="1984104" cy="1322736"/>
          </a:xfrm>
          <a:prstGeom prst="rect">
            <a:avLst/>
          </a:prstGeom>
          <a:effectLst/>
        </p:spPr>
      </p:pic>
      <p:sp>
        <p:nvSpPr>
          <p:cNvPr id="4" name="Left Brace 3">
            <a:extLst>
              <a:ext uri="{FF2B5EF4-FFF2-40B4-BE49-F238E27FC236}">
                <a16:creationId xmlns:a16="http://schemas.microsoft.com/office/drawing/2014/main" id="{75B0A4CB-1D06-3C71-F356-277B7CFD322C}"/>
              </a:ext>
            </a:extLst>
          </p:cNvPr>
          <p:cNvSpPr/>
          <p:nvPr/>
        </p:nvSpPr>
        <p:spPr>
          <a:xfrm rot="16200000">
            <a:off x="1970000" y="2131666"/>
            <a:ext cx="262758" cy="1984104"/>
          </a:xfrm>
          <a:prstGeom prst="leftBrace">
            <a:avLst>
              <a:gd name="adj1" fmla="val 8333"/>
              <a:gd name="adj2" fmla="val 24681"/>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348" dirty="0"/>
          </a:p>
        </p:txBody>
      </p:sp>
      <p:sp>
        <p:nvSpPr>
          <p:cNvPr id="5" name="TextBox 4">
            <a:extLst>
              <a:ext uri="{FF2B5EF4-FFF2-40B4-BE49-F238E27FC236}">
                <a16:creationId xmlns:a16="http://schemas.microsoft.com/office/drawing/2014/main" id="{47A18979-96E3-B094-A006-56085FE61BA1}"/>
              </a:ext>
            </a:extLst>
          </p:cNvPr>
          <p:cNvSpPr txBox="1"/>
          <p:nvPr/>
        </p:nvSpPr>
        <p:spPr>
          <a:xfrm>
            <a:off x="1462778" y="3255097"/>
            <a:ext cx="2240351"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z</a:t>
            </a:r>
            <a:r>
              <a:rPr lang="en-US" sz="2098" dirty="0">
                <a:latin typeface="Times New Roman" panose="02020603050405020304" pitchFamily="18" charset="0"/>
                <a:cs typeface="Times New Roman" panose="02020603050405020304" pitchFamily="18" charset="0"/>
              </a:rPr>
              <a:t>, random noise</a:t>
            </a:r>
          </a:p>
        </p:txBody>
      </p:sp>
      <p:cxnSp>
        <p:nvCxnSpPr>
          <p:cNvPr id="6" name="Straight Arrow Connector 5">
            <a:extLst>
              <a:ext uri="{FF2B5EF4-FFF2-40B4-BE49-F238E27FC236}">
                <a16:creationId xmlns:a16="http://schemas.microsoft.com/office/drawing/2014/main" id="{AE8A583F-2A10-066A-F927-D03027978DA0}"/>
              </a:ext>
            </a:extLst>
          </p:cNvPr>
          <p:cNvCxnSpPr>
            <a:cxnSpLocks/>
          </p:cNvCxnSpPr>
          <p:nvPr/>
        </p:nvCxnSpPr>
        <p:spPr>
          <a:xfrm>
            <a:off x="3133050" y="2228713"/>
            <a:ext cx="22918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8" name="Left Brace 7">
            <a:extLst>
              <a:ext uri="{FF2B5EF4-FFF2-40B4-BE49-F238E27FC236}">
                <a16:creationId xmlns:a16="http://schemas.microsoft.com/office/drawing/2014/main" id="{7E1E32D9-D7F2-8814-94ED-E664CF1C382E}"/>
              </a:ext>
            </a:extLst>
          </p:cNvPr>
          <p:cNvSpPr/>
          <p:nvPr/>
        </p:nvSpPr>
        <p:spPr>
          <a:xfrm rot="16200000">
            <a:off x="6234290" y="2507616"/>
            <a:ext cx="262758" cy="1388651"/>
          </a:xfrm>
          <a:prstGeom prst="leftBrace">
            <a:avLst>
              <a:gd name="adj1" fmla="val 8333"/>
              <a:gd name="adj2" fmla="val 24563"/>
            </a:avLst>
          </a:prstGeom>
          <a:ln>
            <a:solidFill>
              <a:schemeClr val="tx1"/>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sz="1348"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C0EC3B5-30E9-B9BB-AD6B-8B3FD837EC7C}"/>
                  </a:ext>
                </a:extLst>
              </p:cNvPr>
              <p:cNvSpPr txBox="1"/>
              <p:nvPr/>
            </p:nvSpPr>
            <p:spPr>
              <a:xfrm>
                <a:off x="5863160" y="3381310"/>
                <a:ext cx="3196458" cy="415178"/>
              </a:xfrm>
              <a:prstGeom prst="rect">
                <a:avLst/>
              </a:prstGeom>
              <a:noFill/>
            </p:spPr>
            <p:txBody>
              <a:bodyPr wrap="square" rtlCol="0">
                <a:spAutoFit/>
              </a:bodyPr>
              <a:lstStyle/>
              <a:p>
                <a14:m>
                  <m:oMath xmlns:m="http://schemas.openxmlformats.org/officeDocument/2006/math">
                    <m:r>
                      <a:rPr lang="en-US" sz="2098" i="1" dirty="0">
                        <a:latin typeface="Cambria Math" panose="02040503050406030204" pitchFamily="18" charset="0"/>
                        <a:cs typeface="Poppins Light" panose="00000400000000000000" pitchFamily="2" charset="0"/>
                      </a:rPr>
                      <m:t>𝑥</m:t>
                    </m:r>
                  </m:oMath>
                </a14:m>
                <a:r>
                  <a:rPr lang="en-US" sz="2098" dirty="0">
                    <a:cs typeface="Poppins Light" panose="00000400000000000000" pitchFamily="2" charset="0"/>
                  </a:rPr>
                  <a:t>, realistic clinical note</a:t>
                </a:r>
              </a:p>
            </p:txBody>
          </p:sp>
        </mc:Choice>
        <mc:Fallback xmlns="">
          <p:sp>
            <p:nvSpPr>
              <p:cNvPr id="9" name="TextBox 8">
                <a:extLst>
                  <a:ext uri="{FF2B5EF4-FFF2-40B4-BE49-F238E27FC236}">
                    <a16:creationId xmlns:a16="http://schemas.microsoft.com/office/drawing/2014/main" id="{EC0EC3B5-30E9-B9BB-AD6B-8B3FD837EC7C}"/>
                  </a:ext>
                </a:extLst>
              </p:cNvPr>
              <p:cNvSpPr txBox="1">
                <a:spLocks noRot="1" noChangeAspect="1" noMove="1" noResize="1" noEditPoints="1" noAdjustHandles="1" noChangeArrowheads="1" noChangeShapeType="1" noTextEdit="1"/>
              </p:cNvSpPr>
              <p:nvPr/>
            </p:nvSpPr>
            <p:spPr>
              <a:xfrm>
                <a:off x="5863160" y="3381310"/>
                <a:ext cx="3196458" cy="415178"/>
              </a:xfrm>
              <a:prstGeom prst="rect">
                <a:avLst/>
              </a:prstGeom>
              <a:blipFill>
                <a:blip r:embed="rId4"/>
                <a:stretch>
                  <a:fillRect t="-8824" b="-26471"/>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FC0B7779-5457-C51E-3871-2470DDC829FC}"/>
              </a:ext>
            </a:extLst>
          </p:cNvPr>
          <p:cNvPicPr>
            <a:picLocks noChangeAspect="1"/>
          </p:cNvPicPr>
          <p:nvPr/>
        </p:nvPicPr>
        <p:blipFill rotWithShape="1">
          <a:blip r:embed="rId5" cstate="screen">
            <a:extLst>
              <a:ext uri="{BEBA8EAE-BF5A-486C-A8C5-ECC9F3942E4B}">
                <a14:imgProps xmlns:a14="http://schemas.microsoft.com/office/drawing/2010/main">
                  <a14:imgLayer r:embed="rId6">
                    <a14:imgEffect>
                      <a14:backgroundRemoval t="9920" b="91884" l="9885" r="90026">
                        <a14:foregroundMark x1="60547" y1="11323" x2="60547" y2="11323"/>
                        <a14:foregroundMark x1="21094" y1="83667" x2="21094" y2="83667"/>
                        <a14:foregroundMark x1="25508" y1="91884" x2="25508" y2="91884"/>
                        <a14:foregroundMark x1="51545" y1="77054" x2="51545" y2="77054"/>
                        <a14:foregroundMark x1="57282" y1="76854" x2="57282" y2="76854"/>
                        <a14:foregroundMark x1="58694" y1="58216" x2="58694" y2="58216"/>
                        <a14:foregroundMark x1="47396" y1="27054" x2="47396" y2="27054"/>
                        <a14:foregroundMark x1="35834" y1="16433" x2="57282" y2="59018"/>
                        <a14:foregroundMark x1="17829" y1="76854" x2="75552" y2="36874"/>
                        <a14:foregroundMark x1="67608" y1="89980" x2="40512" y2="17535"/>
                        <a14:foregroundMark x1="40512" y1="17535" x2="73698" y2="26754"/>
                      </a14:backgroundRemoval>
                    </a14:imgEffect>
                  </a14:imgLayer>
                </a14:imgProps>
              </a:ext>
              <a:ext uri="{28A0092B-C50C-407E-A947-70E740481C1C}">
                <a14:useLocalDpi xmlns:a14="http://schemas.microsoft.com/office/drawing/2010/main"/>
              </a:ext>
            </a:extLst>
          </a:blip>
          <a:srcRect/>
          <a:stretch>
            <a:fillRect/>
          </a:stretch>
        </p:blipFill>
        <p:spPr>
          <a:xfrm>
            <a:off x="5460023" y="1289860"/>
            <a:ext cx="1939613" cy="1707817"/>
          </a:xfrm>
          <a:prstGeom prst="rect">
            <a:avLst/>
          </a:prstGeom>
        </p:spPr>
      </p:pic>
    </p:spTree>
    <p:extLst>
      <p:ext uri="{BB962C8B-B14F-4D97-AF65-F5344CB8AC3E}">
        <p14:creationId xmlns:p14="http://schemas.microsoft.com/office/powerpoint/2010/main" val="2216959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0BD9E-75C9-6348-9BBF-41E194FA296B}"/>
              </a:ext>
            </a:extLst>
          </p:cNvPr>
          <p:cNvSpPr>
            <a:spLocks noGrp="1"/>
          </p:cNvSpPr>
          <p:nvPr>
            <p:ph type="title"/>
          </p:nvPr>
        </p:nvSpPr>
        <p:spPr>
          <a:xfrm>
            <a:off x="0" y="249757"/>
            <a:ext cx="9144000" cy="650536"/>
          </a:xfrm>
        </p:spPr>
        <p:txBody>
          <a:bodyPr>
            <a:normAutofit/>
          </a:bodyPr>
          <a:lstStyle/>
          <a:p>
            <a:pPr algn="ctr"/>
            <a:r>
              <a:rPr lang="en-US" dirty="0"/>
              <a:t>Is this generative or predictive?</a:t>
            </a:r>
          </a:p>
        </p:txBody>
      </p:sp>
      <p:sp>
        <p:nvSpPr>
          <p:cNvPr id="8" name="Left Brace 7">
            <a:extLst>
              <a:ext uri="{FF2B5EF4-FFF2-40B4-BE49-F238E27FC236}">
                <a16:creationId xmlns:a16="http://schemas.microsoft.com/office/drawing/2014/main" id="{E33066B2-0A7C-8A4E-AC35-E6F80161D0E4}"/>
              </a:ext>
            </a:extLst>
          </p:cNvPr>
          <p:cNvSpPr/>
          <p:nvPr/>
        </p:nvSpPr>
        <p:spPr>
          <a:xfrm rot="16200000">
            <a:off x="3401010" y="1086033"/>
            <a:ext cx="262758" cy="4671293"/>
          </a:xfrm>
          <a:prstGeom prst="leftBrace">
            <a:avLst>
              <a:gd name="adj1" fmla="val 8333"/>
              <a:gd name="adj2" fmla="val 24563"/>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348" dirty="0"/>
          </a:p>
        </p:txBody>
      </p:sp>
      <p:sp>
        <p:nvSpPr>
          <p:cNvPr id="9" name="TextBox 8">
            <a:extLst>
              <a:ext uri="{FF2B5EF4-FFF2-40B4-BE49-F238E27FC236}">
                <a16:creationId xmlns:a16="http://schemas.microsoft.com/office/drawing/2014/main" id="{B0F8ED1D-42C3-9141-AE77-27407422E154}"/>
              </a:ext>
            </a:extLst>
          </p:cNvPr>
          <p:cNvSpPr txBox="1"/>
          <p:nvPr/>
        </p:nvSpPr>
        <p:spPr>
          <a:xfrm>
            <a:off x="2210847" y="3589940"/>
            <a:ext cx="2643080"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dirty="0">
                <a:latin typeface="Times New Roman" panose="02020603050405020304" pitchFamily="18" charset="0"/>
                <a:cs typeface="Times New Roman" panose="02020603050405020304" pitchFamily="18" charset="0"/>
              </a:rPr>
              <a:t>, conversation history</a:t>
            </a:r>
          </a:p>
        </p:txBody>
      </p:sp>
      <p:sp>
        <p:nvSpPr>
          <p:cNvPr id="10" name="TextBox 9">
            <a:extLst>
              <a:ext uri="{FF2B5EF4-FFF2-40B4-BE49-F238E27FC236}">
                <a16:creationId xmlns:a16="http://schemas.microsoft.com/office/drawing/2014/main" id="{F2C42C99-ECFD-CC46-8C0C-7FE9900CF424}"/>
              </a:ext>
            </a:extLst>
          </p:cNvPr>
          <p:cNvSpPr txBox="1"/>
          <p:nvPr/>
        </p:nvSpPr>
        <p:spPr>
          <a:xfrm>
            <a:off x="6944811" y="2741057"/>
            <a:ext cx="1901480"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dirty="0">
                <a:latin typeface="Times New Roman" panose="02020603050405020304" pitchFamily="18" charset="0"/>
                <a:cs typeface="Times New Roman" panose="02020603050405020304" pitchFamily="18" charset="0"/>
              </a:rPr>
              <a:t>, next word</a:t>
            </a:r>
          </a:p>
        </p:txBody>
      </p:sp>
      <p:sp>
        <p:nvSpPr>
          <p:cNvPr id="11" name="TextBox 10">
            <a:extLst>
              <a:ext uri="{FF2B5EF4-FFF2-40B4-BE49-F238E27FC236}">
                <a16:creationId xmlns:a16="http://schemas.microsoft.com/office/drawing/2014/main" id="{69F4C887-30DE-6142-A3B8-73F2E6FB683F}"/>
              </a:ext>
            </a:extLst>
          </p:cNvPr>
          <p:cNvSpPr txBox="1"/>
          <p:nvPr/>
        </p:nvSpPr>
        <p:spPr>
          <a:xfrm>
            <a:off x="3270618" y="4480696"/>
            <a:ext cx="2602764" cy="396583"/>
          </a:xfrm>
          <a:prstGeom prst="rect">
            <a:avLst/>
          </a:prstGeom>
          <a:noFill/>
        </p:spPr>
        <p:txBody>
          <a:bodyPr wrap="none" rtlCol="0">
            <a:spAutoFit/>
          </a:bodyPr>
          <a:lstStyle/>
          <a:p>
            <a:r>
              <a:rPr lang="en-US" sz="1977" dirty="0"/>
              <a:t>“next-token prediction”</a:t>
            </a:r>
          </a:p>
        </p:txBody>
      </p:sp>
      <p:graphicFrame>
        <p:nvGraphicFramePr>
          <p:cNvPr id="13" name="Table 12">
            <a:extLst>
              <a:ext uri="{FF2B5EF4-FFF2-40B4-BE49-F238E27FC236}">
                <a16:creationId xmlns:a16="http://schemas.microsoft.com/office/drawing/2014/main" id="{9D7F99B7-3001-F340-BD4E-C015D9032101}"/>
              </a:ext>
            </a:extLst>
          </p:cNvPr>
          <p:cNvGraphicFramePr>
            <a:graphicFrameLocks noGrp="1"/>
          </p:cNvGraphicFramePr>
          <p:nvPr>
            <p:extLst>
              <p:ext uri="{D42A27DB-BD31-4B8C-83A1-F6EECF244321}">
                <p14:modId xmlns:p14="http://schemas.microsoft.com/office/powerpoint/2010/main" val="3418264443"/>
              </p:ext>
            </p:extLst>
          </p:nvPr>
        </p:nvGraphicFramePr>
        <p:xfrm>
          <a:off x="6827528" y="2173311"/>
          <a:ext cx="542273"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tblGrid>
              <a:tr h="530890">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6" name="Straight Arrow Connector 15">
            <a:extLst>
              <a:ext uri="{FF2B5EF4-FFF2-40B4-BE49-F238E27FC236}">
                <a16:creationId xmlns:a16="http://schemas.microsoft.com/office/drawing/2014/main" id="{2004C370-95FF-1047-B986-B06FCDF88F5F}"/>
              </a:ext>
            </a:extLst>
          </p:cNvPr>
          <p:cNvCxnSpPr>
            <a:cxnSpLocks/>
            <a:stCxn id="4" idx="3"/>
            <a:endCxn id="13" idx="1"/>
          </p:cNvCxnSpPr>
          <p:nvPr/>
        </p:nvCxnSpPr>
        <p:spPr>
          <a:xfrm>
            <a:off x="5868033" y="2438756"/>
            <a:ext cx="95949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4" name="Picture 3">
            <a:extLst>
              <a:ext uri="{FF2B5EF4-FFF2-40B4-BE49-F238E27FC236}">
                <a16:creationId xmlns:a16="http://schemas.microsoft.com/office/drawing/2014/main" id="{C6C14DAE-B47E-A86D-3415-BA60E214F72A}"/>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196741" y="1721277"/>
            <a:ext cx="4671292" cy="1434958"/>
          </a:xfrm>
          <a:prstGeom prst="rect">
            <a:avLst/>
          </a:prstGeom>
          <a:ln>
            <a:solidFill>
              <a:schemeClr val="tx1"/>
            </a:solidFill>
          </a:ln>
        </p:spPr>
      </p:pic>
      <p:pic>
        <p:nvPicPr>
          <p:cNvPr id="5" name="Picture 2">
            <a:extLst>
              <a:ext uri="{FF2B5EF4-FFF2-40B4-BE49-F238E27FC236}">
                <a16:creationId xmlns:a16="http://schemas.microsoft.com/office/drawing/2014/main" id="{017E5B6B-3FB1-7654-027C-7EFC2F8A6D2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289494" y="1827930"/>
            <a:ext cx="522772" cy="522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2990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4B8183-489E-52A2-E8FF-601E04289F8E}"/>
              </a:ext>
            </a:extLst>
          </p:cNvPr>
          <p:cNvSpPr txBox="1"/>
          <p:nvPr/>
        </p:nvSpPr>
        <p:spPr>
          <a:xfrm>
            <a:off x="1206500" y="1140589"/>
            <a:ext cx="7213600" cy="2862322"/>
          </a:xfrm>
          <a:prstGeom prst="rect">
            <a:avLst/>
          </a:prstGeom>
          <a:noFill/>
        </p:spPr>
        <p:txBody>
          <a:bodyPr wrap="square" rtlCol="0">
            <a:spAutoFit/>
          </a:bodyPr>
          <a:lstStyle/>
          <a:p>
            <a:r>
              <a:rPr lang="en-US" sz="3600" dirty="0"/>
              <a:t>The central problem of natural language processing:</a:t>
            </a:r>
          </a:p>
          <a:p>
            <a:endParaRPr lang="en-US" sz="3600" dirty="0"/>
          </a:p>
          <a:p>
            <a:r>
              <a:rPr lang="en-US" sz="3600" i="1" dirty="0"/>
              <a:t>How do we convert text to numbers our models can work with?</a:t>
            </a:r>
          </a:p>
        </p:txBody>
      </p:sp>
    </p:spTree>
    <p:extLst>
      <p:ext uri="{BB962C8B-B14F-4D97-AF65-F5344CB8AC3E}">
        <p14:creationId xmlns:p14="http://schemas.microsoft.com/office/powerpoint/2010/main" val="3596700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569C8-63B8-F7D6-BD0A-D57ECEA19E99}"/>
              </a:ext>
            </a:extLst>
          </p:cNvPr>
          <p:cNvSpPr>
            <a:spLocks noGrp="1"/>
          </p:cNvSpPr>
          <p:nvPr>
            <p:ph type="title"/>
          </p:nvPr>
        </p:nvSpPr>
        <p:spPr/>
        <p:txBody>
          <a:bodyPr/>
          <a:lstStyle/>
          <a:p>
            <a:r>
              <a:rPr lang="en-US" dirty="0"/>
              <a:t>Text to numbers, v1: </a:t>
            </a:r>
            <a:br>
              <a:rPr lang="en-US" dirty="0"/>
            </a:br>
            <a:r>
              <a:rPr lang="en-US" dirty="0"/>
              <a:t>word counts</a:t>
            </a:r>
          </a:p>
        </p:txBody>
      </p:sp>
      <p:sp>
        <p:nvSpPr>
          <p:cNvPr id="3" name="Text Placeholder 2">
            <a:extLst>
              <a:ext uri="{FF2B5EF4-FFF2-40B4-BE49-F238E27FC236}">
                <a16:creationId xmlns:a16="http://schemas.microsoft.com/office/drawing/2014/main" id="{662F93A6-7A72-8F1D-3D39-FE4BACD4F5AF}"/>
              </a:ext>
            </a:extLst>
          </p:cNvPr>
          <p:cNvSpPr>
            <a:spLocks noGrp="1"/>
          </p:cNvSpPr>
          <p:nvPr>
            <p:ph type="body" idx="1"/>
          </p:nvPr>
        </p:nvSpPr>
        <p:spPr/>
        <p:txBody>
          <a:bodyPr/>
          <a:lstStyle/>
          <a:p>
            <a:r>
              <a:rPr lang="en-US" dirty="0"/>
              <a:t>A count-based model for maternal health triage</a:t>
            </a:r>
          </a:p>
        </p:txBody>
      </p:sp>
    </p:spTree>
    <p:extLst>
      <p:ext uri="{BB962C8B-B14F-4D97-AF65-F5344CB8AC3E}">
        <p14:creationId xmlns:p14="http://schemas.microsoft.com/office/powerpoint/2010/main" val="3864929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F5A9C0F-C73E-5044-BA14-46B00A07B47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04070" y="1089129"/>
            <a:ext cx="4920863" cy="2617899"/>
          </a:xfrm>
          <a:prstGeom prst="rect">
            <a:avLst/>
          </a:prstGeom>
        </p:spPr>
      </p:pic>
      <p:sp>
        <p:nvSpPr>
          <p:cNvPr id="4" name="Title 1">
            <a:extLst>
              <a:ext uri="{FF2B5EF4-FFF2-40B4-BE49-F238E27FC236}">
                <a16:creationId xmlns:a16="http://schemas.microsoft.com/office/drawing/2014/main" id="{8A4FEACA-2FD0-CB41-8405-C78FC168150A}"/>
              </a:ext>
            </a:extLst>
          </p:cNvPr>
          <p:cNvSpPr>
            <a:spLocks noGrp="1"/>
          </p:cNvSpPr>
          <p:nvPr>
            <p:ph type="title"/>
          </p:nvPr>
        </p:nvSpPr>
        <p:spPr>
          <a:xfrm>
            <a:off x="139336" y="104743"/>
            <a:ext cx="9004663" cy="552875"/>
          </a:xfrm>
        </p:spPr>
        <p:txBody>
          <a:bodyPr>
            <a:normAutofit/>
          </a:bodyPr>
          <a:lstStyle/>
          <a:p>
            <a:r>
              <a:rPr lang="en-US" dirty="0"/>
              <a:t>Case Study: SMS Triage for Global Maternal Health</a:t>
            </a:r>
          </a:p>
        </p:txBody>
      </p:sp>
      <p:pic>
        <p:nvPicPr>
          <p:cNvPr id="5" name="Picture 4">
            <a:extLst>
              <a:ext uri="{FF2B5EF4-FFF2-40B4-BE49-F238E27FC236}">
                <a16:creationId xmlns:a16="http://schemas.microsoft.com/office/drawing/2014/main" id="{9AD5F0AE-E388-7445-B1D8-1105038B331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76042" y="1964781"/>
            <a:ext cx="3020255" cy="2011490"/>
          </a:xfrm>
          <a:prstGeom prst="rect">
            <a:avLst/>
          </a:prstGeom>
        </p:spPr>
      </p:pic>
      <p:sp>
        <p:nvSpPr>
          <p:cNvPr id="6" name="Rectangle 5">
            <a:extLst>
              <a:ext uri="{FF2B5EF4-FFF2-40B4-BE49-F238E27FC236}">
                <a16:creationId xmlns:a16="http://schemas.microsoft.com/office/drawing/2014/main" id="{592026FB-1925-2E46-B2A1-98454C1EDDB0}"/>
              </a:ext>
            </a:extLst>
          </p:cNvPr>
          <p:cNvSpPr/>
          <p:nvPr/>
        </p:nvSpPr>
        <p:spPr>
          <a:xfrm>
            <a:off x="428285" y="861076"/>
            <a:ext cx="2715768" cy="923330"/>
          </a:xfrm>
          <a:prstGeom prst="rect">
            <a:avLst/>
          </a:prstGeom>
        </p:spPr>
        <p:txBody>
          <a:bodyPr wrap="square">
            <a:spAutoFit/>
          </a:bodyPr>
          <a:lstStyle/>
          <a:p>
            <a:pPr algn="ctr"/>
            <a:r>
              <a:rPr lang="en-US" sz="1350" b="1" dirty="0">
                <a:solidFill>
                  <a:srgbClr val="212326"/>
                </a:solidFill>
                <a:latin typeface="freight-sans-pro"/>
              </a:rPr>
              <a:t>Maternal Health </a:t>
            </a:r>
            <a:r>
              <a:rPr lang="en-US" sz="1350" b="1" dirty="0" err="1">
                <a:solidFill>
                  <a:srgbClr val="212326"/>
                </a:solidFill>
                <a:latin typeface="freight-sans-pro"/>
              </a:rPr>
              <a:t>HelpDesk</a:t>
            </a:r>
            <a:r>
              <a:rPr lang="en-US" sz="1350" b="1" dirty="0">
                <a:solidFill>
                  <a:srgbClr val="212326"/>
                </a:solidFill>
                <a:latin typeface="freight-sans-pro"/>
              </a:rPr>
              <a:t>:</a:t>
            </a:r>
          </a:p>
          <a:p>
            <a:pPr algn="ctr"/>
            <a:endParaRPr lang="en-US" sz="1350" b="1" dirty="0">
              <a:solidFill>
                <a:srgbClr val="212326"/>
              </a:solidFill>
              <a:latin typeface="freight-sans-pro"/>
            </a:endParaRPr>
          </a:p>
          <a:p>
            <a:pPr algn="ctr"/>
            <a:r>
              <a:rPr lang="en-US" sz="1350" b="1" dirty="0">
                <a:solidFill>
                  <a:srgbClr val="212326"/>
                </a:solidFill>
                <a:latin typeface="freight-sans-pro"/>
              </a:rPr>
              <a:t>2 million women connected to </a:t>
            </a:r>
            <a:r>
              <a:rPr lang="en-US" sz="1350" b="1" dirty="0" err="1">
                <a:solidFill>
                  <a:srgbClr val="212326"/>
                </a:solidFill>
                <a:latin typeface="freight-sans-pro"/>
              </a:rPr>
              <a:t>NDoH</a:t>
            </a:r>
            <a:r>
              <a:rPr lang="en-US" sz="1350" b="1" dirty="0">
                <a:solidFill>
                  <a:srgbClr val="212326"/>
                </a:solidFill>
                <a:latin typeface="freight-sans-pro"/>
              </a:rPr>
              <a:t> staff via SMS</a:t>
            </a:r>
            <a:endParaRPr lang="en-US" sz="1350" dirty="0">
              <a:latin typeface="freight-sans-pro"/>
            </a:endParaRPr>
          </a:p>
        </p:txBody>
      </p:sp>
      <p:sp>
        <p:nvSpPr>
          <p:cNvPr id="7" name="Rectangle 6">
            <a:extLst>
              <a:ext uri="{FF2B5EF4-FFF2-40B4-BE49-F238E27FC236}">
                <a16:creationId xmlns:a16="http://schemas.microsoft.com/office/drawing/2014/main" id="{6D48AE61-F0ED-384B-9E2C-BD7F3C5A231F}"/>
              </a:ext>
            </a:extLst>
          </p:cNvPr>
          <p:cNvSpPr/>
          <p:nvPr/>
        </p:nvSpPr>
        <p:spPr>
          <a:xfrm>
            <a:off x="7299203" y="3707029"/>
            <a:ext cx="1778820" cy="276999"/>
          </a:xfrm>
          <a:prstGeom prst="rect">
            <a:avLst/>
          </a:prstGeom>
        </p:spPr>
        <p:txBody>
          <a:bodyPr wrap="none">
            <a:spAutoFit/>
          </a:bodyPr>
          <a:lstStyle/>
          <a:p>
            <a:r>
              <a:rPr lang="en-US" sz="1200" dirty="0"/>
              <a:t>https://</a:t>
            </a:r>
            <a:r>
              <a:rPr lang="en-US" sz="1200" dirty="0" err="1"/>
              <a:t>www.praekelt.org</a:t>
            </a:r>
            <a:endParaRPr lang="en-US" sz="1200" dirty="0"/>
          </a:p>
        </p:txBody>
      </p:sp>
      <p:sp>
        <p:nvSpPr>
          <p:cNvPr id="8" name="TextBox 7"/>
          <p:cNvSpPr txBox="1"/>
          <p:nvPr/>
        </p:nvSpPr>
        <p:spPr>
          <a:xfrm>
            <a:off x="1523401" y="4184934"/>
            <a:ext cx="6131935" cy="461665"/>
          </a:xfrm>
          <a:prstGeom prst="rect">
            <a:avLst/>
          </a:prstGeom>
          <a:noFill/>
        </p:spPr>
        <p:txBody>
          <a:bodyPr wrap="none" rtlCol="0">
            <a:spAutoFit/>
          </a:bodyPr>
          <a:lstStyle/>
          <a:p>
            <a:r>
              <a:rPr lang="en-US" sz="2400" dirty="0">
                <a:solidFill>
                  <a:srgbClr val="FF0000"/>
                </a:solidFill>
              </a:rPr>
              <a:t>Binary Classification: Urgent Message? (Yes/No)</a:t>
            </a:r>
          </a:p>
        </p:txBody>
      </p:sp>
    </p:spTree>
    <p:extLst>
      <p:ext uri="{BB962C8B-B14F-4D97-AF65-F5344CB8AC3E}">
        <p14:creationId xmlns:p14="http://schemas.microsoft.com/office/powerpoint/2010/main" val="3222439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443EB-D97A-A647-B55D-DFAA7CABAA68}"/>
              </a:ext>
            </a:extLst>
          </p:cNvPr>
          <p:cNvSpPr>
            <a:spLocks noGrp="1"/>
          </p:cNvSpPr>
          <p:nvPr>
            <p:ph type="title"/>
          </p:nvPr>
        </p:nvSpPr>
        <p:spPr/>
        <p:txBody>
          <a:bodyPr>
            <a:normAutofit/>
          </a:bodyPr>
          <a:lstStyle/>
          <a:p>
            <a:r>
              <a:rPr lang="en-US" dirty="0"/>
              <a:t>A Simple Predictive Model: ICU Mortality</a:t>
            </a:r>
          </a:p>
        </p:txBody>
      </p:sp>
      <p:sp>
        <p:nvSpPr>
          <p:cNvPr id="11" name="TextBox 10">
            <a:extLst>
              <a:ext uri="{FF2B5EF4-FFF2-40B4-BE49-F238E27FC236}">
                <a16:creationId xmlns:a16="http://schemas.microsoft.com/office/drawing/2014/main" id="{3522C4F1-C657-EA47-A958-6BC9C8AFC8F6}"/>
              </a:ext>
            </a:extLst>
          </p:cNvPr>
          <p:cNvSpPr txBox="1"/>
          <p:nvPr/>
        </p:nvSpPr>
        <p:spPr>
          <a:xfrm>
            <a:off x="2301571" y="4314966"/>
            <a:ext cx="4587859" cy="396583"/>
          </a:xfrm>
          <a:prstGeom prst="rect">
            <a:avLst/>
          </a:prstGeom>
          <a:noFill/>
        </p:spPr>
        <p:txBody>
          <a:bodyPr wrap="none" rtlCol="0">
            <a:spAutoFit/>
          </a:bodyPr>
          <a:lstStyle/>
          <a:p>
            <a:r>
              <a:rPr lang="en-US" sz="1977" dirty="0"/>
              <a:t>End goal: predict</a:t>
            </a:r>
            <a:r>
              <a:rPr lang="en-US" sz="1977" i="1" dirty="0"/>
              <a:t> </a:t>
            </a:r>
            <a:r>
              <a:rPr lang="en-US" sz="1977" dirty="0">
                <a:latin typeface="Times New Roman" panose="02020603050405020304" pitchFamily="18" charset="0"/>
                <a:cs typeface="Times New Roman" panose="02020603050405020304" pitchFamily="18" charset="0"/>
              </a:rPr>
              <a:t>odds of hospital mortality</a:t>
            </a:r>
            <a:endParaRPr lang="en-US" sz="1977" dirty="0"/>
          </a:p>
        </p:txBody>
      </p:sp>
      <p:graphicFrame>
        <p:nvGraphicFramePr>
          <p:cNvPr id="12" name="Table 11">
            <a:extLst>
              <a:ext uri="{FF2B5EF4-FFF2-40B4-BE49-F238E27FC236}">
                <a16:creationId xmlns:a16="http://schemas.microsoft.com/office/drawing/2014/main" id="{7330BF0F-64E0-9F47-A64C-360C3C7ED0DD}"/>
              </a:ext>
            </a:extLst>
          </p:cNvPr>
          <p:cNvGraphicFramePr>
            <a:graphicFrameLocks noGrp="1"/>
          </p:cNvGraphicFramePr>
          <p:nvPr/>
        </p:nvGraphicFramePr>
        <p:xfrm>
          <a:off x="1323179" y="1833538"/>
          <a:ext cx="4338184"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gridCol w="542273">
                  <a:extLst>
                    <a:ext uri="{9D8B030D-6E8A-4147-A177-3AD203B41FA5}">
                      <a16:colId xmlns:a16="http://schemas.microsoft.com/office/drawing/2014/main" val="440623976"/>
                    </a:ext>
                  </a:extLst>
                </a:gridCol>
                <a:gridCol w="542273">
                  <a:extLst>
                    <a:ext uri="{9D8B030D-6E8A-4147-A177-3AD203B41FA5}">
                      <a16:colId xmlns:a16="http://schemas.microsoft.com/office/drawing/2014/main" val="2300620790"/>
                    </a:ext>
                  </a:extLst>
                </a:gridCol>
                <a:gridCol w="542273">
                  <a:extLst>
                    <a:ext uri="{9D8B030D-6E8A-4147-A177-3AD203B41FA5}">
                      <a16:colId xmlns:a16="http://schemas.microsoft.com/office/drawing/2014/main" val="387841067"/>
                    </a:ext>
                  </a:extLst>
                </a:gridCol>
                <a:gridCol w="542273">
                  <a:extLst>
                    <a:ext uri="{9D8B030D-6E8A-4147-A177-3AD203B41FA5}">
                      <a16:colId xmlns:a16="http://schemas.microsoft.com/office/drawing/2014/main" val="2317106339"/>
                    </a:ext>
                  </a:extLst>
                </a:gridCol>
                <a:gridCol w="542273">
                  <a:extLst>
                    <a:ext uri="{9D8B030D-6E8A-4147-A177-3AD203B41FA5}">
                      <a16:colId xmlns:a16="http://schemas.microsoft.com/office/drawing/2014/main" val="3112262120"/>
                    </a:ext>
                  </a:extLst>
                </a:gridCol>
                <a:gridCol w="542273">
                  <a:extLst>
                    <a:ext uri="{9D8B030D-6E8A-4147-A177-3AD203B41FA5}">
                      <a16:colId xmlns:a16="http://schemas.microsoft.com/office/drawing/2014/main" val="1492693499"/>
                    </a:ext>
                  </a:extLst>
                </a:gridCol>
                <a:gridCol w="542273">
                  <a:extLst>
                    <a:ext uri="{9D8B030D-6E8A-4147-A177-3AD203B41FA5}">
                      <a16:colId xmlns:a16="http://schemas.microsoft.com/office/drawing/2014/main" val="4043894517"/>
                    </a:ext>
                  </a:extLst>
                </a:gridCol>
              </a:tblGrid>
              <a:tr h="530890">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graphicFrame>
        <p:nvGraphicFramePr>
          <p:cNvPr id="13" name="Table 12">
            <a:extLst>
              <a:ext uri="{FF2B5EF4-FFF2-40B4-BE49-F238E27FC236}">
                <a16:creationId xmlns:a16="http://schemas.microsoft.com/office/drawing/2014/main" id="{46A4145C-93C9-8E44-A49F-42688A16B578}"/>
              </a:ext>
            </a:extLst>
          </p:cNvPr>
          <p:cNvGraphicFramePr>
            <a:graphicFrameLocks noGrp="1"/>
          </p:cNvGraphicFramePr>
          <p:nvPr/>
        </p:nvGraphicFramePr>
        <p:xfrm>
          <a:off x="6440410" y="1833537"/>
          <a:ext cx="542273"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tblGrid>
              <a:tr h="530890">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sp>
        <p:nvSpPr>
          <p:cNvPr id="16" name="TextBox 15">
            <a:extLst>
              <a:ext uri="{FF2B5EF4-FFF2-40B4-BE49-F238E27FC236}">
                <a16:creationId xmlns:a16="http://schemas.microsoft.com/office/drawing/2014/main" id="{45F1BB00-7856-7446-8C5E-2FBA67162D88}"/>
              </a:ext>
            </a:extLst>
          </p:cNvPr>
          <p:cNvSpPr txBox="1"/>
          <p:nvPr/>
        </p:nvSpPr>
        <p:spPr>
          <a:xfrm rot="18054908">
            <a:off x="157747" y="3066435"/>
            <a:ext cx="1880762" cy="396583"/>
          </a:xfrm>
          <a:prstGeom prst="rect">
            <a:avLst/>
          </a:prstGeom>
          <a:noFill/>
        </p:spPr>
        <p:txBody>
          <a:bodyPr wrap="square" rtlCol="0">
            <a:spAutoFit/>
          </a:bodyPr>
          <a:lstStyle/>
          <a:p>
            <a:pPr algn="r"/>
            <a:r>
              <a:rPr lang="en-US" sz="1977" dirty="0"/>
              <a:t>Age</a:t>
            </a:r>
          </a:p>
        </p:txBody>
      </p:sp>
      <p:sp>
        <p:nvSpPr>
          <p:cNvPr id="17" name="TextBox 16">
            <a:extLst>
              <a:ext uri="{FF2B5EF4-FFF2-40B4-BE49-F238E27FC236}">
                <a16:creationId xmlns:a16="http://schemas.microsoft.com/office/drawing/2014/main" id="{98BFDD58-EB3C-C34E-BB34-451CCAD8F698}"/>
              </a:ext>
            </a:extLst>
          </p:cNvPr>
          <p:cNvSpPr txBox="1"/>
          <p:nvPr/>
        </p:nvSpPr>
        <p:spPr>
          <a:xfrm rot="18054908">
            <a:off x="700180" y="3066435"/>
            <a:ext cx="1880762" cy="396583"/>
          </a:xfrm>
          <a:prstGeom prst="rect">
            <a:avLst/>
          </a:prstGeom>
          <a:noFill/>
        </p:spPr>
        <p:txBody>
          <a:bodyPr wrap="square" rtlCol="0">
            <a:spAutoFit/>
          </a:bodyPr>
          <a:lstStyle/>
          <a:p>
            <a:pPr algn="r"/>
            <a:r>
              <a:rPr lang="en-US" sz="1977" dirty="0"/>
              <a:t>Pulse Rate</a:t>
            </a:r>
          </a:p>
        </p:txBody>
      </p:sp>
      <p:sp>
        <p:nvSpPr>
          <p:cNvPr id="18" name="TextBox 17">
            <a:extLst>
              <a:ext uri="{FF2B5EF4-FFF2-40B4-BE49-F238E27FC236}">
                <a16:creationId xmlns:a16="http://schemas.microsoft.com/office/drawing/2014/main" id="{13818781-A770-454B-80A9-94744A7FF37F}"/>
              </a:ext>
            </a:extLst>
          </p:cNvPr>
          <p:cNvSpPr txBox="1"/>
          <p:nvPr/>
        </p:nvSpPr>
        <p:spPr>
          <a:xfrm rot="18054908">
            <a:off x="1242613" y="3064566"/>
            <a:ext cx="1880762" cy="396583"/>
          </a:xfrm>
          <a:prstGeom prst="rect">
            <a:avLst/>
          </a:prstGeom>
          <a:noFill/>
        </p:spPr>
        <p:txBody>
          <a:bodyPr wrap="square" rtlCol="0">
            <a:spAutoFit/>
          </a:bodyPr>
          <a:lstStyle/>
          <a:p>
            <a:pPr algn="r"/>
            <a:r>
              <a:rPr lang="en-US" sz="1977" dirty="0"/>
              <a:t>Mean BP</a:t>
            </a:r>
          </a:p>
        </p:txBody>
      </p:sp>
      <p:sp>
        <p:nvSpPr>
          <p:cNvPr id="19" name="TextBox 18">
            <a:extLst>
              <a:ext uri="{FF2B5EF4-FFF2-40B4-BE49-F238E27FC236}">
                <a16:creationId xmlns:a16="http://schemas.microsoft.com/office/drawing/2014/main" id="{171F8335-ECB2-7A4D-82D0-3DCE61D73934}"/>
              </a:ext>
            </a:extLst>
          </p:cNvPr>
          <p:cNvSpPr txBox="1"/>
          <p:nvPr/>
        </p:nvSpPr>
        <p:spPr>
          <a:xfrm rot="18054908">
            <a:off x="1785046" y="3064566"/>
            <a:ext cx="1880762" cy="396583"/>
          </a:xfrm>
          <a:prstGeom prst="rect">
            <a:avLst/>
          </a:prstGeom>
          <a:noFill/>
        </p:spPr>
        <p:txBody>
          <a:bodyPr wrap="square" rtlCol="0">
            <a:spAutoFit/>
          </a:bodyPr>
          <a:lstStyle/>
          <a:p>
            <a:pPr algn="r"/>
            <a:r>
              <a:rPr lang="en-US" sz="1977" dirty="0"/>
              <a:t>Temperature</a:t>
            </a:r>
          </a:p>
        </p:txBody>
      </p:sp>
      <p:sp>
        <p:nvSpPr>
          <p:cNvPr id="20" name="TextBox 19">
            <a:extLst>
              <a:ext uri="{FF2B5EF4-FFF2-40B4-BE49-F238E27FC236}">
                <a16:creationId xmlns:a16="http://schemas.microsoft.com/office/drawing/2014/main" id="{39A63E6B-5114-B340-BC65-DBD86141279A}"/>
              </a:ext>
            </a:extLst>
          </p:cNvPr>
          <p:cNvSpPr txBox="1"/>
          <p:nvPr/>
        </p:nvSpPr>
        <p:spPr>
          <a:xfrm rot="18054908">
            <a:off x="2327479" y="3064564"/>
            <a:ext cx="1880762" cy="396583"/>
          </a:xfrm>
          <a:prstGeom prst="rect">
            <a:avLst/>
          </a:prstGeom>
          <a:noFill/>
        </p:spPr>
        <p:txBody>
          <a:bodyPr wrap="square" rtlCol="0">
            <a:spAutoFit/>
          </a:bodyPr>
          <a:lstStyle/>
          <a:p>
            <a:pPr algn="r"/>
            <a:r>
              <a:rPr lang="en-US" sz="1977" dirty="0"/>
              <a:t>Respiratory Rate</a:t>
            </a:r>
          </a:p>
        </p:txBody>
      </p:sp>
      <p:sp>
        <p:nvSpPr>
          <p:cNvPr id="21" name="TextBox 20">
            <a:extLst>
              <a:ext uri="{FF2B5EF4-FFF2-40B4-BE49-F238E27FC236}">
                <a16:creationId xmlns:a16="http://schemas.microsoft.com/office/drawing/2014/main" id="{403C6FED-0EF4-B34D-9DD5-ED78AC7B4C80}"/>
              </a:ext>
            </a:extLst>
          </p:cNvPr>
          <p:cNvSpPr txBox="1"/>
          <p:nvPr/>
        </p:nvSpPr>
        <p:spPr>
          <a:xfrm rot="18054908">
            <a:off x="2869912" y="3064564"/>
            <a:ext cx="1880762" cy="396583"/>
          </a:xfrm>
          <a:prstGeom prst="rect">
            <a:avLst/>
          </a:prstGeom>
          <a:noFill/>
        </p:spPr>
        <p:txBody>
          <a:bodyPr wrap="square" rtlCol="0">
            <a:spAutoFit/>
          </a:bodyPr>
          <a:lstStyle/>
          <a:p>
            <a:pPr algn="r"/>
            <a:r>
              <a:rPr lang="en-US" sz="1977" dirty="0"/>
              <a:t>Hematocrit</a:t>
            </a:r>
          </a:p>
        </p:txBody>
      </p:sp>
      <p:sp>
        <p:nvSpPr>
          <p:cNvPr id="22" name="TextBox 21">
            <a:extLst>
              <a:ext uri="{FF2B5EF4-FFF2-40B4-BE49-F238E27FC236}">
                <a16:creationId xmlns:a16="http://schemas.microsoft.com/office/drawing/2014/main" id="{B763DE9A-E18E-2C45-B7B8-FB7AB28B149B}"/>
              </a:ext>
            </a:extLst>
          </p:cNvPr>
          <p:cNvSpPr txBox="1"/>
          <p:nvPr/>
        </p:nvSpPr>
        <p:spPr>
          <a:xfrm rot="18054908">
            <a:off x="3412345" y="3062694"/>
            <a:ext cx="1880762" cy="396583"/>
          </a:xfrm>
          <a:prstGeom prst="rect">
            <a:avLst/>
          </a:prstGeom>
          <a:noFill/>
        </p:spPr>
        <p:txBody>
          <a:bodyPr wrap="square" rtlCol="0">
            <a:spAutoFit/>
          </a:bodyPr>
          <a:lstStyle/>
          <a:p>
            <a:pPr algn="r"/>
            <a:r>
              <a:rPr lang="en-US" sz="1977" dirty="0"/>
              <a:t>WBC Count</a:t>
            </a:r>
          </a:p>
        </p:txBody>
      </p:sp>
      <p:sp>
        <p:nvSpPr>
          <p:cNvPr id="23" name="TextBox 22">
            <a:extLst>
              <a:ext uri="{FF2B5EF4-FFF2-40B4-BE49-F238E27FC236}">
                <a16:creationId xmlns:a16="http://schemas.microsoft.com/office/drawing/2014/main" id="{A174C37D-8A18-434E-873B-38FBA9E7BABB}"/>
              </a:ext>
            </a:extLst>
          </p:cNvPr>
          <p:cNvSpPr txBox="1"/>
          <p:nvPr/>
        </p:nvSpPr>
        <p:spPr>
          <a:xfrm rot="18054908">
            <a:off x="3954780" y="3064563"/>
            <a:ext cx="1880762" cy="396583"/>
          </a:xfrm>
          <a:prstGeom prst="rect">
            <a:avLst/>
          </a:prstGeom>
          <a:noFill/>
        </p:spPr>
        <p:txBody>
          <a:bodyPr wrap="square" rtlCol="0">
            <a:spAutoFit/>
          </a:bodyPr>
          <a:lstStyle/>
          <a:p>
            <a:pPr algn="r"/>
            <a:r>
              <a:rPr lang="en-US" sz="1977" dirty="0"/>
              <a:t>Creatinine</a:t>
            </a:r>
          </a:p>
        </p:txBody>
      </p:sp>
      <p:sp>
        <p:nvSpPr>
          <p:cNvPr id="25" name="TextBox 24">
            <a:extLst>
              <a:ext uri="{FF2B5EF4-FFF2-40B4-BE49-F238E27FC236}">
                <a16:creationId xmlns:a16="http://schemas.microsoft.com/office/drawing/2014/main" id="{B25DDCFB-B31B-9441-A0A6-0ACFDC31396E}"/>
              </a:ext>
            </a:extLst>
          </p:cNvPr>
          <p:cNvSpPr txBox="1"/>
          <p:nvPr/>
        </p:nvSpPr>
        <p:spPr>
          <a:xfrm rot="18054908">
            <a:off x="5273812" y="3067646"/>
            <a:ext cx="1880762" cy="396583"/>
          </a:xfrm>
          <a:prstGeom prst="rect">
            <a:avLst/>
          </a:prstGeom>
          <a:noFill/>
        </p:spPr>
        <p:txBody>
          <a:bodyPr wrap="square" rtlCol="0">
            <a:spAutoFit/>
          </a:bodyPr>
          <a:lstStyle/>
          <a:p>
            <a:pPr algn="r"/>
            <a:r>
              <a:rPr lang="en-US" sz="1977" dirty="0"/>
              <a:t>Survival</a:t>
            </a:r>
          </a:p>
        </p:txBody>
      </p:sp>
      <p:sp>
        <p:nvSpPr>
          <p:cNvPr id="15" name="Right Brace 14"/>
          <p:cNvSpPr/>
          <p:nvPr/>
        </p:nvSpPr>
        <p:spPr>
          <a:xfrm rot="16200000">
            <a:off x="3337099" y="-613518"/>
            <a:ext cx="310346" cy="4338186"/>
          </a:xfrm>
          <a:prstGeom prst="rightBrace">
            <a:avLst>
              <a:gd name="adj1" fmla="val 37820"/>
              <a:gd name="adj2" fmla="val 50000"/>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350"/>
          </a:p>
        </p:txBody>
      </p:sp>
      <p:sp>
        <p:nvSpPr>
          <p:cNvPr id="3" name="TextBox 2"/>
          <p:cNvSpPr txBox="1"/>
          <p:nvPr/>
        </p:nvSpPr>
        <p:spPr>
          <a:xfrm>
            <a:off x="3262520" y="992758"/>
            <a:ext cx="506870" cy="369332"/>
          </a:xfrm>
          <a:prstGeom prst="rect">
            <a:avLst/>
          </a:prstGeom>
          <a:noFill/>
        </p:spPr>
        <p:txBody>
          <a:bodyPr wrap="none" rtlCol="0">
            <a:spAutoFit/>
          </a:bodyPr>
          <a:lstStyle/>
          <a:p>
            <a:r>
              <a:rPr lang="en-US" dirty="0">
                <a:solidFill>
                  <a:schemeClr val="accent2"/>
                </a:solidFill>
              </a:rPr>
              <a:t>???</a:t>
            </a:r>
          </a:p>
        </p:txBody>
      </p:sp>
    </p:spTree>
    <p:extLst>
      <p:ext uri="{BB962C8B-B14F-4D97-AF65-F5344CB8AC3E}">
        <p14:creationId xmlns:p14="http://schemas.microsoft.com/office/powerpoint/2010/main" val="229601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CC32AC06-632F-43A5-BCC3-B6853BF55ED1}"/>
              </a:ext>
            </a:extLst>
          </p:cNvPr>
          <p:cNvSpPr txBox="1"/>
          <p:nvPr/>
        </p:nvSpPr>
        <p:spPr>
          <a:xfrm>
            <a:off x="1014609" y="1293060"/>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1</a:t>
            </a:r>
            <a:endParaRPr lang="en-US" sz="2098" baseline="-25000" dirty="0">
              <a:latin typeface="Times New Roman" panose="02020603050405020304" pitchFamily="18" charset="0"/>
              <a:cs typeface="Times New Roman" panose="02020603050405020304" pitchFamily="18" charset="0"/>
            </a:endParaRPr>
          </a:p>
        </p:txBody>
      </p:sp>
      <p:sp>
        <p:nvSpPr>
          <p:cNvPr id="29" name="Title 28"/>
          <p:cNvSpPr>
            <a:spLocks noGrp="1"/>
          </p:cNvSpPr>
          <p:nvPr>
            <p:ph type="title"/>
          </p:nvPr>
        </p:nvSpPr>
        <p:spPr/>
        <p:txBody>
          <a:bodyPr>
            <a:normAutofit/>
          </a:bodyPr>
          <a:lstStyle/>
          <a:p>
            <a:r>
              <a:rPr lang="en-US" dirty="0"/>
              <a:t>Training Set (Historical Data)</a:t>
            </a:r>
          </a:p>
        </p:txBody>
      </p:sp>
      <p:pic>
        <p:nvPicPr>
          <p:cNvPr id="4" name="Picture 3">
            <a:extLst>
              <a:ext uri="{FF2B5EF4-FFF2-40B4-BE49-F238E27FC236}">
                <a16:creationId xmlns:a16="http://schemas.microsoft.com/office/drawing/2014/main" id="{DF949832-3210-E048-BCD9-B031071D27F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1504722" y="1355083"/>
            <a:ext cx="3241044" cy="330056"/>
          </a:xfrm>
          <a:prstGeom prst="rect">
            <a:avLst/>
          </a:prstGeom>
        </p:spPr>
      </p:pic>
      <p:pic>
        <p:nvPicPr>
          <p:cNvPr id="14" name="Picture 13">
            <a:extLst>
              <a:ext uri="{FF2B5EF4-FFF2-40B4-BE49-F238E27FC236}">
                <a16:creationId xmlns:a16="http://schemas.microsoft.com/office/drawing/2014/main" id="{D986E90C-0D83-5245-A5C5-1EA0D395D4C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1504722" y="3786386"/>
            <a:ext cx="3241044" cy="330056"/>
          </a:xfrm>
          <a:prstGeom prst="rect">
            <a:avLst/>
          </a:prstGeom>
        </p:spPr>
      </p:pic>
      <p:pic>
        <p:nvPicPr>
          <p:cNvPr id="15" name="Picture 14">
            <a:extLst>
              <a:ext uri="{FF2B5EF4-FFF2-40B4-BE49-F238E27FC236}">
                <a16:creationId xmlns:a16="http://schemas.microsoft.com/office/drawing/2014/main" id="{BA481802-9EF2-7E4E-95BD-7B89706DF55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1504722" y="3360250"/>
            <a:ext cx="3241044" cy="330056"/>
          </a:xfrm>
          <a:prstGeom prst="rect">
            <a:avLst/>
          </a:prstGeom>
        </p:spPr>
      </p:pic>
      <p:pic>
        <p:nvPicPr>
          <p:cNvPr id="16" name="Picture 15">
            <a:extLst>
              <a:ext uri="{FF2B5EF4-FFF2-40B4-BE49-F238E27FC236}">
                <a16:creationId xmlns:a16="http://schemas.microsoft.com/office/drawing/2014/main" id="{860D1EF4-59BA-2744-BF60-28D5DCCC75D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1504722" y="1781219"/>
            <a:ext cx="3241044" cy="330056"/>
          </a:xfrm>
          <a:prstGeom prst="rect">
            <a:avLst/>
          </a:prstGeom>
        </p:spPr>
      </p:pic>
      <p:pic>
        <p:nvPicPr>
          <p:cNvPr id="17" name="Picture 16">
            <a:extLst>
              <a:ext uri="{FF2B5EF4-FFF2-40B4-BE49-F238E27FC236}">
                <a16:creationId xmlns:a16="http://schemas.microsoft.com/office/drawing/2014/main" id="{E8B2ECE0-2C3F-F142-A668-C41BC037476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1504722" y="2207355"/>
            <a:ext cx="3241044" cy="330056"/>
          </a:xfrm>
          <a:prstGeom prst="rect">
            <a:avLst/>
          </a:prstGeom>
        </p:spPr>
      </p:pic>
      <p:pic>
        <p:nvPicPr>
          <p:cNvPr id="18" name="Picture 17">
            <a:extLst>
              <a:ext uri="{FF2B5EF4-FFF2-40B4-BE49-F238E27FC236}">
                <a16:creationId xmlns:a16="http://schemas.microsoft.com/office/drawing/2014/main" id="{2A742A57-DBB1-0049-BF70-A5B51379DA5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1504722" y="2633491"/>
            <a:ext cx="3241044" cy="330056"/>
          </a:xfrm>
          <a:prstGeom prst="rect">
            <a:avLst/>
          </a:prstGeom>
        </p:spPr>
      </p:pic>
      <p:sp>
        <p:nvSpPr>
          <p:cNvPr id="19" name="TextBox 18">
            <a:extLst>
              <a:ext uri="{FF2B5EF4-FFF2-40B4-BE49-F238E27FC236}">
                <a16:creationId xmlns:a16="http://schemas.microsoft.com/office/drawing/2014/main" id="{6E6BEB0E-7CAC-2C4B-BE3C-0FC7BB528639}"/>
              </a:ext>
            </a:extLst>
          </p:cNvPr>
          <p:cNvSpPr txBox="1"/>
          <p:nvPr/>
        </p:nvSpPr>
        <p:spPr>
          <a:xfrm>
            <a:off x="1014609" y="3298227"/>
            <a:ext cx="821448"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465AF3C1-3019-CB4E-975D-7C1DBF49BC61}"/>
              </a:ext>
            </a:extLst>
          </p:cNvPr>
          <p:cNvSpPr txBox="1"/>
          <p:nvPr/>
        </p:nvSpPr>
        <p:spPr>
          <a:xfrm>
            <a:off x="1014609" y="1719196"/>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2</a:t>
            </a:r>
            <a:endParaRPr lang="en-US" sz="2098" baseline="-250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6D1204DE-DCAD-3D42-A018-EE1A7FB7B342}"/>
              </a:ext>
            </a:extLst>
          </p:cNvPr>
          <p:cNvSpPr txBox="1"/>
          <p:nvPr/>
        </p:nvSpPr>
        <p:spPr>
          <a:xfrm>
            <a:off x="1014609" y="3724363"/>
            <a:ext cx="886762" cy="415178"/>
          </a:xfrm>
          <a:prstGeom prst="rect">
            <a:avLst/>
          </a:prstGeom>
          <a:noFill/>
        </p:spPr>
        <p:txBody>
          <a:bodyPr wrap="square" rtlCol="0">
            <a:spAutoFit/>
          </a:bodyPr>
          <a:lstStyle/>
          <a:p>
            <a:r>
              <a:rPr lang="en-US" sz="2098" i="1" dirty="0" err="1">
                <a:latin typeface="Times New Roman" panose="02020603050405020304" pitchFamily="18" charset="0"/>
                <a:cs typeface="Times New Roman" panose="02020603050405020304" pitchFamily="18" charset="0"/>
              </a:rPr>
              <a:t>x</a:t>
            </a:r>
            <a:r>
              <a:rPr lang="en-US" sz="2098" i="1" baseline="-25000" dirty="0" err="1">
                <a:latin typeface="Times New Roman" panose="02020603050405020304" pitchFamily="18" charset="0"/>
                <a:cs typeface="Times New Roman" panose="02020603050405020304" pitchFamily="18" charset="0"/>
              </a:rPr>
              <a:t>N</a:t>
            </a:r>
            <a:endParaRPr lang="en-US" sz="2098" baseline="-25000"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49241119-D9B5-5540-A9B7-A9E03ABEF578}"/>
              </a:ext>
            </a:extLst>
          </p:cNvPr>
          <p:cNvSpPr txBox="1"/>
          <p:nvPr/>
        </p:nvSpPr>
        <p:spPr>
          <a:xfrm>
            <a:off x="1014609" y="2571467"/>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4</a:t>
            </a:r>
            <a:endParaRPr lang="en-US" sz="2098" baseline="-250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C904E9F7-89B4-5949-8C3E-677A00A15AE0}"/>
              </a:ext>
            </a:extLst>
          </p:cNvPr>
          <p:cNvSpPr txBox="1"/>
          <p:nvPr/>
        </p:nvSpPr>
        <p:spPr>
          <a:xfrm>
            <a:off x="1014609" y="2145331"/>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3</a:t>
            </a:r>
            <a:endParaRPr lang="en-US" sz="2098" baseline="-250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2EC37B96-BC81-804B-8D34-24D748686457}"/>
              </a:ext>
            </a:extLst>
          </p:cNvPr>
          <p:cNvSpPr txBox="1"/>
          <p:nvPr/>
        </p:nvSpPr>
        <p:spPr>
          <a:xfrm>
            <a:off x="4839712" y="3724363"/>
            <a:ext cx="697488" cy="415178"/>
          </a:xfrm>
          <a:prstGeom prst="rect">
            <a:avLst/>
          </a:prstGeom>
          <a:noFill/>
        </p:spPr>
        <p:txBody>
          <a:bodyPr wrap="square" rtlCol="0">
            <a:spAutoFit/>
          </a:bodyPr>
          <a:lstStyle/>
          <a:p>
            <a:r>
              <a:rPr lang="en-US" sz="2098" i="1" dirty="0" err="1">
                <a:latin typeface="Times New Roman" panose="02020603050405020304" pitchFamily="18" charset="0"/>
                <a:cs typeface="Times New Roman" panose="02020603050405020304" pitchFamily="18" charset="0"/>
              </a:rPr>
              <a:t>y</a:t>
            </a:r>
            <a:r>
              <a:rPr lang="en-US" sz="2098" i="1" baseline="-25000" dirty="0" err="1">
                <a:latin typeface="Times New Roman" panose="02020603050405020304" pitchFamily="18" charset="0"/>
                <a:cs typeface="Times New Roman" panose="02020603050405020304" pitchFamily="18" charset="0"/>
              </a:rPr>
              <a:t>N</a:t>
            </a:r>
            <a:endParaRPr lang="en-US" sz="2098" baseline="-25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BD292AD3-4E90-F447-AE1D-6BE89D6DD9D4}"/>
              </a:ext>
            </a:extLst>
          </p:cNvPr>
          <p:cNvSpPr txBox="1"/>
          <p:nvPr/>
        </p:nvSpPr>
        <p:spPr>
          <a:xfrm>
            <a:off x="4839711" y="3298227"/>
            <a:ext cx="599717"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CB7E0F8B-C015-E04D-89EB-FCAB517F7AD5}"/>
              </a:ext>
            </a:extLst>
          </p:cNvPr>
          <p:cNvSpPr txBox="1"/>
          <p:nvPr/>
        </p:nvSpPr>
        <p:spPr>
          <a:xfrm>
            <a:off x="4839712" y="2571467"/>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4</a:t>
            </a:r>
            <a:endParaRPr lang="en-US" sz="2098" baseline="-25000"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9F1CEB7A-B8A9-584C-8BB0-06ED6BF0C714}"/>
              </a:ext>
            </a:extLst>
          </p:cNvPr>
          <p:cNvSpPr txBox="1"/>
          <p:nvPr/>
        </p:nvSpPr>
        <p:spPr>
          <a:xfrm>
            <a:off x="4839712" y="2145331"/>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3</a:t>
            </a:r>
            <a:endParaRPr lang="en-US" sz="2098" baseline="-2500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2BF836B4-2919-894E-9669-5B41DAA4075D}"/>
              </a:ext>
            </a:extLst>
          </p:cNvPr>
          <p:cNvSpPr txBox="1"/>
          <p:nvPr/>
        </p:nvSpPr>
        <p:spPr>
          <a:xfrm>
            <a:off x="4839712" y="1719196"/>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2</a:t>
            </a:r>
            <a:endParaRPr lang="en-US" sz="2098" baseline="-25000"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BD5008AA-189E-3942-9502-A1FB6B6DA029}"/>
              </a:ext>
            </a:extLst>
          </p:cNvPr>
          <p:cNvSpPr txBox="1"/>
          <p:nvPr/>
        </p:nvSpPr>
        <p:spPr>
          <a:xfrm>
            <a:off x="4839712" y="1293060"/>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1</a:t>
            </a:r>
            <a:endParaRPr lang="en-US" sz="2098" baseline="-25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7F7B0C2-A517-BB4D-BA95-F5FD1409712E}"/>
              </a:ext>
            </a:extLst>
          </p:cNvPr>
          <p:cNvSpPr txBox="1"/>
          <p:nvPr/>
        </p:nvSpPr>
        <p:spPr>
          <a:xfrm rot="5400000">
            <a:off x="2629397" y="2907983"/>
            <a:ext cx="423514" cy="507831"/>
          </a:xfrm>
          <a:prstGeom prst="rect">
            <a:avLst/>
          </a:prstGeom>
          <a:noFill/>
        </p:spPr>
        <p:txBody>
          <a:bodyPr wrap="none" rtlCol="0">
            <a:spAutoFit/>
          </a:bodyPr>
          <a:lstStyle/>
          <a:p>
            <a:r>
              <a:rPr lang="en-US" sz="2700" dirty="0"/>
              <a:t>…</a:t>
            </a:r>
          </a:p>
        </p:txBody>
      </p:sp>
      <p:sp>
        <p:nvSpPr>
          <p:cNvPr id="32" name="TextBox 31">
            <a:extLst>
              <a:ext uri="{FF2B5EF4-FFF2-40B4-BE49-F238E27FC236}">
                <a16:creationId xmlns:a16="http://schemas.microsoft.com/office/drawing/2014/main" id="{61EB7271-5058-8544-9697-2A0D44FF5656}"/>
              </a:ext>
            </a:extLst>
          </p:cNvPr>
          <p:cNvSpPr txBox="1"/>
          <p:nvPr/>
        </p:nvSpPr>
        <p:spPr>
          <a:xfrm rot="5400000">
            <a:off x="4456335" y="2914634"/>
            <a:ext cx="423514" cy="507831"/>
          </a:xfrm>
          <a:prstGeom prst="rect">
            <a:avLst/>
          </a:prstGeom>
          <a:noFill/>
        </p:spPr>
        <p:txBody>
          <a:bodyPr wrap="none" rtlCol="0">
            <a:spAutoFit/>
          </a:bodyPr>
          <a:lstStyle/>
          <a:p>
            <a:r>
              <a:rPr lang="en-US" sz="2700" dirty="0"/>
              <a:t>…</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3DDA1BC-33A6-0D48-846F-FEBC897DFCB8}"/>
                  </a:ext>
                </a:extLst>
              </p:cNvPr>
              <p:cNvSpPr txBox="1"/>
              <p:nvPr/>
            </p:nvSpPr>
            <p:spPr>
              <a:xfrm>
                <a:off x="5953300" y="1520111"/>
                <a:ext cx="2733500" cy="1005083"/>
              </a:xfrm>
              <a:prstGeom prst="rect">
                <a:avLst/>
              </a:prstGeom>
              <a:noFill/>
            </p:spPr>
            <p:txBody>
              <a:bodyPr wrap="square" rtlCol="0">
                <a:spAutoFit/>
              </a:bodyPr>
              <a:lstStyle/>
              <a:p>
                <a:r>
                  <a:rPr lang="en-US" sz="1977" dirty="0"/>
                  <a:t>Find an equation that predicts </a:t>
                </a:r>
                <a14:m>
                  <m:oMath xmlns:m="http://schemas.openxmlformats.org/officeDocument/2006/math">
                    <m:r>
                      <a:rPr lang="en-US" sz="1977" i="1" dirty="0">
                        <a:latin typeface="Cambria Math" panose="02040503050406030204" pitchFamily="18" charset="0"/>
                      </a:rPr>
                      <m:t>𝑦</m:t>
                    </m:r>
                  </m:oMath>
                </a14:m>
                <a:r>
                  <a:rPr lang="en-US" sz="1977" dirty="0"/>
                  <a:t> based on </a:t>
                </a:r>
                <a14:m>
                  <m:oMath xmlns:m="http://schemas.openxmlformats.org/officeDocument/2006/math">
                    <m:r>
                      <a:rPr lang="en-US" sz="1977" i="1" dirty="0">
                        <a:latin typeface="Cambria Math" panose="02040503050406030204" pitchFamily="18" charset="0"/>
                      </a:rPr>
                      <m:t>𝑥</m:t>
                    </m:r>
                  </m:oMath>
                </a14:m>
                <a:r>
                  <a:rPr lang="en-US" sz="1977" dirty="0"/>
                  <a:t> across the training set</a:t>
                </a:r>
              </a:p>
            </p:txBody>
          </p:sp>
        </mc:Choice>
        <mc:Fallback xmlns="">
          <p:sp>
            <p:nvSpPr>
              <p:cNvPr id="36" name="TextBox 35">
                <a:extLst>
                  <a:ext uri="{FF2B5EF4-FFF2-40B4-BE49-F238E27FC236}">
                    <a16:creationId xmlns:a16="http://schemas.microsoft.com/office/drawing/2014/main" id="{F3DDA1BC-33A6-0D48-846F-FEBC897DFCB8}"/>
                  </a:ext>
                </a:extLst>
              </p:cNvPr>
              <p:cNvSpPr txBox="1">
                <a:spLocks noRot="1" noChangeAspect="1" noMove="1" noResize="1" noEditPoints="1" noAdjustHandles="1" noChangeArrowheads="1" noChangeShapeType="1" noTextEdit="1"/>
              </p:cNvSpPr>
              <p:nvPr/>
            </p:nvSpPr>
            <p:spPr>
              <a:xfrm>
                <a:off x="5953300" y="1520111"/>
                <a:ext cx="2733500" cy="1005083"/>
              </a:xfrm>
              <a:prstGeom prst="rect">
                <a:avLst/>
              </a:prstGeom>
              <a:blipFill>
                <a:blip r:embed="rId4"/>
                <a:stretch>
                  <a:fillRect l="-2315" t="-2500" b="-10000"/>
                </a:stretch>
              </a:blipFill>
            </p:spPr>
            <p:txBody>
              <a:bodyPr/>
              <a:lstStyle/>
              <a:p>
                <a:r>
                  <a:rPr lang="en-US">
                    <a:noFill/>
                  </a:rPr>
                  <a:t> </a:t>
                </a:r>
              </a:p>
            </p:txBody>
          </p:sp>
        </mc:Fallback>
      </mc:AlternateContent>
    </p:spTree>
    <p:extLst>
      <p:ext uri="{BB962C8B-B14F-4D97-AF65-F5344CB8AC3E}">
        <p14:creationId xmlns:p14="http://schemas.microsoft.com/office/powerpoint/2010/main" val="3470184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CC32AC06-632F-43A5-BCC3-B6853BF55ED1}"/>
              </a:ext>
            </a:extLst>
          </p:cNvPr>
          <p:cNvSpPr txBox="1"/>
          <p:nvPr/>
        </p:nvSpPr>
        <p:spPr>
          <a:xfrm>
            <a:off x="1014609" y="1067592"/>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1</a:t>
            </a:r>
            <a:endParaRPr lang="en-US" sz="2098" baseline="-25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89DB9E1-43B6-E249-9D75-E82D12E3759D}"/>
                  </a:ext>
                </a:extLst>
              </p:cNvPr>
              <p:cNvSpPr txBox="1"/>
              <p:nvPr/>
            </p:nvSpPr>
            <p:spPr>
              <a:xfrm>
                <a:off x="5953300" y="1520111"/>
                <a:ext cx="2801594" cy="3134833"/>
              </a:xfrm>
              <a:prstGeom prst="rect">
                <a:avLst/>
              </a:prstGeom>
              <a:noFill/>
            </p:spPr>
            <p:txBody>
              <a:bodyPr wrap="square" rtlCol="0">
                <a:spAutoFit/>
              </a:bodyPr>
              <a:lstStyle/>
              <a:p>
                <a:r>
                  <a:rPr lang="en-US" sz="1977" dirty="0"/>
                  <a:t>Find an equation that predicts </a:t>
                </a:r>
                <a14:m>
                  <m:oMath xmlns:m="http://schemas.openxmlformats.org/officeDocument/2006/math">
                    <m:r>
                      <a:rPr lang="en-US" sz="1977" i="1" dirty="0">
                        <a:latin typeface="Cambria Math" panose="02040503050406030204" pitchFamily="18" charset="0"/>
                      </a:rPr>
                      <m:t>𝑦</m:t>
                    </m:r>
                  </m:oMath>
                </a14:m>
                <a:r>
                  <a:rPr lang="en-US" sz="1977" dirty="0"/>
                  <a:t> based on </a:t>
                </a:r>
                <a14:m>
                  <m:oMath xmlns:m="http://schemas.openxmlformats.org/officeDocument/2006/math">
                    <m:r>
                      <a:rPr lang="en-US" sz="1977" i="1" dirty="0">
                        <a:latin typeface="Cambria Math" panose="02040503050406030204" pitchFamily="18" charset="0"/>
                      </a:rPr>
                      <m:t>𝑥</m:t>
                    </m:r>
                  </m:oMath>
                </a14:m>
                <a:r>
                  <a:rPr lang="en-US" sz="1977" dirty="0"/>
                  <a:t> across the training set</a:t>
                </a:r>
              </a:p>
              <a:p>
                <a:endParaRPr lang="en-US" sz="1977" dirty="0"/>
              </a:p>
              <a:p>
                <a:endParaRPr lang="en-US" sz="1977" dirty="0"/>
              </a:p>
              <a:p>
                <a:endParaRPr lang="en-US" sz="1977" dirty="0"/>
              </a:p>
              <a:p>
                <a:endParaRPr lang="en-US" sz="1977" dirty="0"/>
              </a:p>
              <a:p>
                <a:endParaRPr lang="en-US" sz="1977" dirty="0"/>
              </a:p>
              <a:p>
                <a:endParaRPr lang="en-US" sz="1977" dirty="0"/>
              </a:p>
              <a:p>
                <a:r>
                  <a:rPr lang="en-US" sz="1977" dirty="0"/>
                  <a:t>&lt;- Learn to predict new </a:t>
                </a:r>
                <a14:m>
                  <m:oMath xmlns:m="http://schemas.openxmlformats.org/officeDocument/2006/math">
                    <m:r>
                      <a:rPr lang="en-US" sz="1977" i="1" dirty="0">
                        <a:latin typeface="Cambria Math" panose="02040503050406030204" pitchFamily="18" charset="0"/>
                      </a:rPr>
                      <m:t>𝑦</m:t>
                    </m:r>
                  </m:oMath>
                </a14:m>
                <a:endParaRPr lang="en-US" sz="1977" dirty="0"/>
              </a:p>
            </p:txBody>
          </p:sp>
        </mc:Choice>
        <mc:Fallback xmlns="">
          <p:sp>
            <p:nvSpPr>
              <p:cNvPr id="2" name="TextBox 1">
                <a:extLst>
                  <a:ext uri="{FF2B5EF4-FFF2-40B4-BE49-F238E27FC236}">
                    <a16:creationId xmlns:a16="http://schemas.microsoft.com/office/drawing/2014/main" id="{A89DB9E1-43B6-E249-9D75-E82D12E3759D}"/>
                  </a:ext>
                </a:extLst>
              </p:cNvPr>
              <p:cNvSpPr txBox="1">
                <a:spLocks noRot="1" noChangeAspect="1" noMove="1" noResize="1" noEditPoints="1" noAdjustHandles="1" noChangeArrowheads="1" noChangeShapeType="1" noTextEdit="1"/>
              </p:cNvSpPr>
              <p:nvPr/>
            </p:nvSpPr>
            <p:spPr>
              <a:xfrm>
                <a:off x="5953300" y="1520111"/>
                <a:ext cx="2801594" cy="3134833"/>
              </a:xfrm>
              <a:prstGeom prst="rect">
                <a:avLst/>
              </a:prstGeom>
              <a:blipFill>
                <a:blip r:embed="rId3"/>
                <a:stretch>
                  <a:fillRect l="-2252" t="-806" b="-2419"/>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DF949832-3210-E048-BCD9-B031071D27F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flipV="1">
            <a:off x="1504722" y="1129615"/>
            <a:ext cx="3241044" cy="330056"/>
          </a:xfrm>
          <a:prstGeom prst="rect">
            <a:avLst/>
          </a:prstGeom>
        </p:spPr>
      </p:pic>
      <p:pic>
        <p:nvPicPr>
          <p:cNvPr id="14" name="Picture 13">
            <a:extLst>
              <a:ext uri="{FF2B5EF4-FFF2-40B4-BE49-F238E27FC236}">
                <a16:creationId xmlns:a16="http://schemas.microsoft.com/office/drawing/2014/main" id="{D986E90C-0D83-5245-A5C5-1EA0D395D4C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flipV="1">
            <a:off x="1504722" y="3560918"/>
            <a:ext cx="3241044" cy="330056"/>
          </a:xfrm>
          <a:prstGeom prst="rect">
            <a:avLst/>
          </a:prstGeom>
        </p:spPr>
      </p:pic>
      <p:pic>
        <p:nvPicPr>
          <p:cNvPr id="15" name="Picture 14">
            <a:extLst>
              <a:ext uri="{FF2B5EF4-FFF2-40B4-BE49-F238E27FC236}">
                <a16:creationId xmlns:a16="http://schemas.microsoft.com/office/drawing/2014/main" id="{BA481802-9EF2-7E4E-95BD-7B89706DF55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flipV="1">
            <a:off x="1504722" y="3134782"/>
            <a:ext cx="3241044" cy="330056"/>
          </a:xfrm>
          <a:prstGeom prst="rect">
            <a:avLst/>
          </a:prstGeom>
        </p:spPr>
      </p:pic>
      <p:pic>
        <p:nvPicPr>
          <p:cNvPr id="16" name="Picture 15">
            <a:extLst>
              <a:ext uri="{FF2B5EF4-FFF2-40B4-BE49-F238E27FC236}">
                <a16:creationId xmlns:a16="http://schemas.microsoft.com/office/drawing/2014/main" id="{860D1EF4-59BA-2744-BF60-28D5DCCC75D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flipV="1">
            <a:off x="1504722" y="1555751"/>
            <a:ext cx="3241044" cy="330056"/>
          </a:xfrm>
          <a:prstGeom prst="rect">
            <a:avLst/>
          </a:prstGeom>
        </p:spPr>
      </p:pic>
      <p:pic>
        <p:nvPicPr>
          <p:cNvPr id="17" name="Picture 16">
            <a:extLst>
              <a:ext uri="{FF2B5EF4-FFF2-40B4-BE49-F238E27FC236}">
                <a16:creationId xmlns:a16="http://schemas.microsoft.com/office/drawing/2014/main" id="{E8B2ECE0-2C3F-F142-A668-C41BC037476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flipV="1">
            <a:off x="1504722" y="1981887"/>
            <a:ext cx="3241044" cy="330056"/>
          </a:xfrm>
          <a:prstGeom prst="rect">
            <a:avLst/>
          </a:prstGeom>
        </p:spPr>
      </p:pic>
      <p:pic>
        <p:nvPicPr>
          <p:cNvPr id="18" name="Picture 17">
            <a:extLst>
              <a:ext uri="{FF2B5EF4-FFF2-40B4-BE49-F238E27FC236}">
                <a16:creationId xmlns:a16="http://schemas.microsoft.com/office/drawing/2014/main" id="{2A742A57-DBB1-0049-BF70-A5B51379DA5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flipV="1">
            <a:off x="1504722" y="2408023"/>
            <a:ext cx="3241044" cy="330056"/>
          </a:xfrm>
          <a:prstGeom prst="rect">
            <a:avLst/>
          </a:prstGeom>
        </p:spPr>
      </p:pic>
      <p:sp>
        <p:nvSpPr>
          <p:cNvPr id="19" name="TextBox 18">
            <a:extLst>
              <a:ext uri="{FF2B5EF4-FFF2-40B4-BE49-F238E27FC236}">
                <a16:creationId xmlns:a16="http://schemas.microsoft.com/office/drawing/2014/main" id="{6E6BEB0E-7CAC-2C4B-BE3C-0FC7BB528639}"/>
              </a:ext>
            </a:extLst>
          </p:cNvPr>
          <p:cNvSpPr txBox="1"/>
          <p:nvPr/>
        </p:nvSpPr>
        <p:spPr>
          <a:xfrm>
            <a:off x="1014609" y="3072759"/>
            <a:ext cx="654534"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465AF3C1-3019-CB4E-975D-7C1DBF49BC61}"/>
              </a:ext>
            </a:extLst>
          </p:cNvPr>
          <p:cNvSpPr txBox="1"/>
          <p:nvPr/>
        </p:nvSpPr>
        <p:spPr>
          <a:xfrm>
            <a:off x="1014609" y="1493728"/>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2</a:t>
            </a:r>
            <a:endParaRPr lang="en-US" sz="2098" baseline="-250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6D1204DE-DCAD-3D42-A018-EE1A7FB7B342}"/>
              </a:ext>
            </a:extLst>
          </p:cNvPr>
          <p:cNvSpPr txBox="1"/>
          <p:nvPr/>
        </p:nvSpPr>
        <p:spPr>
          <a:xfrm>
            <a:off x="1014609" y="3498895"/>
            <a:ext cx="686354" cy="415178"/>
          </a:xfrm>
          <a:prstGeom prst="rect">
            <a:avLst/>
          </a:prstGeom>
          <a:noFill/>
        </p:spPr>
        <p:txBody>
          <a:bodyPr wrap="square" rtlCol="0">
            <a:spAutoFit/>
          </a:bodyPr>
          <a:lstStyle/>
          <a:p>
            <a:r>
              <a:rPr lang="en-US" sz="2098" i="1" dirty="0" err="1">
                <a:latin typeface="Times New Roman" panose="02020603050405020304" pitchFamily="18" charset="0"/>
                <a:cs typeface="Times New Roman" panose="02020603050405020304" pitchFamily="18" charset="0"/>
              </a:rPr>
              <a:t>x</a:t>
            </a:r>
            <a:r>
              <a:rPr lang="en-US" sz="2098" i="1" baseline="-25000" dirty="0" err="1">
                <a:latin typeface="Times New Roman" panose="02020603050405020304" pitchFamily="18" charset="0"/>
                <a:cs typeface="Times New Roman" panose="02020603050405020304" pitchFamily="18" charset="0"/>
              </a:rPr>
              <a:t>N</a:t>
            </a:r>
            <a:endParaRPr lang="en-US" sz="2098" baseline="-25000"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49241119-D9B5-5540-A9B7-A9E03ABEF578}"/>
              </a:ext>
            </a:extLst>
          </p:cNvPr>
          <p:cNvSpPr txBox="1"/>
          <p:nvPr/>
        </p:nvSpPr>
        <p:spPr>
          <a:xfrm>
            <a:off x="1014609" y="2345999"/>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4</a:t>
            </a:r>
            <a:endParaRPr lang="en-US" sz="2098" baseline="-250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C904E9F7-89B4-5949-8C3E-677A00A15AE0}"/>
              </a:ext>
            </a:extLst>
          </p:cNvPr>
          <p:cNvSpPr txBox="1"/>
          <p:nvPr/>
        </p:nvSpPr>
        <p:spPr>
          <a:xfrm>
            <a:off x="1014609" y="1919863"/>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3</a:t>
            </a:r>
            <a:endParaRPr lang="en-US" sz="2098" baseline="-250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2EC37B96-BC81-804B-8D34-24D748686457}"/>
              </a:ext>
            </a:extLst>
          </p:cNvPr>
          <p:cNvSpPr txBox="1"/>
          <p:nvPr/>
        </p:nvSpPr>
        <p:spPr>
          <a:xfrm>
            <a:off x="4839712" y="3498895"/>
            <a:ext cx="545088" cy="415178"/>
          </a:xfrm>
          <a:prstGeom prst="rect">
            <a:avLst/>
          </a:prstGeom>
          <a:noFill/>
        </p:spPr>
        <p:txBody>
          <a:bodyPr wrap="square" rtlCol="0">
            <a:spAutoFit/>
          </a:bodyPr>
          <a:lstStyle/>
          <a:p>
            <a:r>
              <a:rPr lang="en-US" sz="2098" i="1" dirty="0" err="1">
                <a:latin typeface="Times New Roman" panose="02020603050405020304" pitchFamily="18" charset="0"/>
                <a:cs typeface="Times New Roman" panose="02020603050405020304" pitchFamily="18" charset="0"/>
              </a:rPr>
              <a:t>y</a:t>
            </a:r>
            <a:r>
              <a:rPr lang="en-US" sz="2098" i="1" baseline="-25000" dirty="0" err="1">
                <a:latin typeface="Times New Roman" panose="02020603050405020304" pitchFamily="18" charset="0"/>
                <a:cs typeface="Times New Roman" panose="02020603050405020304" pitchFamily="18" charset="0"/>
              </a:rPr>
              <a:t>N</a:t>
            </a:r>
            <a:endParaRPr lang="en-US" sz="2098" baseline="-25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BD292AD3-4E90-F447-AE1D-6BE89D6DD9D4}"/>
              </a:ext>
            </a:extLst>
          </p:cNvPr>
          <p:cNvSpPr txBox="1"/>
          <p:nvPr/>
        </p:nvSpPr>
        <p:spPr>
          <a:xfrm>
            <a:off x="4839711" y="3072759"/>
            <a:ext cx="599717"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CB7E0F8B-C015-E04D-89EB-FCAB517F7AD5}"/>
              </a:ext>
            </a:extLst>
          </p:cNvPr>
          <p:cNvSpPr txBox="1"/>
          <p:nvPr/>
        </p:nvSpPr>
        <p:spPr>
          <a:xfrm>
            <a:off x="4839712" y="2345999"/>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4</a:t>
            </a:r>
            <a:endParaRPr lang="en-US" sz="2098" baseline="-25000"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9F1CEB7A-B8A9-584C-8BB0-06ED6BF0C714}"/>
              </a:ext>
            </a:extLst>
          </p:cNvPr>
          <p:cNvSpPr txBox="1"/>
          <p:nvPr/>
        </p:nvSpPr>
        <p:spPr>
          <a:xfrm>
            <a:off x="4839712" y="1919863"/>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3</a:t>
            </a:r>
            <a:endParaRPr lang="en-US" sz="2098" baseline="-2500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2BF836B4-2919-894E-9669-5B41DAA4075D}"/>
              </a:ext>
            </a:extLst>
          </p:cNvPr>
          <p:cNvSpPr txBox="1"/>
          <p:nvPr/>
        </p:nvSpPr>
        <p:spPr>
          <a:xfrm>
            <a:off x="4839712" y="1493728"/>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2</a:t>
            </a:r>
            <a:endParaRPr lang="en-US" sz="2098" baseline="-25000"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BD5008AA-189E-3942-9502-A1FB6B6DA029}"/>
              </a:ext>
            </a:extLst>
          </p:cNvPr>
          <p:cNvSpPr txBox="1"/>
          <p:nvPr/>
        </p:nvSpPr>
        <p:spPr>
          <a:xfrm>
            <a:off x="4839712" y="1067592"/>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1</a:t>
            </a:r>
            <a:endParaRPr lang="en-US" sz="2098" baseline="-25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7F7B0C2-A517-BB4D-BA95-F5FD1409712E}"/>
              </a:ext>
            </a:extLst>
          </p:cNvPr>
          <p:cNvSpPr txBox="1"/>
          <p:nvPr/>
        </p:nvSpPr>
        <p:spPr>
          <a:xfrm rot="5400000">
            <a:off x="2629397" y="2682515"/>
            <a:ext cx="423514" cy="507831"/>
          </a:xfrm>
          <a:prstGeom prst="rect">
            <a:avLst/>
          </a:prstGeom>
          <a:noFill/>
        </p:spPr>
        <p:txBody>
          <a:bodyPr wrap="none" rtlCol="0">
            <a:spAutoFit/>
          </a:bodyPr>
          <a:lstStyle/>
          <a:p>
            <a:r>
              <a:rPr lang="en-US" sz="2700" dirty="0"/>
              <a:t>…</a:t>
            </a:r>
          </a:p>
        </p:txBody>
      </p:sp>
      <p:sp>
        <p:nvSpPr>
          <p:cNvPr id="32" name="TextBox 31">
            <a:extLst>
              <a:ext uri="{FF2B5EF4-FFF2-40B4-BE49-F238E27FC236}">
                <a16:creationId xmlns:a16="http://schemas.microsoft.com/office/drawing/2014/main" id="{61EB7271-5058-8544-9697-2A0D44FF5656}"/>
              </a:ext>
            </a:extLst>
          </p:cNvPr>
          <p:cNvSpPr txBox="1"/>
          <p:nvPr/>
        </p:nvSpPr>
        <p:spPr>
          <a:xfrm rot="5400000">
            <a:off x="4456335" y="2689166"/>
            <a:ext cx="423514" cy="507831"/>
          </a:xfrm>
          <a:prstGeom prst="rect">
            <a:avLst/>
          </a:prstGeom>
          <a:noFill/>
        </p:spPr>
        <p:txBody>
          <a:bodyPr wrap="none" rtlCol="0">
            <a:spAutoFit/>
          </a:bodyPr>
          <a:lstStyle/>
          <a:p>
            <a:r>
              <a:rPr lang="en-US" sz="2700" dirty="0"/>
              <a:t>…</a:t>
            </a:r>
          </a:p>
        </p:txBody>
      </p:sp>
      <mc:AlternateContent xmlns:mc="http://schemas.openxmlformats.org/markup-compatibility/2006" xmlns:a14="http://schemas.microsoft.com/office/drawing/2010/main">
        <mc:Choice Requires="a14">
          <p:sp>
            <p:nvSpPr>
              <p:cNvPr id="27" name="Title 28">
                <a:extLst>
                  <a:ext uri="{FF2B5EF4-FFF2-40B4-BE49-F238E27FC236}">
                    <a16:creationId xmlns:a16="http://schemas.microsoft.com/office/drawing/2014/main" id="{AA5FECB6-0AC9-5941-8372-FA5CAE748FF4}"/>
                  </a:ext>
                </a:extLst>
              </p:cNvPr>
              <p:cNvSpPr>
                <a:spLocks noGrp="1"/>
              </p:cNvSpPr>
              <p:nvPr>
                <p:ph type="title"/>
              </p:nvPr>
            </p:nvSpPr>
            <p:spPr>
              <a:xfrm>
                <a:off x="457200" y="205979"/>
                <a:ext cx="8229600" cy="857250"/>
              </a:xfrm>
            </p:spPr>
            <p:txBody>
              <a:bodyPr>
                <a:normAutofit/>
              </a:bodyPr>
              <a:lstStyle/>
              <a:p>
                <a:r>
                  <a:rPr lang="en-US" dirty="0"/>
                  <a:t>Making Predictions for New </a:t>
                </a:r>
                <a14:m>
                  <m:oMath xmlns:m="http://schemas.openxmlformats.org/officeDocument/2006/math">
                    <m:r>
                      <a:rPr lang="en-US" i="1" dirty="0" smtClean="0">
                        <a:latin typeface="Cambria Math" panose="02040503050406030204" pitchFamily="18" charset="0"/>
                      </a:rPr>
                      <m:t>𝑥</m:t>
                    </m:r>
                  </m:oMath>
                </a14:m>
                <a:endParaRPr lang="en-US" dirty="0"/>
              </a:p>
            </p:txBody>
          </p:sp>
        </mc:Choice>
        <mc:Fallback xmlns="">
          <p:sp>
            <p:nvSpPr>
              <p:cNvPr id="27" name="Title 28">
                <a:extLst>
                  <a:ext uri="{FF2B5EF4-FFF2-40B4-BE49-F238E27FC236}">
                    <a16:creationId xmlns:a16="http://schemas.microsoft.com/office/drawing/2014/main" id="{AA5FECB6-0AC9-5941-8372-FA5CAE748FF4}"/>
                  </a:ext>
                </a:extLst>
              </p:cNvPr>
              <p:cNvSpPr>
                <a:spLocks noGrp="1" noRot="1" noChangeAspect="1" noMove="1" noResize="1" noEditPoints="1" noAdjustHandles="1" noChangeArrowheads="1" noChangeShapeType="1" noTextEdit="1"/>
              </p:cNvSpPr>
              <p:nvPr>
                <p:ph type="title"/>
              </p:nvPr>
            </p:nvSpPr>
            <p:spPr>
              <a:xfrm>
                <a:off x="457200" y="205979"/>
                <a:ext cx="8229600" cy="857250"/>
              </a:xfrm>
              <a:blipFill>
                <a:blip r:embed="rId5"/>
                <a:stretch>
                  <a:fillRect l="-2006" t="-16176"/>
                </a:stretch>
              </a:blipFill>
            </p:spPr>
            <p:txBody>
              <a:bodyPr/>
              <a:lstStyle/>
              <a:p>
                <a:r>
                  <a:rPr lang="en-US">
                    <a:noFill/>
                  </a:rPr>
                  <a:t> </a:t>
                </a:r>
              </a:p>
            </p:txBody>
          </p:sp>
        </mc:Fallback>
      </mc:AlternateContent>
      <p:pic>
        <p:nvPicPr>
          <p:cNvPr id="33" name="Picture 32">
            <a:extLst>
              <a:ext uri="{FF2B5EF4-FFF2-40B4-BE49-F238E27FC236}">
                <a16:creationId xmlns:a16="http://schemas.microsoft.com/office/drawing/2014/main" id="{54151142-EC40-B844-9BD4-5BB502118E8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flipV="1">
            <a:off x="1504722" y="4268280"/>
            <a:ext cx="3241044" cy="330056"/>
          </a:xfrm>
          <a:prstGeom prst="rect">
            <a:avLst/>
          </a:prstGeom>
        </p:spPr>
      </p:pic>
      <p:sp>
        <p:nvSpPr>
          <p:cNvPr id="34" name="TextBox 33">
            <a:extLst>
              <a:ext uri="{FF2B5EF4-FFF2-40B4-BE49-F238E27FC236}">
                <a16:creationId xmlns:a16="http://schemas.microsoft.com/office/drawing/2014/main" id="{791F0AF4-9E4E-2442-8A67-44BD0BC3EABF}"/>
              </a:ext>
            </a:extLst>
          </p:cNvPr>
          <p:cNvSpPr txBox="1"/>
          <p:nvPr/>
        </p:nvSpPr>
        <p:spPr>
          <a:xfrm>
            <a:off x="982789" y="4206256"/>
            <a:ext cx="686354"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3B9BDD1C-3CC2-FC46-942A-54E15F48CE28}"/>
              </a:ext>
            </a:extLst>
          </p:cNvPr>
          <p:cNvSpPr txBox="1"/>
          <p:nvPr/>
        </p:nvSpPr>
        <p:spPr>
          <a:xfrm>
            <a:off x="4839711" y="4206256"/>
            <a:ext cx="686354"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2D8C2377-E4E5-0A4A-B2B6-8716D5AAF77E}"/>
              </a:ext>
            </a:extLst>
          </p:cNvPr>
          <p:cNvCxnSpPr/>
          <p:nvPr/>
        </p:nvCxnSpPr>
        <p:spPr>
          <a:xfrm>
            <a:off x="541751" y="4058433"/>
            <a:ext cx="5245274"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898307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F5A9C0F-C73E-5044-BA14-46B00A07B47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58629" y="962172"/>
            <a:ext cx="3595133" cy="1912610"/>
          </a:xfrm>
          <a:prstGeom prst="rect">
            <a:avLst/>
          </a:prstGeom>
        </p:spPr>
      </p:pic>
      <p:pic>
        <p:nvPicPr>
          <p:cNvPr id="5" name="Picture 4">
            <a:extLst>
              <a:ext uri="{FF2B5EF4-FFF2-40B4-BE49-F238E27FC236}">
                <a16:creationId xmlns:a16="http://schemas.microsoft.com/office/drawing/2014/main" id="{9AD5F0AE-E388-7445-B1D8-1105038B331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57955" y="1089129"/>
            <a:ext cx="3020255" cy="2011490"/>
          </a:xfrm>
          <a:prstGeom prst="rect">
            <a:avLst/>
          </a:prstGeom>
        </p:spPr>
      </p:pic>
      <p:sp>
        <p:nvSpPr>
          <p:cNvPr id="7" name="Rectangle 6">
            <a:extLst>
              <a:ext uri="{FF2B5EF4-FFF2-40B4-BE49-F238E27FC236}">
                <a16:creationId xmlns:a16="http://schemas.microsoft.com/office/drawing/2014/main" id="{6D48AE61-F0ED-384B-9E2C-BD7F3C5A231F}"/>
              </a:ext>
            </a:extLst>
          </p:cNvPr>
          <p:cNvSpPr/>
          <p:nvPr/>
        </p:nvSpPr>
        <p:spPr>
          <a:xfrm>
            <a:off x="7252865" y="2846704"/>
            <a:ext cx="1778820" cy="276999"/>
          </a:xfrm>
          <a:prstGeom prst="rect">
            <a:avLst/>
          </a:prstGeom>
        </p:spPr>
        <p:txBody>
          <a:bodyPr wrap="none">
            <a:spAutoFit/>
          </a:bodyPr>
          <a:lstStyle/>
          <a:p>
            <a:r>
              <a:rPr lang="en-US" sz="1200" dirty="0"/>
              <a:t>https://</a:t>
            </a:r>
            <a:r>
              <a:rPr lang="en-US" sz="1200" dirty="0" err="1"/>
              <a:t>www.praekelt.org</a:t>
            </a:r>
            <a:endParaRPr lang="en-US" sz="1200" dirty="0"/>
          </a:p>
        </p:txBody>
      </p:sp>
      <p:sp>
        <p:nvSpPr>
          <p:cNvPr id="8" name="TextBox 7"/>
          <p:cNvSpPr txBox="1"/>
          <p:nvPr/>
        </p:nvSpPr>
        <p:spPr>
          <a:xfrm>
            <a:off x="1115077" y="3890430"/>
            <a:ext cx="6913846" cy="830997"/>
          </a:xfrm>
          <a:prstGeom prst="rect">
            <a:avLst/>
          </a:prstGeom>
          <a:noFill/>
        </p:spPr>
        <p:txBody>
          <a:bodyPr wrap="square" rtlCol="0">
            <a:spAutoFit/>
          </a:bodyPr>
          <a:lstStyle/>
          <a:p>
            <a:pPr algn="ctr"/>
            <a:r>
              <a:rPr lang="en-US" sz="2400" dirty="0">
                <a:solidFill>
                  <a:srgbClr val="FF0000"/>
                </a:solidFill>
              </a:rPr>
              <a:t>Can we use a standard predictive model </a:t>
            </a:r>
          </a:p>
          <a:p>
            <a:pPr algn="ctr"/>
            <a:r>
              <a:rPr lang="en-US" sz="2400" dirty="0">
                <a:solidFill>
                  <a:srgbClr val="FF0000"/>
                </a:solidFill>
              </a:rPr>
              <a:t>setup to solve this problem?</a:t>
            </a:r>
          </a:p>
        </p:txBody>
      </p:sp>
      <p:sp>
        <p:nvSpPr>
          <p:cNvPr id="9" name="Title 1">
            <a:extLst>
              <a:ext uri="{FF2B5EF4-FFF2-40B4-BE49-F238E27FC236}">
                <a16:creationId xmlns:a16="http://schemas.microsoft.com/office/drawing/2014/main" id="{0F7E80F5-613B-C741-B35C-653641E4E56A}"/>
              </a:ext>
            </a:extLst>
          </p:cNvPr>
          <p:cNvSpPr>
            <a:spLocks noGrp="1"/>
          </p:cNvSpPr>
          <p:nvPr>
            <p:ph type="title"/>
          </p:nvPr>
        </p:nvSpPr>
        <p:spPr>
          <a:xfrm>
            <a:off x="139336" y="104743"/>
            <a:ext cx="9004663" cy="552875"/>
          </a:xfrm>
        </p:spPr>
        <p:txBody>
          <a:bodyPr>
            <a:normAutofit/>
          </a:bodyPr>
          <a:lstStyle/>
          <a:p>
            <a:r>
              <a:rPr lang="en-US" dirty="0"/>
              <a:t>Case Study: SMS Triage for Global Maternal Health</a:t>
            </a:r>
          </a:p>
        </p:txBody>
      </p:sp>
    </p:spTree>
    <p:extLst>
      <p:ext uri="{BB962C8B-B14F-4D97-AF65-F5344CB8AC3E}">
        <p14:creationId xmlns:p14="http://schemas.microsoft.com/office/powerpoint/2010/main" val="2663149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949832-3210-E048-BCD9-B031071D27F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2302821" y="1156794"/>
            <a:ext cx="3241044" cy="330056"/>
          </a:xfrm>
          <a:prstGeom prst="rect">
            <a:avLst/>
          </a:prstGeom>
        </p:spPr>
      </p:pic>
      <p:pic>
        <p:nvPicPr>
          <p:cNvPr id="14" name="Picture 13">
            <a:extLst>
              <a:ext uri="{FF2B5EF4-FFF2-40B4-BE49-F238E27FC236}">
                <a16:creationId xmlns:a16="http://schemas.microsoft.com/office/drawing/2014/main" id="{D986E90C-0D83-5245-A5C5-1EA0D395D4C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2302821" y="3588097"/>
            <a:ext cx="3241044" cy="330056"/>
          </a:xfrm>
          <a:prstGeom prst="rect">
            <a:avLst/>
          </a:prstGeom>
        </p:spPr>
      </p:pic>
      <p:pic>
        <p:nvPicPr>
          <p:cNvPr id="15" name="Picture 14">
            <a:extLst>
              <a:ext uri="{FF2B5EF4-FFF2-40B4-BE49-F238E27FC236}">
                <a16:creationId xmlns:a16="http://schemas.microsoft.com/office/drawing/2014/main" id="{BA481802-9EF2-7E4E-95BD-7B89706DF55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2302821" y="3161961"/>
            <a:ext cx="3241044" cy="330056"/>
          </a:xfrm>
          <a:prstGeom prst="rect">
            <a:avLst/>
          </a:prstGeom>
        </p:spPr>
      </p:pic>
      <p:pic>
        <p:nvPicPr>
          <p:cNvPr id="16" name="Picture 15">
            <a:extLst>
              <a:ext uri="{FF2B5EF4-FFF2-40B4-BE49-F238E27FC236}">
                <a16:creationId xmlns:a16="http://schemas.microsoft.com/office/drawing/2014/main" id="{860D1EF4-59BA-2744-BF60-28D5DCCC75D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2302821" y="1582930"/>
            <a:ext cx="3241044" cy="330056"/>
          </a:xfrm>
          <a:prstGeom prst="rect">
            <a:avLst/>
          </a:prstGeom>
        </p:spPr>
      </p:pic>
      <p:pic>
        <p:nvPicPr>
          <p:cNvPr id="17" name="Picture 16">
            <a:extLst>
              <a:ext uri="{FF2B5EF4-FFF2-40B4-BE49-F238E27FC236}">
                <a16:creationId xmlns:a16="http://schemas.microsoft.com/office/drawing/2014/main" id="{E8B2ECE0-2C3F-F142-A668-C41BC037476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2302821" y="2009065"/>
            <a:ext cx="3241044" cy="330056"/>
          </a:xfrm>
          <a:prstGeom prst="rect">
            <a:avLst/>
          </a:prstGeom>
        </p:spPr>
      </p:pic>
      <p:pic>
        <p:nvPicPr>
          <p:cNvPr id="18" name="Picture 17">
            <a:extLst>
              <a:ext uri="{FF2B5EF4-FFF2-40B4-BE49-F238E27FC236}">
                <a16:creationId xmlns:a16="http://schemas.microsoft.com/office/drawing/2014/main" id="{2A742A57-DBB1-0049-BF70-A5B51379DA5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2302821" y="2435201"/>
            <a:ext cx="3241044" cy="330056"/>
          </a:xfrm>
          <a:prstGeom prst="rect">
            <a:avLst/>
          </a:prstGeom>
        </p:spPr>
      </p:pic>
      <p:pic>
        <p:nvPicPr>
          <p:cNvPr id="33" name="Picture 32">
            <a:extLst>
              <a:ext uri="{FF2B5EF4-FFF2-40B4-BE49-F238E27FC236}">
                <a16:creationId xmlns:a16="http://schemas.microsoft.com/office/drawing/2014/main" id="{54151142-EC40-B844-9BD4-5BB502118E8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2302821" y="4295458"/>
            <a:ext cx="3241044" cy="330056"/>
          </a:xfrm>
          <a:prstGeom prst="rect">
            <a:avLst/>
          </a:prstGeom>
        </p:spPr>
      </p:pic>
      <p:sp>
        <p:nvSpPr>
          <p:cNvPr id="3" name="TextBox 2"/>
          <p:cNvSpPr txBox="1"/>
          <p:nvPr/>
        </p:nvSpPr>
        <p:spPr>
          <a:xfrm>
            <a:off x="1342641" y="1129615"/>
            <a:ext cx="3871209" cy="3554819"/>
          </a:xfrm>
          <a:prstGeom prst="rect">
            <a:avLst/>
          </a:prstGeom>
          <a:solidFill>
            <a:schemeClr val="bg1"/>
          </a:solidFill>
        </p:spPr>
        <p:txBody>
          <a:bodyPr wrap="square" rtlCol="0">
            <a:spAutoFit/>
          </a:bodyPr>
          <a:lstStyle/>
          <a:p>
            <a:r>
              <a:rPr lang="en-US" sz="1500" dirty="0"/>
              <a:t>What helps with morning sickness?</a:t>
            </a:r>
          </a:p>
          <a:p>
            <a:endParaRPr lang="en-US" sz="1500" dirty="0"/>
          </a:p>
          <a:p>
            <a:r>
              <a:rPr lang="en-US" sz="1500" dirty="0"/>
              <a:t>How many months should I breastfeed?</a:t>
            </a:r>
          </a:p>
          <a:p>
            <a:endParaRPr lang="en-US" sz="1500" dirty="0"/>
          </a:p>
          <a:p>
            <a:r>
              <a:rPr lang="en-US" sz="1500" dirty="0"/>
              <a:t>I passed out and Mom said I was shaking</a:t>
            </a:r>
          </a:p>
          <a:p>
            <a:endParaRPr lang="en-US" sz="1500" dirty="0"/>
          </a:p>
          <a:p>
            <a:r>
              <a:rPr lang="en-US" sz="1500" dirty="0"/>
              <a:t>Where is the nearest clinic?</a:t>
            </a:r>
          </a:p>
          <a:p>
            <a:endParaRPr lang="en-US" sz="1500" dirty="0"/>
          </a:p>
          <a:p>
            <a:endParaRPr lang="en-US" sz="1500" dirty="0"/>
          </a:p>
          <a:p>
            <a:r>
              <a:rPr lang="en-US" sz="1500" dirty="0"/>
              <a:t>I am having heavy bleeding, what should I do?</a:t>
            </a:r>
          </a:p>
          <a:p>
            <a:endParaRPr lang="en-US" sz="1500" dirty="0"/>
          </a:p>
          <a:p>
            <a:r>
              <a:rPr lang="en-US" sz="1500" dirty="0"/>
              <a:t>What foods should I eat while pregnant?</a:t>
            </a:r>
          </a:p>
          <a:p>
            <a:endParaRPr lang="en-US" sz="1500" dirty="0"/>
          </a:p>
          <a:p>
            <a:endParaRPr lang="en-US" sz="1500" dirty="0"/>
          </a:p>
          <a:p>
            <a:r>
              <a:rPr lang="en-US" sz="1500" dirty="0"/>
              <a:t>My heart is racing and I can’t catch my breath</a:t>
            </a:r>
          </a:p>
        </p:txBody>
      </p:sp>
      <p:sp>
        <p:nvSpPr>
          <p:cNvPr id="43" name="TextBox 42">
            <a:extLst>
              <a:ext uri="{FF2B5EF4-FFF2-40B4-BE49-F238E27FC236}">
                <a16:creationId xmlns:a16="http://schemas.microsoft.com/office/drawing/2014/main" id="{CC32AC06-632F-43A5-BCC3-B6853BF55ED1}"/>
              </a:ext>
            </a:extLst>
          </p:cNvPr>
          <p:cNvSpPr txBox="1"/>
          <p:nvPr/>
        </p:nvSpPr>
        <p:spPr>
          <a:xfrm>
            <a:off x="708777" y="1067592"/>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1</a:t>
            </a:r>
            <a:endParaRPr lang="en-US" sz="2098" baseline="-25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89DB9E1-43B6-E249-9D75-E82D12E3759D}"/>
                  </a:ext>
                </a:extLst>
              </p:cNvPr>
              <p:cNvSpPr txBox="1"/>
              <p:nvPr/>
            </p:nvSpPr>
            <p:spPr>
              <a:xfrm>
                <a:off x="6366372" y="1855693"/>
                <a:ext cx="2823024" cy="2830583"/>
              </a:xfrm>
              <a:prstGeom prst="rect">
                <a:avLst/>
              </a:prstGeom>
              <a:noFill/>
            </p:spPr>
            <p:txBody>
              <a:bodyPr wrap="square" rtlCol="0">
                <a:spAutoFit/>
              </a:bodyPr>
              <a:lstStyle/>
              <a:p>
                <a14:m>
                  <m:oMath xmlns:m="http://schemas.openxmlformats.org/officeDocument/2006/math">
                    <m:r>
                      <a:rPr lang="en-US" sz="1977" i="1" dirty="0">
                        <a:latin typeface="Cambria Math" panose="02040503050406030204" pitchFamily="18" charset="0"/>
                      </a:rPr>
                      <m:t>𝑦</m:t>
                    </m:r>
                    <m:r>
                      <a:rPr lang="en-US" sz="1977" i="1" baseline="-25000" dirty="0">
                        <a:latin typeface="Cambria Math" panose="02040503050406030204" pitchFamily="18" charset="0"/>
                      </a:rPr>
                      <m:t>𝑖</m:t>
                    </m:r>
                  </m:oMath>
                </a14:m>
                <a:r>
                  <a:rPr lang="en-US" sz="1977" dirty="0"/>
                  <a:t>: Urgent or </a:t>
                </a:r>
              </a:p>
              <a:p>
                <a:r>
                  <a:rPr lang="en-US" sz="1977" dirty="0"/>
                  <a:t>Not Urgent?</a:t>
                </a:r>
              </a:p>
              <a:p>
                <a:endParaRPr lang="en-US" sz="1977" dirty="0"/>
              </a:p>
              <a:p>
                <a:endParaRPr lang="en-US" sz="1977" dirty="0"/>
              </a:p>
              <a:p>
                <a:endParaRPr lang="en-US" sz="1977" dirty="0"/>
              </a:p>
              <a:p>
                <a:endParaRPr lang="en-US" sz="1977" dirty="0"/>
              </a:p>
              <a:p>
                <a:endParaRPr lang="en-US" sz="1977" dirty="0"/>
              </a:p>
              <a:p>
                <a:endParaRPr lang="en-US" sz="1977" dirty="0"/>
              </a:p>
              <a:p>
                <a:r>
                  <a:rPr lang="en-US" sz="1977" dirty="0"/>
                  <a:t>&lt;- Learn to predict new </a:t>
                </a:r>
                <a14:m>
                  <m:oMath xmlns:m="http://schemas.openxmlformats.org/officeDocument/2006/math">
                    <m:r>
                      <a:rPr lang="en-US" sz="1977" i="1" dirty="0">
                        <a:latin typeface="Cambria Math" panose="02040503050406030204" pitchFamily="18" charset="0"/>
                      </a:rPr>
                      <m:t>𝑦</m:t>
                    </m:r>
                  </m:oMath>
                </a14:m>
                <a:endParaRPr lang="en-US" sz="1977" dirty="0"/>
              </a:p>
            </p:txBody>
          </p:sp>
        </mc:Choice>
        <mc:Fallback xmlns="">
          <p:sp>
            <p:nvSpPr>
              <p:cNvPr id="2" name="TextBox 1">
                <a:extLst>
                  <a:ext uri="{FF2B5EF4-FFF2-40B4-BE49-F238E27FC236}">
                    <a16:creationId xmlns:a16="http://schemas.microsoft.com/office/drawing/2014/main" id="{A89DB9E1-43B6-E249-9D75-E82D12E3759D}"/>
                  </a:ext>
                </a:extLst>
              </p:cNvPr>
              <p:cNvSpPr txBox="1">
                <a:spLocks noRot="1" noChangeAspect="1" noMove="1" noResize="1" noEditPoints="1" noAdjustHandles="1" noChangeArrowheads="1" noChangeShapeType="1" noTextEdit="1"/>
              </p:cNvSpPr>
              <p:nvPr/>
            </p:nvSpPr>
            <p:spPr>
              <a:xfrm>
                <a:off x="6366372" y="1855693"/>
                <a:ext cx="2823024" cy="2830583"/>
              </a:xfrm>
              <a:prstGeom prst="rect">
                <a:avLst/>
              </a:prstGeom>
              <a:blipFill>
                <a:blip r:embed="rId4"/>
                <a:stretch>
                  <a:fillRect l="-2242" t="-889" b="-2222"/>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6E6BEB0E-7CAC-2C4B-BE3C-0FC7BB528639}"/>
              </a:ext>
            </a:extLst>
          </p:cNvPr>
          <p:cNvSpPr txBox="1"/>
          <p:nvPr/>
        </p:nvSpPr>
        <p:spPr>
          <a:xfrm>
            <a:off x="708777" y="3072759"/>
            <a:ext cx="633864"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465AF3C1-3019-CB4E-975D-7C1DBF49BC61}"/>
              </a:ext>
            </a:extLst>
          </p:cNvPr>
          <p:cNvSpPr txBox="1"/>
          <p:nvPr/>
        </p:nvSpPr>
        <p:spPr>
          <a:xfrm>
            <a:off x="708777" y="1493728"/>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2</a:t>
            </a:r>
            <a:endParaRPr lang="en-US" sz="2098" baseline="-250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6D1204DE-DCAD-3D42-A018-EE1A7FB7B342}"/>
              </a:ext>
            </a:extLst>
          </p:cNvPr>
          <p:cNvSpPr txBox="1"/>
          <p:nvPr/>
        </p:nvSpPr>
        <p:spPr>
          <a:xfrm>
            <a:off x="708777" y="3498895"/>
            <a:ext cx="586106" cy="415178"/>
          </a:xfrm>
          <a:prstGeom prst="rect">
            <a:avLst/>
          </a:prstGeom>
          <a:noFill/>
        </p:spPr>
        <p:txBody>
          <a:bodyPr wrap="square" rtlCol="0">
            <a:spAutoFit/>
          </a:bodyPr>
          <a:lstStyle/>
          <a:p>
            <a:r>
              <a:rPr lang="en-US" sz="2098" i="1" dirty="0" err="1">
                <a:latin typeface="Times New Roman" panose="02020603050405020304" pitchFamily="18" charset="0"/>
                <a:cs typeface="Times New Roman" panose="02020603050405020304" pitchFamily="18" charset="0"/>
              </a:rPr>
              <a:t>x</a:t>
            </a:r>
            <a:r>
              <a:rPr lang="en-US" sz="2098" i="1" baseline="-25000" dirty="0" err="1">
                <a:latin typeface="Times New Roman" panose="02020603050405020304" pitchFamily="18" charset="0"/>
                <a:cs typeface="Times New Roman" panose="02020603050405020304" pitchFamily="18" charset="0"/>
              </a:rPr>
              <a:t>N</a:t>
            </a:r>
            <a:endParaRPr lang="en-US" sz="2098" baseline="-25000"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49241119-D9B5-5540-A9B7-A9E03ABEF578}"/>
              </a:ext>
            </a:extLst>
          </p:cNvPr>
          <p:cNvSpPr txBox="1"/>
          <p:nvPr/>
        </p:nvSpPr>
        <p:spPr>
          <a:xfrm>
            <a:off x="708777" y="2345999"/>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4</a:t>
            </a:r>
            <a:endParaRPr lang="en-US" sz="2098" baseline="-250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C904E9F7-89B4-5949-8C3E-677A00A15AE0}"/>
              </a:ext>
            </a:extLst>
          </p:cNvPr>
          <p:cNvSpPr txBox="1"/>
          <p:nvPr/>
        </p:nvSpPr>
        <p:spPr>
          <a:xfrm>
            <a:off x="708777" y="1919863"/>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3</a:t>
            </a:r>
            <a:endParaRPr lang="en-US" sz="2098" baseline="-250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2EC37B96-BC81-804B-8D34-24D748686457}"/>
              </a:ext>
            </a:extLst>
          </p:cNvPr>
          <p:cNvSpPr txBox="1"/>
          <p:nvPr/>
        </p:nvSpPr>
        <p:spPr>
          <a:xfrm>
            <a:off x="5655261" y="3498895"/>
            <a:ext cx="711111" cy="415178"/>
          </a:xfrm>
          <a:prstGeom prst="rect">
            <a:avLst/>
          </a:prstGeom>
          <a:noFill/>
        </p:spPr>
        <p:txBody>
          <a:bodyPr wrap="square" rtlCol="0">
            <a:spAutoFit/>
          </a:bodyPr>
          <a:lstStyle/>
          <a:p>
            <a:r>
              <a:rPr lang="en-US" sz="2098" i="1" dirty="0" err="1">
                <a:latin typeface="Times New Roman" panose="02020603050405020304" pitchFamily="18" charset="0"/>
                <a:cs typeface="Times New Roman" panose="02020603050405020304" pitchFamily="18" charset="0"/>
              </a:rPr>
              <a:t>y</a:t>
            </a:r>
            <a:r>
              <a:rPr lang="en-US" sz="2098" i="1" baseline="-25000" dirty="0" err="1">
                <a:latin typeface="Times New Roman" panose="02020603050405020304" pitchFamily="18" charset="0"/>
                <a:cs typeface="Times New Roman" panose="02020603050405020304" pitchFamily="18" charset="0"/>
              </a:rPr>
              <a:t>N</a:t>
            </a:r>
            <a:endParaRPr lang="en-US" sz="2098" baseline="-25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BD292AD3-4E90-F447-AE1D-6BE89D6DD9D4}"/>
              </a:ext>
            </a:extLst>
          </p:cNvPr>
          <p:cNvSpPr txBox="1"/>
          <p:nvPr/>
        </p:nvSpPr>
        <p:spPr>
          <a:xfrm>
            <a:off x="5655260" y="3072759"/>
            <a:ext cx="599717"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CB7E0F8B-C015-E04D-89EB-FCAB517F7AD5}"/>
              </a:ext>
            </a:extLst>
          </p:cNvPr>
          <p:cNvSpPr txBox="1"/>
          <p:nvPr/>
        </p:nvSpPr>
        <p:spPr>
          <a:xfrm>
            <a:off x="5655261" y="2345999"/>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4</a:t>
            </a:r>
            <a:endParaRPr lang="en-US" sz="2098" baseline="-25000"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9F1CEB7A-B8A9-584C-8BB0-06ED6BF0C714}"/>
              </a:ext>
            </a:extLst>
          </p:cNvPr>
          <p:cNvSpPr txBox="1"/>
          <p:nvPr/>
        </p:nvSpPr>
        <p:spPr>
          <a:xfrm>
            <a:off x="5655261" y="1919863"/>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3</a:t>
            </a:r>
            <a:endParaRPr lang="en-US" sz="2098" baseline="-2500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2BF836B4-2919-894E-9669-5B41DAA4075D}"/>
              </a:ext>
            </a:extLst>
          </p:cNvPr>
          <p:cNvSpPr txBox="1"/>
          <p:nvPr/>
        </p:nvSpPr>
        <p:spPr>
          <a:xfrm>
            <a:off x="5655261" y="1493728"/>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2</a:t>
            </a:r>
            <a:endParaRPr lang="en-US" sz="2098" baseline="-25000"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BD5008AA-189E-3942-9502-A1FB6B6DA029}"/>
              </a:ext>
            </a:extLst>
          </p:cNvPr>
          <p:cNvSpPr txBox="1"/>
          <p:nvPr/>
        </p:nvSpPr>
        <p:spPr>
          <a:xfrm>
            <a:off x="5655261" y="1067592"/>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1</a:t>
            </a:r>
            <a:endParaRPr lang="en-US" sz="2098" baseline="-25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7F7B0C2-A517-BB4D-BA95-F5FD1409712E}"/>
              </a:ext>
            </a:extLst>
          </p:cNvPr>
          <p:cNvSpPr txBox="1"/>
          <p:nvPr/>
        </p:nvSpPr>
        <p:spPr>
          <a:xfrm rot="5400000">
            <a:off x="2952630" y="2709858"/>
            <a:ext cx="423514" cy="507831"/>
          </a:xfrm>
          <a:prstGeom prst="rect">
            <a:avLst/>
          </a:prstGeom>
          <a:noFill/>
        </p:spPr>
        <p:txBody>
          <a:bodyPr wrap="none" rtlCol="0">
            <a:spAutoFit/>
          </a:bodyPr>
          <a:lstStyle/>
          <a:p>
            <a:r>
              <a:rPr lang="en-US" sz="2700" dirty="0"/>
              <a:t>…</a:t>
            </a:r>
          </a:p>
        </p:txBody>
      </p:sp>
      <p:sp>
        <p:nvSpPr>
          <p:cNvPr id="32" name="TextBox 31">
            <a:extLst>
              <a:ext uri="{FF2B5EF4-FFF2-40B4-BE49-F238E27FC236}">
                <a16:creationId xmlns:a16="http://schemas.microsoft.com/office/drawing/2014/main" id="{61EB7271-5058-8544-9697-2A0D44FF5656}"/>
              </a:ext>
            </a:extLst>
          </p:cNvPr>
          <p:cNvSpPr txBox="1"/>
          <p:nvPr/>
        </p:nvSpPr>
        <p:spPr>
          <a:xfrm rot="5400000">
            <a:off x="5256009" y="2687594"/>
            <a:ext cx="423514" cy="507831"/>
          </a:xfrm>
          <a:prstGeom prst="rect">
            <a:avLst/>
          </a:prstGeom>
          <a:noFill/>
        </p:spPr>
        <p:txBody>
          <a:bodyPr wrap="none" rtlCol="0">
            <a:spAutoFit/>
          </a:bodyPr>
          <a:lstStyle/>
          <a:p>
            <a:r>
              <a:rPr lang="en-US" sz="2700" dirty="0"/>
              <a:t>…</a:t>
            </a:r>
          </a:p>
        </p:txBody>
      </p:sp>
      <p:sp>
        <p:nvSpPr>
          <p:cNvPr id="27" name="Title 28">
            <a:extLst>
              <a:ext uri="{FF2B5EF4-FFF2-40B4-BE49-F238E27FC236}">
                <a16:creationId xmlns:a16="http://schemas.microsoft.com/office/drawing/2014/main" id="{AA5FECB6-0AC9-5941-8372-FA5CAE748FF4}"/>
              </a:ext>
            </a:extLst>
          </p:cNvPr>
          <p:cNvSpPr>
            <a:spLocks noGrp="1"/>
          </p:cNvSpPr>
          <p:nvPr>
            <p:ph type="title"/>
          </p:nvPr>
        </p:nvSpPr>
        <p:spPr>
          <a:xfrm>
            <a:off x="457200" y="38324"/>
            <a:ext cx="8229600" cy="857250"/>
          </a:xfrm>
        </p:spPr>
        <p:txBody>
          <a:bodyPr>
            <a:normAutofit/>
          </a:bodyPr>
          <a:lstStyle/>
          <a:p>
            <a:r>
              <a:rPr lang="en-US" dirty="0"/>
              <a:t>This time, our training data is text</a:t>
            </a:r>
          </a:p>
        </p:txBody>
      </p:sp>
      <p:sp>
        <p:nvSpPr>
          <p:cNvPr id="34" name="TextBox 33">
            <a:extLst>
              <a:ext uri="{FF2B5EF4-FFF2-40B4-BE49-F238E27FC236}">
                <a16:creationId xmlns:a16="http://schemas.microsoft.com/office/drawing/2014/main" id="{791F0AF4-9E4E-2442-8A67-44BD0BC3EABF}"/>
              </a:ext>
            </a:extLst>
          </p:cNvPr>
          <p:cNvSpPr txBox="1"/>
          <p:nvPr/>
        </p:nvSpPr>
        <p:spPr>
          <a:xfrm>
            <a:off x="676957" y="4206256"/>
            <a:ext cx="665684"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3B9BDD1C-3CC2-FC46-942A-54E15F48CE28}"/>
              </a:ext>
            </a:extLst>
          </p:cNvPr>
          <p:cNvSpPr txBox="1"/>
          <p:nvPr/>
        </p:nvSpPr>
        <p:spPr>
          <a:xfrm>
            <a:off x="5655260" y="4206256"/>
            <a:ext cx="848785"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2D8C2377-E4E5-0A4A-B2B6-8716D5AAF77E}"/>
              </a:ext>
            </a:extLst>
          </p:cNvPr>
          <p:cNvCxnSpPr/>
          <p:nvPr/>
        </p:nvCxnSpPr>
        <p:spPr>
          <a:xfrm>
            <a:off x="541751" y="4058433"/>
            <a:ext cx="5245274"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977707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95B1F-FF3B-0343-BF72-5E560AFB1433}"/>
              </a:ext>
            </a:extLst>
          </p:cNvPr>
          <p:cNvSpPr>
            <a:spLocks noGrp="1"/>
          </p:cNvSpPr>
          <p:nvPr>
            <p:ph type="title"/>
          </p:nvPr>
        </p:nvSpPr>
        <p:spPr/>
        <p:txBody>
          <a:bodyPr/>
          <a:lstStyle/>
          <a:p>
            <a:r>
              <a:rPr lang="en-US" dirty="0"/>
              <a:t>We need numbers, not words</a:t>
            </a:r>
          </a:p>
        </p:txBody>
      </p:sp>
      <p:sp>
        <p:nvSpPr>
          <p:cNvPr id="3" name="Content Placeholder 2">
            <a:extLst>
              <a:ext uri="{FF2B5EF4-FFF2-40B4-BE49-F238E27FC236}">
                <a16:creationId xmlns:a16="http://schemas.microsoft.com/office/drawing/2014/main" id="{650C32A1-FAC9-DF4D-9BCD-37F50B6AA074}"/>
              </a:ext>
            </a:extLst>
          </p:cNvPr>
          <p:cNvSpPr>
            <a:spLocks noGrp="1"/>
          </p:cNvSpPr>
          <p:nvPr>
            <p:ph idx="1"/>
          </p:nvPr>
        </p:nvSpPr>
        <p:spPr>
          <a:xfrm>
            <a:off x="457200" y="1612557"/>
            <a:ext cx="8229600" cy="2982066"/>
          </a:xfrm>
        </p:spPr>
        <p:txBody>
          <a:bodyPr/>
          <a:lstStyle/>
          <a:p>
            <a:r>
              <a:rPr lang="en-US" b="1" dirty="0">
                <a:solidFill>
                  <a:schemeClr val="tx1"/>
                </a:solidFill>
              </a:rPr>
              <a:t>Can we convert our text to a </a:t>
            </a:r>
            <a:br>
              <a:rPr lang="en-US" b="1" dirty="0">
                <a:solidFill>
                  <a:schemeClr val="tx1"/>
                </a:solidFill>
              </a:rPr>
            </a:br>
            <a:r>
              <a:rPr lang="en-US" b="1" dirty="0">
                <a:solidFill>
                  <a:schemeClr val="tx1"/>
                </a:solidFill>
              </a:rPr>
              <a:t>vector or sequence of numbers?</a:t>
            </a:r>
          </a:p>
          <a:p>
            <a:endParaRPr lang="en-US" dirty="0"/>
          </a:p>
          <a:p>
            <a:r>
              <a:rPr lang="en-US" dirty="0"/>
              <a:t>If yes, we can use logistic regression (or any other predictive model)!</a:t>
            </a:r>
          </a:p>
        </p:txBody>
      </p:sp>
    </p:spTree>
    <p:extLst>
      <p:ext uri="{BB962C8B-B14F-4D97-AF65-F5344CB8AC3E}">
        <p14:creationId xmlns:p14="http://schemas.microsoft.com/office/powerpoint/2010/main" val="574432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5FCA0-7397-D74D-9459-2C326CD88605}"/>
              </a:ext>
            </a:extLst>
          </p:cNvPr>
          <p:cNvSpPr>
            <a:spLocks noGrp="1"/>
          </p:cNvSpPr>
          <p:nvPr>
            <p:ph type="title"/>
          </p:nvPr>
        </p:nvSpPr>
        <p:spPr>
          <a:xfrm>
            <a:off x="194619" y="233998"/>
            <a:ext cx="8090587" cy="857250"/>
          </a:xfrm>
        </p:spPr>
        <p:txBody>
          <a:bodyPr>
            <a:noAutofit/>
          </a:bodyPr>
          <a:lstStyle/>
          <a:p>
            <a:pPr algn="l"/>
            <a:r>
              <a:rPr lang="en-US" sz="3600" dirty="0"/>
              <a:t>First try: count words in each SMS</a:t>
            </a:r>
            <a:br>
              <a:rPr lang="en-US" sz="3600" dirty="0"/>
            </a:br>
            <a:r>
              <a:rPr lang="en-US" sz="3600" dirty="0"/>
              <a:t>Step 1: </a:t>
            </a:r>
            <a:r>
              <a:rPr lang="en-US" sz="3600" u="sng" dirty="0"/>
              <a:t>Define a </a:t>
            </a:r>
            <a:r>
              <a:rPr lang="en-US" sz="3600" b="1" u="sng" dirty="0"/>
              <a:t>vocabulary</a:t>
            </a:r>
            <a:r>
              <a:rPr lang="en-US" sz="3600" u="sng" dirty="0"/>
              <a:t> of words</a:t>
            </a:r>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94619" y="2609084"/>
            <a:ext cx="3170396" cy="1251122"/>
          </a:xfrm>
          <a:prstGeom prst="rect">
            <a:avLst/>
          </a:prstGeom>
        </p:spPr>
      </p:pic>
      <p:sp>
        <p:nvSpPr>
          <p:cNvPr id="8" name="Right Arrow 7"/>
          <p:cNvSpPr/>
          <p:nvPr/>
        </p:nvSpPr>
        <p:spPr>
          <a:xfrm>
            <a:off x="3447535" y="2877844"/>
            <a:ext cx="1955457" cy="713603"/>
          </a:xfrm>
          <a:prstGeom prst="rightArrow">
            <a:avLst>
              <a:gd name="adj1" fmla="val 65863"/>
              <a:gd name="adj2" fmla="val 42950"/>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t>list of all words </a:t>
            </a:r>
          </a:p>
          <a:p>
            <a:pPr algn="ctr"/>
            <a:r>
              <a:rPr lang="en-US" sz="1200" dirty="0"/>
              <a:t>(in no particular order)</a:t>
            </a:r>
          </a:p>
        </p:txBody>
      </p:sp>
      <p:sp>
        <p:nvSpPr>
          <p:cNvPr id="22" name="TextBox 21"/>
          <p:cNvSpPr txBox="1"/>
          <p:nvPr/>
        </p:nvSpPr>
        <p:spPr>
          <a:xfrm>
            <a:off x="5696454" y="2369024"/>
            <a:ext cx="3200411" cy="1754326"/>
          </a:xfrm>
          <a:prstGeom prst="rect">
            <a:avLst/>
          </a:prstGeom>
          <a:noFill/>
        </p:spPr>
        <p:txBody>
          <a:bodyPr wrap="square" numCol="3" rtlCol="0">
            <a:spAutoFit/>
          </a:bodyPr>
          <a:lstStyle/>
          <a:p>
            <a:r>
              <a:rPr lang="en-US" sz="1350" dirty="0"/>
              <a:t>shaking</a:t>
            </a:r>
          </a:p>
          <a:p>
            <a:r>
              <a:rPr lang="en-US" sz="1350" dirty="0"/>
              <a:t>what</a:t>
            </a:r>
          </a:p>
          <a:p>
            <a:r>
              <a:rPr lang="en-US" sz="1350" dirty="0"/>
              <a:t>clinic</a:t>
            </a:r>
          </a:p>
          <a:p>
            <a:r>
              <a:rPr lang="en-US" sz="1350" dirty="0"/>
              <a:t>how</a:t>
            </a:r>
          </a:p>
          <a:p>
            <a:r>
              <a:rPr lang="en-US" sz="1350" dirty="0"/>
              <a:t>helps</a:t>
            </a:r>
          </a:p>
          <a:p>
            <a:r>
              <a:rPr lang="en-US" sz="1350" dirty="0"/>
              <a:t>was</a:t>
            </a:r>
          </a:p>
          <a:p>
            <a:r>
              <a:rPr lang="en-US" sz="1350" dirty="0"/>
              <a:t>nearest</a:t>
            </a:r>
          </a:p>
          <a:p>
            <a:r>
              <a:rPr lang="en-US" sz="1350" dirty="0"/>
              <a:t>many</a:t>
            </a:r>
          </a:p>
          <a:p>
            <a:r>
              <a:rPr lang="en-US" sz="1350" dirty="0"/>
              <a:t>with</a:t>
            </a:r>
          </a:p>
          <a:p>
            <a:r>
              <a:rPr lang="en-US" sz="1350" dirty="0"/>
              <a:t>said</a:t>
            </a:r>
          </a:p>
          <a:p>
            <a:r>
              <a:rPr lang="en-US" sz="1350" dirty="0"/>
              <a:t>months</a:t>
            </a:r>
          </a:p>
          <a:p>
            <a:r>
              <a:rPr lang="en-US" sz="1350" dirty="0"/>
              <a:t>the</a:t>
            </a:r>
          </a:p>
          <a:p>
            <a:r>
              <a:rPr lang="en-US" sz="1350" dirty="0"/>
              <a:t>morning</a:t>
            </a:r>
          </a:p>
          <a:p>
            <a:r>
              <a:rPr lang="en-US" sz="1350" dirty="0"/>
              <a:t>mom</a:t>
            </a:r>
          </a:p>
          <a:p>
            <a:r>
              <a:rPr lang="en-US" sz="1350" dirty="0"/>
              <a:t>should</a:t>
            </a:r>
          </a:p>
          <a:p>
            <a:r>
              <a:rPr lang="en-US" sz="1350" dirty="0"/>
              <a:t>sickness</a:t>
            </a:r>
          </a:p>
          <a:p>
            <a:r>
              <a:rPr lang="en-US" sz="1350" dirty="0"/>
              <a:t>and</a:t>
            </a:r>
          </a:p>
          <a:p>
            <a:r>
              <a:rPr lang="en-US" sz="1350" dirty="0"/>
              <a:t>I</a:t>
            </a:r>
          </a:p>
          <a:p>
            <a:r>
              <a:rPr lang="en-US" sz="1350" dirty="0"/>
              <a:t>is</a:t>
            </a:r>
          </a:p>
          <a:p>
            <a:r>
              <a:rPr lang="en-US" sz="1350" dirty="0"/>
              <a:t>how</a:t>
            </a:r>
          </a:p>
          <a:p>
            <a:r>
              <a:rPr lang="en-US" sz="1350" dirty="0"/>
              <a:t>out</a:t>
            </a:r>
          </a:p>
          <a:p>
            <a:r>
              <a:rPr lang="en-US" sz="1350" dirty="0"/>
              <a:t>breastfeed</a:t>
            </a:r>
          </a:p>
          <a:p>
            <a:r>
              <a:rPr lang="en-US" sz="1350" dirty="0"/>
              <a:t>passed</a:t>
            </a:r>
          </a:p>
          <a:p>
            <a:r>
              <a:rPr lang="en-US" sz="1350" dirty="0"/>
              <a:t>where</a:t>
            </a:r>
          </a:p>
        </p:txBody>
      </p:sp>
    </p:spTree>
    <p:extLst>
      <p:ext uri="{BB962C8B-B14F-4D97-AF65-F5344CB8AC3E}">
        <p14:creationId xmlns:p14="http://schemas.microsoft.com/office/powerpoint/2010/main" val="1790202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443EB-D97A-A647-B55D-DFAA7CABAA68}"/>
              </a:ext>
            </a:extLst>
          </p:cNvPr>
          <p:cNvSpPr>
            <a:spLocks noGrp="1"/>
          </p:cNvSpPr>
          <p:nvPr>
            <p:ph type="title"/>
          </p:nvPr>
        </p:nvSpPr>
        <p:spPr/>
        <p:txBody>
          <a:bodyPr>
            <a:noAutofit/>
          </a:bodyPr>
          <a:lstStyle/>
          <a:p>
            <a:pPr algn="l"/>
            <a:r>
              <a:rPr lang="en-US" sz="3000" dirty="0"/>
              <a:t>Step 2: </a:t>
            </a:r>
            <a:r>
              <a:rPr lang="en-US" sz="3000" u="sng" dirty="0"/>
              <a:t>count how many times each vocabulary word appears in a given SMS</a:t>
            </a:r>
          </a:p>
        </p:txBody>
      </p:sp>
      <p:sp>
        <p:nvSpPr>
          <p:cNvPr id="24" name="TextBox 23"/>
          <p:cNvSpPr txBox="1"/>
          <p:nvPr/>
        </p:nvSpPr>
        <p:spPr>
          <a:xfrm rot="16200000">
            <a:off x="4205396" y="-680636"/>
            <a:ext cx="1047205" cy="7940635"/>
          </a:xfrm>
          <a:prstGeom prst="rect">
            <a:avLst/>
          </a:prstGeom>
          <a:noFill/>
        </p:spPr>
        <p:txBody>
          <a:bodyPr wrap="square" numCol="1" rtlCol="0">
            <a:spAutoFit/>
          </a:bodyPr>
          <a:lstStyle/>
          <a:p>
            <a:pPr algn="r">
              <a:spcAft>
                <a:spcPts val="900"/>
              </a:spcAft>
            </a:pPr>
            <a:r>
              <a:rPr lang="en-US" sz="1350" dirty="0"/>
              <a:t>shaking</a:t>
            </a:r>
          </a:p>
          <a:p>
            <a:pPr algn="r">
              <a:spcAft>
                <a:spcPts val="900"/>
              </a:spcAft>
            </a:pPr>
            <a:r>
              <a:rPr lang="en-US" sz="1350" dirty="0"/>
              <a:t>what</a:t>
            </a:r>
          </a:p>
          <a:p>
            <a:pPr algn="r">
              <a:spcAft>
                <a:spcPts val="900"/>
              </a:spcAft>
            </a:pPr>
            <a:r>
              <a:rPr lang="en-US" sz="1350" dirty="0"/>
              <a:t>clinic</a:t>
            </a:r>
          </a:p>
          <a:p>
            <a:pPr algn="r">
              <a:spcAft>
                <a:spcPts val="900"/>
              </a:spcAft>
            </a:pPr>
            <a:r>
              <a:rPr lang="en-US" sz="1350" dirty="0"/>
              <a:t>how</a:t>
            </a:r>
          </a:p>
          <a:p>
            <a:pPr algn="r">
              <a:spcAft>
                <a:spcPts val="900"/>
              </a:spcAft>
            </a:pPr>
            <a:r>
              <a:rPr lang="en-US" sz="1350" dirty="0"/>
              <a:t>helps</a:t>
            </a:r>
          </a:p>
          <a:p>
            <a:pPr algn="r">
              <a:spcAft>
                <a:spcPts val="900"/>
              </a:spcAft>
            </a:pPr>
            <a:r>
              <a:rPr lang="en-US" sz="1350" dirty="0"/>
              <a:t>was</a:t>
            </a:r>
          </a:p>
          <a:p>
            <a:pPr algn="r">
              <a:spcAft>
                <a:spcPts val="900"/>
              </a:spcAft>
            </a:pPr>
            <a:r>
              <a:rPr lang="en-US" sz="1350" dirty="0"/>
              <a:t>nearest</a:t>
            </a:r>
          </a:p>
          <a:p>
            <a:pPr algn="r">
              <a:spcAft>
                <a:spcPts val="900"/>
              </a:spcAft>
            </a:pPr>
            <a:r>
              <a:rPr lang="en-US" sz="1350" dirty="0"/>
              <a:t>many</a:t>
            </a:r>
          </a:p>
          <a:p>
            <a:pPr algn="r">
              <a:spcAft>
                <a:spcPts val="900"/>
              </a:spcAft>
            </a:pPr>
            <a:r>
              <a:rPr lang="en-US" sz="1350" dirty="0"/>
              <a:t>with</a:t>
            </a:r>
          </a:p>
          <a:p>
            <a:pPr algn="r">
              <a:spcAft>
                <a:spcPts val="900"/>
              </a:spcAft>
            </a:pPr>
            <a:r>
              <a:rPr lang="en-US" sz="1350" dirty="0"/>
              <a:t>said</a:t>
            </a:r>
          </a:p>
          <a:p>
            <a:pPr algn="r">
              <a:spcAft>
                <a:spcPts val="900"/>
              </a:spcAft>
            </a:pPr>
            <a:r>
              <a:rPr lang="en-US" sz="1350" dirty="0"/>
              <a:t>months</a:t>
            </a:r>
          </a:p>
          <a:p>
            <a:pPr algn="r">
              <a:spcAft>
                <a:spcPts val="900"/>
              </a:spcAft>
            </a:pPr>
            <a:r>
              <a:rPr lang="en-US" sz="1350" dirty="0"/>
              <a:t>the</a:t>
            </a:r>
          </a:p>
          <a:p>
            <a:pPr algn="r">
              <a:spcAft>
                <a:spcPts val="900"/>
              </a:spcAft>
            </a:pPr>
            <a:r>
              <a:rPr lang="en-US" sz="1350" dirty="0"/>
              <a:t>morning</a:t>
            </a:r>
          </a:p>
          <a:p>
            <a:pPr algn="r">
              <a:spcAft>
                <a:spcPts val="900"/>
              </a:spcAft>
            </a:pPr>
            <a:r>
              <a:rPr lang="en-US" sz="1350" dirty="0"/>
              <a:t>mom</a:t>
            </a:r>
          </a:p>
          <a:p>
            <a:pPr algn="r">
              <a:spcAft>
                <a:spcPts val="900"/>
              </a:spcAft>
            </a:pPr>
            <a:r>
              <a:rPr lang="en-US" sz="1350" dirty="0"/>
              <a:t>should</a:t>
            </a:r>
          </a:p>
          <a:p>
            <a:pPr algn="r">
              <a:spcAft>
                <a:spcPts val="900"/>
              </a:spcAft>
            </a:pPr>
            <a:r>
              <a:rPr lang="en-US" sz="1350" dirty="0"/>
              <a:t>sickness</a:t>
            </a:r>
          </a:p>
          <a:p>
            <a:pPr algn="r">
              <a:spcAft>
                <a:spcPts val="900"/>
              </a:spcAft>
            </a:pPr>
            <a:r>
              <a:rPr lang="en-US" sz="1350" dirty="0"/>
              <a:t>and</a:t>
            </a:r>
          </a:p>
          <a:p>
            <a:pPr algn="r">
              <a:spcAft>
                <a:spcPts val="900"/>
              </a:spcAft>
            </a:pPr>
            <a:r>
              <a:rPr lang="en-US" sz="1350" dirty="0"/>
              <a:t>I</a:t>
            </a:r>
          </a:p>
          <a:p>
            <a:pPr algn="r">
              <a:spcAft>
                <a:spcPts val="900"/>
              </a:spcAft>
            </a:pPr>
            <a:r>
              <a:rPr lang="en-US" sz="1350" dirty="0"/>
              <a:t>is</a:t>
            </a:r>
          </a:p>
          <a:p>
            <a:pPr algn="r">
              <a:spcAft>
                <a:spcPts val="900"/>
              </a:spcAft>
            </a:pPr>
            <a:r>
              <a:rPr lang="en-US" sz="1350" dirty="0"/>
              <a:t>how</a:t>
            </a:r>
          </a:p>
          <a:p>
            <a:pPr algn="r">
              <a:spcAft>
                <a:spcPts val="900"/>
              </a:spcAft>
            </a:pPr>
            <a:r>
              <a:rPr lang="en-US" sz="1350" dirty="0"/>
              <a:t>out</a:t>
            </a:r>
          </a:p>
          <a:p>
            <a:pPr algn="r">
              <a:spcAft>
                <a:spcPts val="900"/>
              </a:spcAft>
            </a:pPr>
            <a:r>
              <a:rPr lang="en-US" sz="1350" dirty="0"/>
              <a:t>breastfeed</a:t>
            </a:r>
          </a:p>
          <a:p>
            <a:pPr algn="r">
              <a:spcAft>
                <a:spcPts val="900"/>
              </a:spcAft>
            </a:pPr>
            <a:r>
              <a:rPr lang="en-US" sz="1350" dirty="0"/>
              <a:t>passed</a:t>
            </a:r>
          </a:p>
          <a:p>
            <a:pPr algn="r">
              <a:spcAft>
                <a:spcPts val="900"/>
              </a:spcAft>
            </a:pPr>
            <a:r>
              <a:rPr lang="en-US" sz="1350" dirty="0"/>
              <a:t>where</a:t>
            </a:r>
          </a:p>
        </p:txBody>
      </p:sp>
      <p:graphicFrame>
        <p:nvGraphicFramePr>
          <p:cNvPr id="4" name="Table 3"/>
          <p:cNvGraphicFramePr>
            <a:graphicFrameLocks noGrp="1"/>
          </p:cNvGraphicFramePr>
          <p:nvPr/>
        </p:nvGraphicFramePr>
        <p:xfrm>
          <a:off x="758681" y="2352522"/>
          <a:ext cx="7637736" cy="278130"/>
        </p:xfrm>
        <a:graphic>
          <a:graphicData uri="http://schemas.openxmlformats.org/drawingml/2006/table">
            <a:tbl>
              <a:tblPr firstRow="1" bandRow="1">
                <a:tableStyleId>{5C22544A-7EE6-4342-B048-85BDC9FD1C3A}</a:tableStyleId>
              </a:tblPr>
              <a:tblGrid>
                <a:gridCol w="318239">
                  <a:extLst>
                    <a:ext uri="{9D8B030D-6E8A-4147-A177-3AD203B41FA5}">
                      <a16:colId xmlns:a16="http://schemas.microsoft.com/office/drawing/2014/main" val="2123615854"/>
                    </a:ext>
                  </a:extLst>
                </a:gridCol>
                <a:gridCol w="318239">
                  <a:extLst>
                    <a:ext uri="{9D8B030D-6E8A-4147-A177-3AD203B41FA5}">
                      <a16:colId xmlns:a16="http://schemas.microsoft.com/office/drawing/2014/main" val="1026716743"/>
                    </a:ext>
                  </a:extLst>
                </a:gridCol>
                <a:gridCol w="318239">
                  <a:extLst>
                    <a:ext uri="{9D8B030D-6E8A-4147-A177-3AD203B41FA5}">
                      <a16:colId xmlns:a16="http://schemas.microsoft.com/office/drawing/2014/main" val="96650165"/>
                    </a:ext>
                  </a:extLst>
                </a:gridCol>
                <a:gridCol w="318239">
                  <a:extLst>
                    <a:ext uri="{9D8B030D-6E8A-4147-A177-3AD203B41FA5}">
                      <a16:colId xmlns:a16="http://schemas.microsoft.com/office/drawing/2014/main" val="3474831274"/>
                    </a:ext>
                  </a:extLst>
                </a:gridCol>
                <a:gridCol w="318239">
                  <a:extLst>
                    <a:ext uri="{9D8B030D-6E8A-4147-A177-3AD203B41FA5}">
                      <a16:colId xmlns:a16="http://schemas.microsoft.com/office/drawing/2014/main" val="217631323"/>
                    </a:ext>
                  </a:extLst>
                </a:gridCol>
                <a:gridCol w="318239">
                  <a:extLst>
                    <a:ext uri="{9D8B030D-6E8A-4147-A177-3AD203B41FA5}">
                      <a16:colId xmlns:a16="http://schemas.microsoft.com/office/drawing/2014/main" val="3527401608"/>
                    </a:ext>
                  </a:extLst>
                </a:gridCol>
                <a:gridCol w="318239">
                  <a:extLst>
                    <a:ext uri="{9D8B030D-6E8A-4147-A177-3AD203B41FA5}">
                      <a16:colId xmlns:a16="http://schemas.microsoft.com/office/drawing/2014/main" val="71044606"/>
                    </a:ext>
                  </a:extLst>
                </a:gridCol>
                <a:gridCol w="318239">
                  <a:extLst>
                    <a:ext uri="{9D8B030D-6E8A-4147-A177-3AD203B41FA5}">
                      <a16:colId xmlns:a16="http://schemas.microsoft.com/office/drawing/2014/main" val="1617904699"/>
                    </a:ext>
                  </a:extLst>
                </a:gridCol>
                <a:gridCol w="318239">
                  <a:extLst>
                    <a:ext uri="{9D8B030D-6E8A-4147-A177-3AD203B41FA5}">
                      <a16:colId xmlns:a16="http://schemas.microsoft.com/office/drawing/2014/main" val="1019104690"/>
                    </a:ext>
                  </a:extLst>
                </a:gridCol>
                <a:gridCol w="318239">
                  <a:extLst>
                    <a:ext uri="{9D8B030D-6E8A-4147-A177-3AD203B41FA5}">
                      <a16:colId xmlns:a16="http://schemas.microsoft.com/office/drawing/2014/main" val="1607840343"/>
                    </a:ext>
                  </a:extLst>
                </a:gridCol>
                <a:gridCol w="318239">
                  <a:extLst>
                    <a:ext uri="{9D8B030D-6E8A-4147-A177-3AD203B41FA5}">
                      <a16:colId xmlns:a16="http://schemas.microsoft.com/office/drawing/2014/main" val="3897121448"/>
                    </a:ext>
                  </a:extLst>
                </a:gridCol>
                <a:gridCol w="318239">
                  <a:extLst>
                    <a:ext uri="{9D8B030D-6E8A-4147-A177-3AD203B41FA5}">
                      <a16:colId xmlns:a16="http://schemas.microsoft.com/office/drawing/2014/main" val="1233070038"/>
                    </a:ext>
                  </a:extLst>
                </a:gridCol>
                <a:gridCol w="318239">
                  <a:extLst>
                    <a:ext uri="{9D8B030D-6E8A-4147-A177-3AD203B41FA5}">
                      <a16:colId xmlns:a16="http://schemas.microsoft.com/office/drawing/2014/main" val="227495959"/>
                    </a:ext>
                  </a:extLst>
                </a:gridCol>
                <a:gridCol w="318239">
                  <a:extLst>
                    <a:ext uri="{9D8B030D-6E8A-4147-A177-3AD203B41FA5}">
                      <a16:colId xmlns:a16="http://schemas.microsoft.com/office/drawing/2014/main" val="368435216"/>
                    </a:ext>
                  </a:extLst>
                </a:gridCol>
                <a:gridCol w="318239">
                  <a:extLst>
                    <a:ext uri="{9D8B030D-6E8A-4147-A177-3AD203B41FA5}">
                      <a16:colId xmlns:a16="http://schemas.microsoft.com/office/drawing/2014/main" val="4289944958"/>
                    </a:ext>
                  </a:extLst>
                </a:gridCol>
                <a:gridCol w="318239">
                  <a:extLst>
                    <a:ext uri="{9D8B030D-6E8A-4147-A177-3AD203B41FA5}">
                      <a16:colId xmlns:a16="http://schemas.microsoft.com/office/drawing/2014/main" val="2658057197"/>
                    </a:ext>
                  </a:extLst>
                </a:gridCol>
                <a:gridCol w="318239">
                  <a:extLst>
                    <a:ext uri="{9D8B030D-6E8A-4147-A177-3AD203B41FA5}">
                      <a16:colId xmlns:a16="http://schemas.microsoft.com/office/drawing/2014/main" val="3671936088"/>
                    </a:ext>
                  </a:extLst>
                </a:gridCol>
                <a:gridCol w="318239">
                  <a:extLst>
                    <a:ext uri="{9D8B030D-6E8A-4147-A177-3AD203B41FA5}">
                      <a16:colId xmlns:a16="http://schemas.microsoft.com/office/drawing/2014/main" val="2143562426"/>
                    </a:ext>
                  </a:extLst>
                </a:gridCol>
                <a:gridCol w="318239">
                  <a:extLst>
                    <a:ext uri="{9D8B030D-6E8A-4147-A177-3AD203B41FA5}">
                      <a16:colId xmlns:a16="http://schemas.microsoft.com/office/drawing/2014/main" val="1783432820"/>
                    </a:ext>
                  </a:extLst>
                </a:gridCol>
                <a:gridCol w="318239">
                  <a:extLst>
                    <a:ext uri="{9D8B030D-6E8A-4147-A177-3AD203B41FA5}">
                      <a16:colId xmlns:a16="http://schemas.microsoft.com/office/drawing/2014/main" val="2886668387"/>
                    </a:ext>
                  </a:extLst>
                </a:gridCol>
                <a:gridCol w="318239">
                  <a:extLst>
                    <a:ext uri="{9D8B030D-6E8A-4147-A177-3AD203B41FA5}">
                      <a16:colId xmlns:a16="http://schemas.microsoft.com/office/drawing/2014/main" val="1859944802"/>
                    </a:ext>
                  </a:extLst>
                </a:gridCol>
                <a:gridCol w="318239">
                  <a:extLst>
                    <a:ext uri="{9D8B030D-6E8A-4147-A177-3AD203B41FA5}">
                      <a16:colId xmlns:a16="http://schemas.microsoft.com/office/drawing/2014/main" val="433105886"/>
                    </a:ext>
                  </a:extLst>
                </a:gridCol>
                <a:gridCol w="318239">
                  <a:extLst>
                    <a:ext uri="{9D8B030D-6E8A-4147-A177-3AD203B41FA5}">
                      <a16:colId xmlns:a16="http://schemas.microsoft.com/office/drawing/2014/main" val="1830972493"/>
                    </a:ext>
                  </a:extLst>
                </a:gridCol>
                <a:gridCol w="318239">
                  <a:extLst>
                    <a:ext uri="{9D8B030D-6E8A-4147-A177-3AD203B41FA5}">
                      <a16:colId xmlns:a16="http://schemas.microsoft.com/office/drawing/2014/main" val="2541127130"/>
                    </a:ext>
                  </a:extLst>
                </a:gridCol>
              </a:tblGrid>
              <a:tr h="278130">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8829326"/>
                  </a:ext>
                </a:extLst>
              </a:tr>
            </a:tbl>
          </a:graphicData>
        </a:graphic>
      </p:graphicFrame>
      <p:sp>
        <p:nvSpPr>
          <p:cNvPr id="5" name="TextBox 4"/>
          <p:cNvSpPr txBox="1"/>
          <p:nvPr/>
        </p:nvSpPr>
        <p:spPr>
          <a:xfrm>
            <a:off x="3306033" y="1877937"/>
            <a:ext cx="2658869" cy="300082"/>
          </a:xfrm>
          <a:prstGeom prst="rect">
            <a:avLst/>
          </a:prstGeom>
          <a:noFill/>
        </p:spPr>
        <p:txBody>
          <a:bodyPr wrap="none" rtlCol="0">
            <a:spAutoFit/>
          </a:bodyPr>
          <a:lstStyle/>
          <a:p>
            <a:r>
              <a:rPr lang="en-US" sz="1350" dirty="0"/>
              <a:t>What helps with morning sickness?</a:t>
            </a:r>
          </a:p>
        </p:txBody>
      </p:sp>
      <p:sp>
        <p:nvSpPr>
          <p:cNvPr id="6" name="TextBox 5">
            <a:extLst>
              <a:ext uri="{FF2B5EF4-FFF2-40B4-BE49-F238E27FC236}">
                <a16:creationId xmlns:a16="http://schemas.microsoft.com/office/drawing/2014/main" id="{CC32AC06-632F-43A5-BCC3-B6853BF55ED1}"/>
              </a:ext>
            </a:extLst>
          </p:cNvPr>
          <p:cNvSpPr txBox="1"/>
          <p:nvPr/>
        </p:nvSpPr>
        <p:spPr>
          <a:xfrm>
            <a:off x="253396" y="2327932"/>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1</a:t>
            </a:r>
            <a:endParaRPr lang="en-US" sz="2098"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3955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443EB-D97A-A647-B55D-DFAA7CABAA68}"/>
              </a:ext>
            </a:extLst>
          </p:cNvPr>
          <p:cNvSpPr>
            <a:spLocks noGrp="1"/>
          </p:cNvSpPr>
          <p:nvPr>
            <p:ph type="title"/>
          </p:nvPr>
        </p:nvSpPr>
        <p:spPr/>
        <p:txBody>
          <a:bodyPr>
            <a:noAutofit/>
          </a:bodyPr>
          <a:lstStyle/>
          <a:p>
            <a:pPr algn="l"/>
            <a:r>
              <a:rPr lang="en-US" sz="3000" dirty="0"/>
              <a:t>Step 2: </a:t>
            </a:r>
            <a:r>
              <a:rPr lang="en-US" sz="3000" u="sng" dirty="0"/>
              <a:t>count how many times each vocabulary word appears in a given SMS</a:t>
            </a:r>
          </a:p>
        </p:txBody>
      </p:sp>
      <p:sp>
        <p:nvSpPr>
          <p:cNvPr id="24" name="TextBox 23"/>
          <p:cNvSpPr txBox="1"/>
          <p:nvPr/>
        </p:nvSpPr>
        <p:spPr>
          <a:xfrm rot="16200000">
            <a:off x="4231914" y="-730122"/>
            <a:ext cx="994170" cy="7940635"/>
          </a:xfrm>
          <a:prstGeom prst="rect">
            <a:avLst/>
          </a:prstGeom>
          <a:noFill/>
        </p:spPr>
        <p:txBody>
          <a:bodyPr wrap="square" numCol="1" rtlCol="0">
            <a:spAutoFit/>
          </a:bodyPr>
          <a:lstStyle/>
          <a:p>
            <a:pPr algn="r">
              <a:spcAft>
                <a:spcPts val="900"/>
              </a:spcAft>
            </a:pPr>
            <a:r>
              <a:rPr lang="en-US" sz="1350" dirty="0"/>
              <a:t>shaking</a:t>
            </a:r>
          </a:p>
          <a:p>
            <a:pPr algn="r">
              <a:spcAft>
                <a:spcPts val="900"/>
              </a:spcAft>
            </a:pPr>
            <a:r>
              <a:rPr lang="en-US" sz="1350" dirty="0"/>
              <a:t>what</a:t>
            </a:r>
          </a:p>
          <a:p>
            <a:pPr algn="r">
              <a:spcAft>
                <a:spcPts val="900"/>
              </a:spcAft>
            </a:pPr>
            <a:r>
              <a:rPr lang="en-US" sz="1350" dirty="0"/>
              <a:t>clinic</a:t>
            </a:r>
          </a:p>
          <a:p>
            <a:pPr algn="r">
              <a:spcAft>
                <a:spcPts val="900"/>
              </a:spcAft>
            </a:pPr>
            <a:r>
              <a:rPr lang="en-US" sz="1350" dirty="0"/>
              <a:t>how</a:t>
            </a:r>
          </a:p>
          <a:p>
            <a:pPr algn="r">
              <a:spcAft>
                <a:spcPts val="900"/>
              </a:spcAft>
            </a:pPr>
            <a:r>
              <a:rPr lang="en-US" sz="1350" dirty="0"/>
              <a:t>helps</a:t>
            </a:r>
          </a:p>
          <a:p>
            <a:pPr algn="r">
              <a:spcAft>
                <a:spcPts val="900"/>
              </a:spcAft>
            </a:pPr>
            <a:r>
              <a:rPr lang="en-US" sz="1350" dirty="0"/>
              <a:t>was</a:t>
            </a:r>
          </a:p>
          <a:p>
            <a:pPr algn="r">
              <a:spcAft>
                <a:spcPts val="900"/>
              </a:spcAft>
            </a:pPr>
            <a:r>
              <a:rPr lang="en-US" sz="1350" dirty="0"/>
              <a:t>nearest</a:t>
            </a:r>
          </a:p>
          <a:p>
            <a:pPr algn="r">
              <a:spcAft>
                <a:spcPts val="900"/>
              </a:spcAft>
            </a:pPr>
            <a:r>
              <a:rPr lang="en-US" sz="1350" dirty="0"/>
              <a:t>many</a:t>
            </a:r>
          </a:p>
          <a:p>
            <a:pPr algn="r">
              <a:spcAft>
                <a:spcPts val="900"/>
              </a:spcAft>
            </a:pPr>
            <a:r>
              <a:rPr lang="en-US" sz="1350" dirty="0"/>
              <a:t>with</a:t>
            </a:r>
          </a:p>
          <a:p>
            <a:pPr algn="r">
              <a:spcAft>
                <a:spcPts val="900"/>
              </a:spcAft>
            </a:pPr>
            <a:r>
              <a:rPr lang="en-US" sz="1350" dirty="0"/>
              <a:t>said</a:t>
            </a:r>
          </a:p>
          <a:p>
            <a:pPr algn="r">
              <a:spcAft>
                <a:spcPts val="900"/>
              </a:spcAft>
            </a:pPr>
            <a:r>
              <a:rPr lang="en-US" sz="1350" dirty="0"/>
              <a:t>months</a:t>
            </a:r>
          </a:p>
          <a:p>
            <a:pPr algn="r">
              <a:spcAft>
                <a:spcPts val="900"/>
              </a:spcAft>
            </a:pPr>
            <a:r>
              <a:rPr lang="en-US" sz="1350" dirty="0"/>
              <a:t>the</a:t>
            </a:r>
          </a:p>
          <a:p>
            <a:pPr algn="r">
              <a:spcAft>
                <a:spcPts val="900"/>
              </a:spcAft>
            </a:pPr>
            <a:r>
              <a:rPr lang="en-US" sz="1350" dirty="0"/>
              <a:t>morning</a:t>
            </a:r>
          </a:p>
          <a:p>
            <a:pPr algn="r">
              <a:spcAft>
                <a:spcPts val="900"/>
              </a:spcAft>
            </a:pPr>
            <a:r>
              <a:rPr lang="en-US" sz="1350" dirty="0"/>
              <a:t>mom</a:t>
            </a:r>
          </a:p>
          <a:p>
            <a:pPr algn="r">
              <a:spcAft>
                <a:spcPts val="900"/>
              </a:spcAft>
            </a:pPr>
            <a:r>
              <a:rPr lang="en-US" sz="1350" dirty="0"/>
              <a:t>should</a:t>
            </a:r>
          </a:p>
          <a:p>
            <a:pPr algn="r">
              <a:spcAft>
                <a:spcPts val="900"/>
              </a:spcAft>
            </a:pPr>
            <a:r>
              <a:rPr lang="en-US" sz="1350" dirty="0"/>
              <a:t>sickness</a:t>
            </a:r>
          </a:p>
          <a:p>
            <a:pPr algn="r">
              <a:spcAft>
                <a:spcPts val="900"/>
              </a:spcAft>
            </a:pPr>
            <a:r>
              <a:rPr lang="en-US" sz="1350" dirty="0"/>
              <a:t>and</a:t>
            </a:r>
          </a:p>
          <a:p>
            <a:pPr algn="r">
              <a:spcAft>
                <a:spcPts val="900"/>
              </a:spcAft>
            </a:pPr>
            <a:r>
              <a:rPr lang="en-US" sz="1350" dirty="0"/>
              <a:t>I</a:t>
            </a:r>
          </a:p>
          <a:p>
            <a:pPr algn="r">
              <a:spcAft>
                <a:spcPts val="900"/>
              </a:spcAft>
            </a:pPr>
            <a:r>
              <a:rPr lang="en-US" sz="1350" dirty="0"/>
              <a:t>is</a:t>
            </a:r>
          </a:p>
          <a:p>
            <a:pPr algn="r">
              <a:spcAft>
                <a:spcPts val="900"/>
              </a:spcAft>
            </a:pPr>
            <a:r>
              <a:rPr lang="en-US" sz="1350" dirty="0"/>
              <a:t>how</a:t>
            </a:r>
          </a:p>
          <a:p>
            <a:pPr algn="r">
              <a:spcAft>
                <a:spcPts val="900"/>
              </a:spcAft>
            </a:pPr>
            <a:r>
              <a:rPr lang="en-US" sz="1350" dirty="0"/>
              <a:t>out</a:t>
            </a:r>
          </a:p>
          <a:p>
            <a:pPr algn="r">
              <a:spcAft>
                <a:spcPts val="900"/>
              </a:spcAft>
            </a:pPr>
            <a:r>
              <a:rPr lang="en-US" sz="1350" dirty="0"/>
              <a:t>breastfeed</a:t>
            </a:r>
          </a:p>
          <a:p>
            <a:pPr algn="r">
              <a:spcAft>
                <a:spcPts val="900"/>
              </a:spcAft>
            </a:pPr>
            <a:r>
              <a:rPr lang="en-US" sz="1350" dirty="0"/>
              <a:t>passed</a:t>
            </a:r>
          </a:p>
          <a:p>
            <a:pPr algn="r">
              <a:spcAft>
                <a:spcPts val="900"/>
              </a:spcAft>
            </a:pPr>
            <a:r>
              <a:rPr lang="en-US" sz="1350" dirty="0"/>
              <a:t>where</a:t>
            </a:r>
          </a:p>
        </p:txBody>
      </p:sp>
      <p:graphicFrame>
        <p:nvGraphicFramePr>
          <p:cNvPr id="4" name="Table 3"/>
          <p:cNvGraphicFramePr>
            <a:graphicFrameLocks noGrp="1"/>
          </p:cNvGraphicFramePr>
          <p:nvPr/>
        </p:nvGraphicFramePr>
        <p:xfrm>
          <a:off x="758681" y="2352522"/>
          <a:ext cx="7637736" cy="278130"/>
        </p:xfrm>
        <a:graphic>
          <a:graphicData uri="http://schemas.openxmlformats.org/drawingml/2006/table">
            <a:tbl>
              <a:tblPr firstRow="1" bandRow="1">
                <a:tableStyleId>{5C22544A-7EE6-4342-B048-85BDC9FD1C3A}</a:tableStyleId>
              </a:tblPr>
              <a:tblGrid>
                <a:gridCol w="318239">
                  <a:extLst>
                    <a:ext uri="{9D8B030D-6E8A-4147-A177-3AD203B41FA5}">
                      <a16:colId xmlns:a16="http://schemas.microsoft.com/office/drawing/2014/main" val="2123615854"/>
                    </a:ext>
                  </a:extLst>
                </a:gridCol>
                <a:gridCol w="318239">
                  <a:extLst>
                    <a:ext uri="{9D8B030D-6E8A-4147-A177-3AD203B41FA5}">
                      <a16:colId xmlns:a16="http://schemas.microsoft.com/office/drawing/2014/main" val="1026716743"/>
                    </a:ext>
                  </a:extLst>
                </a:gridCol>
                <a:gridCol w="318239">
                  <a:extLst>
                    <a:ext uri="{9D8B030D-6E8A-4147-A177-3AD203B41FA5}">
                      <a16:colId xmlns:a16="http://schemas.microsoft.com/office/drawing/2014/main" val="96650165"/>
                    </a:ext>
                  </a:extLst>
                </a:gridCol>
                <a:gridCol w="318239">
                  <a:extLst>
                    <a:ext uri="{9D8B030D-6E8A-4147-A177-3AD203B41FA5}">
                      <a16:colId xmlns:a16="http://schemas.microsoft.com/office/drawing/2014/main" val="3474831274"/>
                    </a:ext>
                  </a:extLst>
                </a:gridCol>
                <a:gridCol w="318239">
                  <a:extLst>
                    <a:ext uri="{9D8B030D-6E8A-4147-A177-3AD203B41FA5}">
                      <a16:colId xmlns:a16="http://schemas.microsoft.com/office/drawing/2014/main" val="217631323"/>
                    </a:ext>
                  </a:extLst>
                </a:gridCol>
                <a:gridCol w="318239">
                  <a:extLst>
                    <a:ext uri="{9D8B030D-6E8A-4147-A177-3AD203B41FA5}">
                      <a16:colId xmlns:a16="http://schemas.microsoft.com/office/drawing/2014/main" val="3527401608"/>
                    </a:ext>
                  </a:extLst>
                </a:gridCol>
                <a:gridCol w="318239">
                  <a:extLst>
                    <a:ext uri="{9D8B030D-6E8A-4147-A177-3AD203B41FA5}">
                      <a16:colId xmlns:a16="http://schemas.microsoft.com/office/drawing/2014/main" val="71044606"/>
                    </a:ext>
                  </a:extLst>
                </a:gridCol>
                <a:gridCol w="318239">
                  <a:extLst>
                    <a:ext uri="{9D8B030D-6E8A-4147-A177-3AD203B41FA5}">
                      <a16:colId xmlns:a16="http://schemas.microsoft.com/office/drawing/2014/main" val="1617904699"/>
                    </a:ext>
                  </a:extLst>
                </a:gridCol>
                <a:gridCol w="318239">
                  <a:extLst>
                    <a:ext uri="{9D8B030D-6E8A-4147-A177-3AD203B41FA5}">
                      <a16:colId xmlns:a16="http://schemas.microsoft.com/office/drawing/2014/main" val="1019104690"/>
                    </a:ext>
                  </a:extLst>
                </a:gridCol>
                <a:gridCol w="318239">
                  <a:extLst>
                    <a:ext uri="{9D8B030D-6E8A-4147-A177-3AD203B41FA5}">
                      <a16:colId xmlns:a16="http://schemas.microsoft.com/office/drawing/2014/main" val="1607840343"/>
                    </a:ext>
                  </a:extLst>
                </a:gridCol>
                <a:gridCol w="318239">
                  <a:extLst>
                    <a:ext uri="{9D8B030D-6E8A-4147-A177-3AD203B41FA5}">
                      <a16:colId xmlns:a16="http://schemas.microsoft.com/office/drawing/2014/main" val="3897121448"/>
                    </a:ext>
                  </a:extLst>
                </a:gridCol>
                <a:gridCol w="318239">
                  <a:extLst>
                    <a:ext uri="{9D8B030D-6E8A-4147-A177-3AD203B41FA5}">
                      <a16:colId xmlns:a16="http://schemas.microsoft.com/office/drawing/2014/main" val="1233070038"/>
                    </a:ext>
                  </a:extLst>
                </a:gridCol>
                <a:gridCol w="318239">
                  <a:extLst>
                    <a:ext uri="{9D8B030D-6E8A-4147-A177-3AD203B41FA5}">
                      <a16:colId xmlns:a16="http://schemas.microsoft.com/office/drawing/2014/main" val="227495959"/>
                    </a:ext>
                  </a:extLst>
                </a:gridCol>
                <a:gridCol w="318239">
                  <a:extLst>
                    <a:ext uri="{9D8B030D-6E8A-4147-A177-3AD203B41FA5}">
                      <a16:colId xmlns:a16="http://schemas.microsoft.com/office/drawing/2014/main" val="368435216"/>
                    </a:ext>
                  </a:extLst>
                </a:gridCol>
                <a:gridCol w="318239">
                  <a:extLst>
                    <a:ext uri="{9D8B030D-6E8A-4147-A177-3AD203B41FA5}">
                      <a16:colId xmlns:a16="http://schemas.microsoft.com/office/drawing/2014/main" val="4289944958"/>
                    </a:ext>
                  </a:extLst>
                </a:gridCol>
                <a:gridCol w="318239">
                  <a:extLst>
                    <a:ext uri="{9D8B030D-6E8A-4147-A177-3AD203B41FA5}">
                      <a16:colId xmlns:a16="http://schemas.microsoft.com/office/drawing/2014/main" val="2658057197"/>
                    </a:ext>
                  </a:extLst>
                </a:gridCol>
                <a:gridCol w="318239">
                  <a:extLst>
                    <a:ext uri="{9D8B030D-6E8A-4147-A177-3AD203B41FA5}">
                      <a16:colId xmlns:a16="http://schemas.microsoft.com/office/drawing/2014/main" val="3671936088"/>
                    </a:ext>
                  </a:extLst>
                </a:gridCol>
                <a:gridCol w="318239">
                  <a:extLst>
                    <a:ext uri="{9D8B030D-6E8A-4147-A177-3AD203B41FA5}">
                      <a16:colId xmlns:a16="http://schemas.microsoft.com/office/drawing/2014/main" val="2143562426"/>
                    </a:ext>
                  </a:extLst>
                </a:gridCol>
                <a:gridCol w="318239">
                  <a:extLst>
                    <a:ext uri="{9D8B030D-6E8A-4147-A177-3AD203B41FA5}">
                      <a16:colId xmlns:a16="http://schemas.microsoft.com/office/drawing/2014/main" val="1783432820"/>
                    </a:ext>
                  </a:extLst>
                </a:gridCol>
                <a:gridCol w="318239">
                  <a:extLst>
                    <a:ext uri="{9D8B030D-6E8A-4147-A177-3AD203B41FA5}">
                      <a16:colId xmlns:a16="http://schemas.microsoft.com/office/drawing/2014/main" val="2886668387"/>
                    </a:ext>
                  </a:extLst>
                </a:gridCol>
                <a:gridCol w="318239">
                  <a:extLst>
                    <a:ext uri="{9D8B030D-6E8A-4147-A177-3AD203B41FA5}">
                      <a16:colId xmlns:a16="http://schemas.microsoft.com/office/drawing/2014/main" val="1859944802"/>
                    </a:ext>
                  </a:extLst>
                </a:gridCol>
                <a:gridCol w="318239">
                  <a:extLst>
                    <a:ext uri="{9D8B030D-6E8A-4147-A177-3AD203B41FA5}">
                      <a16:colId xmlns:a16="http://schemas.microsoft.com/office/drawing/2014/main" val="433105886"/>
                    </a:ext>
                  </a:extLst>
                </a:gridCol>
                <a:gridCol w="318239">
                  <a:extLst>
                    <a:ext uri="{9D8B030D-6E8A-4147-A177-3AD203B41FA5}">
                      <a16:colId xmlns:a16="http://schemas.microsoft.com/office/drawing/2014/main" val="1830972493"/>
                    </a:ext>
                  </a:extLst>
                </a:gridCol>
                <a:gridCol w="318239">
                  <a:extLst>
                    <a:ext uri="{9D8B030D-6E8A-4147-A177-3AD203B41FA5}">
                      <a16:colId xmlns:a16="http://schemas.microsoft.com/office/drawing/2014/main" val="2541127130"/>
                    </a:ext>
                  </a:extLst>
                </a:gridCol>
              </a:tblGrid>
              <a:tr h="278130">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2</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8829326"/>
                  </a:ext>
                </a:extLst>
              </a:tr>
            </a:tbl>
          </a:graphicData>
        </a:graphic>
      </p:graphicFrame>
      <p:sp>
        <p:nvSpPr>
          <p:cNvPr id="5" name="TextBox 4"/>
          <p:cNvSpPr txBox="1"/>
          <p:nvPr/>
        </p:nvSpPr>
        <p:spPr>
          <a:xfrm>
            <a:off x="3114010" y="1877937"/>
            <a:ext cx="3037691" cy="300082"/>
          </a:xfrm>
          <a:prstGeom prst="rect">
            <a:avLst/>
          </a:prstGeom>
          <a:noFill/>
        </p:spPr>
        <p:txBody>
          <a:bodyPr wrap="none" rtlCol="0">
            <a:spAutoFit/>
          </a:bodyPr>
          <a:lstStyle/>
          <a:p>
            <a:r>
              <a:rPr lang="en-US" sz="1350" dirty="0"/>
              <a:t>I passed out and Mom said I was shaking</a:t>
            </a:r>
          </a:p>
        </p:txBody>
      </p:sp>
      <p:sp>
        <p:nvSpPr>
          <p:cNvPr id="26" name="TextBox 25">
            <a:extLst>
              <a:ext uri="{FF2B5EF4-FFF2-40B4-BE49-F238E27FC236}">
                <a16:creationId xmlns:a16="http://schemas.microsoft.com/office/drawing/2014/main" id="{CC32AC06-632F-43A5-BCC3-B6853BF55ED1}"/>
              </a:ext>
            </a:extLst>
          </p:cNvPr>
          <p:cNvSpPr txBox="1"/>
          <p:nvPr/>
        </p:nvSpPr>
        <p:spPr>
          <a:xfrm>
            <a:off x="253396" y="2327932"/>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3</a:t>
            </a:r>
            <a:endParaRPr lang="en-US" sz="2098"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8264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443EB-D97A-A647-B55D-DFAA7CABAA68}"/>
              </a:ext>
            </a:extLst>
          </p:cNvPr>
          <p:cNvSpPr>
            <a:spLocks noGrp="1"/>
          </p:cNvSpPr>
          <p:nvPr>
            <p:ph type="title"/>
          </p:nvPr>
        </p:nvSpPr>
        <p:spPr/>
        <p:txBody>
          <a:bodyPr>
            <a:noAutofit/>
          </a:bodyPr>
          <a:lstStyle/>
          <a:p>
            <a:pPr algn="l"/>
            <a:r>
              <a:rPr lang="en-US" sz="3000" dirty="0"/>
              <a:t>Note that word order does not matter!</a:t>
            </a:r>
            <a:endParaRPr lang="en-US" sz="3000" u="sng" dirty="0"/>
          </a:p>
        </p:txBody>
      </p:sp>
      <p:sp>
        <p:nvSpPr>
          <p:cNvPr id="24" name="TextBox 23"/>
          <p:cNvSpPr txBox="1"/>
          <p:nvPr/>
        </p:nvSpPr>
        <p:spPr>
          <a:xfrm rot="16200000">
            <a:off x="4190882" y="-707793"/>
            <a:ext cx="1076234" cy="7940635"/>
          </a:xfrm>
          <a:prstGeom prst="rect">
            <a:avLst/>
          </a:prstGeom>
          <a:noFill/>
        </p:spPr>
        <p:txBody>
          <a:bodyPr wrap="square" numCol="1" rtlCol="0">
            <a:spAutoFit/>
          </a:bodyPr>
          <a:lstStyle/>
          <a:p>
            <a:pPr algn="r">
              <a:spcAft>
                <a:spcPts val="900"/>
              </a:spcAft>
            </a:pPr>
            <a:r>
              <a:rPr lang="en-US" sz="1350" dirty="0"/>
              <a:t>shaking</a:t>
            </a:r>
          </a:p>
          <a:p>
            <a:pPr algn="r">
              <a:spcAft>
                <a:spcPts val="900"/>
              </a:spcAft>
            </a:pPr>
            <a:r>
              <a:rPr lang="en-US" sz="1350" dirty="0"/>
              <a:t>what</a:t>
            </a:r>
          </a:p>
          <a:p>
            <a:pPr algn="r">
              <a:spcAft>
                <a:spcPts val="900"/>
              </a:spcAft>
            </a:pPr>
            <a:r>
              <a:rPr lang="en-US" sz="1350" dirty="0"/>
              <a:t>clinic</a:t>
            </a:r>
          </a:p>
          <a:p>
            <a:pPr algn="r">
              <a:spcAft>
                <a:spcPts val="900"/>
              </a:spcAft>
            </a:pPr>
            <a:r>
              <a:rPr lang="en-US" sz="1350" dirty="0"/>
              <a:t>how</a:t>
            </a:r>
          </a:p>
          <a:p>
            <a:pPr algn="r">
              <a:spcAft>
                <a:spcPts val="900"/>
              </a:spcAft>
            </a:pPr>
            <a:r>
              <a:rPr lang="en-US" sz="1350" dirty="0"/>
              <a:t>helps</a:t>
            </a:r>
          </a:p>
          <a:p>
            <a:pPr algn="r">
              <a:spcAft>
                <a:spcPts val="900"/>
              </a:spcAft>
            </a:pPr>
            <a:r>
              <a:rPr lang="en-US" sz="1350" dirty="0"/>
              <a:t>was</a:t>
            </a:r>
          </a:p>
          <a:p>
            <a:pPr algn="r">
              <a:spcAft>
                <a:spcPts val="900"/>
              </a:spcAft>
            </a:pPr>
            <a:r>
              <a:rPr lang="en-US" sz="1350" dirty="0"/>
              <a:t>nearest</a:t>
            </a:r>
          </a:p>
          <a:p>
            <a:pPr algn="r">
              <a:spcAft>
                <a:spcPts val="900"/>
              </a:spcAft>
            </a:pPr>
            <a:r>
              <a:rPr lang="en-US" sz="1350" dirty="0"/>
              <a:t>many</a:t>
            </a:r>
          </a:p>
          <a:p>
            <a:pPr algn="r">
              <a:spcAft>
                <a:spcPts val="900"/>
              </a:spcAft>
            </a:pPr>
            <a:r>
              <a:rPr lang="en-US" sz="1350" dirty="0"/>
              <a:t>with</a:t>
            </a:r>
          </a:p>
          <a:p>
            <a:pPr algn="r">
              <a:spcAft>
                <a:spcPts val="900"/>
              </a:spcAft>
            </a:pPr>
            <a:r>
              <a:rPr lang="en-US" sz="1350" dirty="0"/>
              <a:t>said</a:t>
            </a:r>
          </a:p>
          <a:p>
            <a:pPr algn="r">
              <a:spcAft>
                <a:spcPts val="900"/>
              </a:spcAft>
            </a:pPr>
            <a:r>
              <a:rPr lang="en-US" sz="1350" dirty="0"/>
              <a:t>months</a:t>
            </a:r>
          </a:p>
          <a:p>
            <a:pPr algn="r">
              <a:spcAft>
                <a:spcPts val="900"/>
              </a:spcAft>
            </a:pPr>
            <a:r>
              <a:rPr lang="en-US" sz="1350" dirty="0"/>
              <a:t>the</a:t>
            </a:r>
          </a:p>
          <a:p>
            <a:pPr algn="r">
              <a:spcAft>
                <a:spcPts val="900"/>
              </a:spcAft>
            </a:pPr>
            <a:r>
              <a:rPr lang="en-US" sz="1350" dirty="0"/>
              <a:t>morning</a:t>
            </a:r>
          </a:p>
          <a:p>
            <a:pPr algn="r">
              <a:spcAft>
                <a:spcPts val="900"/>
              </a:spcAft>
            </a:pPr>
            <a:r>
              <a:rPr lang="en-US" sz="1350" dirty="0"/>
              <a:t>mom</a:t>
            </a:r>
          </a:p>
          <a:p>
            <a:pPr algn="r">
              <a:spcAft>
                <a:spcPts val="900"/>
              </a:spcAft>
            </a:pPr>
            <a:r>
              <a:rPr lang="en-US" sz="1350" dirty="0"/>
              <a:t>should</a:t>
            </a:r>
          </a:p>
          <a:p>
            <a:pPr algn="r">
              <a:spcAft>
                <a:spcPts val="900"/>
              </a:spcAft>
            </a:pPr>
            <a:r>
              <a:rPr lang="en-US" sz="1350" dirty="0"/>
              <a:t>sickness</a:t>
            </a:r>
          </a:p>
          <a:p>
            <a:pPr algn="r">
              <a:spcAft>
                <a:spcPts val="900"/>
              </a:spcAft>
            </a:pPr>
            <a:r>
              <a:rPr lang="en-US" sz="1350" dirty="0"/>
              <a:t>and</a:t>
            </a:r>
          </a:p>
          <a:p>
            <a:pPr algn="r">
              <a:spcAft>
                <a:spcPts val="900"/>
              </a:spcAft>
            </a:pPr>
            <a:r>
              <a:rPr lang="en-US" sz="1350" dirty="0"/>
              <a:t>I</a:t>
            </a:r>
          </a:p>
          <a:p>
            <a:pPr algn="r">
              <a:spcAft>
                <a:spcPts val="900"/>
              </a:spcAft>
            </a:pPr>
            <a:r>
              <a:rPr lang="en-US" sz="1350" dirty="0"/>
              <a:t>is</a:t>
            </a:r>
          </a:p>
          <a:p>
            <a:pPr algn="r">
              <a:spcAft>
                <a:spcPts val="900"/>
              </a:spcAft>
            </a:pPr>
            <a:r>
              <a:rPr lang="en-US" sz="1350" dirty="0"/>
              <a:t>how</a:t>
            </a:r>
          </a:p>
          <a:p>
            <a:pPr algn="r">
              <a:spcAft>
                <a:spcPts val="900"/>
              </a:spcAft>
            </a:pPr>
            <a:r>
              <a:rPr lang="en-US" sz="1350" dirty="0"/>
              <a:t>out</a:t>
            </a:r>
          </a:p>
          <a:p>
            <a:pPr algn="r">
              <a:spcAft>
                <a:spcPts val="900"/>
              </a:spcAft>
            </a:pPr>
            <a:r>
              <a:rPr lang="en-US" sz="1350" dirty="0"/>
              <a:t>breastfeed</a:t>
            </a:r>
          </a:p>
          <a:p>
            <a:pPr algn="r">
              <a:spcAft>
                <a:spcPts val="900"/>
              </a:spcAft>
            </a:pPr>
            <a:r>
              <a:rPr lang="en-US" sz="1350" dirty="0"/>
              <a:t>passed</a:t>
            </a:r>
          </a:p>
          <a:p>
            <a:pPr algn="r">
              <a:spcAft>
                <a:spcPts val="900"/>
              </a:spcAft>
            </a:pPr>
            <a:r>
              <a:rPr lang="en-US" sz="1350" dirty="0"/>
              <a:t>where</a:t>
            </a:r>
          </a:p>
        </p:txBody>
      </p:sp>
      <p:graphicFrame>
        <p:nvGraphicFramePr>
          <p:cNvPr id="4" name="Table 3"/>
          <p:cNvGraphicFramePr>
            <a:graphicFrameLocks noGrp="1"/>
          </p:cNvGraphicFramePr>
          <p:nvPr/>
        </p:nvGraphicFramePr>
        <p:xfrm>
          <a:off x="758681" y="2352522"/>
          <a:ext cx="7637736" cy="278130"/>
        </p:xfrm>
        <a:graphic>
          <a:graphicData uri="http://schemas.openxmlformats.org/drawingml/2006/table">
            <a:tbl>
              <a:tblPr firstRow="1" bandRow="1">
                <a:tableStyleId>{5C22544A-7EE6-4342-B048-85BDC9FD1C3A}</a:tableStyleId>
              </a:tblPr>
              <a:tblGrid>
                <a:gridCol w="318239">
                  <a:extLst>
                    <a:ext uri="{9D8B030D-6E8A-4147-A177-3AD203B41FA5}">
                      <a16:colId xmlns:a16="http://schemas.microsoft.com/office/drawing/2014/main" val="2123615854"/>
                    </a:ext>
                  </a:extLst>
                </a:gridCol>
                <a:gridCol w="318239">
                  <a:extLst>
                    <a:ext uri="{9D8B030D-6E8A-4147-A177-3AD203B41FA5}">
                      <a16:colId xmlns:a16="http://schemas.microsoft.com/office/drawing/2014/main" val="1026716743"/>
                    </a:ext>
                  </a:extLst>
                </a:gridCol>
                <a:gridCol w="318239">
                  <a:extLst>
                    <a:ext uri="{9D8B030D-6E8A-4147-A177-3AD203B41FA5}">
                      <a16:colId xmlns:a16="http://schemas.microsoft.com/office/drawing/2014/main" val="96650165"/>
                    </a:ext>
                  </a:extLst>
                </a:gridCol>
                <a:gridCol w="318239">
                  <a:extLst>
                    <a:ext uri="{9D8B030D-6E8A-4147-A177-3AD203B41FA5}">
                      <a16:colId xmlns:a16="http://schemas.microsoft.com/office/drawing/2014/main" val="3474831274"/>
                    </a:ext>
                  </a:extLst>
                </a:gridCol>
                <a:gridCol w="318239">
                  <a:extLst>
                    <a:ext uri="{9D8B030D-6E8A-4147-A177-3AD203B41FA5}">
                      <a16:colId xmlns:a16="http://schemas.microsoft.com/office/drawing/2014/main" val="217631323"/>
                    </a:ext>
                  </a:extLst>
                </a:gridCol>
                <a:gridCol w="318239">
                  <a:extLst>
                    <a:ext uri="{9D8B030D-6E8A-4147-A177-3AD203B41FA5}">
                      <a16:colId xmlns:a16="http://schemas.microsoft.com/office/drawing/2014/main" val="3527401608"/>
                    </a:ext>
                  </a:extLst>
                </a:gridCol>
                <a:gridCol w="318239">
                  <a:extLst>
                    <a:ext uri="{9D8B030D-6E8A-4147-A177-3AD203B41FA5}">
                      <a16:colId xmlns:a16="http://schemas.microsoft.com/office/drawing/2014/main" val="71044606"/>
                    </a:ext>
                  </a:extLst>
                </a:gridCol>
                <a:gridCol w="318239">
                  <a:extLst>
                    <a:ext uri="{9D8B030D-6E8A-4147-A177-3AD203B41FA5}">
                      <a16:colId xmlns:a16="http://schemas.microsoft.com/office/drawing/2014/main" val="1617904699"/>
                    </a:ext>
                  </a:extLst>
                </a:gridCol>
                <a:gridCol w="318239">
                  <a:extLst>
                    <a:ext uri="{9D8B030D-6E8A-4147-A177-3AD203B41FA5}">
                      <a16:colId xmlns:a16="http://schemas.microsoft.com/office/drawing/2014/main" val="1019104690"/>
                    </a:ext>
                  </a:extLst>
                </a:gridCol>
                <a:gridCol w="318239">
                  <a:extLst>
                    <a:ext uri="{9D8B030D-6E8A-4147-A177-3AD203B41FA5}">
                      <a16:colId xmlns:a16="http://schemas.microsoft.com/office/drawing/2014/main" val="1607840343"/>
                    </a:ext>
                  </a:extLst>
                </a:gridCol>
                <a:gridCol w="318239">
                  <a:extLst>
                    <a:ext uri="{9D8B030D-6E8A-4147-A177-3AD203B41FA5}">
                      <a16:colId xmlns:a16="http://schemas.microsoft.com/office/drawing/2014/main" val="3897121448"/>
                    </a:ext>
                  </a:extLst>
                </a:gridCol>
                <a:gridCol w="318239">
                  <a:extLst>
                    <a:ext uri="{9D8B030D-6E8A-4147-A177-3AD203B41FA5}">
                      <a16:colId xmlns:a16="http://schemas.microsoft.com/office/drawing/2014/main" val="1233070038"/>
                    </a:ext>
                  </a:extLst>
                </a:gridCol>
                <a:gridCol w="318239">
                  <a:extLst>
                    <a:ext uri="{9D8B030D-6E8A-4147-A177-3AD203B41FA5}">
                      <a16:colId xmlns:a16="http://schemas.microsoft.com/office/drawing/2014/main" val="227495959"/>
                    </a:ext>
                  </a:extLst>
                </a:gridCol>
                <a:gridCol w="318239">
                  <a:extLst>
                    <a:ext uri="{9D8B030D-6E8A-4147-A177-3AD203B41FA5}">
                      <a16:colId xmlns:a16="http://schemas.microsoft.com/office/drawing/2014/main" val="368435216"/>
                    </a:ext>
                  </a:extLst>
                </a:gridCol>
                <a:gridCol w="318239">
                  <a:extLst>
                    <a:ext uri="{9D8B030D-6E8A-4147-A177-3AD203B41FA5}">
                      <a16:colId xmlns:a16="http://schemas.microsoft.com/office/drawing/2014/main" val="4289944958"/>
                    </a:ext>
                  </a:extLst>
                </a:gridCol>
                <a:gridCol w="318239">
                  <a:extLst>
                    <a:ext uri="{9D8B030D-6E8A-4147-A177-3AD203B41FA5}">
                      <a16:colId xmlns:a16="http://schemas.microsoft.com/office/drawing/2014/main" val="2658057197"/>
                    </a:ext>
                  </a:extLst>
                </a:gridCol>
                <a:gridCol w="318239">
                  <a:extLst>
                    <a:ext uri="{9D8B030D-6E8A-4147-A177-3AD203B41FA5}">
                      <a16:colId xmlns:a16="http://schemas.microsoft.com/office/drawing/2014/main" val="3671936088"/>
                    </a:ext>
                  </a:extLst>
                </a:gridCol>
                <a:gridCol w="318239">
                  <a:extLst>
                    <a:ext uri="{9D8B030D-6E8A-4147-A177-3AD203B41FA5}">
                      <a16:colId xmlns:a16="http://schemas.microsoft.com/office/drawing/2014/main" val="2143562426"/>
                    </a:ext>
                  </a:extLst>
                </a:gridCol>
                <a:gridCol w="318239">
                  <a:extLst>
                    <a:ext uri="{9D8B030D-6E8A-4147-A177-3AD203B41FA5}">
                      <a16:colId xmlns:a16="http://schemas.microsoft.com/office/drawing/2014/main" val="1783432820"/>
                    </a:ext>
                  </a:extLst>
                </a:gridCol>
                <a:gridCol w="318239">
                  <a:extLst>
                    <a:ext uri="{9D8B030D-6E8A-4147-A177-3AD203B41FA5}">
                      <a16:colId xmlns:a16="http://schemas.microsoft.com/office/drawing/2014/main" val="2886668387"/>
                    </a:ext>
                  </a:extLst>
                </a:gridCol>
                <a:gridCol w="318239">
                  <a:extLst>
                    <a:ext uri="{9D8B030D-6E8A-4147-A177-3AD203B41FA5}">
                      <a16:colId xmlns:a16="http://schemas.microsoft.com/office/drawing/2014/main" val="1859944802"/>
                    </a:ext>
                  </a:extLst>
                </a:gridCol>
                <a:gridCol w="318239">
                  <a:extLst>
                    <a:ext uri="{9D8B030D-6E8A-4147-A177-3AD203B41FA5}">
                      <a16:colId xmlns:a16="http://schemas.microsoft.com/office/drawing/2014/main" val="433105886"/>
                    </a:ext>
                  </a:extLst>
                </a:gridCol>
                <a:gridCol w="318239">
                  <a:extLst>
                    <a:ext uri="{9D8B030D-6E8A-4147-A177-3AD203B41FA5}">
                      <a16:colId xmlns:a16="http://schemas.microsoft.com/office/drawing/2014/main" val="1830972493"/>
                    </a:ext>
                  </a:extLst>
                </a:gridCol>
                <a:gridCol w="318239">
                  <a:extLst>
                    <a:ext uri="{9D8B030D-6E8A-4147-A177-3AD203B41FA5}">
                      <a16:colId xmlns:a16="http://schemas.microsoft.com/office/drawing/2014/main" val="2541127130"/>
                    </a:ext>
                  </a:extLst>
                </a:gridCol>
              </a:tblGrid>
              <a:tr h="278130">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8829326"/>
                  </a:ext>
                </a:extLst>
              </a:tr>
            </a:tbl>
          </a:graphicData>
        </a:graphic>
      </p:graphicFrame>
      <p:sp>
        <p:nvSpPr>
          <p:cNvPr id="5" name="TextBox 4"/>
          <p:cNvSpPr txBox="1"/>
          <p:nvPr/>
        </p:nvSpPr>
        <p:spPr>
          <a:xfrm>
            <a:off x="3627829" y="1877937"/>
            <a:ext cx="2016771" cy="300082"/>
          </a:xfrm>
          <a:prstGeom prst="rect">
            <a:avLst/>
          </a:prstGeom>
          <a:noFill/>
        </p:spPr>
        <p:txBody>
          <a:bodyPr wrap="none" rtlCol="0">
            <a:spAutoFit/>
          </a:bodyPr>
          <a:lstStyle/>
          <a:p>
            <a:r>
              <a:rPr lang="en-US" sz="1350" dirty="0"/>
              <a:t>clinic is where nearest the</a:t>
            </a:r>
          </a:p>
        </p:txBody>
      </p:sp>
      <p:sp>
        <p:nvSpPr>
          <p:cNvPr id="6" name="TextBox 5">
            <a:extLst>
              <a:ext uri="{FF2B5EF4-FFF2-40B4-BE49-F238E27FC236}">
                <a16:creationId xmlns:a16="http://schemas.microsoft.com/office/drawing/2014/main" id="{CC32AC06-632F-43A5-BCC3-B6853BF55ED1}"/>
              </a:ext>
            </a:extLst>
          </p:cNvPr>
          <p:cNvSpPr txBox="1"/>
          <p:nvPr/>
        </p:nvSpPr>
        <p:spPr>
          <a:xfrm>
            <a:off x="253396" y="2327932"/>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4</a:t>
            </a:r>
            <a:endParaRPr lang="en-US" sz="2098"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9042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lated image"/>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3625603" y="2214948"/>
            <a:ext cx="1722870" cy="172287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A “bag of words”</a:t>
            </a:r>
          </a:p>
        </p:txBody>
      </p:sp>
      <p:sp>
        <p:nvSpPr>
          <p:cNvPr id="4" name="TextBox 3"/>
          <p:cNvSpPr txBox="1"/>
          <p:nvPr/>
        </p:nvSpPr>
        <p:spPr>
          <a:xfrm>
            <a:off x="3955537" y="3070200"/>
            <a:ext cx="543739" cy="300082"/>
          </a:xfrm>
          <a:prstGeom prst="rect">
            <a:avLst/>
          </a:prstGeom>
          <a:noFill/>
        </p:spPr>
        <p:txBody>
          <a:bodyPr wrap="none" rtlCol="0">
            <a:spAutoFit/>
          </a:bodyPr>
          <a:lstStyle/>
          <a:p>
            <a:r>
              <a:rPr lang="en-US" sz="1350" dirty="0"/>
              <a:t>clinic</a:t>
            </a:r>
          </a:p>
        </p:txBody>
      </p:sp>
      <p:sp>
        <p:nvSpPr>
          <p:cNvPr id="5" name="TextBox 4"/>
          <p:cNvSpPr txBox="1"/>
          <p:nvPr/>
        </p:nvSpPr>
        <p:spPr>
          <a:xfrm>
            <a:off x="4222424" y="3531843"/>
            <a:ext cx="292068" cy="300082"/>
          </a:xfrm>
          <a:prstGeom prst="rect">
            <a:avLst/>
          </a:prstGeom>
          <a:noFill/>
        </p:spPr>
        <p:txBody>
          <a:bodyPr wrap="none" rtlCol="0">
            <a:spAutoFit/>
          </a:bodyPr>
          <a:lstStyle/>
          <a:p>
            <a:r>
              <a:rPr lang="en-US" sz="1350" dirty="0"/>
              <a:t>is</a:t>
            </a:r>
          </a:p>
        </p:txBody>
      </p:sp>
      <p:sp>
        <p:nvSpPr>
          <p:cNvPr id="6" name="TextBox 5"/>
          <p:cNvSpPr txBox="1"/>
          <p:nvPr/>
        </p:nvSpPr>
        <p:spPr>
          <a:xfrm>
            <a:off x="3849605" y="3294556"/>
            <a:ext cx="631198" cy="300082"/>
          </a:xfrm>
          <a:prstGeom prst="rect">
            <a:avLst/>
          </a:prstGeom>
          <a:noFill/>
        </p:spPr>
        <p:txBody>
          <a:bodyPr wrap="none" rtlCol="0">
            <a:spAutoFit/>
          </a:bodyPr>
          <a:lstStyle/>
          <a:p>
            <a:r>
              <a:rPr lang="en-US" sz="1350" dirty="0"/>
              <a:t>where</a:t>
            </a:r>
          </a:p>
        </p:txBody>
      </p:sp>
      <p:sp>
        <p:nvSpPr>
          <p:cNvPr id="7" name="TextBox 6"/>
          <p:cNvSpPr txBox="1"/>
          <p:nvPr/>
        </p:nvSpPr>
        <p:spPr>
          <a:xfrm>
            <a:off x="4471502" y="3402865"/>
            <a:ext cx="420308" cy="300082"/>
          </a:xfrm>
          <a:prstGeom prst="rect">
            <a:avLst/>
          </a:prstGeom>
          <a:noFill/>
        </p:spPr>
        <p:txBody>
          <a:bodyPr wrap="none" rtlCol="0">
            <a:spAutoFit/>
          </a:bodyPr>
          <a:lstStyle/>
          <a:p>
            <a:r>
              <a:rPr lang="en-US" sz="1350" dirty="0"/>
              <a:t>the</a:t>
            </a:r>
          </a:p>
        </p:txBody>
      </p:sp>
      <p:sp>
        <p:nvSpPr>
          <p:cNvPr id="8" name="TextBox 7"/>
          <p:cNvSpPr txBox="1"/>
          <p:nvPr/>
        </p:nvSpPr>
        <p:spPr>
          <a:xfrm>
            <a:off x="4380850" y="3125866"/>
            <a:ext cx="714234" cy="300082"/>
          </a:xfrm>
          <a:prstGeom prst="rect">
            <a:avLst/>
          </a:prstGeom>
          <a:noFill/>
        </p:spPr>
        <p:txBody>
          <a:bodyPr wrap="none" rtlCol="0">
            <a:spAutoFit/>
          </a:bodyPr>
          <a:lstStyle/>
          <a:p>
            <a:r>
              <a:rPr lang="en-US" sz="1350" dirty="0"/>
              <a:t>nearest</a:t>
            </a:r>
          </a:p>
        </p:txBody>
      </p:sp>
    </p:spTree>
    <p:extLst>
      <p:ext uri="{BB962C8B-B14F-4D97-AF65-F5344CB8AC3E}">
        <p14:creationId xmlns:p14="http://schemas.microsoft.com/office/powerpoint/2010/main" val="319706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C28C9-C0B3-8D78-FFCA-5B74E7229E24}"/>
            </a:ext>
          </a:extLst>
        </p:cNvPr>
        <p:cNvGrpSpPr/>
        <p:nvPr/>
      </p:nvGrpSpPr>
      <p:grpSpPr>
        <a:xfrm>
          <a:off x="0" y="0"/>
          <a:ext cx="0" cy="0"/>
          <a:chOff x="0" y="0"/>
          <a:chExt cx="0" cy="0"/>
        </a:xfrm>
      </p:grpSpPr>
      <p:pic>
        <p:nvPicPr>
          <p:cNvPr id="1028" name="Picture 4" descr="Related image">
            <a:extLst>
              <a:ext uri="{FF2B5EF4-FFF2-40B4-BE49-F238E27FC236}">
                <a16:creationId xmlns:a16="http://schemas.microsoft.com/office/drawing/2014/main" id="{CB9B92AF-A756-A215-12A5-C51FE21373F1}"/>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892397" y="1268016"/>
            <a:ext cx="1722870" cy="172287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8E7675E-27AA-AC94-E754-1F4DAF1702A5}"/>
              </a:ext>
            </a:extLst>
          </p:cNvPr>
          <p:cNvSpPr>
            <a:spLocks noGrp="1"/>
          </p:cNvSpPr>
          <p:nvPr>
            <p:ph type="title"/>
          </p:nvPr>
        </p:nvSpPr>
        <p:spPr/>
        <p:txBody>
          <a:bodyPr/>
          <a:lstStyle/>
          <a:p>
            <a:r>
              <a:rPr lang="en-US" dirty="0"/>
              <a:t>A “bag of medical codes”</a:t>
            </a:r>
          </a:p>
        </p:txBody>
      </p:sp>
      <p:sp>
        <p:nvSpPr>
          <p:cNvPr id="4" name="TextBox 3">
            <a:extLst>
              <a:ext uri="{FF2B5EF4-FFF2-40B4-BE49-F238E27FC236}">
                <a16:creationId xmlns:a16="http://schemas.microsoft.com/office/drawing/2014/main" id="{BD5A2F07-EE1E-F043-5F75-8218A479B746}"/>
              </a:ext>
            </a:extLst>
          </p:cNvPr>
          <p:cNvSpPr txBox="1"/>
          <p:nvPr/>
        </p:nvSpPr>
        <p:spPr>
          <a:xfrm>
            <a:off x="2190432" y="2070103"/>
            <a:ext cx="591829" cy="307777"/>
          </a:xfrm>
          <a:prstGeom prst="rect">
            <a:avLst/>
          </a:prstGeom>
          <a:noFill/>
        </p:spPr>
        <p:txBody>
          <a:bodyPr wrap="none" rtlCol="0">
            <a:spAutoFit/>
          </a:bodyPr>
          <a:lstStyle/>
          <a:p>
            <a:r>
              <a:rPr lang="en-US" sz="1400" dirty="0"/>
              <a:t>E55.9</a:t>
            </a:r>
          </a:p>
        </p:txBody>
      </p:sp>
      <p:sp>
        <p:nvSpPr>
          <p:cNvPr id="5" name="TextBox 4">
            <a:extLst>
              <a:ext uri="{FF2B5EF4-FFF2-40B4-BE49-F238E27FC236}">
                <a16:creationId xmlns:a16="http://schemas.microsoft.com/office/drawing/2014/main" id="{1D96B855-235D-E069-29D7-13999041BE67}"/>
              </a:ext>
            </a:extLst>
          </p:cNvPr>
          <p:cNvSpPr txBox="1"/>
          <p:nvPr/>
        </p:nvSpPr>
        <p:spPr>
          <a:xfrm>
            <a:off x="2446686" y="2606177"/>
            <a:ext cx="604653" cy="300082"/>
          </a:xfrm>
          <a:prstGeom prst="rect">
            <a:avLst/>
          </a:prstGeom>
          <a:noFill/>
        </p:spPr>
        <p:txBody>
          <a:bodyPr wrap="none" rtlCol="0">
            <a:spAutoFit/>
          </a:bodyPr>
          <a:lstStyle/>
          <a:p>
            <a:r>
              <a:rPr lang="en-US" sz="1350" dirty="0"/>
              <a:t>N39.0</a:t>
            </a:r>
          </a:p>
        </p:txBody>
      </p:sp>
      <p:sp>
        <p:nvSpPr>
          <p:cNvPr id="6" name="TextBox 5">
            <a:extLst>
              <a:ext uri="{FF2B5EF4-FFF2-40B4-BE49-F238E27FC236}">
                <a16:creationId xmlns:a16="http://schemas.microsoft.com/office/drawing/2014/main" id="{DC6295D7-F7B4-92E2-9453-89E2B9E27CCC}"/>
              </a:ext>
            </a:extLst>
          </p:cNvPr>
          <p:cNvSpPr txBox="1"/>
          <p:nvPr/>
        </p:nvSpPr>
        <p:spPr>
          <a:xfrm>
            <a:off x="2116399" y="2347624"/>
            <a:ext cx="662361" cy="300082"/>
          </a:xfrm>
          <a:prstGeom prst="rect">
            <a:avLst/>
          </a:prstGeom>
          <a:noFill/>
        </p:spPr>
        <p:txBody>
          <a:bodyPr wrap="none" rtlCol="0">
            <a:spAutoFit/>
          </a:bodyPr>
          <a:lstStyle/>
          <a:p>
            <a:r>
              <a:rPr lang="en-US" sz="1350" dirty="0"/>
              <a:t>Z79.01</a:t>
            </a:r>
          </a:p>
        </p:txBody>
      </p:sp>
      <p:sp>
        <p:nvSpPr>
          <p:cNvPr id="7" name="TextBox 6">
            <a:extLst>
              <a:ext uri="{FF2B5EF4-FFF2-40B4-BE49-F238E27FC236}">
                <a16:creationId xmlns:a16="http://schemas.microsoft.com/office/drawing/2014/main" id="{E1470739-A038-E519-CE57-39F9AFC31CDA}"/>
              </a:ext>
            </a:extLst>
          </p:cNvPr>
          <p:cNvSpPr txBox="1"/>
          <p:nvPr/>
        </p:nvSpPr>
        <p:spPr>
          <a:xfrm>
            <a:off x="2738296" y="2402768"/>
            <a:ext cx="577402" cy="300082"/>
          </a:xfrm>
          <a:prstGeom prst="rect">
            <a:avLst/>
          </a:prstGeom>
          <a:noFill/>
        </p:spPr>
        <p:txBody>
          <a:bodyPr wrap="none" rtlCol="0">
            <a:spAutoFit/>
          </a:bodyPr>
          <a:lstStyle/>
          <a:p>
            <a:r>
              <a:rPr lang="en-US" sz="1350" dirty="0"/>
              <a:t>E11.9</a:t>
            </a:r>
          </a:p>
        </p:txBody>
      </p:sp>
      <p:sp>
        <p:nvSpPr>
          <p:cNvPr id="8" name="TextBox 7">
            <a:extLst>
              <a:ext uri="{FF2B5EF4-FFF2-40B4-BE49-F238E27FC236}">
                <a16:creationId xmlns:a16="http://schemas.microsoft.com/office/drawing/2014/main" id="{4C7CFEB6-3517-5605-C680-33666136CF67}"/>
              </a:ext>
            </a:extLst>
          </p:cNvPr>
          <p:cNvSpPr txBox="1"/>
          <p:nvPr/>
        </p:nvSpPr>
        <p:spPr>
          <a:xfrm>
            <a:off x="2690176" y="2178934"/>
            <a:ext cx="572593" cy="300082"/>
          </a:xfrm>
          <a:prstGeom prst="rect">
            <a:avLst/>
          </a:prstGeom>
          <a:noFill/>
        </p:spPr>
        <p:txBody>
          <a:bodyPr wrap="none" rtlCol="0">
            <a:spAutoFit/>
          </a:bodyPr>
          <a:lstStyle/>
          <a:p>
            <a:r>
              <a:rPr lang="en-US" sz="1350" dirty="0"/>
              <a:t>F84.5</a:t>
            </a:r>
          </a:p>
        </p:txBody>
      </p:sp>
      <p:pic>
        <p:nvPicPr>
          <p:cNvPr id="3" name="Picture 2">
            <a:extLst>
              <a:ext uri="{FF2B5EF4-FFF2-40B4-BE49-F238E27FC236}">
                <a16:creationId xmlns:a16="http://schemas.microsoft.com/office/drawing/2014/main" id="{CF46638A-8249-7EEF-3EE0-C3F9466C55D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9241" y="3347667"/>
            <a:ext cx="8765518" cy="1538222"/>
          </a:xfrm>
          <a:prstGeom prst="rect">
            <a:avLst/>
          </a:prstGeom>
          <a:ln>
            <a:solidFill>
              <a:schemeClr val="tx1"/>
            </a:solidFill>
          </a:ln>
        </p:spPr>
      </p:pic>
      <p:sp>
        <p:nvSpPr>
          <p:cNvPr id="9" name="TextBox 8">
            <a:extLst>
              <a:ext uri="{FF2B5EF4-FFF2-40B4-BE49-F238E27FC236}">
                <a16:creationId xmlns:a16="http://schemas.microsoft.com/office/drawing/2014/main" id="{5447EFD6-6915-6E62-70CD-2F8B3AF76E47}"/>
              </a:ext>
            </a:extLst>
          </p:cNvPr>
          <p:cNvSpPr txBox="1"/>
          <p:nvPr/>
        </p:nvSpPr>
        <p:spPr>
          <a:xfrm>
            <a:off x="4903784" y="1970401"/>
            <a:ext cx="3611566" cy="369332"/>
          </a:xfrm>
          <a:prstGeom prst="rect">
            <a:avLst/>
          </a:prstGeom>
          <a:noFill/>
        </p:spPr>
        <p:txBody>
          <a:bodyPr wrap="none" rtlCol="0">
            <a:spAutoFit/>
          </a:bodyPr>
          <a:lstStyle/>
          <a:p>
            <a:r>
              <a:rPr lang="en-US" dirty="0"/>
              <a:t>(you did this in coding assignment 1)</a:t>
            </a:r>
          </a:p>
        </p:txBody>
      </p:sp>
    </p:spTree>
    <p:extLst>
      <p:ext uri="{BB962C8B-B14F-4D97-AF65-F5344CB8AC3E}">
        <p14:creationId xmlns:p14="http://schemas.microsoft.com/office/powerpoint/2010/main" val="2116881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D82D2-47DE-D9A9-D6FF-E5C995DE9975}"/>
              </a:ext>
            </a:extLst>
          </p:cNvPr>
          <p:cNvSpPr>
            <a:spLocks noGrp="1"/>
          </p:cNvSpPr>
          <p:nvPr>
            <p:ph type="title"/>
          </p:nvPr>
        </p:nvSpPr>
        <p:spPr>
          <a:xfrm>
            <a:off x="628650" y="2074664"/>
            <a:ext cx="7886700" cy="994172"/>
          </a:xfrm>
        </p:spPr>
        <p:txBody>
          <a:bodyPr/>
          <a:lstStyle/>
          <a:p>
            <a:r>
              <a:rPr lang="en-US" dirty="0"/>
              <a:t>Discuss: what are the limitations of treating text as a bag of words?</a:t>
            </a:r>
          </a:p>
        </p:txBody>
      </p:sp>
    </p:spTree>
    <p:extLst>
      <p:ext uri="{BB962C8B-B14F-4D97-AF65-F5344CB8AC3E}">
        <p14:creationId xmlns:p14="http://schemas.microsoft.com/office/powerpoint/2010/main" val="24009427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997F-E60F-5856-1B64-3DD36BD499AC}"/>
              </a:ext>
            </a:extLst>
          </p:cNvPr>
          <p:cNvSpPr>
            <a:spLocks noGrp="1"/>
          </p:cNvSpPr>
          <p:nvPr>
            <p:ph type="title"/>
          </p:nvPr>
        </p:nvSpPr>
        <p:spPr/>
        <p:txBody>
          <a:bodyPr/>
          <a:lstStyle/>
          <a:p>
            <a:r>
              <a:rPr lang="en-US" dirty="0"/>
              <a:t>Text to numbers, v2: </a:t>
            </a:r>
            <a:br>
              <a:rPr lang="en-US" dirty="0"/>
            </a:br>
            <a:r>
              <a:rPr lang="en-US" dirty="0"/>
              <a:t>word embeddings</a:t>
            </a:r>
          </a:p>
        </p:txBody>
      </p:sp>
      <p:sp>
        <p:nvSpPr>
          <p:cNvPr id="3" name="Text Placeholder 2">
            <a:extLst>
              <a:ext uri="{FF2B5EF4-FFF2-40B4-BE49-F238E27FC236}">
                <a16:creationId xmlns:a16="http://schemas.microsoft.com/office/drawing/2014/main" id="{93432DBE-FF27-4C7C-C0A9-FADD3C7F1810}"/>
              </a:ext>
            </a:extLst>
          </p:cNvPr>
          <p:cNvSpPr>
            <a:spLocks noGrp="1"/>
          </p:cNvSpPr>
          <p:nvPr>
            <p:ph type="body" idx="1"/>
          </p:nvPr>
        </p:nvSpPr>
        <p:spPr/>
        <p:txBody>
          <a:bodyPr/>
          <a:lstStyle/>
          <a:p>
            <a:r>
              <a:rPr lang="en-US" dirty="0"/>
              <a:t>Key problem: quantifying semantic relationships between words</a:t>
            </a:r>
          </a:p>
        </p:txBody>
      </p:sp>
    </p:spTree>
    <p:extLst>
      <p:ext uri="{BB962C8B-B14F-4D97-AF65-F5344CB8AC3E}">
        <p14:creationId xmlns:p14="http://schemas.microsoft.com/office/powerpoint/2010/main" val="3028737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443EB-D97A-A647-B55D-DFAA7CABAA68}"/>
              </a:ext>
            </a:extLst>
          </p:cNvPr>
          <p:cNvSpPr>
            <a:spLocks noGrp="1"/>
          </p:cNvSpPr>
          <p:nvPr>
            <p:ph type="title"/>
          </p:nvPr>
        </p:nvSpPr>
        <p:spPr>
          <a:xfrm>
            <a:off x="457200" y="164596"/>
            <a:ext cx="8229600" cy="857250"/>
          </a:xfrm>
        </p:spPr>
        <p:txBody>
          <a:bodyPr>
            <a:noAutofit/>
          </a:bodyPr>
          <a:lstStyle/>
          <a:p>
            <a:r>
              <a:rPr lang="en-US" sz="3000" dirty="0"/>
              <a:t>Word embedding: a numeric representation of a word that encodes its meaning</a:t>
            </a:r>
          </a:p>
        </p:txBody>
      </p:sp>
      <p:sp>
        <p:nvSpPr>
          <p:cNvPr id="16" name="TextBox 15">
            <a:extLst>
              <a:ext uri="{FF2B5EF4-FFF2-40B4-BE49-F238E27FC236}">
                <a16:creationId xmlns:a16="http://schemas.microsoft.com/office/drawing/2014/main" id="{45F1BB00-7856-7446-8C5E-2FBA67162D88}"/>
              </a:ext>
            </a:extLst>
          </p:cNvPr>
          <p:cNvSpPr txBox="1"/>
          <p:nvPr/>
        </p:nvSpPr>
        <p:spPr>
          <a:xfrm>
            <a:off x="5420488" y="2254451"/>
            <a:ext cx="1880762" cy="396583"/>
          </a:xfrm>
          <a:prstGeom prst="rect">
            <a:avLst/>
          </a:prstGeom>
          <a:noFill/>
        </p:spPr>
        <p:txBody>
          <a:bodyPr wrap="square" rtlCol="0">
            <a:spAutoFit/>
          </a:bodyPr>
          <a:lstStyle/>
          <a:p>
            <a:pPr algn="r"/>
            <a:r>
              <a:rPr lang="en-US" sz="1977" dirty="0">
                <a:solidFill>
                  <a:schemeClr val="tx2"/>
                </a:solidFill>
              </a:rPr>
              <a:t>happy</a:t>
            </a:r>
          </a:p>
        </p:txBody>
      </p:sp>
      <p:sp>
        <p:nvSpPr>
          <p:cNvPr id="17" name="TextBox 16">
            <a:extLst>
              <a:ext uri="{FF2B5EF4-FFF2-40B4-BE49-F238E27FC236}">
                <a16:creationId xmlns:a16="http://schemas.microsoft.com/office/drawing/2014/main" id="{98BFDD58-EB3C-C34E-BB34-451CCAD8F698}"/>
              </a:ext>
            </a:extLst>
          </p:cNvPr>
          <p:cNvSpPr txBox="1"/>
          <p:nvPr/>
        </p:nvSpPr>
        <p:spPr>
          <a:xfrm>
            <a:off x="3971208" y="2385017"/>
            <a:ext cx="1880762" cy="396583"/>
          </a:xfrm>
          <a:prstGeom prst="rect">
            <a:avLst/>
          </a:prstGeom>
          <a:noFill/>
        </p:spPr>
        <p:txBody>
          <a:bodyPr wrap="square" rtlCol="0">
            <a:spAutoFit/>
          </a:bodyPr>
          <a:lstStyle/>
          <a:p>
            <a:pPr algn="r"/>
            <a:r>
              <a:rPr lang="en-US" sz="1977" dirty="0">
                <a:solidFill>
                  <a:schemeClr val="tx2"/>
                </a:solidFill>
              </a:rPr>
              <a:t>content</a:t>
            </a:r>
          </a:p>
        </p:txBody>
      </p:sp>
      <p:sp>
        <p:nvSpPr>
          <p:cNvPr id="18" name="TextBox 17">
            <a:extLst>
              <a:ext uri="{FF2B5EF4-FFF2-40B4-BE49-F238E27FC236}">
                <a16:creationId xmlns:a16="http://schemas.microsoft.com/office/drawing/2014/main" id="{13818781-A770-454B-80A9-94744A7FF37F}"/>
              </a:ext>
            </a:extLst>
          </p:cNvPr>
          <p:cNvSpPr txBox="1"/>
          <p:nvPr/>
        </p:nvSpPr>
        <p:spPr>
          <a:xfrm>
            <a:off x="5961235" y="1944008"/>
            <a:ext cx="1880762" cy="396583"/>
          </a:xfrm>
          <a:prstGeom prst="rect">
            <a:avLst/>
          </a:prstGeom>
          <a:noFill/>
        </p:spPr>
        <p:txBody>
          <a:bodyPr wrap="square" rtlCol="0">
            <a:spAutoFit/>
          </a:bodyPr>
          <a:lstStyle/>
          <a:p>
            <a:pPr algn="r"/>
            <a:r>
              <a:rPr lang="en-US" sz="1977" dirty="0">
                <a:solidFill>
                  <a:schemeClr val="tx2"/>
                </a:solidFill>
              </a:rPr>
              <a:t>joyful</a:t>
            </a:r>
          </a:p>
        </p:txBody>
      </p:sp>
      <p:sp>
        <p:nvSpPr>
          <p:cNvPr id="19" name="TextBox 18">
            <a:extLst>
              <a:ext uri="{FF2B5EF4-FFF2-40B4-BE49-F238E27FC236}">
                <a16:creationId xmlns:a16="http://schemas.microsoft.com/office/drawing/2014/main" id="{171F8335-ECB2-7A4D-82D0-3DCE61D73934}"/>
              </a:ext>
            </a:extLst>
          </p:cNvPr>
          <p:cNvSpPr txBox="1"/>
          <p:nvPr/>
        </p:nvSpPr>
        <p:spPr>
          <a:xfrm>
            <a:off x="4572001" y="2699668"/>
            <a:ext cx="1880762" cy="396583"/>
          </a:xfrm>
          <a:prstGeom prst="rect">
            <a:avLst/>
          </a:prstGeom>
          <a:noFill/>
        </p:spPr>
        <p:txBody>
          <a:bodyPr wrap="square" rtlCol="0">
            <a:spAutoFit/>
          </a:bodyPr>
          <a:lstStyle/>
          <a:p>
            <a:pPr algn="r"/>
            <a:r>
              <a:rPr lang="en-US" sz="1977" dirty="0">
                <a:solidFill>
                  <a:schemeClr val="tx2"/>
                </a:solidFill>
              </a:rPr>
              <a:t>satisfied</a:t>
            </a:r>
          </a:p>
        </p:txBody>
      </p:sp>
      <p:sp>
        <p:nvSpPr>
          <p:cNvPr id="20" name="TextBox 19">
            <a:extLst>
              <a:ext uri="{FF2B5EF4-FFF2-40B4-BE49-F238E27FC236}">
                <a16:creationId xmlns:a16="http://schemas.microsoft.com/office/drawing/2014/main" id="{39A63E6B-5114-B340-BC65-DBD86141279A}"/>
              </a:ext>
            </a:extLst>
          </p:cNvPr>
          <p:cNvSpPr txBox="1"/>
          <p:nvPr/>
        </p:nvSpPr>
        <p:spPr>
          <a:xfrm>
            <a:off x="5527405" y="2884493"/>
            <a:ext cx="1880762" cy="396583"/>
          </a:xfrm>
          <a:prstGeom prst="rect">
            <a:avLst/>
          </a:prstGeom>
          <a:noFill/>
        </p:spPr>
        <p:txBody>
          <a:bodyPr wrap="square" rtlCol="0">
            <a:spAutoFit/>
          </a:bodyPr>
          <a:lstStyle/>
          <a:p>
            <a:pPr algn="r"/>
            <a:r>
              <a:rPr lang="en-US" sz="1977" dirty="0">
                <a:solidFill>
                  <a:schemeClr val="tx2"/>
                </a:solidFill>
              </a:rPr>
              <a:t>merry</a:t>
            </a:r>
          </a:p>
        </p:txBody>
      </p:sp>
      <p:sp>
        <p:nvSpPr>
          <p:cNvPr id="21" name="TextBox 20">
            <a:extLst>
              <a:ext uri="{FF2B5EF4-FFF2-40B4-BE49-F238E27FC236}">
                <a16:creationId xmlns:a16="http://schemas.microsoft.com/office/drawing/2014/main" id="{403C6FED-0EF4-B34D-9DD5-ED78AC7B4C80}"/>
              </a:ext>
            </a:extLst>
          </p:cNvPr>
          <p:cNvSpPr txBox="1"/>
          <p:nvPr/>
        </p:nvSpPr>
        <p:spPr>
          <a:xfrm>
            <a:off x="6806038" y="2886401"/>
            <a:ext cx="1880762" cy="396583"/>
          </a:xfrm>
          <a:prstGeom prst="rect">
            <a:avLst/>
          </a:prstGeom>
          <a:noFill/>
        </p:spPr>
        <p:txBody>
          <a:bodyPr wrap="square" rtlCol="0">
            <a:spAutoFit/>
          </a:bodyPr>
          <a:lstStyle/>
          <a:p>
            <a:pPr algn="r"/>
            <a:r>
              <a:rPr lang="en-US" sz="1977" dirty="0">
                <a:solidFill>
                  <a:schemeClr val="tx2"/>
                </a:solidFill>
              </a:rPr>
              <a:t>ecstatic</a:t>
            </a:r>
          </a:p>
        </p:txBody>
      </p:sp>
      <p:sp>
        <p:nvSpPr>
          <p:cNvPr id="22" name="TextBox 21">
            <a:extLst>
              <a:ext uri="{FF2B5EF4-FFF2-40B4-BE49-F238E27FC236}">
                <a16:creationId xmlns:a16="http://schemas.microsoft.com/office/drawing/2014/main" id="{B763DE9A-E18E-2C45-B7B8-FB7AB28B149B}"/>
              </a:ext>
            </a:extLst>
          </p:cNvPr>
          <p:cNvSpPr txBox="1"/>
          <p:nvPr/>
        </p:nvSpPr>
        <p:spPr>
          <a:xfrm>
            <a:off x="6165952" y="3296957"/>
            <a:ext cx="1880762" cy="396583"/>
          </a:xfrm>
          <a:prstGeom prst="rect">
            <a:avLst/>
          </a:prstGeom>
          <a:noFill/>
        </p:spPr>
        <p:txBody>
          <a:bodyPr wrap="square" rtlCol="0">
            <a:spAutoFit/>
          </a:bodyPr>
          <a:lstStyle/>
          <a:p>
            <a:pPr algn="r"/>
            <a:r>
              <a:rPr lang="en-US" sz="1977" dirty="0">
                <a:solidFill>
                  <a:schemeClr val="tx2"/>
                </a:solidFill>
              </a:rPr>
              <a:t>gleeful</a:t>
            </a:r>
          </a:p>
        </p:txBody>
      </p:sp>
      <p:sp>
        <p:nvSpPr>
          <p:cNvPr id="23" name="TextBox 22">
            <a:extLst>
              <a:ext uri="{FF2B5EF4-FFF2-40B4-BE49-F238E27FC236}">
                <a16:creationId xmlns:a16="http://schemas.microsoft.com/office/drawing/2014/main" id="{A174C37D-8A18-434E-873B-38FBA9E7BABB}"/>
              </a:ext>
            </a:extLst>
          </p:cNvPr>
          <p:cNvSpPr txBox="1"/>
          <p:nvPr/>
        </p:nvSpPr>
        <p:spPr>
          <a:xfrm>
            <a:off x="6667180" y="2388629"/>
            <a:ext cx="1880762" cy="396583"/>
          </a:xfrm>
          <a:prstGeom prst="rect">
            <a:avLst/>
          </a:prstGeom>
          <a:noFill/>
        </p:spPr>
        <p:txBody>
          <a:bodyPr wrap="square" rtlCol="0">
            <a:spAutoFit/>
          </a:bodyPr>
          <a:lstStyle/>
          <a:p>
            <a:pPr algn="r"/>
            <a:r>
              <a:rPr lang="en-US" sz="1977" dirty="0">
                <a:solidFill>
                  <a:schemeClr val="tx2"/>
                </a:solidFill>
              </a:rPr>
              <a:t>euphoric</a:t>
            </a:r>
          </a:p>
        </p:txBody>
      </p:sp>
      <p:cxnSp>
        <p:nvCxnSpPr>
          <p:cNvPr id="4" name="Straight Arrow Connector 3"/>
          <p:cNvCxnSpPr/>
          <p:nvPr/>
        </p:nvCxnSpPr>
        <p:spPr>
          <a:xfrm>
            <a:off x="457200" y="3892734"/>
            <a:ext cx="8229600" cy="0"/>
          </a:xfrm>
          <a:prstGeom prst="straightConnector1">
            <a:avLst/>
          </a:prstGeom>
          <a:ln>
            <a:headEnd type="arrow" w="med" len="med"/>
            <a:tailEnd type="arrow" w="med" len="med"/>
          </a:ln>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CFAA4EA2-C85E-C346-9E6E-A19BDB693D50}"/>
              </a:ext>
            </a:extLst>
          </p:cNvPr>
          <p:cNvSpPr txBox="1"/>
          <p:nvPr/>
        </p:nvSpPr>
        <p:spPr>
          <a:xfrm>
            <a:off x="105411" y="2683475"/>
            <a:ext cx="1880762" cy="396583"/>
          </a:xfrm>
          <a:prstGeom prst="rect">
            <a:avLst/>
          </a:prstGeom>
          <a:noFill/>
        </p:spPr>
        <p:txBody>
          <a:bodyPr wrap="square" rtlCol="0">
            <a:spAutoFit/>
          </a:bodyPr>
          <a:lstStyle/>
          <a:p>
            <a:pPr algn="r"/>
            <a:r>
              <a:rPr lang="en-US" sz="1977" dirty="0">
                <a:solidFill>
                  <a:schemeClr val="tx2"/>
                </a:solidFill>
              </a:rPr>
              <a:t>sad</a:t>
            </a:r>
          </a:p>
        </p:txBody>
      </p:sp>
      <p:sp>
        <p:nvSpPr>
          <p:cNvPr id="31" name="TextBox 30">
            <a:extLst>
              <a:ext uri="{FF2B5EF4-FFF2-40B4-BE49-F238E27FC236}">
                <a16:creationId xmlns:a16="http://schemas.microsoft.com/office/drawing/2014/main" id="{285C59C3-0EA7-354E-A742-DF89E8770A40}"/>
              </a:ext>
            </a:extLst>
          </p:cNvPr>
          <p:cNvSpPr txBox="1"/>
          <p:nvPr/>
        </p:nvSpPr>
        <p:spPr>
          <a:xfrm>
            <a:off x="1876027" y="2598227"/>
            <a:ext cx="1880762" cy="396583"/>
          </a:xfrm>
          <a:prstGeom prst="rect">
            <a:avLst/>
          </a:prstGeom>
          <a:noFill/>
        </p:spPr>
        <p:txBody>
          <a:bodyPr wrap="square" rtlCol="0">
            <a:spAutoFit/>
          </a:bodyPr>
          <a:lstStyle/>
          <a:p>
            <a:pPr algn="r"/>
            <a:r>
              <a:rPr lang="en-US" sz="1977" dirty="0">
                <a:solidFill>
                  <a:schemeClr val="tx2"/>
                </a:solidFill>
              </a:rPr>
              <a:t>unhappy</a:t>
            </a:r>
          </a:p>
        </p:txBody>
      </p:sp>
      <p:sp>
        <p:nvSpPr>
          <p:cNvPr id="32" name="TextBox 31">
            <a:extLst>
              <a:ext uri="{FF2B5EF4-FFF2-40B4-BE49-F238E27FC236}">
                <a16:creationId xmlns:a16="http://schemas.microsoft.com/office/drawing/2014/main" id="{DB167BFA-74D5-5844-A8A1-FD03EB76CF86}"/>
              </a:ext>
            </a:extLst>
          </p:cNvPr>
          <p:cNvSpPr txBox="1"/>
          <p:nvPr/>
        </p:nvSpPr>
        <p:spPr>
          <a:xfrm>
            <a:off x="1225329" y="2349028"/>
            <a:ext cx="1880762" cy="396583"/>
          </a:xfrm>
          <a:prstGeom prst="rect">
            <a:avLst/>
          </a:prstGeom>
          <a:noFill/>
        </p:spPr>
        <p:txBody>
          <a:bodyPr wrap="square" rtlCol="0">
            <a:spAutoFit/>
          </a:bodyPr>
          <a:lstStyle/>
          <a:p>
            <a:pPr algn="r"/>
            <a:r>
              <a:rPr lang="en-US" sz="1977" dirty="0">
                <a:solidFill>
                  <a:schemeClr val="tx2"/>
                </a:solidFill>
              </a:rPr>
              <a:t>melancholy</a:t>
            </a:r>
          </a:p>
        </p:txBody>
      </p:sp>
      <p:sp>
        <p:nvSpPr>
          <p:cNvPr id="33" name="TextBox 32">
            <a:extLst>
              <a:ext uri="{FF2B5EF4-FFF2-40B4-BE49-F238E27FC236}">
                <a16:creationId xmlns:a16="http://schemas.microsoft.com/office/drawing/2014/main" id="{1476BE74-3A95-BF4F-96B6-84E98BB0F0EE}"/>
              </a:ext>
            </a:extLst>
          </p:cNvPr>
          <p:cNvSpPr txBox="1"/>
          <p:nvPr/>
        </p:nvSpPr>
        <p:spPr>
          <a:xfrm>
            <a:off x="565711" y="3242042"/>
            <a:ext cx="1880762" cy="396583"/>
          </a:xfrm>
          <a:prstGeom prst="rect">
            <a:avLst/>
          </a:prstGeom>
          <a:noFill/>
        </p:spPr>
        <p:txBody>
          <a:bodyPr wrap="square" rtlCol="0">
            <a:spAutoFit/>
          </a:bodyPr>
          <a:lstStyle/>
          <a:p>
            <a:pPr algn="r"/>
            <a:r>
              <a:rPr lang="en-US" sz="1977" dirty="0">
                <a:solidFill>
                  <a:schemeClr val="tx2"/>
                </a:solidFill>
              </a:rPr>
              <a:t>depressed</a:t>
            </a:r>
          </a:p>
        </p:txBody>
      </p:sp>
      <p:sp>
        <p:nvSpPr>
          <p:cNvPr id="34" name="TextBox 33">
            <a:extLst>
              <a:ext uri="{FF2B5EF4-FFF2-40B4-BE49-F238E27FC236}">
                <a16:creationId xmlns:a16="http://schemas.microsoft.com/office/drawing/2014/main" id="{FDE39DBB-115B-9C4B-8938-2C0B7E94FBE3}"/>
              </a:ext>
            </a:extLst>
          </p:cNvPr>
          <p:cNvSpPr txBox="1"/>
          <p:nvPr/>
        </p:nvSpPr>
        <p:spPr>
          <a:xfrm>
            <a:off x="2083618" y="1971452"/>
            <a:ext cx="1880762" cy="396583"/>
          </a:xfrm>
          <a:prstGeom prst="rect">
            <a:avLst/>
          </a:prstGeom>
          <a:noFill/>
        </p:spPr>
        <p:txBody>
          <a:bodyPr wrap="square" rtlCol="0">
            <a:spAutoFit/>
          </a:bodyPr>
          <a:lstStyle/>
          <a:p>
            <a:pPr algn="r"/>
            <a:r>
              <a:rPr lang="en-US" sz="1977" dirty="0">
                <a:solidFill>
                  <a:schemeClr val="tx2"/>
                </a:solidFill>
              </a:rPr>
              <a:t>upset</a:t>
            </a:r>
          </a:p>
        </p:txBody>
      </p:sp>
      <p:sp>
        <p:nvSpPr>
          <p:cNvPr id="35" name="TextBox 34">
            <a:extLst>
              <a:ext uri="{FF2B5EF4-FFF2-40B4-BE49-F238E27FC236}">
                <a16:creationId xmlns:a16="http://schemas.microsoft.com/office/drawing/2014/main" id="{8A3FD563-9A1F-A64D-8148-B7A71BB2FECB}"/>
              </a:ext>
            </a:extLst>
          </p:cNvPr>
          <p:cNvSpPr txBox="1"/>
          <p:nvPr/>
        </p:nvSpPr>
        <p:spPr>
          <a:xfrm>
            <a:off x="2267649" y="3254165"/>
            <a:ext cx="1880762" cy="396583"/>
          </a:xfrm>
          <a:prstGeom prst="rect">
            <a:avLst/>
          </a:prstGeom>
          <a:noFill/>
        </p:spPr>
        <p:txBody>
          <a:bodyPr wrap="square" rtlCol="0">
            <a:spAutoFit/>
          </a:bodyPr>
          <a:lstStyle/>
          <a:p>
            <a:pPr algn="r"/>
            <a:r>
              <a:rPr lang="en-US" sz="1977" dirty="0">
                <a:solidFill>
                  <a:schemeClr val="tx2"/>
                </a:solidFill>
              </a:rPr>
              <a:t>down</a:t>
            </a:r>
          </a:p>
        </p:txBody>
      </p:sp>
      <p:sp>
        <p:nvSpPr>
          <p:cNvPr id="36" name="TextBox 35">
            <a:extLst>
              <a:ext uri="{FF2B5EF4-FFF2-40B4-BE49-F238E27FC236}">
                <a16:creationId xmlns:a16="http://schemas.microsoft.com/office/drawing/2014/main" id="{BCA77DE0-EF75-8644-84F9-639D3A6A3238}"/>
              </a:ext>
            </a:extLst>
          </p:cNvPr>
          <p:cNvSpPr txBox="1"/>
          <p:nvPr/>
        </p:nvSpPr>
        <p:spPr>
          <a:xfrm>
            <a:off x="204724" y="2025635"/>
            <a:ext cx="1880762" cy="396583"/>
          </a:xfrm>
          <a:prstGeom prst="rect">
            <a:avLst/>
          </a:prstGeom>
          <a:noFill/>
        </p:spPr>
        <p:txBody>
          <a:bodyPr wrap="square" rtlCol="0">
            <a:spAutoFit/>
          </a:bodyPr>
          <a:lstStyle/>
          <a:p>
            <a:pPr algn="r"/>
            <a:r>
              <a:rPr lang="en-US" sz="1977" dirty="0">
                <a:solidFill>
                  <a:schemeClr val="tx2"/>
                </a:solidFill>
              </a:rPr>
              <a:t>miserable</a:t>
            </a:r>
          </a:p>
        </p:txBody>
      </p:sp>
      <p:sp>
        <p:nvSpPr>
          <p:cNvPr id="37" name="TextBox 36">
            <a:extLst>
              <a:ext uri="{FF2B5EF4-FFF2-40B4-BE49-F238E27FC236}">
                <a16:creationId xmlns:a16="http://schemas.microsoft.com/office/drawing/2014/main" id="{E5367CAA-9E04-A64F-AC63-39365E080CA4}"/>
              </a:ext>
            </a:extLst>
          </p:cNvPr>
          <p:cNvSpPr txBox="1"/>
          <p:nvPr/>
        </p:nvSpPr>
        <p:spPr>
          <a:xfrm>
            <a:off x="1193143" y="3004965"/>
            <a:ext cx="1880762" cy="396583"/>
          </a:xfrm>
          <a:prstGeom prst="rect">
            <a:avLst/>
          </a:prstGeom>
          <a:noFill/>
        </p:spPr>
        <p:txBody>
          <a:bodyPr wrap="square" rtlCol="0">
            <a:spAutoFit/>
          </a:bodyPr>
          <a:lstStyle/>
          <a:p>
            <a:pPr algn="r"/>
            <a:r>
              <a:rPr lang="en-US" sz="1977" dirty="0">
                <a:solidFill>
                  <a:schemeClr val="tx2"/>
                </a:solidFill>
              </a:rPr>
              <a:t>sorrowful</a:t>
            </a:r>
          </a:p>
        </p:txBody>
      </p:sp>
      <p:sp>
        <p:nvSpPr>
          <p:cNvPr id="38" name="TextBox 37">
            <a:extLst>
              <a:ext uri="{FF2B5EF4-FFF2-40B4-BE49-F238E27FC236}">
                <a16:creationId xmlns:a16="http://schemas.microsoft.com/office/drawing/2014/main" id="{55C64BFC-4045-174C-A9BB-6A0E9A9F35EF}"/>
              </a:ext>
            </a:extLst>
          </p:cNvPr>
          <p:cNvSpPr txBox="1"/>
          <p:nvPr/>
        </p:nvSpPr>
        <p:spPr>
          <a:xfrm>
            <a:off x="1469347" y="4337357"/>
            <a:ext cx="6246646" cy="396583"/>
          </a:xfrm>
          <a:prstGeom prst="rect">
            <a:avLst/>
          </a:prstGeom>
          <a:noFill/>
        </p:spPr>
        <p:txBody>
          <a:bodyPr wrap="none" rtlCol="0">
            <a:spAutoFit/>
          </a:bodyPr>
          <a:lstStyle/>
          <a:p>
            <a:r>
              <a:rPr lang="en-US" sz="1977" dirty="0"/>
              <a:t>Numeric value indicating whether the word is happy or sad</a:t>
            </a:r>
          </a:p>
        </p:txBody>
      </p:sp>
      <p:sp>
        <p:nvSpPr>
          <p:cNvPr id="39" name="TextBox 38">
            <a:extLst>
              <a:ext uri="{FF2B5EF4-FFF2-40B4-BE49-F238E27FC236}">
                <a16:creationId xmlns:a16="http://schemas.microsoft.com/office/drawing/2014/main" id="{1B79F810-A784-9A47-9BA3-F53DCDD5C22C}"/>
              </a:ext>
            </a:extLst>
          </p:cNvPr>
          <p:cNvSpPr txBox="1"/>
          <p:nvPr/>
        </p:nvSpPr>
        <p:spPr>
          <a:xfrm>
            <a:off x="406926" y="3991107"/>
            <a:ext cx="1063112" cy="369332"/>
          </a:xfrm>
          <a:prstGeom prst="rect">
            <a:avLst/>
          </a:prstGeom>
          <a:noFill/>
        </p:spPr>
        <p:txBody>
          <a:bodyPr wrap="none" rtlCol="0">
            <a:spAutoFit/>
          </a:bodyPr>
          <a:lstStyle/>
          <a:p>
            <a:r>
              <a:rPr lang="en-US" dirty="0"/>
              <a:t>&lt;- sadder</a:t>
            </a:r>
          </a:p>
        </p:txBody>
      </p:sp>
      <p:sp>
        <p:nvSpPr>
          <p:cNvPr id="40" name="TextBox 39">
            <a:extLst>
              <a:ext uri="{FF2B5EF4-FFF2-40B4-BE49-F238E27FC236}">
                <a16:creationId xmlns:a16="http://schemas.microsoft.com/office/drawing/2014/main" id="{7F938FA2-06B0-344D-8D8E-95AFC96F9A3E}"/>
              </a:ext>
            </a:extLst>
          </p:cNvPr>
          <p:cNvSpPr txBox="1"/>
          <p:nvPr/>
        </p:nvSpPr>
        <p:spPr>
          <a:xfrm>
            <a:off x="7669003" y="3991107"/>
            <a:ext cx="1148071" cy="369332"/>
          </a:xfrm>
          <a:prstGeom prst="rect">
            <a:avLst/>
          </a:prstGeom>
          <a:noFill/>
        </p:spPr>
        <p:txBody>
          <a:bodyPr wrap="none" rtlCol="0">
            <a:spAutoFit/>
          </a:bodyPr>
          <a:lstStyle/>
          <a:p>
            <a:r>
              <a:rPr lang="en-US" dirty="0"/>
              <a:t>happier -&gt;</a:t>
            </a:r>
          </a:p>
        </p:txBody>
      </p:sp>
    </p:spTree>
    <p:extLst>
      <p:ext uri="{BB962C8B-B14F-4D97-AF65-F5344CB8AC3E}">
        <p14:creationId xmlns:p14="http://schemas.microsoft.com/office/powerpoint/2010/main" val="3173323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25236" y="1600205"/>
            <a:ext cx="2242146" cy="361072"/>
          </a:xfrm>
        </p:spPr>
        <p:style>
          <a:lnRef idx="1">
            <a:schemeClr val="accent1"/>
          </a:lnRef>
          <a:fillRef idx="2">
            <a:schemeClr val="accent1"/>
          </a:fillRef>
          <a:effectRef idx="1">
            <a:schemeClr val="accent1"/>
          </a:effectRef>
          <a:fontRef idx="minor">
            <a:schemeClr val="dk1"/>
          </a:fontRef>
        </p:style>
        <p:txBody>
          <a:bodyPr/>
          <a:lstStyle/>
          <a:p>
            <a:r>
              <a:rPr lang="en-US" sz="1600" dirty="0"/>
              <a:t>Grocery List</a:t>
            </a:r>
          </a:p>
        </p:txBody>
      </p:sp>
      <p:sp>
        <p:nvSpPr>
          <p:cNvPr id="3" name="Content Placeholder 2"/>
          <p:cNvSpPr>
            <a:spLocks noGrp="1"/>
          </p:cNvSpPr>
          <p:nvPr>
            <p:ph idx="1"/>
          </p:nvPr>
        </p:nvSpPr>
        <p:spPr>
          <a:xfrm>
            <a:off x="5725236" y="1961277"/>
            <a:ext cx="2242146" cy="2153527"/>
          </a:xfrm>
          <a:ln>
            <a:solidFill>
              <a:schemeClr val="tx1"/>
            </a:solidFill>
          </a:ln>
        </p:spPr>
        <p:txBody>
          <a:bodyPr lIns="411480" tIns="342900" numCol="1">
            <a:normAutofit/>
          </a:bodyPr>
          <a:lstStyle/>
          <a:p>
            <a:pPr>
              <a:buFont typeface="Wingdings" pitchFamily="2" charset="2"/>
              <a:buChar char="q"/>
            </a:pPr>
            <a:r>
              <a:rPr lang="en-US" sz="1200" dirty="0"/>
              <a:t>granulated sugar</a:t>
            </a:r>
          </a:p>
          <a:p>
            <a:pPr>
              <a:buFont typeface="Wingdings" pitchFamily="2" charset="2"/>
              <a:buChar char="q"/>
            </a:pPr>
            <a:r>
              <a:rPr lang="en-US" sz="1200" dirty="0"/>
              <a:t>vanilla extract</a:t>
            </a:r>
          </a:p>
          <a:p>
            <a:pPr>
              <a:buFont typeface="Wingdings" pitchFamily="2" charset="2"/>
              <a:buChar char="q"/>
            </a:pPr>
            <a:r>
              <a:rPr lang="en-US" sz="1200" dirty="0"/>
              <a:t>dark brown sugar</a:t>
            </a:r>
          </a:p>
          <a:p>
            <a:pPr>
              <a:buFont typeface="Wingdings" pitchFamily="2" charset="2"/>
              <a:buChar char="q"/>
            </a:pPr>
            <a:r>
              <a:rPr lang="en-US" sz="1200" dirty="0"/>
              <a:t>carrots</a:t>
            </a:r>
          </a:p>
          <a:p>
            <a:pPr>
              <a:buFont typeface="Wingdings" pitchFamily="2" charset="2"/>
              <a:buChar char="q"/>
            </a:pPr>
            <a:r>
              <a:rPr lang="en-US" sz="1200" dirty="0"/>
              <a:t>table salt</a:t>
            </a:r>
          </a:p>
          <a:p>
            <a:pPr>
              <a:buFont typeface="Wingdings" pitchFamily="2" charset="2"/>
              <a:buChar char="q"/>
            </a:pPr>
            <a:r>
              <a:rPr lang="en-US" sz="1200" dirty="0"/>
              <a:t>eggs</a:t>
            </a:r>
          </a:p>
        </p:txBody>
      </p:sp>
      <p:pic>
        <p:nvPicPr>
          <p:cNvPr id="11" name="Picture 10">
            <a:extLst>
              <a:ext uri="{FF2B5EF4-FFF2-40B4-BE49-F238E27FC236}">
                <a16:creationId xmlns:a16="http://schemas.microsoft.com/office/drawing/2014/main" id="{14784718-4162-F2A9-60A4-4F4F7E719371}"/>
              </a:ext>
            </a:extLst>
          </p:cNvPr>
          <p:cNvPicPr>
            <a:picLocks noChangeAspect="1"/>
          </p:cNvPicPr>
          <p:nvPr/>
        </p:nvPicPr>
        <p:blipFill>
          <a:blip r:embed="rId3" r:link="rId4" cstate="screen">
            <a:extLst>
              <a:ext uri="{28A0092B-C50C-407E-A947-70E740481C1C}">
                <a14:useLocalDpi xmlns:a14="http://schemas.microsoft.com/office/drawing/2010/main"/>
              </a:ext>
            </a:extLst>
          </a:blip>
          <a:stretch>
            <a:fillRect/>
          </a:stretch>
        </p:blipFill>
        <p:spPr>
          <a:xfrm>
            <a:off x="595480" y="1824797"/>
            <a:ext cx="3976520" cy="2273843"/>
          </a:xfrm>
          <a:prstGeom prst="rect">
            <a:avLst/>
          </a:prstGeom>
          <a:effectLst/>
        </p:spPr>
      </p:pic>
      <p:sp>
        <p:nvSpPr>
          <p:cNvPr id="12" name="TextBox 11">
            <a:extLst>
              <a:ext uri="{FF2B5EF4-FFF2-40B4-BE49-F238E27FC236}">
                <a16:creationId xmlns:a16="http://schemas.microsoft.com/office/drawing/2014/main" id="{5D35D2C7-9C34-DCF6-5034-B976E4042C54}"/>
              </a:ext>
            </a:extLst>
          </p:cNvPr>
          <p:cNvSpPr txBox="1"/>
          <p:nvPr/>
        </p:nvSpPr>
        <p:spPr>
          <a:xfrm>
            <a:off x="1178547" y="4199677"/>
            <a:ext cx="2810385" cy="261610"/>
          </a:xfrm>
          <a:prstGeom prst="rect">
            <a:avLst/>
          </a:prstGeom>
          <a:noFill/>
        </p:spPr>
        <p:txBody>
          <a:bodyPr wrap="none" rtlCol="0">
            <a:spAutoFit/>
          </a:bodyPr>
          <a:lstStyle/>
          <a:p>
            <a:r>
              <a:rPr lang="en-US" sz="1100" dirty="0"/>
              <a:t>Example from Anand Chowdhury, </a:t>
            </a:r>
            <a:r>
              <a:rPr lang="en-US" sz="1100" dirty="0" err="1"/>
              <a:t>MMCi</a:t>
            </a:r>
            <a:r>
              <a:rPr lang="en-US" sz="1100" dirty="0"/>
              <a:t> 2019</a:t>
            </a:r>
          </a:p>
        </p:txBody>
      </p:sp>
      <p:sp>
        <p:nvSpPr>
          <p:cNvPr id="13" name="Title 1">
            <a:extLst>
              <a:ext uri="{FF2B5EF4-FFF2-40B4-BE49-F238E27FC236}">
                <a16:creationId xmlns:a16="http://schemas.microsoft.com/office/drawing/2014/main" id="{0A5B7E91-49ED-0975-3355-6F22E86117C3}"/>
              </a:ext>
            </a:extLst>
          </p:cNvPr>
          <p:cNvSpPr txBox="1">
            <a:spLocks/>
          </p:cNvSpPr>
          <p:nvPr/>
        </p:nvSpPr>
        <p:spPr>
          <a:xfrm>
            <a:off x="457200" y="124093"/>
            <a:ext cx="8229600" cy="857250"/>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t>Training a robot to buy groceries</a:t>
            </a:r>
            <a:endParaRPr lang="en-US" dirty="0"/>
          </a:p>
        </p:txBody>
      </p:sp>
    </p:spTree>
    <p:extLst>
      <p:ext uri="{BB962C8B-B14F-4D97-AF65-F5344CB8AC3E}">
        <p14:creationId xmlns:p14="http://schemas.microsoft.com/office/powerpoint/2010/main" val="2937009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 items by their attributes</a:t>
            </a:r>
            <a:br>
              <a:rPr lang="en-US" dirty="0"/>
            </a:br>
            <a:r>
              <a:rPr lang="en-US" sz="2400" dirty="0"/>
              <a:t>(including previously unseen items)</a:t>
            </a:r>
            <a:endParaRPr lang="en-US" dirty="0"/>
          </a:p>
        </p:txBody>
      </p:sp>
      <p:graphicFrame>
        <p:nvGraphicFramePr>
          <p:cNvPr id="5" name="Table 4"/>
          <p:cNvGraphicFramePr>
            <a:graphicFrameLocks noGrp="1"/>
          </p:cNvGraphicFramePr>
          <p:nvPr/>
        </p:nvGraphicFramePr>
        <p:xfrm>
          <a:off x="628651" y="1824581"/>
          <a:ext cx="3016345" cy="1970146"/>
        </p:xfrm>
        <a:graphic>
          <a:graphicData uri="http://schemas.openxmlformats.org/drawingml/2006/table">
            <a:tbl>
              <a:tblPr firstRow="1" bandRow="1">
                <a:tableStyleId>{5C22544A-7EE6-4342-B048-85BDC9FD1C3A}</a:tableStyleId>
              </a:tblPr>
              <a:tblGrid>
                <a:gridCol w="869456">
                  <a:extLst>
                    <a:ext uri="{9D8B030D-6E8A-4147-A177-3AD203B41FA5}">
                      <a16:colId xmlns:a16="http://schemas.microsoft.com/office/drawing/2014/main" val="3653376953"/>
                    </a:ext>
                  </a:extLst>
                </a:gridCol>
                <a:gridCol w="795806">
                  <a:extLst>
                    <a:ext uri="{9D8B030D-6E8A-4147-A177-3AD203B41FA5}">
                      <a16:colId xmlns:a16="http://schemas.microsoft.com/office/drawing/2014/main" val="4122058366"/>
                    </a:ext>
                  </a:extLst>
                </a:gridCol>
                <a:gridCol w="1351083">
                  <a:extLst>
                    <a:ext uri="{9D8B030D-6E8A-4147-A177-3AD203B41FA5}">
                      <a16:colId xmlns:a16="http://schemas.microsoft.com/office/drawing/2014/main" val="4069419051"/>
                    </a:ext>
                  </a:extLst>
                </a:gridCol>
              </a:tblGrid>
              <a:tr h="301678">
                <a:tc>
                  <a:txBody>
                    <a:bodyPr/>
                    <a:lstStyle/>
                    <a:p>
                      <a:r>
                        <a:rPr lang="en-US" sz="1000" dirty="0"/>
                        <a:t>Dimension</a:t>
                      </a:r>
                    </a:p>
                  </a:txBody>
                  <a:tcPr marL="68580" marR="68580" marT="34290" marB="34290"/>
                </a:tc>
                <a:tc>
                  <a:txBody>
                    <a:bodyPr/>
                    <a:lstStyle/>
                    <a:p>
                      <a:r>
                        <a:rPr lang="en-US" sz="1000" dirty="0"/>
                        <a:t>1</a:t>
                      </a:r>
                    </a:p>
                  </a:txBody>
                  <a:tcPr marL="68580" marR="68580" marT="34290" marB="34290"/>
                </a:tc>
                <a:tc>
                  <a:txBody>
                    <a:bodyPr/>
                    <a:lstStyle/>
                    <a:p>
                      <a:r>
                        <a:rPr lang="en-US" sz="1000" dirty="0"/>
                        <a:t>10</a:t>
                      </a:r>
                    </a:p>
                  </a:txBody>
                  <a:tcPr marL="68580" marR="68580" marT="34290" marB="34290"/>
                </a:tc>
                <a:extLst>
                  <a:ext uri="{0D108BD9-81ED-4DB2-BD59-A6C34878D82A}">
                    <a16:rowId xmlns:a16="http://schemas.microsoft.com/office/drawing/2014/main" val="440159440"/>
                  </a:ext>
                </a:extLst>
              </a:tr>
              <a:tr h="301678">
                <a:tc>
                  <a:txBody>
                    <a:bodyPr/>
                    <a:lstStyle/>
                    <a:p>
                      <a:r>
                        <a:rPr lang="en-US" sz="1000" dirty="0"/>
                        <a:t>State</a:t>
                      </a:r>
                    </a:p>
                  </a:txBody>
                  <a:tcPr marL="68580" marR="68580" marT="34290" marB="34290"/>
                </a:tc>
                <a:tc>
                  <a:txBody>
                    <a:bodyPr/>
                    <a:lstStyle/>
                    <a:p>
                      <a:r>
                        <a:rPr lang="en-US" sz="1000" dirty="0"/>
                        <a:t>Liquid</a:t>
                      </a:r>
                    </a:p>
                  </a:txBody>
                  <a:tcPr marL="68580" marR="68580" marT="34290" marB="34290"/>
                </a:tc>
                <a:tc>
                  <a:txBody>
                    <a:bodyPr/>
                    <a:lstStyle/>
                    <a:p>
                      <a:r>
                        <a:rPr lang="en-US" sz="1000" dirty="0"/>
                        <a:t>Solid</a:t>
                      </a:r>
                    </a:p>
                  </a:txBody>
                  <a:tcPr marL="68580" marR="68580" marT="34290" marB="34290"/>
                </a:tc>
                <a:extLst>
                  <a:ext uri="{0D108BD9-81ED-4DB2-BD59-A6C34878D82A}">
                    <a16:rowId xmlns:a16="http://schemas.microsoft.com/office/drawing/2014/main" val="3135632019"/>
                  </a:ext>
                </a:extLst>
              </a:tr>
              <a:tr h="301678">
                <a:tc>
                  <a:txBody>
                    <a:bodyPr/>
                    <a:lstStyle/>
                    <a:p>
                      <a:r>
                        <a:rPr lang="en-US" sz="1000" dirty="0"/>
                        <a:t>Sweetness</a:t>
                      </a:r>
                    </a:p>
                  </a:txBody>
                  <a:tcPr marL="68580" marR="68580" marT="34290" marB="34290"/>
                </a:tc>
                <a:tc>
                  <a:txBody>
                    <a:bodyPr/>
                    <a:lstStyle/>
                    <a:p>
                      <a:r>
                        <a:rPr lang="en-US" sz="1000" dirty="0"/>
                        <a:t>Bland</a:t>
                      </a:r>
                    </a:p>
                  </a:txBody>
                  <a:tcPr marL="68580" marR="68580" marT="34290" marB="34290"/>
                </a:tc>
                <a:tc>
                  <a:txBody>
                    <a:bodyPr/>
                    <a:lstStyle/>
                    <a:p>
                      <a:r>
                        <a:rPr lang="en-US" sz="1000" dirty="0"/>
                        <a:t>Sweet</a:t>
                      </a:r>
                    </a:p>
                  </a:txBody>
                  <a:tcPr marL="68580" marR="68580" marT="34290" marB="34290"/>
                </a:tc>
                <a:extLst>
                  <a:ext uri="{0D108BD9-81ED-4DB2-BD59-A6C34878D82A}">
                    <a16:rowId xmlns:a16="http://schemas.microsoft.com/office/drawing/2014/main" val="3282743723"/>
                  </a:ext>
                </a:extLst>
              </a:tr>
              <a:tr h="301678">
                <a:tc>
                  <a:txBody>
                    <a:bodyPr/>
                    <a:lstStyle/>
                    <a:p>
                      <a:r>
                        <a:rPr lang="en-US" sz="1000" dirty="0"/>
                        <a:t>Color</a:t>
                      </a:r>
                    </a:p>
                  </a:txBody>
                  <a:tcPr marL="68580" marR="68580" marT="34290" marB="34290"/>
                </a:tc>
                <a:tc>
                  <a:txBody>
                    <a:bodyPr/>
                    <a:lstStyle/>
                    <a:p>
                      <a:r>
                        <a:rPr lang="en-US" sz="1000" dirty="0"/>
                        <a:t>Light</a:t>
                      </a:r>
                    </a:p>
                  </a:txBody>
                  <a:tcPr marL="68580" marR="68580" marT="34290" marB="34290"/>
                </a:tc>
                <a:tc>
                  <a:txBody>
                    <a:bodyPr/>
                    <a:lstStyle/>
                    <a:p>
                      <a:r>
                        <a:rPr lang="en-US" sz="1000" dirty="0"/>
                        <a:t>Dark</a:t>
                      </a:r>
                    </a:p>
                  </a:txBody>
                  <a:tcPr marL="68580" marR="68580" marT="34290" marB="34290"/>
                </a:tc>
                <a:extLst>
                  <a:ext uri="{0D108BD9-81ED-4DB2-BD59-A6C34878D82A}">
                    <a16:rowId xmlns:a16="http://schemas.microsoft.com/office/drawing/2014/main" val="3011567883"/>
                  </a:ext>
                </a:extLst>
              </a:tr>
              <a:tr h="301678">
                <a:tc>
                  <a:txBody>
                    <a:bodyPr/>
                    <a:lstStyle/>
                    <a:p>
                      <a:r>
                        <a:rPr lang="en-US" sz="1000" dirty="0"/>
                        <a:t>Size</a:t>
                      </a:r>
                    </a:p>
                  </a:txBody>
                  <a:tcPr marL="68580" marR="68580" marT="34290" marB="34290"/>
                </a:tc>
                <a:tc>
                  <a:txBody>
                    <a:bodyPr/>
                    <a:lstStyle/>
                    <a:p>
                      <a:r>
                        <a:rPr lang="en-US" sz="1000" dirty="0"/>
                        <a:t>Small</a:t>
                      </a:r>
                    </a:p>
                  </a:txBody>
                  <a:tcPr marL="68580" marR="68580" marT="34290" marB="34290"/>
                </a:tc>
                <a:tc>
                  <a:txBody>
                    <a:bodyPr/>
                    <a:lstStyle/>
                    <a:p>
                      <a:r>
                        <a:rPr lang="en-US" sz="1000" dirty="0"/>
                        <a:t>Large</a:t>
                      </a:r>
                    </a:p>
                  </a:txBody>
                  <a:tcPr marL="68580" marR="68580" marT="34290" marB="34290"/>
                </a:tc>
                <a:extLst>
                  <a:ext uri="{0D108BD9-81ED-4DB2-BD59-A6C34878D82A}">
                    <a16:rowId xmlns:a16="http://schemas.microsoft.com/office/drawing/2014/main" val="470422314"/>
                  </a:ext>
                </a:extLst>
              </a:tr>
              <a:tr h="461756">
                <a:tc>
                  <a:txBody>
                    <a:bodyPr/>
                    <a:lstStyle/>
                    <a:p>
                      <a:r>
                        <a:rPr lang="en-US" sz="1000" dirty="0"/>
                        <a:t>Carrotness</a:t>
                      </a:r>
                    </a:p>
                  </a:txBody>
                  <a:tcPr marL="68580" marR="68580" marT="34290" marB="34290"/>
                </a:tc>
                <a:tc>
                  <a:txBody>
                    <a:bodyPr/>
                    <a:lstStyle/>
                    <a:p>
                      <a:r>
                        <a:rPr lang="en-US" sz="1000" dirty="0"/>
                        <a:t>Not really</a:t>
                      </a:r>
                    </a:p>
                  </a:txBody>
                  <a:tcPr marL="68580" marR="68580" marT="34290" marB="34290"/>
                </a:tc>
                <a:tc>
                  <a:txBody>
                    <a:bodyPr/>
                    <a:lstStyle/>
                    <a:p>
                      <a:r>
                        <a:rPr lang="en-US" sz="1000" dirty="0"/>
                        <a:t>Platonic essence of carrot</a:t>
                      </a:r>
                    </a:p>
                  </a:txBody>
                  <a:tcPr marL="68580" marR="68580" marT="34290" marB="34290"/>
                </a:tc>
                <a:extLst>
                  <a:ext uri="{0D108BD9-81ED-4DB2-BD59-A6C34878D82A}">
                    <a16:rowId xmlns:a16="http://schemas.microsoft.com/office/drawing/2014/main" val="207010204"/>
                  </a:ext>
                </a:extLst>
              </a:tr>
            </a:tbl>
          </a:graphicData>
        </a:graphic>
      </p:graphicFrame>
      <p:pic>
        <p:nvPicPr>
          <p:cNvPr id="6" name="Content Placeholder 3">
            <a:extLst>
              <a:ext uri="{FF2B5EF4-FFF2-40B4-BE49-F238E27FC236}">
                <a16:creationId xmlns:a16="http://schemas.microsoft.com/office/drawing/2014/main" id="{6A1322CC-C016-BC08-EE3A-FF9D9B030094}"/>
              </a:ext>
            </a:extLst>
          </p:cNvPr>
          <p:cNvPicPr>
            <a:picLocks noGrp="1" noChangeAspect="1"/>
          </p:cNvPicPr>
          <p:nvPr>
            <p:ph idx="1"/>
          </p:nvPr>
        </p:nvPicPr>
        <p:blipFill>
          <a:blip r:embed="rId2" r:link="rId3">
            <a:extLst>
              <a:ext uri="{28A0092B-C50C-407E-A947-70E740481C1C}">
                <a14:useLocalDpi xmlns:a14="http://schemas.microsoft.com/office/drawing/2010/main"/>
              </a:ext>
            </a:extLst>
          </a:blip>
          <a:stretch>
            <a:fillRect/>
          </a:stretch>
        </p:blipFill>
        <p:spPr>
          <a:xfrm>
            <a:off x="4165236" y="1819790"/>
            <a:ext cx="4350114" cy="1970501"/>
          </a:xfrm>
        </p:spPr>
      </p:pic>
    </p:spTree>
    <p:extLst>
      <p:ext uri="{BB962C8B-B14F-4D97-AF65-F5344CB8AC3E}">
        <p14:creationId xmlns:p14="http://schemas.microsoft.com/office/powerpoint/2010/main" val="38748237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32A58-E845-673B-B4A3-C94E068E6CED}"/>
              </a:ext>
            </a:extLst>
          </p:cNvPr>
          <p:cNvSpPr>
            <a:spLocks noGrp="1"/>
          </p:cNvSpPr>
          <p:nvPr>
            <p:ph type="title"/>
          </p:nvPr>
        </p:nvSpPr>
        <p:spPr/>
        <p:txBody>
          <a:bodyPr/>
          <a:lstStyle/>
          <a:p>
            <a:r>
              <a:rPr lang="en-US" dirty="0"/>
              <a:t>Why does this help us?</a:t>
            </a:r>
          </a:p>
        </p:txBody>
      </p:sp>
      <p:sp>
        <p:nvSpPr>
          <p:cNvPr id="3" name="Content Placeholder 2">
            <a:extLst>
              <a:ext uri="{FF2B5EF4-FFF2-40B4-BE49-F238E27FC236}">
                <a16:creationId xmlns:a16="http://schemas.microsoft.com/office/drawing/2014/main" id="{BB02B16F-12B5-FCD0-4DC9-F5879E1326B5}"/>
              </a:ext>
            </a:extLst>
          </p:cNvPr>
          <p:cNvSpPr>
            <a:spLocks noGrp="1"/>
          </p:cNvSpPr>
          <p:nvPr>
            <p:ph idx="1"/>
          </p:nvPr>
        </p:nvSpPr>
        <p:spPr/>
        <p:txBody>
          <a:bodyPr/>
          <a:lstStyle/>
          <a:p>
            <a:r>
              <a:rPr lang="en-US" dirty="0"/>
              <a:t>The model can make sense of words it hasn’t seen before (weren’t used in training)</a:t>
            </a:r>
          </a:p>
          <a:p>
            <a:endParaRPr lang="en-US" dirty="0"/>
          </a:p>
          <a:p>
            <a:r>
              <a:rPr lang="en-US" dirty="0"/>
              <a:t>Similar words (e.g. synonyms) will have similar attributes, and therefore will have similar effect on model predictions</a:t>
            </a:r>
          </a:p>
          <a:p>
            <a:endParaRPr lang="en-US" dirty="0"/>
          </a:p>
          <a:p>
            <a:r>
              <a:rPr lang="en-US" dirty="0"/>
              <a:t>(more complicated) Now we can convert text to a sequence of vectors; and we were already very good at making predictions from sequences of vectors</a:t>
            </a:r>
          </a:p>
        </p:txBody>
      </p:sp>
    </p:spTree>
    <p:extLst>
      <p:ext uri="{BB962C8B-B14F-4D97-AF65-F5344CB8AC3E}">
        <p14:creationId xmlns:p14="http://schemas.microsoft.com/office/powerpoint/2010/main" val="18982523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D1A20-A3D4-9228-1C02-01F3D0F53613}"/>
              </a:ext>
            </a:extLst>
          </p:cNvPr>
          <p:cNvSpPr>
            <a:spLocks noGrp="1"/>
          </p:cNvSpPr>
          <p:nvPr>
            <p:ph type="title"/>
          </p:nvPr>
        </p:nvSpPr>
        <p:spPr/>
        <p:txBody>
          <a:bodyPr/>
          <a:lstStyle/>
          <a:p>
            <a:r>
              <a:rPr lang="en-US" dirty="0"/>
              <a:t>How do we learn word embeddings?</a:t>
            </a:r>
          </a:p>
        </p:txBody>
      </p:sp>
      <p:sp>
        <p:nvSpPr>
          <p:cNvPr id="3" name="Text Placeholder 2">
            <a:extLst>
              <a:ext uri="{FF2B5EF4-FFF2-40B4-BE49-F238E27FC236}">
                <a16:creationId xmlns:a16="http://schemas.microsoft.com/office/drawing/2014/main" id="{F1C3E6AC-9C8F-D1EE-9CF7-5F9F579ED022}"/>
              </a:ext>
            </a:extLst>
          </p:cNvPr>
          <p:cNvSpPr>
            <a:spLocks noGrp="1"/>
          </p:cNvSpPr>
          <p:nvPr>
            <p:ph type="body" idx="1"/>
          </p:nvPr>
        </p:nvSpPr>
        <p:spPr/>
        <p:txBody>
          <a:bodyPr/>
          <a:lstStyle/>
          <a:p>
            <a:r>
              <a:rPr lang="en-US" dirty="0"/>
              <a:t>Key idea: </a:t>
            </a:r>
            <a:r>
              <a:rPr lang="en-US" u="sng" dirty="0"/>
              <a:t>words are defined by the contexts in which they appear</a:t>
            </a:r>
          </a:p>
        </p:txBody>
      </p:sp>
    </p:spTree>
    <p:extLst>
      <p:ext uri="{BB962C8B-B14F-4D97-AF65-F5344CB8AC3E}">
        <p14:creationId xmlns:p14="http://schemas.microsoft.com/office/powerpoint/2010/main" val="2946038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E2E69-5720-1C46-BD30-B879B34B6B39}"/>
              </a:ext>
            </a:extLst>
          </p:cNvPr>
          <p:cNvSpPr>
            <a:spLocks noGrp="1"/>
          </p:cNvSpPr>
          <p:nvPr>
            <p:ph type="title"/>
          </p:nvPr>
        </p:nvSpPr>
        <p:spPr>
          <a:xfrm>
            <a:off x="465876" y="282560"/>
            <a:ext cx="7543794" cy="857250"/>
          </a:xfrm>
        </p:spPr>
        <p:txBody>
          <a:bodyPr anchor="ctr">
            <a:normAutofit/>
          </a:bodyPr>
          <a:lstStyle/>
          <a:p>
            <a:r>
              <a:rPr lang="en-US" sz="3000" dirty="0"/>
              <a:t>How do we learn these attributes?</a:t>
            </a:r>
          </a:p>
        </p:txBody>
      </p:sp>
      <p:sp>
        <p:nvSpPr>
          <p:cNvPr id="5" name="TextBox 4"/>
          <p:cNvSpPr txBox="1"/>
          <p:nvPr/>
        </p:nvSpPr>
        <p:spPr>
          <a:xfrm>
            <a:off x="465876" y="1139811"/>
            <a:ext cx="8366073" cy="461665"/>
          </a:xfrm>
          <a:prstGeom prst="rect">
            <a:avLst/>
          </a:prstGeom>
          <a:noFill/>
        </p:spPr>
        <p:txBody>
          <a:bodyPr wrap="none" rtlCol="0">
            <a:spAutoFit/>
          </a:bodyPr>
          <a:lstStyle/>
          <a:p>
            <a:r>
              <a:rPr lang="en-US" sz="2400" dirty="0">
                <a:solidFill>
                  <a:schemeClr val="accent2"/>
                </a:solidFill>
              </a:rPr>
              <a:t>KEY IDEA: words are </a:t>
            </a:r>
            <a:r>
              <a:rPr lang="en-US" sz="2400" i="1" dirty="0">
                <a:solidFill>
                  <a:schemeClr val="accent2"/>
                </a:solidFill>
              </a:rPr>
              <a:t>defined</a:t>
            </a:r>
            <a:r>
              <a:rPr lang="en-US" sz="2400" dirty="0">
                <a:solidFill>
                  <a:schemeClr val="accent2"/>
                </a:solidFill>
              </a:rPr>
              <a:t> by the </a:t>
            </a:r>
            <a:r>
              <a:rPr lang="en-US" sz="2400" u="sng" dirty="0">
                <a:solidFill>
                  <a:schemeClr val="accent2"/>
                </a:solidFill>
              </a:rPr>
              <a:t>contexts</a:t>
            </a:r>
            <a:r>
              <a:rPr lang="en-US" sz="2400" dirty="0">
                <a:solidFill>
                  <a:schemeClr val="accent2"/>
                </a:solidFill>
              </a:rPr>
              <a:t> in which they appear</a:t>
            </a:r>
          </a:p>
        </p:txBody>
      </p:sp>
      <p:sp>
        <p:nvSpPr>
          <p:cNvPr id="7" name="TextBox 6"/>
          <p:cNvSpPr txBox="1"/>
          <p:nvPr/>
        </p:nvSpPr>
        <p:spPr>
          <a:xfrm>
            <a:off x="825300" y="2060206"/>
            <a:ext cx="3006208" cy="369332"/>
          </a:xfrm>
          <a:prstGeom prst="rect">
            <a:avLst/>
          </a:prstGeom>
          <a:noFill/>
        </p:spPr>
        <p:txBody>
          <a:bodyPr wrap="none" rtlCol="0">
            <a:spAutoFit/>
          </a:bodyPr>
          <a:lstStyle/>
          <a:p>
            <a:r>
              <a:rPr lang="en-US" b="1" dirty="0"/>
              <a:t>A </a:t>
            </a:r>
            <a:r>
              <a:rPr lang="en-US" b="1" dirty="0">
                <a:solidFill>
                  <a:schemeClr val="accent2">
                    <a:lumMod val="50000"/>
                  </a:schemeClr>
                </a:solidFill>
              </a:rPr>
              <a:t>man</a:t>
            </a:r>
            <a:r>
              <a:rPr lang="en-US" b="1" dirty="0"/>
              <a:t> strolls down the street</a:t>
            </a:r>
          </a:p>
        </p:txBody>
      </p:sp>
      <p:sp>
        <p:nvSpPr>
          <p:cNvPr id="9" name="TextBox 8"/>
          <p:cNvSpPr txBox="1"/>
          <p:nvPr/>
        </p:nvSpPr>
        <p:spPr>
          <a:xfrm>
            <a:off x="825302" y="2507336"/>
            <a:ext cx="3299237" cy="369332"/>
          </a:xfrm>
          <a:prstGeom prst="rect">
            <a:avLst/>
          </a:prstGeom>
          <a:noFill/>
        </p:spPr>
        <p:txBody>
          <a:bodyPr wrap="none" rtlCol="0">
            <a:spAutoFit/>
          </a:bodyPr>
          <a:lstStyle/>
          <a:p>
            <a:r>
              <a:rPr lang="en-US" b="1" dirty="0"/>
              <a:t>A </a:t>
            </a:r>
            <a:r>
              <a:rPr lang="en-US" b="1" dirty="0">
                <a:solidFill>
                  <a:schemeClr val="accent2">
                    <a:lumMod val="50000"/>
                  </a:schemeClr>
                </a:solidFill>
              </a:rPr>
              <a:t>woman</a:t>
            </a:r>
            <a:r>
              <a:rPr lang="en-US" b="1" dirty="0"/>
              <a:t> strolls down the street</a:t>
            </a:r>
          </a:p>
        </p:txBody>
      </p:sp>
      <p:sp>
        <p:nvSpPr>
          <p:cNvPr id="10" name="TextBox 9"/>
          <p:cNvSpPr txBox="1"/>
          <p:nvPr/>
        </p:nvSpPr>
        <p:spPr>
          <a:xfrm>
            <a:off x="825300" y="2954467"/>
            <a:ext cx="3036665" cy="369332"/>
          </a:xfrm>
          <a:prstGeom prst="rect">
            <a:avLst/>
          </a:prstGeom>
          <a:noFill/>
        </p:spPr>
        <p:txBody>
          <a:bodyPr wrap="none" rtlCol="0">
            <a:spAutoFit/>
          </a:bodyPr>
          <a:lstStyle/>
          <a:p>
            <a:r>
              <a:rPr lang="en-US" b="1" dirty="0"/>
              <a:t>A </a:t>
            </a:r>
            <a:r>
              <a:rPr lang="en-US" b="1" dirty="0">
                <a:solidFill>
                  <a:schemeClr val="accent2">
                    <a:lumMod val="75000"/>
                  </a:schemeClr>
                </a:solidFill>
              </a:rPr>
              <a:t>child</a:t>
            </a:r>
            <a:r>
              <a:rPr lang="en-US" b="1" dirty="0"/>
              <a:t> strolls down the street</a:t>
            </a:r>
          </a:p>
        </p:txBody>
      </p:sp>
      <p:sp>
        <p:nvSpPr>
          <p:cNvPr id="11" name="TextBox 10"/>
          <p:cNvSpPr txBox="1"/>
          <p:nvPr/>
        </p:nvSpPr>
        <p:spPr>
          <a:xfrm>
            <a:off x="825300" y="3401597"/>
            <a:ext cx="3449470" cy="369332"/>
          </a:xfrm>
          <a:prstGeom prst="rect">
            <a:avLst/>
          </a:prstGeom>
          <a:noFill/>
        </p:spPr>
        <p:txBody>
          <a:bodyPr wrap="none" rtlCol="0">
            <a:spAutoFit/>
          </a:bodyPr>
          <a:lstStyle/>
          <a:p>
            <a:r>
              <a:rPr lang="en-US" b="1" dirty="0"/>
              <a:t>A </a:t>
            </a:r>
            <a:r>
              <a:rPr lang="en-US" b="1" dirty="0">
                <a:solidFill>
                  <a:schemeClr val="accent2">
                    <a:lumMod val="60000"/>
                    <a:lumOff val="40000"/>
                  </a:schemeClr>
                </a:solidFill>
              </a:rPr>
              <a:t>crocodile</a:t>
            </a:r>
            <a:r>
              <a:rPr lang="en-US" b="1" dirty="0">
                <a:solidFill>
                  <a:schemeClr val="accent5">
                    <a:lumMod val="60000"/>
                    <a:lumOff val="40000"/>
                  </a:schemeClr>
                </a:solidFill>
              </a:rPr>
              <a:t> </a:t>
            </a:r>
            <a:r>
              <a:rPr lang="en-US" b="1" dirty="0"/>
              <a:t>strolls down the street</a:t>
            </a:r>
          </a:p>
        </p:txBody>
      </p:sp>
      <p:sp>
        <p:nvSpPr>
          <p:cNvPr id="12" name="TextBox 11"/>
          <p:cNvSpPr txBox="1"/>
          <p:nvPr/>
        </p:nvSpPr>
        <p:spPr>
          <a:xfrm>
            <a:off x="825301" y="3848728"/>
            <a:ext cx="3293146" cy="369332"/>
          </a:xfrm>
          <a:prstGeom prst="rect">
            <a:avLst/>
          </a:prstGeom>
          <a:noFill/>
        </p:spPr>
        <p:txBody>
          <a:bodyPr wrap="none" rtlCol="0">
            <a:spAutoFit/>
          </a:bodyPr>
          <a:lstStyle/>
          <a:p>
            <a:r>
              <a:rPr lang="en-US" b="1" dirty="0"/>
              <a:t>A </a:t>
            </a:r>
            <a:r>
              <a:rPr lang="en-US" b="1" dirty="0">
                <a:solidFill>
                  <a:schemeClr val="accent2">
                    <a:lumMod val="40000"/>
                    <a:lumOff val="60000"/>
                  </a:schemeClr>
                </a:solidFill>
              </a:rPr>
              <a:t>banana</a:t>
            </a:r>
            <a:r>
              <a:rPr lang="en-US" b="1" dirty="0">
                <a:solidFill>
                  <a:schemeClr val="accent5">
                    <a:lumMod val="60000"/>
                    <a:lumOff val="40000"/>
                  </a:schemeClr>
                </a:solidFill>
              </a:rPr>
              <a:t> </a:t>
            </a:r>
            <a:r>
              <a:rPr lang="en-US" b="1" dirty="0"/>
              <a:t>strolls down the street</a:t>
            </a:r>
          </a:p>
        </p:txBody>
      </p:sp>
      <p:sp>
        <p:nvSpPr>
          <p:cNvPr id="13" name="TextBox 12"/>
          <p:cNvSpPr txBox="1"/>
          <p:nvPr/>
        </p:nvSpPr>
        <p:spPr>
          <a:xfrm>
            <a:off x="825299" y="4295858"/>
            <a:ext cx="3337580" cy="369332"/>
          </a:xfrm>
          <a:prstGeom prst="rect">
            <a:avLst/>
          </a:prstGeom>
          <a:noFill/>
        </p:spPr>
        <p:txBody>
          <a:bodyPr wrap="none" rtlCol="0">
            <a:spAutoFit/>
          </a:bodyPr>
          <a:lstStyle/>
          <a:p>
            <a:r>
              <a:rPr lang="en-US" b="1" dirty="0"/>
              <a:t>A </a:t>
            </a:r>
            <a:r>
              <a:rPr lang="en-US" b="1" dirty="0">
                <a:solidFill>
                  <a:schemeClr val="accent2">
                    <a:lumMod val="20000"/>
                    <a:lumOff val="80000"/>
                  </a:schemeClr>
                </a:solidFill>
              </a:rPr>
              <a:t>concept</a:t>
            </a:r>
            <a:r>
              <a:rPr lang="en-US" b="1" dirty="0">
                <a:solidFill>
                  <a:schemeClr val="accent5">
                    <a:lumMod val="60000"/>
                    <a:lumOff val="40000"/>
                  </a:schemeClr>
                </a:solidFill>
              </a:rPr>
              <a:t> </a:t>
            </a:r>
            <a:r>
              <a:rPr lang="en-US" b="1" dirty="0"/>
              <a:t>strolls down the street</a:t>
            </a:r>
          </a:p>
        </p:txBody>
      </p:sp>
      <p:sp>
        <p:nvSpPr>
          <p:cNvPr id="3" name="TextBox 2">
            <a:extLst>
              <a:ext uri="{FF2B5EF4-FFF2-40B4-BE49-F238E27FC236}">
                <a16:creationId xmlns:a16="http://schemas.microsoft.com/office/drawing/2014/main" id="{FE47BD00-388A-C81F-33F6-BCAD63BAD0F4}"/>
              </a:ext>
            </a:extLst>
          </p:cNvPr>
          <p:cNvSpPr txBox="1"/>
          <p:nvPr/>
        </p:nvSpPr>
        <p:spPr>
          <a:xfrm>
            <a:off x="5094007" y="2258977"/>
            <a:ext cx="3111100" cy="2308324"/>
          </a:xfrm>
          <a:prstGeom prst="rect">
            <a:avLst/>
          </a:prstGeom>
          <a:noFill/>
        </p:spPr>
        <p:txBody>
          <a:bodyPr wrap="square" rtlCol="0">
            <a:spAutoFit/>
          </a:bodyPr>
          <a:lstStyle/>
          <a:p>
            <a:r>
              <a:rPr lang="en-US" dirty="0"/>
              <a:t>Consider substituting one word for another.</a:t>
            </a:r>
          </a:p>
          <a:p>
            <a:endParaRPr lang="en-US" dirty="0"/>
          </a:p>
          <a:p>
            <a:endParaRPr lang="en-US" dirty="0"/>
          </a:p>
          <a:p>
            <a:r>
              <a:rPr lang="en-US" u="sng" dirty="0"/>
              <a:t>Claim</a:t>
            </a:r>
            <a:r>
              <a:rPr lang="en-US" dirty="0"/>
              <a:t>: if two words are equally likely to appear all possible contexts, then the two words mean the same thing.</a:t>
            </a:r>
          </a:p>
        </p:txBody>
      </p:sp>
      <p:sp>
        <p:nvSpPr>
          <p:cNvPr id="4" name="Rectangle 3">
            <a:extLst>
              <a:ext uri="{FF2B5EF4-FFF2-40B4-BE49-F238E27FC236}">
                <a16:creationId xmlns:a16="http://schemas.microsoft.com/office/drawing/2014/main" id="{20116D29-BA29-8549-5D18-382B99D7560C}"/>
              </a:ext>
            </a:extLst>
          </p:cNvPr>
          <p:cNvSpPr/>
          <p:nvPr/>
        </p:nvSpPr>
        <p:spPr>
          <a:xfrm>
            <a:off x="675166" y="1968766"/>
            <a:ext cx="3635577" cy="280734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38021288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7502" y="803878"/>
            <a:ext cx="8245847" cy="461665"/>
          </a:xfrm>
          <a:prstGeom prst="rect">
            <a:avLst/>
          </a:prstGeom>
          <a:noFill/>
        </p:spPr>
        <p:txBody>
          <a:bodyPr wrap="none" rtlCol="0">
            <a:spAutoFit/>
          </a:bodyPr>
          <a:lstStyle/>
          <a:p>
            <a:r>
              <a:rPr lang="en-US" sz="2400" dirty="0">
                <a:solidFill>
                  <a:schemeClr val="accent2"/>
                </a:solidFill>
              </a:rPr>
              <a:t>KEY IDEA: words are </a:t>
            </a:r>
            <a:r>
              <a:rPr lang="en-US" sz="2400" i="1" dirty="0">
                <a:solidFill>
                  <a:schemeClr val="accent2"/>
                </a:solidFill>
              </a:rPr>
              <a:t>defined</a:t>
            </a:r>
            <a:r>
              <a:rPr lang="en-US" sz="2400" dirty="0">
                <a:solidFill>
                  <a:schemeClr val="accent2"/>
                </a:solidFill>
              </a:rPr>
              <a:t> by the </a:t>
            </a:r>
            <a:r>
              <a:rPr lang="en-US" sz="2400" u="sng" dirty="0">
                <a:solidFill>
                  <a:schemeClr val="accent2"/>
                </a:solidFill>
              </a:rPr>
              <a:t>context</a:t>
            </a:r>
            <a:r>
              <a:rPr lang="en-US" sz="2400" dirty="0">
                <a:solidFill>
                  <a:schemeClr val="accent2"/>
                </a:solidFill>
              </a:rPr>
              <a:t> in which they appear</a:t>
            </a:r>
          </a:p>
        </p:txBody>
      </p:sp>
      <p:pic>
        <p:nvPicPr>
          <p:cNvPr id="1028" name="Picture 4" descr="Image result for looking up a word in a dictionary"/>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279054" y="1914365"/>
            <a:ext cx="2857500"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044466" y="4382481"/>
            <a:ext cx="3326681" cy="646331"/>
          </a:xfrm>
          <a:prstGeom prst="rect">
            <a:avLst/>
          </a:prstGeom>
          <a:noFill/>
        </p:spPr>
        <p:txBody>
          <a:bodyPr wrap="none" rtlCol="0">
            <a:spAutoFit/>
          </a:bodyPr>
          <a:lstStyle/>
          <a:p>
            <a:pPr algn="ctr"/>
            <a:r>
              <a:rPr lang="en-US" dirty="0"/>
              <a:t>learn word meaning like an adult:</a:t>
            </a:r>
          </a:p>
          <a:p>
            <a:pPr algn="ctr"/>
            <a:r>
              <a:rPr lang="en-US" dirty="0"/>
              <a:t>explicit definitions</a:t>
            </a:r>
          </a:p>
        </p:txBody>
      </p:sp>
      <p:sp>
        <p:nvSpPr>
          <p:cNvPr id="17" name="TextBox 16"/>
          <p:cNvSpPr txBox="1"/>
          <p:nvPr/>
        </p:nvSpPr>
        <p:spPr>
          <a:xfrm>
            <a:off x="4792181" y="4382481"/>
            <a:ext cx="3289811" cy="646331"/>
          </a:xfrm>
          <a:prstGeom prst="rect">
            <a:avLst/>
          </a:prstGeom>
          <a:noFill/>
        </p:spPr>
        <p:txBody>
          <a:bodyPr wrap="none" rtlCol="0">
            <a:spAutoFit/>
          </a:bodyPr>
          <a:lstStyle/>
          <a:p>
            <a:pPr algn="ctr"/>
            <a:r>
              <a:rPr lang="en-US" dirty="0"/>
              <a:t>learn word meaning like an child:</a:t>
            </a:r>
          </a:p>
          <a:p>
            <a:pPr algn="ctr"/>
            <a:r>
              <a:rPr lang="en-US" u="sng" dirty="0"/>
              <a:t>implicit definitions from context</a:t>
            </a:r>
          </a:p>
        </p:txBody>
      </p:sp>
      <p:pic>
        <p:nvPicPr>
          <p:cNvPr id="1030" name="Picture 6" descr="Image result for speech immersion child"/>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014492" y="1914365"/>
            <a:ext cx="2845184" cy="214312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5" name="Rectangle 14"/>
          <p:cNvSpPr/>
          <p:nvPr/>
        </p:nvSpPr>
        <p:spPr>
          <a:xfrm>
            <a:off x="4820920" y="1728859"/>
            <a:ext cx="3232328" cy="230832"/>
          </a:xfrm>
          <a:prstGeom prst="rect">
            <a:avLst/>
          </a:prstGeom>
        </p:spPr>
        <p:txBody>
          <a:bodyPr wrap="square">
            <a:spAutoFit/>
          </a:bodyPr>
          <a:lstStyle/>
          <a:p>
            <a:pPr algn="ctr"/>
            <a:r>
              <a:rPr lang="en-US" sz="900" dirty="0"/>
              <a:t>https://www.parenting.com/activities/baby/teach-baby-to-talk/</a:t>
            </a:r>
          </a:p>
        </p:txBody>
      </p:sp>
      <p:sp>
        <p:nvSpPr>
          <p:cNvPr id="18" name="Multiply 17"/>
          <p:cNvSpPr/>
          <p:nvPr/>
        </p:nvSpPr>
        <p:spPr>
          <a:xfrm>
            <a:off x="739047" y="1728857"/>
            <a:ext cx="3937517" cy="3276870"/>
          </a:xfrm>
          <a:prstGeom prst="mathMultiply">
            <a:avLst>
              <a:gd name="adj1" fmla="val 11814"/>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350"/>
          </a:p>
        </p:txBody>
      </p:sp>
      <p:sp>
        <p:nvSpPr>
          <p:cNvPr id="22" name="TextBox 21"/>
          <p:cNvSpPr txBox="1"/>
          <p:nvPr/>
        </p:nvSpPr>
        <p:spPr>
          <a:xfrm>
            <a:off x="1068551" y="1264821"/>
            <a:ext cx="7091428" cy="369332"/>
          </a:xfrm>
          <a:prstGeom prst="rect">
            <a:avLst/>
          </a:prstGeom>
          <a:noFill/>
        </p:spPr>
        <p:txBody>
          <a:bodyPr wrap="none" rtlCol="0">
            <a:spAutoFit/>
          </a:bodyPr>
          <a:lstStyle/>
          <a:p>
            <a:r>
              <a:rPr lang="en-US" dirty="0"/>
              <a:t>-&gt; if words are always exchangeable, they must have very similar meaning</a:t>
            </a:r>
          </a:p>
        </p:txBody>
      </p:sp>
      <p:sp>
        <p:nvSpPr>
          <p:cNvPr id="10" name="Title 1">
            <a:extLst>
              <a:ext uri="{FF2B5EF4-FFF2-40B4-BE49-F238E27FC236}">
                <a16:creationId xmlns:a16="http://schemas.microsoft.com/office/drawing/2014/main" id="{A88DB8BC-46FF-58EB-2962-3D40D03A8182}"/>
              </a:ext>
            </a:extLst>
          </p:cNvPr>
          <p:cNvSpPr>
            <a:spLocks noGrp="1"/>
          </p:cNvSpPr>
          <p:nvPr>
            <p:ph type="title"/>
          </p:nvPr>
        </p:nvSpPr>
        <p:spPr>
          <a:xfrm>
            <a:off x="143308" y="158108"/>
            <a:ext cx="6128004" cy="857250"/>
          </a:xfrm>
        </p:spPr>
        <p:txBody>
          <a:bodyPr anchor="ctr">
            <a:normAutofit/>
          </a:bodyPr>
          <a:lstStyle/>
          <a:p>
            <a:pPr algn="ctr"/>
            <a:r>
              <a:rPr lang="en-US" sz="3000" dirty="0"/>
              <a:t>How do we learn these attributes?</a:t>
            </a:r>
          </a:p>
        </p:txBody>
      </p:sp>
    </p:spTree>
    <p:extLst>
      <p:ext uri="{BB962C8B-B14F-4D97-AF65-F5344CB8AC3E}">
        <p14:creationId xmlns:p14="http://schemas.microsoft.com/office/powerpoint/2010/main" val="29271095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571500"/>
          </a:xfrm>
        </p:spPr>
        <p:txBody>
          <a:bodyPr>
            <a:noAutofit/>
          </a:bodyPr>
          <a:lstStyle/>
          <a:p>
            <a:r>
              <a:rPr lang="en-US" dirty="0"/>
              <a:t>Step 1: define </a:t>
            </a:r>
            <a:r>
              <a:rPr lang="en-US" i="1" dirty="0"/>
              <a:t>co-occurrence</a:t>
            </a:r>
            <a:r>
              <a:rPr lang="en-US" dirty="0"/>
              <a:t> or </a:t>
            </a:r>
            <a:r>
              <a:rPr lang="en-US" i="1" dirty="0"/>
              <a:t>context</a:t>
            </a:r>
          </a:p>
        </p:txBody>
      </p:sp>
      <p:sp>
        <p:nvSpPr>
          <p:cNvPr id="4" name="Rectangle 3"/>
          <p:cNvSpPr/>
          <p:nvPr/>
        </p:nvSpPr>
        <p:spPr>
          <a:xfrm>
            <a:off x="1158499" y="1530295"/>
            <a:ext cx="3119033" cy="2677656"/>
          </a:xfrm>
          <a:prstGeom prst="rect">
            <a:avLst/>
          </a:prstGeom>
        </p:spPr>
        <p:txBody>
          <a:bodyPr wrap="square">
            <a:spAutoFit/>
          </a:bodyPr>
          <a:lstStyle/>
          <a:p>
            <a:r>
              <a:rPr lang="en-US" sz="2100" dirty="0"/>
              <a:t>{input word, context word}</a:t>
            </a:r>
          </a:p>
          <a:p>
            <a:endParaRPr lang="en-US" sz="2100" dirty="0"/>
          </a:p>
          <a:p>
            <a:r>
              <a:rPr lang="en-US" sz="2100" dirty="0"/>
              <a:t>{strolls, man}</a:t>
            </a:r>
          </a:p>
          <a:p>
            <a:r>
              <a:rPr lang="en-US" sz="2100" dirty="0"/>
              <a:t>{strolls, woman}</a:t>
            </a:r>
          </a:p>
          <a:p>
            <a:r>
              <a:rPr lang="en-US" sz="2100" dirty="0"/>
              <a:t>{swims, crocodile}</a:t>
            </a:r>
          </a:p>
          <a:p>
            <a:r>
              <a:rPr lang="en-US" sz="2100" dirty="0"/>
              <a:t>{swims, fish}</a:t>
            </a:r>
          </a:p>
          <a:p>
            <a:r>
              <a:rPr lang="en-US" sz="2100" dirty="0"/>
              <a:t>{flies, bird}</a:t>
            </a:r>
          </a:p>
          <a:p>
            <a:r>
              <a:rPr lang="en-US" sz="2100" dirty="0"/>
              <a:t>{flies, plane}</a:t>
            </a:r>
          </a:p>
        </p:txBody>
      </p:sp>
      <p:sp>
        <p:nvSpPr>
          <p:cNvPr id="5" name="Rectangle 4"/>
          <p:cNvSpPr/>
          <p:nvPr/>
        </p:nvSpPr>
        <p:spPr>
          <a:xfrm>
            <a:off x="5015639" y="1063230"/>
            <a:ext cx="3421250" cy="3970318"/>
          </a:xfrm>
          <a:prstGeom prst="rect">
            <a:avLst/>
          </a:prstGeom>
        </p:spPr>
        <p:txBody>
          <a:bodyPr wrap="square">
            <a:spAutoFit/>
          </a:bodyPr>
          <a:lstStyle/>
          <a:p>
            <a:r>
              <a:rPr lang="en-US" sz="2100" dirty="0"/>
              <a:t>We define a </a:t>
            </a:r>
            <a:r>
              <a:rPr lang="en-US" sz="2100" u="sng" dirty="0"/>
              <a:t>context word </a:t>
            </a:r>
            <a:r>
              <a:rPr lang="en-US" sz="2100" dirty="0"/>
              <a:t>as one that appears inside a fixed-length window around the input word in our training corpus.</a:t>
            </a:r>
          </a:p>
          <a:p>
            <a:endParaRPr lang="en-US" sz="2100" dirty="0"/>
          </a:p>
          <a:p>
            <a:r>
              <a:rPr lang="en-US" sz="2100" dirty="0"/>
              <a:t>(e.g. Wikipedia)</a:t>
            </a:r>
          </a:p>
          <a:p>
            <a:endParaRPr lang="en-US" sz="2100" dirty="0"/>
          </a:p>
          <a:p>
            <a:r>
              <a:rPr lang="en-US" sz="2100" dirty="0"/>
              <a:t>A man strolls down the street.</a:t>
            </a:r>
          </a:p>
          <a:p>
            <a:endParaRPr lang="en-US" sz="2100" dirty="0"/>
          </a:p>
          <a:p>
            <a:r>
              <a:rPr lang="en-US" sz="2100" dirty="0"/>
              <a:t>		  </a:t>
            </a:r>
            <a:r>
              <a:rPr lang="en-US" sz="2100" dirty="0">
                <a:solidFill>
                  <a:schemeClr val="accent1"/>
                </a:solidFill>
              </a:rPr>
              <a:t>input	</a:t>
            </a:r>
            <a:r>
              <a:rPr lang="en-US" sz="2100" dirty="0">
                <a:solidFill>
                  <a:schemeClr val="accent6"/>
                </a:solidFill>
              </a:rPr>
              <a:t>context</a:t>
            </a:r>
          </a:p>
        </p:txBody>
      </p:sp>
      <p:sp>
        <p:nvSpPr>
          <p:cNvPr id="6" name="Rectangle 5"/>
          <p:cNvSpPr/>
          <p:nvPr/>
        </p:nvSpPr>
        <p:spPr>
          <a:xfrm>
            <a:off x="5800241" y="3626603"/>
            <a:ext cx="732295" cy="416481"/>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350"/>
          </a:p>
        </p:txBody>
      </p:sp>
      <p:sp>
        <p:nvSpPr>
          <p:cNvPr id="7" name="Rectangle 6"/>
          <p:cNvSpPr/>
          <p:nvPr/>
        </p:nvSpPr>
        <p:spPr>
          <a:xfrm>
            <a:off x="5015638" y="3580109"/>
            <a:ext cx="2609528" cy="499821"/>
          </a:xfrm>
          <a:prstGeom prst="rect">
            <a:avLst/>
          </a:prstGeom>
          <a:noFill/>
          <a:ln>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350"/>
          </a:p>
        </p:txBody>
      </p:sp>
    </p:spTree>
    <p:extLst>
      <p:ext uri="{BB962C8B-B14F-4D97-AF65-F5344CB8AC3E}">
        <p14:creationId xmlns:p14="http://schemas.microsoft.com/office/powerpoint/2010/main" val="1837052768"/>
      </p:ext>
    </p:extLst>
  </p:cSld>
  <p:clrMapOvr>
    <a:masterClrMapping/>
  </p:clrMapOvr>
  <mc:AlternateContent xmlns:mc="http://schemas.openxmlformats.org/markup-compatibility/2006" xmlns:p14="http://schemas.microsoft.com/office/powerpoint/2010/main">
    <mc:Choice Requires="p14">
      <p:transition spd="slow" p14:dur="2000" advTm="71029"/>
    </mc:Choice>
    <mc:Fallback xmlns="">
      <p:transition spd="slow" advTm="71029"/>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E2E69-5720-1C46-BD30-B879B34B6B39}"/>
              </a:ext>
            </a:extLst>
          </p:cNvPr>
          <p:cNvSpPr>
            <a:spLocks noGrp="1"/>
          </p:cNvSpPr>
          <p:nvPr>
            <p:ph type="title"/>
          </p:nvPr>
        </p:nvSpPr>
        <p:spPr>
          <a:xfrm>
            <a:off x="383722" y="229201"/>
            <a:ext cx="8376557" cy="1343630"/>
          </a:xfrm>
        </p:spPr>
        <p:txBody>
          <a:bodyPr>
            <a:noAutofit/>
          </a:bodyPr>
          <a:lstStyle/>
          <a:p>
            <a:r>
              <a:rPr lang="en-US" sz="2400" dirty="0"/>
              <a:t>Step 2: find vector representations sufficient </a:t>
            </a:r>
            <a:br>
              <a:rPr lang="en-US" sz="2400" dirty="0"/>
            </a:br>
            <a:r>
              <a:rPr lang="en-US" sz="2400" dirty="0"/>
              <a:t>to predict the likely context</a:t>
            </a:r>
            <a:br>
              <a:rPr lang="en-US" sz="2400" dirty="0"/>
            </a:br>
            <a:br>
              <a:rPr lang="en-US" sz="1350" dirty="0"/>
            </a:br>
            <a:r>
              <a:rPr lang="en-US" sz="2400" dirty="0"/>
              <a:t>(i.e. what other words are likely/unlikely to be nearby)</a:t>
            </a:r>
            <a:br>
              <a:rPr lang="en-US" sz="2400" dirty="0"/>
            </a:br>
            <a:endParaRPr lang="en-US" sz="2400" dirty="0"/>
          </a:p>
        </p:txBody>
      </p:sp>
      <p:graphicFrame>
        <p:nvGraphicFramePr>
          <p:cNvPr id="14" name="Table 13"/>
          <p:cNvGraphicFramePr>
            <a:graphicFrameLocks noGrp="1"/>
          </p:cNvGraphicFramePr>
          <p:nvPr/>
        </p:nvGraphicFramePr>
        <p:xfrm>
          <a:off x="2760635" y="1917439"/>
          <a:ext cx="404985" cy="2291946"/>
        </p:xfrm>
        <a:graphic>
          <a:graphicData uri="http://schemas.openxmlformats.org/drawingml/2006/table">
            <a:tbl>
              <a:tblPr firstRow="1" bandRow="1">
                <a:tableStyleId>{5C22544A-7EE6-4342-B048-85BDC9FD1C3A}</a:tableStyleId>
              </a:tblPr>
              <a:tblGrid>
                <a:gridCol w="404985">
                  <a:extLst>
                    <a:ext uri="{9D8B030D-6E8A-4147-A177-3AD203B41FA5}">
                      <a16:colId xmlns:a16="http://schemas.microsoft.com/office/drawing/2014/main" val="2276462251"/>
                    </a:ext>
                  </a:extLst>
                </a:gridCol>
              </a:tblGrid>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3" name="TextBox 2"/>
          <p:cNvSpPr txBox="1"/>
          <p:nvPr/>
        </p:nvSpPr>
        <p:spPr>
          <a:xfrm>
            <a:off x="2557464" y="4342896"/>
            <a:ext cx="854273" cy="323165"/>
          </a:xfrm>
          <a:prstGeom prst="rect">
            <a:avLst/>
          </a:prstGeom>
          <a:noFill/>
        </p:spPr>
        <p:txBody>
          <a:bodyPr wrap="none" rtlCol="0">
            <a:spAutoFit/>
          </a:bodyPr>
          <a:lstStyle/>
          <a:p>
            <a:r>
              <a:rPr lang="en-US" sz="1500" dirty="0"/>
              <a:t>v(strolls)</a:t>
            </a:r>
          </a:p>
        </p:txBody>
      </p:sp>
      <p:graphicFrame>
        <p:nvGraphicFramePr>
          <p:cNvPr id="15" name="Table 14"/>
          <p:cNvGraphicFramePr>
            <a:graphicFrameLocks noGrp="1"/>
          </p:cNvGraphicFramePr>
          <p:nvPr/>
        </p:nvGraphicFramePr>
        <p:xfrm>
          <a:off x="5211305" y="1680379"/>
          <a:ext cx="404985" cy="2291946"/>
        </p:xfrm>
        <a:graphic>
          <a:graphicData uri="http://schemas.openxmlformats.org/drawingml/2006/table">
            <a:tbl>
              <a:tblPr firstRow="1" bandRow="1">
                <a:tableStyleId>{5C22544A-7EE6-4342-B048-85BDC9FD1C3A}</a:tableStyleId>
              </a:tblPr>
              <a:tblGrid>
                <a:gridCol w="404985">
                  <a:extLst>
                    <a:ext uri="{9D8B030D-6E8A-4147-A177-3AD203B41FA5}">
                      <a16:colId xmlns:a16="http://schemas.microsoft.com/office/drawing/2014/main" val="2276462251"/>
                    </a:ext>
                  </a:extLst>
                </a:gridCol>
              </a:tblGrid>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16" name="Table 15"/>
          <p:cNvGraphicFramePr>
            <a:graphicFrameLocks noGrp="1"/>
          </p:cNvGraphicFramePr>
          <p:nvPr/>
        </p:nvGraphicFramePr>
        <p:xfrm>
          <a:off x="5211305" y="2441014"/>
          <a:ext cx="404985" cy="2291946"/>
        </p:xfrm>
        <a:graphic>
          <a:graphicData uri="http://schemas.openxmlformats.org/drawingml/2006/table">
            <a:tbl>
              <a:tblPr firstRow="1" bandRow="1">
                <a:tableStyleId>{5C22544A-7EE6-4342-B048-85BDC9FD1C3A}</a:tableStyleId>
              </a:tblPr>
              <a:tblGrid>
                <a:gridCol w="404985">
                  <a:extLst>
                    <a:ext uri="{9D8B030D-6E8A-4147-A177-3AD203B41FA5}">
                      <a16:colId xmlns:a16="http://schemas.microsoft.com/office/drawing/2014/main" val="2276462251"/>
                    </a:ext>
                  </a:extLst>
                </a:gridCol>
              </a:tblGrid>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28" name="TextBox 27"/>
          <p:cNvSpPr txBox="1"/>
          <p:nvPr/>
        </p:nvSpPr>
        <p:spPr>
          <a:xfrm>
            <a:off x="5671031" y="1688610"/>
            <a:ext cx="747320" cy="323165"/>
          </a:xfrm>
          <a:prstGeom prst="rect">
            <a:avLst/>
          </a:prstGeom>
          <a:noFill/>
        </p:spPr>
        <p:txBody>
          <a:bodyPr wrap="none" rtlCol="0">
            <a:spAutoFit/>
          </a:bodyPr>
          <a:lstStyle/>
          <a:p>
            <a:r>
              <a:rPr lang="en-US" sz="1500" dirty="0"/>
              <a:t>p(man)</a:t>
            </a:r>
          </a:p>
        </p:txBody>
      </p:sp>
      <p:sp>
        <p:nvSpPr>
          <p:cNvPr id="29" name="TextBox 28"/>
          <p:cNvSpPr txBox="1"/>
          <p:nvPr/>
        </p:nvSpPr>
        <p:spPr>
          <a:xfrm>
            <a:off x="5671031" y="2068701"/>
            <a:ext cx="984372" cy="323165"/>
          </a:xfrm>
          <a:prstGeom prst="rect">
            <a:avLst/>
          </a:prstGeom>
          <a:noFill/>
        </p:spPr>
        <p:txBody>
          <a:bodyPr wrap="none" rtlCol="0">
            <a:spAutoFit/>
          </a:bodyPr>
          <a:lstStyle/>
          <a:p>
            <a:r>
              <a:rPr lang="en-US" sz="1500" dirty="0"/>
              <a:t>p(woman)</a:t>
            </a:r>
          </a:p>
        </p:txBody>
      </p:sp>
      <p:sp>
        <p:nvSpPr>
          <p:cNvPr id="30" name="TextBox 29"/>
          <p:cNvSpPr txBox="1"/>
          <p:nvPr/>
        </p:nvSpPr>
        <p:spPr>
          <a:xfrm>
            <a:off x="5671032" y="2855118"/>
            <a:ext cx="774571" cy="323165"/>
          </a:xfrm>
          <a:prstGeom prst="rect">
            <a:avLst/>
          </a:prstGeom>
          <a:noFill/>
        </p:spPr>
        <p:txBody>
          <a:bodyPr wrap="none" rtlCol="0">
            <a:spAutoFit/>
          </a:bodyPr>
          <a:lstStyle/>
          <a:p>
            <a:r>
              <a:rPr lang="en-US" sz="1500" dirty="0"/>
              <a:t>p(child)</a:t>
            </a:r>
          </a:p>
        </p:txBody>
      </p:sp>
      <p:sp>
        <p:nvSpPr>
          <p:cNvPr id="31" name="TextBox 30"/>
          <p:cNvSpPr txBox="1"/>
          <p:nvPr/>
        </p:nvSpPr>
        <p:spPr>
          <a:xfrm>
            <a:off x="5671032" y="3616605"/>
            <a:ext cx="1116139" cy="323165"/>
          </a:xfrm>
          <a:prstGeom prst="rect">
            <a:avLst/>
          </a:prstGeom>
          <a:noFill/>
        </p:spPr>
        <p:txBody>
          <a:bodyPr wrap="none" rtlCol="0">
            <a:spAutoFit/>
          </a:bodyPr>
          <a:lstStyle/>
          <a:p>
            <a:r>
              <a:rPr lang="en-US" sz="1500" dirty="0"/>
              <a:t>p(crocodile)</a:t>
            </a:r>
          </a:p>
        </p:txBody>
      </p:sp>
      <p:sp>
        <p:nvSpPr>
          <p:cNvPr id="32" name="TextBox 31"/>
          <p:cNvSpPr txBox="1"/>
          <p:nvPr/>
        </p:nvSpPr>
        <p:spPr>
          <a:xfrm>
            <a:off x="5671032" y="3208974"/>
            <a:ext cx="978153" cy="323165"/>
          </a:xfrm>
          <a:prstGeom prst="rect">
            <a:avLst/>
          </a:prstGeom>
          <a:noFill/>
        </p:spPr>
        <p:txBody>
          <a:bodyPr wrap="none" rtlCol="0">
            <a:spAutoFit/>
          </a:bodyPr>
          <a:lstStyle/>
          <a:p>
            <a:r>
              <a:rPr lang="en-US" sz="1500" dirty="0"/>
              <a:t>p(banana)</a:t>
            </a:r>
          </a:p>
        </p:txBody>
      </p:sp>
      <p:sp>
        <p:nvSpPr>
          <p:cNvPr id="33" name="TextBox 32"/>
          <p:cNvSpPr txBox="1"/>
          <p:nvPr/>
        </p:nvSpPr>
        <p:spPr>
          <a:xfrm>
            <a:off x="5648814" y="4342896"/>
            <a:ext cx="1025409" cy="323165"/>
          </a:xfrm>
          <a:prstGeom prst="rect">
            <a:avLst/>
          </a:prstGeom>
          <a:noFill/>
        </p:spPr>
        <p:txBody>
          <a:bodyPr wrap="none" rtlCol="0">
            <a:spAutoFit/>
          </a:bodyPr>
          <a:lstStyle/>
          <a:p>
            <a:r>
              <a:rPr lang="en-US" sz="1500" dirty="0"/>
              <a:t>p(concept)</a:t>
            </a:r>
          </a:p>
        </p:txBody>
      </p:sp>
      <p:sp>
        <p:nvSpPr>
          <p:cNvPr id="37" name="Left Brace 36"/>
          <p:cNvSpPr/>
          <p:nvPr/>
        </p:nvSpPr>
        <p:spPr>
          <a:xfrm>
            <a:off x="1593812" y="1917439"/>
            <a:ext cx="491133" cy="2291945"/>
          </a:xfrm>
          <a:prstGeom prst="leftBrace">
            <a:avLst>
              <a:gd name="adj1" fmla="val 32923"/>
              <a:gd name="adj2"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38" name="TextBox 37"/>
          <p:cNvSpPr txBox="1"/>
          <p:nvPr/>
        </p:nvSpPr>
        <p:spPr>
          <a:xfrm>
            <a:off x="263211" y="2567121"/>
            <a:ext cx="1297424" cy="1015663"/>
          </a:xfrm>
          <a:prstGeom prst="rect">
            <a:avLst/>
          </a:prstGeom>
          <a:noFill/>
        </p:spPr>
        <p:txBody>
          <a:bodyPr wrap="square" rtlCol="0">
            <a:spAutoFit/>
          </a:bodyPr>
          <a:lstStyle/>
          <a:p>
            <a:pPr algn="ctr"/>
            <a:r>
              <a:rPr lang="en-US" sz="1500" dirty="0"/>
              <a:t>elements of the vector corresponding to “strolls”</a:t>
            </a:r>
          </a:p>
        </p:txBody>
      </p:sp>
      <p:sp>
        <p:nvSpPr>
          <p:cNvPr id="39" name="Left Brace 38"/>
          <p:cNvSpPr/>
          <p:nvPr/>
        </p:nvSpPr>
        <p:spPr>
          <a:xfrm rot="10800000">
            <a:off x="6916966" y="1680379"/>
            <a:ext cx="491133" cy="3052580"/>
          </a:xfrm>
          <a:prstGeom prst="leftBrace">
            <a:avLst>
              <a:gd name="adj1" fmla="val 32923"/>
              <a:gd name="adj2"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40" name="TextBox 39"/>
          <p:cNvSpPr txBox="1"/>
          <p:nvPr/>
        </p:nvSpPr>
        <p:spPr>
          <a:xfrm>
            <a:off x="7661975" y="2826351"/>
            <a:ext cx="1297424" cy="1015663"/>
          </a:xfrm>
          <a:prstGeom prst="rect">
            <a:avLst/>
          </a:prstGeom>
          <a:noFill/>
        </p:spPr>
        <p:txBody>
          <a:bodyPr wrap="square" rtlCol="0">
            <a:spAutoFit/>
          </a:bodyPr>
          <a:lstStyle/>
          <a:p>
            <a:pPr algn="ctr"/>
            <a:r>
              <a:rPr lang="en-US" sz="1500" dirty="0"/>
              <a:t>probabilities for all words in our vocabulary</a:t>
            </a:r>
          </a:p>
        </p:txBody>
      </p:sp>
      <p:sp>
        <p:nvSpPr>
          <p:cNvPr id="4" name="Right Arrow 3"/>
          <p:cNvSpPr/>
          <p:nvPr/>
        </p:nvSpPr>
        <p:spPr>
          <a:xfrm>
            <a:off x="3579076" y="2524835"/>
            <a:ext cx="1364449" cy="960649"/>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t>predict/</a:t>
            </a:r>
          </a:p>
          <a:p>
            <a:pPr algn="ctr"/>
            <a:r>
              <a:rPr lang="en-US" sz="1350" dirty="0"/>
              <a:t>reconstruct</a:t>
            </a:r>
          </a:p>
        </p:txBody>
      </p:sp>
    </p:spTree>
    <p:extLst>
      <p:ext uri="{BB962C8B-B14F-4D97-AF65-F5344CB8AC3E}">
        <p14:creationId xmlns:p14="http://schemas.microsoft.com/office/powerpoint/2010/main" val="3425078638"/>
      </p:ext>
    </p:extLst>
  </p:cSld>
  <p:clrMapOvr>
    <a:masterClrMapping/>
  </p:clrMapOvr>
  <mc:AlternateContent xmlns:mc="http://schemas.openxmlformats.org/markup-compatibility/2006" xmlns:p14="http://schemas.microsoft.com/office/powerpoint/2010/main">
    <mc:Choice Requires="p14">
      <p:transition spd="slow" p14:dur="2000" advTm="60419"/>
    </mc:Choice>
    <mc:Fallback xmlns="">
      <p:transition spd="slow" advTm="60419"/>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0C0C3-2940-F467-A693-97289DA56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E48DAB-CFEA-4BA4-8312-B2015D7F2DA0}"/>
              </a:ext>
            </a:extLst>
          </p:cNvPr>
          <p:cNvSpPr>
            <a:spLocks noGrp="1"/>
          </p:cNvSpPr>
          <p:nvPr>
            <p:ph type="title"/>
          </p:nvPr>
        </p:nvSpPr>
        <p:spPr>
          <a:xfrm>
            <a:off x="383722" y="229201"/>
            <a:ext cx="8376557" cy="1343630"/>
          </a:xfrm>
        </p:spPr>
        <p:txBody>
          <a:bodyPr>
            <a:noAutofit/>
          </a:bodyPr>
          <a:lstStyle/>
          <a:p>
            <a:r>
              <a:rPr lang="en-US" sz="2400" dirty="0"/>
              <a:t>Step 2: find vector representations sufficient </a:t>
            </a:r>
            <a:br>
              <a:rPr lang="en-US" sz="2400" dirty="0"/>
            </a:br>
            <a:r>
              <a:rPr lang="en-US" sz="2400" dirty="0"/>
              <a:t>to predict the likely context</a:t>
            </a:r>
            <a:br>
              <a:rPr lang="en-US" sz="2400" dirty="0"/>
            </a:br>
            <a:br>
              <a:rPr lang="en-US" sz="1350" dirty="0"/>
            </a:br>
            <a:r>
              <a:rPr lang="en-US" sz="2400" dirty="0"/>
              <a:t>(i.e. what other words are likely/unlikely to be nearby)</a:t>
            </a:r>
            <a:br>
              <a:rPr lang="en-US" sz="2400" dirty="0"/>
            </a:br>
            <a:endParaRPr lang="en-US" sz="2400" dirty="0"/>
          </a:p>
        </p:txBody>
      </p:sp>
      <p:graphicFrame>
        <p:nvGraphicFramePr>
          <p:cNvPr id="14" name="Table 13">
            <a:extLst>
              <a:ext uri="{FF2B5EF4-FFF2-40B4-BE49-F238E27FC236}">
                <a16:creationId xmlns:a16="http://schemas.microsoft.com/office/drawing/2014/main" id="{E7F26760-C47B-2E92-5DEF-E088C81F8749}"/>
              </a:ext>
            </a:extLst>
          </p:cNvPr>
          <p:cNvGraphicFramePr>
            <a:graphicFrameLocks noGrp="1"/>
          </p:cNvGraphicFramePr>
          <p:nvPr/>
        </p:nvGraphicFramePr>
        <p:xfrm>
          <a:off x="2760635" y="1917439"/>
          <a:ext cx="404985" cy="2291946"/>
        </p:xfrm>
        <a:graphic>
          <a:graphicData uri="http://schemas.openxmlformats.org/drawingml/2006/table">
            <a:tbl>
              <a:tblPr firstRow="1" bandRow="1">
                <a:tableStyleId>{5C22544A-7EE6-4342-B048-85BDC9FD1C3A}</a:tableStyleId>
              </a:tblPr>
              <a:tblGrid>
                <a:gridCol w="404985">
                  <a:extLst>
                    <a:ext uri="{9D8B030D-6E8A-4147-A177-3AD203B41FA5}">
                      <a16:colId xmlns:a16="http://schemas.microsoft.com/office/drawing/2014/main" val="2276462251"/>
                    </a:ext>
                  </a:extLst>
                </a:gridCol>
              </a:tblGrid>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3" name="TextBox 2">
            <a:extLst>
              <a:ext uri="{FF2B5EF4-FFF2-40B4-BE49-F238E27FC236}">
                <a16:creationId xmlns:a16="http://schemas.microsoft.com/office/drawing/2014/main" id="{CE521708-1F94-A550-D8B4-424A9E86F801}"/>
              </a:ext>
            </a:extLst>
          </p:cNvPr>
          <p:cNvSpPr txBox="1"/>
          <p:nvPr/>
        </p:nvSpPr>
        <p:spPr>
          <a:xfrm>
            <a:off x="2557464" y="4342896"/>
            <a:ext cx="854273" cy="323165"/>
          </a:xfrm>
          <a:prstGeom prst="rect">
            <a:avLst/>
          </a:prstGeom>
          <a:noFill/>
        </p:spPr>
        <p:txBody>
          <a:bodyPr wrap="none" rtlCol="0">
            <a:spAutoFit/>
          </a:bodyPr>
          <a:lstStyle/>
          <a:p>
            <a:r>
              <a:rPr lang="en-US" sz="1500" dirty="0"/>
              <a:t>v(strolls)</a:t>
            </a:r>
          </a:p>
        </p:txBody>
      </p:sp>
      <p:graphicFrame>
        <p:nvGraphicFramePr>
          <p:cNvPr id="15" name="Table 14">
            <a:extLst>
              <a:ext uri="{FF2B5EF4-FFF2-40B4-BE49-F238E27FC236}">
                <a16:creationId xmlns:a16="http://schemas.microsoft.com/office/drawing/2014/main" id="{A7FAE8EE-788F-E343-3DC5-E272511AAAC3}"/>
              </a:ext>
            </a:extLst>
          </p:cNvPr>
          <p:cNvGraphicFramePr>
            <a:graphicFrameLocks noGrp="1"/>
          </p:cNvGraphicFramePr>
          <p:nvPr/>
        </p:nvGraphicFramePr>
        <p:xfrm>
          <a:off x="5211305" y="1680379"/>
          <a:ext cx="404985" cy="2291946"/>
        </p:xfrm>
        <a:graphic>
          <a:graphicData uri="http://schemas.openxmlformats.org/drawingml/2006/table">
            <a:tbl>
              <a:tblPr firstRow="1" bandRow="1">
                <a:tableStyleId>{5C22544A-7EE6-4342-B048-85BDC9FD1C3A}</a:tableStyleId>
              </a:tblPr>
              <a:tblGrid>
                <a:gridCol w="404985">
                  <a:extLst>
                    <a:ext uri="{9D8B030D-6E8A-4147-A177-3AD203B41FA5}">
                      <a16:colId xmlns:a16="http://schemas.microsoft.com/office/drawing/2014/main" val="2276462251"/>
                    </a:ext>
                  </a:extLst>
                </a:gridCol>
              </a:tblGrid>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16" name="Table 15">
            <a:extLst>
              <a:ext uri="{FF2B5EF4-FFF2-40B4-BE49-F238E27FC236}">
                <a16:creationId xmlns:a16="http://schemas.microsoft.com/office/drawing/2014/main" id="{D9DE88CA-4EE7-6548-B9E1-644256CEEC27}"/>
              </a:ext>
            </a:extLst>
          </p:cNvPr>
          <p:cNvGraphicFramePr>
            <a:graphicFrameLocks noGrp="1"/>
          </p:cNvGraphicFramePr>
          <p:nvPr/>
        </p:nvGraphicFramePr>
        <p:xfrm>
          <a:off x="5211305" y="2441014"/>
          <a:ext cx="404985" cy="2291946"/>
        </p:xfrm>
        <a:graphic>
          <a:graphicData uri="http://schemas.openxmlformats.org/drawingml/2006/table">
            <a:tbl>
              <a:tblPr firstRow="1" bandRow="1">
                <a:tableStyleId>{5C22544A-7EE6-4342-B048-85BDC9FD1C3A}</a:tableStyleId>
              </a:tblPr>
              <a:tblGrid>
                <a:gridCol w="404985">
                  <a:extLst>
                    <a:ext uri="{9D8B030D-6E8A-4147-A177-3AD203B41FA5}">
                      <a16:colId xmlns:a16="http://schemas.microsoft.com/office/drawing/2014/main" val="2276462251"/>
                    </a:ext>
                  </a:extLst>
                </a:gridCol>
              </a:tblGrid>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28" name="TextBox 27">
            <a:extLst>
              <a:ext uri="{FF2B5EF4-FFF2-40B4-BE49-F238E27FC236}">
                <a16:creationId xmlns:a16="http://schemas.microsoft.com/office/drawing/2014/main" id="{49490C16-A141-94B2-82DF-53AC9FBC58A1}"/>
              </a:ext>
            </a:extLst>
          </p:cNvPr>
          <p:cNvSpPr txBox="1"/>
          <p:nvPr/>
        </p:nvSpPr>
        <p:spPr>
          <a:xfrm>
            <a:off x="5671031" y="1688610"/>
            <a:ext cx="747320" cy="323165"/>
          </a:xfrm>
          <a:prstGeom prst="rect">
            <a:avLst/>
          </a:prstGeom>
          <a:noFill/>
        </p:spPr>
        <p:txBody>
          <a:bodyPr wrap="none" rtlCol="0">
            <a:spAutoFit/>
          </a:bodyPr>
          <a:lstStyle/>
          <a:p>
            <a:r>
              <a:rPr lang="en-US" sz="1500" dirty="0"/>
              <a:t>p(man)</a:t>
            </a:r>
          </a:p>
        </p:txBody>
      </p:sp>
      <p:sp>
        <p:nvSpPr>
          <p:cNvPr id="29" name="TextBox 28">
            <a:extLst>
              <a:ext uri="{FF2B5EF4-FFF2-40B4-BE49-F238E27FC236}">
                <a16:creationId xmlns:a16="http://schemas.microsoft.com/office/drawing/2014/main" id="{50AF951B-C125-A281-C9D3-C7C8602DD810}"/>
              </a:ext>
            </a:extLst>
          </p:cNvPr>
          <p:cNvSpPr txBox="1"/>
          <p:nvPr/>
        </p:nvSpPr>
        <p:spPr>
          <a:xfrm>
            <a:off x="5671031" y="2068701"/>
            <a:ext cx="984372" cy="323165"/>
          </a:xfrm>
          <a:prstGeom prst="rect">
            <a:avLst/>
          </a:prstGeom>
          <a:noFill/>
        </p:spPr>
        <p:txBody>
          <a:bodyPr wrap="none" rtlCol="0">
            <a:spAutoFit/>
          </a:bodyPr>
          <a:lstStyle/>
          <a:p>
            <a:r>
              <a:rPr lang="en-US" sz="1500" dirty="0"/>
              <a:t>p(woman)</a:t>
            </a:r>
          </a:p>
        </p:txBody>
      </p:sp>
      <p:sp>
        <p:nvSpPr>
          <p:cNvPr id="30" name="TextBox 29">
            <a:extLst>
              <a:ext uri="{FF2B5EF4-FFF2-40B4-BE49-F238E27FC236}">
                <a16:creationId xmlns:a16="http://schemas.microsoft.com/office/drawing/2014/main" id="{1ED86347-4068-C3A2-E9FC-56CCADB9A7D2}"/>
              </a:ext>
            </a:extLst>
          </p:cNvPr>
          <p:cNvSpPr txBox="1"/>
          <p:nvPr/>
        </p:nvSpPr>
        <p:spPr>
          <a:xfrm>
            <a:off x="5671032" y="2855118"/>
            <a:ext cx="774571" cy="323165"/>
          </a:xfrm>
          <a:prstGeom prst="rect">
            <a:avLst/>
          </a:prstGeom>
          <a:noFill/>
        </p:spPr>
        <p:txBody>
          <a:bodyPr wrap="none" rtlCol="0">
            <a:spAutoFit/>
          </a:bodyPr>
          <a:lstStyle/>
          <a:p>
            <a:r>
              <a:rPr lang="en-US" sz="1500" dirty="0"/>
              <a:t>p(child)</a:t>
            </a:r>
          </a:p>
        </p:txBody>
      </p:sp>
      <p:sp>
        <p:nvSpPr>
          <p:cNvPr id="31" name="TextBox 30">
            <a:extLst>
              <a:ext uri="{FF2B5EF4-FFF2-40B4-BE49-F238E27FC236}">
                <a16:creationId xmlns:a16="http://schemas.microsoft.com/office/drawing/2014/main" id="{FDA4755C-DC5D-99CF-D431-81842AF92E5B}"/>
              </a:ext>
            </a:extLst>
          </p:cNvPr>
          <p:cNvSpPr txBox="1"/>
          <p:nvPr/>
        </p:nvSpPr>
        <p:spPr>
          <a:xfrm>
            <a:off x="5671032" y="3616605"/>
            <a:ext cx="1116139" cy="323165"/>
          </a:xfrm>
          <a:prstGeom prst="rect">
            <a:avLst/>
          </a:prstGeom>
          <a:noFill/>
        </p:spPr>
        <p:txBody>
          <a:bodyPr wrap="none" rtlCol="0">
            <a:spAutoFit/>
          </a:bodyPr>
          <a:lstStyle/>
          <a:p>
            <a:r>
              <a:rPr lang="en-US" sz="1500" dirty="0"/>
              <a:t>p(crocodile)</a:t>
            </a:r>
          </a:p>
        </p:txBody>
      </p:sp>
      <p:sp>
        <p:nvSpPr>
          <p:cNvPr id="32" name="TextBox 31">
            <a:extLst>
              <a:ext uri="{FF2B5EF4-FFF2-40B4-BE49-F238E27FC236}">
                <a16:creationId xmlns:a16="http://schemas.microsoft.com/office/drawing/2014/main" id="{C3E3FCF5-1E25-DE9D-47BB-68E70F1FBB81}"/>
              </a:ext>
            </a:extLst>
          </p:cNvPr>
          <p:cNvSpPr txBox="1"/>
          <p:nvPr/>
        </p:nvSpPr>
        <p:spPr>
          <a:xfrm>
            <a:off x="5671032" y="3208974"/>
            <a:ext cx="978153" cy="323165"/>
          </a:xfrm>
          <a:prstGeom prst="rect">
            <a:avLst/>
          </a:prstGeom>
          <a:noFill/>
        </p:spPr>
        <p:txBody>
          <a:bodyPr wrap="none" rtlCol="0">
            <a:spAutoFit/>
          </a:bodyPr>
          <a:lstStyle/>
          <a:p>
            <a:r>
              <a:rPr lang="en-US" sz="1500" dirty="0"/>
              <a:t>p(banana)</a:t>
            </a:r>
          </a:p>
        </p:txBody>
      </p:sp>
      <p:sp>
        <p:nvSpPr>
          <p:cNvPr id="33" name="TextBox 32">
            <a:extLst>
              <a:ext uri="{FF2B5EF4-FFF2-40B4-BE49-F238E27FC236}">
                <a16:creationId xmlns:a16="http://schemas.microsoft.com/office/drawing/2014/main" id="{78BA900B-BD96-DC46-7CFE-BF5EDAB2DE5F}"/>
              </a:ext>
            </a:extLst>
          </p:cNvPr>
          <p:cNvSpPr txBox="1"/>
          <p:nvPr/>
        </p:nvSpPr>
        <p:spPr>
          <a:xfrm>
            <a:off x="5648814" y="4342896"/>
            <a:ext cx="1025409" cy="323165"/>
          </a:xfrm>
          <a:prstGeom prst="rect">
            <a:avLst/>
          </a:prstGeom>
          <a:noFill/>
        </p:spPr>
        <p:txBody>
          <a:bodyPr wrap="none" rtlCol="0">
            <a:spAutoFit/>
          </a:bodyPr>
          <a:lstStyle/>
          <a:p>
            <a:r>
              <a:rPr lang="en-US" sz="1500" dirty="0"/>
              <a:t>p(concept)</a:t>
            </a:r>
          </a:p>
        </p:txBody>
      </p:sp>
      <p:sp>
        <p:nvSpPr>
          <p:cNvPr id="37" name="Left Brace 36">
            <a:extLst>
              <a:ext uri="{FF2B5EF4-FFF2-40B4-BE49-F238E27FC236}">
                <a16:creationId xmlns:a16="http://schemas.microsoft.com/office/drawing/2014/main" id="{D1F095E5-E589-D914-A2F5-575337AB097C}"/>
              </a:ext>
            </a:extLst>
          </p:cNvPr>
          <p:cNvSpPr/>
          <p:nvPr/>
        </p:nvSpPr>
        <p:spPr>
          <a:xfrm>
            <a:off x="1593812" y="1917439"/>
            <a:ext cx="491133" cy="2291945"/>
          </a:xfrm>
          <a:prstGeom prst="leftBrace">
            <a:avLst>
              <a:gd name="adj1" fmla="val 32923"/>
              <a:gd name="adj2"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38" name="TextBox 37">
            <a:extLst>
              <a:ext uri="{FF2B5EF4-FFF2-40B4-BE49-F238E27FC236}">
                <a16:creationId xmlns:a16="http://schemas.microsoft.com/office/drawing/2014/main" id="{5454DAAB-BE67-0A49-F0F4-2DF9996D84BE}"/>
              </a:ext>
            </a:extLst>
          </p:cNvPr>
          <p:cNvSpPr txBox="1"/>
          <p:nvPr/>
        </p:nvSpPr>
        <p:spPr>
          <a:xfrm>
            <a:off x="263211" y="2567121"/>
            <a:ext cx="1297424" cy="1015663"/>
          </a:xfrm>
          <a:prstGeom prst="rect">
            <a:avLst/>
          </a:prstGeom>
          <a:noFill/>
        </p:spPr>
        <p:txBody>
          <a:bodyPr wrap="square" rtlCol="0">
            <a:spAutoFit/>
          </a:bodyPr>
          <a:lstStyle/>
          <a:p>
            <a:pPr algn="ctr"/>
            <a:r>
              <a:rPr lang="en-US" sz="1500" dirty="0"/>
              <a:t>elements of the vector corresponding to “strolls”</a:t>
            </a:r>
          </a:p>
        </p:txBody>
      </p:sp>
      <p:sp>
        <p:nvSpPr>
          <p:cNvPr id="39" name="Left Brace 38">
            <a:extLst>
              <a:ext uri="{FF2B5EF4-FFF2-40B4-BE49-F238E27FC236}">
                <a16:creationId xmlns:a16="http://schemas.microsoft.com/office/drawing/2014/main" id="{A45C3D08-590E-7250-9A25-B404910BFED6}"/>
              </a:ext>
            </a:extLst>
          </p:cNvPr>
          <p:cNvSpPr/>
          <p:nvPr/>
        </p:nvSpPr>
        <p:spPr>
          <a:xfrm rot="10800000">
            <a:off x="6916966" y="1680379"/>
            <a:ext cx="491133" cy="3052580"/>
          </a:xfrm>
          <a:prstGeom prst="leftBrace">
            <a:avLst>
              <a:gd name="adj1" fmla="val 32923"/>
              <a:gd name="adj2"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40" name="TextBox 39">
            <a:extLst>
              <a:ext uri="{FF2B5EF4-FFF2-40B4-BE49-F238E27FC236}">
                <a16:creationId xmlns:a16="http://schemas.microsoft.com/office/drawing/2014/main" id="{1034511D-A788-25F0-00F6-AD130EA61651}"/>
              </a:ext>
            </a:extLst>
          </p:cNvPr>
          <p:cNvSpPr txBox="1"/>
          <p:nvPr/>
        </p:nvSpPr>
        <p:spPr>
          <a:xfrm>
            <a:off x="7661975" y="2826351"/>
            <a:ext cx="1297424" cy="1015663"/>
          </a:xfrm>
          <a:prstGeom prst="rect">
            <a:avLst/>
          </a:prstGeom>
          <a:noFill/>
        </p:spPr>
        <p:txBody>
          <a:bodyPr wrap="square" rtlCol="0">
            <a:spAutoFit/>
          </a:bodyPr>
          <a:lstStyle/>
          <a:p>
            <a:pPr algn="ctr"/>
            <a:r>
              <a:rPr lang="en-US" sz="1500" dirty="0"/>
              <a:t>probabilities for all words in our vocabulary</a:t>
            </a:r>
          </a:p>
        </p:txBody>
      </p:sp>
      <p:sp>
        <p:nvSpPr>
          <p:cNvPr id="4" name="Right Arrow 3">
            <a:extLst>
              <a:ext uri="{FF2B5EF4-FFF2-40B4-BE49-F238E27FC236}">
                <a16:creationId xmlns:a16="http://schemas.microsoft.com/office/drawing/2014/main" id="{426685AF-D965-FF4E-0755-D25C42DED8A1}"/>
              </a:ext>
            </a:extLst>
          </p:cNvPr>
          <p:cNvSpPr/>
          <p:nvPr/>
        </p:nvSpPr>
        <p:spPr>
          <a:xfrm>
            <a:off x="3579076" y="2524835"/>
            <a:ext cx="1364449" cy="960649"/>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t>predict/</a:t>
            </a:r>
          </a:p>
          <a:p>
            <a:pPr algn="ctr"/>
            <a:r>
              <a:rPr lang="en-US" sz="1350" dirty="0"/>
              <a:t>reconstruct</a:t>
            </a:r>
          </a:p>
        </p:txBody>
      </p:sp>
      <p:sp>
        <p:nvSpPr>
          <p:cNvPr id="5" name="TextBox 4">
            <a:extLst>
              <a:ext uri="{FF2B5EF4-FFF2-40B4-BE49-F238E27FC236}">
                <a16:creationId xmlns:a16="http://schemas.microsoft.com/office/drawing/2014/main" id="{115225C7-238F-A01C-C937-DF69B96D993C}"/>
              </a:ext>
            </a:extLst>
          </p:cNvPr>
          <p:cNvSpPr txBox="1"/>
          <p:nvPr/>
        </p:nvSpPr>
        <p:spPr>
          <a:xfrm>
            <a:off x="7693819" y="1988693"/>
            <a:ext cx="911562" cy="323165"/>
          </a:xfrm>
          <a:prstGeom prst="rect">
            <a:avLst/>
          </a:prstGeom>
          <a:noFill/>
        </p:spPr>
        <p:txBody>
          <a:bodyPr wrap="square" rtlCol="0">
            <a:spAutoFit/>
          </a:bodyPr>
          <a:lstStyle/>
          <a:p>
            <a:pPr algn="ctr"/>
            <a:r>
              <a:rPr lang="en-US" sz="1500" dirty="0"/>
              <a:t>largest</a:t>
            </a:r>
          </a:p>
        </p:txBody>
      </p:sp>
      <p:cxnSp>
        <p:nvCxnSpPr>
          <p:cNvPr id="6" name="Straight Arrow Connector 5">
            <a:extLst>
              <a:ext uri="{FF2B5EF4-FFF2-40B4-BE49-F238E27FC236}">
                <a16:creationId xmlns:a16="http://schemas.microsoft.com/office/drawing/2014/main" id="{6A5332EF-1E34-DA24-EA81-9C90D68EA8A6}"/>
              </a:ext>
            </a:extLst>
          </p:cNvPr>
          <p:cNvCxnSpPr>
            <a:stCxn id="5" idx="1"/>
          </p:cNvCxnSpPr>
          <p:nvPr/>
        </p:nvCxnSpPr>
        <p:spPr>
          <a:xfrm flipH="1" flipV="1">
            <a:off x="6375792" y="1838651"/>
            <a:ext cx="1318027" cy="31162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F029116A-AD93-95E8-0751-3BBAB4A6F930}"/>
              </a:ext>
            </a:extLst>
          </p:cNvPr>
          <p:cNvCxnSpPr>
            <a:stCxn id="5" idx="1"/>
          </p:cNvCxnSpPr>
          <p:nvPr/>
        </p:nvCxnSpPr>
        <p:spPr>
          <a:xfrm flipH="1">
            <a:off x="6612058" y="2150276"/>
            <a:ext cx="1081761" cy="6846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C5E0DF2-3F19-F8C5-5DA4-38D1499AA7A0}"/>
              </a:ext>
            </a:extLst>
          </p:cNvPr>
          <p:cNvSpPr txBox="1"/>
          <p:nvPr/>
        </p:nvSpPr>
        <p:spPr>
          <a:xfrm>
            <a:off x="7693819" y="4460969"/>
            <a:ext cx="911562" cy="553998"/>
          </a:xfrm>
          <a:prstGeom prst="rect">
            <a:avLst/>
          </a:prstGeom>
          <a:noFill/>
        </p:spPr>
        <p:txBody>
          <a:bodyPr wrap="square" rtlCol="0">
            <a:spAutoFit/>
          </a:bodyPr>
          <a:lstStyle/>
          <a:p>
            <a:pPr algn="ctr"/>
            <a:r>
              <a:rPr lang="en-US" sz="1500" dirty="0"/>
              <a:t>close to 0</a:t>
            </a:r>
          </a:p>
        </p:txBody>
      </p:sp>
      <p:cxnSp>
        <p:nvCxnSpPr>
          <p:cNvPr id="9" name="Straight Arrow Connector 8">
            <a:extLst>
              <a:ext uri="{FF2B5EF4-FFF2-40B4-BE49-F238E27FC236}">
                <a16:creationId xmlns:a16="http://schemas.microsoft.com/office/drawing/2014/main" id="{8FD4AD78-BA16-098F-EE45-9F9A58F0FC15}"/>
              </a:ext>
            </a:extLst>
          </p:cNvPr>
          <p:cNvCxnSpPr>
            <a:cxnSpLocks/>
            <a:stCxn id="8" idx="1"/>
            <a:endCxn id="33" idx="3"/>
          </p:cNvCxnSpPr>
          <p:nvPr/>
        </p:nvCxnSpPr>
        <p:spPr>
          <a:xfrm flipH="1" flipV="1">
            <a:off x="6674223" y="4504479"/>
            <a:ext cx="1019596" cy="23348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32D31FD3-62CF-AB08-4B12-516CA267BFF9}"/>
              </a:ext>
            </a:extLst>
          </p:cNvPr>
          <p:cNvSpPr txBox="1"/>
          <p:nvPr/>
        </p:nvSpPr>
        <p:spPr>
          <a:xfrm>
            <a:off x="7831088" y="3740593"/>
            <a:ext cx="1072314" cy="553998"/>
          </a:xfrm>
          <a:prstGeom prst="rect">
            <a:avLst/>
          </a:prstGeom>
          <a:noFill/>
        </p:spPr>
        <p:txBody>
          <a:bodyPr wrap="square" rtlCol="0">
            <a:spAutoFit/>
          </a:bodyPr>
          <a:lstStyle/>
          <a:p>
            <a:pPr algn="ctr"/>
            <a:r>
              <a:rPr lang="en-US" sz="1500" dirty="0"/>
              <a:t>small but non-zero</a:t>
            </a:r>
          </a:p>
        </p:txBody>
      </p:sp>
      <p:cxnSp>
        <p:nvCxnSpPr>
          <p:cNvPr id="11" name="Straight Arrow Connector 10">
            <a:extLst>
              <a:ext uri="{FF2B5EF4-FFF2-40B4-BE49-F238E27FC236}">
                <a16:creationId xmlns:a16="http://schemas.microsoft.com/office/drawing/2014/main" id="{22B56656-BEC2-CC02-AB62-4B182FC398CD}"/>
              </a:ext>
            </a:extLst>
          </p:cNvPr>
          <p:cNvCxnSpPr>
            <a:cxnSpLocks/>
            <a:stCxn id="10" idx="1"/>
            <a:endCxn id="31" idx="3"/>
          </p:cNvCxnSpPr>
          <p:nvPr/>
        </p:nvCxnSpPr>
        <p:spPr>
          <a:xfrm flipH="1" flipV="1">
            <a:off x="6787171" y="3778188"/>
            <a:ext cx="1043917" cy="23940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4228129"/>
      </p:ext>
    </p:extLst>
  </p:cSld>
  <p:clrMapOvr>
    <a:masterClrMapping/>
  </p:clrMapOvr>
  <mc:AlternateContent xmlns:mc="http://schemas.openxmlformats.org/markup-compatibility/2006" xmlns:p14="http://schemas.microsoft.com/office/powerpoint/2010/main">
    <mc:Choice Requires="p14">
      <p:transition spd="slow" p14:dur="2000" advTm="60419"/>
    </mc:Choice>
    <mc:Fallback xmlns="">
      <p:transition spd="slow" advTm="60419"/>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FED0D-8272-C528-DD48-F49321AC2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AD9091-54FC-CBFB-A8CE-6B964E527FBB}"/>
              </a:ext>
            </a:extLst>
          </p:cNvPr>
          <p:cNvSpPr>
            <a:spLocks noGrp="1"/>
          </p:cNvSpPr>
          <p:nvPr>
            <p:ph type="title"/>
          </p:nvPr>
        </p:nvSpPr>
        <p:spPr>
          <a:xfrm>
            <a:off x="383722" y="229201"/>
            <a:ext cx="8376557" cy="1343630"/>
          </a:xfrm>
        </p:spPr>
        <p:txBody>
          <a:bodyPr>
            <a:noAutofit/>
          </a:bodyPr>
          <a:lstStyle/>
          <a:p>
            <a:r>
              <a:rPr lang="en-US" sz="2400" dirty="0"/>
              <a:t>Step 2: find vector representations sufficient </a:t>
            </a:r>
            <a:br>
              <a:rPr lang="en-US" sz="2400" dirty="0"/>
            </a:br>
            <a:r>
              <a:rPr lang="en-US" sz="2400" dirty="0"/>
              <a:t>to predict the likely context</a:t>
            </a:r>
            <a:br>
              <a:rPr lang="en-US" sz="2400" dirty="0"/>
            </a:br>
            <a:br>
              <a:rPr lang="en-US" sz="1350" dirty="0"/>
            </a:br>
            <a:r>
              <a:rPr lang="en-US" sz="2400" dirty="0"/>
              <a:t>(i.e. what other words are likely/unlikely to be nearby)</a:t>
            </a:r>
            <a:br>
              <a:rPr lang="en-US" sz="2400" dirty="0"/>
            </a:br>
            <a:endParaRPr lang="en-US" sz="2400" dirty="0"/>
          </a:p>
        </p:txBody>
      </p:sp>
      <p:graphicFrame>
        <p:nvGraphicFramePr>
          <p:cNvPr id="14" name="Table 13">
            <a:extLst>
              <a:ext uri="{FF2B5EF4-FFF2-40B4-BE49-F238E27FC236}">
                <a16:creationId xmlns:a16="http://schemas.microsoft.com/office/drawing/2014/main" id="{F077E2A8-D350-9715-C8F7-078BDF8A20AF}"/>
              </a:ext>
            </a:extLst>
          </p:cNvPr>
          <p:cNvGraphicFramePr>
            <a:graphicFrameLocks noGrp="1"/>
          </p:cNvGraphicFramePr>
          <p:nvPr/>
        </p:nvGraphicFramePr>
        <p:xfrm>
          <a:off x="2760635" y="1917439"/>
          <a:ext cx="404985" cy="2291946"/>
        </p:xfrm>
        <a:graphic>
          <a:graphicData uri="http://schemas.openxmlformats.org/drawingml/2006/table">
            <a:tbl>
              <a:tblPr firstRow="1" bandRow="1">
                <a:tableStyleId>{5C22544A-7EE6-4342-B048-85BDC9FD1C3A}</a:tableStyleId>
              </a:tblPr>
              <a:tblGrid>
                <a:gridCol w="404985">
                  <a:extLst>
                    <a:ext uri="{9D8B030D-6E8A-4147-A177-3AD203B41FA5}">
                      <a16:colId xmlns:a16="http://schemas.microsoft.com/office/drawing/2014/main" val="2276462251"/>
                    </a:ext>
                  </a:extLst>
                </a:gridCol>
              </a:tblGrid>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15" name="Table 14">
            <a:extLst>
              <a:ext uri="{FF2B5EF4-FFF2-40B4-BE49-F238E27FC236}">
                <a16:creationId xmlns:a16="http://schemas.microsoft.com/office/drawing/2014/main" id="{94A094FE-C776-DA57-82E3-310246F411BB}"/>
              </a:ext>
            </a:extLst>
          </p:cNvPr>
          <p:cNvGraphicFramePr>
            <a:graphicFrameLocks noGrp="1"/>
          </p:cNvGraphicFramePr>
          <p:nvPr/>
        </p:nvGraphicFramePr>
        <p:xfrm>
          <a:off x="5211305" y="1680379"/>
          <a:ext cx="404985" cy="2291946"/>
        </p:xfrm>
        <a:graphic>
          <a:graphicData uri="http://schemas.openxmlformats.org/drawingml/2006/table">
            <a:tbl>
              <a:tblPr firstRow="1" bandRow="1">
                <a:tableStyleId>{5C22544A-7EE6-4342-B048-85BDC9FD1C3A}</a:tableStyleId>
              </a:tblPr>
              <a:tblGrid>
                <a:gridCol w="404985">
                  <a:extLst>
                    <a:ext uri="{9D8B030D-6E8A-4147-A177-3AD203B41FA5}">
                      <a16:colId xmlns:a16="http://schemas.microsoft.com/office/drawing/2014/main" val="2276462251"/>
                    </a:ext>
                  </a:extLst>
                </a:gridCol>
              </a:tblGrid>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16" name="Table 15">
            <a:extLst>
              <a:ext uri="{FF2B5EF4-FFF2-40B4-BE49-F238E27FC236}">
                <a16:creationId xmlns:a16="http://schemas.microsoft.com/office/drawing/2014/main" id="{17194B7D-2AC9-45A8-40B0-88AC51073777}"/>
              </a:ext>
            </a:extLst>
          </p:cNvPr>
          <p:cNvGraphicFramePr>
            <a:graphicFrameLocks noGrp="1"/>
          </p:cNvGraphicFramePr>
          <p:nvPr/>
        </p:nvGraphicFramePr>
        <p:xfrm>
          <a:off x="5211305" y="2441014"/>
          <a:ext cx="404985" cy="2291946"/>
        </p:xfrm>
        <a:graphic>
          <a:graphicData uri="http://schemas.openxmlformats.org/drawingml/2006/table">
            <a:tbl>
              <a:tblPr firstRow="1" bandRow="1">
                <a:tableStyleId>{5C22544A-7EE6-4342-B048-85BDC9FD1C3A}</a:tableStyleId>
              </a:tblPr>
              <a:tblGrid>
                <a:gridCol w="404985">
                  <a:extLst>
                    <a:ext uri="{9D8B030D-6E8A-4147-A177-3AD203B41FA5}">
                      <a16:colId xmlns:a16="http://schemas.microsoft.com/office/drawing/2014/main" val="2276462251"/>
                    </a:ext>
                  </a:extLst>
                </a:gridCol>
              </a:tblGrid>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sp>
        <p:nvSpPr>
          <p:cNvPr id="28" name="TextBox 27">
            <a:extLst>
              <a:ext uri="{FF2B5EF4-FFF2-40B4-BE49-F238E27FC236}">
                <a16:creationId xmlns:a16="http://schemas.microsoft.com/office/drawing/2014/main" id="{9467DBA3-FB0C-7778-35DA-04C81ECDE66C}"/>
              </a:ext>
            </a:extLst>
          </p:cNvPr>
          <p:cNvSpPr txBox="1"/>
          <p:nvPr/>
        </p:nvSpPr>
        <p:spPr>
          <a:xfrm>
            <a:off x="5671031" y="1688610"/>
            <a:ext cx="747320" cy="323165"/>
          </a:xfrm>
          <a:prstGeom prst="rect">
            <a:avLst/>
          </a:prstGeom>
          <a:noFill/>
        </p:spPr>
        <p:txBody>
          <a:bodyPr wrap="none" rtlCol="0">
            <a:spAutoFit/>
          </a:bodyPr>
          <a:lstStyle/>
          <a:p>
            <a:r>
              <a:rPr lang="en-US" sz="1500" dirty="0"/>
              <a:t>p(man)</a:t>
            </a:r>
          </a:p>
        </p:txBody>
      </p:sp>
      <p:sp>
        <p:nvSpPr>
          <p:cNvPr id="29" name="TextBox 28">
            <a:extLst>
              <a:ext uri="{FF2B5EF4-FFF2-40B4-BE49-F238E27FC236}">
                <a16:creationId xmlns:a16="http://schemas.microsoft.com/office/drawing/2014/main" id="{71CADB39-12E6-7C77-AE35-44F2DA280169}"/>
              </a:ext>
            </a:extLst>
          </p:cNvPr>
          <p:cNvSpPr txBox="1"/>
          <p:nvPr/>
        </p:nvSpPr>
        <p:spPr>
          <a:xfrm>
            <a:off x="5671031" y="2068701"/>
            <a:ext cx="984372" cy="323165"/>
          </a:xfrm>
          <a:prstGeom prst="rect">
            <a:avLst/>
          </a:prstGeom>
          <a:noFill/>
        </p:spPr>
        <p:txBody>
          <a:bodyPr wrap="none" rtlCol="0">
            <a:spAutoFit/>
          </a:bodyPr>
          <a:lstStyle/>
          <a:p>
            <a:r>
              <a:rPr lang="en-US" sz="1500" dirty="0"/>
              <a:t>p(woman)</a:t>
            </a:r>
          </a:p>
        </p:txBody>
      </p:sp>
      <p:sp>
        <p:nvSpPr>
          <p:cNvPr id="30" name="TextBox 29">
            <a:extLst>
              <a:ext uri="{FF2B5EF4-FFF2-40B4-BE49-F238E27FC236}">
                <a16:creationId xmlns:a16="http://schemas.microsoft.com/office/drawing/2014/main" id="{82B32152-ED8D-522E-9C65-965449CB4C51}"/>
              </a:ext>
            </a:extLst>
          </p:cNvPr>
          <p:cNvSpPr txBox="1"/>
          <p:nvPr/>
        </p:nvSpPr>
        <p:spPr>
          <a:xfrm>
            <a:off x="5671032" y="2855118"/>
            <a:ext cx="774571" cy="323165"/>
          </a:xfrm>
          <a:prstGeom prst="rect">
            <a:avLst/>
          </a:prstGeom>
          <a:noFill/>
        </p:spPr>
        <p:txBody>
          <a:bodyPr wrap="none" rtlCol="0">
            <a:spAutoFit/>
          </a:bodyPr>
          <a:lstStyle/>
          <a:p>
            <a:r>
              <a:rPr lang="en-US" sz="1500" dirty="0"/>
              <a:t>p(child)</a:t>
            </a:r>
          </a:p>
        </p:txBody>
      </p:sp>
      <p:sp>
        <p:nvSpPr>
          <p:cNvPr id="31" name="TextBox 30">
            <a:extLst>
              <a:ext uri="{FF2B5EF4-FFF2-40B4-BE49-F238E27FC236}">
                <a16:creationId xmlns:a16="http://schemas.microsoft.com/office/drawing/2014/main" id="{D608557B-162E-F835-147E-94B33F0BA10F}"/>
              </a:ext>
            </a:extLst>
          </p:cNvPr>
          <p:cNvSpPr txBox="1"/>
          <p:nvPr/>
        </p:nvSpPr>
        <p:spPr>
          <a:xfrm>
            <a:off x="5671032" y="3616605"/>
            <a:ext cx="1116139" cy="323165"/>
          </a:xfrm>
          <a:prstGeom prst="rect">
            <a:avLst/>
          </a:prstGeom>
          <a:noFill/>
        </p:spPr>
        <p:txBody>
          <a:bodyPr wrap="none" rtlCol="0">
            <a:spAutoFit/>
          </a:bodyPr>
          <a:lstStyle/>
          <a:p>
            <a:r>
              <a:rPr lang="en-US" sz="1500" dirty="0"/>
              <a:t>p(crocodile)</a:t>
            </a:r>
          </a:p>
        </p:txBody>
      </p:sp>
      <p:sp>
        <p:nvSpPr>
          <p:cNvPr id="32" name="TextBox 31">
            <a:extLst>
              <a:ext uri="{FF2B5EF4-FFF2-40B4-BE49-F238E27FC236}">
                <a16:creationId xmlns:a16="http://schemas.microsoft.com/office/drawing/2014/main" id="{C6084BB0-C921-DA4C-7C50-620FE5933943}"/>
              </a:ext>
            </a:extLst>
          </p:cNvPr>
          <p:cNvSpPr txBox="1"/>
          <p:nvPr/>
        </p:nvSpPr>
        <p:spPr>
          <a:xfrm>
            <a:off x="5671032" y="3208974"/>
            <a:ext cx="978153" cy="323165"/>
          </a:xfrm>
          <a:prstGeom prst="rect">
            <a:avLst/>
          </a:prstGeom>
          <a:noFill/>
        </p:spPr>
        <p:txBody>
          <a:bodyPr wrap="none" rtlCol="0">
            <a:spAutoFit/>
          </a:bodyPr>
          <a:lstStyle/>
          <a:p>
            <a:r>
              <a:rPr lang="en-US" sz="1500" dirty="0"/>
              <a:t>p(banana)</a:t>
            </a:r>
          </a:p>
        </p:txBody>
      </p:sp>
      <p:sp>
        <p:nvSpPr>
          <p:cNvPr id="33" name="TextBox 32">
            <a:extLst>
              <a:ext uri="{FF2B5EF4-FFF2-40B4-BE49-F238E27FC236}">
                <a16:creationId xmlns:a16="http://schemas.microsoft.com/office/drawing/2014/main" id="{695BEA8D-1034-1FCA-2018-3BE3E1D28DBB}"/>
              </a:ext>
            </a:extLst>
          </p:cNvPr>
          <p:cNvSpPr txBox="1"/>
          <p:nvPr/>
        </p:nvSpPr>
        <p:spPr>
          <a:xfrm>
            <a:off x="5648814" y="4342896"/>
            <a:ext cx="1025409" cy="323165"/>
          </a:xfrm>
          <a:prstGeom prst="rect">
            <a:avLst/>
          </a:prstGeom>
          <a:noFill/>
        </p:spPr>
        <p:txBody>
          <a:bodyPr wrap="none" rtlCol="0">
            <a:spAutoFit/>
          </a:bodyPr>
          <a:lstStyle/>
          <a:p>
            <a:r>
              <a:rPr lang="en-US" sz="1500" dirty="0"/>
              <a:t>p(concept)</a:t>
            </a:r>
          </a:p>
        </p:txBody>
      </p:sp>
      <p:sp>
        <p:nvSpPr>
          <p:cNvPr id="37" name="Left Brace 36">
            <a:extLst>
              <a:ext uri="{FF2B5EF4-FFF2-40B4-BE49-F238E27FC236}">
                <a16:creationId xmlns:a16="http://schemas.microsoft.com/office/drawing/2014/main" id="{BC2B8F15-509B-2AF6-BFDB-B69B5CE642B4}"/>
              </a:ext>
            </a:extLst>
          </p:cNvPr>
          <p:cNvSpPr/>
          <p:nvPr/>
        </p:nvSpPr>
        <p:spPr>
          <a:xfrm>
            <a:off x="1593812" y="1917439"/>
            <a:ext cx="491133" cy="2291945"/>
          </a:xfrm>
          <a:prstGeom prst="leftBrace">
            <a:avLst>
              <a:gd name="adj1" fmla="val 32923"/>
              <a:gd name="adj2"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38" name="TextBox 37">
            <a:extLst>
              <a:ext uri="{FF2B5EF4-FFF2-40B4-BE49-F238E27FC236}">
                <a16:creationId xmlns:a16="http://schemas.microsoft.com/office/drawing/2014/main" id="{94D2396B-DEA1-738B-4439-BEC32589BEF9}"/>
              </a:ext>
            </a:extLst>
          </p:cNvPr>
          <p:cNvSpPr txBox="1"/>
          <p:nvPr/>
        </p:nvSpPr>
        <p:spPr>
          <a:xfrm>
            <a:off x="263211" y="2567121"/>
            <a:ext cx="1297424" cy="1015663"/>
          </a:xfrm>
          <a:prstGeom prst="rect">
            <a:avLst/>
          </a:prstGeom>
          <a:noFill/>
        </p:spPr>
        <p:txBody>
          <a:bodyPr wrap="square" rtlCol="0">
            <a:spAutoFit/>
          </a:bodyPr>
          <a:lstStyle/>
          <a:p>
            <a:pPr algn="ctr"/>
            <a:r>
              <a:rPr lang="en-US" sz="1500" dirty="0"/>
              <a:t>elements of the vector corresponding to “</a:t>
            </a:r>
            <a:r>
              <a:rPr lang="en-US" sz="1500" dirty="0">
                <a:solidFill>
                  <a:srgbClr val="FF0000"/>
                </a:solidFill>
              </a:rPr>
              <a:t>swims</a:t>
            </a:r>
            <a:r>
              <a:rPr lang="en-US" sz="1500" dirty="0"/>
              <a:t>”</a:t>
            </a:r>
          </a:p>
        </p:txBody>
      </p:sp>
      <p:sp>
        <p:nvSpPr>
          <p:cNvPr id="39" name="Left Brace 38">
            <a:extLst>
              <a:ext uri="{FF2B5EF4-FFF2-40B4-BE49-F238E27FC236}">
                <a16:creationId xmlns:a16="http://schemas.microsoft.com/office/drawing/2014/main" id="{011546AE-F80E-3405-FF1D-D7714CF2B88C}"/>
              </a:ext>
            </a:extLst>
          </p:cNvPr>
          <p:cNvSpPr/>
          <p:nvPr/>
        </p:nvSpPr>
        <p:spPr>
          <a:xfrm rot="10800000">
            <a:off x="6916966" y="1680379"/>
            <a:ext cx="491133" cy="3052580"/>
          </a:xfrm>
          <a:prstGeom prst="leftBrace">
            <a:avLst>
              <a:gd name="adj1" fmla="val 32923"/>
              <a:gd name="adj2"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40" name="TextBox 39">
            <a:extLst>
              <a:ext uri="{FF2B5EF4-FFF2-40B4-BE49-F238E27FC236}">
                <a16:creationId xmlns:a16="http://schemas.microsoft.com/office/drawing/2014/main" id="{E8B88B0C-9B2A-619A-4AE3-010BDCB64772}"/>
              </a:ext>
            </a:extLst>
          </p:cNvPr>
          <p:cNvSpPr txBox="1"/>
          <p:nvPr/>
        </p:nvSpPr>
        <p:spPr>
          <a:xfrm>
            <a:off x="7661975" y="2826351"/>
            <a:ext cx="1297424" cy="1015663"/>
          </a:xfrm>
          <a:prstGeom prst="rect">
            <a:avLst/>
          </a:prstGeom>
          <a:noFill/>
        </p:spPr>
        <p:txBody>
          <a:bodyPr wrap="square" rtlCol="0">
            <a:spAutoFit/>
          </a:bodyPr>
          <a:lstStyle/>
          <a:p>
            <a:pPr algn="ctr"/>
            <a:r>
              <a:rPr lang="en-US" sz="1500" dirty="0"/>
              <a:t>probabilities for all words in our vocabulary</a:t>
            </a:r>
          </a:p>
        </p:txBody>
      </p:sp>
      <p:sp>
        <p:nvSpPr>
          <p:cNvPr id="4" name="Right Arrow 3">
            <a:extLst>
              <a:ext uri="{FF2B5EF4-FFF2-40B4-BE49-F238E27FC236}">
                <a16:creationId xmlns:a16="http://schemas.microsoft.com/office/drawing/2014/main" id="{BB284ED3-708E-EED6-528C-C0B63AA37CCC}"/>
              </a:ext>
            </a:extLst>
          </p:cNvPr>
          <p:cNvSpPr/>
          <p:nvPr/>
        </p:nvSpPr>
        <p:spPr>
          <a:xfrm>
            <a:off x="3579076" y="2524835"/>
            <a:ext cx="1378353" cy="960649"/>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t>predict/</a:t>
            </a:r>
          </a:p>
          <a:p>
            <a:pPr algn="ctr"/>
            <a:r>
              <a:rPr lang="en-US" sz="1350" dirty="0"/>
              <a:t>reconstruct</a:t>
            </a:r>
          </a:p>
        </p:txBody>
      </p:sp>
      <p:sp>
        <p:nvSpPr>
          <p:cNvPr id="5" name="TextBox 4">
            <a:extLst>
              <a:ext uri="{FF2B5EF4-FFF2-40B4-BE49-F238E27FC236}">
                <a16:creationId xmlns:a16="http://schemas.microsoft.com/office/drawing/2014/main" id="{09565839-BBFE-4F77-78C1-1033F5046443}"/>
              </a:ext>
            </a:extLst>
          </p:cNvPr>
          <p:cNvSpPr txBox="1"/>
          <p:nvPr/>
        </p:nvSpPr>
        <p:spPr>
          <a:xfrm>
            <a:off x="7693819" y="1859751"/>
            <a:ext cx="1265580" cy="784830"/>
          </a:xfrm>
          <a:prstGeom prst="rect">
            <a:avLst/>
          </a:prstGeom>
          <a:noFill/>
        </p:spPr>
        <p:txBody>
          <a:bodyPr wrap="square" rtlCol="0">
            <a:spAutoFit/>
          </a:bodyPr>
          <a:lstStyle/>
          <a:p>
            <a:pPr algn="ctr"/>
            <a:r>
              <a:rPr lang="en-US" sz="1500" dirty="0"/>
              <a:t>large but smaller than before</a:t>
            </a:r>
          </a:p>
        </p:txBody>
      </p:sp>
      <p:cxnSp>
        <p:nvCxnSpPr>
          <p:cNvPr id="6" name="Straight Arrow Connector 5">
            <a:extLst>
              <a:ext uri="{FF2B5EF4-FFF2-40B4-BE49-F238E27FC236}">
                <a16:creationId xmlns:a16="http://schemas.microsoft.com/office/drawing/2014/main" id="{D5E5805A-3798-5D71-D6BE-F171A1A1B1A9}"/>
              </a:ext>
            </a:extLst>
          </p:cNvPr>
          <p:cNvCxnSpPr>
            <a:cxnSpLocks/>
            <a:stCxn id="5" idx="1"/>
            <a:endCxn id="28" idx="3"/>
          </p:cNvCxnSpPr>
          <p:nvPr/>
        </p:nvCxnSpPr>
        <p:spPr>
          <a:xfrm flipH="1" flipV="1">
            <a:off x="6418351" y="1850193"/>
            <a:ext cx="1275468" cy="40197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393329DB-5A62-0062-6C87-5D7287A89ECD}"/>
              </a:ext>
            </a:extLst>
          </p:cNvPr>
          <p:cNvCxnSpPr>
            <a:cxnSpLocks/>
            <a:stCxn id="5" idx="1"/>
            <a:endCxn id="29" idx="3"/>
          </p:cNvCxnSpPr>
          <p:nvPr/>
        </p:nvCxnSpPr>
        <p:spPr>
          <a:xfrm flipH="1" flipV="1">
            <a:off x="6655403" y="2230284"/>
            <a:ext cx="1038416" cy="2188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2F5D3898-6E4E-08BA-F2CA-E51306061D89}"/>
              </a:ext>
            </a:extLst>
          </p:cNvPr>
          <p:cNvSpPr txBox="1"/>
          <p:nvPr/>
        </p:nvSpPr>
        <p:spPr>
          <a:xfrm>
            <a:off x="7693819" y="4460969"/>
            <a:ext cx="911562" cy="553998"/>
          </a:xfrm>
          <a:prstGeom prst="rect">
            <a:avLst/>
          </a:prstGeom>
          <a:noFill/>
        </p:spPr>
        <p:txBody>
          <a:bodyPr wrap="square" rtlCol="0">
            <a:spAutoFit/>
          </a:bodyPr>
          <a:lstStyle/>
          <a:p>
            <a:pPr algn="ctr"/>
            <a:r>
              <a:rPr lang="en-US" sz="1500" dirty="0"/>
              <a:t>close to 0</a:t>
            </a:r>
          </a:p>
        </p:txBody>
      </p:sp>
      <p:cxnSp>
        <p:nvCxnSpPr>
          <p:cNvPr id="9" name="Straight Arrow Connector 8">
            <a:extLst>
              <a:ext uri="{FF2B5EF4-FFF2-40B4-BE49-F238E27FC236}">
                <a16:creationId xmlns:a16="http://schemas.microsoft.com/office/drawing/2014/main" id="{2194412B-466A-E870-5EC2-5BE74EE882EE}"/>
              </a:ext>
            </a:extLst>
          </p:cNvPr>
          <p:cNvCxnSpPr>
            <a:cxnSpLocks/>
            <a:stCxn id="8" idx="1"/>
            <a:endCxn id="33" idx="3"/>
          </p:cNvCxnSpPr>
          <p:nvPr/>
        </p:nvCxnSpPr>
        <p:spPr>
          <a:xfrm flipH="1" flipV="1">
            <a:off x="6674223" y="4504479"/>
            <a:ext cx="1019596" cy="23348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3BF6FEB4-35C4-7FAB-3A42-09D9B95B0ECE}"/>
              </a:ext>
            </a:extLst>
          </p:cNvPr>
          <p:cNvSpPr txBox="1"/>
          <p:nvPr/>
        </p:nvSpPr>
        <p:spPr>
          <a:xfrm>
            <a:off x="7774530" y="3811981"/>
            <a:ext cx="1072314" cy="553998"/>
          </a:xfrm>
          <a:prstGeom prst="rect">
            <a:avLst/>
          </a:prstGeom>
          <a:noFill/>
        </p:spPr>
        <p:txBody>
          <a:bodyPr wrap="square" rtlCol="0">
            <a:spAutoFit/>
          </a:bodyPr>
          <a:lstStyle/>
          <a:p>
            <a:pPr algn="ctr"/>
            <a:r>
              <a:rPr lang="en-US" sz="1500" dirty="0"/>
              <a:t>larger than before</a:t>
            </a:r>
          </a:p>
        </p:txBody>
      </p:sp>
      <p:cxnSp>
        <p:nvCxnSpPr>
          <p:cNvPr id="11" name="Straight Arrow Connector 10">
            <a:extLst>
              <a:ext uri="{FF2B5EF4-FFF2-40B4-BE49-F238E27FC236}">
                <a16:creationId xmlns:a16="http://schemas.microsoft.com/office/drawing/2014/main" id="{31918C17-32E5-60A3-56C1-77B37FDEA67E}"/>
              </a:ext>
            </a:extLst>
          </p:cNvPr>
          <p:cNvCxnSpPr>
            <a:cxnSpLocks/>
            <a:stCxn id="10" idx="1"/>
            <a:endCxn id="31" idx="3"/>
          </p:cNvCxnSpPr>
          <p:nvPr/>
        </p:nvCxnSpPr>
        <p:spPr>
          <a:xfrm flipH="1" flipV="1">
            <a:off x="6787171" y="3778188"/>
            <a:ext cx="987359" cy="31079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C8F67DC2-061E-523F-C272-BF0E1D054243}"/>
              </a:ext>
            </a:extLst>
          </p:cNvPr>
          <p:cNvSpPr txBox="1"/>
          <p:nvPr/>
        </p:nvSpPr>
        <p:spPr>
          <a:xfrm>
            <a:off x="2611685" y="4342896"/>
            <a:ext cx="872996" cy="323165"/>
          </a:xfrm>
          <a:prstGeom prst="rect">
            <a:avLst/>
          </a:prstGeom>
          <a:noFill/>
          <a:ln>
            <a:solidFill>
              <a:srgbClr val="FF0000"/>
            </a:solidFill>
          </a:ln>
        </p:spPr>
        <p:txBody>
          <a:bodyPr wrap="none" rtlCol="0">
            <a:spAutoFit/>
          </a:bodyPr>
          <a:lstStyle/>
          <a:p>
            <a:r>
              <a:rPr lang="en-US" sz="1500" dirty="0"/>
              <a:t>v(swims)</a:t>
            </a:r>
          </a:p>
        </p:txBody>
      </p:sp>
    </p:spTree>
    <p:extLst>
      <p:ext uri="{BB962C8B-B14F-4D97-AF65-F5344CB8AC3E}">
        <p14:creationId xmlns:p14="http://schemas.microsoft.com/office/powerpoint/2010/main" val="153033289"/>
      </p:ext>
    </p:extLst>
  </p:cSld>
  <p:clrMapOvr>
    <a:masterClrMapping/>
  </p:clrMapOvr>
  <mc:AlternateContent xmlns:mc="http://schemas.openxmlformats.org/markup-compatibility/2006" xmlns:p14="http://schemas.microsoft.com/office/powerpoint/2010/main">
    <mc:Choice Requires="p14">
      <p:transition spd="slow" p14:dur="2000" advTm="60419"/>
    </mc:Choice>
    <mc:Fallback xmlns="">
      <p:transition spd="slow" advTm="60419"/>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AF8D3-3C6B-5B5F-D0D3-B878B8E4881A}"/>
              </a:ext>
            </a:extLst>
          </p:cNvPr>
          <p:cNvSpPr>
            <a:spLocks noGrp="1"/>
          </p:cNvSpPr>
          <p:nvPr>
            <p:ph type="title"/>
          </p:nvPr>
        </p:nvSpPr>
        <p:spPr/>
        <p:txBody>
          <a:bodyPr/>
          <a:lstStyle/>
          <a:p>
            <a:r>
              <a:rPr lang="en-US" dirty="0"/>
              <a:t>Word embeddings make it easy…</a:t>
            </a:r>
          </a:p>
        </p:txBody>
      </p:sp>
      <p:sp>
        <p:nvSpPr>
          <p:cNvPr id="3" name="Text Placeholder 2">
            <a:extLst>
              <a:ext uri="{FF2B5EF4-FFF2-40B4-BE49-F238E27FC236}">
                <a16:creationId xmlns:a16="http://schemas.microsoft.com/office/drawing/2014/main" id="{0433BDDC-81AA-E1E5-1736-7D7807F6F2C8}"/>
              </a:ext>
            </a:extLst>
          </p:cNvPr>
          <p:cNvSpPr>
            <a:spLocks noGrp="1"/>
          </p:cNvSpPr>
          <p:nvPr>
            <p:ph type="body" idx="1"/>
          </p:nvPr>
        </p:nvSpPr>
        <p:spPr/>
        <p:txBody>
          <a:bodyPr/>
          <a:lstStyle/>
          <a:p>
            <a:r>
              <a:rPr lang="en-US" dirty="0"/>
              <a:t>We can treat text like all the other data types!</a:t>
            </a:r>
          </a:p>
        </p:txBody>
      </p:sp>
    </p:spTree>
    <p:extLst>
      <p:ext uri="{BB962C8B-B14F-4D97-AF65-F5344CB8AC3E}">
        <p14:creationId xmlns:p14="http://schemas.microsoft.com/office/powerpoint/2010/main" val="3266548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BCF95-43DA-264A-B38E-BD98E500861C}"/>
              </a:ext>
            </a:extLst>
          </p:cNvPr>
          <p:cNvSpPr>
            <a:spLocks noGrp="1"/>
          </p:cNvSpPr>
          <p:nvPr>
            <p:ph type="title"/>
          </p:nvPr>
        </p:nvSpPr>
        <p:spPr>
          <a:xfrm>
            <a:off x="0" y="0"/>
            <a:ext cx="9144000" cy="857250"/>
          </a:xfrm>
        </p:spPr>
        <p:txBody>
          <a:bodyPr>
            <a:noAutofit/>
          </a:bodyPr>
          <a:lstStyle/>
          <a:p>
            <a:r>
              <a:rPr lang="en-US" sz="3000" dirty="0"/>
              <a:t>What happens when we embed all words in a sentence?</a:t>
            </a:r>
          </a:p>
        </p:txBody>
      </p:sp>
      <p:sp>
        <p:nvSpPr>
          <p:cNvPr id="3" name="Content Placeholder 2">
            <a:extLst>
              <a:ext uri="{FF2B5EF4-FFF2-40B4-BE49-F238E27FC236}">
                <a16:creationId xmlns:a16="http://schemas.microsoft.com/office/drawing/2014/main" id="{51322223-D0C8-6644-A01C-7C0BE1C48093}"/>
              </a:ext>
            </a:extLst>
          </p:cNvPr>
          <p:cNvSpPr>
            <a:spLocks noGrp="1"/>
          </p:cNvSpPr>
          <p:nvPr>
            <p:ph idx="1"/>
          </p:nvPr>
        </p:nvSpPr>
        <p:spPr>
          <a:xfrm>
            <a:off x="457200" y="857250"/>
            <a:ext cx="8229600" cy="726006"/>
          </a:xfrm>
        </p:spPr>
        <p:txBody>
          <a:bodyPr>
            <a:normAutofit/>
          </a:bodyPr>
          <a:lstStyle/>
          <a:p>
            <a:r>
              <a:rPr lang="en-US" sz="1800" dirty="0"/>
              <a:t>Look up words individually to obtain their vectors</a:t>
            </a:r>
          </a:p>
          <a:p>
            <a:r>
              <a:rPr lang="en-US" sz="1800" dirty="0"/>
              <a:t>Construct a sequence of vectors</a:t>
            </a:r>
          </a:p>
        </p:txBody>
      </p:sp>
      <p:sp>
        <p:nvSpPr>
          <p:cNvPr id="5" name="TextBox 4"/>
          <p:cNvSpPr txBox="1"/>
          <p:nvPr/>
        </p:nvSpPr>
        <p:spPr>
          <a:xfrm>
            <a:off x="1793376" y="1686969"/>
            <a:ext cx="5471562" cy="461665"/>
          </a:xfrm>
          <a:prstGeom prst="rect">
            <a:avLst/>
          </a:prstGeom>
          <a:noFill/>
        </p:spPr>
        <p:txBody>
          <a:bodyPr wrap="none" rtlCol="0">
            <a:spAutoFit/>
          </a:bodyPr>
          <a:lstStyle/>
          <a:p>
            <a:r>
              <a:rPr lang="en-US" sz="2400" dirty="0"/>
              <a:t>This 		is 			a 			sentence</a:t>
            </a:r>
          </a:p>
        </p:txBody>
      </p:sp>
      <p:graphicFrame>
        <p:nvGraphicFramePr>
          <p:cNvPr id="7" name="Table 6"/>
          <p:cNvGraphicFramePr>
            <a:graphicFrameLocks noGrp="1"/>
          </p:cNvGraphicFramePr>
          <p:nvPr/>
        </p:nvGraphicFramePr>
        <p:xfrm>
          <a:off x="1730460" y="2440506"/>
          <a:ext cx="404985" cy="2291946"/>
        </p:xfrm>
        <a:graphic>
          <a:graphicData uri="http://schemas.openxmlformats.org/drawingml/2006/table">
            <a:tbl>
              <a:tblPr firstRow="1" bandRow="1">
                <a:tableStyleId>{5C22544A-7EE6-4342-B048-85BDC9FD1C3A}</a:tableStyleId>
              </a:tblPr>
              <a:tblGrid>
                <a:gridCol w="404985">
                  <a:extLst>
                    <a:ext uri="{9D8B030D-6E8A-4147-A177-3AD203B41FA5}">
                      <a16:colId xmlns:a16="http://schemas.microsoft.com/office/drawing/2014/main" val="2276462251"/>
                    </a:ext>
                  </a:extLst>
                </a:gridCol>
              </a:tblGrid>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8" name="Table 7"/>
          <p:cNvGraphicFramePr>
            <a:graphicFrameLocks noGrp="1"/>
          </p:cNvGraphicFramePr>
          <p:nvPr/>
        </p:nvGraphicFramePr>
        <p:xfrm>
          <a:off x="3062646" y="2440506"/>
          <a:ext cx="404985" cy="2291946"/>
        </p:xfrm>
        <a:graphic>
          <a:graphicData uri="http://schemas.openxmlformats.org/drawingml/2006/table">
            <a:tbl>
              <a:tblPr firstRow="1" bandRow="1">
                <a:tableStyleId>{5C22544A-7EE6-4342-B048-85BDC9FD1C3A}</a:tableStyleId>
              </a:tblPr>
              <a:tblGrid>
                <a:gridCol w="404985">
                  <a:extLst>
                    <a:ext uri="{9D8B030D-6E8A-4147-A177-3AD203B41FA5}">
                      <a16:colId xmlns:a16="http://schemas.microsoft.com/office/drawing/2014/main" val="2276462251"/>
                    </a:ext>
                  </a:extLst>
                </a:gridCol>
              </a:tblGrid>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9" name="Table 8"/>
          <p:cNvGraphicFramePr>
            <a:graphicFrameLocks noGrp="1"/>
          </p:cNvGraphicFramePr>
          <p:nvPr/>
        </p:nvGraphicFramePr>
        <p:xfrm>
          <a:off x="4469195" y="2440506"/>
          <a:ext cx="404985" cy="2291946"/>
        </p:xfrm>
        <a:graphic>
          <a:graphicData uri="http://schemas.openxmlformats.org/drawingml/2006/table">
            <a:tbl>
              <a:tblPr firstRow="1" bandRow="1">
                <a:tableStyleId>{5C22544A-7EE6-4342-B048-85BDC9FD1C3A}</a:tableStyleId>
              </a:tblPr>
              <a:tblGrid>
                <a:gridCol w="404985">
                  <a:extLst>
                    <a:ext uri="{9D8B030D-6E8A-4147-A177-3AD203B41FA5}">
                      <a16:colId xmlns:a16="http://schemas.microsoft.com/office/drawing/2014/main" val="2276462251"/>
                    </a:ext>
                  </a:extLst>
                </a:gridCol>
              </a:tblGrid>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10" name="Table 9"/>
          <p:cNvGraphicFramePr>
            <a:graphicFrameLocks noGrp="1"/>
          </p:cNvGraphicFramePr>
          <p:nvPr/>
        </p:nvGraphicFramePr>
        <p:xfrm>
          <a:off x="5807105" y="2440506"/>
          <a:ext cx="404985" cy="2291946"/>
        </p:xfrm>
        <a:graphic>
          <a:graphicData uri="http://schemas.openxmlformats.org/drawingml/2006/table">
            <a:tbl>
              <a:tblPr firstRow="1" bandRow="1">
                <a:tableStyleId>{5C22544A-7EE6-4342-B048-85BDC9FD1C3A}</a:tableStyleId>
              </a:tblPr>
              <a:tblGrid>
                <a:gridCol w="404985">
                  <a:extLst>
                    <a:ext uri="{9D8B030D-6E8A-4147-A177-3AD203B41FA5}">
                      <a16:colId xmlns:a16="http://schemas.microsoft.com/office/drawing/2014/main" val="2276462251"/>
                    </a:ext>
                  </a:extLst>
                </a:gridCol>
              </a:tblGrid>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cxnSp>
        <p:nvCxnSpPr>
          <p:cNvPr id="13" name="Straight Arrow Connector 12"/>
          <p:cNvCxnSpPr/>
          <p:nvPr/>
        </p:nvCxnSpPr>
        <p:spPr>
          <a:xfrm>
            <a:off x="1929539" y="2125550"/>
            <a:ext cx="0" cy="2108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p:cNvCxnSpPr/>
          <p:nvPr/>
        </p:nvCxnSpPr>
        <p:spPr>
          <a:xfrm>
            <a:off x="3264331" y="2125550"/>
            <a:ext cx="0" cy="2108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p:cNvCxnSpPr/>
          <p:nvPr/>
        </p:nvCxnSpPr>
        <p:spPr>
          <a:xfrm>
            <a:off x="4670802" y="2125550"/>
            <a:ext cx="0" cy="2108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p:cNvCxnSpPr/>
          <p:nvPr/>
        </p:nvCxnSpPr>
        <p:spPr>
          <a:xfrm>
            <a:off x="6007531" y="2125550"/>
            <a:ext cx="0" cy="2108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CC32AC06-632F-43A5-BCC3-B6853BF55ED1}"/>
              </a:ext>
            </a:extLst>
          </p:cNvPr>
          <p:cNvSpPr txBox="1"/>
          <p:nvPr/>
        </p:nvSpPr>
        <p:spPr>
          <a:xfrm>
            <a:off x="457201" y="3194399"/>
            <a:ext cx="407609" cy="415178"/>
          </a:xfrm>
          <a:prstGeom prst="rect">
            <a:avLst/>
          </a:prstGeom>
          <a:noFill/>
        </p:spPr>
        <p:txBody>
          <a:bodyPr wrap="square" rtlCol="0">
            <a:spAutoFit/>
          </a:bodyPr>
          <a:lstStyle/>
          <a:p>
            <a:r>
              <a:rPr lang="en-US" sz="2098" i="1" dirty="0">
                <a:solidFill>
                  <a:schemeClr val="accent1"/>
                </a:solidFill>
                <a:latin typeface="Times New Roman" panose="02020603050405020304" pitchFamily="18" charset="0"/>
                <a:cs typeface="Times New Roman" panose="02020603050405020304" pitchFamily="18" charset="0"/>
              </a:rPr>
              <a:t>x</a:t>
            </a:r>
            <a:r>
              <a:rPr lang="en-US" sz="2098" i="1" baseline="-25000" dirty="0">
                <a:solidFill>
                  <a:schemeClr val="accent1"/>
                </a:solidFill>
                <a:latin typeface="Times New Roman" panose="02020603050405020304" pitchFamily="18" charset="0"/>
                <a:cs typeface="Times New Roman" panose="02020603050405020304" pitchFamily="18" charset="0"/>
              </a:rPr>
              <a:t>i</a:t>
            </a:r>
            <a:endParaRPr lang="en-US" sz="2098" baseline="-25000" dirty="0">
              <a:solidFill>
                <a:schemeClr val="accent1"/>
              </a:solidFill>
              <a:latin typeface="Times New Roman" panose="02020603050405020304" pitchFamily="18" charset="0"/>
              <a:cs typeface="Times New Roman" panose="02020603050405020304" pitchFamily="18" charset="0"/>
            </a:endParaRPr>
          </a:p>
        </p:txBody>
      </p:sp>
      <p:sp>
        <p:nvSpPr>
          <p:cNvPr id="21" name="Rectangle 20"/>
          <p:cNvSpPr/>
          <p:nvPr/>
        </p:nvSpPr>
        <p:spPr>
          <a:xfrm>
            <a:off x="1578890" y="2388438"/>
            <a:ext cx="4771807" cy="2396081"/>
          </a:xfrm>
          <a:prstGeom prst="rect">
            <a:avLst/>
          </a:prstGeom>
          <a:noFill/>
          <a:ln>
            <a:solidFill>
              <a:schemeClr val="tx2">
                <a:lumMod val="40000"/>
                <a:lumOff val="6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cxnSp>
        <p:nvCxnSpPr>
          <p:cNvPr id="23" name="Straight Connector 22"/>
          <p:cNvCxnSpPr>
            <a:stCxn id="19" idx="3"/>
          </p:cNvCxnSpPr>
          <p:nvPr/>
        </p:nvCxnSpPr>
        <p:spPr>
          <a:xfrm flipV="1">
            <a:off x="864810" y="3390439"/>
            <a:ext cx="714080" cy="11549"/>
          </a:xfrm>
          <a:prstGeom prst="line">
            <a:avLst/>
          </a:prstGeom>
          <a:ln>
            <a:solidFill>
              <a:schemeClr val="tx2">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32503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BCF95-43DA-264A-B38E-BD98E500861C}"/>
              </a:ext>
            </a:extLst>
          </p:cNvPr>
          <p:cNvSpPr>
            <a:spLocks noGrp="1"/>
          </p:cNvSpPr>
          <p:nvPr>
            <p:ph type="title"/>
          </p:nvPr>
        </p:nvSpPr>
        <p:spPr>
          <a:xfrm>
            <a:off x="0" y="0"/>
            <a:ext cx="9144000" cy="857250"/>
          </a:xfrm>
        </p:spPr>
        <p:txBody>
          <a:bodyPr>
            <a:noAutofit/>
          </a:bodyPr>
          <a:lstStyle/>
          <a:p>
            <a:r>
              <a:rPr lang="en-US" sz="3000" dirty="0"/>
              <a:t>What happens when we embed all words in a sentence?</a:t>
            </a:r>
          </a:p>
        </p:txBody>
      </p:sp>
      <p:sp>
        <p:nvSpPr>
          <p:cNvPr id="3" name="Content Placeholder 2">
            <a:extLst>
              <a:ext uri="{FF2B5EF4-FFF2-40B4-BE49-F238E27FC236}">
                <a16:creationId xmlns:a16="http://schemas.microsoft.com/office/drawing/2014/main" id="{51322223-D0C8-6644-A01C-7C0BE1C48093}"/>
              </a:ext>
            </a:extLst>
          </p:cNvPr>
          <p:cNvSpPr>
            <a:spLocks noGrp="1"/>
          </p:cNvSpPr>
          <p:nvPr>
            <p:ph idx="1"/>
          </p:nvPr>
        </p:nvSpPr>
        <p:spPr>
          <a:xfrm>
            <a:off x="457200" y="857250"/>
            <a:ext cx="8229600" cy="726006"/>
          </a:xfrm>
        </p:spPr>
        <p:txBody>
          <a:bodyPr>
            <a:normAutofit/>
          </a:bodyPr>
          <a:lstStyle/>
          <a:p>
            <a:r>
              <a:rPr lang="en-US" sz="1800" dirty="0"/>
              <a:t>Look up words individually to obtain their vectors</a:t>
            </a:r>
          </a:p>
          <a:p>
            <a:r>
              <a:rPr lang="en-US" sz="1800" dirty="0"/>
              <a:t>Construct a sequence of vectors</a:t>
            </a:r>
          </a:p>
        </p:txBody>
      </p:sp>
      <p:sp>
        <p:nvSpPr>
          <p:cNvPr id="5" name="TextBox 4"/>
          <p:cNvSpPr txBox="1"/>
          <p:nvPr/>
        </p:nvSpPr>
        <p:spPr>
          <a:xfrm>
            <a:off x="1793376" y="1686969"/>
            <a:ext cx="2364943" cy="461665"/>
          </a:xfrm>
          <a:prstGeom prst="rect">
            <a:avLst/>
          </a:prstGeom>
          <a:noFill/>
        </p:spPr>
        <p:txBody>
          <a:bodyPr wrap="none" rtlCol="0">
            <a:spAutoFit/>
          </a:bodyPr>
          <a:lstStyle/>
          <a:p>
            <a:r>
              <a:rPr lang="en-US" sz="2400" dirty="0"/>
              <a:t>This is a sentence</a:t>
            </a:r>
          </a:p>
        </p:txBody>
      </p:sp>
      <p:graphicFrame>
        <p:nvGraphicFramePr>
          <p:cNvPr id="7" name="Table 6"/>
          <p:cNvGraphicFramePr>
            <a:graphicFrameLocks noGrp="1"/>
          </p:cNvGraphicFramePr>
          <p:nvPr/>
        </p:nvGraphicFramePr>
        <p:xfrm>
          <a:off x="1730460" y="2440506"/>
          <a:ext cx="404985" cy="2291946"/>
        </p:xfrm>
        <a:graphic>
          <a:graphicData uri="http://schemas.openxmlformats.org/drawingml/2006/table">
            <a:tbl>
              <a:tblPr firstRow="1" bandRow="1">
                <a:tableStyleId>{5C22544A-7EE6-4342-B048-85BDC9FD1C3A}</a:tableStyleId>
              </a:tblPr>
              <a:tblGrid>
                <a:gridCol w="404985">
                  <a:extLst>
                    <a:ext uri="{9D8B030D-6E8A-4147-A177-3AD203B41FA5}">
                      <a16:colId xmlns:a16="http://schemas.microsoft.com/office/drawing/2014/main" val="2276462251"/>
                    </a:ext>
                  </a:extLst>
                </a:gridCol>
              </a:tblGrid>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8" name="Table 7"/>
          <p:cNvGraphicFramePr>
            <a:graphicFrameLocks noGrp="1"/>
          </p:cNvGraphicFramePr>
          <p:nvPr/>
        </p:nvGraphicFramePr>
        <p:xfrm>
          <a:off x="2138287" y="2440505"/>
          <a:ext cx="404985" cy="2291946"/>
        </p:xfrm>
        <a:graphic>
          <a:graphicData uri="http://schemas.openxmlformats.org/drawingml/2006/table">
            <a:tbl>
              <a:tblPr firstRow="1" bandRow="1">
                <a:tableStyleId>{5C22544A-7EE6-4342-B048-85BDC9FD1C3A}</a:tableStyleId>
              </a:tblPr>
              <a:tblGrid>
                <a:gridCol w="404985">
                  <a:extLst>
                    <a:ext uri="{9D8B030D-6E8A-4147-A177-3AD203B41FA5}">
                      <a16:colId xmlns:a16="http://schemas.microsoft.com/office/drawing/2014/main" val="2276462251"/>
                    </a:ext>
                  </a:extLst>
                </a:gridCol>
              </a:tblGrid>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9" name="Table 8"/>
          <p:cNvGraphicFramePr>
            <a:graphicFrameLocks noGrp="1"/>
          </p:cNvGraphicFramePr>
          <p:nvPr/>
        </p:nvGraphicFramePr>
        <p:xfrm>
          <a:off x="2543272" y="2440505"/>
          <a:ext cx="404985" cy="2291946"/>
        </p:xfrm>
        <a:graphic>
          <a:graphicData uri="http://schemas.openxmlformats.org/drawingml/2006/table">
            <a:tbl>
              <a:tblPr firstRow="1" bandRow="1">
                <a:tableStyleId>{5C22544A-7EE6-4342-B048-85BDC9FD1C3A}</a:tableStyleId>
              </a:tblPr>
              <a:tblGrid>
                <a:gridCol w="404985">
                  <a:extLst>
                    <a:ext uri="{9D8B030D-6E8A-4147-A177-3AD203B41FA5}">
                      <a16:colId xmlns:a16="http://schemas.microsoft.com/office/drawing/2014/main" val="2276462251"/>
                    </a:ext>
                  </a:extLst>
                </a:gridCol>
              </a:tblGrid>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graphicFrame>
        <p:nvGraphicFramePr>
          <p:cNvPr id="10" name="Table 9"/>
          <p:cNvGraphicFramePr>
            <a:graphicFrameLocks noGrp="1"/>
          </p:cNvGraphicFramePr>
          <p:nvPr/>
        </p:nvGraphicFramePr>
        <p:xfrm>
          <a:off x="2948257" y="2440505"/>
          <a:ext cx="404985" cy="2291946"/>
        </p:xfrm>
        <a:graphic>
          <a:graphicData uri="http://schemas.openxmlformats.org/drawingml/2006/table">
            <a:tbl>
              <a:tblPr firstRow="1" bandRow="1">
                <a:tableStyleId>{5C22544A-7EE6-4342-B048-85BDC9FD1C3A}</a:tableStyleId>
              </a:tblPr>
              <a:tblGrid>
                <a:gridCol w="404985">
                  <a:extLst>
                    <a:ext uri="{9D8B030D-6E8A-4147-A177-3AD203B41FA5}">
                      <a16:colId xmlns:a16="http://schemas.microsoft.com/office/drawing/2014/main" val="2276462251"/>
                    </a:ext>
                  </a:extLst>
                </a:gridCol>
              </a:tblGrid>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2172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93278"/>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176303"/>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150161"/>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42237"/>
                  </a:ext>
                </a:extLst>
              </a:tr>
              <a:tr h="381991">
                <a:tc>
                  <a:txBody>
                    <a:bodyPr/>
                    <a:lstStyle/>
                    <a:p>
                      <a:endParaRPr lang="en-US" sz="100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1824184"/>
                  </a:ext>
                </a:extLst>
              </a:tr>
            </a:tbl>
          </a:graphicData>
        </a:graphic>
      </p:graphicFrame>
      <p:cxnSp>
        <p:nvCxnSpPr>
          <p:cNvPr id="13" name="Straight Arrow Connector 12"/>
          <p:cNvCxnSpPr/>
          <p:nvPr/>
        </p:nvCxnSpPr>
        <p:spPr>
          <a:xfrm>
            <a:off x="1929539" y="2125550"/>
            <a:ext cx="0" cy="2108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p:cNvCxnSpPr>
            <a:cxnSpLocks/>
          </p:cNvCxnSpPr>
          <p:nvPr/>
        </p:nvCxnSpPr>
        <p:spPr>
          <a:xfrm flipH="1">
            <a:off x="2349931" y="2125550"/>
            <a:ext cx="144498" cy="2108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p:cNvCxnSpPr/>
          <p:nvPr/>
        </p:nvCxnSpPr>
        <p:spPr>
          <a:xfrm>
            <a:off x="2781490" y="2125550"/>
            <a:ext cx="0" cy="2108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p:cNvCxnSpPr/>
          <p:nvPr/>
        </p:nvCxnSpPr>
        <p:spPr>
          <a:xfrm>
            <a:off x="3163478" y="2125550"/>
            <a:ext cx="0" cy="2108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CC32AC06-632F-43A5-BCC3-B6853BF55ED1}"/>
              </a:ext>
            </a:extLst>
          </p:cNvPr>
          <p:cNvSpPr txBox="1"/>
          <p:nvPr/>
        </p:nvSpPr>
        <p:spPr>
          <a:xfrm>
            <a:off x="457201" y="3194399"/>
            <a:ext cx="407609" cy="415178"/>
          </a:xfrm>
          <a:prstGeom prst="rect">
            <a:avLst/>
          </a:prstGeom>
          <a:noFill/>
        </p:spPr>
        <p:txBody>
          <a:bodyPr wrap="square" rtlCol="0">
            <a:spAutoFit/>
          </a:bodyPr>
          <a:lstStyle/>
          <a:p>
            <a:r>
              <a:rPr lang="en-US" sz="2098" i="1" dirty="0">
                <a:solidFill>
                  <a:schemeClr val="accent1"/>
                </a:solidFill>
                <a:latin typeface="Times New Roman" panose="02020603050405020304" pitchFamily="18" charset="0"/>
                <a:cs typeface="Times New Roman" panose="02020603050405020304" pitchFamily="18" charset="0"/>
              </a:rPr>
              <a:t>x</a:t>
            </a:r>
            <a:r>
              <a:rPr lang="en-US" sz="2098" i="1" baseline="-25000" dirty="0">
                <a:solidFill>
                  <a:schemeClr val="accent1"/>
                </a:solidFill>
                <a:latin typeface="Times New Roman" panose="02020603050405020304" pitchFamily="18" charset="0"/>
                <a:cs typeface="Times New Roman" panose="02020603050405020304" pitchFamily="18" charset="0"/>
              </a:rPr>
              <a:t>i</a:t>
            </a:r>
            <a:endParaRPr lang="en-US" sz="2098" baseline="-25000" dirty="0">
              <a:solidFill>
                <a:schemeClr val="accent1"/>
              </a:solidFill>
              <a:latin typeface="Times New Roman" panose="02020603050405020304" pitchFamily="18" charset="0"/>
              <a:cs typeface="Times New Roman" panose="02020603050405020304" pitchFamily="18" charset="0"/>
            </a:endParaRPr>
          </a:p>
        </p:txBody>
      </p:sp>
      <p:sp>
        <p:nvSpPr>
          <p:cNvPr id="21" name="Rectangle 20"/>
          <p:cNvSpPr/>
          <p:nvPr/>
        </p:nvSpPr>
        <p:spPr>
          <a:xfrm>
            <a:off x="1578891" y="2388438"/>
            <a:ext cx="1863556" cy="2396081"/>
          </a:xfrm>
          <a:prstGeom prst="rect">
            <a:avLst/>
          </a:prstGeom>
          <a:noFill/>
          <a:ln>
            <a:solidFill>
              <a:schemeClr val="tx2">
                <a:lumMod val="40000"/>
                <a:lumOff val="6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cxnSp>
        <p:nvCxnSpPr>
          <p:cNvPr id="23" name="Straight Connector 22"/>
          <p:cNvCxnSpPr>
            <a:stCxn id="19" idx="3"/>
          </p:cNvCxnSpPr>
          <p:nvPr/>
        </p:nvCxnSpPr>
        <p:spPr>
          <a:xfrm flipV="1">
            <a:off x="864810" y="3390439"/>
            <a:ext cx="714080" cy="11549"/>
          </a:xfrm>
          <a:prstGeom prst="line">
            <a:avLst/>
          </a:prstGeom>
          <a:ln>
            <a:solidFill>
              <a:schemeClr val="tx2">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sp>
        <p:nvSpPr>
          <p:cNvPr id="18" name="Content Placeholder 2">
            <a:extLst>
              <a:ext uri="{FF2B5EF4-FFF2-40B4-BE49-F238E27FC236}">
                <a16:creationId xmlns:a16="http://schemas.microsoft.com/office/drawing/2014/main" id="{DCD118FE-C494-FF17-CA93-73A8D4C065A7}"/>
              </a:ext>
            </a:extLst>
          </p:cNvPr>
          <p:cNvSpPr txBox="1">
            <a:spLocks/>
          </p:cNvSpPr>
          <p:nvPr/>
        </p:nvSpPr>
        <p:spPr>
          <a:xfrm>
            <a:off x="4793878" y="3038985"/>
            <a:ext cx="3614669" cy="726006"/>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1800" dirty="0"/>
              <a:t>Now we have a grid of numbers</a:t>
            </a:r>
          </a:p>
          <a:p>
            <a:pPr marL="0" indent="0">
              <a:buNone/>
            </a:pPr>
            <a:r>
              <a:rPr lang="en-US" sz="1800" dirty="0"/>
              <a:t>Similar in many ways to an image</a:t>
            </a:r>
          </a:p>
        </p:txBody>
      </p:sp>
    </p:spTree>
    <p:extLst>
      <p:ext uri="{BB962C8B-B14F-4D97-AF65-F5344CB8AC3E}">
        <p14:creationId xmlns:p14="http://schemas.microsoft.com/office/powerpoint/2010/main" val="12029764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904BA-2B1C-8D4A-9D8E-8B8640CF2B2A}"/>
              </a:ext>
            </a:extLst>
          </p:cNvPr>
          <p:cNvSpPr>
            <a:spLocks noGrp="1"/>
          </p:cNvSpPr>
          <p:nvPr>
            <p:ph type="title"/>
          </p:nvPr>
        </p:nvSpPr>
        <p:spPr/>
        <p:txBody>
          <a:bodyPr>
            <a:normAutofit/>
          </a:bodyPr>
          <a:lstStyle/>
          <a:p>
            <a:r>
              <a:rPr lang="en-US" dirty="0"/>
              <a:t>Now we can use deep learning…</a:t>
            </a:r>
          </a:p>
        </p:txBody>
      </p:sp>
      <p:sp>
        <p:nvSpPr>
          <p:cNvPr id="3" name="Text Placeholder 2">
            <a:extLst>
              <a:ext uri="{FF2B5EF4-FFF2-40B4-BE49-F238E27FC236}">
                <a16:creationId xmlns:a16="http://schemas.microsoft.com/office/drawing/2014/main" id="{13A6791F-1ACA-C440-B5F4-B9EC9E29B709}"/>
              </a:ext>
            </a:extLst>
          </p:cNvPr>
          <p:cNvSpPr>
            <a:spLocks noGrp="1"/>
          </p:cNvSpPr>
          <p:nvPr>
            <p:ph type="body" idx="1"/>
          </p:nvPr>
        </p:nvSpPr>
        <p:spPr/>
        <p:txBody>
          <a:bodyPr/>
          <a:lstStyle/>
          <a:p>
            <a:r>
              <a:rPr lang="en-US" dirty="0"/>
              <a:t>…to learn to extract increasingly complex aspects of meaning</a:t>
            </a:r>
          </a:p>
        </p:txBody>
      </p:sp>
    </p:spTree>
    <p:extLst>
      <p:ext uri="{BB962C8B-B14F-4D97-AF65-F5344CB8AC3E}">
        <p14:creationId xmlns:p14="http://schemas.microsoft.com/office/powerpoint/2010/main" val="5358362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0F8ED1D-42C3-9141-AE77-27407422E154}"/>
              </a:ext>
            </a:extLst>
          </p:cNvPr>
          <p:cNvSpPr txBox="1"/>
          <p:nvPr/>
        </p:nvSpPr>
        <p:spPr>
          <a:xfrm>
            <a:off x="1290303" y="3957998"/>
            <a:ext cx="1297069" cy="415178"/>
          </a:xfrm>
          <a:prstGeom prst="rect">
            <a:avLst/>
          </a:prstGeom>
          <a:noFill/>
        </p:spPr>
        <p:txBody>
          <a:bodyPr wrap="square" rtlCol="0">
            <a:spAutoFit/>
          </a:bodyPr>
          <a:lstStyle/>
          <a:p>
            <a:pPr algn="ctr"/>
            <a:r>
              <a:rPr lang="en-US" sz="2098" dirty="0">
                <a:latin typeface="Times New Roman" panose="02020603050405020304" pitchFamily="18" charset="0"/>
                <a:cs typeface="Times New Roman" panose="02020603050405020304" pitchFamily="18" charset="0"/>
              </a:rPr>
              <a:t>pixels</a:t>
            </a:r>
          </a:p>
        </p:txBody>
      </p:sp>
      <p:sp>
        <p:nvSpPr>
          <p:cNvPr id="10" name="TextBox 9">
            <a:extLst>
              <a:ext uri="{FF2B5EF4-FFF2-40B4-BE49-F238E27FC236}">
                <a16:creationId xmlns:a16="http://schemas.microsoft.com/office/drawing/2014/main" id="{F2C42C99-ECFD-CC46-8C0C-7FE9900CF424}"/>
              </a:ext>
            </a:extLst>
          </p:cNvPr>
          <p:cNvSpPr txBox="1"/>
          <p:nvPr/>
        </p:nvSpPr>
        <p:spPr>
          <a:xfrm>
            <a:off x="7298684" y="3137233"/>
            <a:ext cx="1151337" cy="415178"/>
          </a:xfrm>
          <a:prstGeom prst="rect">
            <a:avLst/>
          </a:prstGeom>
          <a:noFill/>
        </p:spPr>
        <p:txBody>
          <a:bodyPr wrap="square" rtlCol="0">
            <a:spAutoFit/>
          </a:bodyPr>
          <a:lstStyle/>
          <a:p>
            <a:pPr algn="ctr"/>
            <a:r>
              <a:rPr lang="en-US" sz="2098" dirty="0">
                <a:latin typeface="Times New Roman" panose="02020603050405020304" pitchFamily="18" charset="0"/>
                <a:cs typeface="Times New Roman" panose="02020603050405020304" pitchFamily="18" charset="0"/>
              </a:rPr>
              <a:t>label</a:t>
            </a:r>
          </a:p>
        </p:txBody>
      </p:sp>
      <p:sp>
        <p:nvSpPr>
          <p:cNvPr id="11" name="TextBox 10">
            <a:extLst>
              <a:ext uri="{FF2B5EF4-FFF2-40B4-BE49-F238E27FC236}">
                <a16:creationId xmlns:a16="http://schemas.microsoft.com/office/drawing/2014/main" id="{69F4C887-30DE-6142-A3B8-73F2E6FB683F}"/>
              </a:ext>
            </a:extLst>
          </p:cNvPr>
          <p:cNvSpPr txBox="1"/>
          <p:nvPr/>
        </p:nvSpPr>
        <p:spPr>
          <a:xfrm>
            <a:off x="5465923" y="4627003"/>
            <a:ext cx="3621954" cy="396583"/>
          </a:xfrm>
          <a:prstGeom prst="rect">
            <a:avLst/>
          </a:prstGeom>
          <a:noFill/>
        </p:spPr>
        <p:txBody>
          <a:bodyPr wrap="none" rtlCol="0">
            <a:spAutoFit/>
          </a:bodyPr>
          <a:lstStyle/>
          <a:p>
            <a:r>
              <a:rPr lang="en-US" sz="1977" dirty="0"/>
              <a:t>End goal: predict</a:t>
            </a:r>
            <a:r>
              <a:rPr lang="en-US" sz="1977" i="1" dirty="0"/>
              <a:t> dog </a:t>
            </a:r>
            <a:r>
              <a:rPr lang="en-US" sz="1977" dirty="0"/>
              <a:t>from </a:t>
            </a:r>
            <a:r>
              <a:rPr lang="en-US" sz="1977" i="1" dirty="0">
                <a:latin typeface="Times New Roman" panose="02020603050405020304" pitchFamily="18" charset="0"/>
                <a:cs typeface="Times New Roman" panose="02020603050405020304" pitchFamily="18" charset="0"/>
              </a:rPr>
              <a:t>pixels</a:t>
            </a:r>
            <a:r>
              <a:rPr lang="en-US" sz="1977" dirty="0"/>
              <a:t> </a:t>
            </a:r>
          </a:p>
        </p:txBody>
      </p:sp>
      <p:graphicFrame>
        <p:nvGraphicFramePr>
          <p:cNvPr id="13" name="Table 12">
            <a:extLst>
              <a:ext uri="{FF2B5EF4-FFF2-40B4-BE49-F238E27FC236}">
                <a16:creationId xmlns:a16="http://schemas.microsoft.com/office/drawing/2014/main" id="{9D7F99B7-3001-F340-BD4E-C015D9032101}"/>
              </a:ext>
            </a:extLst>
          </p:cNvPr>
          <p:cNvGraphicFramePr>
            <a:graphicFrameLocks noGrp="1"/>
          </p:cNvGraphicFramePr>
          <p:nvPr/>
        </p:nvGraphicFramePr>
        <p:xfrm>
          <a:off x="7603217" y="2509876"/>
          <a:ext cx="542273"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tblGrid>
              <a:tr h="530890">
                <a:tc>
                  <a:txBody>
                    <a:bodyPr/>
                    <a:lstStyle/>
                    <a:p>
                      <a:pPr algn="ctr"/>
                      <a:r>
                        <a:rPr lang="en-US" sz="1000" dirty="0">
                          <a:solidFill>
                            <a:schemeClr val="tx1"/>
                          </a:solidFill>
                        </a:rPr>
                        <a:t>dog</a:t>
                      </a: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6" name="Straight Arrow Connector 15">
            <a:extLst>
              <a:ext uri="{FF2B5EF4-FFF2-40B4-BE49-F238E27FC236}">
                <a16:creationId xmlns:a16="http://schemas.microsoft.com/office/drawing/2014/main" id="{2004C370-95FF-1047-B986-B06FCDF88F5F}"/>
              </a:ext>
            </a:extLst>
          </p:cNvPr>
          <p:cNvCxnSpPr>
            <a:cxnSpLocks/>
            <a:endCxn id="17" idx="1"/>
          </p:cNvCxnSpPr>
          <p:nvPr/>
        </p:nvCxnSpPr>
        <p:spPr>
          <a:xfrm>
            <a:off x="3129462" y="2779780"/>
            <a:ext cx="654329" cy="1155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 name="TextBox 16">
            <a:extLst>
              <a:ext uri="{FF2B5EF4-FFF2-40B4-BE49-F238E27FC236}">
                <a16:creationId xmlns:a16="http://schemas.microsoft.com/office/drawing/2014/main" id="{50F900F6-F379-064E-8628-8FF4A074FE47}"/>
              </a:ext>
            </a:extLst>
          </p:cNvPr>
          <p:cNvSpPr txBox="1"/>
          <p:nvPr/>
        </p:nvSpPr>
        <p:spPr>
          <a:xfrm>
            <a:off x="3783791" y="2422327"/>
            <a:ext cx="1297069" cy="73802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98" dirty="0">
                <a:latin typeface="Times New Roman" panose="02020603050405020304" pitchFamily="18" charset="0"/>
                <a:cs typeface="Times New Roman" panose="02020603050405020304" pitchFamily="18" charset="0"/>
              </a:rPr>
              <a:t>low-level motifs</a:t>
            </a:r>
          </a:p>
        </p:txBody>
      </p:sp>
      <p:sp>
        <p:nvSpPr>
          <p:cNvPr id="18" name="TextBox 17">
            <a:extLst>
              <a:ext uri="{FF2B5EF4-FFF2-40B4-BE49-F238E27FC236}">
                <a16:creationId xmlns:a16="http://schemas.microsoft.com/office/drawing/2014/main" id="{59AABC2F-ABAF-6140-BA5C-921109CF989B}"/>
              </a:ext>
            </a:extLst>
          </p:cNvPr>
          <p:cNvSpPr txBox="1"/>
          <p:nvPr/>
        </p:nvSpPr>
        <p:spPr>
          <a:xfrm>
            <a:off x="5612541" y="2422327"/>
            <a:ext cx="1297069" cy="73802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98" dirty="0">
                <a:latin typeface="Times New Roman" panose="02020603050405020304" pitchFamily="18" charset="0"/>
                <a:cs typeface="Times New Roman" panose="02020603050405020304" pitchFamily="18" charset="0"/>
              </a:rPr>
              <a:t>high-level motifs</a:t>
            </a:r>
          </a:p>
        </p:txBody>
      </p:sp>
      <p:cxnSp>
        <p:nvCxnSpPr>
          <p:cNvPr id="21" name="Straight Arrow Connector 20">
            <a:extLst>
              <a:ext uri="{FF2B5EF4-FFF2-40B4-BE49-F238E27FC236}">
                <a16:creationId xmlns:a16="http://schemas.microsoft.com/office/drawing/2014/main" id="{F32B0503-A697-0A47-A3DA-5DB2A3779506}"/>
              </a:ext>
            </a:extLst>
          </p:cNvPr>
          <p:cNvCxnSpPr>
            <a:cxnSpLocks/>
            <a:stCxn id="17" idx="3"/>
            <a:endCxn id="18" idx="1"/>
          </p:cNvCxnSpPr>
          <p:nvPr/>
        </p:nvCxnSpPr>
        <p:spPr>
          <a:xfrm>
            <a:off x="5080860" y="2791339"/>
            <a:ext cx="53168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03A2DF38-31DB-B443-B7EA-6CBFE99560BB}"/>
              </a:ext>
            </a:extLst>
          </p:cNvPr>
          <p:cNvCxnSpPr>
            <a:cxnSpLocks/>
            <a:stCxn id="18" idx="3"/>
            <a:endCxn id="13" idx="1"/>
          </p:cNvCxnSpPr>
          <p:nvPr/>
        </p:nvCxnSpPr>
        <p:spPr>
          <a:xfrm flipV="1">
            <a:off x="6909610" y="2775321"/>
            <a:ext cx="693607" cy="1601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9" name="Picture 18">
            <a:extLst>
              <a:ext uri="{FF2B5EF4-FFF2-40B4-BE49-F238E27FC236}">
                <a16:creationId xmlns:a16="http://schemas.microsoft.com/office/drawing/2014/main" id="{86D54507-CE31-F545-93DF-9D4C9973BC7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48212" y="1618033"/>
            <a:ext cx="2381250" cy="2314575"/>
          </a:xfrm>
          <a:prstGeom prst="rect">
            <a:avLst/>
          </a:prstGeom>
          <a:ln>
            <a:solidFill>
              <a:schemeClr val="tx1"/>
            </a:solidFill>
          </a:ln>
        </p:spPr>
      </p:pic>
      <p:sp>
        <p:nvSpPr>
          <p:cNvPr id="22" name="TextBox 21">
            <a:extLst>
              <a:ext uri="{FF2B5EF4-FFF2-40B4-BE49-F238E27FC236}">
                <a16:creationId xmlns:a16="http://schemas.microsoft.com/office/drawing/2014/main" id="{C6D4061E-5342-9944-9149-5767358874A4}"/>
              </a:ext>
            </a:extLst>
          </p:cNvPr>
          <p:cNvSpPr txBox="1"/>
          <p:nvPr/>
        </p:nvSpPr>
        <p:spPr>
          <a:xfrm>
            <a:off x="3767768" y="3222696"/>
            <a:ext cx="1374607" cy="1005083"/>
          </a:xfrm>
          <a:prstGeom prst="rect">
            <a:avLst/>
          </a:prstGeom>
          <a:noFill/>
        </p:spPr>
        <p:txBody>
          <a:bodyPr wrap="none" rtlCol="0">
            <a:spAutoFit/>
          </a:bodyPr>
          <a:lstStyle/>
          <a:p>
            <a:pPr marL="342900" indent="-342900">
              <a:buFont typeface="Arial" panose="020B0604020202020204" pitchFamily="34" charset="0"/>
              <a:buChar char="•"/>
            </a:pPr>
            <a:r>
              <a:rPr lang="en-US" sz="1977" dirty="0"/>
              <a:t>edges</a:t>
            </a:r>
          </a:p>
          <a:p>
            <a:pPr marL="342900" indent="-342900">
              <a:buFont typeface="Arial" panose="020B0604020202020204" pitchFamily="34" charset="0"/>
              <a:buChar char="•"/>
            </a:pPr>
            <a:r>
              <a:rPr lang="en-US" sz="1977" dirty="0"/>
              <a:t>shapes</a:t>
            </a:r>
          </a:p>
          <a:p>
            <a:pPr marL="342900" indent="-342900">
              <a:buFont typeface="Arial" panose="020B0604020202020204" pitchFamily="34" charset="0"/>
              <a:buChar char="•"/>
            </a:pPr>
            <a:r>
              <a:rPr lang="en-US" sz="1977" dirty="0"/>
              <a:t>textures</a:t>
            </a:r>
          </a:p>
        </p:txBody>
      </p:sp>
      <p:sp>
        <p:nvSpPr>
          <p:cNvPr id="23" name="TextBox 22">
            <a:extLst>
              <a:ext uri="{FF2B5EF4-FFF2-40B4-BE49-F238E27FC236}">
                <a16:creationId xmlns:a16="http://schemas.microsoft.com/office/drawing/2014/main" id="{5F75F0FA-BD5C-2C42-8E0B-45D8D186EE76}"/>
              </a:ext>
            </a:extLst>
          </p:cNvPr>
          <p:cNvSpPr txBox="1"/>
          <p:nvPr/>
        </p:nvSpPr>
        <p:spPr>
          <a:xfrm>
            <a:off x="5596518" y="3222696"/>
            <a:ext cx="1062342" cy="1005083"/>
          </a:xfrm>
          <a:prstGeom prst="rect">
            <a:avLst/>
          </a:prstGeom>
          <a:noFill/>
        </p:spPr>
        <p:txBody>
          <a:bodyPr wrap="none" rtlCol="0">
            <a:spAutoFit/>
          </a:bodyPr>
          <a:lstStyle/>
          <a:p>
            <a:pPr marL="342900" indent="-342900">
              <a:buFont typeface="Arial" panose="020B0604020202020204" pitchFamily="34" charset="0"/>
              <a:buChar char="•"/>
            </a:pPr>
            <a:r>
              <a:rPr lang="en-US" sz="1977" dirty="0"/>
              <a:t>eyes</a:t>
            </a:r>
          </a:p>
          <a:p>
            <a:pPr marL="342900" indent="-342900">
              <a:buFont typeface="Arial" panose="020B0604020202020204" pitchFamily="34" charset="0"/>
              <a:buChar char="•"/>
            </a:pPr>
            <a:r>
              <a:rPr lang="en-US" sz="1977" dirty="0"/>
              <a:t>ears</a:t>
            </a:r>
          </a:p>
          <a:p>
            <a:pPr marL="342900" indent="-342900">
              <a:buFont typeface="Arial" panose="020B0604020202020204" pitchFamily="34" charset="0"/>
              <a:buChar char="•"/>
            </a:pPr>
            <a:r>
              <a:rPr lang="en-US" sz="1977" dirty="0"/>
              <a:t>paws</a:t>
            </a:r>
          </a:p>
        </p:txBody>
      </p:sp>
      <p:sp>
        <p:nvSpPr>
          <p:cNvPr id="25" name="Title 1">
            <a:extLst>
              <a:ext uri="{FF2B5EF4-FFF2-40B4-BE49-F238E27FC236}">
                <a16:creationId xmlns:a16="http://schemas.microsoft.com/office/drawing/2014/main" id="{A9D5AFCE-C044-3C4C-BD58-C4F92945FF71}"/>
              </a:ext>
            </a:extLst>
          </p:cNvPr>
          <p:cNvSpPr>
            <a:spLocks noGrp="1"/>
          </p:cNvSpPr>
          <p:nvPr>
            <p:ph type="title"/>
          </p:nvPr>
        </p:nvSpPr>
        <p:spPr>
          <a:xfrm>
            <a:off x="628650" y="273844"/>
            <a:ext cx="7886700" cy="994172"/>
          </a:xfrm>
        </p:spPr>
        <p:txBody>
          <a:bodyPr/>
          <a:lstStyle/>
          <a:p>
            <a:r>
              <a:rPr lang="en-US" dirty="0"/>
              <a:t>Now we can use deep learning to build our hierarchy of features.</a:t>
            </a:r>
          </a:p>
        </p:txBody>
      </p:sp>
    </p:spTree>
    <p:extLst>
      <p:ext uri="{BB962C8B-B14F-4D97-AF65-F5344CB8AC3E}">
        <p14:creationId xmlns:p14="http://schemas.microsoft.com/office/powerpoint/2010/main" val="31792560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0F8ED1D-42C3-9141-AE77-27407422E154}"/>
              </a:ext>
            </a:extLst>
          </p:cNvPr>
          <p:cNvSpPr txBox="1"/>
          <p:nvPr/>
        </p:nvSpPr>
        <p:spPr>
          <a:xfrm>
            <a:off x="1186659" y="3962718"/>
            <a:ext cx="1297069" cy="1060868"/>
          </a:xfrm>
          <a:prstGeom prst="rect">
            <a:avLst/>
          </a:prstGeom>
          <a:noFill/>
        </p:spPr>
        <p:txBody>
          <a:bodyPr wrap="square" rtlCol="0">
            <a:spAutoFit/>
          </a:bodyPr>
          <a:lstStyle/>
          <a:p>
            <a:pPr algn="ctr"/>
            <a:r>
              <a:rPr lang="en-US" sz="2098" dirty="0">
                <a:latin typeface="Times New Roman" panose="02020603050405020304" pitchFamily="18" charset="0"/>
                <a:cs typeface="Times New Roman" panose="02020603050405020304" pitchFamily="18" charset="0"/>
              </a:rPr>
              <a:t>grid of semantic attributes</a:t>
            </a:r>
          </a:p>
        </p:txBody>
      </p:sp>
      <p:sp>
        <p:nvSpPr>
          <p:cNvPr id="10" name="TextBox 9">
            <a:extLst>
              <a:ext uri="{FF2B5EF4-FFF2-40B4-BE49-F238E27FC236}">
                <a16:creationId xmlns:a16="http://schemas.microsoft.com/office/drawing/2014/main" id="{F2C42C99-ECFD-CC46-8C0C-7FE9900CF424}"/>
              </a:ext>
            </a:extLst>
          </p:cNvPr>
          <p:cNvSpPr txBox="1"/>
          <p:nvPr/>
        </p:nvSpPr>
        <p:spPr>
          <a:xfrm>
            <a:off x="7298684" y="3137233"/>
            <a:ext cx="1151337" cy="415178"/>
          </a:xfrm>
          <a:prstGeom prst="rect">
            <a:avLst/>
          </a:prstGeom>
          <a:noFill/>
        </p:spPr>
        <p:txBody>
          <a:bodyPr wrap="square" rtlCol="0">
            <a:spAutoFit/>
          </a:bodyPr>
          <a:lstStyle/>
          <a:p>
            <a:pPr algn="ctr"/>
            <a:r>
              <a:rPr lang="en-US" sz="2098" dirty="0">
                <a:latin typeface="Times New Roman" panose="02020603050405020304" pitchFamily="18" charset="0"/>
                <a:cs typeface="Times New Roman" panose="02020603050405020304" pitchFamily="18" charset="0"/>
              </a:rPr>
              <a:t>label</a:t>
            </a:r>
          </a:p>
        </p:txBody>
      </p:sp>
      <p:sp>
        <p:nvSpPr>
          <p:cNvPr id="11" name="TextBox 10">
            <a:extLst>
              <a:ext uri="{FF2B5EF4-FFF2-40B4-BE49-F238E27FC236}">
                <a16:creationId xmlns:a16="http://schemas.microsoft.com/office/drawing/2014/main" id="{69F4C887-30DE-6142-A3B8-73F2E6FB683F}"/>
              </a:ext>
            </a:extLst>
          </p:cNvPr>
          <p:cNvSpPr txBox="1"/>
          <p:nvPr/>
        </p:nvSpPr>
        <p:spPr>
          <a:xfrm>
            <a:off x="3871197" y="4627003"/>
            <a:ext cx="5170198" cy="396583"/>
          </a:xfrm>
          <a:prstGeom prst="rect">
            <a:avLst/>
          </a:prstGeom>
          <a:noFill/>
        </p:spPr>
        <p:txBody>
          <a:bodyPr wrap="none" rtlCol="0">
            <a:spAutoFit/>
          </a:bodyPr>
          <a:lstStyle/>
          <a:p>
            <a:r>
              <a:rPr lang="en-US" sz="1977" dirty="0"/>
              <a:t>End goal: predict</a:t>
            </a:r>
            <a:r>
              <a:rPr lang="en-US" sz="1977" i="1" dirty="0"/>
              <a:t> pulmonary embolism </a:t>
            </a:r>
            <a:r>
              <a:rPr lang="en-US" sz="1977" dirty="0"/>
              <a:t>from </a:t>
            </a:r>
            <a:r>
              <a:rPr lang="en-US" sz="1977" i="1" dirty="0">
                <a:latin typeface="Times New Roman" panose="02020603050405020304" pitchFamily="18" charset="0"/>
                <a:cs typeface="Times New Roman" panose="02020603050405020304" pitchFamily="18" charset="0"/>
              </a:rPr>
              <a:t>text</a:t>
            </a:r>
            <a:r>
              <a:rPr lang="en-US" sz="1977" dirty="0"/>
              <a:t> </a:t>
            </a:r>
          </a:p>
        </p:txBody>
      </p:sp>
      <p:graphicFrame>
        <p:nvGraphicFramePr>
          <p:cNvPr id="13" name="Table 12">
            <a:extLst>
              <a:ext uri="{FF2B5EF4-FFF2-40B4-BE49-F238E27FC236}">
                <a16:creationId xmlns:a16="http://schemas.microsoft.com/office/drawing/2014/main" id="{9D7F99B7-3001-F340-BD4E-C015D9032101}"/>
              </a:ext>
            </a:extLst>
          </p:cNvPr>
          <p:cNvGraphicFramePr>
            <a:graphicFrameLocks noGrp="1"/>
          </p:cNvGraphicFramePr>
          <p:nvPr/>
        </p:nvGraphicFramePr>
        <p:xfrm>
          <a:off x="7603217" y="2509876"/>
          <a:ext cx="542273"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tblGrid>
              <a:tr h="530890">
                <a:tc>
                  <a:txBody>
                    <a:bodyPr/>
                    <a:lstStyle/>
                    <a:p>
                      <a:pPr algn="ctr"/>
                      <a:r>
                        <a:rPr lang="en-US" sz="1000" dirty="0">
                          <a:solidFill>
                            <a:schemeClr val="tx1"/>
                          </a:solidFill>
                        </a:rPr>
                        <a:t>PE</a:t>
                      </a: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6" name="Straight Arrow Connector 15">
            <a:extLst>
              <a:ext uri="{FF2B5EF4-FFF2-40B4-BE49-F238E27FC236}">
                <a16:creationId xmlns:a16="http://schemas.microsoft.com/office/drawing/2014/main" id="{2004C370-95FF-1047-B986-B06FCDF88F5F}"/>
              </a:ext>
            </a:extLst>
          </p:cNvPr>
          <p:cNvCxnSpPr>
            <a:cxnSpLocks/>
            <a:endCxn id="17" idx="1"/>
          </p:cNvCxnSpPr>
          <p:nvPr/>
        </p:nvCxnSpPr>
        <p:spPr>
          <a:xfrm>
            <a:off x="2782882" y="2791339"/>
            <a:ext cx="1000909"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 name="TextBox 16">
            <a:extLst>
              <a:ext uri="{FF2B5EF4-FFF2-40B4-BE49-F238E27FC236}">
                <a16:creationId xmlns:a16="http://schemas.microsoft.com/office/drawing/2014/main" id="{50F900F6-F379-064E-8628-8FF4A074FE47}"/>
              </a:ext>
            </a:extLst>
          </p:cNvPr>
          <p:cNvSpPr txBox="1"/>
          <p:nvPr/>
        </p:nvSpPr>
        <p:spPr>
          <a:xfrm>
            <a:off x="3783791" y="2422327"/>
            <a:ext cx="1297069" cy="73802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98" dirty="0">
                <a:latin typeface="Times New Roman" panose="02020603050405020304" pitchFamily="18" charset="0"/>
                <a:cs typeface="Times New Roman" panose="02020603050405020304" pitchFamily="18" charset="0"/>
              </a:rPr>
              <a:t>low-level motifs</a:t>
            </a:r>
          </a:p>
        </p:txBody>
      </p:sp>
      <p:sp>
        <p:nvSpPr>
          <p:cNvPr id="18" name="TextBox 17">
            <a:extLst>
              <a:ext uri="{FF2B5EF4-FFF2-40B4-BE49-F238E27FC236}">
                <a16:creationId xmlns:a16="http://schemas.microsoft.com/office/drawing/2014/main" id="{59AABC2F-ABAF-6140-BA5C-921109CF989B}"/>
              </a:ext>
            </a:extLst>
          </p:cNvPr>
          <p:cNvSpPr txBox="1"/>
          <p:nvPr/>
        </p:nvSpPr>
        <p:spPr>
          <a:xfrm>
            <a:off x="5612541" y="2422327"/>
            <a:ext cx="1297069" cy="73802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98" dirty="0">
                <a:latin typeface="Times New Roman" panose="02020603050405020304" pitchFamily="18" charset="0"/>
                <a:cs typeface="Times New Roman" panose="02020603050405020304" pitchFamily="18" charset="0"/>
              </a:rPr>
              <a:t>high-level motifs</a:t>
            </a:r>
          </a:p>
        </p:txBody>
      </p:sp>
      <p:cxnSp>
        <p:nvCxnSpPr>
          <p:cNvPr id="21" name="Straight Arrow Connector 20">
            <a:extLst>
              <a:ext uri="{FF2B5EF4-FFF2-40B4-BE49-F238E27FC236}">
                <a16:creationId xmlns:a16="http://schemas.microsoft.com/office/drawing/2014/main" id="{F32B0503-A697-0A47-A3DA-5DB2A3779506}"/>
              </a:ext>
            </a:extLst>
          </p:cNvPr>
          <p:cNvCxnSpPr>
            <a:cxnSpLocks/>
            <a:stCxn id="17" idx="3"/>
            <a:endCxn id="18" idx="1"/>
          </p:cNvCxnSpPr>
          <p:nvPr/>
        </p:nvCxnSpPr>
        <p:spPr>
          <a:xfrm>
            <a:off x="5080860" y="2791339"/>
            <a:ext cx="53168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03A2DF38-31DB-B443-B7EA-6CBFE99560BB}"/>
              </a:ext>
            </a:extLst>
          </p:cNvPr>
          <p:cNvCxnSpPr>
            <a:cxnSpLocks/>
            <a:stCxn id="18" idx="3"/>
            <a:endCxn id="13" idx="1"/>
          </p:cNvCxnSpPr>
          <p:nvPr/>
        </p:nvCxnSpPr>
        <p:spPr>
          <a:xfrm flipV="1">
            <a:off x="6909610" y="2775321"/>
            <a:ext cx="693607" cy="1601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2" name="TextBox 21">
            <a:extLst>
              <a:ext uri="{FF2B5EF4-FFF2-40B4-BE49-F238E27FC236}">
                <a16:creationId xmlns:a16="http://schemas.microsoft.com/office/drawing/2014/main" id="{C6D4061E-5342-9944-9149-5767358874A4}"/>
              </a:ext>
            </a:extLst>
          </p:cNvPr>
          <p:cNvSpPr txBox="1"/>
          <p:nvPr/>
        </p:nvSpPr>
        <p:spPr>
          <a:xfrm>
            <a:off x="3767768" y="3222696"/>
            <a:ext cx="1369008" cy="1005083"/>
          </a:xfrm>
          <a:prstGeom prst="rect">
            <a:avLst/>
          </a:prstGeom>
          <a:noFill/>
        </p:spPr>
        <p:txBody>
          <a:bodyPr wrap="square" rtlCol="0">
            <a:spAutoFit/>
          </a:bodyPr>
          <a:lstStyle/>
          <a:p>
            <a:pPr marL="342900" indent="-342900">
              <a:buFont typeface="Arial" panose="020B0604020202020204" pitchFamily="34" charset="0"/>
              <a:buChar char="•"/>
            </a:pPr>
            <a:r>
              <a:rPr lang="en-US" sz="1977" dirty="0"/>
              <a:t>words</a:t>
            </a:r>
          </a:p>
          <a:p>
            <a:pPr marL="342900" indent="-342900">
              <a:buFont typeface="Arial" panose="020B0604020202020204" pitchFamily="34" charset="0"/>
              <a:buChar char="•"/>
            </a:pPr>
            <a:r>
              <a:rPr lang="en-US" sz="1977" dirty="0"/>
              <a:t>short phrases</a:t>
            </a:r>
          </a:p>
        </p:txBody>
      </p:sp>
      <p:sp>
        <p:nvSpPr>
          <p:cNvPr id="23" name="TextBox 22">
            <a:extLst>
              <a:ext uri="{FF2B5EF4-FFF2-40B4-BE49-F238E27FC236}">
                <a16:creationId xmlns:a16="http://schemas.microsoft.com/office/drawing/2014/main" id="{5F75F0FA-BD5C-2C42-8E0B-45D8D186EE76}"/>
              </a:ext>
            </a:extLst>
          </p:cNvPr>
          <p:cNvSpPr txBox="1"/>
          <p:nvPr/>
        </p:nvSpPr>
        <p:spPr>
          <a:xfrm>
            <a:off x="5596517" y="3222696"/>
            <a:ext cx="1476636" cy="700833"/>
          </a:xfrm>
          <a:prstGeom prst="rect">
            <a:avLst/>
          </a:prstGeom>
          <a:noFill/>
        </p:spPr>
        <p:txBody>
          <a:bodyPr wrap="square" rtlCol="0">
            <a:spAutoFit/>
          </a:bodyPr>
          <a:lstStyle/>
          <a:p>
            <a:pPr marL="342900" indent="-342900">
              <a:buFont typeface="Arial" panose="020B0604020202020204" pitchFamily="34" charset="0"/>
              <a:buChar char="•"/>
            </a:pPr>
            <a:r>
              <a:rPr lang="en-US" sz="1977" dirty="0"/>
              <a:t>concepts</a:t>
            </a:r>
          </a:p>
          <a:p>
            <a:pPr marL="342900" indent="-342900">
              <a:buFont typeface="Arial" panose="020B0604020202020204" pitchFamily="34" charset="0"/>
              <a:buChar char="•"/>
            </a:pPr>
            <a:r>
              <a:rPr lang="en-US" sz="1977" dirty="0"/>
              <a:t>topics</a:t>
            </a:r>
          </a:p>
        </p:txBody>
      </p:sp>
      <p:sp>
        <p:nvSpPr>
          <p:cNvPr id="25" name="Title 1">
            <a:extLst>
              <a:ext uri="{FF2B5EF4-FFF2-40B4-BE49-F238E27FC236}">
                <a16:creationId xmlns:a16="http://schemas.microsoft.com/office/drawing/2014/main" id="{A9D5AFCE-C044-3C4C-BD58-C4F92945FF71}"/>
              </a:ext>
            </a:extLst>
          </p:cNvPr>
          <p:cNvSpPr>
            <a:spLocks noGrp="1"/>
          </p:cNvSpPr>
          <p:nvPr>
            <p:ph type="title"/>
          </p:nvPr>
        </p:nvSpPr>
        <p:spPr>
          <a:xfrm>
            <a:off x="628650" y="273844"/>
            <a:ext cx="7886700" cy="994172"/>
          </a:xfrm>
        </p:spPr>
        <p:txBody>
          <a:bodyPr/>
          <a:lstStyle/>
          <a:p>
            <a:r>
              <a:rPr lang="en-US" dirty="0"/>
              <a:t>Now we can use deep learning to build our hierarchy of </a:t>
            </a:r>
            <a:r>
              <a:rPr lang="en-US" i="1" dirty="0">
                <a:solidFill>
                  <a:schemeClr val="accent2"/>
                </a:solidFill>
              </a:rPr>
              <a:t>semantic</a:t>
            </a:r>
            <a:r>
              <a:rPr lang="en-US" dirty="0"/>
              <a:t> features.</a:t>
            </a:r>
          </a:p>
        </p:txBody>
      </p:sp>
      <p:pic>
        <p:nvPicPr>
          <p:cNvPr id="15" name="Picture 14">
            <a:extLst>
              <a:ext uri="{FF2B5EF4-FFF2-40B4-BE49-F238E27FC236}">
                <a16:creationId xmlns:a16="http://schemas.microsoft.com/office/drawing/2014/main" id="{B70EC008-0CBF-9FA8-56DC-9B08A4DD022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1976" t="10927" r="11177" b="12059"/>
          <a:stretch/>
        </p:blipFill>
        <p:spPr>
          <a:xfrm>
            <a:off x="887506" y="1476780"/>
            <a:ext cx="1895376" cy="2458150"/>
          </a:xfrm>
          <a:prstGeom prst="rect">
            <a:avLst/>
          </a:prstGeom>
          <a:ln>
            <a:solidFill>
              <a:schemeClr val="tx1"/>
            </a:solidFill>
          </a:ln>
        </p:spPr>
      </p:pic>
    </p:spTree>
    <p:extLst>
      <p:ext uri="{BB962C8B-B14F-4D97-AF65-F5344CB8AC3E}">
        <p14:creationId xmlns:p14="http://schemas.microsoft.com/office/powerpoint/2010/main" val="16709687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2CF75-C197-7691-480A-270369509B4A}"/>
              </a:ext>
            </a:extLst>
          </p:cNvPr>
          <p:cNvSpPr>
            <a:spLocks noGrp="1"/>
          </p:cNvSpPr>
          <p:nvPr>
            <p:ph type="title"/>
          </p:nvPr>
        </p:nvSpPr>
        <p:spPr/>
        <p:txBody>
          <a:bodyPr/>
          <a:lstStyle/>
          <a:p>
            <a:r>
              <a:rPr lang="en-US" dirty="0"/>
              <a:t>Back to next-token prediction</a:t>
            </a:r>
          </a:p>
        </p:txBody>
      </p:sp>
      <p:sp>
        <p:nvSpPr>
          <p:cNvPr id="3" name="Text Placeholder 2">
            <a:extLst>
              <a:ext uri="{FF2B5EF4-FFF2-40B4-BE49-F238E27FC236}">
                <a16:creationId xmlns:a16="http://schemas.microsoft.com/office/drawing/2014/main" id="{5E76BCAE-FA88-EF90-9B64-AD64D0430C1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173422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D3D5B-C8A0-76DA-707D-C7CF98890E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C1931A-5386-EE82-0B36-C9263A88A263}"/>
              </a:ext>
            </a:extLst>
          </p:cNvPr>
          <p:cNvSpPr>
            <a:spLocks noGrp="1"/>
          </p:cNvSpPr>
          <p:nvPr>
            <p:ph type="title"/>
          </p:nvPr>
        </p:nvSpPr>
        <p:spPr>
          <a:xfrm>
            <a:off x="638118" y="396818"/>
            <a:ext cx="8431619" cy="650536"/>
          </a:xfrm>
        </p:spPr>
        <p:txBody>
          <a:bodyPr>
            <a:normAutofit/>
          </a:bodyPr>
          <a:lstStyle/>
          <a:p>
            <a:r>
              <a:rPr lang="en-US" dirty="0"/>
              <a:t>Now we can generate text!</a:t>
            </a:r>
          </a:p>
        </p:txBody>
      </p:sp>
      <p:sp>
        <p:nvSpPr>
          <p:cNvPr id="8" name="Left Brace 7">
            <a:extLst>
              <a:ext uri="{FF2B5EF4-FFF2-40B4-BE49-F238E27FC236}">
                <a16:creationId xmlns:a16="http://schemas.microsoft.com/office/drawing/2014/main" id="{A53FD2C0-73EE-5299-8822-C38D8914C202}"/>
              </a:ext>
            </a:extLst>
          </p:cNvPr>
          <p:cNvSpPr/>
          <p:nvPr/>
        </p:nvSpPr>
        <p:spPr>
          <a:xfrm rot="16200000">
            <a:off x="3401010" y="1086034"/>
            <a:ext cx="262758" cy="4671293"/>
          </a:xfrm>
          <a:prstGeom prst="leftBrace">
            <a:avLst>
              <a:gd name="adj1" fmla="val 8333"/>
              <a:gd name="adj2" fmla="val 24563"/>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348" dirty="0"/>
          </a:p>
        </p:txBody>
      </p:sp>
      <p:sp>
        <p:nvSpPr>
          <p:cNvPr id="9" name="TextBox 8">
            <a:extLst>
              <a:ext uri="{FF2B5EF4-FFF2-40B4-BE49-F238E27FC236}">
                <a16:creationId xmlns:a16="http://schemas.microsoft.com/office/drawing/2014/main" id="{67C952CF-F6EE-118E-7FD5-525FD374E2E9}"/>
              </a:ext>
            </a:extLst>
          </p:cNvPr>
          <p:cNvSpPr txBox="1"/>
          <p:nvPr/>
        </p:nvSpPr>
        <p:spPr>
          <a:xfrm>
            <a:off x="2210848" y="3589940"/>
            <a:ext cx="2643080"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dirty="0">
                <a:latin typeface="Times New Roman" panose="02020603050405020304" pitchFamily="18" charset="0"/>
                <a:cs typeface="Times New Roman" panose="02020603050405020304" pitchFamily="18" charset="0"/>
              </a:rPr>
              <a:t>, conversation history</a:t>
            </a:r>
          </a:p>
        </p:txBody>
      </p:sp>
      <p:sp>
        <p:nvSpPr>
          <p:cNvPr id="10" name="TextBox 9">
            <a:extLst>
              <a:ext uri="{FF2B5EF4-FFF2-40B4-BE49-F238E27FC236}">
                <a16:creationId xmlns:a16="http://schemas.microsoft.com/office/drawing/2014/main" id="{5FD665E9-ADB9-B688-BDEE-64A5938FBCF9}"/>
              </a:ext>
            </a:extLst>
          </p:cNvPr>
          <p:cNvSpPr txBox="1"/>
          <p:nvPr/>
        </p:nvSpPr>
        <p:spPr>
          <a:xfrm>
            <a:off x="6944812" y="2741057"/>
            <a:ext cx="1901480"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dirty="0">
                <a:latin typeface="Times New Roman" panose="02020603050405020304" pitchFamily="18" charset="0"/>
                <a:cs typeface="Times New Roman" panose="02020603050405020304" pitchFamily="18" charset="0"/>
              </a:rPr>
              <a:t>, next word</a:t>
            </a:r>
          </a:p>
        </p:txBody>
      </p:sp>
      <p:sp>
        <p:nvSpPr>
          <p:cNvPr id="11" name="TextBox 10">
            <a:extLst>
              <a:ext uri="{FF2B5EF4-FFF2-40B4-BE49-F238E27FC236}">
                <a16:creationId xmlns:a16="http://schemas.microsoft.com/office/drawing/2014/main" id="{8FDF5511-0827-8322-A6E9-40A8A871C2A7}"/>
              </a:ext>
            </a:extLst>
          </p:cNvPr>
          <p:cNvSpPr txBox="1"/>
          <p:nvPr/>
        </p:nvSpPr>
        <p:spPr>
          <a:xfrm>
            <a:off x="3270619" y="4480697"/>
            <a:ext cx="2607573" cy="396583"/>
          </a:xfrm>
          <a:prstGeom prst="rect">
            <a:avLst/>
          </a:prstGeom>
          <a:noFill/>
        </p:spPr>
        <p:txBody>
          <a:bodyPr wrap="none" rtlCol="0">
            <a:spAutoFit/>
          </a:bodyPr>
          <a:lstStyle/>
          <a:p>
            <a:r>
              <a:rPr lang="en-US" sz="1977" dirty="0"/>
              <a:t>“next-token prediction”</a:t>
            </a:r>
          </a:p>
        </p:txBody>
      </p:sp>
      <p:graphicFrame>
        <p:nvGraphicFramePr>
          <p:cNvPr id="13" name="Table 12">
            <a:extLst>
              <a:ext uri="{FF2B5EF4-FFF2-40B4-BE49-F238E27FC236}">
                <a16:creationId xmlns:a16="http://schemas.microsoft.com/office/drawing/2014/main" id="{D2BCD5A5-CAE9-A72D-8B02-A9E943B0C694}"/>
              </a:ext>
            </a:extLst>
          </p:cNvPr>
          <p:cNvGraphicFramePr>
            <a:graphicFrameLocks noGrp="1"/>
          </p:cNvGraphicFramePr>
          <p:nvPr/>
        </p:nvGraphicFramePr>
        <p:xfrm>
          <a:off x="6827529" y="2173311"/>
          <a:ext cx="542273"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tblGrid>
              <a:tr h="530890">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6" name="Straight Arrow Connector 15">
            <a:extLst>
              <a:ext uri="{FF2B5EF4-FFF2-40B4-BE49-F238E27FC236}">
                <a16:creationId xmlns:a16="http://schemas.microsoft.com/office/drawing/2014/main" id="{CFD7152E-DC43-6356-7FD3-81709886A7DF}"/>
              </a:ext>
            </a:extLst>
          </p:cNvPr>
          <p:cNvCxnSpPr>
            <a:cxnSpLocks/>
            <a:stCxn id="4" idx="3"/>
            <a:endCxn id="13" idx="1"/>
          </p:cNvCxnSpPr>
          <p:nvPr/>
        </p:nvCxnSpPr>
        <p:spPr>
          <a:xfrm>
            <a:off x="5868034" y="2438756"/>
            <a:ext cx="95949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4" name="Picture 3">
            <a:extLst>
              <a:ext uri="{FF2B5EF4-FFF2-40B4-BE49-F238E27FC236}">
                <a16:creationId xmlns:a16="http://schemas.microsoft.com/office/drawing/2014/main" id="{6F18EA68-19EA-D9AD-1124-FA0F3952AD50}"/>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196742" y="1721277"/>
            <a:ext cx="4671292" cy="1434958"/>
          </a:xfrm>
          <a:prstGeom prst="rect">
            <a:avLst/>
          </a:prstGeom>
          <a:ln>
            <a:solidFill>
              <a:schemeClr val="tx1"/>
            </a:solidFill>
          </a:ln>
        </p:spPr>
      </p:pic>
      <p:pic>
        <p:nvPicPr>
          <p:cNvPr id="5" name="Picture 2">
            <a:extLst>
              <a:ext uri="{FF2B5EF4-FFF2-40B4-BE49-F238E27FC236}">
                <a16:creationId xmlns:a16="http://schemas.microsoft.com/office/drawing/2014/main" id="{F59BDC1A-749B-C361-4481-66D441947245}"/>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289495" y="1827930"/>
            <a:ext cx="522772" cy="522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30130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4B876-C91D-6F14-151F-37BB5EF49EA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DAA2F98-F0B1-FE16-6E42-D082C502BE07}"/>
              </a:ext>
            </a:extLst>
          </p:cNvPr>
          <p:cNvSpPr txBox="1"/>
          <p:nvPr/>
        </p:nvSpPr>
        <p:spPr>
          <a:xfrm>
            <a:off x="2283478" y="4592657"/>
            <a:ext cx="5903347" cy="300082"/>
          </a:xfrm>
          <a:prstGeom prst="rect">
            <a:avLst/>
          </a:prstGeom>
          <a:noFill/>
        </p:spPr>
        <p:txBody>
          <a:bodyPr wrap="none" rtlCol="0">
            <a:spAutoFit/>
          </a:bodyPr>
          <a:lstStyle/>
          <a:p>
            <a:r>
              <a:rPr lang="en-US" sz="1350" dirty="0"/>
              <a:t>Even       the  smallest  person  can    change    the     course     of          the      future</a:t>
            </a:r>
          </a:p>
        </p:txBody>
      </p:sp>
      <p:sp>
        <p:nvSpPr>
          <p:cNvPr id="5" name="Rounded Rectangle 4">
            <a:extLst>
              <a:ext uri="{FF2B5EF4-FFF2-40B4-BE49-F238E27FC236}">
                <a16:creationId xmlns:a16="http://schemas.microsoft.com/office/drawing/2014/main" id="{56D65D03-64B8-3E17-3C4F-970FFA4AF0D1}"/>
              </a:ext>
            </a:extLst>
          </p:cNvPr>
          <p:cNvSpPr/>
          <p:nvPr/>
        </p:nvSpPr>
        <p:spPr>
          <a:xfrm>
            <a:off x="2023230" y="3117916"/>
            <a:ext cx="6483284" cy="1152427"/>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Transformer Decoder</a:t>
            </a:r>
          </a:p>
          <a:p>
            <a:pPr algn="ctr"/>
            <a:r>
              <a:rPr lang="en-US" sz="1350" dirty="0"/>
              <a:t>(token embeddings + positional encodings -&gt; (decoder layer) x N)</a:t>
            </a:r>
          </a:p>
        </p:txBody>
      </p:sp>
      <p:cxnSp>
        <p:nvCxnSpPr>
          <p:cNvPr id="9" name="Straight Arrow Connector 8">
            <a:extLst>
              <a:ext uri="{FF2B5EF4-FFF2-40B4-BE49-F238E27FC236}">
                <a16:creationId xmlns:a16="http://schemas.microsoft.com/office/drawing/2014/main" id="{C244934A-9D9E-5638-595D-47BB5E8C62F8}"/>
              </a:ext>
            </a:extLst>
          </p:cNvPr>
          <p:cNvCxnSpPr/>
          <p:nvPr/>
        </p:nvCxnSpPr>
        <p:spPr>
          <a:xfrm flipV="1">
            <a:off x="2545239" y="4270343"/>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3AC9E623-AE55-7559-5DAE-953F05D279ED}"/>
              </a:ext>
            </a:extLst>
          </p:cNvPr>
          <p:cNvCxnSpPr/>
          <p:nvPr/>
        </p:nvCxnSpPr>
        <p:spPr>
          <a:xfrm flipV="1">
            <a:off x="4683710" y="4270342"/>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E3FA6F4-901F-5FB4-65E1-713E9E058307}"/>
              </a:ext>
            </a:extLst>
          </p:cNvPr>
          <p:cNvCxnSpPr/>
          <p:nvPr/>
        </p:nvCxnSpPr>
        <p:spPr>
          <a:xfrm flipV="1">
            <a:off x="5218327" y="4270342"/>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860A3DD8-8706-1102-3ECB-53A7C1D3F669}"/>
              </a:ext>
            </a:extLst>
          </p:cNvPr>
          <p:cNvCxnSpPr/>
          <p:nvPr/>
        </p:nvCxnSpPr>
        <p:spPr>
          <a:xfrm flipV="1">
            <a:off x="5752944" y="4270342"/>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4D073043-CBB5-C68E-D870-1D256D7075E9}"/>
              </a:ext>
            </a:extLst>
          </p:cNvPr>
          <p:cNvCxnSpPr/>
          <p:nvPr/>
        </p:nvCxnSpPr>
        <p:spPr>
          <a:xfrm flipV="1">
            <a:off x="6287561" y="4270342"/>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1161EFD2-5BE6-E542-A4FC-024EF9986430}"/>
              </a:ext>
            </a:extLst>
          </p:cNvPr>
          <p:cNvCxnSpPr/>
          <p:nvPr/>
        </p:nvCxnSpPr>
        <p:spPr>
          <a:xfrm flipV="1">
            <a:off x="6822179" y="4270343"/>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572D1418-5917-990A-7002-4582BF39809F}"/>
              </a:ext>
            </a:extLst>
          </p:cNvPr>
          <p:cNvCxnSpPr/>
          <p:nvPr/>
        </p:nvCxnSpPr>
        <p:spPr>
          <a:xfrm flipV="1">
            <a:off x="7356796" y="4270343"/>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31FE56B-51D2-D2E9-F1E5-0C1B6E37CAF5}"/>
              </a:ext>
            </a:extLst>
          </p:cNvPr>
          <p:cNvCxnSpPr/>
          <p:nvPr/>
        </p:nvCxnSpPr>
        <p:spPr>
          <a:xfrm flipV="1">
            <a:off x="7891415" y="4270343"/>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AB5B4853-375D-3415-8034-5D20D6617068}"/>
              </a:ext>
            </a:extLst>
          </p:cNvPr>
          <p:cNvCxnSpPr/>
          <p:nvPr/>
        </p:nvCxnSpPr>
        <p:spPr>
          <a:xfrm flipV="1">
            <a:off x="3614475" y="4270342"/>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3340C32-84A1-E84A-ADAF-286090FE1CA6}"/>
              </a:ext>
            </a:extLst>
          </p:cNvPr>
          <p:cNvCxnSpPr/>
          <p:nvPr/>
        </p:nvCxnSpPr>
        <p:spPr>
          <a:xfrm flipV="1">
            <a:off x="4149092" y="4275057"/>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A9B1F554-4AA9-2F11-0DB3-749F15606485}"/>
              </a:ext>
            </a:extLst>
          </p:cNvPr>
          <p:cNvCxnSpPr/>
          <p:nvPr/>
        </p:nvCxnSpPr>
        <p:spPr>
          <a:xfrm flipV="1">
            <a:off x="3079857" y="4270341"/>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233D620E-4EAA-8723-F64C-F02B648006AF}"/>
              </a:ext>
            </a:extLst>
          </p:cNvPr>
          <p:cNvCxnSpPr/>
          <p:nvPr/>
        </p:nvCxnSpPr>
        <p:spPr>
          <a:xfrm flipV="1">
            <a:off x="2545239" y="2795602"/>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FDE86329-E1DA-83EB-F6C8-6E126550521A}"/>
              </a:ext>
            </a:extLst>
          </p:cNvPr>
          <p:cNvCxnSpPr/>
          <p:nvPr/>
        </p:nvCxnSpPr>
        <p:spPr>
          <a:xfrm flipV="1">
            <a:off x="4683710" y="2795601"/>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0579684E-29D3-6C7F-493F-AC6AC90A7A3B}"/>
              </a:ext>
            </a:extLst>
          </p:cNvPr>
          <p:cNvCxnSpPr/>
          <p:nvPr/>
        </p:nvCxnSpPr>
        <p:spPr>
          <a:xfrm flipV="1">
            <a:off x="5218327" y="2795601"/>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ED5127B9-7106-6B86-D802-D5F8DE1A4E90}"/>
              </a:ext>
            </a:extLst>
          </p:cNvPr>
          <p:cNvCxnSpPr/>
          <p:nvPr/>
        </p:nvCxnSpPr>
        <p:spPr>
          <a:xfrm flipV="1">
            <a:off x="5752944" y="2795601"/>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DB67B08B-AC35-F824-51D1-708FF16D3571}"/>
              </a:ext>
            </a:extLst>
          </p:cNvPr>
          <p:cNvCxnSpPr/>
          <p:nvPr/>
        </p:nvCxnSpPr>
        <p:spPr>
          <a:xfrm flipV="1">
            <a:off x="6287561" y="2795601"/>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C1FD0667-DD38-8AD3-0C39-9DC704B60C73}"/>
              </a:ext>
            </a:extLst>
          </p:cNvPr>
          <p:cNvCxnSpPr/>
          <p:nvPr/>
        </p:nvCxnSpPr>
        <p:spPr>
          <a:xfrm flipV="1">
            <a:off x="6822179" y="2795602"/>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1B883122-61EC-950C-5446-8F7345CA3A74}"/>
              </a:ext>
            </a:extLst>
          </p:cNvPr>
          <p:cNvCxnSpPr/>
          <p:nvPr/>
        </p:nvCxnSpPr>
        <p:spPr>
          <a:xfrm flipV="1">
            <a:off x="7356796" y="2795602"/>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2F310ECF-D865-A196-9D10-F54FAA2D5E64}"/>
              </a:ext>
            </a:extLst>
          </p:cNvPr>
          <p:cNvCxnSpPr/>
          <p:nvPr/>
        </p:nvCxnSpPr>
        <p:spPr>
          <a:xfrm flipV="1">
            <a:off x="7891415" y="2795602"/>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BB7798B5-08E8-2531-AB28-1DC0F9BE9CEA}"/>
              </a:ext>
            </a:extLst>
          </p:cNvPr>
          <p:cNvCxnSpPr/>
          <p:nvPr/>
        </p:nvCxnSpPr>
        <p:spPr>
          <a:xfrm flipV="1">
            <a:off x="3614475" y="2795601"/>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7AA99349-ED8A-F8AF-43EE-97D3AB623DAE}"/>
              </a:ext>
            </a:extLst>
          </p:cNvPr>
          <p:cNvCxnSpPr/>
          <p:nvPr/>
        </p:nvCxnSpPr>
        <p:spPr>
          <a:xfrm flipV="1">
            <a:off x="4149092" y="2800316"/>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8CCB613E-980E-D343-B08B-B82B3D4242A8}"/>
              </a:ext>
            </a:extLst>
          </p:cNvPr>
          <p:cNvCxnSpPr/>
          <p:nvPr/>
        </p:nvCxnSpPr>
        <p:spPr>
          <a:xfrm flipV="1">
            <a:off x="3079857" y="2795601"/>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C974F4AE-CDAC-004D-6E12-B38A79A726A2}"/>
                  </a:ext>
                </a:extLst>
              </p:cNvPr>
              <p:cNvSpPr txBox="1"/>
              <p:nvPr/>
            </p:nvSpPr>
            <p:spPr>
              <a:xfrm>
                <a:off x="2373051" y="2518601"/>
                <a:ext cx="389722"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i="1" dirty="0">
                              <a:latin typeface="Cambria Math" panose="02040503050406030204" pitchFamily="18" charset="0"/>
                            </a:rPr>
                          </m:ctrlPr>
                        </m:sSubPr>
                        <m:e>
                          <m:r>
                            <a:rPr lang="en-US" sz="1350" i="1" dirty="0">
                              <a:latin typeface="Cambria Math" panose="02040503050406030204" pitchFamily="18" charset="0"/>
                            </a:rPr>
                            <m:t>𝑥</m:t>
                          </m:r>
                        </m:e>
                        <m:sub>
                          <m:r>
                            <a:rPr lang="en-US" sz="1350" i="1" dirty="0">
                              <a:latin typeface="Cambria Math" panose="02040503050406030204" pitchFamily="18" charset="0"/>
                            </a:rPr>
                            <m:t>1</m:t>
                          </m:r>
                        </m:sub>
                      </m:sSub>
                    </m:oMath>
                  </m:oMathPara>
                </a14:m>
                <a:endParaRPr sz="1350"/>
              </a:p>
            </p:txBody>
          </p:sp>
        </mc:Choice>
        <mc:Fallback xmlns="">
          <p:sp>
            <p:nvSpPr>
              <p:cNvPr id="43" name="TextBox 42">
                <a:extLst>
                  <a:ext uri="{FF2B5EF4-FFF2-40B4-BE49-F238E27FC236}">
                    <a16:creationId xmlns:a16="http://schemas.microsoft.com/office/drawing/2014/main" id="{C974F4AE-CDAC-004D-6E12-B38A79A726A2}"/>
                  </a:ext>
                </a:extLst>
              </p:cNvPr>
              <p:cNvSpPr txBox="1">
                <a:spLocks noRot="1" noChangeAspect="1" noMove="1" noResize="1" noEditPoints="1" noAdjustHandles="1" noChangeArrowheads="1" noChangeShapeType="1" noTextEdit="1"/>
              </p:cNvSpPr>
              <p:nvPr/>
            </p:nvSpPr>
            <p:spPr>
              <a:xfrm>
                <a:off x="2373051" y="2518601"/>
                <a:ext cx="389722" cy="30008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74161CA8-359C-48C1-D114-218EF0E5FFF0}"/>
                  </a:ext>
                </a:extLst>
              </p:cNvPr>
              <p:cNvSpPr txBox="1"/>
              <p:nvPr/>
            </p:nvSpPr>
            <p:spPr>
              <a:xfrm>
                <a:off x="2916679" y="2514900"/>
                <a:ext cx="393762"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i="1" dirty="0">
                              <a:latin typeface="Cambria Math" panose="02040503050406030204" pitchFamily="18" charset="0"/>
                            </a:rPr>
                          </m:ctrlPr>
                        </m:sSubPr>
                        <m:e>
                          <m:r>
                            <a:rPr lang="en-US" sz="1350" i="1" dirty="0">
                              <a:latin typeface="Cambria Math" panose="02040503050406030204" pitchFamily="18" charset="0"/>
                            </a:rPr>
                            <m:t>𝑥</m:t>
                          </m:r>
                        </m:e>
                        <m:sub>
                          <m:r>
                            <a:rPr lang="en-US" sz="1350" i="1" dirty="0">
                              <a:latin typeface="Cambria Math" panose="02040503050406030204" pitchFamily="18" charset="0"/>
                            </a:rPr>
                            <m:t>2</m:t>
                          </m:r>
                        </m:sub>
                      </m:sSub>
                    </m:oMath>
                  </m:oMathPara>
                </a14:m>
                <a:endParaRPr sz="1350"/>
              </a:p>
            </p:txBody>
          </p:sp>
        </mc:Choice>
        <mc:Fallback xmlns="">
          <p:sp>
            <p:nvSpPr>
              <p:cNvPr id="48" name="TextBox 47">
                <a:extLst>
                  <a:ext uri="{FF2B5EF4-FFF2-40B4-BE49-F238E27FC236}">
                    <a16:creationId xmlns:a16="http://schemas.microsoft.com/office/drawing/2014/main" id="{74161CA8-359C-48C1-D114-218EF0E5FFF0}"/>
                  </a:ext>
                </a:extLst>
              </p:cNvPr>
              <p:cNvSpPr txBox="1">
                <a:spLocks noRot="1" noChangeAspect="1" noMove="1" noResize="1" noEditPoints="1" noAdjustHandles="1" noChangeArrowheads="1" noChangeShapeType="1" noTextEdit="1"/>
              </p:cNvSpPr>
              <p:nvPr/>
            </p:nvSpPr>
            <p:spPr>
              <a:xfrm>
                <a:off x="2916679" y="2514900"/>
                <a:ext cx="393762" cy="30008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0C52F2B-A46F-3F02-FD85-13CBBA63807A}"/>
                  </a:ext>
                </a:extLst>
              </p:cNvPr>
              <p:cNvSpPr txBox="1"/>
              <p:nvPr/>
            </p:nvSpPr>
            <p:spPr>
              <a:xfrm>
                <a:off x="3445570" y="2514900"/>
                <a:ext cx="393762"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i="1" dirty="0">
                              <a:latin typeface="Cambria Math" panose="02040503050406030204" pitchFamily="18" charset="0"/>
                            </a:rPr>
                          </m:ctrlPr>
                        </m:sSubPr>
                        <m:e>
                          <m:r>
                            <a:rPr lang="en-US" sz="1350" i="1" dirty="0">
                              <a:latin typeface="Cambria Math" panose="02040503050406030204" pitchFamily="18" charset="0"/>
                            </a:rPr>
                            <m:t>𝑥</m:t>
                          </m:r>
                        </m:e>
                        <m:sub>
                          <m:r>
                            <a:rPr lang="en-US" sz="1350" i="1" dirty="0">
                              <a:latin typeface="Cambria Math" panose="02040503050406030204" pitchFamily="18" charset="0"/>
                            </a:rPr>
                            <m:t>3</m:t>
                          </m:r>
                        </m:sub>
                      </m:sSub>
                    </m:oMath>
                  </m:oMathPara>
                </a14:m>
                <a:endParaRPr sz="1350"/>
              </a:p>
            </p:txBody>
          </p:sp>
        </mc:Choice>
        <mc:Fallback xmlns="">
          <p:sp>
            <p:nvSpPr>
              <p:cNvPr id="49" name="TextBox 48">
                <a:extLst>
                  <a:ext uri="{FF2B5EF4-FFF2-40B4-BE49-F238E27FC236}">
                    <a16:creationId xmlns:a16="http://schemas.microsoft.com/office/drawing/2014/main" id="{60C52F2B-A46F-3F02-FD85-13CBBA63807A}"/>
                  </a:ext>
                </a:extLst>
              </p:cNvPr>
              <p:cNvSpPr txBox="1">
                <a:spLocks noRot="1" noChangeAspect="1" noMove="1" noResize="1" noEditPoints="1" noAdjustHandles="1" noChangeArrowheads="1" noChangeShapeType="1" noTextEdit="1"/>
              </p:cNvSpPr>
              <p:nvPr/>
            </p:nvSpPr>
            <p:spPr>
              <a:xfrm>
                <a:off x="3445570" y="2514900"/>
                <a:ext cx="393762" cy="30008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24F6D064-3413-D9A6-EEE1-3BF64C6DE547}"/>
                  </a:ext>
                </a:extLst>
              </p:cNvPr>
              <p:cNvSpPr txBox="1"/>
              <p:nvPr/>
            </p:nvSpPr>
            <p:spPr>
              <a:xfrm>
                <a:off x="6115365" y="2513888"/>
                <a:ext cx="393762"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i="1" dirty="0">
                              <a:latin typeface="Cambria Math" panose="02040503050406030204" pitchFamily="18" charset="0"/>
                            </a:rPr>
                          </m:ctrlPr>
                        </m:sSubPr>
                        <m:e>
                          <m:r>
                            <a:rPr lang="en-US" sz="1350" i="1" dirty="0">
                              <a:latin typeface="Cambria Math" panose="02040503050406030204" pitchFamily="18" charset="0"/>
                            </a:rPr>
                            <m:t>𝑥</m:t>
                          </m:r>
                        </m:e>
                        <m:sub>
                          <m:r>
                            <a:rPr lang="en-US" sz="1350" i="1" dirty="0">
                              <a:latin typeface="Cambria Math" panose="02040503050406030204" pitchFamily="18" charset="0"/>
                            </a:rPr>
                            <m:t>8</m:t>
                          </m:r>
                        </m:sub>
                      </m:sSub>
                    </m:oMath>
                  </m:oMathPara>
                </a14:m>
                <a:endParaRPr sz="1350"/>
              </a:p>
            </p:txBody>
          </p:sp>
        </mc:Choice>
        <mc:Fallback xmlns="">
          <p:sp>
            <p:nvSpPr>
              <p:cNvPr id="50" name="TextBox 49">
                <a:extLst>
                  <a:ext uri="{FF2B5EF4-FFF2-40B4-BE49-F238E27FC236}">
                    <a16:creationId xmlns:a16="http://schemas.microsoft.com/office/drawing/2014/main" id="{24F6D064-3413-D9A6-EEE1-3BF64C6DE547}"/>
                  </a:ext>
                </a:extLst>
              </p:cNvPr>
              <p:cNvSpPr txBox="1">
                <a:spLocks noRot="1" noChangeAspect="1" noMove="1" noResize="1" noEditPoints="1" noAdjustHandles="1" noChangeArrowheads="1" noChangeShapeType="1" noTextEdit="1"/>
              </p:cNvSpPr>
              <p:nvPr/>
            </p:nvSpPr>
            <p:spPr>
              <a:xfrm>
                <a:off x="6115365" y="2513888"/>
                <a:ext cx="393762" cy="30008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B7992FA8-65F4-5F5E-25AD-DAE56BCF8060}"/>
                  </a:ext>
                </a:extLst>
              </p:cNvPr>
              <p:cNvSpPr txBox="1"/>
              <p:nvPr/>
            </p:nvSpPr>
            <p:spPr>
              <a:xfrm>
                <a:off x="6649986" y="2513889"/>
                <a:ext cx="38895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i="1" dirty="0">
                              <a:latin typeface="Cambria Math" panose="02040503050406030204" pitchFamily="18" charset="0"/>
                            </a:rPr>
                          </m:ctrlPr>
                        </m:sSubPr>
                        <m:e>
                          <m:r>
                            <a:rPr lang="en-US" sz="1350" i="1" dirty="0">
                              <a:latin typeface="Cambria Math" panose="02040503050406030204" pitchFamily="18" charset="0"/>
                            </a:rPr>
                            <m:t>𝑥</m:t>
                          </m:r>
                        </m:e>
                        <m:sub>
                          <m:r>
                            <a:rPr lang="en-US" sz="1350" i="1" dirty="0">
                              <a:latin typeface="Cambria Math" panose="02040503050406030204" pitchFamily="18" charset="0"/>
                            </a:rPr>
                            <m:t>9</m:t>
                          </m:r>
                        </m:sub>
                      </m:sSub>
                    </m:oMath>
                  </m:oMathPara>
                </a14:m>
                <a:endParaRPr sz="1350"/>
              </a:p>
            </p:txBody>
          </p:sp>
        </mc:Choice>
        <mc:Fallback xmlns="">
          <p:sp>
            <p:nvSpPr>
              <p:cNvPr id="51" name="TextBox 50">
                <a:extLst>
                  <a:ext uri="{FF2B5EF4-FFF2-40B4-BE49-F238E27FC236}">
                    <a16:creationId xmlns:a16="http://schemas.microsoft.com/office/drawing/2014/main" id="{B7992FA8-65F4-5F5E-25AD-DAE56BCF8060}"/>
                  </a:ext>
                </a:extLst>
              </p:cNvPr>
              <p:cNvSpPr txBox="1">
                <a:spLocks noRot="1" noChangeAspect="1" noMove="1" noResize="1" noEditPoints="1" noAdjustHandles="1" noChangeArrowheads="1" noChangeShapeType="1" noTextEdit="1"/>
              </p:cNvSpPr>
              <p:nvPr/>
            </p:nvSpPr>
            <p:spPr>
              <a:xfrm>
                <a:off x="6649986" y="2513889"/>
                <a:ext cx="388953" cy="30008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5312130A-A52F-DA7D-1BB1-CB67FF3E86E1}"/>
                  </a:ext>
                </a:extLst>
              </p:cNvPr>
              <p:cNvSpPr txBox="1"/>
              <p:nvPr/>
            </p:nvSpPr>
            <p:spPr>
              <a:xfrm>
                <a:off x="7184606" y="2514900"/>
                <a:ext cx="463460"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i="1" dirty="0">
                              <a:latin typeface="Cambria Math" panose="02040503050406030204" pitchFamily="18" charset="0"/>
                            </a:rPr>
                          </m:ctrlPr>
                        </m:sSubPr>
                        <m:e>
                          <m:r>
                            <a:rPr lang="en-US" sz="1350" i="1" dirty="0">
                              <a:latin typeface="Cambria Math" panose="02040503050406030204" pitchFamily="18" charset="0"/>
                            </a:rPr>
                            <m:t>𝑥</m:t>
                          </m:r>
                        </m:e>
                        <m:sub>
                          <m:r>
                            <a:rPr lang="en-US" sz="1350" i="1" dirty="0">
                              <a:latin typeface="Cambria Math" panose="02040503050406030204" pitchFamily="18" charset="0"/>
                            </a:rPr>
                            <m:t>10</m:t>
                          </m:r>
                        </m:sub>
                      </m:sSub>
                    </m:oMath>
                  </m:oMathPara>
                </a14:m>
                <a:endParaRPr sz="1350"/>
              </a:p>
            </p:txBody>
          </p:sp>
        </mc:Choice>
        <mc:Fallback xmlns="">
          <p:sp>
            <p:nvSpPr>
              <p:cNvPr id="52" name="TextBox 51">
                <a:extLst>
                  <a:ext uri="{FF2B5EF4-FFF2-40B4-BE49-F238E27FC236}">
                    <a16:creationId xmlns:a16="http://schemas.microsoft.com/office/drawing/2014/main" id="{5312130A-A52F-DA7D-1BB1-CB67FF3E86E1}"/>
                  </a:ext>
                </a:extLst>
              </p:cNvPr>
              <p:cNvSpPr txBox="1">
                <a:spLocks noRot="1" noChangeAspect="1" noMove="1" noResize="1" noEditPoints="1" noAdjustHandles="1" noChangeArrowheads="1" noChangeShapeType="1" noTextEdit="1"/>
              </p:cNvSpPr>
              <p:nvPr/>
            </p:nvSpPr>
            <p:spPr>
              <a:xfrm>
                <a:off x="7184606" y="2514900"/>
                <a:ext cx="463460" cy="30008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3AA0DD7A-368C-A8B6-C595-A4D91FF057B1}"/>
                  </a:ext>
                </a:extLst>
              </p:cNvPr>
              <p:cNvSpPr txBox="1"/>
              <p:nvPr/>
            </p:nvSpPr>
            <p:spPr>
              <a:xfrm>
                <a:off x="7719226" y="2514900"/>
                <a:ext cx="463460"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i="1" dirty="0">
                              <a:latin typeface="Cambria Math" panose="02040503050406030204" pitchFamily="18" charset="0"/>
                            </a:rPr>
                          </m:ctrlPr>
                        </m:sSubPr>
                        <m:e>
                          <m:r>
                            <a:rPr lang="en-US" sz="1350" i="1" dirty="0">
                              <a:latin typeface="Cambria Math" panose="02040503050406030204" pitchFamily="18" charset="0"/>
                            </a:rPr>
                            <m:t>𝑥</m:t>
                          </m:r>
                        </m:e>
                        <m:sub>
                          <m:r>
                            <a:rPr lang="en-US" sz="1350" i="1" dirty="0">
                              <a:latin typeface="Cambria Math" panose="02040503050406030204" pitchFamily="18" charset="0"/>
                            </a:rPr>
                            <m:t>11</m:t>
                          </m:r>
                        </m:sub>
                      </m:sSub>
                    </m:oMath>
                  </m:oMathPara>
                </a14:m>
                <a:endParaRPr sz="1350"/>
              </a:p>
            </p:txBody>
          </p:sp>
        </mc:Choice>
        <mc:Fallback xmlns="">
          <p:sp>
            <p:nvSpPr>
              <p:cNvPr id="53" name="TextBox 52">
                <a:extLst>
                  <a:ext uri="{FF2B5EF4-FFF2-40B4-BE49-F238E27FC236}">
                    <a16:creationId xmlns:a16="http://schemas.microsoft.com/office/drawing/2014/main" id="{3AA0DD7A-368C-A8B6-C595-A4D91FF057B1}"/>
                  </a:ext>
                </a:extLst>
              </p:cNvPr>
              <p:cNvSpPr txBox="1">
                <a:spLocks noRot="1" noChangeAspect="1" noMove="1" noResize="1" noEditPoints="1" noAdjustHandles="1" noChangeArrowheads="1" noChangeShapeType="1" noTextEdit="1"/>
              </p:cNvSpPr>
              <p:nvPr/>
            </p:nvSpPr>
            <p:spPr>
              <a:xfrm>
                <a:off x="7719226" y="2514900"/>
                <a:ext cx="463460" cy="30008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78661EE2-10C9-2EFC-6222-AF2D60DA09C1}"/>
                  </a:ext>
                </a:extLst>
              </p:cNvPr>
              <p:cNvSpPr txBox="1"/>
              <p:nvPr/>
            </p:nvSpPr>
            <p:spPr>
              <a:xfrm>
                <a:off x="3976884" y="2509894"/>
                <a:ext cx="393762"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i="1" dirty="0">
                              <a:latin typeface="Cambria Math" panose="02040503050406030204" pitchFamily="18" charset="0"/>
                            </a:rPr>
                          </m:ctrlPr>
                        </m:sSubPr>
                        <m:e>
                          <m:r>
                            <a:rPr lang="en-US" sz="1350" i="1" dirty="0">
                              <a:latin typeface="Cambria Math" panose="02040503050406030204" pitchFamily="18" charset="0"/>
                            </a:rPr>
                            <m:t>𝑥</m:t>
                          </m:r>
                        </m:e>
                        <m:sub>
                          <m:r>
                            <a:rPr lang="en-US" sz="1350" i="1" dirty="0">
                              <a:latin typeface="Cambria Math" panose="02040503050406030204" pitchFamily="18" charset="0"/>
                            </a:rPr>
                            <m:t>4</m:t>
                          </m:r>
                        </m:sub>
                      </m:sSub>
                    </m:oMath>
                  </m:oMathPara>
                </a14:m>
                <a:endParaRPr sz="1350"/>
              </a:p>
            </p:txBody>
          </p:sp>
        </mc:Choice>
        <mc:Fallback xmlns="">
          <p:sp>
            <p:nvSpPr>
              <p:cNvPr id="54" name="TextBox 53">
                <a:extLst>
                  <a:ext uri="{FF2B5EF4-FFF2-40B4-BE49-F238E27FC236}">
                    <a16:creationId xmlns:a16="http://schemas.microsoft.com/office/drawing/2014/main" id="{78661EE2-10C9-2EFC-6222-AF2D60DA09C1}"/>
                  </a:ext>
                </a:extLst>
              </p:cNvPr>
              <p:cNvSpPr txBox="1">
                <a:spLocks noRot="1" noChangeAspect="1" noMove="1" noResize="1" noEditPoints="1" noAdjustHandles="1" noChangeArrowheads="1" noChangeShapeType="1" noTextEdit="1"/>
              </p:cNvSpPr>
              <p:nvPr/>
            </p:nvSpPr>
            <p:spPr>
              <a:xfrm>
                <a:off x="3976884" y="2509894"/>
                <a:ext cx="393762" cy="30008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B8206D8-C211-0E76-6520-4A38A306AE7D}"/>
                  </a:ext>
                </a:extLst>
              </p:cNvPr>
              <p:cNvSpPr txBox="1"/>
              <p:nvPr/>
            </p:nvSpPr>
            <p:spPr>
              <a:xfrm>
                <a:off x="4511504" y="2509895"/>
                <a:ext cx="393762"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i="1" dirty="0">
                              <a:latin typeface="Cambria Math" panose="02040503050406030204" pitchFamily="18" charset="0"/>
                            </a:rPr>
                          </m:ctrlPr>
                        </m:sSubPr>
                        <m:e>
                          <m:r>
                            <a:rPr lang="en-US" sz="1350" i="1" dirty="0">
                              <a:latin typeface="Cambria Math" panose="02040503050406030204" pitchFamily="18" charset="0"/>
                            </a:rPr>
                            <m:t>𝑥</m:t>
                          </m:r>
                        </m:e>
                        <m:sub>
                          <m:r>
                            <a:rPr lang="en-US" sz="1350" i="1" dirty="0">
                              <a:latin typeface="Cambria Math" panose="02040503050406030204" pitchFamily="18" charset="0"/>
                            </a:rPr>
                            <m:t>5</m:t>
                          </m:r>
                        </m:sub>
                      </m:sSub>
                    </m:oMath>
                  </m:oMathPara>
                </a14:m>
                <a:endParaRPr sz="1350"/>
              </a:p>
            </p:txBody>
          </p:sp>
        </mc:Choice>
        <mc:Fallback xmlns="">
          <p:sp>
            <p:nvSpPr>
              <p:cNvPr id="55" name="TextBox 54">
                <a:extLst>
                  <a:ext uri="{FF2B5EF4-FFF2-40B4-BE49-F238E27FC236}">
                    <a16:creationId xmlns:a16="http://schemas.microsoft.com/office/drawing/2014/main" id="{4B8206D8-C211-0E76-6520-4A38A306AE7D}"/>
                  </a:ext>
                </a:extLst>
              </p:cNvPr>
              <p:cNvSpPr txBox="1">
                <a:spLocks noRot="1" noChangeAspect="1" noMove="1" noResize="1" noEditPoints="1" noAdjustHandles="1" noChangeArrowheads="1" noChangeShapeType="1" noTextEdit="1"/>
              </p:cNvSpPr>
              <p:nvPr/>
            </p:nvSpPr>
            <p:spPr>
              <a:xfrm>
                <a:off x="4511504" y="2509895"/>
                <a:ext cx="393762" cy="30008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6B7DBC5-11D3-CD76-CFC6-659B3A8B72F1}"/>
                  </a:ext>
                </a:extLst>
              </p:cNvPr>
              <p:cNvSpPr txBox="1"/>
              <p:nvPr/>
            </p:nvSpPr>
            <p:spPr>
              <a:xfrm>
                <a:off x="5046124" y="2510906"/>
                <a:ext cx="393762"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i="1" dirty="0">
                              <a:latin typeface="Cambria Math" panose="02040503050406030204" pitchFamily="18" charset="0"/>
                            </a:rPr>
                          </m:ctrlPr>
                        </m:sSubPr>
                        <m:e>
                          <m:r>
                            <a:rPr lang="en-US" sz="1350" i="1" dirty="0">
                              <a:latin typeface="Cambria Math" panose="02040503050406030204" pitchFamily="18" charset="0"/>
                            </a:rPr>
                            <m:t>𝑥</m:t>
                          </m:r>
                        </m:e>
                        <m:sub>
                          <m:r>
                            <a:rPr lang="en-US" sz="1350" i="1" dirty="0">
                              <a:latin typeface="Cambria Math" panose="02040503050406030204" pitchFamily="18" charset="0"/>
                            </a:rPr>
                            <m:t>6</m:t>
                          </m:r>
                        </m:sub>
                      </m:sSub>
                    </m:oMath>
                  </m:oMathPara>
                </a14:m>
                <a:endParaRPr sz="1350"/>
              </a:p>
            </p:txBody>
          </p:sp>
        </mc:Choice>
        <mc:Fallback xmlns="">
          <p:sp>
            <p:nvSpPr>
              <p:cNvPr id="56" name="TextBox 55">
                <a:extLst>
                  <a:ext uri="{FF2B5EF4-FFF2-40B4-BE49-F238E27FC236}">
                    <a16:creationId xmlns:a16="http://schemas.microsoft.com/office/drawing/2014/main" id="{F6B7DBC5-11D3-CD76-CFC6-659B3A8B72F1}"/>
                  </a:ext>
                </a:extLst>
              </p:cNvPr>
              <p:cNvSpPr txBox="1">
                <a:spLocks noRot="1" noChangeAspect="1" noMove="1" noResize="1" noEditPoints="1" noAdjustHandles="1" noChangeArrowheads="1" noChangeShapeType="1" noTextEdit="1"/>
              </p:cNvSpPr>
              <p:nvPr/>
            </p:nvSpPr>
            <p:spPr>
              <a:xfrm>
                <a:off x="5046124" y="2510906"/>
                <a:ext cx="393762" cy="30008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089424C9-9C04-50C8-8EE9-F3652DBBAA93}"/>
                  </a:ext>
                </a:extLst>
              </p:cNvPr>
              <p:cNvSpPr txBox="1"/>
              <p:nvPr/>
            </p:nvSpPr>
            <p:spPr>
              <a:xfrm>
                <a:off x="5580745" y="2510906"/>
                <a:ext cx="393762"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i="1" dirty="0">
                              <a:latin typeface="Cambria Math" panose="02040503050406030204" pitchFamily="18" charset="0"/>
                            </a:rPr>
                          </m:ctrlPr>
                        </m:sSubPr>
                        <m:e>
                          <m:r>
                            <a:rPr lang="en-US" sz="1350" i="1" dirty="0">
                              <a:latin typeface="Cambria Math" panose="02040503050406030204" pitchFamily="18" charset="0"/>
                            </a:rPr>
                            <m:t>𝑥</m:t>
                          </m:r>
                        </m:e>
                        <m:sub>
                          <m:r>
                            <a:rPr lang="en-US" sz="1350" i="1" dirty="0">
                              <a:latin typeface="Cambria Math" panose="02040503050406030204" pitchFamily="18" charset="0"/>
                            </a:rPr>
                            <m:t>7</m:t>
                          </m:r>
                        </m:sub>
                      </m:sSub>
                    </m:oMath>
                  </m:oMathPara>
                </a14:m>
                <a:endParaRPr sz="1350"/>
              </a:p>
            </p:txBody>
          </p:sp>
        </mc:Choice>
        <mc:Fallback xmlns="">
          <p:sp>
            <p:nvSpPr>
              <p:cNvPr id="57" name="TextBox 56">
                <a:extLst>
                  <a:ext uri="{FF2B5EF4-FFF2-40B4-BE49-F238E27FC236}">
                    <a16:creationId xmlns:a16="http://schemas.microsoft.com/office/drawing/2014/main" id="{089424C9-9C04-50C8-8EE9-F3652DBBAA93}"/>
                  </a:ext>
                </a:extLst>
              </p:cNvPr>
              <p:cNvSpPr txBox="1">
                <a:spLocks noRot="1" noChangeAspect="1" noMove="1" noResize="1" noEditPoints="1" noAdjustHandles="1" noChangeArrowheads="1" noChangeShapeType="1" noTextEdit="1"/>
              </p:cNvSpPr>
              <p:nvPr/>
            </p:nvSpPr>
            <p:spPr>
              <a:xfrm>
                <a:off x="5580745" y="2510906"/>
                <a:ext cx="393762" cy="300082"/>
              </a:xfrm>
              <a:prstGeom prst="rect">
                <a:avLst/>
              </a:prstGeom>
              <a:blipFill>
                <a:blip r:embed="rId13"/>
                <a:stretch>
                  <a:fillRect/>
                </a:stretch>
              </a:blipFill>
            </p:spPr>
            <p:txBody>
              <a:bodyPr/>
              <a:lstStyle/>
              <a:p>
                <a:r>
                  <a:rPr lang="en-US">
                    <a:noFill/>
                  </a:rPr>
                  <a:t> </a:t>
                </a:r>
              </a:p>
            </p:txBody>
          </p:sp>
        </mc:Fallback>
      </mc:AlternateContent>
      <p:sp>
        <p:nvSpPr>
          <p:cNvPr id="58" name="TextBox 57">
            <a:extLst>
              <a:ext uri="{FF2B5EF4-FFF2-40B4-BE49-F238E27FC236}">
                <a16:creationId xmlns:a16="http://schemas.microsoft.com/office/drawing/2014/main" id="{9E41B56C-233F-812D-35B9-DFCEFE6642B6}"/>
              </a:ext>
            </a:extLst>
          </p:cNvPr>
          <p:cNvSpPr txBox="1"/>
          <p:nvPr/>
        </p:nvSpPr>
        <p:spPr>
          <a:xfrm>
            <a:off x="426411" y="4592656"/>
            <a:ext cx="1063881" cy="300082"/>
          </a:xfrm>
          <a:prstGeom prst="rect">
            <a:avLst/>
          </a:prstGeom>
          <a:noFill/>
        </p:spPr>
        <p:txBody>
          <a:bodyPr wrap="none" rtlCol="0">
            <a:spAutoFit/>
          </a:bodyPr>
          <a:lstStyle/>
          <a:p>
            <a:r>
              <a:rPr lang="en-US" sz="1350" dirty="0"/>
              <a:t>Input tokens</a:t>
            </a:r>
          </a:p>
        </p:txBody>
      </p:sp>
      <p:sp>
        <p:nvSpPr>
          <p:cNvPr id="59" name="TextBox 58">
            <a:extLst>
              <a:ext uri="{FF2B5EF4-FFF2-40B4-BE49-F238E27FC236}">
                <a16:creationId xmlns:a16="http://schemas.microsoft.com/office/drawing/2014/main" id="{876DA3E9-F1A2-0D0B-4E2D-FBA2F755870D}"/>
              </a:ext>
            </a:extLst>
          </p:cNvPr>
          <p:cNvSpPr txBox="1"/>
          <p:nvPr/>
        </p:nvSpPr>
        <p:spPr>
          <a:xfrm>
            <a:off x="425095" y="2411026"/>
            <a:ext cx="1295226" cy="507831"/>
          </a:xfrm>
          <a:prstGeom prst="rect">
            <a:avLst/>
          </a:prstGeom>
          <a:noFill/>
        </p:spPr>
        <p:txBody>
          <a:bodyPr wrap="none" rtlCol="0">
            <a:spAutoFit/>
          </a:bodyPr>
          <a:lstStyle/>
          <a:p>
            <a:r>
              <a:rPr lang="en-US" sz="1350" dirty="0"/>
              <a:t>Output</a:t>
            </a:r>
          </a:p>
          <a:p>
            <a:r>
              <a:rPr lang="en-US" sz="1350" dirty="0"/>
              <a:t>representations</a:t>
            </a:r>
          </a:p>
        </p:txBody>
      </p:sp>
      <p:sp>
        <p:nvSpPr>
          <p:cNvPr id="3" name="Rounded Rectangle 2">
            <a:extLst>
              <a:ext uri="{FF2B5EF4-FFF2-40B4-BE49-F238E27FC236}">
                <a16:creationId xmlns:a16="http://schemas.microsoft.com/office/drawing/2014/main" id="{89DF48D8-380A-EDA9-2753-87FC9FB81BB9}"/>
              </a:ext>
            </a:extLst>
          </p:cNvPr>
          <p:cNvSpPr/>
          <p:nvPr/>
        </p:nvSpPr>
        <p:spPr>
          <a:xfrm>
            <a:off x="2280794" y="1804148"/>
            <a:ext cx="525219" cy="42837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350" dirty="0"/>
              <a:t>TPH</a:t>
            </a:r>
          </a:p>
        </p:txBody>
      </p:sp>
      <p:cxnSp>
        <p:nvCxnSpPr>
          <p:cNvPr id="6" name="Straight Arrow Connector 5">
            <a:extLst>
              <a:ext uri="{FF2B5EF4-FFF2-40B4-BE49-F238E27FC236}">
                <a16:creationId xmlns:a16="http://schemas.microsoft.com/office/drawing/2014/main" id="{A78A5B8C-8779-82E7-BA52-AF0B92F5FF0E}"/>
              </a:ext>
            </a:extLst>
          </p:cNvPr>
          <p:cNvCxnSpPr/>
          <p:nvPr/>
        </p:nvCxnSpPr>
        <p:spPr>
          <a:xfrm flipV="1">
            <a:off x="2537004" y="2234373"/>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2" name="Title 1">
            <a:extLst>
              <a:ext uri="{FF2B5EF4-FFF2-40B4-BE49-F238E27FC236}">
                <a16:creationId xmlns:a16="http://schemas.microsoft.com/office/drawing/2014/main" id="{8F8F9254-ADE1-4E7F-B10D-8EB55681008F}"/>
              </a:ext>
            </a:extLst>
          </p:cNvPr>
          <p:cNvSpPr>
            <a:spLocks noGrp="1"/>
          </p:cNvSpPr>
          <p:nvPr>
            <p:ph type="title"/>
          </p:nvPr>
        </p:nvSpPr>
        <p:spPr>
          <a:xfrm>
            <a:off x="628650" y="273844"/>
            <a:ext cx="7886700" cy="994172"/>
          </a:xfrm>
        </p:spPr>
        <p:txBody>
          <a:bodyPr/>
          <a:lstStyle/>
          <a:p>
            <a:r>
              <a:rPr lang="en-US" dirty="0"/>
              <a:t>(A look under the hood)</a:t>
            </a:r>
            <a:br>
              <a:rPr lang="en-US" dirty="0"/>
            </a:br>
            <a:r>
              <a:rPr lang="en-US" sz="1800" dirty="0"/>
              <a:t>TPH = “token prediction head”</a:t>
            </a:r>
            <a:endParaRPr lang="en-US" dirty="0"/>
          </a:p>
        </p:txBody>
      </p:sp>
      <p:sp>
        <p:nvSpPr>
          <p:cNvPr id="21" name="Rounded Rectangle 20">
            <a:extLst>
              <a:ext uri="{FF2B5EF4-FFF2-40B4-BE49-F238E27FC236}">
                <a16:creationId xmlns:a16="http://schemas.microsoft.com/office/drawing/2014/main" id="{B8AA720C-5BBE-C620-DA73-8668B3CE055E}"/>
              </a:ext>
            </a:extLst>
          </p:cNvPr>
          <p:cNvSpPr/>
          <p:nvPr/>
        </p:nvSpPr>
        <p:spPr>
          <a:xfrm>
            <a:off x="2822482" y="1804148"/>
            <a:ext cx="528890" cy="42837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350" dirty="0"/>
              <a:t>TPH</a:t>
            </a:r>
          </a:p>
        </p:txBody>
      </p:sp>
      <p:cxnSp>
        <p:nvCxnSpPr>
          <p:cNvPr id="23" name="Straight Arrow Connector 22">
            <a:extLst>
              <a:ext uri="{FF2B5EF4-FFF2-40B4-BE49-F238E27FC236}">
                <a16:creationId xmlns:a16="http://schemas.microsoft.com/office/drawing/2014/main" id="{8B7A57AE-86AC-C7D3-8AAB-51C1912CA248}"/>
              </a:ext>
            </a:extLst>
          </p:cNvPr>
          <p:cNvCxnSpPr/>
          <p:nvPr/>
        </p:nvCxnSpPr>
        <p:spPr>
          <a:xfrm flipV="1">
            <a:off x="3078692" y="2234373"/>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a:extLst>
              <a:ext uri="{FF2B5EF4-FFF2-40B4-BE49-F238E27FC236}">
                <a16:creationId xmlns:a16="http://schemas.microsoft.com/office/drawing/2014/main" id="{C14E441C-C234-B19D-C3D1-FB4288A06F04}"/>
              </a:ext>
            </a:extLst>
          </p:cNvPr>
          <p:cNvSpPr/>
          <p:nvPr/>
        </p:nvSpPr>
        <p:spPr>
          <a:xfrm>
            <a:off x="3360914" y="1804148"/>
            <a:ext cx="525219" cy="42837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350" dirty="0"/>
              <a:t>TPH</a:t>
            </a:r>
          </a:p>
        </p:txBody>
      </p:sp>
      <p:cxnSp>
        <p:nvCxnSpPr>
          <p:cNvPr id="25" name="Straight Arrow Connector 24">
            <a:extLst>
              <a:ext uri="{FF2B5EF4-FFF2-40B4-BE49-F238E27FC236}">
                <a16:creationId xmlns:a16="http://schemas.microsoft.com/office/drawing/2014/main" id="{4C180531-E390-09C4-57AF-CFBB69E055B6}"/>
              </a:ext>
            </a:extLst>
          </p:cNvPr>
          <p:cNvCxnSpPr/>
          <p:nvPr/>
        </p:nvCxnSpPr>
        <p:spPr>
          <a:xfrm flipV="1">
            <a:off x="3617123" y="2234373"/>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a:extLst>
              <a:ext uri="{FF2B5EF4-FFF2-40B4-BE49-F238E27FC236}">
                <a16:creationId xmlns:a16="http://schemas.microsoft.com/office/drawing/2014/main" id="{73A08DF0-D9CA-9B96-4573-58C02EAC485D}"/>
              </a:ext>
            </a:extLst>
          </p:cNvPr>
          <p:cNvSpPr/>
          <p:nvPr/>
        </p:nvSpPr>
        <p:spPr>
          <a:xfrm>
            <a:off x="3902602" y="1804148"/>
            <a:ext cx="528890" cy="42837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350" dirty="0"/>
              <a:t>TPH</a:t>
            </a:r>
          </a:p>
        </p:txBody>
      </p:sp>
      <p:cxnSp>
        <p:nvCxnSpPr>
          <p:cNvPr id="27" name="Straight Arrow Connector 26">
            <a:extLst>
              <a:ext uri="{FF2B5EF4-FFF2-40B4-BE49-F238E27FC236}">
                <a16:creationId xmlns:a16="http://schemas.microsoft.com/office/drawing/2014/main" id="{EB02646E-766F-0798-8E3B-AC27C841C86E}"/>
              </a:ext>
            </a:extLst>
          </p:cNvPr>
          <p:cNvCxnSpPr/>
          <p:nvPr/>
        </p:nvCxnSpPr>
        <p:spPr>
          <a:xfrm flipV="1">
            <a:off x="4158812" y="2234373"/>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a:extLst>
              <a:ext uri="{FF2B5EF4-FFF2-40B4-BE49-F238E27FC236}">
                <a16:creationId xmlns:a16="http://schemas.microsoft.com/office/drawing/2014/main" id="{21A96F7C-6586-5EDA-42A3-0344E700BCB9}"/>
              </a:ext>
            </a:extLst>
          </p:cNvPr>
          <p:cNvSpPr/>
          <p:nvPr/>
        </p:nvSpPr>
        <p:spPr>
          <a:xfrm>
            <a:off x="4444288" y="1804148"/>
            <a:ext cx="528890" cy="42837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350" dirty="0"/>
              <a:t>TPH</a:t>
            </a:r>
          </a:p>
        </p:txBody>
      </p:sp>
      <p:cxnSp>
        <p:nvCxnSpPr>
          <p:cNvPr id="29" name="Straight Arrow Connector 28">
            <a:extLst>
              <a:ext uri="{FF2B5EF4-FFF2-40B4-BE49-F238E27FC236}">
                <a16:creationId xmlns:a16="http://schemas.microsoft.com/office/drawing/2014/main" id="{0977BFD6-248D-D3E3-5604-19BAC65FE7BC}"/>
              </a:ext>
            </a:extLst>
          </p:cNvPr>
          <p:cNvCxnSpPr/>
          <p:nvPr/>
        </p:nvCxnSpPr>
        <p:spPr>
          <a:xfrm flipV="1">
            <a:off x="4694388" y="2234373"/>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a:extLst>
              <a:ext uri="{FF2B5EF4-FFF2-40B4-BE49-F238E27FC236}">
                <a16:creationId xmlns:a16="http://schemas.microsoft.com/office/drawing/2014/main" id="{F77A6A99-893B-D9E5-A927-EF363960C2F9}"/>
              </a:ext>
            </a:extLst>
          </p:cNvPr>
          <p:cNvSpPr/>
          <p:nvPr/>
        </p:nvSpPr>
        <p:spPr>
          <a:xfrm>
            <a:off x="4979866" y="1804148"/>
            <a:ext cx="528890" cy="42837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350" dirty="0"/>
              <a:t>TPH</a:t>
            </a:r>
          </a:p>
        </p:txBody>
      </p:sp>
      <p:cxnSp>
        <p:nvCxnSpPr>
          <p:cNvPr id="31" name="Straight Arrow Connector 30">
            <a:extLst>
              <a:ext uri="{FF2B5EF4-FFF2-40B4-BE49-F238E27FC236}">
                <a16:creationId xmlns:a16="http://schemas.microsoft.com/office/drawing/2014/main" id="{46903AF7-8D79-9B3F-6CC0-6C77CBEAD868}"/>
              </a:ext>
            </a:extLst>
          </p:cNvPr>
          <p:cNvCxnSpPr/>
          <p:nvPr/>
        </p:nvCxnSpPr>
        <p:spPr>
          <a:xfrm flipV="1">
            <a:off x="5236076" y="2234373"/>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a:extLst>
              <a:ext uri="{FF2B5EF4-FFF2-40B4-BE49-F238E27FC236}">
                <a16:creationId xmlns:a16="http://schemas.microsoft.com/office/drawing/2014/main" id="{83B7F8D2-AC55-1581-2274-EF40C9329B27}"/>
              </a:ext>
            </a:extLst>
          </p:cNvPr>
          <p:cNvSpPr/>
          <p:nvPr/>
        </p:nvSpPr>
        <p:spPr>
          <a:xfrm>
            <a:off x="5518298" y="1804148"/>
            <a:ext cx="525219" cy="42837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350" dirty="0"/>
              <a:t>TPH</a:t>
            </a:r>
          </a:p>
        </p:txBody>
      </p:sp>
      <p:cxnSp>
        <p:nvCxnSpPr>
          <p:cNvPr id="45" name="Straight Arrow Connector 44">
            <a:extLst>
              <a:ext uri="{FF2B5EF4-FFF2-40B4-BE49-F238E27FC236}">
                <a16:creationId xmlns:a16="http://schemas.microsoft.com/office/drawing/2014/main" id="{DFB6C31E-53DF-C6AF-AA4F-5658436B46FF}"/>
              </a:ext>
            </a:extLst>
          </p:cNvPr>
          <p:cNvCxnSpPr/>
          <p:nvPr/>
        </p:nvCxnSpPr>
        <p:spPr>
          <a:xfrm flipV="1">
            <a:off x="5774507" y="2234373"/>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6" name="Rounded Rectangle 45">
            <a:extLst>
              <a:ext uri="{FF2B5EF4-FFF2-40B4-BE49-F238E27FC236}">
                <a16:creationId xmlns:a16="http://schemas.microsoft.com/office/drawing/2014/main" id="{B7ECA893-AC7B-CE96-836A-715984C52CC3}"/>
              </a:ext>
            </a:extLst>
          </p:cNvPr>
          <p:cNvSpPr/>
          <p:nvPr/>
        </p:nvSpPr>
        <p:spPr>
          <a:xfrm>
            <a:off x="6059985" y="1804148"/>
            <a:ext cx="507922" cy="42837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350" dirty="0"/>
              <a:t>TPH</a:t>
            </a:r>
          </a:p>
        </p:txBody>
      </p:sp>
      <p:cxnSp>
        <p:nvCxnSpPr>
          <p:cNvPr id="47" name="Straight Arrow Connector 46">
            <a:extLst>
              <a:ext uri="{FF2B5EF4-FFF2-40B4-BE49-F238E27FC236}">
                <a16:creationId xmlns:a16="http://schemas.microsoft.com/office/drawing/2014/main" id="{37702879-6991-5A03-022B-CB886A7667E2}"/>
              </a:ext>
            </a:extLst>
          </p:cNvPr>
          <p:cNvCxnSpPr/>
          <p:nvPr/>
        </p:nvCxnSpPr>
        <p:spPr>
          <a:xfrm flipV="1">
            <a:off x="6316196" y="2234373"/>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0" name="Rounded Rectangle 59">
            <a:extLst>
              <a:ext uri="{FF2B5EF4-FFF2-40B4-BE49-F238E27FC236}">
                <a16:creationId xmlns:a16="http://schemas.microsoft.com/office/drawing/2014/main" id="{9DDB64F3-9CEA-5C6D-9918-4E45CE9897EE}"/>
              </a:ext>
            </a:extLst>
          </p:cNvPr>
          <p:cNvSpPr/>
          <p:nvPr/>
        </p:nvSpPr>
        <p:spPr>
          <a:xfrm>
            <a:off x="6574594" y="1804148"/>
            <a:ext cx="528890" cy="42837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350" dirty="0"/>
              <a:t>TPH</a:t>
            </a:r>
          </a:p>
        </p:txBody>
      </p:sp>
      <p:cxnSp>
        <p:nvCxnSpPr>
          <p:cNvPr id="61" name="Straight Arrow Connector 60">
            <a:extLst>
              <a:ext uri="{FF2B5EF4-FFF2-40B4-BE49-F238E27FC236}">
                <a16:creationId xmlns:a16="http://schemas.microsoft.com/office/drawing/2014/main" id="{8EF66E8A-57C3-26C3-8086-C72260BF7A95}"/>
              </a:ext>
            </a:extLst>
          </p:cNvPr>
          <p:cNvCxnSpPr/>
          <p:nvPr/>
        </p:nvCxnSpPr>
        <p:spPr>
          <a:xfrm flipV="1">
            <a:off x="6830804" y="2234373"/>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2" name="Rounded Rectangle 61">
            <a:extLst>
              <a:ext uri="{FF2B5EF4-FFF2-40B4-BE49-F238E27FC236}">
                <a16:creationId xmlns:a16="http://schemas.microsoft.com/office/drawing/2014/main" id="{806C9FED-51CC-4501-A05F-0561B595C4D5}"/>
              </a:ext>
            </a:extLst>
          </p:cNvPr>
          <p:cNvSpPr/>
          <p:nvPr/>
        </p:nvSpPr>
        <p:spPr>
          <a:xfrm>
            <a:off x="7113026" y="1804148"/>
            <a:ext cx="525219" cy="42837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350" dirty="0"/>
              <a:t>TPH</a:t>
            </a:r>
          </a:p>
        </p:txBody>
      </p:sp>
      <p:cxnSp>
        <p:nvCxnSpPr>
          <p:cNvPr id="63" name="Straight Arrow Connector 62">
            <a:extLst>
              <a:ext uri="{FF2B5EF4-FFF2-40B4-BE49-F238E27FC236}">
                <a16:creationId xmlns:a16="http://schemas.microsoft.com/office/drawing/2014/main" id="{3BBAF10C-20A1-90C0-4DAD-88181AAF084F}"/>
              </a:ext>
            </a:extLst>
          </p:cNvPr>
          <p:cNvCxnSpPr/>
          <p:nvPr/>
        </p:nvCxnSpPr>
        <p:spPr>
          <a:xfrm flipV="1">
            <a:off x="7369235" y="2234373"/>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4" name="Rounded Rectangle 63">
            <a:extLst>
              <a:ext uri="{FF2B5EF4-FFF2-40B4-BE49-F238E27FC236}">
                <a16:creationId xmlns:a16="http://schemas.microsoft.com/office/drawing/2014/main" id="{D1D763CF-0EBB-62D0-052E-EFFB7CC0BA87}"/>
              </a:ext>
            </a:extLst>
          </p:cNvPr>
          <p:cNvSpPr/>
          <p:nvPr/>
        </p:nvSpPr>
        <p:spPr>
          <a:xfrm>
            <a:off x="7654714" y="1804148"/>
            <a:ext cx="528890" cy="42837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350" dirty="0"/>
              <a:t>TPH</a:t>
            </a:r>
          </a:p>
        </p:txBody>
      </p:sp>
      <p:cxnSp>
        <p:nvCxnSpPr>
          <p:cNvPr id="65" name="Straight Arrow Connector 64">
            <a:extLst>
              <a:ext uri="{FF2B5EF4-FFF2-40B4-BE49-F238E27FC236}">
                <a16:creationId xmlns:a16="http://schemas.microsoft.com/office/drawing/2014/main" id="{F5A88478-E1FF-617E-9DFD-D27A4354BC05}"/>
              </a:ext>
            </a:extLst>
          </p:cNvPr>
          <p:cNvCxnSpPr/>
          <p:nvPr/>
        </p:nvCxnSpPr>
        <p:spPr>
          <a:xfrm flipV="1">
            <a:off x="7910924" y="2234373"/>
            <a:ext cx="0" cy="3223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36FB16B0-345C-2386-A8AA-C411F078EA14}"/>
              </a:ext>
            </a:extLst>
          </p:cNvPr>
          <p:cNvSpPr txBox="1"/>
          <p:nvPr/>
        </p:nvSpPr>
        <p:spPr>
          <a:xfrm>
            <a:off x="2517963" y="1375604"/>
            <a:ext cx="5860963" cy="300082"/>
          </a:xfrm>
          <a:prstGeom prst="rect">
            <a:avLst/>
          </a:prstGeom>
          <a:noFill/>
        </p:spPr>
        <p:txBody>
          <a:bodyPr wrap="none" rtlCol="0">
            <a:spAutoFit/>
          </a:bodyPr>
          <a:lstStyle/>
          <a:p>
            <a:r>
              <a:rPr lang="en-US" sz="1350" dirty="0"/>
              <a:t>the  smallest  person  can    change    the     course     of          the      future    [END]</a:t>
            </a:r>
          </a:p>
        </p:txBody>
      </p:sp>
      <p:cxnSp>
        <p:nvCxnSpPr>
          <p:cNvPr id="67" name="Straight Arrow Connector 66">
            <a:extLst>
              <a:ext uri="{FF2B5EF4-FFF2-40B4-BE49-F238E27FC236}">
                <a16:creationId xmlns:a16="http://schemas.microsoft.com/office/drawing/2014/main" id="{163319FC-CF08-5CAD-C5C4-3580CE58CFA9}"/>
              </a:ext>
            </a:extLst>
          </p:cNvPr>
          <p:cNvCxnSpPr>
            <a:cxnSpLocks/>
            <a:stCxn id="3" idx="0"/>
          </p:cNvCxnSpPr>
          <p:nvPr/>
        </p:nvCxnSpPr>
        <p:spPr>
          <a:xfrm flipV="1">
            <a:off x="2543404" y="1643176"/>
            <a:ext cx="144122" cy="1609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7821F5AC-FF93-929F-F91A-A24A3B526723}"/>
              </a:ext>
            </a:extLst>
          </p:cNvPr>
          <p:cNvCxnSpPr>
            <a:cxnSpLocks/>
          </p:cNvCxnSpPr>
          <p:nvPr/>
        </p:nvCxnSpPr>
        <p:spPr>
          <a:xfrm flipV="1">
            <a:off x="3078692" y="1638462"/>
            <a:ext cx="144122" cy="1609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994EF1BC-A818-0773-1006-9EF68227D4BC}"/>
              </a:ext>
            </a:extLst>
          </p:cNvPr>
          <p:cNvCxnSpPr>
            <a:cxnSpLocks/>
          </p:cNvCxnSpPr>
          <p:nvPr/>
        </p:nvCxnSpPr>
        <p:spPr>
          <a:xfrm flipV="1">
            <a:off x="3623523" y="1639017"/>
            <a:ext cx="144122" cy="1609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2" name="Straight Arrow Connector 71">
            <a:extLst>
              <a:ext uri="{FF2B5EF4-FFF2-40B4-BE49-F238E27FC236}">
                <a16:creationId xmlns:a16="http://schemas.microsoft.com/office/drawing/2014/main" id="{5D1B1E51-4A01-08D3-7171-B61A52C6B12E}"/>
              </a:ext>
            </a:extLst>
          </p:cNvPr>
          <p:cNvCxnSpPr>
            <a:cxnSpLocks/>
          </p:cNvCxnSpPr>
          <p:nvPr/>
        </p:nvCxnSpPr>
        <p:spPr>
          <a:xfrm flipV="1">
            <a:off x="4158811" y="1634303"/>
            <a:ext cx="144122" cy="1609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10C0666B-8E33-0920-5101-D9D1B502791E}"/>
              </a:ext>
            </a:extLst>
          </p:cNvPr>
          <p:cNvCxnSpPr>
            <a:cxnSpLocks/>
          </p:cNvCxnSpPr>
          <p:nvPr/>
        </p:nvCxnSpPr>
        <p:spPr>
          <a:xfrm flipV="1">
            <a:off x="4700788" y="1639017"/>
            <a:ext cx="144122" cy="1609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AC8614BE-7636-64ED-00DD-A40D71E9E3C7}"/>
              </a:ext>
            </a:extLst>
          </p:cNvPr>
          <p:cNvCxnSpPr>
            <a:cxnSpLocks/>
          </p:cNvCxnSpPr>
          <p:nvPr/>
        </p:nvCxnSpPr>
        <p:spPr>
          <a:xfrm flipV="1">
            <a:off x="5236076" y="1634303"/>
            <a:ext cx="144122" cy="1609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B142191D-31BE-8EC5-74C7-441536B8CAE0}"/>
              </a:ext>
            </a:extLst>
          </p:cNvPr>
          <p:cNvCxnSpPr>
            <a:cxnSpLocks/>
          </p:cNvCxnSpPr>
          <p:nvPr/>
        </p:nvCxnSpPr>
        <p:spPr>
          <a:xfrm flipV="1">
            <a:off x="5778052" y="1629951"/>
            <a:ext cx="144122" cy="1609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CF4A1B74-E244-F58C-D20B-D575B68B6147}"/>
              </a:ext>
            </a:extLst>
          </p:cNvPr>
          <p:cNvCxnSpPr>
            <a:cxnSpLocks/>
          </p:cNvCxnSpPr>
          <p:nvPr/>
        </p:nvCxnSpPr>
        <p:spPr>
          <a:xfrm flipV="1">
            <a:off x="6313341" y="1625237"/>
            <a:ext cx="144122" cy="1609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48C492D5-0331-F177-E12B-C2DB18BA4745}"/>
              </a:ext>
            </a:extLst>
          </p:cNvPr>
          <p:cNvCxnSpPr>
            <a:cxnSpLocks/>
          </p:cNvCxnSpPr>
          <p:nvPr/>
        </p:nvCxnSpPr>
        <p:spPr>
          <a:xfrm flipV="1">
            <a:off x="6858172" y="1625791"/>
            <a:ext cx="144122" cy="1609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2F2D8D4D-A54E-0BB2-0152-A8A0CAD2A298}"/>
              </a:ext>
            </a:extLst>
          </p:cNvPr>
          <p:cNvCxnSpPr>
            <a:cxnSpLocks/>
          </p:cNvCxnSpPr>
          <p:nvPr/>
        </p:nvCxnSpPr>
        <p:spPr>
          <a:xfrm flipV="1">
            <a:off x="7393460" y="1621077"/>
            <a:ext cx="144122" cy="1609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FCCDCE27-3728-DE49-2AD0-EC1E299BE667}"/>
              </a:ext>
            </a:extLst>
          </p:cNvPr>
          <p:cNvCxnSpPr>
            <a:cxnSpLocks/>
          </p:cNvCxnSpPr>
          <p:nvPr/>
        </p:nvCxnSpPr>
        <p:spPr>
          <a:xfrm flipV="1">
            <a:off x="7935436" y="1625791"/>
            <a:ext cx="144122" cy="1609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88831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96089-D22F-958D-0A06-6CB741454B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6E736C-8FE3-F34C-450F-25F643F0E6EC}"/>
              </a:ext>
            </a:extLst>
          </p:cNvPr>
          <p:cNvSpPr>
            <a:spLocks noGrp="1"/>
          </p:cNvSpPr>
          <p:nvPr>
            <p:ph type="title"/>
          </p:nvPr>
        </p:nvSpPr>
        <p:spPr>
          <a:xfrm>
            <a:off x="0" y="249757"/>
            <a:ext cx="9144000" cy="650536"/>
          </a:xfrm>
        </p:spPr>
        <p:txBody>
          <a:bodyPr>
            <a:normAutofit/>
          </a:bodyPr>
          <a:lstStyle/>
          <a:p>
            <a:pPr algn="ctr"/>
            <a:r>
              <a:rPr lang="en-US" dirty="0"/>
              <a:t>Is this generative or predictive?</a:t>
            </a:r>
          </a:p>
        </p:txBody>
      </p:sp>
      <p:sp>
        <p:nvSpPr>
          <p:cNvPr id="8" name="Left Brace 7">
            <a:extLst>
              <a:ext uri="{FF2B5EF4-FFF2-40B4-BE49-F238E27FC236}">
                <a16:creationId xmlns:a16="http://schemas.microsoft.com/office/drawing/2014/main" id="{D9AEE42A-B766-6126-ECAC-FAEE5201A18D}"/>
              </a:ext>
            </a:extLst>
          </p:cNvPr>
          <p:cNvSpPr/>
          <p:nvPr/>
        </p:nvSpPr>
        <p:spPr>
          <a:xfrm rot="16200000">
            <a:off x="3401010" y="1086033"/>
            <a:ext cx="262758" cy="4671293"/>
          </a:xfrm>
          <a:prstGeom prst="leftBrace">
            <a:avLst>
              <a:gd name="adj1" fmla="val 8333"/>
              <a:gd name="adj2" fmla="val 24563"/>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348" dirty="0"/>
          </a:p>
        </p:txBody>
      </p:sp>
      <p:sp>
        <p:nvSpPr>
          <p:cNvPr id="9" name="TextBox 8">
            <a:extLst>
              <a:ext uri="{FF2B5EF4-FFF2-40B4-BE49-F238E27FC236}">
                <a16:creationId xmlns:a16="http://schemas.microsoft.com/office/drawing/2014/main" id="{CF5D481A-FD1F-A21D-B6B8-28CACE13B898}"/>
              </a:ext>
            </a:extLst>
          </p:cNvPr>
          <p:cNvSpPr txBox="1"/>
          <p:nvPr/>
        </p:nvSpPr>
        <p:spPr>
          <a:xfrm>
            <a:off x="2210847" y="3589940"/>
            <a:ext cx="2643080"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dirty="0">
                <a:latin typeface="Times New Roman" panose="02020603050405020304" pitchFamily="18" charset="0"/>
                <a:cs typeface="Times New Roman" panose="02020603050405020304" pitchFamily="18" charset="0"/>
              </a:rPr>
              <a:t>, conversation history</a:t>
            </a:r>
          </a:p>
        </p:txBody>
      </p:sp>
      <p:sp>
        <p:nvSpPr>
          <p:cNvPr id="10" name="TextBox 9">
            <a:extLst>
              <a:ext uri="{FF2B5EF4-FFF2-40B4-BE49-F238E27FC236}">
                <a16:creationId xmlns:a16="http://schemas.microsoft.com/office/drawing/2014/main" id="{6604A53A-34A3-32B4-9E80-D95B8AB651CF}"/>
              </a:ext>
            </a:extLst>
          </p:cNvPr>
          <p:cNvSpPr txBox="1"/>
          <p:nvPr/>
        </p:nvSpPr>
        <p:spPr>
          <a:xfrm>
            <a:off x="6944811" y="2741057"/>
            <a:ext cx="1901480"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dirty="0">
                <a:latin typeface="Times New Roman" panose="02020603050405020304" pitchFamily="18" charset="0"/>
                <a:cs typeface="Times New Roman" panose="02020603050405020304" pitchFamily="18" charset="0"/>
              </a:rPr>
              <a:t>, next word</a:t>
            </a:r>
          </a:p>
        </p:txBody>
      </p:sp>
      <p:sp>
        <p:nvSpPr>
          <p:cNvPr id="11" name="TextBox 10">
            <a:extLst>
              <a:ext uri="{FF2B5EF4-FFF2-40B4-BE49-F238E27FC236}">
                <a16:creationId xmlns:a16="http://schemas.microsoft.com/office/drawing/2014/main" id="{22D3E094-035A-095D-4B99-5EBD292BDF45}"/>
              </a:ext>
            </a:extLst>
          </p:cNvPr>
          <p:cNvSpPr txBox="1"/>
          <p:nvPr/>
        </p:nvSpPr>
        <p:spPr>
          <a:xfrm>
            <a:off x="3270618" y="4480696"/>
            <a:ext cx="2602764" cy="396583"/>
          </a:xfrm>
          <a:prstGeom prst="rect">
            <a:avLst/>
          </a:prstGeom>
          <a:noFill/>
        </p:spPr>
        <p:txBody>
          <a:bodyPr wrap="none" rtlCol="0">
            <a:spAutoFit/>
          </a:bodyPr>
          <a:lstStyle/>
          <a:p>
            <a:r>
              <a:rPr lang="en-US" sz="1977" dirty="0"/>
              <a:t>“next-token prediction”</a:t>
            </a:r>
          </a:p>
        </p:txBody>
      </p:sp>
      <p:graphicFrame>
        <p:nvGraphicFramePr>
          <p:cNvPr id="13" name="Table 12">
            <a:extLst>
              <a:ext uri="{FF2B5EF4-FFF2-40B4-BE49-F238E27FC236}">
                <a16:creationId xmlns:a16="http://schemas.microsoft.com/office/drawing/2014/main" id="{F43AE1AE-593F-8215-4863-C9C546CB3B2A}"/>
              </a:ext>
            </a:extLst>
          </p:cNvPr>
          <p:cNvGraphicFramePr>
            <a:graphicFrameLocks noGrp="1"/>
          </p:cNvGraphicFramePr>
          <p:nvPr/>
        </p:nvGraphicFramePr>
        <p:xfrm>
          <a:off x="6827528" y="2173311"/>
          <a:ext cx="542273"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tblGrid>
              <a:tr h="530890">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6" name="Straight Arrow Connector 15">
            <a:extLst>
              <a:ext uri="{FF2B5EF4-FFF2-40B4-BE49-F238E27FC236}">
                <a16:creationId xmlns:a16="http://schemas.microsoft.com/office/drawing/2014/main" id="{FA3CEBCB-F3E3-FE4B-5BD9-53720F9235CD}"/>
              </a:ext>
            </a:extLst>
          </p:cNvPr>
          <p:cNvCxnSpPr>
            <a:cxnSpLocks/>
            <a:stCxn id="4" idx="3"/>
            <a:endCxn id="13" idx="1"/>
          </p:cNvCxnSpPr>
          <p:nvPr/>
        </p:nvCxnSpPr>
        <p:spPr>
          <a:xfrm>
            <a:off x="5868033" y="2438756"/>
            <a:ext cx="95949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4" name="Picture 3">
            <a:extLst>
              <a:ext uri="{FF2B5EF4-FFF2-40B4-BE49-F238E27FC236}">
                <a16:creationId xmlns:a16="http://schemas.microsoft.com/office/drawing/2014/main" id="{B411631D-C136-F40E-78F7-FCA5294F7558}"/>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196741" y="1721277"/>
            <a:ext cx="4671292" cy="1434958"/>
          </a:xfrm>
          <a:prstGeom prst="rect">
            <a:avLst/>
          </a:prstGeom>
          <a:ln>
            <a:solidFill>
              <a:schemeClr val="tx1"/>
            </a:solidFill>
          </a:ln>
        </p:spPr>
      </p:pic>
      <p:pic>
        <p:nvPicPr>
          <p:cNvPr id="5" name="Picture 2">
            <a:extLst>
              <a:ext uri="{FF2B5EF4-FFF2-40B4-BE49-F238E27FC236}">
                <a16:creationId xmlns:a16="http://schemas.microsoft.com/office/drawing/2014/main" id="{E9527B06-19FA-2168-D2F6-A7DE2DEA5A2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289494" y="1827930"/>
            <a:ext cx="522772" cy="522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78217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02948-873D-6E70-121E-675E6E0B6DCE}"/>
              </a:ext>
            </a:extLst>
          </p:cNvPr>
          <p:cNvSpPr>
            <a:spLocks noGrp="1"/>
          </p:cNvSpPr>
          <p:nvPr>
            <p:ph type="title"/>
          </p:nvPr>
        </p:nvSpPr>
        <p:spPr/>
        <p:txBody>
          <a:bodyPr/>
          <a:lstStyle/>
          <a:p>
            <a:r>
              <a:rPr lang="en-US" dirty="0"/>
              <a:t>All of this also works in the EHR!</a:t>
            </a:r>
          </a:p>
        </p:txBody>
      </p:sp>
      <p:sp>
        <p:nvSpPr>
          <p:cNvPr id="3" name="Text Placeholder 2">
            <a:extLst>
              <a:ext uri="{FF2B5EF4-FFF2-40B4-BE49-F238E27FC236}">
                <a16:creationId xmlns:a16="http://schemas.microsoft.com/office/drawing/2014/main" id="{DB2CABB7-2E5B-A6C7-74C4-F62AC7135B84}"/>
              </a:ext>
            </a:extLst>
          </p:cNvPr>
          <p:cNvSpPr>
            <a:spLocks noGrp="1"/>
          </p:cNvSpPr>
          <p:nvPr>
            <p:ph type="body" idx="1"/>
          </p:nvPr>
        </p:nvSpPr>
        <p:spPr/>
        <p:txBody>
          <a:bodyPr/>
          <a:lstStyle/>
          <a:p>
            <a:r>
              <a:rPr lang="en-US" dirty="0"/>
              <a:t>A </a:t>
            </a:r>
            <a:r>
              <a:rPr lang="en-US" i="1" dirty="0"/>
              <a:t>foundation model </a:t>
            </a:r>
            <a:r>
              <a:rPr lang="en-US" dirty="0"/>
              <a:t>for EHR data</a:t>
            </a:r>
          </a:p>
        </p:txBody>
      </p:sp>
    </p:spTree>
    <p:extLst>
      <p:ext uri="{BB962C8B-B14F-4D97-AF65-F5344CB8AC3E}">
        <p14:creationId xmlns:p14="http://schemas.microsoft.com/office/powerpoint/2010/main" val="29556255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C17A5-9744-F348-6A6E-2B78D8FE59D0}"/>
              </a:ext>
            </a:extLst>
          </p:cNvPr>
          <p:cNvSpPr>
            <a:spLocks noGrp="1"/>
          </p:cNvSpPr>
          <p:nvPr>
            <p:ph type="title"/>
          </p:nvPr>
        </p:nvSpPr>
        <p:spPr/>
        <p:txBody>
          <a:bodyPr/>
          <a:lstStyle/>
          <a:p>
            <a:r>
              <a:rPr lang="en-US" dirty="0"/>
              <a:t>Models for structured EHR data:</a:t>
            </a:r>
            <a:br>
              <a:rPr lang="en-US" dirty="0"/>
            </a:br>
            <a:r>
              <a:rPr lang="en-US" sz="2400" dirty="0"/>
              <a:t>the “language” of the EHR</a:t>
            </a:r>
            <a:endParaRPr lang="en-US" dirty="0"/>
          </a:p>
        </p:txBody>
      </p:sp>
      <p:sp>
        <p:nvSpPr>
          <p:cNvPr id="3" name="Content Placeholder 2">
            <a:extLst>
              <a:ext uri="{FF2B5EF4-FFF2-40B4-BE49-F238E27FC236}">
                <a16:creationId xmlns:a16="http://schemas.microsoft.com/office/drawing/2014/main" id="{5AF50FE0-89F6-B346-5236-0194DD8DB328}"/>
              </a:ext>
            </a:extLst>
          </p:cNvPr>
          <p:cNvSpPr>
            <a:spLocks noGrp="1"/>
          </p:cNvSpPr>
          <p:nvPr>
            <p:ph idx="1"/>
          </p:nvPr>
        </p:nvSpPr>
        <p:spPr>
          <a:xfrm>
            <a:off x="628650" y="1491792"/>
            <a:ext cx="7886700" cy="3140930"/>
          </a:xfrm>
        </p:spPr>
        <p:txBody>
          <a:bodyPr/>
          <a:lstStyle/>
          <a:p>
            <a:pPr marL="0" indent="0">
              <a:buNone/>
            </a:pPr>
            <a:r>
              <a:rPr lang="en-US" dirty="0"/>
              <a:t>A story about the progression of diabetes…</a:t>
            </a:r>
          </a:p>
          <a:p>
            <a:pPr marL="0" indent="0">
              <a:buNone/>
            </a:pPr>
            <a:endParaRPr lang="en-US" dirty="0"/>
          </a:p>
          <a:p>
            <a:pPr marL="0" indent="0">
              <a:buNone/>
            </a:pPr>
            <a:r>
              <a:rPr lang="en-US" dirty="0"/>
              <a:t>(“E11.65”, “E11.42”, “I10”, “N18.3”)</a:t>
            </a:r>
          </a:p>
          <a:p>
            <a:pPr marL="0" indent="0">
              <a:buNone/>
            </a:pPr>
            <a:endParaRPr lang="en-US" dirty="0"/>
          </a:p>
          <a:p>
            <a:r>
              <a:rPr lang="en-US" b="1" dirty="0"/>
              <a:t>E11.65</a:t>
            </a:r>
            <a:r>
              <a:rPr lang="en-US" dirty="0"/>
              <a:t> — Type 2 diabetes mellitus with hyperglycemia </a:t>
            </a:r>
          </a:p>
          <a:p>
            <a:r>
              <a:rPr lang="en-US" b="1" dirty="0"/>
              <a:t>E11.42</a:t>
            </a:r>
            <a:r>
              <a:rPr lang="en-US" dirty="0"/>
              <a:t> — Type 2 diabetes mellitus with diabetic polyneuropathy </a:t>
            </a:r>
          </a:p>
          <a:p>
            <a:r>
              <a:rPr lang="en-US" b="1" dirty="0"/>
              <a:t>I10</a:t>
            </a:r>
            <a:r>
              <a:rPr lang="en-US" dirty="0"/>
              <a:t> — Essential (primary) hypertension </a:t>
            </a:r>
          </a:p>
          <a:p>
            <a:r>
              <a:rPr lang="en-US" b="1" dirty="0"/>
              <a:t>N18.3</a:t>
            </a:r>
            <a:r>
              <a:rPr lang="en-US" dirty="0"/>
              <a:t> — Chronic kidney disease, stage 3</a:t>
            </a:r>
          </a:p>
          <a:p>
            <a:pPr marL="0" indent="0">
              <a:buNone/>
            </a:pPr>
            <a:endParaRPr lang="en-US" dirty="0"/>
          </a:p>
        </p:txBody>
      </p:sp>
    </p:spTree>
    <p:extLst>
      <p:ext uri="{BB962C8B-B14F-4D97-AF65-F5344CB8AC3E}">
        <p14:creationId xmlns:p14="http://schemas.microsoft.com/office/powerpoint/2010/main" val="29505645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23B10-5257-8AA2-7895-EBD5B1B85CAB}"/>
              </a:ext>
            </a:extLst>
          </p:cNvPr>
          <p:cNvSpPr>
            <a:spLocks noGrp="1"/>
          </p:cNvSpPr>
          <p:nvPr>
            <p:ph type="title"/>
          </p:nvPr>
        </p:nvSpPr>
        <p:spPr/>
        <p:txBody>
          <a:bodyPr/>
          <a:lstStyle/>
          <a:p>
            <a:r>
              <a:rPr lang="en-US" dirty="0"/>
              <a:t>Should you believe your LLM?</a:t>
            </a:r>
          </a:p>
        </p:txBody>
      </p:sp>
      <p:sp>
        <p:nvSpPr>
          <p:cNvPr id="3" name="Text Placeholder 2">
            <a:extLst>
              <a:ext uri="{FF2B5EF4-FFF2-40B4-BE49-F238E27FC236}">
                <a16:creationId xmlns:a16="http://schemas.microsoft.com/office/drawing/2014/main" id="{7E7D4018-3104-AD77-67A3-CF2868D47A11}"/>
              </a:ext>
            </a:extLst>
          </p:cNvPr>
          <p:cNvSpPr>
            <a:spLocks noGrp="1"/>
          </p:cNvSpPr>
          <p:nvPr>
            <p:ph type="body" idx="1"/>
          </p:nvPr>
        </p:nvSpPr>
        <p:spPr/>
        <p:txBody>
          <a:bodyPr/>
          <a:lstStyle/>
          <a:p>
            <a:r>
              <a:rPr lang="en-US" dirty="0"/>
              <a:t>On hallucination and bias</a:t>
            </a:r>
          </a:p>
        </p:txBody>
      </p:sp>
    </p:spTree>
    <p:extLst>
      <p:ext uri="{BB962C8B-B14F-4D97-AF65-F5344CB8AC3E}">
        <p14:creationId xmlns:p14="http://schemas.microsoft.com/office/powerpoint/2010/main" val="36761106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CF9E2-B34C-7BD9-7EA7-3582A46424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703C0-46FB-937D-E773-471FCA702284}"/>
              </a:ext>
            </a:extLst>
          </p:cNvPr>
          <p:cNvSpPr>
            <a:spLocks noGrp="1"/>
          </p:cNvSpPr>
          <p:nvPr>
            <p:ph type="title"/>
          </p:nvPr>
        </p:nvSpPr>
        <p:spPr>
          <a:xfrm>
            <a:off x="0" y="249757"/>
            <a:ext cx="9144000" cy="650536"/>
          </a:xfrm>
        </p:spPr>
        <p:txBody>
          <a:bodyPr>
            <a:normAutofit/>
          </a:bodyPr>
          <a:lstStyle/>
          <a:p>
            <a:pPr algn="ctr"/>
            <a:r>
              <a:rPr lang="en-US" dirty="0"/>
              <a:t>First, learn to predict the next word on the internet</a:t>
            </a:r>
          </a:p>
        </p:txBody>
      </p:sp>
      <p:sp>
        <p:nvSpPr>
          <p:cNvPr id="8" name="Left Brace 7">
            <a:extLst>
              <a:ext uri="{FF2B5EF4-FFF2-40B4-BE49-F238E27FC236}">
                <a16:creationId xmlns:a16="http://schemas.microsoft.com/office/drawing/2014/main" id="{035F15C3-62B0-BB4C-1067-5FB2569BCA1A}"/>
              </a:ext>
            </a:extLst>
          </p:cNvPr>
          <p:cNvSpPr/>
          <p:nvPr/>
        </p:nvSpPr>
        <p:spPr>
          <a:xfrm rot="16200000">
            <a:off x="3401010" y="1086033"/>
            <a:ext cx="262758" cy="4671293"/>
          </a:xfrm>
          <a:prstGeom prst="leftBrace">
            <a:avLst>
              <a:gd name="adj1" fmla="val 8333"/>
              <a:gd name="adj2" fmla="val 24563"/>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348" dirty="0"/>
          </a:p>
        </p:txBody>
      </p:sp>
      <p:sp>
        <p:nvSpPr>
          <p:cNvPr id="9" name="TextBox 8">
            <a:extLst>
              <a:ext uri="{FF2B5EF4-FFF2-40B4-BE49-F238E27FC236}">
                <a16:creationId xmlns:a16="http://schemas.microsoft.com/office/drawing/2014/main" id="{7173AFC8-B0E6-0802-C95D-9D8A42C4FB11}"/>
              </a:ext>
            </a:extLst>
          </p:cNvPr>
          <p:cNvSpPr txBox="1"/>
          <p:nvPr/>
        </p:nvSpPr>
        <p:spPr>
          <a:xfrm>
            <a:off x="2210847" y="3589940"/>
            <a:ext cx="2643080"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dirty="0">
                <a:latin typeface="Times New Roman" panose="02020603050405020304" pitchFamily="18" charset="0"/>
                <a:cs typeface="Times New Roman" panose="02020603050405020304" pitchFamily="18" charset="0"/>
              </a:rPr>
              <a:t>, conversation history</a:t>
            </a:r>
          </a:p>
        </p:txBody>
      </p:sp>
      <p:sp>
        <p:nvSpPr>
          <p:cNvPr id="10" name="TextBox 9">
            <a:extLst>
              <a:ext uri="{FF2B5EF4-FFF2-40B4-BE49-F238E27FC236}">
                <a16:creationId xmlns:a16="http://schemas.microsoft.com/office/drawing/2014/main" id="{212A1B3B-76EC-66BC-DC2C-FE93108BADF2}"/>
              </a:ext>
            </a:extLst>
          </p:cNvPr>
          <p:cNvSpPr txBox="1"/>
          <p:nvPr/>
        </p:nvSpPr>
        <p:spPr>
          <a:xfrm>
            <a:off x="6944811" y="2741057"/>
            <a:ext cx="1901480"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dirty="0">
                <a:latin typeface="Times New Roman" panose="02020603050405020304" pitchFamily="18" charset="0"/>
                <a:cs typeface="Times New Roman" panose="02020603050405020304" pitchFamily="18" charset="0"/>
              </a:rPr>
              <a:t>, next word</a:t>
            </a:r>
          </a:p>
        </p:txBody>
      </p:sp>
      <p:sp>
        <p:nvSpPr>
          <p:cNvPr id="11" name="TextBox 10">
            <a:extLst>
              <a:ext uri="{FF2B5EF4-FFF2-40B4-BE49-F238E27FC236}">
                <a16:creationId xmlns:a16="http://schemas.microsoft.com/office/drawing/2014/main" id="{4F33022C-ACB4-D34E-D7A6-4CCE6F54562B}"/>
              </a:ext>
            </a:extLst>
          </p:cNvPr>
          <p:cNvSpPr txBox="1"/>
          <p:nvPr/>
        </p:nvSpPr>
        <p:spPr>
          <a:xfrm>
            <a:off x="3270618" y="4480696"/>
            <a:ext cx="2602764" cy="396583"/>
          </a:xfrm>
          <a:prstGeom prst="rect">
            <a:avLst/>
          </a:prstGeom>
          <a:noFill/>
        </p:spPr>
        <p:txBody>
          <a:bodyPr wrap="none" rtlCol="0">
            <a:spAutoFit/>
          </a:bodyPr>
          <a:lstStyle/>
          <a:p>
            <a:r>
              <a:rPr lang="en-US" sz="1977" dirty="0"/>
              <a:t>“next-token prediction”</a:t>
            </a:r>
          </a:p>
        </p:txBody>
      </p:sp>
      <p:graphicFrame>
        <p:nvGraphicFramePr>
          <p:cNvPr id="13" name="Table 12">
            <a:extLst>
              <a:ext uri="{FF2B5EF4-FFF2-40B4-BE49-F238E27FC236}">
                <a16:creationId xmlns:a16="http://schemas.microsoft.com/office/drawing/2014/main" id="{5EB57D2D-00BC-95BA-5887-E712780DA03C}"/>
              </a:ext>
            </a:extLst>
          </p:cNvPr>
          <p:cNvGraphicFramePr>
            <a:graphicFrameLocks noGrp="1"/>
          </p:cNvGraphicFramePr>
          <p:nvPr/>
        </p:nvGraphicFramePr>
        <p:xfrm>
          <a:off x="6827528" y="2173311"/>
          <a:ext cx="542273"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tblGrid>
              <a:tr h="530890">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6" name="Straight Arrow Connector 15">
            <a:extLst>
              <a:ext uri="{FF2B5EF4-FFF2-40B4-BE49-F238E27FC236}">
                <a16:creationId xmlns:a16="http://schemas.microsoft.com/office/drawing/2014/main" id="{6D64CB7E-E98B-C2AC-FB74-27F7D19C4A29}"/>
              </a:ext>
            </a:extLst>
          </p:cNvPr>
          <p:cNvCxnSpPr>
            <a:cxnSpLocks/>
            <a:stCxn id="4" idx="3"/>
            <a:endCxn id="13" idx="1"/>
          </p:cNvCxnSpPr>
          <p:nvPr/>
        </p:nvCxnSpPr>
        <p:spPr>
          <a:xfrm>
            <a:off x="5868033" y="2438756"/>
            <a:ext cx="95949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4" name="Picture 3">
            <a:extLst>
              <a:ext uri="{FF2B5EF4-FFF2-40B4-BE49-F238E27FC236}">
                <a16:creationId xmlns:a16="http://schemas.microsoft.com/office/drawing/2014/main" id="{1A125329-321A-E96C-173E-7201ECF7D99F}"/>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196741" y="1721277"/>
            <a:ext cx="4671292" cy="1434958"/>
          </a:xfrm>
          <a:prstGeom prst="rect">
            <a:avLst/>
          </a:prstGeom>
          <a:ln>
            <a:solidFill>
              <a:schemeClr val="tx1"/>
            </a:solidFill>
          </a:ln>
        </p:spPr>
      </p:pic>
      <p:pic>
        <p:nvPicPr>
          <p:cNvPr id="5" name="Picture 2">
            <a:extLst>
              <a:ext uri="{FF2B5EF4-FFF2-40B4-BE49-F238E27FC236}">
                <a16:creationId xmlns:a16="http://schemas.microsoft.com/office/drawing/2014/main" id="{24A26EC7-5A89-9A50-B1DB-037B8F31D18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289494" y="1827930"/>
            <a:ext cx="522772" cy="522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03480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724BD-E320-0662-278C-6176F14271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8F43E1-FA1E-E1BE-A5B5-50CCF9122CA8}"/>
              </a:ext>
            </a:extLst>
          </p:cNvPr>
          <p:cNvSpPr>
            <a:spLocks noGrp="1"/>
          </p:cNvSpPr>
          <p:nvPr>
            <p:ph type="title"/>
          </p:nvPr>
        </p:nvSpPr>
        <p:spPr>
          <a:xfrm>
            <a:off x="0" y="249758"/>
            <a:ext cx="9144000" cy="650536"/>
          </a:xfrm>
        </p:spPr>
        <p:txBody>
          <a:bodyPr>
            <a:normAutofit/>
          </a:bodyPr>
          <a:lstStyle/>
          <a:p>
            <a:pPr algn="ctr"/>
            <a:r>
              <a:rPr lang="en-US" dirty="0"/>
              <a:t>Then, learn to satisfy human preferences.</a:t>
            </a:r>
          </a:p>
        </p:txBody>
      </p:sp>
      <p:pic>
        <p:nvPicPr>
          <p:cNvPr id="3" name="Picture 2">
            <a:extLst>
              <a:ext uri="{FF2B5EF4-FFF2-40B4-BE49-F238E27FC236}">
                <a16:creationId xmlns:a16="http://schemas.microsoft.com/office/drawing/2014/main" id="{A9908C31-3066-97F8-2E92-8FEA13E0D753}"/>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298702" y="916665"/>
            <a:ext cx="4216649" cy="359359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D0EF25E-860A-299F-423A-A90128FAC65D}"/>
              </a:ext>
            </a:extLst>
          </p:cNvPr>
          <p:cNvSpPr txBox="1"/>
          <p:nvPr/>
        </p:nvSpPr>
        <p:spPr>
          <a:xfrm>
            <a:off x="4298702" y="4526630"/>
            <a:ext cx="4268476" cy="646331"/>
          </a:xfrm>
          <a:prstGeom prst="rect">
            <a:avLst/>
          </a:prstGeom>
          <a:noFill/>
        </p:spPr>
        <p:txBody>
          <a:bodyPr wrap="none" rtlCol="0">
            <a:spAutoFit/>
          </a:bodyPr>
          <a:lstStyle/>
          <a:p>
            <a:r>
              <a:rPr lang="en-US" sz="1200" dirty="0"/>
              <a:t>Illustrating Reinforcement Learning from Human Feedback (RLHF)</a:t>
            </a:r>
          </a:p>
          <a:p>
            <a:r>
              <a:rPr lang="en-US" sz="1200" dirty="0"/>
              <a:t>https://</a:t>
            </a:r>
            <a:r>
              <a:rPr lang="en-US" sz="1200" dirty="0" err="1"/>
              <a:t>huggingface.co</a:t>
            </a:r>
            <a:r>
              <a:rPr lang="en-US" sz="1200" dirty="0"/>
              <a:t>/blog/</a:t>
            </a:r>
            <a:r>
              <a:rPr lang="en-US" sz="1200" dirty="0" err="1"/>
              <a:t>rlhf</a:t>
            </a:r>
            <a:endParaRPr lang="en-US" sz="1200" dirty="0"/>
          </a:p>
          <a:p>
            <a:endParaRPr lang="en-US" sz="1200" dirty="0"/>
          </a:p>
        </p:txBody>
      </p:sp>
      <p:sp>
        <p:nvSpPr>
          <p:cNvPr id="15" name="TextBox 14">
            <a:extLst>
              <a:ext uri="{FF2B5EF4-FFF2-40B4-BE49-F238E27FC236}">
                <a16:creationId xmlns:a16="http://schemas.microsoft.com/office/drawing/2014/main" id="{BB97B5DF-BDCD-96B7-843B-4A8A456F002D}"/>
              </a:ext>
            </a:extLst>
          </p:cNvPr>
          <p:cNvSpPr txBox="1"/>
          <p:nvPr/>
        </p:nvSpPr>
        <p:spPr>
          <a:xfrm>
            <a:off x="628650" y="1173182"/>
            <a:ext cx="2878758" cy="3970318"/>
          </a:xfrm>
          <a:prstGeom prst="rect">
            <a:avLst/>
          </a:prstGeom>
          <a:noFill/>
        </p:spPr>
        <p:txBody>
          <a:bodyPr wrap="square" rtlCol="0">
            <a:spAutoFit/>
          </a:bodyPr>
          <a:lstStyle/>
          <a:p>
            <a:r>
              <a:rPr lang="en-US" b="1" dirty="0"/>
              <a:t>Step 1</a:t>
            </a:r>
            <a:r>
              <a:rPr lang="en-US" dirty="0"/>
              <a:t>: Train an auxiliary preference model (via human feedback) to assign scores to LLM-generated text that are consistent with our preferences</a:t>
            </a:r>
          </a:p>
          <a:p>
            <a:endParaRPr lang="en-US" dirty="0"/>
          </a:p>
          <a:p>
            <a:r>
              <a:rPr lang="en-US" b="1" dirty="0"/>
              <a:t>Step 2</a:t>
            </a:r>
            <a:r>
              <a:rPr lang="en-US" dirty="0"/>
              <a:t>: Fine-tune the initial LLM (via reinforcement learning) to achieve better scores, implying better alignment with our preferences</a:t>
            </a:r>
          </a:p>
          <a:p>
            <a:endParaRPr lang="en-US" dirty="0"/>
          </a:p>
        </p:txBody>
      </p:sp>
    </p:spTree>
    <p:extLst>
      <p:ext uri="{BB962C8B-B14F-4D97-AF65-F5344CB8AC3E}">
        <p14:creationId xmlns:p14="http://schemas.microsoft.com/office/powerpoint/2010/main" val="28963481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B9156-720F-0EBA-FD36-B037A36DCC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265C9-B041-FAAC-DA12-52F291C3BF88}"/>
              </a:ext>
            </a:extLst>
          </p:cNvPr>
          <p:cNvSpPr>
            <a:spLocks noGrp="1"/>
          </p:cNvSpPr>
          <p:nvPr>
            <p:ph type="title"/>
          </p:nvPr>
        </p:nvSpPr>
        <p:spPr>
          <a:xfrm>
            <a:off x="628650" y="830064"/>
            <a:ext cx="7886700" cy="994172"/>
          </a:xfrm>
        </p:spPr>
        <p:txBody>
          <a:bodyPr/>
          <a:lstStyle/>
          <a:p>
            <a:r>
              <a:rPr lang="en-US" u="sng" dirty="0"/>
              <a:t>Discuss</a:t>
            </a:r>
            <a:r>
              <a:rPr lang="en-US" dirty="0"/>
              <a:t>: </a:t>
            </a:r>
            <a:br>
              <a:rPr lang="en-US" dirty="0"/>
            </a:br>
            <a:br>
              <a:rPr lang="en-US" dirty="0"/>
            </a:br>
            <a:r>
              <a:rPr lang="en-US" dirty="0"/>
              <a:t>Does this paradigm guarantee truth?</a:t>
            </a:r>
            <a:br>
              <a:rPr lang="en-US" dirty="0"/>
            </a:br>
            <a:br>
              <a:rPr lang="en-US" dirty="0"/>
            </a:br>
            <a:r>
              <a:rPr lang="en-US" dirty="0"/>
              <a:t>What does it optimize for?</a:t>
            </a:r>
            <a:br>
              <a:rPr lang="en-US" dirty="0"/>
            </a:br>
            <a:br>
              <a:rPr lang="en-US" dirty="0"/>
            </a:br>
            <a:r>
              <a:rPr lang="en-US" dirty="0"/>
              <a:t>How can it lead to bias?</a:t>
            </a:r>
          </a:p>
        </p:txBody>
      </p:sp>
    </p:spTree>
    <p:extLst>
      <p:ext uri="{BB962C8B-B14F-4D97-AF65-F5344CB8AC3E}">
        <p14:creationId xmlns:p14="http://schemas.microsoft.com/office/powerpoint/2010/main" val="13974580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6CAA2-D679-8A8B-3DAD-72F923C13A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69475C-A785-E18D-9EB3-2694D01E4B3B}"/>
              </a:ext>
            </a:extLst>
          </p:cNvPr>
          <p:cNvSpPr>
            <a:spLocks noGrp="1"/>
          </p:cNvSpPr>
          <p:nvPr>
            <p:ph type="title"/>
          </p:nvPr>
        </p:nvSpPr>
        <p:spPr/>
        <p:txBody>
          <a:bodyPr/>
          <a:lstStyle/>
          <a:p>
            <a:r>
              <a:rPr lang="en-US" dirty="0"/>
              <a:t>Should you believe your RAG-enabled LLM?</a:t>
            </a:r>
          </a:p>
        </p:txBody>
      </p:sp>
      <p:sp>
        <p:nvSpPr>
          <p:cNvPr id="3" name="Text Placeholder 2">
            <a:extLst>
              <a:ext uri="{FF2B5EF4-FFF2-40B4-BE49-F238E27FC236}">
                <a16:creationId xmlns:a16="http://schemas.microsoft.com/office/drawing/2014/main" id="{F0EDA52B-8973-52D1-7B2B-F788F1BFAB5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543757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601B0-43AF-C605-F84B-E61DD32FE28B}"/>
              </a:ext>
            </a:extLst>
          </p:cNvPr>
          <p:cNvSpPr>
            <a:spLocks noGrp="1"/>
          </p:cNvSpPr>
          <p:nvPr>
            <p:ph type="title"/>
          </p:nvPr>
        </p:nvSpPr>
        <p:spPr>
          <a:xfrm>
            <a:off x="628650" y="273845"/>
            <a:ext cx="7886700" cy="533358"/>
          </a:xfrm>
        </p:spPr>
        <p:txBody>
          <a:bodyPr/>
          <a:lstStyle/>
          <a:p>
            <a:r>
              <a:rPr lang="en-US" dirty="0"/>
              <a:t>RAG augments LLMs with external knowledge</a:t>
            </a:r>
          </a:p>
        </p:txBody>
      </p:sp>
      <p:pic>
        <p:nvPicPr>
          <p:cNvPr id="4" name="Picture 2" descr="Fig. 1">
            <a:extLst>
              <a:ext uri="{FF2B5EF4-FFF2-40B4-BE49-F238E27FC236}">
                <a16:creationId xmlns:a16="http://schemas.microsoft.com/office/drawing/2014/main" id="{102FFBBF-08CA-5FFE-D146-EBB2DF2B45AF}"/>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960711" y="873878"/>
            <a:ext cx="7222577" cy="365078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DA1DD90-2E91-1F96-0E85-C108A532AC53}"/>
              </a:ext>
            </a:extLst>
          </p:cNvPr>
          <p:cNvSpPr txBox="1"/>
          <p:nvPr/>
        </p:nvSpPr>
        <p:spPr>
          <a:xfrm>
            <a:off x="2285999" y="4673448"/>
            <a:ext cx="4572000" cy="415498"/>
          </a:xfrm>
          <a:prstGeom prst="rect">
            <a:avLst/>
          </a:prstGeom>
          <a:noFill/>
        </p:spPr>
        <p:txBody>
          <a:bodyPr wrap="square">
            <a:spAutoFit/>
          </a:bodyPr>
          <a:lstStyle/>
          <a:p>
            <a:r>
              <a:rPr lang="en-US" sz="1050" dirty="0">
                <a:solidFill>
                  <a:srgbClr val="222222"/>
                </a:solidFill>
              </a:rPr>
              <a:t>Yang, R., Ning, Y., </a:t>
            </a:r>
            <a:r>
              <a:rPr lang="en-US" sz="1050" dirty="0" err="1">
                <a:solidFill>
                  <a:srgbClr val="222222"/>
                </a:solidFill>
              </a:rPr>
              <a:t>Keppo</a:t>
            </a:r>
            <a:r>
              <a:rPr lang="en-US" sz="1050" dirty="0">
                <a:solidFill>
                  <a:srgbClr val="222222"/>
                </a:solidFill>
              </a:rPr>
              <a:t>, E. </a:t>
            </a:r>
            <a:r>
              <a:rPr lang="en-US" sz="1050" i="1" dirty="0">
                <a:solidFill>
                  <a:srgbClr val="222222"/>
                </a:solidFill>
              </a:rPr>
              <a:t>et al.</a:t>
            </a:r>
            <a:r>
              <a:rPr lang="en-US" sz="1050" dirty="0">
                <a:solidFill>
                  <a:srgbClr val="222222"/>
                </a:solidFill>
              </a:rPr>
              <a:t> Retrieval-augmented generation for generative artificial intelligence in health care. </a:t>
            </a:r>
            <a:r>
              <a:rPr lang="en-US" sz="1050" i="1" dirty="0" err="1">
                <a:solidFill>
                  <a:srgbClr val="222222"/>
                </a:solidFill>
              </a:rPr>
              <a:t>npj</a:t>
            </a:r>
            <a:r>
              <a:rPr lang="en-US" sz="1050" i="1" dirty="0">
                <a:solidFill>
                  <a:srgbClr val="222222"/>
                </a:solidFill>
              </a:rPr>
              <a:t> Health Syst.</a:t>
            </a:r>
            <a:r>
              <a:rPr lang="en-US" sz="1050" dirty="0">
                <a:solidFill>
                  <a:srgbClr val="222222"/>
                </a:solidFill>
              </a:rPr>
              <a:t> </a:t>
            </a:r>
            <a:r>
              <a:rPr lang="en-US" sz="1050" b="1" dirty="0">
                <a:solidFill>
                  <a:srgbClr val="222222"/>
                </a:solidFill>
              </a:rPr>
              <a:t>2</a:t>
            </a:r>
            <a:r>
              <a:rPr lang="en-US" sz="1050" dirty="0">
                <a:solidFill>
                  <a:srgbClr val="222222"/>
                </a:solidFill>
              </a:rPr>
              <a:t>, 2 (2025).</a:t>
            </a:r>
            <a:endParaRPr lang="en-US" sz="1050" dirty="0"/>
          </a:p>
        </p:txBody>
      </p:sp>
      <p:pic>
        <p:nvPicPr>
          <p:cNvPr id="2049" name="Picture 1" descr="page2image559022160">
            <a:extLst>
              <a:ext uri="{FF2B5EF4-FFF2-40B4-BE49-F238E27FC236}">
                <a16:creationId xmlns:a16="http://schemas.microsoft.com/office/drawing/2014/main" id="{4BB14E5F-DFCA-33C4-7199-2F1C625ABB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638675" cy="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39243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E7979-C7E9-6B5B-B43C-6234CBF03B00}"/>
              </a:ext>
            </a:extLst>
          </p:cNvPr>
          <p:cNvSpPr>
            <a:spLocks noGrp="1"/>
          </p:cNvSpPr>
          <p:nvPr>
            <p:ph type="title"/>
          </p:nvPr>
        </p:nvSpPr>
        <p:spPr>
          <a:xfrm>
            <a:off x="628650" y="273844"/>
            <a:ext cx="7886700" cy="538081"/>
          </a:xfrm>
        </p:spPr>
        <p:txBody>
          <a:bodyPr/>
          <a:lstStyle/>
          <a:p>
            <a:r>
              <a:rPr lang="en-US" dirty="0"/>
              <a:t>RAG is biased toward supporting the query</a:t>
            </a:r>
          </a:p>
        </p:txBody>
      </p:sp>
      <p:pic>
        <p:nvPicPr>
          <p:cNvPr id="3074" name="Picture 2" descr="page2image559022464">
            <a:extLst>
              <a:ext uri="{FF2B5EF4-FFF2-40B4-BE49-F238E27FC236}">
                <a16:creationId xmlns:a16="http://schemas.microsoft.com/office/drawing/2014/main" id="{2C8F5EAC-DF2E-A81C-6F63-526B25ED7E62}"/>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886462" y="930167"/>
            <a:ext cx="7371077" cy="35945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7878C58-27AF-6684-E154-819913206EF1}"/>
              </a:ext>
            </a:extLst>
          </p:cNvPr>
          <p:cNvSpPr txBox="1"/>
          <p:nvPr/>
        </p:nvSpPr>
        <p:spPr>
          <a:xfrm>
            <a:off x="2285999" y="4524704"/>
            <a:ext cx="4572000" cy="577081"/>
          </a:xfrm>
          <a:prstGeom prst="rect">
            <a:avLst/>
          </a:prstGeom>
          <a:noFill/>
        </p:spPr>
        <p:txBody>
          <a:bodyPr wrap="square">
            <a:spAutoFit/>
          </a:bodyPr>
          <a:lstStyle/>
          <a:p>
            <a:r>
              <a:rPr lang="en-US" sz="1050" dirty="0"/>
              <a:t>Position: Retrieval-augmented systems can be dangerous medical communicators. Lionel Wong, Ayman Ali, Raymond Xiong, Shannon Shen, Yoon Kim, Monica Agrawal. ICML, 2025.</a:t>
            </a:r>
          </a:p>
        </p:txBody>
      </p:sp>
    </p:spTree>
    <p:extLst>
      <p:ext uri="{BB962C8B-B14F-4D97-AF65-F5344CB8AC3E}">
        <p14:creationId xmlns:p14="http://schemas.microsoft.com/office/powerpoint/2010/main" val="648485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E39B8-5F6C-B110-242E-5A7D1CA04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8D3D4-0B25-FF70-121C-899C2C4FACDC}"/>
              </a:ext>
            </a:extLst>
          </p:cNvPr>
          <p:cNvSpPr>
            <a:spLocks noGrp="1"/>
          </p:cNvSpPr>
          <p:nvPr>
            <p:ph type="title"/>
          </p:nvPr>
        </p:nvSpPr>
        <p:spPr>
          <a:xfrm>
            <a:off x="628650" y="830064"/>
            <a:ext cx="7886700" cy="994172"/>
          </a:xfrm>
        </p:spPr>
        <p:txBody>
          <a:bodyPr/>
          <a:lstStyle/>
          <a:p>
            <a:r>
              <a:rPr lang="en-US" u="sng" dirty="0"/>
              <a:t>Discuss</a:t>
            </a:r>
            <a:r>
              <a:rPr lang="en-US" dirty="0"/>
              <a:t>: </a:t>
            </a:r>
            <a:br>
              <a:rPr lang="en-US" dirty="0"/>
            </a:br>
            <a:br>
              <a:rPr lang="en-US" dirty="0"/>
            </a:br>
            <a:r>
              <a:rPr lang="en-US" dirty="0"/>
              <a:t>Experiences with RAG systems</a:t>
            </a:r>
            <a:br>
              <a:rPr lang="en-US" dirty="0"/>
            </a:br>
            <a:r>
              <a:rPr lang="en-US" dirty="0"/>
              <a:t>(e.g. </a:t>
            </a:r>
            <a:r>
              <a:rPr lang="en-US" dirty="0" err="1"/>
              <a:t>OpenEvidence</a:t>
            </a:r>
            <a:r>
              <a:rPr lang="en-US" dirty="0"/>
              <a:t>, many others)</a:t>
            </a:r>
            <a:br>
              <a:rPr lang="en-US" dirty="0"/>
            </a:br>
            <a:br>
              <a:rPr lang="en-US" dirty="0"/>
            </a:br>
            <a:r>
              <a:rPr lang="en-US" dirty="0"/>
              <a:t>Have you identified biases?</a:t>
            </a:r>
          </a:p>
        </p:txBody>
      </p:sp>
    </p:spTree>
    <p:extLst>
      <p:ext uri="{BB962C8B-B14F-4D97-AF65-F5344CB8AC3E}">
        <p14:creationId xmlns:p14="http://schemas.microsoft.com/office/powerpoint/2010/main" val="75358397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0C20ED-7DC6-FA46-9DC3-473E7616BF38}">
  <we:reference id="wa104380121" version="2.0.0.0" store="en-US" storeType="OMEX"/>
  <we:alternateReferences>
    <we:reference id="wa104380121" version="2.0.0.0" store="WA104380121"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13208</TotalTime>
  <Words>3525</Words>
  <Application>Microsoft Macintosh PowerPoint</Application>
  <PresentationFormat>On-screen Show (16:9)</PresentationFormat>
  <Paragraphs>707</Paragraphs>
  <Slides>52</Slides>
  <Notes>31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52</vt:i4>
      </vt:variant>
    </vt:vector>
  </HeadingPairs>
  <TitlesOfParts>
    <vt:vector size="61" baseType="lpstr">
      <vt:lpstr>Arial</vt:lpstr>
      <vt:lpstr>Calibri</vt:lpstr>
      <vt:lpstr>Cambria Math</vt:lpstr>
      <vt:lpstr>freight-sans-pro</vt:lpstr>
      <vt:lpstr>Poppins Light</vt:lpstr>
      <vt:lpstr>Times New Roman</vt:lpstr>
      <vt:lpstr>Wingdings</vt:lpstr>
      <vt:lpstr>1_Office Theme</vt:lpstr>
      <vt:lpstr>2_Office Theme</vt:lpstr>
      <vt:lpstr>From Bags of Words to  Large Language Models</vt:lpstr>
      <vt:lpstr>Problem 1: make predictions from text</vt:lpstr>
      <vt:lpstr>Problem 2: generate text</vt:lpstr>
      <vt:lpstr>Is this generative or predictive?</vt:lpstr>
      <vt:lpstr>PowerPoint Presentation</vt:lpstr>
      <vt:lpstr>Text to numbers, v1:  word counts</vt:lpstr>
      <vt:lpstr>Case Study: SMS Triage for Global Maternal Health</vt:lpstr>
      <vt:lpstr>A Simple Predictive Model: ICU Mortality</vt:lpstr>
      <vt:lpstr>Training Set (Historical Data)</vt:lpstr>
      <vt:lpstr>Making Predictions for New x</vt:lpstr>
      <vt:lpstr>Case Study: SMS Triage for Global Maternal Health</vt:lpstr>
      <vt:lpstr>This time, our training data is text</vt:lpstr>
      <vt:lpstr>We need numbers, not words</vt:lpstr>
      <vt:lpstr>First try: count words in each SMS Step 1: Define a vocabulary of words</vt:lpstr>
      <vt:lpstr>Step 2: count how many times each vocabulary word appears in a given SMS</vt:lpstr>
      <vt:lpstr>Step 2: count how many times each vocabulary word appears in a given SMS</vt:lpstr>
      <vt:lpstr>Note that word order does not matter!</vt:lpstr>
      <vt:lpstr>A “bag of words”</vt:lpstr>
      <vt:lpstr>A “bag of medical codes”</vt:lpstr>
      <vt:lpstr>Discuss: what are the limitations of treating text as a bag of words?</vt:lpstr>
      <vt:lpstr>Text to numbers, v2:  word embeddings</vt:lpstr>
      <vt:lpstr>Word embedding: a numeric representation of a word that encodes its meaning</vt:lpstr>
      <vt:lpstr>Grocery List</vt:lpstr>
      <vt:lpstr>Identify items by their attributes (including previously unseen items)</vt:lpstr>
      <vt:lpstr>Why does this help us?</vt:lpstr>
      <vt:lpstr>How do we learn word embeddings?</vt:lpstr>
      <vt:lpstr>How do we learn these attributes?</vt:lpstr>
      <vt:lpstr>How do we learn these attributes?</vt:lpstr>
      <vt:lpstr>Step 1: define co-occurrence or context</vt:lpstr>
      <vt:lpstr>Step 2: find vector representations sufficient  to predict the likely context  (i.e. what other words are likely/unlikely to be nearby) </vt:lpstr>
      <vt:lpstr>Step 2: find vector representations sufficient  to predict the likely context  (i.e. what other words are likely/unlikely to be nearby) </vt:lpstr>
      <vt:lpstr>Step 2: find vector representations sufficient  to predict the likely context  (i.e. what other words are likely/unlikely to be nearby) </vt:lpstr>
      <vt:lpstr>Word embeddings make it easy…</vt:lpstr>
      <vt:lpstr>What happens when we embed all words in a sentence?</vt:lpstr>
      <vt:lpstr>What happens when we embed all words in a sentence?</vt:lpstr>
      <vt:lpstr>Now we can use deep learning…</vt:lpstr>
      <vt:lpstr>Now we can use deep learning to build our hierarchy of features.</vt:lpstr>
      <vt:lpstr>Now we can use deep learning to build our hierarchy of semantic features.</vt:lpstr>
      <vt:lpstr>Back to next-token prediction</vt:lpstr>
      <vt:lpstr>Now we can generate text!</vt:lpstr>
      <vt:lpstr>(A look under the hood) TPH = “token prediction head”</vt:lpstr>
      <vt:lpstr>Is this generative or predictive?</vt:lpstr>
      <vt:lpstr>All of this also works in the EHR!</vt:lpstr>
      <vt:lpstr>Models for structured EHR data: the “language” of the EHR</vt:lpstr>
      <vt:lpstr>Should you believe your LLM?</vt:lpstr>
      <vt:lpstr>First, learn to predict the next word on the internet</vt:lpstr>
      <vt:lpstr>Then, learn to satisfy human preferences.</vt:lpstr>
      <vt:lpstr>Discuss:   Does this paradigm guarantee truth?  What does it optimize for?  How can it lead to bias?</vt:lpstr>
      <vt:lpstr>Should you believe your RAG-enabled LLM?</vt:lpstr>
      <vt:lpstr>RAG augments LLMs with external knowledge</vt:lpstr>
      <vt:lpstr>RAG is biased toward supporting the query</vt:lpstr>
      <vt:lpstr>Discuss:   Experiences with RAG systems (e.g. OpenEvidence, many others)  Have you identified biases?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Carlson, Ph.D.</dc:creator>
  <cp:lastModifiedBy>Matthew Engelhard, M.D., Ph.D.</cp:lastModifiedBy>
  <cp:revision>397</cp:revision>
  <cp:lastPrinted>2018-06-22T18:27:38Z</cp:lastPrinted>
  <dcterms:created xsi:type="dcterms:W3CDTF">2018-06-03T14:52:22Z</dcterms:created>
  <dcterms:modified xsi:type="dcterms:W3CDTF">2026-06-26T02:24:54Z</dcterms:modified>
</cp:coreProperties>
</file>