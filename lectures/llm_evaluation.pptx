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2" r:id="rId2"/>
  </p:sldMasterIdLst>
  <p:notesMasterIdLst>
    <p:notesMasterId r:id="rId33"/>
  </p:notesMasterIdLst>
  <p:handoutMasterIdLst>
    <p:handoutMasterId r:id="rId34"/>
  </p:handoutMasterIdLst>
  <p:sldIdLst>
    <p:sldId id="297" r:id="rId3"/>
    <p:sldId id="604" r:id="rId4"/>
    <p:sldId id="605" r:id="rId5"/>
    <p:sldId id="606" r:id="rId6"/>
    <p:sldId id="259" r:id="rId7"/>
    <p:sldId id="261" r:id="rId8"/>
    <p:sldId id="262" r:id="rId9"/>
    <p:sldId id="905" r:id="rId10"/>
    <p:sldId id="906" r:id="rId11"/>
    <p:sldId id="907" r:id="rId12"/>
    <p:sldId id="909" r:id="rId13"/>
    <p:sldId id="908" r:id="rId14"/>
    <p:sldId id="910" r:id="rId15"/>
    <p:sldId id="911" r:id="rId16"/>
    <p:sldId id="912" r:id="rId17"/>
    <p:sldId id="913" r:id="rId18"/>
    <p:sldId id="914" r:id="rId19"/>
    <p:sldId id="915" r:id="rId20"/>
    <p:sldId id="916" r:id="rId21"/>
    <p:sldId id="918" r:id="rId22"/>
    <p:sldId id="917" r:id="rId23"/>
    <p:sldId id="919" r:id="rId24"/>
    <p:sldId id="920" r:id="rId25"/>
    <p:sldId id="921" r:id="rId26"/>
    <p:sldId id="922" r:id="rId27"/>
    <p:sldId id="923" r:id="rId28"/>
    <p:sldId id="924" r:id="rId29"/>
    <p:sldId id="272" r:id="rId30"/>
    <p:sldId id="925" r:id="rId31"/>
    <p:sldId id="903" r:id="rId32"/>
  </p:sldIdLst>
  <p:sldSz cx="9144000" cy="5143500" type="screen16x9"/>
  <p:notesSz cx="6858000" cy="9144000"/>
  <p:defaultTextStyle>
    <a:defPPr>
      <a:defRPr lang="en-US"/>
    </a:defPPr>
    <a:lvl1pPr marL="0" algn="l" defTabSz="457166" rtl="0" eaLnBrk="1" latinLnBrk="0" hangingPunct="1">
      <a:defRPr sz="1800" kern="1200">
        <a:solidFill>
          <a:schemeClr val="tx1"/>
        </a:solidFill>
        <a:latin typeface="+mn-lt"/>
        <a:ea typeface="+mn-ea"/>
        <a:cs typeface="+mn-cs"/>
      </a:defRPr>
    </a:lvl1pPr>
    <a:lvl2pPr marL="457166" algn="l" defTabSz="457166" rtl="0" eaLnBrk="1" latinLnBrk="0" hangingPunct="1">
      <a:defRPr sz="1800" kern="1200">
        <a:solidFill>
          <a:schemeClr val="tx1"/>
        </a:solidFill>
        <a:latin typeface="+mn-lt"/>
        <a:ea typeface="+mn-ea"/>
        <a:cs typeface="+mn-cs"/>
      </a:defRPr>
    </a:lvl2pPr>
    <a:lvl3pPr marL="914333" algn="l" defTabSz="457166" rtl="0" eaLnBrk="1" latinLnBrk="0" hangingPunct="1">
      <a:defRPr sz="1800" kern="1200">
        <a:solidFill>
          <a:schemeClr val="tx1"/>
        </a:solidFill>
        <a:latin typeface="+mn-lt"/>
        <a:ea typeface="+mn-ea"/>
        <a:cs typeface="+mn-cs"/>
      </a:defRPr>
    </a:lvl3pPr>
    <a:lvl4pPr marL="1371499" algn="l" defTabSz="457166" rtl="0" eaLnBrk="1" latinLnBrk="0" hangingPunct="1">
      <a:defRPr sz="1800" kern="1200">
        <a:solidFill>
          <a:schemeClr val="tx1"/>
        </a:solidFill>
        <a:latin typeface="+mn-lt"/>
        <a:ea typeface="+mn-ea"/>
        <a:cs typeface="+mn-cs"/>
      </a:defRPr>
    </a:lvl4pPr>
    <a:lvl5pPr marL="1828666" algn="l" defTabSz="457166" rtl="0" eaLnBrk="1" latinLnBrk="0" hangingPunct="1">
      <a:defRPr sz="1800" kern="1200">
        <a:solidFill>
          <a:schemeClr val="tx1"/>
        </a:solidFill>
        <a:latin typeface="+mn-lt"/>
        <a:ea typeface="+mn-ea"/>
        <a:cs typeface="+mn-cs"/>
      </a:defRPr>
    </a:lvl5pPr>
    <a:lvl6pPr marL="2285832" algn="l" defTabSz="457166" rtl="0" eaLnBrk="1" latinLnBrk="0" hangingPunct="1">
      <a:defRPr sz="1800" kern="1200">
        <a:solidFill>
          <a:schemeClr val="tx1"/>
        </a:solidFill>
        <a:latin typeface="+mn-lt"/>
        <a:ea typeface="+mn-ea"/>
        <a:cs typeface="+mn-cs"/>
      </a:defRPr>
    </a:lvl6pPr>
    <a:lvl7pPr marL="2742998" algn="l" defTabSz="457166" rtl="0" eaLnBrk="1" latinLnBrk="0" hangingPunct="1">
      <a:defRPr sz="1800" kern="1200">
        <a:solidFill>
          <a:schemeClr val="tx1"/>
        </a:solidFill>
        <a:latin typeface="+mn-lt"/>
        <a:ea typeface="+mn-ea"/>
        <a:cs typeface="+mn-cs"/>
      </a:defRPr>
    </a:lvl7pPr>
    <a:lvl8pPr marL="3200165" algn="l" defTabSz="457166" rtl="0" eaLnBrk="1" latinLnBrk="0" hangingPunct="1">
      <a:defRPr sz="1800" kern="1200">
        <a:solidFill>
          <a:schemeClr val="tx1"/>
        </a:solidFill>
        <a:latin typeface="+mn-lt"/>
        <a:ea typeface="+mn-ea"/>
        <a:cs typeface="+mn-cs"/>
      </a:defRPr>
    </a:lvl8pPr>
    <a:lvl9pPr marL="3657331" algn="l" defTabSz="457166"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C00"/>
    <a:srgbClr val="FF5D00"/>
    <a:srgbClr val="3F80CD"/>
    <a:srgbClr val="235F9C"/>
    <a:srgbClr val="001A5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790"/>
    <p:restoredTop sz="77945"/>
  </p:normalViewPr>
  <p:slideViewPr>
    <p:cSldViewPr snapToGrid="0" snapToObjects="1">
      <p:cViewPr varScale="1">
        <p:scale>
          <a:sx n="130" d="100"/>
          <a:sy n="130" d="100"/>
        </p:scale>
        <p:origin x="864" y="184"/>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95" d="100"/>
          <a:sy n="95" d="100"/>
        </p:scale>
        <p:origin x="3720" y="19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47F71E0-0D53-DC45-B2CB-C90849DC5EA0}"/>
              </a:ext>
            </a:extLst>
          </p:cNvPr>
          <p:cNvSpPr>
            <a:spLocks noGrp="1"/>
          </p:cNvSpPr>
          <p:nvPr>
            <p:ph type="hdr" sz="quarter"/>
          </p:nvPr>
        </p:nvSpPr>
        <p:spPr>
          <a:xfrm>
            <a:off x="0" y="0"/>
            <a:ext cx="2971800" cy="459317"/>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8A5AE21-28DC-384A-9615-D2A234C1720F}"/>
              </a:ext>
            </a:extLst>
          </p:cNvPr>
          <p:cNvSpPr>
            <a:spLocks noGrp="1"/>
          </p:cNvSpPr>
          <p:nvPr>
            <p:ph type="dt" sz="quarter" idx="1"/>
          </p:nvPr>
        </p:nvSpPr>
        <p:spPr>
          <a:xfrm>
            <a:off x="3885010" y="0"/>
            <a:ext cx="2971800" cy="459317"/>
          </a:xfrm>
          <a:prstGeom prst="rect">
            <a:avLst/>
          </a:prstGeom>
        </p:spPr>
        <p:txBody>
          <a:bodyPr vert="horz" lIns="91440" tIns="45720" rIns="91440" bIns="45720" rtlCol="0"/>
          <a:lstStyle>
            <a:lvl1pPr algn="r">
              <a:defRPr sz="1200"/>
            </a:lvl1pPr>
          </a:lstStyle>
          <a:p>
            <a:fld id="{51727395-C8D8-FC4E-A947-CB2BD1422AA7}" type="datetimeFigureOut">
              <a:rPr lang="en-US" smtClean="0"/>
              <a:t>7/10/26</a:t>
            </a:fld>
            <a:endParaRPr lang="en-US"/>
          </a:p>
        </p:txBody>
      </p:sp>
      <p:sp>
        <p:nvSpPr>
          <p:cNvPr id="4" name="Footer Placeholder 3">
            <a:extLst>
              <a:ext uri="{FF2B5EF4-FFF2-40B4-BE49-F238E27FC236}">
                <a16:creationId xmlns:a16="http://schemas.microsoft.com/office/drawing/2014/main" id="{C80266FC-5661-134A-A28E-52A0750FBAD1}"/>
              </a:ext>
            </a:extLst>
          </p:cNvPr>
          <p:cNvSpPr>
            <a:spLocks noGrp="1"/>
          </p:cNvSpPr>
          <p:nvPr>
            <p:ph type="ftr" sz="quarter" idx="2"/>
          </p:nvPr>
        </p:nvSpPr>
        <p:spPr>
          <a:xfrm>
            <a:off x="0" y="8684685"/>
            <a:ext cx="2971800" cy="459316"/>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3260C2E-86CE-434C-81DE-82F82C9B8D9C}"/>
              </a:ext>
            </a:extLst>
          </p:cNvPr>
          <p:cNvSpPr>
            <a:spLocks noGrp="1"/>
          </p:cNvSpPr>
          <p:nvPr>
            <p:ph type="sldNum" sz="quarter" idx="3"/>
          </p:nvPr>
        </p:nvSpPr>
        <p:spPr>
          <a:xfrm>
            <a:off x="3885010" y="8684685"/>
            <a:ext cx="2971800" cy="459316"/>
          </a:xfrm>
          <a:prstGeom prst="rect">
            <a:avLst/>
          </a:prstGeom>
        </p:spPr>
        <p:txBody>
          <a:bodyPr vert="horz" lIns="91440" tIns="45720" rIns="91440" bIns="45720" rtlCol="0" anchor="b"/>
          <a:lstStyle>
            <a:lvl1pPr algn="r">
              <a:defRPr sz="1200"/>
            </a:lvl1pPr>
          </a:lstStyle>
          <a:p>
            <a:fld id="{CCC4DDE5-AA14-DD42-BEF8-7DF8E3623279}" type="slidenum">
              <a:rPr lang="en-US" smtClean="0"/>
              <a:t>‹#›</a:t>
            </a:fld>
            <a:endParaRPr lang="en-US"/>
          </a:p>
        </p:txBody>
      </p:sp>
    </p:spTree>
    <p:extLst>
      <p:ext uri="{BB962C8B-B14F-4D97-AF65-F5344CB8AC3E}">
        <p14:creationId xmlns:p14="http://schemas.microsoft.com/office/powerpoint/2010/main" val="31576342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931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5010" y="0"/>
            <a:ext cx="2971800" cy="459317"/>
          </a:xfrm>
          <a:prstGeom prst="rect">
            <a:avLst/>
          </a:prstGeom>
        </p:spPr>
        <p:txBody>
          <a:bodyPr vert="horz" lIns="91440" tIns="45720" rIns="91440" bIns="45720" rtlCol="0"/>
          <a:lstStyle>
            <a:lvl1pPr algn="r">
              <a:defRPr sz="1200"/>
            </a:lvl1pPr>
          </a:lstStyle>
          <a:p>
            <a:fld id="{910927A9-B8DC-384B-BF68-738F1B31EAB2}" type="datetimeFigureOut">
              <a:rPr lang="en-US" smtClean="0"/>
              <a:t>7/10/26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2"/>
            <a:ext cx="5486400" cy="3600449"/>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4685"/>
            <a:ext cx="2971800" cy="45931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5010" y="8684685"/>
            <a:ext cx="2971800" cy="459316"/>
          </a:xfrm>
          <a:prstGeom prst="rect">
            <a:avLst/>
          </a:prstGeom>
        </p:spPr>
        <p:txBody>
          <a:bodyPr vert="horz" lIns="91440" tIns="45720" rIns="91440" bIns="45720" rtlCol="0" anchor="b"/>
          <a:lstStyle>
            <a:lvl1pPr algn="r">
              <a:defRPr sz="1200"/>
            </a:lvl1pPr>
          </a:lstStyle>
          <a:p>
            <a:fld id="{DB333E9F-084A-8543-BC6F-0AE70009C29B}" type="slidenum">
              <a:rPr lang="en-US" smtClean="0"/>
              <a:t>‹#›</a:t>
            </a:fld>
            <a:endParaRPr lang="en-US"/>
          </a:p>
        </p:txBody>
      </p:sp>
    </p:spTree>
    <p:extLst>
      <p:ext uri="{BB962C8B-B14F-4D97-AF65-F5344CB8AC3E}">
        <p14:creationId xmlns:p14="http://schemas.microsoft.com/office/powerpoint/2010/main" val="1283024862"/>
      </p:ext>
    </p:extLst>
  </p:cSld>
  <p:clrMap bg1="lt1" tx1="dk1" bg2="lt2" tx2="dk2" accent1="accent1" accent2="accent2" accent3="accent3" accent4="accent4" accent5="accent5" accent6="accent6" hlink="hlink" folHlink="folHlink"/>
  <p:notesStyle>
    <a:lvl1pPr marL="0" algn="l" defTabSz="914333" rtl="0" eaLnBrk="1" latinLnBrk="0" hangingPunct="1">
      <a:defRPr sz="1199" kern="1200">
        <a:solidFill>
          <a:schemeClr val="tx1"/>
        </a:solidFill>
        <a:latin typeface="+mn-lt"/>
        <a:ea typeface="+mn-ea"/>
        <a:cs typeface="+mn-cs"/>
      </a:defRPr>
    </a:lvl1pPr>
    <a:lvl2pPr marL="457166" algn="l" defTabSz="914333" rtl="0" eaLnBrk="1" latinLnBrk="0" hangingPunct="1">
      <a:defRPr sz="1199" kern="1200">
        <a:solidFill>
          <a:schemeClr val="tx1"/>
        </a:solidFill>
        <a:latin typeface="+mn-lt"/>
        <a:ea typeface="+mn-ea"/>
        <a:cs typeface="+mn-cs"/>
      </a:defRPr>
    </a:lvl2pPr>
    <a:lvl3pPr marL="914333" algn="l" defTabSz="914333" rtl="0" eaLnBrk="1" latinLnBrk="0" hangingPunct="1">
      <a:defRPr sz="1199" kern="1200">
        <a:solidFill>
          <a:schemeClr val="tx1"/>
        </a:solidFill>
        <a:latin typeface="+mn-lt"/>
        <a:ea typeface="+mn-ea"/>
        <a:cs typeface="+mn-cs"/>
      </a:defRPr>
    </a:lvl3pPr>
    <a:lvl4pPr marL="1371499" algn="l" defTabSz="914333" rtl="0" eaLnBrk="1" latinLnBrk="0" hangingPunct="1">
      <a:defRPr sz="1199" kern="1200">
        <a:solidFill>
          <a:schemeClr val="tx1"/>
        </a:solidFill>
        <a:latin typeface="+mn-lt"/>
        <a:ea typeface="+mn-ea"/>
        <a:cs typeface="+mn-cs"/>
      </a:defRPr>
    </a:lvl4pPr>
    <a:lvl5pPr marL="1828666" algn="l" defTabSz="914333" rtl="0" eaLnBrk="1" latinLnBrk="0" hangingPunct="1">
      <a:defRPr sz="1199" kern="1200">
        <a:solidFill>
          <a:schemeClr val="tx1"/>
        </a:solidFill>
        <a:latin typeface="+mn-lt"/>
        <a:ea typeface="+mn-ea"/>
        <a:cs typeface="+mn-cs"/>
      </a:defRPr>
    </a:lvl5pPr>
    <a:lvl6pPr marL="2285832" algn="l" defTabSz="914333" rtl="0" eaLnBrk="1" latinLnBrk="0" hangingPunct="1">
      <a:defRPr sz="1199" kern="1200">
        <a:solidFill>
          <a:schemeClr val="tx1"/>
        </a:solidFill>
        <a:latin typeface="+mn-lt"/>
        <a:ea typeface="+mn-ea"/>
        <a:cs typeface="+mn-cs"/>
      </a:defRPr>
    </a:lvl6pPr>
    <a:lvl7pPr marL="2742998" algn="l" defTabSz="914333" rtl="0" eaLnBrk="1" latinLnBrk="0" hangingPunct="1">
      <a:defRPr sz="1199" kern="1200">
        <a:solidFill>
          <a:schemeClr val="tx1"/>
        </a:solidFill>
        <a:latin typeface="+mn-lt"/>
        <a:ea typeface="+mn-ea"/>
        <a:cs typeface="+mn-cs"/>
      </a:defRPr>
    </a:lvl7pPr>
    <a:lvl8pPr marL="3200165" algn="l" defTabSz="914333" rtl="0" eaLnBrk="1" latinLnBrk="0" hangingPunct="1">
      <a:defRPr sz="1199" kern="1200">
        <a:solidFill>
          <a:schemeClr val="tx1"/>
        </a:solidFill>
        <a:latin typeface="+mn-lt"/>
        <a:ea typeface="+mn-ea"/>
        <a:cs typeface="+mn-cs"/>
      </a:defRPr>
    </a:lvl8pPr>
    <a:lvl9pPr marL="3657331" algn="l" defTabSz="914333" rtl="0" eaLnBrk="1" latinLnBrk="0" hangingPunct="1">
      <a:defRPr sz="119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0175F3A6-6971-5D47-A3A5-1EDC47BAF5FB}" type="slidenum">
              <a:rPr lang="en-US" smtClean="0"/>
              <a:t>1</a:t>
            </a:fld>
            <a:endParaRPr lang="en-US"/>
          </a:p>
        </p:txBody>
      </p:sp>
    </p:spTree>
    <p:extLst>
      <p:ext uri="{BB962C8B-B14F-4D97-AF65-F5344CB8AC3E}">
        <p14:creationId xmlns:p14="http://schemas.microsoft.com/office/powerpoint/2010/main" val="3814061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what about the systems we’re seeing today?</a:t>
            </a:r>
          </a:p>
          <a:p>
            <a:r>
              <a:rPr lang="en-US" dirty="0"/>
              <a:t>Does the paradigm I’ve described still fit?</a:t>
            </a:r>
          </a:p>
        </p:txBody>
      </p:sp>
      <p:sp>
        <p:nvSpPr>
          <p:cNvPr id="4" name="Slide Number Placeholder 3"/>
          <p:cNvSpPr>
            <a:spLocks noGrp="1"/>
          </p:cNvSpPr>
          <p:nvPr>
            <p:ph type="sldNum" sz="quarter" idx="5"/>
          </p:nvPr>
        </p:nvSpPr>
        <p:spPr/>
        <p:txBody>
          <a:bodyPr/>
          <a:lstStyle/>
          <a:p>
            <a:fld id="{9FCDE58F-843A-8447-AF7F-7BD31329CDC1}" type="slidenum">
              <a:rPr lang="en-US" smtClean="0"/>
              <a:t>2</a:t>
            </a:fld>
            <a:endParaRPr lang="en-US"/>
          </a:p>
        </p:txBody>
      </p:sp>
    </p:spTree>
    <p:extLst>
      <p:ext uri="{BB962C8B-B14F-4D97-AF65-F5344CB8AC3E}">
        <p14:creationId xmlns:p14="http://schemas.microsoft.com/office/powerpoint/2010/main" val="12860153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group – how would you evaluate a generative model?</a:t>
            </a:r>
          </a:p>
          <a:p>
            <a:r>
              <a:rPr lang="en-US" dirty="0"/>
              <a:t>What approaches have you seen?</a:t>
            </a:r>
          </a:p>
        </p:txBody>
      </p:sp>
      <p:sp>
        <p:nvSpPr>
          <p:cNvPr id="4" name="Slide Number Placeholder 3"/>
          <p:cNvSpPr>
            <a:spLocks noGrp="1"/>
          </p:cNvSpPr>
          <p:nvPr>
            <p:ph type="sldNum" sz="quarter" idx="5"/>
          </p:nvPr>
        </p:nvSpPr>
        <p:spPr/>
        <p:txBody>
          <a:bodyPr/>
          <a:lstStyle/>
          <a:p>
            <a:fld id="{DB333E9F-084A-8543-BC6F-0AE70009C29B}" type="slidenum">
              <a:rPr lang="en-US" smtClean="0"/>
              <a:t>30</a:t>
            </a:fld>
            <a:endParaRPr lang="en-US"/>
          </a:p>
        </p:txBody>
      </p:sp>
    </p:spTree>
    <p:extLst>
      <p:ext uri="{BB962C8B-B14F-4D97-AF65-F5344CB8AC3E}">
        <p14:creationId xmlns:p14="http://schemas.microsoft.com/office/powerpoint/2010/main" val="29266501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23D3-97BA-8344-B77C-C3C47F735D95}"/>
              </a:ext>
            </a:extLst>
          </p:cNvPr>
          <p:cNvSpPr>
            <a:spLocks noGrp="1"/>
          </p:cNvSpPr>
          <p:nvPr>
            <p:ph type="ctrTitle"/>
          </p:nvPr>
        </p:nvSpPr>
        <p:spPr>
          <a:xfrm>
            <a:off x="1143000" y="841772"/>
            <a:ext cx="6858000" cy="1790700"/>
          </a:xfrm>
          <a:prstGeom prst="rect">
            <a:avLst/>
          </a:prstGeo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18DBA69F-5897-5F44-92BC-479B55DE9F72}"/>
              </a:ext>
            </a:extLst>
          </p:cNvPr>
          <p:cNvSpPr>
            <a:spLocks noGrp="1"/>
          </p:cNvSpPr>
          <p:nvPr>
            <p:ph type="subTitle" idx="1"/>
          </p:nvPr>
        </p:nvSpPr>
        <p:spPr>
          <a:xfrm>
            <a:off x="1143000" y="2701528"/>
            <a:ext cx="6858000" cy="124182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Tree>
    <p:extLst>
      <p:ext uri="{BB962C8B-B14F-4D97-AF65-F5344CB8AC3E}">
        <p14:creationId xmlns:p14="http://schemas.microsoft.com/office/powerpoint/2010/main" val="1168764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744FE-227B-BB4B-AFCB-C70369A59A9D}"/>
              </a:ext>
            </a:extLst>
          </p:cNvPr>
          <p:cNvSpPr>
            <a:spLocks noGrp="1"/>
          </p:cNvSpPr>
          <p:nvPr>
            <p:ph type="title"/>
          </p:nvPr>
        </p:nvSpPr>
        <p:spPr>
          <a:xfrm>
            <a:off x="628650" y="273844"/>
            <a:ext cx="7886700" cy="994172"/>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03E786AE-9738-E14C-9B4A-B463D9070E75}"/>
              </a:ext>
            </a:extLst>
          </p:cNvPr>
          <p:cNvSpPr>
            <a:spLocks noGrp="1"/>
          </p:cNvSpPr>
          <p:nvPr>
            <p:ph idx="1"/>
          </p:nvPr>
        </p:nvSpPr>
        <p:spPr>
          <a:xfrm>
            <a:off x="628650" y="1369219"/>
            <a:ext cx="7886700" cy="32635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76612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DDC07-CABA-9E4D-9E3A-95E05BCB87D8}"/>
              </a:ext>
            </a:extLst>
          </p:cNvPr>
          <p:cNvSpPr>
            <a:spLocks noGrp="1"/>
          </p:cNvSpPr>
          <p:nvPr>
            <p:ph type="title"/>
          </p:nvPr>
        </p:nvSpPr>
        <p:spPr>
          <a:xfrm>
            <a:off x="623888" y="1282304"/>
            <a:ext cx="7886700" cy="2139553"/>
          </a:xfrm>
          <a:prstGeom prst="rect">
            <a:avLst/>
          </a:prstGeo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A28BD0F8-3355-CA42-8F79-D8191E4962BE}"/>
              </a:ext>
            </a:extLst>
          </p:cNvPr>
          <p:cNvSpPr>
            <a:spLocks noGrp="1"/>
          </p:cNvSpPr>
          <p:nvPr>
            <p:ph type="body" idx="1"/>
          </p:nvPr>
        </p:nvSpPr>
        <p:spPr>
          <a:xfrm>
            <a:off x="623888" y="3442098"/>
            <a:ext cx="7886700" cy="1125140"/>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910984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B6984-E4BA-284B-B7AF-D51BD0BDCBE2}"/>
              </a:ext>
            </a:extLst>
          </p:cNvPr>
          <p:cNvSpPr>
            <a:spLocks noGrp="1"/>
          </p:cNvSpPr>
          <p:nvPr>
            <p:ph type="title"/>
          </p:nvPr>
        </p:nvSpPr>
        <p:spPr>
          <a:xfrm>
            <a:off x="628650" y="273844"/>
            <a:ext cx="7886700" cy="994172"/>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FF353D1B-9EE2-4E4F-B36A-F0F237B8A8E4}"/>
              </a:ext>
            </a:extLst>
          </p:cNvPr>
          <p:cNvSpPr>
            <a:spLocks noGrp="1"/>
          </p:cNvSpPr>
          <p:nvPr>
            <p:ph sz="half" idx="1"/>
          </p:nvPr>
        </p:nvSpPr>
        <p:spPr>
          <a:xfrm>
            <a:off x="628650" y="1369219"/>
            <a:ext cx="3886200" cy="32635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48FBE0A-D618-A548-B1F3-E7BCD2D5715F}"/>
              </a:ext>
            </a:extLst>
          </p:cNvPr>
          <p:cNvSpPr>
            <a:spLocks noGrp="1"/>
          </p:cNvSpPr>
          <p:nvPr>
            <p:ph sz="half" idx="2"/>
          </p:nvPr>
        </p:nvSpPr>
        <p:spPr>
          <a:xfrm>
            <a:off x="4629150" y="1369219"/>
            <a:ext cx="3886200" cy="32635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43170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8D306-FDF6-DE45-90F3-DD6E0A2416EE}"/>
              </a:ext>
            </a:extLst>
          </p:cNvPr>
          <p:cNvSpPr>
            <a:spLocks noGrp="1"/>
          </p:cNvSpPr>
          <p:nvPr>
            <p:ph type="title"/>
          </p:nvPr>
        </p:nvSpPr>
        <p:spPr>
          <a:xfrm>
            <a:off x="629841" y="273844"/>
            <a:ext cx="7886700" cy="994172"/>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2EE7B324-C8C1-B34B-93B4-5E52FB3E7B79}"/>
              </a:ext>
            </a:extLst>
          </p:cNvPr>
          <p:cNvSpPr>
            <a:spLocks noGrp="1"/>
          </p:cNvSpPr>
          <p:nvPr>
            <p:ph type="body" idx="1"/>
          </p:nvPr>
        </p:nvSpPr>
        <p:spPr>
          <a:xfrm>
            <a:off x="629842" y="1260872"/>
            <a:ext cx="3868340" cy="617934"/>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4695C052-E346-7A4E-A53F-178DCAB9D312}"/>
              </a:ext>
            </a:extLst>
          </p:cNvPr>
          <p:cNvSpPr>
            <a:spLocks noGrp="1"/>
          </p:cNvSpPr>
          <p:nvPr>
            <p:ph sz="half" idx="2"/>
          </p:nvPr>
        </p:nvSpPr>
        <p:spPr>
          <a:xfrm>
            <a:off x="629842" y="1878806"/>
            <a:ext cx="3868340" cy="276344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0F207E-CBC1-6444-AE32-2D03AB9BEB81}"/>
              </a:ext>
            </a:extLst>
          </p:cNvPr>
          <p:cNvSpPr>
            <a:spLocks noGrp="1"/>
          </p:cNvSpPr>
          <p:nvPr>
            <p:ph type="body" sz="quarter" idx="3"/>
          </p:nvPr>
        </p:nvSpPr>
        <p:spPr>
          <a:xfrm>
            <a:off x="4629150" y="1260872"/>
            <a:ext cx="3887391" cy="617934"/>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FBC86491-5FF8-E448-A837-D74C6F85ECFD}"/>
              </a:ext>
            </a:extLst>
          </p:cNvPr>
          <p:cNvSpPr>
            <a:spLocks noGrp="1"/>
          </p:cNvSpPr>
          <p:nvPr>
            <p:ph sz="quarter" idx="4"/>
          </p:nvPr>
        </p:nvSpPr>
        <p:spPr>
          <a:xfrm>
            <a:off x="4629150" y="1878806"/>
            <a:ext cx="3887391" cy="276344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21452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D2B47-C6F1-2C47-83A6-7C9765DBB8CB}"/>
              </a:ext>
            </a:extLst>
          </p:cNvPr>
          <p:cNvSpPr>
            <a:spLocks noGrp="1"/>
          </p:cNvSpPr>
          <p:nvPr>
            <p:ph type="title"/>
          </p:nvPr>
        </p:nvSpPr>
        <p:spPr>
          <a:xfrm>
            <a:off x="628650" y="273844"/>
            <a:ext cx="7886700" cy="994172"/>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4586336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7387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1967C-A2EB-A742-BD60-241901035A23}"/>
              </a:ext>
            </a:extLst>
          </p:cNvPr>
          <p:cNvSpPr>
            <a:spLocks noGrp="1"/>
          </p:cNvSpPr>
          <p:nvPr>
            <p:ph type="title"/>
          </p:nvPr>
        </p:nvSpPr>
        <p:spPr>
          <a:xfrm>
            <a:off x="629841" y="342900"/>
            <a:ext cx="2949178" cy="1200150"/>
          </a:xfrm>
          <a:prstGeom prst="rect">
            <a:avLst/>
          </a:prstGeo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46484264-1CC0-ED47-9FC4-17EA9AEE949C}"/>
              </a:ext>
            </a:extLst>
          </p:cNvPr>
          <p:cNvSpPr>
            <a:spLocks noGrp="1"/>
          </p:cNvSpPr>
          <p:nvPr>
            <p:ph idx="1"/>
          </p:nvPr>
        </p:nvSpPr>
        <p:spPr>
          <a:xfrm>
            <a:off x="3887391" y="740569"/>
            <a:ext cx="4629150" cy="3655219"/>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2E82311-296D-B54E-84F6-B91B4D004E05}"/>
              </a:ext>
            </a:extLst>
          </p:cNvPr>
          <p:cNvSpPr>
            <a:spLocks noGrp="1"/>
          </p:cNvSpPr>
          <p:nvPr>
            <p:ph type="body" sz="half" idx="2"/>
          </p:nvPr>
        </p:nvSpPr>
        <p:spPr>
          <a:xfrm>
            <a:off x="629841" y="1543050"/>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18886219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E9CE1-388E-D644-BFC2-E3BA89CDFE77}"/>
              </a:ext>
            </a:extLst>
          </p:cNvPr>
          <p:cNvSpPr>
            <a:spLocks noGrp="1"/>
          </p:cNvSpPr>
          <p:nvPr>
            <p:ph type="title"/>
          </p:nvPr>
        </p:nvSpPr>
        <p:spPr>
          <a:xfrm>
            <a:off x="629841" y="342900"/>
            <a:ext cx="2949178" cy="1200150"/>
          </a:xfrm>
          <a:prstGeom prst="rect">
            <a:avLst/>
          </a:prstGeo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52F9288A-BC67-054C-8D82-B775C7F3F0B2}"/>
              </a:ext>
            </a:extLst>
          </p:cNvPr>
          <p:cNvSpPr>
            <a:spLocks noGrp="1"/>
          </p:cNvSpPr>
          <p:nvPr>
            <p:ph type="pic" idx="1"/>
          </p:nvPr>
        </p:nvSpPr>
        <p:spPr>
          <a:xfrm>
            <a:off x="3887391" y="740569"/>
            <a:ext cx="4629150" cy="365521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FB7354F2-00A4-E440-B3B4-24D0906C1040}"/>
              </a:ext>
            </a:extLst>
          </p:cNvPr>
          <p:cNvSpPr>
            <a:spLocks noGrp="1"/>
          </p:cNvSpPr>
          <p:nvPr>
            <p:ph type="body" sz="half" idx="2"/>
          </p:nvPr>
        </p:nvSpPr>
        <p:spPr>
          <a:xfrm>
            <a:off x="629841" y="1543050"/>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2737613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4A9F9-9678-2743-B0D7-2303C7428EE4}"/>
              </a:ext>
            </a:extLst>
          </p:cNvPr>
          <p:cNvSpPr>
            <a:spLocks noGrp="1"/>
          </p:cNvSpPr>
          <p:nvPr>
            <p:ph type="title"/>
          </p:nvPr>
        </p:nvSpPr>
        <p:spPr>
          <a:xfrm>
            <a:off x="628650" y="273844"/>
            <a:ext cx="7886700" cy="994172"/>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5213DE2-E1E8-8C40-8B00-91EF68139310}"/>
              </a:ext>
            </a:extLst>
          </p:cNvPr>
          <p:cNvSpPr>
            <a:spLocks noGrp="1"/>
          </p:cNvSpPr>
          <p:nvPr>
            <p:ph type="body" orient="vert" idx="1"/>
          </p:nvPr>
        </p:nvSpPr>
        <p:spPr>
          <a:xfrm>
            <a:off x="628650" y="1369219"/>
            <a:ext cx="7886700" cy="3263504"/>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77324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645086-DAA8-FA49-915F-8B28AFD11691}"/>
              </a:ext>
            </a:extLst>
          </p:cNvPr>
          <p:cNvSpPr>
            <a:spLocks noGrp="1"/>
          </p:cNvSpPr>
          <p:nvPr>
            <p:ph type="title" orient="vert"/>
          </p:nvPr>
        </p:nvSpPr>
        <p:spPr>
          <a:xfrm>
            <a:off x="6543675" y="273844"/>
            <a:ext cx="1971675" cy="4358879"/>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C7C3AEF-AC20-C245-8112-195AA156825C}"/>
              </a:ext>
            </a:extLst>
          </p:cNvPr>
          <p:cNvSpPr>
            <a:spLocks noGrp="1"/>
          </p:cNvSpPr>
          <p:nvPr>
            <p:ph type="body" orient="vert" idx="1"/>
          </p:nvPr>
        </p:nvSpPr>
        <p:spPr>
          <a:xfrm>
            <a:off x="628650" y="273844"/>
            <a:ext cx="5800725" cy="4358879"/>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869633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2978B-4908-E74D-904A-A9B895A7A4E8}"/>
              </a:ext>
            </a:extLst>
          </p:cNvPr>
          <p:cNvSpPr>
            <a:spLocks noGrp="1"/>
          </p:cNvSpPr>
          <p:nvPr>
            <p:ph type="ctrTitle"/>
          </p:nvPr>
        </p:nvSpPr>
        <p:spPr>
          <a:xfrm>
            <a:off x="1143000" y="841772"/>
            <a:ext cx="6858000" cy="1790700"/>
          </a:xfrm>
          <a:prstGeom prst="rect">
            <a:avLst/>
          </a:prstGeo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DE95FDE3-C177-1D4F-8016-6A5AB9FFDB1A}"/>
              </a:ext>
            </a:extLst>
          </p:cNvPr>
          <p:cNvSpPr>
            <a:spLocks noGrp="1"/>
          </p:cNvSpPr>
          <p:nvPr>
            <p:ph type="subTitle" idx="1"/>
          </p:nvPr>
        </p:nvSpPr>
        <p:spPr>
          <a:xfrm>
            <a:off x="1143000" y="2701528"/>
            <a:ext cx="6858000" cy="124182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Tree>
    <p:extLst>
      <p:ext uri="{BB962C8B-B14F-4D97-AF65-F5344CB8AC3E}">
        <p14:creationId xmlns:p14="http://schemas.microsoft.com/office/powerpoint/2010/main" val="314302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7E1A6-E52F-4747-BDCC-731EBD265521}"/>
              </a:ext>
            </a:extLst>
          </p:cNvPr>
          <p:cNvSpPr>
            <a:spLocks noGrp="1"/>
          </p:cNvSpPr>
          <p:nvPr>
            <p:ph type="title"/>
          </p:nvPr>
        </p:nvSpPr>
        <p:spPr>
          <a:xfrm>
            <a:off x="628650" y="273844"/>
            <a:ext cx="7886700" cy="994172"/>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68F6EB1E-6EAC-2648-A744-4B558DCE75F3}"/>
              </a:ext>
            </a:extLst>
          </p:cNvPr>
          <p:cNvSpPr>
            <a:spLocks noGrp="1"/>
          </p:cNvSpPr>
          <p:nvPr>
            <p:ph idx="1"/>
          </p:nvPr>
        </p:nvSpPr>
        <p:spPr>
          <a:xfrm>
            <a:off x="628650" y="1369219"/>
            <a:ext cx="7886700" cy="32635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822331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9E9F5-3F39-8E4C-BD4D-1CE5E62BBBD0}"/>
              </a:ext>
            </a:extLst>
          </p:cNvPr>
          <p:cNvSpPr>
            <a:spLocks noGrp="1"/>
          </p:cNvSpPr>
          <p:nvPr>
            <p:ph type="title"/>
          </p:nvPr>
        </p:nvSpPr>
        <p:spPr>
          <a:xfrm>
            <a:off x="623888" y="1282304"/>
            <a:ext cx="7886700" cy="2139553"/>
          </a:xfrm>
          <a:prstGeom prst="rect">
            <a:avLst/>
          </a:prstGeo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274D2129-2C12-3841-9061-8E28A68014A4}"/>
              </a:ext>
            </a:extLst>
          </p:cNvPr>
          <p:cNvSpPr>
            <a:spLocks noGrp="1"/>
          </p:cNvSpPr>
          <p:nvPr>
            <p:ph type="body" idx="1"/>
          </p:nvPr>
        </p:nvSpPr>
        <p:spPr>
          <a:xfrm>
            <a:off x="623888" y="3442098"/>
            <a:ext cx="7886700" cy="1125140"/>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3919480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6D62C-5F4D-E44A-83A0-2BC6297AC534}"/>
              </a:ext>
            </a:extLst>
          </p:cNvPr>
          <p:cNvSpPr>
            <a:spLocks noGrp="1"/>
          </p:cNvSpPr>
          <p:nvPr>
            <p:ph type="title"/>
          </p:nvPr>
        </p:nvSpPr>
        <p:spPr>
          <a:xfrm>
            <a:off x="628650" y="273844"/>
            <a:ext cx="7886700" cy="994172"/>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A6B95D4C-6239-3649-B2F4-8E6928D47EA6}"/>
              </a:ext>
            </a:extLst>
          </p:cNvPr>
          <p:cNvSpPr>
            <a:spLocks noGrp="1"/>
          </p:cNvSpPr>
          <p:nvPr>
            <p:ph sz="half" idx="1"/>
          </p:nvPr>
        </p:nvSpPr>
        <p:spPr>
          <a:xfrm>
            <a:off x="628650" y="1369219"/>
            <a:ext cx="3886200" cy="32635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F8D897-46F7-6F4A-923F-F54D4AC8EDCD}"/>
              </a:ext>
            </a:extLst>
          </p:cNvPr>
          <p:cNvSpPr>
            <a:spLocks noGrp="1"/>
          </p:cNvSpPr>
          <p:nvPr>
            <p:ph sz="half" idx="2"/>
          </p:nvPr>
        </p:nvSpPr>
        <p:spPr>
          <a:xfrm>
            <a:off x="4629150" y="1369219"/>
            <a:ext cx="3886200" cy="32635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864439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388B0-8D06-274D-BE50-BA152C915180}"/>
              </a:ext>
            </a:extLst>
          </p:cNvPr>
          <p:cNvSpPr>
            <a:spLocks noGrp="1"/>
          </p:cNvSpPr>
          <p:nvPr>
            <p:ph type="title"/>
          </p:nvPr>
        </p:nvSpPr>
        <p:spPr>
          <a:xfrm>
            <a:off x="629841" y="273844"/>
            <a:ext cx="7886700" cy="994172"/>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FDF0989-E654-F74F-BDDF-08D57674E37E}"/>
              </a:ext>
            </a:extLst>
          </p:cNvPr>
          <p:cNvSpPr>
            <a:spLocks noGrp="1"/>
          </p:cNvSpPr>
          <p:nvPr>
            <p:ph type="body" idx="1"/>
          </p:nvPr>
        </p:nvSpPr>
        <p:spPr>
          <a:xfrm>
            <a:off x="629842" y="1260872"/>
            <a:ext cx="3868340" cy="617934"/>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1230B350-276D-2F47-92C4-83C039986958}"/>
              </a:ext>
            </a:extLst>
          </p:cNvPr>
          <p:cNvSpPr>
            <a:spLocks noGrp="1"/>
          </p:cNvSpPr>
          <p:nvPr>
            <p:ph sz="half" idx="2"/>
          </p:nvPr>
        </p:nvSpPr>
        <p:spPr>
          <a:xfrm>
            <a:off x="629842" y="1878806"/>
            <a:ext cx="3868340" cy="276344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A37B8AD-206C-8C44-9626-E020EEC70A68}"/>
              </a:ext>
            </a:extLst>
          </p:cNvPr>
          <p:cNvSpPr>
            <a:spLocks noGrp="1"/>
          </p:cNvSpPr>
          <p:nvPr>
            <p:ph type="body" sz="quarter" idx="3"/>
          </p:nvPr>
        </p:nvSpPr>
        <p:spPr>
          <a:xfrm>
            <a:off x="4629150" y="1260872"/>
            <a:ext cx="3887391" cy="617934"/>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E5FD7E1-9246-8240-81C8-52CC098D2AF6}"/>
              </a:ext>
            </a:extLst>
          </p:cNvPr>
          <p:cNvSpPr>
            <a:spLocks noGrp="1"/>
          </p:cNvSpPr>
          <p:nvPr>
            <p:ph sz="quarter" idx="4"/>
          </p:nvPr>
        </p:nvSpPr>
        <p:spPr>
          <a:xfrm>
            <a:off x="4629150" y="1878806"/>
            <a:ext cx="3887391" cy="276344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830786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2858C-55E0-A347-B987-C8C09FC4D1CE}"/>
              </a:ext>
            </a:extLst>
          </p:cNvPr>
          <p:cNvSpPr>
            <a:spLocks noGrp="1"/>
          </p:cNvSpPr>
          <p:nvPr>
            <p:ph type="title"/>
          </p:nvPr>
        </p:nvSpPr>
        <p:spPr>
          <a:xfrm>
            <a:off x="628650" y="273844"/>
            <a:ext cx="7886700" cy="994172"/>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40215805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35663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E9015-2329-5341-BA02-B62A1090C2C9}"/>
              </a:ext>
            </a:extLst>
          </p:cNvPr>
          <p:cNvSpPr>
            <a:spLocks noGrp="1"/>
          </p:cNvSpPr>
          <p:nvPr>
            <p:ph type="title"/>
          </p:nvPr>
        </p:nvSpPr>
        <p:spPr>
          <a:xfrm>
            <a:off x="629841" y="342900"/>
            <a:ext cx="2949178" cy="1200150"/>
          </a:xfrm>
          <a:prstGeom prst="rect">
            <a:avLst/>
          </a:prstGeo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AA0FF641-56D6-9245-BB4A-FB626664FCEF}"/>
              </a:ext>
            </a:extLst>
          </p:cNvPr>
          <p:cNvSpPr>
            <a:spLocks noGrp="1"/>
          </p:cNvSpPr>
          <p:nvPr>
            <p:ph idx="1"/>
          </p:nvPr>
        </p:nvSpPr>
        <p:spPr>
          <a:xfrm>
            <a:off x="3887391" y="740569"/>
            <a:ext cx="4629150" cy="3655219"/>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C4B0617-AE85-6146-99DD-9CE2384C1EBB}"/>
              </a:ext>
            </a:extLst>
          </p:cNvPr>
          <p:cNvSpPr>
            <a:spLocks noGrp="1"/>
          </p:cNvSpPr>
          <p:nvPr>
            <p:ph type="body" sz="half" idx="2"/>
          </p:nvPr>
        </p:nvSpPr>
        <p:spPr>
          <a:xfrm>
            <a:off x="629841" y="1543050"/>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20785717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5F484-86EC-9D4F-B229-7E1EAF28C763}"/>
              </a:ext>
            </a:extLst>
          </p:cNvPr>
          <p:cNvSpPr>
            <a:spLocks noGrp="1"/>
          </p:cNvSpPr>
          <p:nvPr>
            <p:ph type="title"/>
          </p:nvPr>
        </p:nvSpPr>
        <p:spPr>
          <a:xfrm>
            <a:off x="629841" y="342900"/>
            <a:ext cx="2949178" cy="1200150"/>
          </a:xfrm>
          <a:prstGeom prst="rect">
            <a:avLst/>
          </a:prstGeo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CFD461AC-7026-3144-A874-8D55CA87D4FA}"/>
              </a:ext>
            </a:extLst>
          </p:cNvPr>
          <p:cNvSpPr>
            <a:spLocks noGrp="1"/>
          </p:cNvSpPr>
          <p:nvPr>
            <p:ph type="pic" idx="1"/>
          </p:nvPr>
        </p:nvSpPr>
        <p:spPr>
          <a:xfrm>
            <a:off x="3887391" y="740569"/>
            <a:ext cx="4629150" cy="365521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8DD8018D-F66B-1C4B-AB9A-982327027ACF}"/>
              </a:ext>
            </a:extLst>
          </p:cNvPr>
          <p:cNvSpPr>
            <a:spLocks noGrp="1"/>
          </p:cNvSpPr>
          <p:nvPr>
            <p:ph type="body" sz="half" idx="2"/>
          </p:nvPr>
        </p:nvSpPr>
        <p:spPr>
          <a:xfrm>
            <a:off x="629841" y="1543050"/>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23878538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E7A1C-4A6B-7B44-8A98-088B9E5FDCA5}"/>
              </a:ext>
            </a:extLst>
          </p:cNvPr>
          <p:cNvSpPr>
            <a:spLocks noGrp="1"/>
          </p:cNvSpPr>
          <p:nvPr>
            <p:ph type="title"/>
          </p:nvPr>
        </p:nvSpPr>
        <p:spPr>
          <a:xfrm>
            <a:off x="628650" y="273844"/>
            <a:ext cx="7886700" cy="994172"/>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9FFC838-A01F-6845-991B-CECF9A0A4ABA}"/>
              </a:ext>
            </a:extLst>
          </p:cNvPr>
          <p:cNvSpPr>
            <a:spLocks noGrp="1"/>
          </p:cNvSpPr>
          <p:nvPr>
            <p:ph type="body" orient="vert" idx="1"/>
          </p:nvPr>
        </p:nvSpPr>
        <p:spPr>
          <a:xfrm>
            <a:off x="628650" y="1369219"/>
            <a:ext cx="7886700" cy="3263504"/>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68119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3B298A-6686-FD4A-B48C-A4474FE37F1A}"/>
              </a:ext>
            </a:extLst>
          </p:cNvPr>
          <p:cNvSpPr>
            <a:spLocks noGrp="1"/>
          </p:cNvSpPr>
          <p:nvPr>
            <p:ph type="title" orient="vert"/>
          </p:nvPr>
        </p:nvSpPr>
        <p:spPr>
          <a:xfrm>
            <a:off x="6543675" y="273844"/>
            <a:ext cx="1971675" cy="4358879"/>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AD5486A-4CA8-BE4C-8736-29596810DE67}"/>
              </a:ext>
            </a:extLst>
          </p:cNvPr>
          <p:cNvSpPr>
            <a:spLocks noGrp="1"/>
          </p:cNvSpPr>
          <p:nvPr>
            <p:ph type="body" orient="vert" idx="1"/>
          </p:nvPr>
        </p:nvSpPr>
        <p:spPr>
          <a:xfrm>
            <a:off x="628650" y="273844"/>
            <a:ext cx="5800725" cy="4358879"/>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42439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02646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390304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tif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896379"/>
            <a:ext cx="7772400" cy="2392291"/>
          </a:xfrm>
        </p:spPr>
        <p:txBody>
          <a:bodyPr>
            <a:normAutofit/>
          </a:bodyPr>
          <a:lstStyle/>
          <a:p>
            <a:pPr>
              <a:spcAft>
                <a:spcPts val="900"/>
              </a:spcAft>
            </a:pPr>
            <a:r>
              <a:rPr lang="en-US" dirty="0"/>
              <a:t>Understanding and evaluating large language models</a:t>
            </a:r>
            <a:br>
              <a:rPr lang="en-US" dirty="0"/>
            </a:br>
            <a:endParaRPr lang="en-US" sz="3600" dirty="0"/>
          </a:p>
        </p:txBody>
      </p:sp>
      <p:sp>
        <p:nvSpPr>
          <p:cNvPr id="3" name="Subtitle 2"/>
          <p:cNvSpPr>
            <a:spLocks noGrp="1"/>
          </p:cNvSpPr>
          <p:nvPr>
            <p:ph type="subTitle" idx="1"/>
          </p:nvPr>
        </p:nvSpPr>
        <p:spPr>
          <a:xfrm>
            <a:off x="2124670" y="3959258"/>
            <a:ext cx="4894661" cy="814096"/>
          </a:xfrm>
        </p:spPr>
        <p:txBody>
          <a:bodyPr>
            <a:normAutofit/>
          </a:bodyPr>
          <a:lstStyle/>
          <a:p>
            <a:r>
              <a:rPr lang="en-US" dirty="0"/>
              <a:t>Matthew Engelhard</a:t>
            </a:r>
          </a:p>
        </p:txBody>
      </p:sp>
    </p:spTree>
    <p:extLst>
      <p:ext uri="{BB962C8B-B14F-4D97-AF65-F5344CB8AC3E}">
        <p14:creationId xmlns:p14="http://schemas.microsoft.com/office/powerpoint/2010/main" val="26701487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eft Brace 7">
            <a:extLst>
              <a:ext uri="{FF2B5EF4-FFF2-40B4-BE49-F238E27FC236}">
                <a16:creationId xmlns:a16="http://schemas.microsoft.com/office/drawing/2014/main" id="{E33066B2-0A7C-8A4E-AC35-E6F80161D0E4}"/>
              </a:ext>
            </a:extLst>
          </p:cNvPr>
          <p:cNvSpPr/>
          <p:nvPr/>
        </p:nvSpPr>
        <p:spPr>
          <a:xfrm rot="16200000">
            <a:off x="2222163" y="1192373"/>
            <a:ext cx="262758" cy="3503469"/>
          </a:xfrm>
          <a:prstGeom prst="leftBrace">
            <a:avLst>
              <a:gd name="adj1" fmla="val 8333"/>
              <a:gd name="adj2" fmla="val 24563"/>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sz="1348" dirty="0"/>
          </a:p>
        </p:txBody>
      </p:sp>
      <p:sp>
        <p:nvSpPr>
          <p:cNvPr id="9" name="TextBox 8">
            <a:extLst>
              <a:ext uri="{FF2B5EF4-FFF2-40B4-BE49-F238E27FC236}">
                <a16:creationId xmlns:a16="http://schemas.microsoft.com/office/drawing/2014/main" id="{B0F8ED1D-42C3-9141-AE77-27407422E154}"/>
              </a:ext>
            </a:extLst>
          </p:cNvPr>
          <p:cNvSpPr txBox="1"/>
          <p:nvPr/>
        </p:nvSpPr>
        <p:spPr>
          <a:xfrm>
            <a:off x="1353479" y="3049301"/>
            <a:ext cx="2643080"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dirty="0">
                <a:latin typeface="Times New Roman" panose="02020603050405020304" pitchFamily="18" charset="0"/>
                <a:cs typeface="Times New Roman" panose="02020603050405020304" pitchFamily="18" charset="0"/>
              </a:rPr>
              <a:t>, conversation history</a:t>
            </a:r>
          </a:p>
        </p:txBody>
      </p:sp>
      <p:sp>
        <p:nvSpPr>
          <p:cNvPr id="10" name="TextBox 9">
            <a:extLst>
              <a:ext uri="{FF2B5EF4-FFF2-40B4-BE49-F238E27FC236}">
                <a16:creationId xmlns:a16="http://schemas.microsoft.com/office/drawing/2014/main" id="{F2C42C99-ECFD-CC46-8C0C-7FE9900CF424}"/>
              </a:ext>
            </a:extLst>
          </p:cNvPr>
          <p:cNvSpPr txBox="1"/>
          <p:nvPr/>
        </p:nvSpPr>
        <p:spPr>
          <a:xfrm>
            <a:off x="6434446" y="2845491"/>
            <a:ext cx="2408009"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dirty="0">
                <a:latin typeface="Times New Roman" panose="02020603050405020304" pitchFamily="18" charset="0"/>
                <a:cs typeface="Times New Roman" panose="02020603050405020304" pitchFamily="18" charset="0"/>
              </a:rPr>
              <a:t>, next word</a:t>
            </a:r>
          </a:p>
        </p:txBody>
      </p:sp>
      <p:sp>
        <p:nvSpPr>
          <p:cNvPr id="11" name="TextBox 10">
            <a:extLst>
              <a:ext uri="{FF2B5EF4-FFF2-40B4-BE49-F238E27FC236}">
                <a16:creationId xmlns:a16="http://schemas.microsoft.com/office/drawing/2014/main" id="{69F4C887-30DE-6142-A3B8-73F2E6FB683F}"/>
              </a:ext>
            </a:extLst>
          </p:cNvPr>
          <p:cNvSpPr txBox="1"/>
          <p:nvPr/>
        </p:nvSpPr>
        <p:spPr>
          <a:xfrm>
            <a:off x="6029954" y="4239114"/>
            <a:ext cx="2865336" cy="396583"/>
          </a:xfrm>
          <a:prstGeom prst="rect">
            <a:avLst/>
          </a:prstGeom>
          <a:noFill/>
        </p:spPr>
        <p:txBody>
          <a:bodyPr wrap="none" rtlCol="0">
            <a:spAutoFit/>
          </a:bodyPr>
          <a:lstStyle/>
          <a:p>
            <a:r>
              <a:rPr lang="en-US" sz="1977" dirty="0"/>
              <a:t>End goal: predict</a:t>
            </a:r>
            <a:r>
              <a:rPr lang="en-US" sz="1977" i="1" dirty="0"/>
              <a:t> </a:t>
            </a:r>
            <a:r>
              <a:rPr lang="en-US" sz="1977" i="1" dirty="0">
                <a:latin typeface="Times New Roman" panose="02020603050405020304" pitchFamily="18" charset="0"/>
                <a:cs typeface="Times New Roman" panose="02020603050405020304" pitchFamily="18" charset="0"/>
              </a:rPr>
              <a:t>y</a:t>
            </a:r>
            <a:r>
              <a:rPr lang="en-US" sz="1977" dirty="0"/>
              <a:t> from </a:t>
            </a:r>
            <a:r>
              <a:rPr lang="en-US" sz="1977" i="1" dirty="0">
                <a:latin typeface="Times New Roman" panose="02020603050405020304" pitchFamily="18" charset="0"/>
                <a:cs typeface="Times New Roman" panose="02020603050405020304" pitchFamily="18" charset="0"/>
              </a:rPr>
              <a:t>x</a:t>
            </a:r>
            <a:r>
              <a:rPr lang="en-US" sz="1977" dirty="0"/>
              <a:t> </a:t>
            </a:r>
          </a:p>
        </p:txBody>
      </p:sp>
      <p:graphicFrame>
        <p:nvGraphicFramePr>
          <p:cNvPr id="13" name="Table 12">
            <a:extLst>
              <a:ext uri="{FF2B5EF4-FFF2-40B4-BE49-F238E27FC236}">
                <a16:creationId xmlns:a16="http://schemas.microsoft.com/office/drawing/2014/main" id="{9D7F99B7-3001-F340-BD4E-C015D9032101}"/>
              </a:ext>
            </a:extLst>
          </p:cNvPr>
          <p:cNvGraphicFramePr>
            <a:graphicFrameLocks noGrp="1"/>
          </p:cNvGraphicFramePr>
          <p:nvPr/>
        </p:nvGraphicFramePr>
        <p:xfrm>
          <a:off x="6295900" y="2275900"/>
          <a:ext cx="542273" cy="530890"/>
        </p:xfrm>
        <a:graphic>
          <a:graphicData uri="http://schemas.openxmlformats.org/drawingml/2006/table">
            <a:tbl>
              <a:tblPr firstRow="1" bandRow="1">
                <a:tableStyleId>{5C22544A-7EE6-4342-B048-85BDC9FD1C3A}</a:tableStyleId>
              </a:tblPr>
              <a:tblGrid>
                <a:gridCol w="542273">
                  <a:extLst>
                    <a:ext uri="{9D8B030D-6E8A-4147-A177-3AD203B41FA5}">
                      <a16:colId xmlns:a16="http://schemas.microsoft.com/office/drawing/2014/main" val="4002730172"/>
                    </a:ext>
                  </a:extLst>
                </a:gridCol>
              </a:tblGrid>
              <a:tr h="530890">
                <a:tc>
                  <a:txBody>
                    <a:bodyPr/>
                    <a:lstStyle/>
                    <a:p>
                      <a:endParaRPr lang="en-US" sz="1000" dirty="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cxnSp>
        <p:nvCxnSpPr>
          <p:cNvPr id="16" name="Straight Arrow Connector 15">
            <a:extLst>
              <a:ext uri="{FF2B5EF4-FFF2-40B4-BE49-F238E27FC236}">
                <a16:creationId xmlns:a16="http://schemas.microsoft.com/office/drawing/2014/main" id="{2004C370-95FF-1047-B986-B06FCDF88F5F}"/>
              </a:ext>
            </a:extLst>
          </p:cNvPr>
          <p:cNvCxnSpPr>
            <a:cxnSpLocks/>
          </p:cNvCxnSpPr>
          <p:nvPr/>
        </p:nvCxnSpPr>
        <p:spPr>
          <a:xfrm flipV="1">
            <a:off x="4219576" y="2541345"/>
            <a:ext cx="2076323" cy="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3" name="Picture 2">
            <a:extLst>
              <a:ext uri="{FF2B5EF4-FFF2-40B4-BE49-F238E27FC236}">
                <a16:creationId xmlns:a16="http://schemas.microsoft.com/office/drawing/2014/main" id="{8155E91F-2A22-FEBC-A0CE-DF7FDF32B223}"/>
              </a:ext>
            </a:extLst>
          </p:cNvPr>
          <p:cNvPicPr>
            <a:picLocks noChangeAspect="1"/>
          </p:cNvPicPr>
          <p:nvPr/>
        </p:nvPicPr>
        <p:blipFill rotWithShape="1">
          <a:blip r:embed="rId3"/>
          <a:srcRect b="68177"/>
          <a:stretch/>
        </p:blipFill>
        <p:spPr>
          <a:xfrm>
            <a:off x="601807" y="1730249"/>
            <a:ext cx="3503470" cy="964193"/>
          </a:xfrm>
          <a:prstGeom prst="rect">
            <a:avLst/>
          </a:prstGeom>
        </p:spPr>
      </p:pic>
      <p:sp>
        <p:nvSpPr>
          <p:cNvPr id="5" name="Title 4">
            <a:extLst>
              <a:ext uri="{FF2B5EF4-FFF2-40B4-BE49-F238E27FC236}">
                <a16:creationId xmlns:a16="http://schemas.microsoft.com/office/drawing/2014/main" id="{DD5EA249-A739-BE37-613D-ACB3BB9464C6}"/>
              </a:ext>
            </a:extLst>
          </p:cNvPr>
          <p:cNvSpPr>
            <a:spLocks noGrp="1"/>
          </p:cNvSpPr>
          <p:nvPr>
            <p:ph type="title"/>
          </p:nvPr>
        </p:nvSpPr>
        <p:spPr>
          <a:xfrm>
            <a:off x="628650" y="273844"/>
            <a:ext cx="7886700" cy="734058"/>
          </a:xfrm>
        </p:spPr>
        <p:txBody>
          <a:bodyPr>
            <a:normAutofit fontScale="90000"/>
          </a:bodyPr>
          <a:lstStyle/>
          <a:p>
            <a:r>
              <a:rPr lang="en-US" dirty="0"/>
              <a:t>LLMs are initially trained to predict the next word</a:t>
            </a:r>
          </a:p>
        </p:txBody>
      </p:sp>
    </p:spTree>
    <p:extLst>
      <p:ext uri="{BB962C8B-B14F-4D97-AF65-F5344CB8AC3E}">
        <p14:creationId xmlns:p14="http://schemas.microsoft.com/office/powerpoint/2010/main" val="1632990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03039-BA1D-D612-DDAA-B67E3971A185}"/>
              </a:ext>
            </a:extLst>
          </p:cNvPr>
          <p:cNvSpPr>
            <a:spLocks noGrp="1"/>
          </p:cNvSpPr>
          <p:nvPr>
            <p:ph type="title"/>
          </p:nvPr>
        </p:nvSpPr>
        <p:spPr>
          <a:xfrm>
            <a:off x="628650" y="273844"/>
            <a:ext cx="7886700" cy="557429"/>
          </a:xfrm>
        </p:spPr>
        <p:txBody>
          <a:bodyPr>
            <a:normAutofit fontScale="90000"/>
          </a:bodyPr>
          <a:lstStyle/>
          <a:p>
            <a:r>
              <a:rPr lang="en-US" dirty="0"/>
              <a:t>They’re then fine-tuned to match our preferences</a:t>
            </a:r>
          </a:p>
        </p:txBody>
      </p:sp>
      <p:pic>
        <p:nvPicPr>
          <p:cNvPr id="4098" name="Picture 2">
            <a:extLst>
              <a:ext uri="{FF2B5EF4-FFF2-40B4-BE49-F238E27FC236}">
                <a16:creationId xmlns:a16="http://schemas.microsoft.com/office/drawing/2014/main" id="{ECDE644D-C21A-3977-D576-AFA456D3AC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8701" y="916664"/>
            <a:ext cx="4216649" cy="359359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9D3848A-041A-8B6A-BF8E-5E9ADD6F089E}"/>
              </a:ext>
            </a:extLst>
          </p:cNvPr>
          <p:cNvSpPr txBox="1"/>
          <p:nvPr/>
        </p:nvSpPr>
        <p:spPr>
          <a:xfrm>
            <a:off x="4572000" y="4595649"/>
            <a:ext cx="4572000" cy="415498"/>
          </a:xfrm>
          <a:prstGeom prst="rect">
            <a:avLst/>
          </a:prstGeom>
          <a:noFill/>
        </p:spPr>
        <p:txBody>
          <a:bodyPr wrap="square">
            <a:spAutoFit/>
          </a:bodyPr>
          <a:lstStyle/>
          <a:p>
            <a:r>
              <a:rPr lang="en-US" sz="1050" dirty="0"/>
              <a:t>Illustrating Reinforcement Learning from Human Feedback (RLHF)</a:t>
            </a:r>
          </a:p>
          <a:p>
            <a:r>
              <a:rPr lang="en-US" sz="1050" dirty="0"/>
              <a:t>https://</a:t>
            </a:r>
            <a:r>
              <a:rPr lang="en-US" sz="1050" dirty="0" err="1"/>
              <a:t>huggingface.co</a:t>
            </a:r>
            <a:r>
              <a:rPr lang="en-US" sz="1050" dirty="0"/>
              <a:t>/blog/</a:t>
            </a:r>
            <a:r>
              <a:rPr lang="en-US" sz="1050" dirty="0" err="1"/>
              <a:t>rlhf</a:t>
            </a:r>
            <a:endParaRPr lang="en-US" sz="1050" dirty="0"/>
          </a:p>
        </p:txBody>
      </p:sp>
      <p:sp>
        <p:nvSpPr>
          <p:cNvPr id="6" name="TextBox 5">
            <a:extLst>
              <a:ext uri="{FF2B5EF4-FFF2-40B4-BE49-F238E27FC236}">
                <a16:creationId xmlns:a16="http://schemas.microsoft.com/office/drawing/2014/main" id="{A8F70B98-9037-0BA9-DD28-5FEED55D32D3}"/>
              </a:ext>
            </a:extLst>
          </p:cNvPr>
          <p:cNvSpPr txBox="1"/>
          <p:nvPr/>
        </p:nvSpPr>
        <p:spPr>
          <a:xfrm>
            <a:off x="1018198" y="1293842"/>
            <a:ext cx="2382564" cy="3093154"/>
          </a:xfrm>
          <a:prstGeom prst="rect">
            <a:avLst/>
          </a:prstGeom>
          <a:noFill/>
        </p:spPr>
        <p:txBody>
          <a:bodyPr wrap="square" rtlCol="0">
            <a:spAutoFit/>
          </a:bodyPr>
          <a:lstStyle/>
          <a:p>
            <a:r>
              <a:rPr lang="en-US" sz="1500" u="sng" dirty="0"/>
              <a:t>Step 1</a:t>
            </a:r>
            <a:r>
              <a:rPr lang="en-US" sz="1500" dirty="0"/>
              <a:t>: Train an auxiliary </a:t>
            </a:r>
            <a:r>
              <a:rPr lang="en-US" sz="1500" i="1" dirty="0"/>
              <a:t>preference model</a:t>
            </a:r>
            <a:r>
              <a:rPr lang="en-US" sz="1500" dirty="0"/>
              <a:t> (via human feedback) to assign scores to LLM-generated text that are consistent with our preferences</a:t>
            </a:r>
          </a:p>
          <a:p>
            <a:endParaRPr lang="en-US" sz="1500" dirty="0"/>
          </a:p>
          <a:p>
            <a:r>
              <a:rPr lang="en-US" sz="1500" u="sng" dirty="0"/>
              <a:t>Step 2</a:t>
            </a:r>
            <a:r>
              <a:rPr lang="en-US" sz="1500" dirty="0"/>
              <a:t>: Fine-tune the initial LLM (via reinforcement learning) to achieve better scores, implying better alignment with our preferences</a:t>
            </a:r>
          </a:p>
        </p:txBody>
      </p:sp>
    </p:spTree>
    <p:extLst>
      <p:ext uri="{BB962C8B-B14F-4D97-AF65-F5344CB8AC3E}">
        <p14:creationId xmlns:p14="http://schemas.microsoft.com/office/powerpoint/2010/main" val="3347590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77522-5395-8522-0992-7D65959C65D8}"/>
              </a:ext>
            </a:extLst>
          </p:cNvPr>
          <p:cNvSpPr>
            <a:spLocks noGrp="1"/>
          </p:cNvSpPr>
          <p:nvPr>
            <p:ph type="title"/>
          </p:nvPr>
        </p:nvSpPr>
        <p:spPr>
          <a:xfrm>
            <a:off x="628650" y="273844"/>
            <a:ext cx="7886700" cy="538081"/>
          </a:xfrm>
        </p:spPr>
        <p:txBody>
          <a:bodyPr>
            <a:normAutofit fontScale="90000"/>
          </a:bodyPr>
          <a:lstStyle/>
          <a:p>
            <a:r>
              <a:rPr lang="en-US" dirty="0"/>
              <a:t>LLM training does not ensure content is accurate</a:t>
            </a:r>
          </a:p>
        </p:txBody>
      </p:sp>
      <p:sp>
        <p:nvSpPr>
          <p:cNvPr id="4" name="TextBox 3">
            <a:extLst>
              <a:ext uri="{FF2B5EF4-FFF2-40B4-BE49-F238E27FC236}">
                <a16:creationId xmlns:a16="http://schemas.microsoft.com/office/drawing/2014/main" id="{A37B315A-55D5-1B1C-B93B-FEE67F61DE43}"/>
              </a:ext>
            </a:extLst>
          </p:cNvPr>
          <p:cNvSpPr txBox="1"/>
          <p:nvPr/>
        </p:nvSpPr>
        <p:spPr>
          <a:xfrm>
            <a:off x="628650" y="1186308"/>
            <a:ext cx="7971440" cy="3139321"/>
          </a:xfrm>
          <a:prstGeom prst="rect">
            <a:avLst/>
          </a:prstGeom>
          <a:noFill/>
        </p:spPr>
        <p:txBody>
          <a:bodyPr wrap="square" rtlCol="0">
            <a:spAutoFit/>
          </a:bodyPr>
          <a:lstStyle/>
          <a:p>
            <a:r>
              <a:rPr lang="en-US" dirty="0"/>
              <a:t>LLM knowledge and beliefs derive from:</a:t>
            </a:r>
          </a:p>
          <a:p>
            <a:endParaRPr lang="en-US" dirty="0"/>
          </a:p>
          <a:p>
            <a:pPr marL="257175" indent="-257175">
              <a:buFont typeface="+mj-lt"/>
              <a:buAutoNum type="arabicPeriod"/>
            </a:pPr>
            <a:r>
              <a:rPr lang="en-US" dirty="0"/>
              <a:t>their initial training data</a:t>
            </a:r>
          </a:p>
          <a:p>
            <a:pPr marL="257175" indent="-257175">
              <a:buFont typeface="+mj-lt"/>
              <a:buAutoNum type="arabicPeriod"/>
            </a:pPr>
            <a:r>
              <a:rPr lang="en-US" dirty="0"/>
              <a:t>the people who train the reward model used to fine-tune</a:t>
            </a:r>
          </a:p>
          <a:p>
            <a:pPr marL="557213" lvl="1" indent="-214313">
              <a:buFont typeface="Arial" panose="020B0604020202020204" pitchFamily="34" charset="0"/>
              <a:buChar char="•"/>
            </a:pPr>
            <a:endParaRPr lang="en-US" dirty="0"/>
          </a:p>
          <a:p>
            <a:r>
              <a:rPr lang="en-US" u="sng" dirty="0"/>
              <a:t>None of this ensures that content is accurate.</a:t>
            </a:r>
          </a:p>
          <a:p>
            <a:endParaRPr lang="en-US" dirty="0"/>
          </a:p>
          <a:p>
            <a:r>
              <a:rPr lang="en-US" dirty="0"/>
              <a:t>We do prefer accurate content to some degree, but we also prefer responses that are </a:t>
            </a:r>
            <a:r>
              <a:rPr lang="en-US" b="1" dirty="0"/>
              <a:t>agreeable</a:t>
            </a:r>
            <a:r>
              <a:rPr lang="en-US" dirty="0"/>
              <a:t>, </a:t>
            </a:r>
            <a:r>
              <a:rPr lang="en-US" b="1" dirty="0"/>
              <a:t>helpful</a:t>
            </a:r>
            <a:r>
              <a:rPr lang="en-US" dirty="0"/>
              <a:t>, and </a:t>
            </a:r>
            <a:r>
              <a:rPr lang="en-US" b="1" dirty="0"/>
              <a:t>confirm our biases</a:t>
            </a:r>
            <a:r>
              <a:rPr lang="en-US" dirty="0"/>
              <a:t>.</a:t>
            </a:r>
          </a:p>
          <a:p>
            <a:endParaRPr lang="en-US" dirty="0"/>
          </a:p>
          <a:p>
            <a:r>
              <a:rPr lang="en-US" u="sng" dirty="0"/>
              <a:t>It is not clear how we might ensure accuracy at scale.</a:t>
            </a:r>
          </a:p>
        </p:txBody>
      </p:sp>
    </p:spTree>
    <p:extLst>
      <p:ext uri="{BB962C8B-B14F-4D97-AF65-F5344CB8AC3E}">
        <p14:creationId xmlns:p14="http://schemas.microsoft.com/office/powerpoint/2010/main" val="4146755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6CAA2-D679-8A8B-3DAD-72F923C13A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69475C-A785-E18D-9EB3-2694D01E4B3B}"/>
              </a:ext>
            </a:extLst>
          </p:cNvPr>
          <p:cNvSpPr>
            <a:spLocks noGrp="1"/>
          </p:cNvSpPr>
          <p:nvPr>
            <p:ph type="title"/>
          </p:nvPr>
        </p:nvSpPr>
        <p:spPr/>
        <p:txBody>
          <a:bodyPr/>
          <a:lstStyle/>
          <a:p>
            <a:r>
              <a:rPr lang="en-US" dirty="0"/>
              <a:t>What is RAG, and why can results be misleading?</a:t>
            </a:r>
          </a:p>
        </p:txBody>
      </p:sp>
    </p:spTree>
    <p:extLst>
      <p:ext uri="{BB962C8B-B14F-4D97-AF65-F5344CB8AC3E}">
        <p14:creationId xmlns:p14="http://schemas.microsoft.com/office/powerpoint/2010/main" val="1754375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601B0-43AF-C605-F84B-E61DD32FE28B}"/>
              </a:ext>
            </a:extLst>
          </p:cNvPr>
          <p:cNvSpPr>
            <a:spLocks noGrp="1"/>
          </p:cNvSpPr>
          <p:nvPr>
            <p:ph type="title"/>
          </p:nvPr>
        </p:nvSpPr>
        <p:spPr>
          <a:xfrm>
            <a:off x="628650" y="273845"/>
            <a:ext cx="7886700" cy="533358"/>
          </a:xfrm>
        </p:spPr>
        <p:txBody>
          <a:bodyPr/>
          <a:lstStyle/>
          <a:p>
            <a:r>
              <a:rPr lang="en-US" dirty="0"/>
              <a:t>RAG augments LLMs with external knowledge</a:t>
            </a:r>
          </a:p>
        </p:txBody>
      </p:sp>
      <p:pic>
        <p:nvPicPr>
          <p:cNvPr id="4" name="Picture 2" descr="Fig. 1">
            <a:extLst>
              <a:ext uri="{FF2B5EF4-FFF2-40B4-BE49-F238E27FC236}">
                <a16:creationId xmlns:a16="http://schemas.microsoft.com/office/drawing/2014/main" id="{102FFBBF-08CA-5FFE-D146-EBB2DF2B45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0711" y="873878"/>
            <a:ext cx="7222577" cy="365078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DA1DD90-2E91-1F96-0E85-C108A532AC53}"/>
              </a:ext>
            </a:extLst>
          </p:cNvPr>
          <p:cNvSpPr txBox="1"/>
          <p:nvPr/>
        </p:nvSpPr>
        <p:spPr>
          <a:xfrm>
            <a:off x="2285999" y="4673448"/>
            <a:ext cx="4572000" cy="415498"/>
          </a:xfrm>
          <a:prstGeom prst="rect">
            <a:avLst/>
          </a:prstGeom>
          <a:noFill/>
        </p:spPr>
        <p:txBody>
          <a:bodyPr wrap="square">
            <a:spAutoFit/>
          </a:bodyPr>
          <a:lstStyle/>
          <a:p>
            <a:r>
              <a:rPr lang="en-US" sz="1050" dirty="0">
                <a:solidFill>
                  <a:srgbClr val="222222"/>
                </a:solidFill>
              </a:rPr>
              <a:t>Yang, R., Ning, Y., </a:t>
            </a:r>
            <a:r>
              <a:rPr lang="en-US" sz="1050" dirty="0" err="1">
                <a:solidFill>
                  <a:srgbClr val="222222"/>
                </a:solidFill>
              </a:rPr>
              <a:t>Keppo</a:t>
            </a:r>
            <a:r>
              <a:rPr lang="en-US" sz="1050" dirty="0">
                <a:solidFill>
                  <a:srgbClr val="222222"/>
                </a:solidFill>
              </a:rPr>
              <a:t>, E. </a:t>
            </a:r>
            <a:r>
              <a:rPr lang="en-US" sz="1050" i="1" dirty="0">
                <a:solidFill>
                  <a:srgbClr val="222222"/>
                </a:solidFill>
              </a:rPr>
              <a:t>et al.</a:t>
            </a:r>
            <a:r>
              <a:rPr lang="en-US" sz="1050" dirty="0">
                <a:solidFill>
                  <a:srgbClr val="222222"/>
                </a:solidFill>
              </a:rPr>
              <a:t> Retrieval-augmented generation for generative artificial intelligence in health care. </a:t>
            </a:r>
            <a:r>
              <a:rPr lang="en-US" sz="1050" i="1" dirty="0" err="1">
                <a:solidFill>
                  <a:srgbClr val="222222"/>
                </a:solidFill>
              </a:rPr>
              <a:t>npj</a:t>
            </a:r>
            <a:r>
              <a:rPr lang="en-US" sz="1050" i="1" dirty="0">
                <a:solidFill>
                  <a:srgbClr val="222222"/>
                </a:solidFill>
              </a:rPr>
              <a:t> Health Syst.</a:t>
            </a:r>
            <a:r>
              <a:rPr lang="en-US" sz="1050" dirty="0">
                <a:solidFill>
                  <a:srgbClr val="222222"/>
                </a:solidFill>
              </a:rPr>
              <a:t> </a:t>
            </a:r>
            <a:r>
              <a:rPr lang="en-US" sz="1050" b="1" dirty="0">
                <a:solidFill>
                  <a:srgbClr val="222222"/>
                </a:solidFill>
              </a:rPr>
              <a:t>2</a:t>
            </a:r>
            <a:r>
              <a:rPr lang="en-US" sz="1050" dirty="0">
                <a:solidFill>
                  <a:srgbClr val="222222"/>
                </a:solidFill>
              </a:rPr>
              <a:t>, 2 (2025).</a:t>
            </a:r>
            <a:endParaRPr lang="en-US" sz="1050" dirty="0"/>
          </a:p>
        </p:txBody>
      </p:sp>
      <p:pic>
        <p:nvPicPr>
          <p:cNvPr id="2049" name="Picture 1" descr="page2image559022160">
            <a:extLst>
              <a:ext uri="{FF2B5EF4-FFF2-40B4-BE49-F238E27FC236}">
                <a16:creationId xmlns:a16="http://schemas.microsoft.com/office/drawing/2014/main" id="{4BB14E5F-DFCA-33C4-7199-2F1C625ABB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4638675" cy="9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3924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E7979-C7E9-6B5B-B43C-6234CBF03B00}"/>
              </a:ext>
            </a:extLst>
          </p:cNvPr>
          <p:cNvSpPr>
            <a:spLocks noGrp="1"/>
          </p:cNvSpPr>
          <p:nvPr>
            <p:ph type="title"/>
          </p:nvPr>
        </p:nvSpPr>
        <p:spPr>
          <a:xfrm>
            <a:off x="628650" y="273844"/>
            <a:ext cx="7886700" cy="538081"/>
          </a:xfrm>
        </p:spPr>
        <p:txBody>
          <a:bodyPr/>
          <a:lstStyle/>
          <a:p>
            <a:r>
              <a:rPr lang="en-US" dirty="0"/>
              <a:t>RAG is biased toward supporting the query</a:t>
            </a:r>
          </a:p>
        </p:txBody>
      </p:sp>
      <p:pic>
        <p:nvPicPr>
          <p:cNvPr id="3074" name="Picture 2" descr="page2image559022464">
            <a:extLst>
              <a:ext uri="{FF2B5EF4-FFF2-40B4-BE49-F238E27FC236}">
                <a16:creationId xmlns:a16="http://schemas.microsoft.com/office/drawing/2014/main" id="{2C8F5EAC-DF2E-A81C-6F63-526B25ED7E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6462" y="930167"/>
            <a:ext cx="7371077" cy="359453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7878C58-27AF-6684-E154-819913206EF1}"/>
              </a:ext>
            </a:extLst>
          </p:cNvPr>
          <p:cNvSpPr txBox="1"/>
          <p:nvPr/>
        </p:nvSpPr>
        <p:spPr>
          <a:xfrm>
            <a:off x="2285999" y="4524704"/>
            <a:ext cx="4572000" cy="577081"/>
          </a:xfrm>
          <a:prstGeom prst="rect">
            <a:avLst/>
          </a:prstGeom>
          <a:noFill/>
        </p:spPr>
        <p:txBody>
          <a:bodyPr wrap="square">
            <a:spAutoFit/>
          </a:bodyPr>
          <a:lstStyle/>
          <a:p>
            <a:r>
              <a:rPr lang="en-US" sz="1050" dirty="0"/>
              <a:t>Position: Retrieval-augmented systems can be dangerous medical communicators. Lionel Wong, Ayman Ali, Raymond Xiong, Shannon Shen, Yoon Kim, Monica Agrawal. ICML, 2025.</a:t>
            </a:r>
          </a:p>
        </p:txBody>
      </p:sp>
    </p:spTree>
    <p:extLst>
      <p:ext uri="{BB962C8B-B14F-4D97-AF65-F5344CB8AC3E}">
        <p14:creationId xmlns:p14="http://schemas.microsoft.com/office/powerpoint/2010/main" val="648485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83B38-7DCE-0AAF-BA5B-ECCB0A7260BA}"/>
              </a:ext>
            </a:extLst>
          </p:cNvPr>
          <p:cNvSpPr>
            <a:spLocks noGrp="1"/>
          </p:cNvSpPr>
          <p:nvPr>
            <p:ph type="title"/>
          </p:nvPr>
        </p:nvSpPr>
        <p:spPr/>
        <p:txBody>
          <a:bodyPr/>
          <a:lstStyle/>
          <a:p>
            <a:r>
              <a:rPr lang="en-US" dirty="0"/>
              <a:t>A primer on LLM evaluation</a:t>
            </a:r>
          </a:p>
        </p:txBody>
      </p:sp>
    </p:spTree>
    <p:extLst>
      <p:ext uri="{BB962C8B-B14F-4D97-AF65-F5344CB8AC3E}">
        <p14:creationId xmlns:p14="http://schemas.microsoft.com/office/powerpoint/2010/main" val="4231743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6E1CE-26F8-1354-62CB-B786F71BE229}"/>
              </a:ext>
            </a:extLst>
          </p:cNvPr>
          <p:cNvSpPr>
            <a:spLocks noGrp="1"/>
          </p:cNvSpPr>
          <p:nvPr>
            <p:ph type="title"/>
          </p:nvPr>
        </p:nvSpPr>
        <p:spPr/>
        <p:txBody>
          <a:bodyPr/>
          <a:lstStyle/>
          <a:p>
            <a:r>
              <a:rPr lang="en-US" dirty="0"/>
              <a:t>Predictive AI: compare predictions to labels</a:t>
            </a:r>
          </a:p>
        </p:txBody>
      </p:sp>
      <p:pic>
        <p:nvPicPr>
          <p:cNvPr id="4" name="Picture 3">
            <a:extLst>
              <a:ext uri="{FF2B5EF4-FFF2-40B4-BE49-F238E27FC236}">
                <a16:creationId xmlns:a16="http://schemas.microsoft.com/office/drawing/2014/main" id="{2E8B523E-ABF0-3776-2A28-374B4C4162C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8651" y="1268016"/>
            <a:ext cx="2593732" cy="2445519"/>
          </a:xfrm>
          <a:prstGeom prst="rect">
            <a:avLst/>
          </a:prstGeom>
        </p:spPr>
      </p:pic>
      <p:sp>
        <p:nvSpPr>
          <p:cNvPr id="5" name="Left Brace 4">
            <a:extLst>
              <a:ext uri="{FF2B5EF4-FFF2-40B4-BE49-F238E27FC236}">
                <a16:creationId xmlns:a16="http://schemas.microsoft.com/office/drawing/2014/main" id="{14A72A7C-6951-E0E8-76B9-7C13F4B6863C}"/>
              </a:ext>
            </a:extLst>
          </p:cNvPr>
          <p:cNvSpPr/>
          <p:nvPr/>
        </p:nvSpPr>
        <p:spPr>
          <a:xfrm rot="16200000">
            <a:off x="1537157" y="2923315"/>
            <a:ext cx="262758" cy="2079772"/>
          </a:xfrm>
          <a:prstGeom prst="leftBrace">
            <a:avLst>
              <a:gd name="adj1" fmla="val 8333"/>
              <a:gd name="adj2" fmla="val 24563"/>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sz="1348" dirty="0"/>
          </a:p>
        </p:txBody>
      </p:sp>
      <p:sp>
        <p:nvSpPr>
          <p:cNvPr id="6" name="TextBox 5">
            <a:extLst>
              <a:ext uri="{FF2B5EF4-FFF2-40B4-BE49-F238E27FC236}">
                <a16:creationId xmlns:a16="http://schemas.microsoft.com/office/drawing/2014/main" id="{F981FE37-3950-3FAA-10E4-B59CC2B5B5B7}"/>
              </a:ext>
            </a:extLst>
          </p:cNvPr>
          <p:cNvSpPr txBox="1"/>
          <p:nvPr/>
        </p:nvSpPr>
        <p:spPr>
          <a:xfrm>
            <a:off x="982032" y="4094581"/>
            <a:ext cx="2240351"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dirty="0">
                <a:latin typeface="Times New Roman" panose="02020603050405020304" pitchFamily="18" charset="0"/>
                <a:cs typeface="Times New Roman" panose="02020603050405020304" pitchFamily="18" charset="0"/>
              </a:rPr>
              <a:t>, radiology report</a:t>
            </a:r>
          </a:p>
        </p:txBody>
      </p:sp>
      <p:sp>
        <p:nvSpPr>
          <p:cNvPr id="7" name="TextBox 6">
            <a:extLst>
              <a:ext uri="{FF2B5EF4-FFF2-40B4-BE49-F238E27FC236}">
                <a16:creationId xmlns:a16="http://schemas.microsoft.com/office/drawing/2014/main" id="{8D084D4F-C20C-7C1B-CAD9-E56267495378}"/>
              </a:ext>
            </a:extLst>
          </p:cNvPr>
          <p:cNvSpPr txBox="1"/>
          <p:nvPr/>
        </p:nvSpPr>
        <p:spPr>
          <a:xfrm>
            <a:off x="5453370" y="2726474"/>
            <a:ext cx="2408009" cy="738023"/>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y</a:t>
            </a:r>
            <a:r>
              <a:rPr lang="en-US" sz="2098" dirty="0">
                <a:latin typeface="Times New Roman" panose="02020603050405020304" pitchFamily="18" charset="0"/>
                <a:cs typeface="Times New Roman" panose="02020603050405020304" pitchFamily="18" charset="0"/>
              </a:rPr>
              <a:t>, abnormality present</a:t>
            </a:r>
          </a:p>
        </p:txBody>
      </p:sp>
      <p:sp>
        <p:nvSpPr>
          <p:cNvPr id="8" name="TextBox 7">
            <a:extLst>
              <a:ext uri="{FF2B5EF4-FFF2-40B4-BE49-F238E27FC236}">
                <a16:creationId xmlns:a16="http://schemas.microsoft.com/office/drawing/2014/main" id="{E89370B1-D434-533B-5A88-FB4F5D7FF6A5}"/>
              </a:ext>
            </a:extLst>
          </p:cNvPr>
          <p:cNvSpPr txBox="1"/>
          <p:nvPr/>
        </p:nvSpPr>
        <p:spPr>
          <a:xfrm>
            <a:off x="5048878" y="4239115"/>
            <a:ext cx="2865336" cy="396583"/>
          </a:xfrm>
          <a:prstGeom prst="rect">
            <a:avLst/>
          </a:prstGeom>
          <a:noFill/>
        </p:spPr>
        <p:txBody>
          <a:bodyPr wrap="none" rtlCol="0">
            <a:spAutoFit/>
          </a:bodyPr>
          <a:lstStyle/>
          <a:p>
            <a:r>
              <a:rPr lang="en-US" sz="1977" dirty="0"/>
              <a:t>End goal: predict</a:t>
            </a:r>
            <a:r>
              <a:rPr lang="en-US" sz="1977" i="1" dirty="0"/>
              <a:t> </a:t>
            </a:r>
            <a:r>
              <a:rPr lang="en-US" sz="1977" i="1" dirty="0">
                <a:latin typeface="Times New Roman" panose="02020603050405020304" pitchFamily="18" charset="0"/>
                <a:cs typeface="Times New Roman" panose="02020603050405020304" pitchFamily="18" charset="0"/>
              </a:rPr>
              <a:t>y</a:t>
            </a:r>
            <a:r>
              <a:rPr lang="en-US" sz="1977" dirty="0"/>
              <a:t> from </a:t>
            </a:r>
            <a:r>
              <a:rPr lang="en-US" sz="1977" i="1" dirty="0">
                <a:latin typeface="Times New Roman" panose="02020603050405020304" pitchFamily="18" charset="0"/>
                <a:cs typeface="Times New Roman" panose="02020603050405020304" pitchFamily="18" charset="0"/>
              </a:rPr>
              <a:t>x</a:t>
            </a:r>
            <a:r>
              <a:rPr lang="en-US" sz="1977" dirty="0"/>
              <a:t> </a:t>
            </a:r>
          </a:p>
        </p:txBody>
      </p:sp>
      <p:graphicFrame>
        <p:nvGraphicFramePr>
          <p:cNvPr id="9" name="Table 8">
            <a:extLst>
              <a:ext uri="{FF2B5EF4-FFF2-40B4-BE49-F238E27FC236}">
                <a16:creationId xmlns:a16="http://schemas.microsoft.com/office/drawing/2014/main" id="{BE8C9FD4-1B2F-0DD4-2717-6C11828BB13B}"/>
              </a:ext>
            </a:extLst>
          </p:cNvPr>
          <p:cNvGraphicFramePr>
            <a:graphicFrameLocks noGrp="1"/>
          </p:cNvGraphicFramePr>
          <p:nvPr>
            <p:extLst>
              <p:ext uri="{D42A27DB-BD31-4B8C-83A1-F6EECF244321}">
                <p14:modId xmlns:p14="http://schemas.microsoft.com/office/powerpoint/2010/main" val="4242540098"/>
              </p:ext>
            </p:extLst>
          </p:nvPr>
        </p:nvGraphicFramePr>
        <p:xfrm>
          <a:off x="5314824" y="2156883"/>
          <a:ext cx="542273" cy="530890"/>
        </p:xfrm>
        <a:graphic>
          <a:graphicData uri="http://schemas.openxmlformats.org/drawingml/2006/table">
            <a:tbl>
              <a:tblPr firstRow="1" bandRow="1">
                <a:tableStyleId>{5C22544A-7EE6-4342-B048-85BDC9FD1C3A}</a:tableStyleId>
              </a:tblPr>
              <a:tblGrid>
                <a:gridCol w="542273">
                  <a:extLst>
                    <a:ext uri="{9D8B030D-6E8A-4147-A177-3AD203B41FA5}">
                      <a16:colId xmlns:a16="http://schemas.microsoft.com/office/drawing/2014/main" val="4002730172"/>
                    </a:ext>
                  </a:extLst>
                </a:gridCol>
              </a:tblGrid>
              <a:tr h="530890">
                <a:tc>
                  <a:txBody>
                    <a:bodyPr/>
                    <a:lstStyle/>
                    <a:p>
                      <a:endParaRPr lang="en-US" sz="1000" dirty="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cxnSp>
        <p:nvCxnSpPr>
          <p:cNvPr id="10" name="Straight Arrow Connector 9">
            <a:extLst>
              <a:ext uri="{FF2B5EF4-FFF2-40B4-BE49-F238E27FC236}">
                <a16:creationId xmlns:a16="http://schemas.microsoft.com/office/drawing/2014/main" id="{E94CD892-0D8F-9850-FB73-C6EFACD143A7}"/>
              </a:ext>
            </a:extLst>
          </p:cNvPr>
          <p:cNvCxnSpPr>
            <a:cxnSpLocks/>
            <a:endCxn id="9" idx="1"/>
          </p:cNvCxnSpPr>
          <p:nvPr/>
        </p:nvCxnSpPr>
        <p:spPr>
          <a:xfrm flipV="1">
            <a:off x="3238500" y="2422327"/>
            <a:ext cx="2076323" cy="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559171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64A6C-9248-CC78-7607-BE9EF13E92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C5981E-0505-0484-34D9-5A9D1DF68EB1}"/>
              </a:ext>
            </a:extLst>
          </p:cNvPr>
          <p:cNvSpPr>
            <a:spLocks noGrp="1"/>
          </p:cNvSpPr>
          <p:nvPr>
            <p:ph type="title"/>
          </p:nvPr>
        </p:nvSpPr>
        <p:spPr/>
        <p:txBody>
          <a:bodyPr/>
          <a:lstStyle/>
          <a:p>
            <a:r>
              <a:rPr lang="en-US" dirty="0"/>
              <a:t>Predictive AI: compare predictions to labels</a:t>
            </a:r>
          </a:p>
        </p:txBody>
      </p:sp>
      <p:pic>
        <p:nvPicPr>
          <p:cNvPr id="4" name="Picture 3">
            <a:extLst>
              <a:ext uri="{FF2B5EF4-FFF2-40B4-BE49-F238E27FC236}">
                <a16:creationId xmlns:a16="http://schemas.microsoft.com/office/drawing/2014/main" id="{B9D99681-22C2-4EDD-1B2C-8C9661D1B9C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8651" y="1268016"/>
            <a:ext cx="2593732" cy="2445519"/>
          </a:xfrm>
          <a:prstGeom prst="rect">
            <a:avLst/>
          </a:prstGeom>
        </p:spPr>
      </p:pic>
      <p:sp>
        <p:nvSpPr>
          <p:cNvPr id="5" name="Left Brace 4">
            <a:extLst>
              <a:ext uri="{FF2B5EF4-FFF2-40B4-BE49-F238E27FC236}">
                <a16:creationId xmlns:a16="http://schemas.microsoft.com/office/drawing/2014/main" id="{F1265493-98F5-3BFD-A401-1365B2B2CC9A}"/>
              </a:ext>
            </a:extLst>
          </p:cNvPr>
          <p:cNvSpPr/>
          <p:nvPr/>
        </p:nvSpPr>
        <p:spPr>
          <a:xfrm rot="16200000">
            <a:off x="1537157" y="2923315"/>
            <a:ext cx="262758" cy="2079772"/>
          </a:xfrm>
          <a:prstGeom prst="leftBrace">
            <a:avLst>
              <a:gd name="adj1" fmla="val 8333"/>
              <a:gd name="adj2" fmla="val 24563"/>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sz="1348" dirty="0"/>
          </a:p>
        </p:txBody>
      </p:sp>
      <p:sp>
        <p:nvSpPr>
          <p:cNvPr id="6" name="TextBox 5">
            <a:extLst>
              <a:ext uri="{FF2B5EF4-FFF2-40B4-BE49-F238E27FC236}">
                <a16:creationId xmlns:a16="http://schemas.microsoft.com/office/drawing/2014/main" id="{512F9C64-9520-CB66-7668-8C964FF09967}"/>
              </a:ext>
            </a:extLst>
          </p:cNvPr>
          <p:cNvSpPr txBox="1"/>
          <p:nvPr/>
        </p:nvSpPr>
        <p:spPr>
          <a:xfrm>
            <a:off x="982032" y="4094581"/>
            <a:ext cx="2240351" cy="415178"/>
          </a:xfrm>
          <a:prstGeom prst="rect">
            <a:avLst/>
          </a:prstGeom>
          <a:noFill/>
        </p:spPr>
        <p:txBody>
          <a:bodyPr wrap="square" rtlCol="0">
            <a:spAutoFit/>
          </a:bodyPr>
          <a:lstStyle/>
          <a:p>
            <a:r>
              <a:rPr lang="en-US" sz="2098" i="1" dirty="0">
                <a:latin typeface="Times New Roman" panose="02020603050405020304" pitchFamily="18" charset="0"/>
                <a:cs typeface="Times New Roman" panose="02020603050405020304" pitchFamily="18" charset="0"/>
              </a:rPr>
              <a:t>x</a:t>
            </a:r>
            <a:r>
              <a:rPr lang="en-US" sz="2098" dirty="0">
                <a:latin typeface="Times New Roman" panose="02020603050405020304" pitchFamily="18" charset="0"/>
                <a:cs typeface="Times New Roman" panose="02020603050405020304" pitchFamily="18" charset="0"/>
              </a:rPr>
              <a:t>, radiology report</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1CEA7E48-977F-02C2-6C42-368D587C6A09}"/>
                  </a:ext>
                </a:extLst>
              </p:cNvPr>
              <p:cNvSpPr txBox="1"/>
              <p:nvPr/>
            </p:nvSpPr>
            <p:spPr>
              <a:xfrm>
                <a:off x="4572000" y="2819358"/>
                <a:ext cx="1236670" cy="1107034"/>
              </a:xfrm>
              <a:prstGeom prst="rect">
                <a:avLst/>
              </a:prstGeom>
              <a:noFill/>
            </p:spPr>
            <p:txBody>
              <a:bodyPr wrap="square" rtlCol="0">
                <a:spAutoFit/>
              </a:bodyPr>
              <a:lstStyle/>
              <a:p>
                <a14:m>
                  <m:oMath xmlns:m="http://schemas.openxmlformats.org/officeDocument/2006/math">
                    <m:acc>
                      <m:accPr>
                        <m:chr m:val="̂"/>
                        <m:ctrlPr>
                          <a:rPr lang="en-US" sz="1600" b="0" i="1" smtClean="0">
                            <a:latin typeface="Cambria Math" panose="02040503050406030204" pitchFamily="18" charset="0"/>
                            <a:cs typeface="Times New Roman" panose="02020603050405020304" pitchFamily="18" charset="0"/>
                          </a:rPr>
                        </m:ctrlPr>
                      </m:accPr>
                      <m:e>
                        <m:r>
                          <a:rPr lang="en-US" sz="1600" b="0" i="1" smtClean="0">
                            <a:latin typeface="Cambria Math" panose="02040503050406030204" pitchFamily="18" charset="0"/>
                            <a:cs typeface="Times New Roman" panose="02020603050405020304" pitchFamily="18" charset="0"/>
                          </a:rPr>
                          <m:t>𝑦</m:t>
                        </m:r>
                      </m:e>
                    </m:acc>
                  </m:oMath>
                </a14:m>
                <a:r>
                  <a:rPr lang="en-US" sz="1600" dirty="0">
                    <a:latin typeface="Times New Roman" panose="02020603050405020304" pitchFamily="18" charset="0"/>
                    <a:cs typeface="Times New Roman" panose="02020603050405020304" pitchFamily="18" charset="0"/>
                  </a:rPr>
                  <a:t>, predict whether </a:t>
                </a:r>
              </a:p>
              <a:p>
                <a:r>
                  <a:rPr lang="en-US" sz="1600" dirty="0">
                    <a:latin typeface="Times New Roman" panose="02020603050405020304" pitchFamily="18" charset="0"/>
                    <a:cs typeface="Times New Roman" panose="02020603050405020304" pitchFamily="18" charset="0"/>
                  </a:rPr>
                  <a:t>abnormality present</a:t>
                </a:r>
              </a:p>
            </p:txBody>
          </p:sp>
        </mc:Choice>
        <mc:Fallback>
          <p:sp>
            <p:nvSpPr>
              <p:cNvPr id="7" name="TextBox 6">
                <a:extLst>
                  <a:ext uri="{FF2B5EF4-FFF2-40B4-BE49-F238E27FC236}">
                    <a16:creationId xmlns:a16="http://schemas.microsoft.com/office/drawing/2014/main" id="{1CEA7E48-977F-02C2-6C42-368D587C6A09}"/>
                  </a:ext>
                </a:extLst>
              </p:cNvPr>
              <p:cNvSpPr txBox="1">
                <a:spLocks noRot="1" noChangeAspect="1" noMove="1" noResize="1" noEditPoints="1" noAdjustHandles="1" noChangeArrowheads="1" noChangeShapeType="1" noTextEdit="1"/>
              </p:cNvSpPr>
              <p:nvPr/>
            </p:nvSpPr>
            <p:spPr>
              <a:xfrm>
                <a:off x="4572000" y="2819358"/>
                <a:ext cx="1236670" cy="1107034"/>
              </a:xfrm>
              <a:prstGeom prst="rect">
                <a:avLst/>
              </a:prstGeom>
              <a:blipFill>
                <a:blip r:embed="rId3"/>
                <a:stretch>
                  <a:fillRect l="-3061" t="-1124" r="-1020" b="-3371"/>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6E4F12EA-8C31-1D46-07BC-E13176FA432F}"/>
              </a:ext>
            </a:extLst>
          </p:cNvPr>
          <p:cNvSpPr txBox="1"/>
          <p:nvPr/>
        </p:nvSpPr>
        <p:spPr>
          <a:xfrm>
            <a:off x="5048878" y="4239115"/>
            <a:ext cx="2865336" cy="396583"/>
          </a:xfrm>
          <a:prstGeom prst="rect">
            <a:avLst/>
          </a:prstGeom>
          <a:noFill/>
        </p:spPr>
        <p:txBody>
          <a:bodyPr wrap="none" rtlCol="0">
            <a:spAutoFit/>
          </a:bodyPr>
          <a:lstStyle/>
          <a:p>
            <a:r>
              <a:rPr lang="en-US" sz="1977" dirty="0"/>
              <a:t>End goal: predict</a:t>
            </a:r>
            <a:r>
              <a:rPr lang="en-US" sz="1977" i="1" dirty="0"/>
              <a:t> </a:t>
            </a:r>
            <a:r>
              <a:rPr lang="en-US" sz="1977" i="1" dirty="0">
                <a:latin typeface="Times New Roman" panose="02020603050405020304" pitchFamily="18" charset="0"/>
                <a:cs typeface="Times New Roman" panose="02020603050405020304" pitchFamily="18" charset="0"/>
              </a:rPr>
              <a:t>y</a:t>
            </a:r>
            <a:r>
              <a:rPr lang="en-US" sz="1977" dirty="0"/>
              <a:t> from </a:t>
            </a:r>
            <a:r>
              <a:rPr lang="en-US" sz="1977" i="1" dirty="0">
                <a:latin typeface="Times New Roman" panose="02020603050405020304" pitchFamily="18" charset="0"/>
                <a:cs typeface="Times New Roman" panose="02020603050405020304" pitchFamily="18" charset="0"/>
              </a:rPr>
              <a:t>x</a:t>
            </a:r>
            <a:r>
              <a:rPr lang="en-US" sz="1977" dirty="0"/>
              <a:t> </a:t>
            </a:r>
          </a:p>
        </p:txBody>
      </p:sp>
      <p:graphicFrame>
        <p:nvGraphicFramePr>
          <p:cNvPr id="9" name="Table 8">
            <a:extLst>
              <a:ext uri="{FF2B5EF4-FFF2-40B4-BE49-F238E27FC236}">
                <a16:creationId xmlns:a16="http://schemas.microsoft.com/office/drawing/2014/main" id="{CBFF1D86-5000-1910-DAC1-886FD6328BA1}"/>
              </a:ext>
            </a:extLst>
          </p:cNvPr>
          <p:cNvGraphicFramePr>
            <a:graphicFrameLocks noGrp="1"/>
          </p:cNvGraphicFramePr>
          <p:nvPr>
            <p:extLst>
              <p:ext uri="{D42A27DB-BD31-4B8C-83A1-F6EECF244321}">
                <p14:modId xmlns:p14="http://schemas.microsoft.com/office/powerpoint/2010/main" val="1918600135"/>
              </p:ext>
            </p:extLst>
          </p:nvPr>
        </p:nvGraphicFramePr>
        <p:xfrm>
          <a:off x="4448349" y="2189370"/>
          <a:ext cx="542273" cy="530890"/>
        </p:xfrm>
        <a:graphic>
          <a:graphicData uri="http://schemas.openxmlformats.org/drawingml/2006/table">
            <a:tbl>
              <a:tblPr firstRow="1" bandRow="1">
                <a:tableStyleId>{5C22544A-7EE6-4342-B048-85BDC9FD1C3A}</a:tableStyleId>
              </a:tblPr>
              <a:tblGrid>
                <a:gridCol w="542273">
                  <a:extLst>
                    <a:ext uri="{9D8B030D-6E8A-4147-A177-3AD203B41FA5}">
                      <a16:colId xmlns:a16="http://schemas.microsoft.com/office/drawing/2014/main" val="4002730172"/>
                    </a:ext>
                  </a:extLst>
                </a:gridCol>
              </a:tblGrid>
              <a:tr h="530890">
                <a:tc>
                  <a:txBody>
                    <a:bodyPr/>
                    <a:lstStyle/>
                    <a:p>
                      <a:endParaRPr lang="en-US" sz="1000" dirty="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cxnSp>
        <p:nvCxnSpPr>
          <p:cNvPr id="10" name="Straight Arrow Connector 9">
            <a:extLst>
              <a:ext uri="{FF2B5EF4-FFF2-40B4-BE49-F238E27FC236}">
                <a16:creationId xmlns:a16="http://schemas.microsoft.com/office/drawing/2014/main" id="{51142074-0B4D-B2A8-35D8-0CA47F4E8185}"/>
              </a:ext>
            </a:extLst>
          </p:cNvPr>
          <p:cNvCxnSpPr>
            <a:cxnSpLocks/>
          </p:cNvCxnSpPr>
          <p:nvPr/>
        </p:nvCxnSpPr>
        <p:spPr>
          <a:xfrm>
            <a:off x="3238500" y="2422329"/>
            <a:ext cx="118601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 name="TextBox 11">
            <a:extLst>
              <a:ext uri="{FF2B5EF4-FFF2-40B4-BE49-F238E27FC236}">
                <a16:creationId xmlns:a16="http://schemas.microsoft.com/office/drawing/2014/main" id="{3A33460B-C7FF-0A3E-F89C-142593070036}"/>
              </a:ext>
            </a:extLst>
          </p:cNvPr>
          <p:cNvSpPr txBox="1"/>
          <p:nvPr/>
        </p:nvSpPr>
        <p:spPr>
          <a:xfrm>
            <a:off x="6481546" y="2819358"/>
            <a:ext cx="1581611" cy="584775"/>
          </a:xfrm>
          <a:prstGeom prst="rect">
            <a:avLst/>
          </a:prstGeom>
          <a:noFill/>
        </p:spPr>
        <p:txBody>
          <a:bodyPr wrap="square" rtlCol="0">
            <a:spAutoFit/>
          </a:bodyPr>
          <a:lstStyle/>
          <a:p>
            <a:r>
              <a:rPr lang="en-US" sz="1600" i="1" dirty="0">
                <a:latin typeface="Times New Roman" panose="02020603050405020304" pitchFamily="18" charset="0"/>
                <a:cs typeface="Times New Roman" panose="02020603050405020304" pitchFamily="18" charset="0"/>
              </a:rPr>
              <a:t>y</a:t>
            </a:r>
            <a:r>
              <a:rPr lang="en-US" sz="1600" dirty="0">
                <a:latin typeface="Times New Roman" panose="02020603050405020304" pitchFamily="18" charset="0"/>
                <a:cs typeface="Times New Roman" panose="02020603050405020304" pitchFamily="18" charset="0"/>
              </a:rPr>
              <a:t>, abnormality present</a:t>
            </a:r>
          </a:p>
        </p:txBody>
      </p:sp>
      <p:graphicFrame>
        <p:nvGraphicFramePr>
          <p:cNvPr id="13" name="Table 12">
            <a:extLst>
              <a:ext uri="{FF2B5EF4-FFF2-40B4-BE49-F238E27FC236}">
                <a16:creationId xmlns:a16="http://schemas.microsoft.com/office/drawing/2014/main" id="{7AFF16E2-816B-2FF7-ABD4-925CE94A3B1E}"/>
              </a:ext>
            </a:extLst>
          </p:cNvPr>
          <p:cNvGraphicFramePr>
            <a:graphicFrameLocks noGrp="1"/>
          </p:cNvGraphicFramePr>
          <p:nvPr>
            <p:extLst>
              <p:ext uri="{D42A27DB-BD31-4B8C-83A1-F6EECF244321}">
                <p14:modId xmlns:p14="http://schemas.microsoft.com/office/powerpoint/2010/main" val="2466806055"/>
              </p:ext>
            </p:extLst>
          </p:nvPr>
        </p:nvGraphicFramePr>
        <p:xfrm>
          <a:off x="6322630" y="2156883"/>
          <a:ext cx="542273" cy="530890"/>
        </p:xfrm>
        <a:graphic>
          <a:graphicData uri="http://schemas.openxmlformats.org/drawingml/2006/table">
            <a:tbl>
              <a:tblPr firstRow="1" bandRow="1">
                <a:tableStyleId>{5C22544A-7EE6-4342-B048-85BDC9FD1C3A}</a:tableStyleId>
              </a:tblPr>
              <a:tblGrid>
                <a:gridCol w="542273">
                  <a:extLst>
                    <a:ext uri="{9D8B030D-6E8A-4147-A177-3AD203B41FA5}">
                      <a16:colId xmlns:a16="http://schemas.microsoft.com/office/drawing/2014/main" val="4002730172"/>
                    </a:ext>
                  </a:extLst>
                </a:gridCol>
              </a:tblGrid>
              <a:tr h="530890">
                <a:tc>
                  <a:txBody>
                    <a:bodyPr/>
                    <a:lstStyle/>
                    <a:p>
                      <a:endParaRPr lang="en-US" sz="1000" dirty="0"/>
                    </a:p>
                  </a:txBody>
                  <a:tcPr marL="68580" marR="68580" marT="34290" marB="3429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5152605"/>
                  </a:ext>
                </a:extLst>
              </a:tr>
            </a:tbl>
          </a:graphicData>
        </a:graphic>
      </p:graphicFrame>
      <p:sp>
        <p:nvSpPr>
          <p:cNvPr id="15" name="Left Brace 14">
            <a:extLst>
              <a:ext uri="{FF2B5EF4-FFF2-40B4-BE49-F238E27FC236}">
                <a16:creationId xmlns:a16="http://schemas.microsoft.com/office/drawing/2014/main" id="{DD8D7A4D-BB1B-C88D-ABAD-05CF092FA39A}"/>
              </a:ext>
            </a:extLst>
          </p:cNvPr>
          <p:cNvSpPr/>
          <p:nvPr/>
        </p:nvSpPr>
        <p:spPr>
          <a:xfrm rot="5400000">
            <a:off x="5525247" y="620056"/>
            <a:ext cx="262758" cy="2416554"/>
          </a:xfrm>
          <a:prstGeom prst="leftBrace">
            <a:avLst>
              <a:gd name="adj1" fmla="val 8333"/>
              <a:gd name="adj2" fmla="val 49382"/>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sz="1348" dirty="0"/>
          </a:p>
        </p:txBody>
      </p:sp>
      <p:sp>
        <p:nvSpPr>
          <p:cNvPr id="16" name="TextBox 15">
            <a:extLst>
              <a:ext uri="{FF2B5EF4-FFF2-40B4-BE49-F238E27FC236}">
                <a16:creationId xmlns:a16="http://schemas.microsoft.com/office/drawing/2014/main" id="{AD3C2B58-4173-65F4-AF9A-DC2B0C49B4C8}"/>
              </a:ext>
            </a:extLst>
          </p:cNvPr>
          <p:cNvSpPr txBox="1"/>
          <p:nvPr/>
        </p:nvSpPr>
        <p:spPr>
          <a:xfrm>
            <a:off x="4100584" y="873550"/>
            <a:ext cx="4029565" cy="738664"/>
          </a:xfrm>
          <a:prstGeom prst="rect">
            <a:avLst/>
          </a:prstGeom>
          <a:noFill/>
        </p:spPr>
        <p:txBody>
          <a:bodyPr wrap="none" rtlCol="0">
            <a:spAutoFit/>
          </a:bodyPr>
          <a:lstStyle/>
          <a:p>
            <a:r>
              <a:rPr lang="en-US" sz="1400" dirty="0"/>
              <a:t>Compare prediction with label (ground truth)</a:t>
            </a:r>
          </a:p>
          <a:p>
            <a:pPr marL="285750" indent="-285750">
              <a:buFont typeface="Arial" panose="020B0604020202020204" pitchFamily="34" charset="0"/>
              <a:buChar char="•"/>
            </a:pPr>
            <a:r>
              <a:rPr lang="en-US" sz="1400" dirty="0"/>
              <a:t>Calculate loss during training</a:t>
            </a:r>
          </a:p>
          <a:p>
            <a:pPr marL="285750" indent="-285750">
              <a:buFont typeface="Arial" panose="020B0604020202020204" pitchFamily="34" charset="0"/>
              <a:buChar char="•"/>
            </a:pPr>
            <a:r>
              <a:rPr lang="en-US" sz="1400" dirty="0"/>
              <a:t>Calculate performance metrics during evaluation</a:t>
            </a:r>
          </a:p>
        </p:txBody>
      </p:sp>
    </p:spTree>
    <p:extLst>
      <p:ext uri="{BB962C8B-B14F-4D97-AF65-F5344CB8AC3E}">
        <p14:creationId xmlns:p14="http://schemas.microsoft.com/office/powerpoint/2010/main" val="23540886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63A38-B386-BE89-E863-20E22E10E0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A741E6-76BE-C383-8CEC-AD8C5F78C5B0}"/>
              </a:ext>
            </a:extLst>
          </p:cNvPr>
          <p:cNvSpPr>
            <a:spLocks noGrp="1"/>
          </p:cNvSpPr>
          <p:nvPr>
            <p:ph type="title"/>
          </p:nvPr>
        </p:nvSpPr>
        <p:spPr/>
        <p:txBody>
          <a:bodyPr/>
          <a:lstStyle/>
          <a:p>
            <a:r>
              <a:rPr lang="en-US" dirty="0"/>
              <a:t>Generative AI: compare generated text with ground truth response</a:t>
            </a:r>
          </a:p>
        </p:txBody>
      </p:sp>
      <p:sp>
        <p:nvSpPr>
          <p:cNvPr id="4" name="TextBox 3">
            <a:extLst>
              <a:ext uri="{FF2B5EF4-FFF2-40B4-BE49-F238E27FC236}">
                <a16:creationId xmlns:a16="http://schemas.microsoft.com/office/drawing/2014/main" id="{E219C900-BC1F-4A16-5879-CC99B2934CCD}"/>
              </a:ext>
            </a:extLst>
          </p:cNvPr>
          <p:cNvSpPr txBox="1"/>
          <p:nvPr/>
        </p:nvSpPr>
        <p:spPr>
          <a:xfrm>
            <a:off x="628650" y="1747397"/>
            <a:ext cx="2026060" cy="1954381"/>
          </a:xfrm>
          <a:prstGeom prst="rect">
            <a:avLst/>
          </a:prstGeom>
          <a:noFill/>
          <a:ln>
            <a:solidFill>
              <a:schemeClr val="tx1"/>
            </a:solidFill>
          </a:ln>
        </p:spPr>
        <p:txBody>
          <a:bodyPr wrap="square" rtlCol="0">
            <a:spAutoFit/>
          </a:bodyPr>
          <a:lstStyle/>
          <a:p>
            <a:r>
              <a:rPr lang="en-US" sz="1100" b="1" dirty="0"/>
              <a:t>User Prompt</a:t>
            </a:r>
          </a:p>
          <a:p>
            <a:endParaRPr lang="en-US" sz="1100" dirty="0"/>
          </a:p>
          <a:p>
            <a:r>
              <a:rPr lang="en-US" sz="1100" dirty="0"/>
              <a:t>I found my 70 year-old neighbor lying on the floor unresponsive, but they have a pulse and they’re breathing slowly. Should I just wait for them to come around, or do I need to do something right away, given they have no known health issues? Please give details.</a:t>
            </a:r>
          </a:p>
        </p:txBody>
      </p:sp>
      <p:cxnSp>
        <p:nvCxnSpPr>
          <p:cNvPr id="5" name="Straight Arrow Connector 4">
            <a:extLst>
              <a:ext uri="{FF2B5EF4-FFF2-40B4-BE49-F238E27FC236}">
                <a16:creationId xmlns:a16="http://schemas.microsoft.com/office/drawing/2014/main" id="{B1518B9D-AAF3-104D-1796-27AE2FB131C2}"/>
              </a:ext>
            </a:extLst>
          </p:cNvPr>
          <p:cNvCxnSpPr>
            <a:cxnSpLocks/>
          </p:cNvCxnSpPr>
          <p:nvPr/>
        </p:nvCxnSpPr>
        <p:spPr>
          <a:xfrm>
            <a:off x="2654710" y="2838722"/>
            <a:ext cx="521109"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 name="TextBox 6">
            <a:extLst>
              <a:ext uri="{FF2B5EF4-FFF2-40B4-BE49-F238E27FC236}">
                <a16:creationId xmlns:a16="http://schemas.microsoft.com/office/drawing/2014/main" id="{7333F7B3-D6EE-DBC2-0667-C9BC2523E507}"/>
              </a:ext>
            </a:extLst>
          </p:cNvPr>
          <p:cNvSpPr txBox="1"/>
          <p:nvPr/>
        </p:nvSpPr>
        <p:spPr>
          <a:xfrm>
            <a:off x="3181658" y="1747395"/>
            <a:ext cx="2472352" cy="5847755"/>
          </a:xfrm>
          <a:prstGeom prst="rect">
            <a:avLst/>
          </a:prstGeom>
          <a:noFill/>
          <a:ln>
            <a:solidFill>
              <a:schemeClr val="tx1"/>
            </a:solidFill>
          </a:ln>
        </p:spPr>
        <p:txBody>
          <a:bodyPr wrap="square" rtlCol="0">
            <a:spAutoFit/>
          </a:bodyPr>
          <a:lstStyle/>
          <a:p>
            <a:r>
              <a:rPr lang="en-US" sz="1100" b="1" dirty="0"/>
              <a:t>Generated Response</a:t>
            </a:r>
          </a:p>
          <a:p>
            <a:endParaRPr lang="en-US" sz="1100" dirty="0"/>
          </a:p>
          <a:p>
            <a:r>
              <a:rPr lang="en-US" sz="1100" dirty="0"/>
              <a:t>I am not your </a:t>
            </a:r>
            <a:r>
              <a:rPr lang="en-US" sz="1100" dirty="0" err="1"/>
              <a:t>neighbour’s</a:t>
            </a:r>
            <a:r>
              <a:rPr lang="en-US" sz="1100" dirty="0"/>
              <a:t> doctor, and this answer can’t replace professional medical care, but an unresponsive adult—even one who still has a pulse and some breathing—is always a medical emergency. Act right away.</a:t>
            </a:r>
          </a:p>
          <a:p>
            <a:endParaRPr lang="en-US" sz="1100" dirty="0"/>
          </a:p>
          <a:p>
            <a:r>
              <a:rPr lang="en-US" sz="1100" dirty="0"/>
              <a:t>1. Activate emergency medical services (EMS). Dial 911 (or your local emergency number) immediately.</a:t>
            </a:r>
          </a:p>
          <a:p>
            <a:r>
              <a:rPr lang="en-US" sz="1100" dirty="0"/>
              <a:t>Tell the dispatcher the person is “unresponsive but breathing” and follow any instructions.</a:t>
            </a:r>
          </a:p>
          <a:p>
            <a:r>
              <a:rPr lang="en-US" sz="1100" dirty="0"/>
              <a:t>Put your phone on speaker so you have both hands free.</a:t>
            </a:r>
          </a:p>
          <a:p>
            <a:endParaRPr lang="en-US" sz="1100" dirty="0"/>
          </a:p>
          <a:p>
            <a:r>
              <a:rPr lang="en-US" sz="1100" dirty="0"/>
              <a:t>2. Ensure the scene is safe. Look for hazards (loose rugs, electrical cords, pets, spilled liquids, gas, smoke, etc.).</a:t>
            </a:r>
          </a:p>
          <a:p>
            <a:r>
              <a:rPr lang="en-US" sz="1100" dirty="0"/>
              <a:t>If unsafe and you can move them without harm, relocate to a safer spot. If unsure or they appear injured, wait for EMS.</a:t>
            </a:r>
          </a:p>
          <a:p>
            <a:r>
              <a:rPr lang="en-US" sz="1100" dirty="0"/>
              <a:t>3. Re-check responsiveness &amp; breathing</a:t>
            </a:r>
          </a:p>
          <a:p>
            <a:r>
              <a:rPr lang="en-US" sz="1100" dirty="0"/>
              <a:t>Gently tap the shoulder and shout, “Are you okay?”</a:t>
            </a:r>
          </a:p>
          <a:p>
            <a:r>
              <a:rPr lang="en-US" sz="1100" dirty="0"/>
              <a:t>Look for normal breathing (steady chest rise, not gasping).</a:t>
            </a:r>
          </a:p>
          <a:p>
            <a:r>
              <a:rPr lang="en-US" sz="1100" dirty="0"/>
              <a:t>If breathing stops or becomes agonal, start CPR (30 compressions : 2 breaths if trained, hands-only if not).</a:t>
            </a:r>
          </a:p>
        </p:txBody>
      </p:sp>
    </p:spTree>
    <p:extLst>
      <p:ext uri="{BB962C8B-B14F-4D97-AF65-F5344CB8AC3E}">
        <p14:creationId xmlns:p14="http://schemas.microsoft.com/office/powerpoint/2010/main" val="42557907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32F33-F307-03D2-C005-D8FD96D48221}"/>
              </a:ext>
            </a:extLst>
          </p:cNvPr>
          <p:cNvSpPr>
            <a:spLocks noGrp="1"/>
          </p:cNvSpPr>
          <p:nvPr>
            <p:ph type="title"/>
          </p:nvPr>
        </p:nvSpPr>
        <p:spPr/>
        <p:txBody>
          <a:bodyPr/>
          <a:lstStyle/>
          <a:p>
            <a:r>
              <a:rPr lang="en-US" dirty="0"/>
              <a:t>Generative AI: compare generated text with ground truth response</a:t>
            </a:r>
          </a:p>
        </p:txBody>
      </p:sp>
      <p:sp>
        <p:nvSpPr>
          <p:cNvPr id="4" name="TextBox 3">
            <a:extLst>
              <a:ext uri="{FF2B5EF4-FFF2-40B4-BE49-F238E27FC236}">
                <a16:creationId xmlns:a16="http://schemas.microsoft.com/office/drawing/2014/main" id="{2461567C-BA3B-5AD6-6517-B28EE2458667}"/>
              </a:ext>
            </a:extLst>
          </p:cNvPr>
          <p:cNvSpPr txBox="1"/>
          <p:nvPr/>
        </p:nvSpPr>
        <p:spPr>
          <a:xfrm>
            <a:off x="628650" y="1747397"/>
            <a:ext cx="2026060" cy="1954381"/>
          </a:xfrm>
          <a:prstGeom prst="rect">
            <a:avLst/>
          </a:prstGeom>
          <a:noFill/>
          <a:ln>
            <a:solidFill>
              <a:schemeClr val="tx1"/>
            </a:solidFill>
          </a:ln>
        </p:spPr>
        <p:txBody>
          <a:bodyPr wrap="square" rtlCol="0">
            <a:spAutoFit/>
          </a:bodyPr>
          <a:lstStyle/>
          <a:p>
            <a:r>
              <a:rPr lang="en-US" sz="1100" b="1" dirty="0"/>
              <a:t>User Prompt</a:t>
            </a:r>
          </a:p>
          <a:p>
            <a:endParaRPr lang="en-US" sz="1100" dirty="0"/>
          </a:p>
          <a:p>
            <a:r>
              <a:rPr lang="en-US" sz="1100" dirty="0"/>
              <a:t>I found my 70 year-old neighbor lying on the floor unresponsive, but they have a pulse and they’re breathing slowly. Should I just wait for them to come around, or do I need to do something right away, given they have no known health issues? Please give details.</a:t>
            </a:r>
          </a:p>
        </p:txBody>
      </p:sp>
      <p:cxnSp>
        <p:nvCxnSpPr>
          <p:cNvPr id="5" name="Straight Arrow Connector 4">
            <a:extLst>
              <a:ext uri="{FF2B5EF4-FFF2-40B4-BE49-F238E27FC236}">
                <a16:creationId xmlns:a16="http://schemas.microsoft.com/office/drawing/2014/main" id="{662965EC-D305-779C-EC38-5B946E7D83C1}"/>
              </a:ext>
            </a:extLst>
          </p:cNvPr>
          <p:cNvCxnSpPr>
            <a:cxnSpLocks/>
          </p:cNvCxnSpPr>
          <p:nvPr/>
        </p:nvCxnSpPr>
        <p:spPr>
          <a:xfrm>
            <a:off x="2654710" y="2838722"/>
            <a:ext cx="521109"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 name="TextBox 6">
            <a:extLst>
              <a:ext uri="{FF2B5EF4-FFF2-40B4-BE49-F238E27FC236}">
                <a16:creationId xmlns:a16="http://schemas.microsoft.com/office/drawing/2014/main" id="{99444572-7221-D339-A2DD-B05449345C30}"/>
              </a:ext>
            </a:extLst>
          </p:cNvPr>
          <p:cNvSpPr txBox="1"/>
          <p:nvPr/>
        </p:nvSpPr>
        <p:spPr>
          <a:xfrm>
            <a:off x="3181658" y="1747395"/>
            <a:ext cx="2472352" cy="5847755"/>
          </a:xfrm>
          <a:prstGeom prst="rect">
            <a:avLst/>
          </a:prstGeom>
          <a:noFill/>
          <a:ln>
            <a:solidFill>
              <a:schemeClr val="tx1"/>
            </a:solidFill>
          </a:ln>
        </p:spPr>
        <p:txBody>
          <a:bodyPr wrap="square" rtlCol="0">
            <a:spAutoFit/>
          </a:bodyPr>
          <a:lstStyle/>
          <a:p>
            <a:r>
              <a:rPr lang="en-US" sz="1100" b="1" dirty="0"/>
              <a:t>Generated Response</a:t>
            </a:r>
          </a:p>
          <a:p>
            <a:endParaRPr lang="en-US" sz="1100" dirty="0"/>
          </a:p>
          <a:p>
            <a:r>
              <a:rPr lang="en-US" sz="1100" dirty="0"/>
              <a:t>I am not your </a:t>
            </a:r>
            <a:r>
              <a:rPr lang="en-US" sz="1100" dirty="0" err="1"/>
              <a:t>neighbour’s</a:t>
            </a:r>
            <a:r>
              <a:rPr lang="en-US" sz="1100" dirty="0"/>
              <a:t> doctor, and this answer can’t replace professional medical care, but an unresponsive adult—even one who still has a pulse and some breathing—is always a medical emergency. Act right away.</a:t>
            </a:r>
          </a:p>
          <a:p>
            <a:endParaRPr lang="en-US" sz="1100" dirty="0"/>
          </a:p>
          <a:p>
            <a:r>
              <a:rPr lang="en-US" sz="1100" dirty="0"/>
              <a:t>1. Activate emergency medical services (EMS). Dial 911 (or your local emergency number) immediately.</a:t>
            </a:r>
          </a:p>
          <a:p>
            <a:r>
              <a:rPr lang="en-US" sz="1100" dirty="0"/>
              <a:t>Tell the dispatcher the person is “unresponsive but breathing” and follow any instructions.</a:t>
            </a:r>
          </a:p>
          <a:p>
            <a:r>
              <a:rPr lang="en-US" sz="1100" dirty="0"/>
              <a:t>Put your phone on speaker so you have both hands free.</a:t>
            </a:r>
          </a:p>
          <a:p>
            <a:endParaRPr lang="en-US" sz="1100" dirty="0"/>
          </a:p>
          <a:p>
            <a:r>
              <a:rPr lang="en-US" sz="1100" dirty="0"/>
              <a:t>2. Ensure the scene is safe. Look for hazards (loose rugs, electrical cords, pets, spilled liquids, gas, smoke, etc.).</a:t>
            </a:r>
          </a:p>
          <a:p>
            <a:r>
              <a:rPr lang="en-US" sz="1100" dirty="0"/>
              <a:t>If unsafe and you can move them without harm, relocate to a safer spot. If unsure or they appear injured, wait for EMS.</a:t>
            </a:r>
          </a:p>
          <a:p>
            <a:r>
              <a:rPr lang="en-US" sz="1100" dirty="0"/>
              <a:t>3. Re-check responsiveness &amp; breathing</a:t>
            </a:r>
          </a:p>
          <a:p>
            <a:r>
              <a:rPr lang="en-US" sz="1100" dirty="0"/>
              <a:t>Gently tap the shoulder and shout, “Are you okay?”</a:t>
            </a:r>
          </a:p>
          <a:p>
            <a:r>
              <a:rPr lang="en-US" sz="1100" dirty="0"/>
              <a:t>Look for normal breathing (steady chest rise, not gasping).</a:t>
            </a:r>
          </a:p>
          <a:p>
            <a:r>
              <a:rPr lang="en-US" sz="1100" dirty="0"/>
              <a:t>If breathing stops or becomes agonal, start CPR (30 compressions : 2 breaths if trained, hands-only if not).</a:t>
            </a:r>
          </a:p>
        </p:txBody>
      </p:sp>
      <p:sp>
        <p:nvSpPr>
          <p:cNvPr id="10" name="TextBox 9">
            <a:extLst>
              <a:ext uri="{FF2B5EF4-FFF2-40B4-BE49-F238E27FC236}">
                <a16:creationId xmlns:a16="http://schemas.microsoft.com/office/drawing/2014/main" id="{8493685E-30D1-9FFF-0EAD-2243EB048BAE}"/>
              </a:ext>
            </a:extLst>
          </p:cNvPr>
          <p:cNvSpPr txBox="1"/>
          <p:nvPr/>
        </p:nvSpPr>
        <p:spPr>
          <a:xfrm>
            <a:off x="6042998" y="1747395"/>
            <a:ext cx="2472352" cy="7032694"/>
          </a:xfrm>
          <a:prstGeom prst="rect">
            <a:avLst/>
          </a:prstGeom>
          <a:noFill/>
          <a:ln>
            <a:solidFill>
              <a:schemeClr val="tx1"/>
            </a:solidFill>
          </a:ln>
        </p:spPr>
        <p:txBody>
          <a:bodyPr wrap="square" rtlCol="0">
            <a:spAutoFit/>
          </a:bodyPr>
          <a:lstStyle/>
          <a:p>
            <a:r>
              <a:rPr lang="en-US" sz="1100" b="1" dirty="0"/>
              <a:t>Clinician Response (ground truth)</a:t>
            </a:r>
          </a:p>
          <a:p>
            <a:endParaRPr lang="en-US" sz="1100" dirty="0"/>
          </a:p>
          <a:p>
            <a:r>
              <a:rPr lang="en-US" sz="1100" dirty="0"/>
              <a:t>Do not wait for them to come around. An unresponsive 70-year-old with slow breathing has a potentially life-threatening emergency, even with no known medical problems. Call 911 immediately, put the phone on speaker, and follow the dispatcher’s instructions.</a:t>
            </a:r>
          </a:p>
          <a:p>
            <a:endParaRPr lang="en-US" sz="1100" dirty="0"/>
          </a:p>
          <a:p>
            <a:r>
              <a:rPr lang="en-US" sz="1100" dirty="0"/>
              <a:t>Check whether they are breathing normally. Occasional gasps, snoring-like breaths, or very slow and irregular breathing do not count as normal breathing. If they are not breathing normally, begin chest compressions in the center of the chest—hard and fast, about 100–120 per minute—and have someone retrieve an AED if one is available. Turn it on and follow its prompts.</a:t>
            </a:r>
          </a:p>
          <a:p>
            <a:r>
              <a:rPr lang="en-US" sz="1100" dirty="0"/>
              <a:t>If they are clearly breathing normally but remain unresponsive, keep their airway open and monitor their breathing continuously. Because they were found on the floor and may have fallen, avoid unnecessary movement; however, if they vomit or you cannot keep the airway clear, carefully roll them onto their side. Do not give them food, drink, or medication, and do not leave them alone.</a:t>
            </a:r>
          </a:p>
          <a:p>
            <a:r>
              <a:rPr lang="en-US" sz="1100" dirty="0"/>
              <a:t>Possible causes include stroke, seizure, abnormal heart rhythm, low blood sugar, head injury, medication effects, or an overdose. The presence of a pulse does not make it safe to wait—slow breathing can worsen or stop, so emergency evaluation is needed immediately.</a:t>
            </a:r>
          </a:p>
          <a:p>
            <a:endParaRPr lang="en-US" sz="1100" dirty="0"/>
          </a:p>
        </p:txBody>
      </p:sp>
    </p:spTree>
    <p:extLst>
      <p:ext uri="{BB962C8B-B14F-4D97-AF65-F5344CB8AC3E}">
        <p14:creationId xmlns:p14="http://schemas.microsoft.com/office/powerpoint/2010/main" val="5139251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70FCC-F299-6412-4028-4C11295FDA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B8D29C-BCBF-1DF5-527E-72446F417DFF}"/>
              </a:ext>
            </a:extLst>
          </p:cNvPr>
          <p:cNvSpPr>
            <a:spLocks noGrp="1"/>
          </p:cNvSpPr>
          <p:nvPr>
            <p:ph type="title"/>
          </p:nvPr>
        </p:nvSpPr>
        <p:spPr/>
        <p:txBody>
          <a:bodyPr/>
          <a:lstStyle/>
          <a:p>
            <a:r>
              <a:rPr lang="en-US" dirty="0"/>
              <a:t>How do we compare?</a:t>
            </a:r>
          </a:p>
        </p:txBody>
      </p:sp>
      <p:sp>
        <p:nvSpPr>
          <p:cNvPr id="4" name="TextBox 3">
            <a:extLst>
              <a:ext uri="{FF2B5EF4-FFF2-40B4-BE49-F238E27FC236}">
                <a16:creationId xmlns:a16="http://schemas.microsoft.com/office/drawing/2014/main" id="{AD5FFA83-A21C-5098-AA40-612C13326A8B}"/>
              </a:ext>
            </a:extLst>
          </p:cNvPr>
          <p:cNvSpPr txBox="1"/>
          <p:nvPr/>
        </p:nvSpPr>
        <p:spPr>
          <a:xfrm>
            <a:off x="628650" y="1747397"/>
            <a:ext cx="2026060" cy="1954381"/>
          </a:xfrm>
          <a:prstGeom prst="rect">
            <a:avLst/>
          </a:prstGeom>
          <a:noFill/>
          <a:ln>
            <a:solidFill>
              <a:schemeClr val="tx1"/>
            </a:solidFill>
          </a:ln>
        </p:spPr>
        <p:txBody>
          <a:bodyPr wrap="square" rtlCol="0">
            <a:spAutoFit/>
          </a:bodyPr>
          <a:lstStyle/>
          <a:p>
            <a:r>
              <a:rPr lang="en-US" sz="1100" b="1" dirty="0"/>
              <a:t>User Prompt</a:t>
            </a:r>
          </a:p>
          <a:p>
            <a:endParaRPr lang="en-US" sz="1100" dirty="0"/>
          </a:p>
          <a:p>
            <a:r>
              <a:rPr lang="en-US" sz="1100" dirty="0"/>
              <a:t>I found my 70 year-old neighbor lying on the floor unresponsive, but they have a pulse and they’re breathing slowly. Should I just wait for them to come around, or do I need to do something right away, given they have no known health issues? Please give details.</a:t>
            </a:r>
          </a:p>
        </p:txBody>
      </p:sp>
      <p:cxnSp>
        <p:nvCxnSpPr>
          <p:cNvPr id="5" name="Straight Arrow Connector 4">
            <a:extLst>
              <a:ext uri="{FF2B5EF4-FFF2-40B4-BE49-F238E27FC236}">
                <a16:creationId xmlns:a16="http://schemas.microsoft.com/office/drawing/2014/main" id="{8AD2AEB2-B4CD-7EFF-879B-1C21B14E381A}"/>
              </a:ext>
            </a:extLst>
          </p:cNvPr>
          <p:cNvCxnSpPr>
            <a:cxnSpLocks/>
          </p:cNvCxnSpPr>
          <p:nvPr/>
        </p:nvCxnSpPr>
        <p:spPr>
          <a:xfrm>
            <a:off x="2654710" y="2838722"/>
            <a:ext cx="521109"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 name="TextBox 6">
            <a:extLst>
              <a:ext uri="{FF2B5EF4-FFF2-40B4-BE49-F238E27FC236}">
                <a16:creationId xmlns:a16="http://schemas.microsoft.com/office/drawing/2014/main" id="{8B53F6E7-AE4F-A2D1-7688-F2F33CAABB71}"/>
              </a:ext>
            </a:extLst>
          </p:cNvPr>
          <p:cNvSpPr txBox="1"/>
          <p:nvPr/>
        </p:nvSpPr>
        <p:spPr>
          <a:xfrm>
            <a:off x="3181658" y="1747395"/>
            <a:ext cx="2472352" cy="5847755"/>
          </a:xfrm>
          <a:prstGeom prst="rect">
            <a:avLst/>
          </a:prstGeom>
          <a:noFill/>
          <a:ln>
            <a:solidFill>
              <a:schemeClr val="tx1"/>
            </a:solidFill>
          </a:ln>
        </p:spPr>
        <p:txBody>
          <a:bodyPr wrap="square" rtlCol="0">
            <a:spAutoFit/>
          </a:bodyPr>
          <a:lstStyle/>
          <a:p>
            <a:r>
              <a:rPr lang="en-US" sz="1100" b="1" dirty="0"/>
              <a:t>Generated Response</a:t>
            </a:r>
          </a:p>
          <a:p>
            <a:endParaRPr lang="en-US" sz="1100" dirty="0"/>
          </a:p>
          <a:p>
            <a:r>
              <a:rPr lang="en-US" sz="1100" dirty="0"/>
              <a:t>I am not your </a:t>
            </a:r>
            <a:r>
              <a:rPr lang="en-US" sz="1100" dirty="0" err="1"/>
              <a:t>neighbour’s</a:t>
            </a:r>
            <a:r>
              <a:rPr lang="en-US" sz="1100" dirty="0"/>
              <a:t> doctor, and this answer can’t replace professional medical care, but an unresponsive adult—even one who still has a pulse and some breathing—is always a medical emergency. Act right away.</a:t>
            </a:r>
          </a:p>
          <a:p>
            <a:endParaRPr lang="en-US" sz="1100" dirty="0"/>
          </a:p>
          <a:p>
            <a:r>
              <a:rPr lang="en-US" sz="1100" dirty="0"/>
              <a:t>1. Activate emergency medical services (EMS). Dial 911 (or your local emergency number) immediately.</a:t>
            </a:r>
          </a:p>
          <a:p>
            <a:r>
              <a:rPr lang="en-US" sz="1100" dirty="0"/>
              <a:t>Tell the dispatcher the person is “unresponsive but breathing” and follow any instructions.</a:t>
            </a:r>
          </a:p>
          <a:p>
            <a:r>
              <a:rPr lang="en-US" sz="1100" dirty="0"/>
              <a:t>Put your phone on speaker so you have both hands free.</a:t>
            </a:r>
          </a:p>
          <a:p>
            <a:endParaRPr lang="en-US" sz="1100" dirty="0"/>
          </a:p>
          <a:p>
            <a:r>
              <a:rPr lang="en-US" sz="1100" dirty="0"/>
              <a:t>2. Ensure the scene is safe. Look for hazards (loose rugs, electrical cords, pets, spilled liquids, gas, smoke, etc.).</a:t>
            </a:r>
          </a:p>
          <a:p>
            <a:r>
              <a:rPr lang="en-US" sz="1100" dirty="0"/>
              <a:t>If unsafe and you can move them without harm, relocate to a safer spot. If unsure or they appear injured, wait for EMS.</a:t>
            </a:r>
          </a:p>
          <a:p>
            <a:r>
              <a:rPr lang="en-US" sz="1100" dirty="0"/>
              <a:t>3. Re-check responsiveness &amp; breathing</a:t>
            </a:r>
          </a:p>
          <a:p>
            <a:r>
              <a:rPr lang="en-US" sz="1100" dirty="0"/>
              <a:t>Gently tap the shoulder and shout, “Are you okay?”</a:t>
            </a:r>
          </a:p>
          <a:p>
            <a:r>
              <a:rPr lang="en-US" sz="1100" dirty="0"/>
              <a:t>Look for normal breathing (steady chest rise, not gasping).</a:t>
            </a:r>
          </a:p>
          <a:p>
            <a:r>
              <a:rPr lang="en-US" sz="1100" dirty="0"/>
              <a:t>If breathing stops or becomes agonal, start CPR (30 compressions : 2 breaths if trained, hands-only if not).</a:t>
            </a:r>
          </a:p>
        </p:txBody>
      </p:sp>
      <p:sp>
        <p:nvSpPr>
          <p:cNvPr id="10" name="TextBox 9">
            <a:extLst>
              <a:ext uri="{FF2B5EF4-FFF2-40B4-BE49-F238E27FC236}">
                <a16:creationId xmlns:a16="http://schemas.microsoft.com/office/drawing/2014/main" id="{3F40DEBE-C605-9C8E-A737-61F50AF254FC}"/>
              </a:ext>
            </a:extLst>
          </p:cNvPr>
          <p:cNvSpPr txBox="1"/>
          <p:nvPr/>
        </p:nvSpPr>
        <p:spPr>
          <a:xfrm>
            <a:off x="6042998" y="1747395"/>
            <a:ext cx="2472352" cy="7032694"/>
          </a:xfrm>
          <a:prstGeom prst="rect">
            <a:avLst/>
          </a:prstGeom>
          <a:noFill/>
          <a:ln>
            <a:solidFill>
              <a:schemeClr val="tx1"/>
            </a:solidFill>
          </a:ln>
        </p:spPr>
        <p:txBody>
          <a:bodyPr wrap="square" rtlCol="0">
            <a:spAutoFit/>
          </a:bodyPr>
          <a:lstStyle/>
          <a:p>
            <a:r>
              <a:rPr lang="en-US" sz="1100" b="1" dirty="0"/>
              <a:t>Clinician Response (ground truth)</a:t>
            </a:r>
          </a:p>
          <a:p>
            <a:endParaRPr lang="en-US" sz="1100" dirty="0"/>
          </a:p>
          <a:p>
            <a:r>
              <a:rPr lang="en-US" sz="1100" dirty="0"/>
              <a:t>Do not wait for them to come around. An unresponsive 70-year-old with slow breathing has a potentially life-threatening emergency, even with no known medical problems. Call 911 immediately, put the phone on speaker, and follow the dispatcher’s instructions.</a:t>
            </a:r>
          </a:p>
          <a:p>
            <a:endParaRPr lang="en-US" sz="1100" dirty="0"/>
          </a:p>
          <a:p>
            <a:r>
              <a:rPr lang="en-US" sz="1100" dirty="0"/>
              <a:t>Check whether they are breathing normally. Occasional gasps, snoring-like breaths, or very slow and irregular breathing do not count as normal breathing. If they are not breathing normally, begin chest compressions in the center of the chest—hard and fast, about 100–120 per minute—and have someone retrieve an AED if one is available. Turn it on and follow its prompts.</a:t>
            </a:r>
          </a:p>
          <a:p>
            <a:r>
              <a:rPr lang="en-US" sz="1100" dirty="0"/>
              <a:t>If they are clearly breathing normally but remain unresponsive, keep their airway open and monitor their breathing continuously. Because they were found on the floor and may have fallen, avoid unnecessary movement; however, if they vomit or you cannot keep the airway clear, carefully roll them onto their side. Do not give them food, drink, or medication, and do not leave them alone.</a:t>
            </a:r>
          </a:p>
          <a:p>
            <a:r>
              <a:rPr lang="en-US" sz="1100" dirty="0"/>
              <a:t>Possible causes include stroke, seizure, abnormal heart rhythm, low blood sugar, head injury, medication effects, or an overdose. The presence of a pulse does not make it safe to wait—slow breathing can worsen or stop, so emergency evaluation is needed immediately.</a:t>
            </a:r>
          </a:p>
          <a:p>
            <a:endParaRPr lang="en-US" sz="1100" dirty="0"/>
          </a:p>
        </p:txBody>
      </p:sp>
      <p:sp>
        <p:nvSpPr>
          <p:cNvPr id="3" name="Left Brace 2">
            <a:extLst>
              <a:ext uri="{FF2B5EF4-FFF2-40B4-BE49-F238E27FC236}">
                <a16:creationId xmlns:a16="http://schemas.microsoft.com/office/drawing/2014/main" id="{3E4202C8-1182-CB4F-9422-FE51D4A6AB80}"/>
              </a:ext>
            </a:extLst>
          </p:cNvPr>
          <p:cNvSpPr/>
          <p:nvPr/>
        </p:nvSpPr>
        <p:spPr>
          <a:xfrm rot="5400000">
            <a:off x="5714205" y="-1162061"/>
            <a:ext cx="262758" cy="5339531"/>
          </a:xfrm>
          <a:prstGeom prst="leftBrace">
            <a:avLst>
              <a:gd name="adj1" fmla="val 8333"/>
              <a:gd name="adj2" fmla="val 49382"/>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sz="1348" dirty="0"/>
          </a:p>
        </p:txBody>
      </p:sp>
      <p:sp>
        <p:nvSpPr>
          <p:cNvPr id="8" name="TextBox 7">
            <a:extLst>
              <a:ext uri="{FF2B5EF4-FFF2-40B4-BE49-F238E27FC236}">
                <a16:creationId xmlns:a16="http://schemas.microsoft.com/office/drawing/2014/main" id="{1BD1DBD8-EC79-EF6E-4B9F-55EE2233A340}"/>
              </a:ext>
            </a:extLst>
          </p:cNvPr>
          <p:cNvSpPr txBox="1"/>
          <p:nvPr/>
        </p:nvSpPr>
        <p:spPr>
          <a:xfrm>
            <a:off x="4896996" y="529350"/>
            <a:ext cx="4029565" cy="738664"/>
          </a:xfrm>
          <a:prstGeom prst="rect">
            <a:avLst/>
          </a:prstGeom>
          <a:noFill/>
        </p:spPr>
        <p:txBody>
          <a:bodyPr wrap="none" rtlCol="0">
            <a:spAutoFit/>
          </a:bodyPr>
          <a:lstStyle/>
          <a:p>
            <a:r>
              <a:rPr lang="en-US" sz="1400" dirty="0"/>
              <a:t>Compare prediction with label (ground truth)</a:t>
            </a:r>
          </a:p>
          <a:p>
            <a:pPr marL="285750" indent="-285750">
              <a:buFont typeface="Arial" panose="020B0604020202020204" pitchFamily="34" charset="0"/>
              <a:buChar char="•"/>
            </a:pPr>
            <a:r>
              <a:rPr lang="en-US" sz="1400" dirty="0"/>
              <a:t>Calculate loss during training</a:t>
            </a:r>
          </a:p>
          <a:p>
            <a:pPr marL="285750" indent="-285750">
              <a:buFont typeface="Arial" panose="020B0604020202020204" pitchFamily="34" charset="0"/>
              <a:buChar char="•"/>
            </a:pPr>
            <a:r>
              <a:rPr lang="en-US" sz="1400" dirty="0"/>
              <a:t>Calculate performance metrics during evaluation</a:t>
            </a:r>
          </a:p>
        </p:txBody>
      </p:sp>
    </p:spTree>
    <p:extLst>
      <p:ext uri="{BB962C8B-B14F-4D97-AF65-F5344CB8AC3E}">
        <p14:creationId xmlns:p14="http://schemas.microsoft.com/office/powerpoint/2010/main" val="8760879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79353-EA9E-385C-470A-479E2EC09E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93DB11-871F-059F-4BDD-C39D9F0D4E09}"/>
              </a:ext>
            </a:extLst>
          </p:cNvPr>
          <p:cNvSpPr>
            <a:spLocks noGrp="1"/>
          </p:cNvSpPr>
          <p:nvPr>
            <p:ph type="title"/>
          </p:nvPr>
        </p:nvSpPr>
        <p:spPr/>
        <p:txBody>
          <a:bodyPr/>
          <a:lstStyle/>
          <a:p>
            <a:r>
              <a:rPr lang="en-US" dirty="0"/>
              <a:t>Idea 1: Quantify the degree to which word sequences match directly</a:t>
            </a:r>
          </a:p>
        </p:txBody>
      </p:sp>
      <p:sp>
        <p:nvSpPr>
          <p:cNvPr id="4" name="TextBox 3">
            <a:extLst>
              <a:ext uri="{FF2B5EF4-FFF2-40B4-BE49-F238E27FC236}">
                <a16:creationId xmlns:a16="http://schemas.microsoft.com/office/drawing/2014/main" id="{2083F289-0364-6FFF-66BC-513772D2A320}"/>
              </a:ext>
            </a:extLst>
          </p:cNvPr>
          <p:cNvSpPr txBox="1"/>
          <p:nvPr/>
        </p:nvSpPr>
        <p:spPr>
          <a:xfrm>
            <a:off x="628650" y="1747397"/>
            <a:ext cx="2026060" cy="1954381"/>
          </a:xfrm>
          <a:prstGeom prst="rect">
            <a:avLst/>
          </a:prstGeom>
          <a:noFill/>
          <a:ln>
            <a:solidFill>
              <a:schemeClr val="tx1"/>
            </a:solidFill>
          </a:ln>
        </p:spPr>
        <p:txBody>
          <a:bodyPr wrap="square" rtlCol="0">
            <a:spAutoFit/>
          </a:bodyPr>
          <a:lstStyle/>
          <a:p>
            <a:r>
              <a:rPr lang="en-US" sz="1100" b="1" dirty="0"/>
              <a:t>User Prompt</a:t>
            </a:r>
          </a:p>
          <a:p>
            <a:endParaRPr lang="en-US" sz="1100" dirty="0"/>
          </a:p>
          <a:p>
            <a:r>
              <a:rPr lang="en-US" sz="1100" dirty="0"/>
              <a:t>I found my 70 year-old neighbor lying on the floor unresponsive, but they have a pulse and they’re breathing slowly. Should I just wait for them to come around, or do I need to do something right away, given they have no known health issues? Please give details.</a:t>
            </a:r>
          </a:p>
        </p:txBody>
      </p:sp>
      <p:cxnSp>
        <p:nvCxnSpPr>
          <p:cNvPr id="5" name="Straight Arrow Connector 4">
            <a:extLst>
              <a:ext uri="{FF2B5EF4-FFF2-40B4-BE49-F238E27FC236}">
                <a16:creationId xmlns:a16="http://schemas.microsoft.com/office/drawing/2014/main" id="{1379819B-1BE7-2CBB-ED28-EC1BB0EE4184}"/>
              </a:ext>
            </a:extLst>
          </p:cNvPr>
          <p:cNvCxnSpPr>
            <a:cxnSpLocks/>
          </p:cNvCxnSpPr>
          <p:nvPr/>
        </p:nvCxnSpPr>
        <p:spPr>
          <a:xfrm>
            <a:off x="2654710" y="2838722"/>
            <a:ext cx="521109"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 name="TextBox 6">
            <a:extLst>
              <a:ext uri="{FF2B5EF4-FFF2-40B4-BE49-F238E27FC236}">
                <a16:creationId xmlns:a16="http://schemas.microsoft.com/office/drawing/2014/main" id="{56603AFE-235F-7BDE-82A8-7AA7E5BA9217}"/>
              </a:ext>
            </a:extLst>
          </p:cNvPr>
          <p:cNvSpPr txBox="1"/>
          <p:nvPr/>
        </p:nvSpPr>
        <p:spPr>
          <a:xfrm>
            <a:off x="3181658" y="1747395"/>
            <a:ext cx="2472352" cy="5847755"/>
          </a:xfrm>
          <a:prstGeom prst="rect">
            <a:avLst/>
          </a:prstGeom>
          <a:noFill/>
          <a:ln>
            <a:solidFill>
              <a:schemeClr val="tx1"/>
            </a:solidFill>
          </a:ln>
        </p:spPr>
        <p:txBody>
          <a:bodyPr wrap="square" rtlCol="0">
            <a:spAutoFit/>
          </a:bodyPr>
          <a:lstStyle/>
          <a:p>
            <a:r>
              <a:rPr lang="en-US" sz="1100" b="1" dirty="0"/>
              <a:t>Generated Response</a:t>
            </a:r>
          </a:p>
          <a:p>
            <a:endParaRPr lang="en-US" sz="1100" dirty="0"/>
          </a:p>
          <a:p>
            <a:r>
              <a:rPr lang="en-US" sz="1100" dirty="0"/>
              <a:t>I am not your </a:t>
            </a:r>
            <a:r>
              <a:rPr lang="en-US" sz="1100" dirty="0" err="1"/>
              <a:t>neighbour’s</a:t>
            </a:r>
            <a:r>
              <a:rPr lang="en-US" sz="1100" dirty="0"/>
              <a:t> doctor, and this answer can’t replace professional medical care, but an unresponsive adult—even one who still has a pulse and some breathing—is always a medical emergency. Act right away.</a:t>
            </a:r>
          </a:p>
          <a:p>
            <a:endParaRPr lang="en-US" sz="1100" dirty="0"/>
          </a:p>
          <a:p>
            <a:r>
              <a:rPr lang="en-US" sz="1100" dirty="0"/>
              <a:t>1. Activate emergency medical services (EMS). Dial 911 (or your local emergency number) immediately.</a:t>
            </a:r>
          </a:p>
          <a:p>
            <a:r>
              <a:rPr lang="en-US" sz="1100" dirty="0"/>
              <a:t>Tell the dispatcher the person is “unresponsive but breathing” and follow any instructions.</a:t>
            </a:r>
          </a:p>
          <a:p>
            <a:r>
              <a:rPr lang="en-US" sz="1100" dirty="0"/>
              <a:t>Put your phone on speaker so you have both hands free.</a:t>
            </a:r>
          </a:p>
          <a:p>
            <a:endParaRPr lang="en-US" sz="1100" dirty="0"/>
          </a:p>
          <a:p>
            <a:r>
              <a:rPr lang="en-US" sz="1100" dirty="0"/>
              <a:t>2. Ensure the scene is safe. Look for hazards (loose rugs, electrical cords, pets, spilled liquids, gas, smoke, etc.).</a:t>
            </a:r>
          </a:p>
          <a:p>
            <a:r>
              <a:rPr lang="en-US" sz="1100" dirty="0"/>
              <a:t>If unsafe and you can move them without harm, relocate to a safer spot. If unsure or they appear injured, wait for EMS.</a:t>
            </a:r>
          </a:p>
          <a:p>
            <a:r>
              <a:rPr lang="en-US" sz="1100" dirty="0"/>
              <a:t>3. Re-check responsiveness &amp; breathing</a:t>
            </a:r>
          </a:p>
          <a:p>
            <a:r>
              <a:rPr lang="en-US" sz="1100" dirty="0"/>
              <a:t>Gently tap the shoulder and shout, “Are you okay?”</a:t>
            </a:r>
          </a:p>
          <a:p>
            <a:r>
              <a:rPr lang="en-US" sz="1100" dirty="0"/>
              <a:t>Look for normal breathing (steady chest rise, not gasping).</a:t>
            </a:r>
          </a:p>
          <a:p>
            <a:r>
              <a:rPr lang="en-US" sz="1100" dirty="0"/>
              <a:t>If breathing stops or becomes agonal, start CPR (30 compressions : 2 breaths if trained, hands-only if not).</a:t>
            </a:r>
          </a:p>
        </p:txBody>
      </p:sp>
      <p:sp>
        <p:nvSpPr>
          <p:cNvPr id="10" name="TextBox 9">
            <a:extLst>
              <a:ext uri="{FF2B5EF4-FFF2-40B4-BE49-F238E27FC236}">
                <a16:creationId xmlns:a16="http://schemas.microsoft.com/office/drawing/2014/main" id="{0C3B175F-8521-80C0-5AC8-2C329FCC538B}"/>
              </a:ext>
            </a:extLst>
          </p:cNvPr>
          <p:cNvSpPr txBox="1"/>
          <p:nvPr/>
        </p:nvSpPr>
        <p:spPr>
          <a:xfrm>
            <a:off x="6042998" y="1747395"/>
            <a:ext cx="2472352" cy="7032694"/>
          </a:xfrm>
          <a:prstGeom prst="rect">
            <a:avLst/>
          </a:prstGeom>
          <a:noFill/>
          <a:ln>
            <a:solidFill>
              <a:schemeClr val="tx1"/>
            </a:solidFill>
          </a:ln>
        </p:spPr>
        <p:txBody>
          <a:bodyPr wrap="square" rtlCol="0">
            <a:spAutoFit/>
          </a:bodyPr>
          <a:lstStyle/>
          <a:p>
            <a:r>
              <a:rPr lang="en-US" sz="1100" b="1" dirty="0"/>
              <a:t>Clinician Response (ground truth)</a:t>
            </a:r>
          </a:p>
          <a:p>
            <a:endParaRPr lang="en-US" sz="1100" dirty="0"/>
          </a:p>
          <a:p>
            <a:r>
              <a:rPr lang="en-US" sz="1100" dirty="0"/>
              <a:t>Do not wait for them to come around. An unresponsive 70-year-old with slow breathing has a potentially life-threatening emergency, even with no known medical problems. Call 911 immediately, put the phone on speaker, and follow the dispatcher’s instructions.</a:t>
            </a:r>
          </a:p>
          <a:p>
            <a:endParaRPr lang="en-US" sz="1100" dirty="0"/>
          </a:p>
          <a:p>
            <a:r>
              <a:rPr lang="en-US" sz="1100" dirty="0"/>
              <a:t>Check whether they are breathing normally. Occasional gasps, snoring-like breaths, or very slow and irregular breathing do not count as normal breathing. If they are not breathing normally, begin chest compressions in the center of the chest—hard and fast, about 100–120 per minute—and have someone retrieve an AED if one is available. Turn it on and follow its prompts.</a:t>
            </a:r>
          </a:p>
          <a:p>
            <a:r>
              <a:rPr lang="en-US" sz="1100" dirty="0"/>
              <a:t>If they are clearly breathing normally but remain unresponsive, keep their airway open and monitor their breathing continuously. Because they were found on the floor and may have fallen, avoid unnecessary movement; however, if they vomit or you cannot keep the airway clear, carefully roll them onto their side. Do not give them food, drink, or medication, and do not leave them alone.</a:t>
            </a:r>
          </a:p>
          <a:p>
            <a:r>
              <a:rPr lang="en-US" sz="1100" dirty="0"/>
              <a:t>Possible causes include stroke, seizure, abnormal heart rhythm, low blood sugar, head injury, medication effects, or an overdose. The presence of a pulse does not make it safe to wait—slow breathing can worsen or stop, so emergency evaluation is needed immediately.</a:t>
            </a:r>
          </a:p>
          <a:p>
            <a:endParaRPr lang="en-US" sz="1100" dirty="0"/>
          </a:p>
        </p:txBody>
      </p:sp>
      <p:sp>
        <p:nvSpPr>
          <p:cNvPr id="6" name="TextBox 5">
            <a:extLst>
              <a:ext uri="{FF2B5EF4-FFF2-40B4-BE49-F238E27FC236}">
                <a16:creationId xmlns:a16="http://schemas.microsoft.com/office/drawing/2014/main" id="{E7EA5763-BBBE-E3E1-77FB-F66B2226E09D}"/>
              </a:ext>
            </a:extLst>
          </p:cNvPr>
          <p:cNvSpPr txBox="1"/>
          <p:nvPr/>
        </p:nvSpPr>
        <p:spPr>
          <a:xfrm>
            <a:off x="5276082" y="898684"/>
            <a:ext cx="2892458" cy="738664"/>
          </a:xfrm>
          <a:prstGeom prst="rect">
            <a:avLst/>
          </a:prstGeom>
          <a:noFill/>
        </p:spPr>
        <p:txBody>
          <a:bodyPr wrap="none" rtlCol="0">
            <a:spAutoFit/>
          </a:bodyPr>
          <a:lstStyle/>
          <a:p>
            <a:r>
              <a:rPr lang="en-US" sz="1400" dirty="0"/>
              <a:t>This is (roughly) the principle behind:</a:t>
            </a:r>
          </a:p>
          <a:p>
            <a:r>
              <a:rPr lang="en-US" sz="1400" dirty="0"/>
              <a:t>- Supervised fine-tuning (training)</a:t>
            </a:r>
          </a:p>
          <a:p>
            <a:r>
              <a:rPr lang="en-US" sz="1400" dirty="0"/>
              <a:t>- BLEU Score (evaluation)</a:t>
            </a:r>
          </a:p>
        </p:txBody>
      </p:sp>
    </p:spTree>
    <p:extLst>
      <p:ext uri="{BB962C8B-B14F-4D97-AF65-F5344CB8AC3E}">
        <p14:creationId xmlns:p14="http://schemas.microsoft.com/office/powerpoint/2010/main" val="18411265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AF931-8F1E-A4FB-1773-819DE239FA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EE53EF-829F-7FEE-A854-0E17CED111D1}"/>
              </a:ext>
            </a:extLst>
          </p:cNvPr>
          <p:cNvSpPr>
            <a:spLocks noGrp="1"/>
          </p:cNvSpPr>
          <p:nvPr>
            <p:ph type="title"/>
          </p:nvPr>
        </p:nvSpPr>
        <p:spPr/>
        <p:txBody>
          <a:bodyPr/>
          <a:lstStyle/>
          <a:p>
            <a:r>
              <a:rPr lang="en-US" dirty="0"/>
              <a:t>Idea 1: Quantify the degree to which word sequences match directly</a:t>
            </a:r>
          </a:p>
        </p:txBody>
      </p:sp>
      <p:sp>
        <p:nvSpPr>
          <p:cNvPr id="4" name="TextBox 3">
            <a:extLst>
              <a:ext uri="{FF2B5EF4-FFF2-40B4-BE49-F238E27FC236}">
                <a16:creationId xmlns:a16="http://schemas.microsoft.com/office/drawing/2014/main" id="{BC8AEEEE-A015-D17F-01EF-5D8CA77740D5}"/>
              </a:ext>
            </a:extLst>
          </p:cNvPr>
          <p:cNvSpPr txBox="1"/>
          <p:nvPr/>
        </p:nvSpPr>
        <p:spPr>
          <a:xfrm>
            <a:off x="628650" y="1747397"/>
            <a:ext cx="2026060" cy="1954381"/>
          </a:xfrm>
          <a:prstGeom prst="rect">
            <a:avLst/>
          </a:prstGeom>
          <a:noFill/>
          <a:ln>
            <a:solidFill>
              <a:schemeClr val="tx1"/>
            </a:solidFill>
          </a:ln>
        </p:spPr>
        <p:txBody>
          <a:bodyPr wrap="square" rtlCol="0">
            <a:spAutoFit/>
          </a:bodyPr>
          <a:lstStyle/>
          <a:p>
            <a:r>
              <a:rPr lang="en-US" sz="1100" b="1" dirty="0"/>
              <a:t>User Prompt</a:t>
            </a:r>
          </a:p>
          <a:p>
            <a:endParaRPr lang="en-US" sz="1100" dirty="0"/>
          </a:p>
          <a:p>
            <a:r>
              <a:rPr lang="en-US" sz="1100" dirty="0"/>
              <a:t>I found my 70 year-old neighbor lying on the floor unresponsive, but they have a pulse and they’re breathing slowly. Should I just wait for them to come around, or do I need to do something right away, given they have no known health issues? Please give details.</a:t>
            </a:r>
          </a:p>
        </p:txBody>
      </p:sp>
      <p:cxnSp>
        <p:nvCxnSpPr>
          <p:cNvPr id="5" name="Straight Arrow Connector 4">
            <a:extLst>
              <a:ext uri="{FF2B5EF4-FFF2-40B4-BE49-F238E27FC236}">
                <a16:creationId xmlns:a16="http://schemas.microsoft.com/office/drawing/2014/main" id="{64031C82-ABC5-3B9F-4682-DE2201FB1088}"/>
              </a:ext>
            </a:extLst>
          </p:cNvPr>
          <p:cNvCxnSpPr>
            <a:cxnSpLocks/>
          </p:cNvCxnSpPr>
          <p:nvPr/>
        </p:nvCxnSpPr>
        <p:spPr>
          <a:xfrm>
            <a:off x="2654710" y="2838722"/>
            <a:ext cx="521109"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 name="TextBox 6">
            <a:extLst>
              <a:ext uri="{FF2B5EF4-FFF2-40B4-BE49-F238E27FC236}">
                <a16:creationId xmlns:a16="http://schemas.microsoft.com/office/drawing/2014/main" id="{90A8BFB8-1E09-15D6-1519-E73B3DA6F80B}"/>
              </a:ext>
            </a:extLst>
          </p:cNvPr>
          <p:cNvSpPr txBox="1"/>
          <p:nvPr/>
        </p:nvSpPr>
        <p:spPr>
          <a:xfrm>
            <a:off x="3181658" y="1747395"/>
            <a:ext cx="2472352" cy="5847755"/>
          </a:xfrm>
          <a:prstGeom prst="rect">
            <a:avLst/>
          </a:prstGeom>
          <a:noFill/>
          <a:ln>
            <a:solidFill>
              <a:schemeClr val="tx1"/>
            </a:solidFill>
          </a:ln>
        </p:spPr>
        <p:txBody>
          <a:bodyPr wrap="square" rtlCol="0">
            <a:spAutoFit/>
          </a:bodyPr>
          <a:lstStyle/>
          <a:p>
            <a:r>
              <a:rPr lang="en-US" sz="1100" b="1" dirty="0"/>
              <a:t>Generated Response</a:t>
            </a:r>
          </a:p>
          <a:p>
            <a:endParaRPr lang="en-US" sz="1100" dirty="0"/>
          </a:p>
          <a:p>
            <a:r>
              <a:rPr lang="en-US" sz="1100" dirty="0"/>
              <a:t>I am not your </a:t>
            </a:r>
            <a:r>
              <a:rPr lang="en-US" sz="1100" dirty="0" err="1"/>
              <a:t>neighbour’s</a:t>
            </a:r>
            <a:r>
              <a:rPr lang="en-US" sz="1100" dirty="0"/>
              <a:t> doctor, and this answer can’t replace professional medical care, but an unresponsive adult—even one who still has a pulse and some breathing—is always a medical emergency. Act right away.</a:t>
            </a:r>
          </a:p>
          <a:p>
            <a:endParaRPr lang="en-US" sz="1100" dirty="0"/>
          </a:p>
          <a:p>
            <a:r>
              <a:rPr lang="en-US" sz="1100" dirty="0"/>
              <a:t>1. Activate emergency medical services (EMS). Dial 911 (or your local emergency number) immediately.</a:t>
            </a:r>
          </a:p>
          <a:p>
            <a:r>
              <a:rPr lang="en-US" sz="1100" dirty="0"/>
              <a:t>Tell the dispatcher the person is “unresponsive but breathing” and follow any instructions.</a:t>
            </a:r>
          </a:p>
          <a:p>
            <a:r>
              <a:rPr lang="en-US" sz="1100" dirty="0"/>
              <a:t>Put your phone on speaker so you have both hands free.</a:t>
            </a:r>
          </a:p>
          <a:p>
            <a:endParaRPr lang="en-US" sz="1100" dirty="0"/>
          </a:p>
          <a:p>
            <a:r>
              <a:rPr lang="en-US" sz="1100" dirty="0"/>
              <a:t>2. Ensure the scene is safe. Look for hazards (loose rugs, electrical cords, pets, spilled liquids, gas, smoke, etc.).</a:t>
            </a:r>
          </a:p>
          <a:p>
            <a:r>
              <a:rPr lang="en-US" sz="1100" dirty="0"/>
              <a:t>If unsafe and you can move them without harm, relocate to a safer spot. If unsure or they appear injured, wait for EMS.</a:t>
            </a:r>
          </a:p>
          <a:p>
            <a:r>
              <a:rPr lang="en-US" sz="1100" dirty="0"/>
              <a:t>3. Re-check responsiveness &amp; breathing</a:t>
            </a:r>
          </a:p>
          <a:p>
            <a:r>
              <a:rPr lang="en-US" sz="1100" dirty="0"/>
              <a:t>Gently tap the shoulder and shout, “Are you okay?”</a:t>
            </a:r>
          </a:p>
          <a:p>
            <a:r>
              <a:rPr lang="en-US" sz="1100" dirty="0"/>
              <a:t>Look for normal breathing (steady chest rise, not gasping).</a:t>
            </a:r>
          </a:p>
          <a:p>
            <a:r>
              <a:rPr lang="en-US" sz="1100" dirty="0"/>
              <a:t>If breathing stops or becomes agonal, start CPR (30 compressions : 2 breaths if trained, hands-only if not).</a:t>
            </a:r>
          </a:p>
        </p:txBody>
      </p:sp>
      <p:sp>
        <p:nvSpPr>
          <p:cNvPr id="10" name="TextBox 9">
            <a:extLst>
              <a:ext uri="{FF2B5EF4-FFF2-40B4-BE49-F238E27FC236}">
                <a16:creationId xmlns:a16="http://schemas.microsoft.com/office/drawing/2014/main" id="{C1811BDF-CC60-58C0-4A4B-21138CCEE46A}"/>
              </a:ext>
            </a:extLst>
          </p:cNvPr>
          <p:cNvSpPr txBox="1"/>
          <p:nvPr/>
        </p:nvSpPr>
        <p:spPr>
          <a:xfrm>
            <a:off x="6042998" y="1747395"/>
            <a:ext cx="2472352" cy="7032694"/>
          </a:xfrm>
          <a:prstGeom prst="rect">
            <a:avLst/>
          </a:prstGeom>
          <a:noFill/>
          <a:ln>
            <a:solidFill>
              <a:schemeClr val="tx1"/>
            </a:solidFill>
          </a:ln>
        </p:spPr>
        <p:txBody>
          <a:bodyPr wrap="square" rtlCol="0">
            <a:spAutoFit/>
          </a:bodyPr>
          <a:lstStyle/>
          <a:p>
            <a:r>
              <a:rPr lang="en-US" sz="1100" b="1" dirty="0"/>
              <a:t>Clinician Response (ground truth)</a:t>
            </a:r>
          </a:p>
          <a:p>
            <a:endParaRPr lang="en-US" sz="1100" dirty="0"/>
          </a:p>
          <a:p>
            <a:r>
              <a:rPr lang="en-US" sz="1100" dirty="0"/>
              <a:t>Do not wait for them to come around. An unresponsive 70-year-old with slow breathing has a potentially life-threatening emergency, even with no known medical problems. Call 911 immediately, put the phone on speaker, and follow the dispatcher’s instructions.</a:t>
            </a:r>
          </a:p>
          <a:p>
            <a:endParaRPr lang="en-US" sz="1100" dirty="0"/>
          </a:p>
          <a:p>
            <a:r>
              <a:rPr lang="en-US" sz="1100" dirty="0"/>
              <a:t>Check whether they are breathing normally. Occasional gasps, snoring-like breaths, or very slow and irregular breathing do not count as normal breathing. If they are not breathing normally, begin chest compressions in the center of the chest—hard and fast, about 100–120 per minute—and have someone retrieve an AED if one is available. Turn it on and follow its prompts.</a:t>
            </a:r>
          </a:p>
          <a:p>
            <a:r>
              <a:rPr lang="en-US" sz="1100" dirty="0"/>
              <a:t>If they are clearly breathing normally but remain unresponsive, keep their airway open and monitor their breathing continuously. Because they were found on the floor and may have fallen, avoid unnecessary movement; however, if they vomit or you cannot keep the airway clear, carefully roll them onto their side. Do not give them food, drink, or medication, and do not leave them alone.</a:t>
            </a:r>
          </a:p>
          <a:p>
            <a:r>
              <a:rPr lang="en-US" sz="1100" dirty="0"/>
              <a:t>Possible causes include stroke, seizure, abnormal heart rhythm, low blood sugar, head injury, medication effects, or an overdose. The presence of a pulse does not make it safe to wait—slow breathing can worsen or stop, so emergency evaluation is needed immediately.</a:t>
            </a:r>
          </a:p>
          <a:p>
            <a:endParaRPr lang="en-US" sz="1100" dirty="0"/>
          </a:p>
        </p:txBody>
      </p:sp>
      <p:sp>
        <p:nvSpPr>
          <p:cNvPr id="6" name="TextBox 5">
            <a:extLst>
              <a:ext uri="{FF2B5EF4-FFF2-40B4-BE49-F238E27FC236}">
                <a16:creationId xmlns:a16="http://schemas.microsoft.com/office/drawing/2014/main" id="{D194C9B7-8766-97B8-72E7-D03C5C6D7483}"/>
              </a:ext>
            </a:extLst>
          </p:cNvPr>
          <p:cNvSpPr txBox="1"/>
          <p:nvPr/>
        </p:nvSpPr>
        <p:spPr>
          <a:xfrm>
            <a:off x="5276082" y="898684"/>
            <a:ext cx="2892458" cy="738664"/>
          </a:xfrm>
          <a:prstGeom prst="rect">
            <a:avLst/>
          </a:prstGeom>
          <a:noFill/>
        </p:spPr>
        <p:txBody>
          <a:bodyPr wrap="none" rtlCol="0">
            <a:spAutoFit/>
          </a:bodyPr>
          <a:lstStyle/>
          <a:p>
            <a:r>
              <a:rPr lang="en-US" sz="1400" dirty="0"/>
              <a:t>This is (roughly) the principle behind:</a:t>
            </a:r>
          </a:p>
          <a:p>
            <a:r>
              <a:rPr lang="en-US" sz="1400" dirty="0"/>
              <a:t>- Supervised fine-tuning (training)</a:t>
            </a:r>
          </a:p>
          <a:p>
            <a:r>
              <a:rPr lang="en-US" sz="1400" dirty="0"/>
              <a:t>- BLEU Score (evaluation)</a:t>
            </a:r>
          </a:p>
        </p:txBody>
      </p:sp>
      <p:sp>
        <p:nvSpPr>
          <p:cNvPr id="3" name="TextBox 2">
            <a:extLst>
              <a:ext uri="{FF2B5EF4-FFF2-40B4-BE49-F238E27FC236}">
                <a16:creationId xmlns:a16="http://schemas.microsoft.com/office/drawing/2014/main" id="{32F6455F-363A-82B8-700F-96C870709185}"/>
              </a:ext>
            </a:extLst>
          </p:cNvPr>
          <p:cNvSpPr txBox="1"/>
          <p:nvPr/>
        </p:nvSpPr>
        <p:spPr>
          <a:xfrm>
            <a:off x="628650" y="4076457"/>
            <a:ext cx="1937569" cy="646331"/>
          </a:xfrm>
          <a:prstGeom prst="rect">
            <a:avLst/>
          </a:prstGeom>
          <a:noFill/>
        </p:spPr>
        <p:txBody>
          <a:bodyPr wrap="square" rtlCol="0">
            <a:spAutoFit/>
          </a:bodyPr>
          <a:lstStyle/>
          <a:p>
            <a:r>
              <a:rPr lang="en-US" dirty="0">
                <a:solidFill>
                  <a:schemeClr val="accent2"/>
                </a:solidFill>
              </a:rPr>
              <a:t>What’s wrong with this approach?</a:t>
            </a:r>
          </a:p>
        </p:txBody>
      </p:sp>
    </p:spTree>
    <p:extLst>
      <p:ext uri="{BB962C8B-B14F-4D97-AF65-F5344CB8AC3E}">
        <p14:creationId xmlns:p14="http://schemas.microsoft.com/office/powerpoint/2010/main" val="16417740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A9821-88BE-3A52-FADC-EAED8387CC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BB2203-6BAE-4371-EADA-E5AD28E54DFE}"/>
              </a:ext>
            </a:extLst>
          </p:cNvPr>
          <p:cNvSpPr>
            <a:spLocks noGrp="1"/>
          </p:cNvSpPr>
          <p:nvPr>
            <p:ph type="title"/>
          </p:nvPr>
        </p:nvSpPr>
        <p:spPr/>
        <p:txBody>
          <a:bodyPr/>
          <a:lstStyle/>
          <a:p>
            <a:r>
              <a:rPr lang="en-US" dirty="0"/>
              <a:t>Idea 2: Evaluate specific attributes</a:t>
            </a:r>
            <a:br>
              <a:rPr lang="en-US" dirty="0"/>
            </a:br>
            <a:r>
              <a:rPr lang="en-US" dirty="0"/>
              <a:t>(via human evaluator or preference model)</a:t>
            </a:r>
          </a:p>
        </p:txBody>
      </p:sp>
      <p:pic>
        <p:nvPicPr>
          <p:cNvPr id="8" name="Picture 2">
            <a:extLst>
              <a:ext uri="{FF2B5EF4-FFF2-40B4-BE49-F238E27FC236}">
                <a16:creationId xmlns:a16="http://schemas.microsoft.com/office/drawing/2014/main" id="{98389B73-A94C-0BBF-68FE-4093FB3531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755" y="1429862"/>
            <a:ext cx="3478615" cy="296461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860D67A-1679-460F-55E1-A25BF74F726C}"/>
              </a:ext>
            </a:extLst>
          </p:cNvPr>
          <p:cNvSpPr txBox="1"/>
          <p:nvPr/>
        </p:nvSpPr>
        <p:spPr>
          <a:xfrm>
            <a:off x="717755" y="4556320"/>
            <a:ext cx="3362632" cy="415498"/>
          </a:xfrm>
          <a:prstGeom prst="rect">
            <a:avLst/>
          </a:prstGeom>
          <a:noFill/>
        </p:spPr>
        <p:txBody>
          <a:bodyPr wrap="square">
            <a:spAutoFit/>
          </a:bodyPr>
          <a:lstStyle/>
          <a:p>
            <a:r>
              <a:rPr lang="en-US" sz="1050" dirty="0"/>
              <a:t>Illustrating Reinforcement Learning from Human Feedback (RLHF) (https://</a:t>
            </a:r>
            <a:r>
              <a:rPr lang="en-US" sz="1050" dirty="0" err="1"/>
              <a:t>huggingface.co</a:t>
            </a:r>
            <a:r>
              <a:rPr lang="en-US" sz="1050" dirty="0"/>
              <a:t>/blog/</a:t>
            </a:r>
            <a:r>
              <a:rPr lang="en-US" sz="1050" dirty="0" err="1"/>
              <a:t>rlhf</a:t>
            </a:r>
            <a:r>
              <a:rPr lang="en-US" sz="1050" dirty="0"/>
              <a:t>)</a:t>
            </a:r>
          </a:p>
        </p:txBody>
      </p:sp>
      <p:sp>
        <p:nvSpPr>
          <p:cNvPr id="12" name="TextBox 11">
            <a:extLst>
              <a:ext uri="{FF2B5EF4-FFF2-40B4-BE49-F238E27FC236}">
                <a16:creationId xmlns:a16="http://schemas.microsoft.com/office/drawing/2014/main" id="{CF8A7A1E-68E6-6912-BE36-2C2E2E70B33D}"/>
              </a:ext>
            </a:extLst>
          </p:cNvPr>
          <p:cNvSpPr txBox="1"/>
          <p:nvPr/>
        </p:nvSpPr>
        <p:spPr>
          <a:xfrm>
            <a:off x="4778477" y="1556087"/>
            <a:ext cx="3264310" cy="307777"/>
          </a:xfrm>
          <a:prstGeom prst="rect">
            <a:avLst/>
          </a:prstGeom>
          <a:noFill/>
        </p:spPr>
        <p:txBody>
          <a:bodyPr wrap="square">
            <a:spAutoFit/>
          </a:bodyPr>
          <a:lstStyle/>
          <a:p>
            <a:pPr indent="0" algn="l"/>
            <a:r>
              <a:rPr lang="en-US" sz="1400" b="0" i="0" u="none" strike="noStrike" dirty="0">
                <a:solidFill>
                  <a:srgbClr val="000000"/>
                </a:solidFill>
                <a:effectLst/>
              </a:rPr>
              <a:t>Attributes we might care about?</a:t>
            </a:r>
          </a:p>
        </p:txBody>
      </p:sp>
    </p:spTree>
    <p:extLst>
      <p:ext uri="{BB962C8B-B14F-4D97-AF65-F5344CB8AC3E}">
        <p14:creationId xmlns:p14="http://schemas.microsoft.com/office/powerpoint/2010/main" val="20681859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65183-4850-090C-CF39-481DE0BD84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E8CA98-BE72-F388-2215-AB01023EF158}"/>
              </a:ext>
            </a:extLst>
          </p:cNvPr>
          <p:cNvSpPr>
            <a:spLocks noGrp="1"/>
          </p:cNvSpPr>
          <p:nvPr>
            <p:ph type="title"/>
          </p:nvPr>
        </p:nvSpPr>
        <p:spPr/>
        <p:txBody>
          <a:bodyPr/>
          <a:lstStyle/>
          <a:p>
            <a:r>
              <a:rPr lang="en-US" dirty="0"/>
              <a:t>Idea 2: Evaluate specific attributes</a:t>
            </a:r>
            <a:br>
              <a:rPr lang="en-US" dirty="0"/>
            </a:br>
            <a:r>
              <a:rPr lang="en-US" dirty="0"/>
              <a:t>(via human evaluator or preference model)</a:t>
            </a:r>
          </a:p>
        </p:txBody>
      </p:sp>
      <p:pic>
        <p:nvPicPr>
          <p:cNvPr id="8" name="Picture 2">
            <a:extLst>
              <a:ext uri="{FF2B5EF4-FFF2-40B4-BE49-F238E27FC236}">
                <a16:creationId xmlns:a16="http://schemas.microsoft.com/office/drawing/2014/main" id="{6C035ED9-66D5-49DB-1F6D-60AF2BE875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755" y="1429862"/>
            <a:ext cx="3478615" cy="296461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850295A-AD00-12D8-55DF-8777D11AD491}"/>
              </a:ext>
            </a:extLst>
          </p:cNvPr>
          <p:cNvSpPr txBox="1"/>
          <p:nvPr/>
        </p:nvSpPr>
        <p:spPr>
          <a:xfrm>
            <a:off x="717755" y="4556320"/>
            <a:ext cx="3362632" cy="415498"/>
          </a:xfrm>
          <a:prstGeom prst="rect">
            <a:avLst/>
          </a:prstGeom>
          <a:noFill/>
        </p:spPr>
        <p:txBody>
          <a:bodyPr wrap="square">
            <a:spAutoFit/>
          </a:bodyPr>
          <a:lstStyle/>
          <a:p>
            <a:r>
              <a:rPr lang="en-US" sz="1050" dirty="0"/>
              <a:t>Illustrating Reinforcement Learning from Human Feedback (RLHF) (https://</a:t>
            </a:r>
            <a:r>
              <a:rPr lang="en-US" sz="1050" dirty="0" err="1"/>
              <a:t>huggingface.co</a:t>
            </a:r>
            <a:r>
              <a:rPr lang="en-US" sz="1050" dirty="0"/>
              <a:t>/blog/</a:t>
            </a:r>
            <a:r>
              <a:rPr lang="en-US" sz="1050" dirty="0" err="1"/>
              <a:t>rlhf</a:t>
            </a:r>
            <a:r>
              <a:rPr lang="en-US" sz="1050" dirty="0"/>
              <a:t>)</a:t>
            </a:r>
          </a:p>
        </p:txBody>
      </p:sp>
      <p:sp>
        <p:nvSpPr>
          <p:cNvPr id="12" name="TextBox 11">
            <a:extLst>
              <a:ext uri="{FF2B5EF4-FFF2-40B4-BE49-F238E27FC236}">
                <a16:creationId xmlns:a16="http://schemas.microsoft.com/office/drawing/2014/main" id="{F1FDEB48-04A1-C852-9983-AD8E2A2FF3C2}"/>
              </a:ext>
            </a:extLst>
          </p:cNvPr>
          <p:cNvSpPr txBox="1"/>
          <p:nvPr/>
        </p:nvSpPr>
        <p:spPr>
          <a:xfrm>
            <a:off x="4778477" y="1556087"/>
            <a:ext cx="3264310" cy="2031325"/>
          </a:xfrm>
          <a:prstGeom prst="rect">
            <a:avLst/>
          </a:prstGeom>
          <a:noFill/>
        </p:spPr>
        <p:txBody>
          <a:bodyPr wrap="square">
            <a:spAutoFit/>
          </a:bodyPr>
          <a:lstStyle/>
          <a:p>
            <a:pPr indent="0" algn="l"/>
            <a:r>
              <a:rPr lang="en-US" sz="1400" b="0" i="0" u="none" strike="noStrike" dirty="0">
                <a:solidFill>
                  <a:srgbClr val="000000"/>
                </a:solidFill>
                <a:effectLst/>
              </a:rPr>
              <a:t>Attributes we might care about:</a:t>
            </a:r>
          </a:p>
          <a:p>
            <a:pPr indent="0" algn="l"/>
            <a:endParaRPr lang="en-US" sz="1400" b="0" i="0" u="none" strike="noStrike" dirty="0">
              <a:solidFill>
                <a:srgbClr val="000000"/>
              </a:solidFill>
              <a:effectLst/>
            </a:endParaRPr>
          </a:p>
          <a:p>
            <a:pPr marL="285750" indent="-285750" algn="l">
              <a:buFont typeface="Arial" panose="020B0604020202020204" pitchFamily="34" charset="0"/>
              <a:buChar char="•"/>
            </a:pPr>
            <a:r>
              <a:rPr lang="en-US" sz="1400" b="0" i="0" u="none" strike="noStrike" dirty="0">
                <a:solidFill>
                  <a:srgbClr val="000000"/>
                </a:solidFill>
                <a:effectLst/>
              </a:rPr>
              <a:t>Accuracy</a:t>
            </a:r>
          </a:p>
          <a:p>
            <a:pPr marL="285750" indent="-285750" algn="l">
              <a:buFont typeface="Arial" panose="020B0604020202020204" pitchFamily="34" charset="0"/>
              <a:buChar char="•"/>
            </a:pPr>
            <a:r>
              <a:rPr lang="en-US" sz="1400" b="0" i="0" u="none" strike="noStrike" dirty="0">
                <a:solidFill>
                  <a:srgbClr val="000000"/>
                </a:solidFill>
                <a:effectLst/>
              </a:rPr>
              <a:t>Completeness</a:t>
            </a:r>
          </a:p>
          <a:p>
            <a:pPr marL="285750" indent="-285750" algn="l">
              <a:buFont typeface="Arial" panose="020B0604020202020204" pitchFamily="34" charset="0"/>
              <a:buChar char="•"/>
            </a:pPr>
            <a:r>
              <a:rPr lang="en-US" sz="1400" b="0" i="0" u="none" strike="noStrike" dirty="0">
                <a:solidFill>
                  <a:srgbClr val="000000"/>
                </a:solidFill>
                <a:effectLst/>
              </a:rPr>
              <a:t>Clarity</a:t>
            </a:r>
          </a:p>
          <a:p>
            <a:pPr marL="285750" indent="-285750" algn="l">
              <a:buFont typeface="Arial" panose="020B0604020202020204" pitchFamily="34" charset="0"/>
              <a:buChar char="•"/>
            </a:pPr>
            <a:r>
              <a:rPr lang="en-US" sz="1400" b="0" i="0" u="none" strike="noStrike" dirty="0">
                <a:solidFill>
                  <a:srgbClr val="000000"/>
                </a:solidFill>
                <a:effectLst/>
              </a:rPr>
              <a:t>Conciseness</a:t>
            </a:r>
          </a:p>
          <a:p>
            <a:pPr marL="285750" indent="-285750" algn="l">
              <a:buFont typeface="Arial" panose="020B0604020202020204" pitchFamily="34" charset="0"/>
              <a:buChar char="•"/>
            </a:pPr>
            <a:r>
              <a:rPr lang="en-US" sz="1400" b="0" i="0" u="none" strike="noStrike" dirty="0">
                <a:solidFill>
                  <a:srgbClr val="000000"/>
                </a:solidFill>
                <a:effectLst/>
              </a:rPr>
              <a:t>Style / tone</a:t>
            </a:r>
          </a:p>
          <a:p>
            <a:pPr marL="285750" indent="-285750" algn="l">
              <a:buFont typeface="Arial" panose="020B0604020202020204" pitchFamily="34" charset="0"/>
              <a:buChar char="•"/>
            </a:pPr>
            <a:r>
              <a:rPr lang="en-US" sz="1400" b="0" i="0" u="none" strike="noStrike" dirty="0">
                <a:solidFill>
                  <a:srgbClr val="000000"/>
                </a:solidFill>
                <a:effectLst/>
              </a:rPr>
              <a:t>Safety / bias</a:t>
            </a:r>
          </a:p>
          <a:p>
            <a:pPr marL="285750" indent="-285750" algn="l">
              <a:buFont typeface="Arial" panose="020B0604020202020204" pitchFamily="34" charset="0"/>
              <a:buChar char="•"/>
            </a:pPr>
            <a:r>
              <a:rPr lang="en-US" sz="1400" b="0" i="0" u="none" strike="noStrike" dirty="0">
                <a:solidFill>
                  <a:srgbClr val="000000"/>
                </a:solidFill>
                <a:effectLst/>
              </a:rPr>
              <a:t>Originality</a:t>
            </a:r>
          </a:p>
        </p:txBody>
      </p:sp>
    </p:spTree>
    <p:extLst>
      <p:ext uri="{BB962C8B-B14F-4D97-AF65-F5344CB8AC3E}">
        <p14:creationId xmlns:p14="http://schemas.microsoft.com/office/powerpoint/2010/main" val="3580947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CEBC9-33FA-87F0-D692-99118AAB70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0A1124-32CF-FE0B-D088-823C5D619960}"/>
              </a:ext>
            </a:extLst>
          </p:cNvPr>
          <p:cNvSpPr>
            <a:spLocks noGrp="1"/>
          </p:cNvSpPr>
          <p:nvPr>
            <p:ph type="title"/>
          </p:nvPr>
        </p:nvSpPr>
        <p:spPr/>
        <p:txBody>
          <a:bodyPr/>
          <a:lstStyle/>
          <a:p>
            <a:r>
              <a:rPr lang="en-US" dirty="0"/>
              <a:t>Idea 2: Evaluate specific attributes</a:t>
            </a:r>
            <a:br>
              <a:rPr lang="en-US" dirty="0"/>
            </a:br>
            <a:r>
              <a:rPr lang="en-US" dirty="0"/>
              <a:t>(via human evaluator or preference model)</a:t>
            </a:r>
          </a:p>
        </p:txBody>
      </p:sp>
      <p:pic>
        <p:nvPicPr>
          <p:cNvPr id="8" name="Picture 2">
            <a:extLst>
              <a:ext uri="{FF2B5EF4-FFF2-40B4-BE49-F238E27FC236}">
                <a16:creationId xmlns:a16="http://schemas.microsoft.com/office/drawing/2014/main" id="{6002E415-37AE-CF31-8875-847F395BCE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755" y="1429862"/>
            <a:ext cx="3478615" cy="296461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F70647C3-82F5-1A43-43F8-85D44AEA7DAC}"/>
              </a:ext>
            </a:extLst>
          </p:cNvPr>
          <p:cNvSpPr txBox="1"/>
          <p:nvPr/>
        </p:nvSpPr>
        <p:spPr>
          <a:xfrm>
            <a:off x="717755" y="4556320"/>
            <a:ext cx="3362632" cy="415498"/>
          </a:xfrm>
          <a:prstGeom prst="rect">
            <a:avLst/>
          </a:prstGeom>
          <a:noFill/>
        </p:spPr>
        <p:txBody>
          <a:bodyPr wrap="square">
            <a:spAutoFit/>
          </a:bodyPr>
          <a:lstStyle/>
          <a:p>
            <a:r>
              <a:rPr lang="en-US" sz="1050" dirty="0"/>
              <a:t>Illustrating Reinforcement Learning from Human Feedback (RLHF) (https://</a:t>
            </a:r>
            <a:r>
              <a:rPr lang="en-US" sz="1050" dirty="0" err="1"/>
              <a:t>huggingface.co</a:t>
            </a:r>
            <a:r>
              <a:rPr lang="en-US" sz="1050" dirty="0"/>
              <a:t>/blog/</a:t>
            </a:r>
            <a:r>
              <a:rPr lang="en-US" sz="1050" dirty="0" err="1"/>
              <a:t>rlhf</a:t>
            </a:r>
            <a:r>
              <a:rPr lang="en-US" sz="1050" dirty="0"/>
              <a:t>)</a:t>
            </a:r>
          </a:p>
        </p:txBody>
      </p:sp>
      <p:sp>
        <p:nvSpPr>
          <p:cNvPr id="12" name="TextBox 11">
            <a:extLst>
              <a:ext uri="{FF2B5EF4-FFF2-40B4-BE49-F238E27FC236}">
                <a16:creationId xmlns:a16="http://schemas.microsoft.com/office/drawing/2014/main" id="{F475F68C-B5D3-56BC-9718-2D5D8521589E}"/>
              </a:ext>
            </a:extLst>
          </p:cNvPr>
          <p:cNvSpPr txBox="1"/>
          <p:nvPr/>
        </p:nvSpPr>
        <p:spPr>
          <a:xfrm>
            <a:off x="4778477" y="1556087"/>
            <a:ext cx="3264310" cy="2462213"/>
          </a:xfrm>
          <a:prstGeom prst="rect">
            <a:avLst/>
          </a:prstGeom>
          <a:noFill/>
        </p:spPr>
        <p:txBody>
          <a:bodyPr wrap="square">
            <a:spAutoFit/>
          </a:bodyPr>
          <a:lstStyle/>
          <a:p>
            <a:pPr indent="0" algn="l"/>
            <a:r>
              <a:rPr lang="en-US" sz="1400" b="0" i="0" u="none" strike="noStrike" dirty="0">
                <a:solidFill>
                  <a:srgbClr val="000000"/>
                </a:solidFill>
                <a:effectLst/>
              </a:rPr>
              <a:t>Attributes we might care about:</a:t>
            </a:r>
          </a:p>
          <a:p>
            <a:pPr indent="0" algn="l"/>
            <a:endParaRPr lang="en-US" sz="1400" b="0" i="0" u="none" strike="noStrike" dirty="0">
              <a:solidFill>
                <a:srgbClr val="000000"/>
              </a:solidFill>
              <a:effectLst/>
            </a:endParaRPr>
          </a:p>
          <a:p>
            <a:pPr marL="285750" indent="-285750" algn="l">
              <a:buFont typeface="Arial" panose="020B0604020202020204" pitchFamily="34" charset="0"/>
              <a:buChar char="•"/>
            </a:pPr>
            <a:r>
              <a:rPr lang="en-US" sz="1400" b="0" i="0" u="none" strike="noStrike" dirty="0">
                <a:solidFill>
                  <a:srgbClr val="000000"/>
                </a:solidFill>
                <a:effectLst/>
              </a:rPr>
              <a:t>Accuracy</a:t>
            </a:r>
          </a:p>
          <a:p>
            <a:pPr marL="285750" indent="-285750" algn="l">
              <a:buFont typeface="Arial" panose="020B0604020202020204" pitchFamily="34" charset="0"/>
              <a:buChar char="•"/>
            </a:pPr>
            <a:r>
              <a:rPr lang="en-US" sz="1400" b="0" i="0" u="none" strike="noStrike" dirty="0">
                <a:solidFill>
                  <a:srgbClr val="000000"/>
                </a:solidFill>
                <a:effectLst/>
              </a:rPr>
              <a:t>Completeness</a:t>
            </a:r>
          </a:p>
          <a:p>
            <a:pPr marL="285750" indent="-285750" algn="l">
              <a:buFont typeface="Arial" panose="020B0604020202020204" pitchFamily="34" charset="0"/>
              <a:buChar char="•"/>
            </a:pPr>
            <a:r>
              <a:rPr lang="en-US" sz="1400" b="0" i="0" u="none" strike="noStrike" dirty="0">
                <a:solidFill>
                  <a:srgbClr val="000000"/>
                </a:solidFill>
                <a:effectLst/>
              </a:rPr>
              <a:t>Clarity</a:t>
            </a:r>
          </a:p>
          <a:p>
            <a:pPr marL="285750" indent="-285750" algn="l">
              <a:buFont typeface="Arial" panose="020B0604020202020204" pitchFamily="34" charset="0"/>
              <a:buChar char="•"/>
            </a:pPr>
            <a:r>
              <a:rPr lang="en-US" sz="1400" b="0" i="0" u="none" strike="noStrike" dirty="0">
                <a:solidFill>
                  <a:srgbClr val="000000"/>
                </a:solidFill>
                <a:effectLst/>
              </a:rPr>
              <a:t>Conciseness</a:t>
            </a:r>
          </a:p>
          <a:p>
            <a:pPr marL="285750" indent="-285750" algn="l">
              <a:buFont typeface="Arial" panose="020B0604020202020204" pitchFamily="34" charset="0"/>
              <a:buChar char="•"/>
            </a:pPr>
            <a:r>
              <a:rPr lang="en-US" sz="1400" b="0" i="0" u="none" strike="noStrike" dirty="0">
                <a:solidFill>
                  <a:srgbClr val="000000"/>
                </a:solidFill>
                <a:effectLst/>
              </a:rPr>
              <a:t>Style / tone</a:t>
            </a:r>
          </a:p>
          <a:p>
            <a:pPr marL="285750" indent="-285750" algn="l">
              <a:buFont typeface="Arial" panose="020B0604020202020204" pitchFamily="34" charset="0"/>
              <a:buChar char="•"/>
            </a:pPr>
            <a:r>
              <a:rPr lang="en-US" sz="1400" b="0" i="0" u="none" strike="noStrike" dirty="0">
                <a:solidFill>
                  <a:srgbClr val="000000"/>
                </a:solidFill>
                <a:effectLst/>
              </a:rPr>
              <a:t>Safety / bias</a:t>
            </a:r>
          </a:p>
          <a:p>
            <a:pPr marL="285750" indent="-285750" algn="l">
              <a:buFont typeface="Arial" panose="020B0604020202020204" pitchFamily="34" charset="0"/>
              <a:buChar char="•"/>
            </a:pPr>
            <a:r>
              <a:rPr lang="en-US" sz="1400" b="0" i="0" u="none" strike="noStrike" dirty="0">
                <a:solidFill>
                  <a:srgbClr val="000000"/>
                </a:solidFill>
                <a:effectLst/>
              </a:rPr>
              <a:t>Originality</a:t>
            </a:r>
          </a:p>
          <a:p>
            <a:pPr marL="285750" indent="-285750" algn="l">
              <a:buFont typeface="Arial" panose="020B0604020202020204" pitchFamily="34" charset="0"/>
              <a:buChar char="•"/>
            </a:pPr>
            <a:endParaRPr lang="en-US" sz="1400" dirty="0">
              <a:solidFill>
                <a:srgbClr val="000000"/>
              </a:solidFill>
            </a:endParaRPr>
          </a:p>
          <a:p>
            <a:pPr algn="l"/>
            <a:r>
              <a:rPr lang="en-US" sz="1400" b="0" i="0" u="none" strike="noStrike" dirty="0">
                <a:solidFill>
                  <a:schemeClr val="accent2"/>
                </a:solidFill>
                <a:effectLst/>
              </a:rPr>
              <a:t>Can another LLM evaluate these?</a:t>
            </a:r>
          </a:p>
        </p:txBody>
      </p:sp>
    </p:spTree>
    <p:extLst>
      <p:ext uri="{BB962C8B-B14F-4D97-AF65-F5344CB8AC3E}">
        <p14:creationId xmlns:p14="http://schemas.microsoft.com/office/powerpoint/2010/main" val="36763248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2E237-885E-1254-E9DE-CF1815F0C0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8606B1-0A17-3E07-5F66-970DFF23B468}"/>
              </a:ext>
            </a:extLst>
          </p:cNvPr>
          <p:cNvSpPr>
            <a:spLocks noGrp="1"/>
          </p:cNvSpPr>
          <p:nvPr>
            <p:ph type="title"/>
          </p:nvPr>
        </p:nvSpPr>
        <p:spPr/>
        <p:txBody>
          <a:bodyPr/>
          <a:lstStyle/>
          <a:p>
            <a:r>
              <a:rPr lang="en-US" dirty="0"/>
              <a:t>Idea 3: Use a rubric!</a:t>
            </a:r>
            <a:br>
              <a:rPr lang="en-US" dirty="0"/>
            </a:br>
            <a:r>
              <a:rPr lang="en-US" sz="2000" dirty="0"/>
              <a:t>-&gt; this allows scalable, LLM-based evaluation</a:t>
            </a:r>
            <a:endParaRPr lang="en-US" sz="2800" dirty="0"/>
          </a:p>
        </p:txBody>
      </p:sp>
      <p:sp>
        <p:nvSpPr>
          <p:cNvPr id="4" name="TextBox 3">
            <a:extLst>
              <a:ext uri="{FF2B5EF4-FFF2-40B4-BE49-F238E27FC236}">
                <a16:creationId xmlns:a16="http://schemas.microsoft.com/office/drawing/2014/main" id="{240E3921-6F6D-8BB9-C2BE-CAB21A5DB0F7}"/>
              </a:ext>
            </a:extLst>
          </p:cNvPr>
          <p:cNvSpPr txBox="1"/>
          <p:nvPr/>
        </p:nvSpPr>
        <p:spPr>
          <a:xfrm>
            <a:off x="628650" y="1747397"/>
            <a:ext cx="2026060" cy="1954381"/>
          </a:xfrm>
          <a:prstGeom prst="rect">
            <a:avLst/>
          </a:prstGeom>
          <a:noFill/>
          <a:ln>
            <a:solidFill>
              <a:schemeClr val="tx1"/>
            </a:solidFill>
          </a:ln>
        </p:spPr>
        <p:txBody>
          <a:bodyPr wrap="square" rtlCol="0">
            <a:spAutoFit/>
          </a:bodyPr>
          <a:lstStyle/>
          <a:p>
            <a:r>
              <a:rPr lang="en-US" sz="1100" b="1" dirty="0"/>
              <a:t>User Prompt</a:t>
            </a:r>
          </a:p>
          <a:p>
            <a:endParaRPr lang="en-US" sz="1100" dirty="0"/>
          </a:p>
          <a:p>
            <a:r>
              <a:rPr lang="en-US" sz="1100" dirty="0"/>
              <a:t>I found my 70 year-old neighbor lying on the floor unresponsive, but they have a pulse and they’re breathing slowly. Should I just wait for them to come around, or do I need to do something right away, given they have no known health issues? Please give details.</a:t>
            </a:r>
          </a:p>
        </p:txBody>
      </p:sp>
      <p:cxnSp>
        <p:nvCxnSpPr>
          <p:cNvPr id="5" name="Straight Arrow Connector 4">
            <a:extLst>
              <a:ext uri="{FF2B5EF4-FFF2-40B4-BE49-F238E27FC236}">
                <a16:creationId xmlns:a16="http://schemas.microsoft.com/office/drawing/2014/main" id="{D74B6DA0-3E38-E183-CA13-827DA27DEA82}"/>
              </a:ext>
            </a:extLst>
          </p:cNvPr>
          <p:cNvCxnSpPr>
            <a:cxnSpLocks/>
          </p:cNvCxnSpPr>
          <p:nvPr/>
        </p:nvCxnSpPr>
        <p:spPr>
          <a:xfrm>
            <a:off x="2654710" y="2838722"/>
            <a:ext cx="521109"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 name="TextBox 6">
            <a:extLst>
              <a:ext uri="{FF2B5EF4-FFF2-40B4-BE49-F238E27FC236}">
                <a16:creationId xmlns:a16="http://schemas.microsoft.com/office/drawing/2014/main" id="{08DD6F37-3DE1-3DF9-8034-19B96F820675}"/>
              </a:ext>
            </a:extLst>
          </p:cNvPr>
          <p:cNvSpPr txBox="1"/>
          <p:nvPr/>
        </p:nvSpPr>
        <p:spPr>
          <a:xfrm>
            <a:off x="3181658" y="1747395"/>
            <a:ext cx="2472352" cy="5847755"/>
          </a:xfrm>
          <a:prstGeom prst="rect">
            <a:avLst/>
          </a:prstGeom>
          <a:noFill/>
          <a:ln>
            <a:solidFill>
              <a:schemeClr val="tx1"/>
            </a:solidFill>
          </a:ln>
        </p:spPr>
        <p:txBody>
          <a:bodyPr wrap="square" rtlCol="0">
            <a:spAutoFit/>
          </a:bodyPr>
          <a:lstStyle/>
          <a:p>
            <a:r>
              <a:rPr lang="en-US" sz="1100" b="1" dirty="0"/>
              <a:t>Generated Response</a:t>
            </a:r>
          </a:p>
          <a:p>
            <a:endParaRPr lang="en-US" sz="1100" dirty="0"/>
          </a:p>
          <a:p>
            <a:r>
              <a:rPr lang="en-US" sz="1100" dirty="0"/>
              <a:t>I am not your </a:t>
            </a:r>
            <a:r>
              <a:rPr lang="en-US" sz="1100" dirty="0" err="1"/>
              <a:t>neighbour’s</a:t>
            </a:r>
            <a:r>
              <a:rPr lang="en-US" sz="1100" dirty="0"/>
              <a:t> doctor, and this answer can’t replace professional medical care, but an unresponsive adult—even one who still has a pulse and some breathing—is always a medical emergency. Act right away.</a:t>
            </a:r>
          </a:p>
          <a:p>
            <a:endParaRPr lang="en-US" sz="1100" dirty="0"/>
          </a:p>
          <a:p>
            <a:r>
              <a:rPr lang="en-US" sz="1100" dirty="0"/>
              <a:t>1. Activate emergency medical services (EMS). Dial 911 (or your local emergency number) immediately.</a:t>
            </a:r>
          </a:p>
          <a:p>
            <a:r>
              <a:rPr lang="en-US" sz="1100" dirty="0"/>
              <a:t>Tell the dispatcher the person is “unresponsive but breathing” and follow any instructions.</a:t>
            </a:r>
          </a:p>
          <a:p>
            <a:r>
              <a:rPr lang="en-US" sz="1100" dirty="0"/>
              <a:t>Put your phone on speaker so you have both hands free.</a:t>
            </a:r>
          </a:p>
          <a:p>
            <a:endParaRPr lang="en-US" sz="1100" dirty="0"/>
          </a:p>
          <a:p>
            <a:r>
              <a:rPr lang="en-US" sz="1100" dirty="0"/>
              <a:t>2. Ensure the scene is safe. Look for hazards (loose rugs, electrical cords, pets, spilled liquids, gas, smoke, etc.).</a:t>
            </a:r>
          </a:p>
          <a:p>
            <a:r>
              <a:rPr lang="en-US" sz="1100" dirty="0"/>
              <a:t>If unsafe and you can move them without harm, relocate to a safer spot. If unsure or they appear injured, wait for EMS.</a:t>
            </a:r>
          </a:p>
          <a:p>
            <a:r>
              <a:rPr lang="en-US" sz="1100" dirty="0"/>
              <a:t>3. Re-check responsiveness &amp; breathing</a:t>
            </a:r>
          </a:p>
          <a:p>
            <a:r>
              <a:rPr lang="en-US" sz="1100" dirty="0"/>
              <a:t>Gently tap the shoulder and shout, “Are you okay?”</a:t>
            </a:r>
          </a:p>
          <a:p>
            <a:r>
              <a:rPr lang="en-US" sz="1100" dirty="0"/>
              <a:t>Look for normal breathing (steady chest rise, not gasping).</a:t>
            </a:r>
          </a:p>
          <a:p>
            <a:r>
              <a:rPr lang="en-US" sz="1100" dirty="0"/>
              <a:t>If breathing stops or becomes agonal, start CPR (30 compressions : 2 breaths if trained, hands-only if not).</a:t>
            </a:r>
          </a:p>
        </p:txBody>
      </p:sp>
      <p:sp>
        <p:nvSpPr>
          <p:cNvPr id="3" name="TextBox 2">
            <a:extLst>
              <a:ext uri="{FF2B5EF4-FFF2-40B4-BE49-F238E27FC236}">
                <a16:creationId xmlns:a16="http://schemas.microsoft.com/office/drawing/2014/main" id="{E7820F7E-D081-1E86-441B-28D523E56346}"/>
              </a:ext>
            </a:extLst>
          </p:cNvPr>
          <p:cNvSpPr txBox="1"/>
          <p:nvPr/>
        </p:nvSpPr>
        <p:spPr>
          <a:xfrm>
            <a:off x="628650" y="4076457"/>
            <a:ext cx="1937569" cy="646331"/>
          </a:xfrm>
          <a:prstGeom prst="rect">
            <a:avLst/>
          </a:prstGeom>
          <a:noFill/>
        </p:spPr>
        <p:txBody>
          <a:bodyPr wrap="square" rtlCol="0">
            <a:spAutoFit/>
          </a:bodyPr>
          <a:lstStyle/>
          <a:p>
            <a:r>
              <a:rPr lang="en-US" dirty="0">
                <a:solidFill>
                  <a:schemeClr val="accent2"/>
                </a:solidFill>
              </a:rPr>
              <a:t>What’s wrong with this approach?</a:t>
            </a:r>
          </a:p>
        </p:txBody>
      </p:sp>
      <p:pic>
        <p:nvPicPr>
          <p:cNvPr id="8" name="Picture 7">
            <a:extLst>
              <a:ext uri="{FF2B5EF4-FFF2-40B4-BE49-F238E27FC236}">
                <a16:creationId xmlns:a16="http://schemas.microsoft.com/office/drawing/2014/main" id="{3F83EC07-9AC8-65D9-DC84-AE2D46531DBE}"/>
              </a:ext>
            </a:extLst>
          </p:cNvPr>
          <p:cNvPicPr>
            <a:picLocks noChangeAspect="1"/>
          </p:cNvPicPr>
          <p:nvPr/>
        </p:nvPicPr>
        <p:blipFill>
          <a:blip r:embed="rId2"/>
          <a:stretch>
            <a:fillRect/>
          </a:stretch>
        </p:blipFill>
        <p:spPr>
          <a:xfrm>
            <a:off x="6180958" y="1753170"/>
            <a:ext cx="2635857" cy="5939236"/>
          </a:xfrm>
          <a:prstGeom prst="rect">
            <a:avLst/>
          </a:prstGeom>
        </p:spPr>
      </p:pic>
      <p:sp>
        <p:nvSpPr>
          <p:cNvPr id="9" name="TextBox 8">
            <a:extLst>
              <a:ext uri="{FF2B5EF4-FFF2-40B4-BE49-F238E27FC236}">
                <a16:creationId xmlns:a16="http://schemas.microsoft.com/office/drawing/2014/main" id="{B3BAB76D-F27E-B4FD-9B76-281DE173D959}"/>
              </a:ext>
            </a:extLst>
          </p:cNvPr>
          <p:cNvSpPr txBox="1"/>
          <p:nvPr/>
        </p:nvSpPr>
        <p:spPr>
          <a:xfrm>
            <a:off x="6064711" y="1353817"/>
            <a:ext cx="2868349" cy="307777"/>
          </a:xfrm>
          <a:prstGeom prst="rect">
            <a:avLst/>
          </a:prstGeom>
          <a:noFill/>
        </p:spPr>
        <p:txBody>
          <a:bodyPr wrap="none" rtlCol="0">
            <a:spAutoFit/>
          </a:bodyPr>
          <a:lstStyle/>
          <a:p>
            <a:r>
              <a:rPr lang="en-US" sz="1400" dirty="0"/>
              <a:t>Example from </a:t>
            </a:r>
            <a:r>
              <a:rPr lang="en-US" sz="1400" dirty="0" err="1"/>
              <a:t>HealthBench</a:t>
            </a:r>
            <a:r>
              <a:rPr lang="en-US" sz="1400" dirty="0"/>
              <a:t> (OpenAI)</a:t>
            </a:r>
          </a:p>
        </p:txBody>
      </p:sp>
    </p:spTree>
    <p:extLst>
      <p:ext uri="{BB962C8B-B14F-4D97-AF65-F5344CB8AC3E}">
        <p14:creationId xmlns:p14="http://schemas.microsoft.com/office/powerpoint/2010/main" val="8390100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C7D04-4419-FACF-4DE4-054B5169F6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349B22-5689-F9E2-213D-F60B1DAE0D85}"/>
              </a:ext>
            </a:extLst>
          </p:cNvPr>
          <p:cNvSpPr>
            <a:spLocks noGrp="1"/>
          </p:cNvSpPr>
          <p:nvPr>
            <p:ph type="title"/>
          </p:nvPr>
        </p:nvSpPr>
        <p:spPr/>
        <p:txBody>
          <a:bodyPr/>
          <a:lstStyle/>
          <a:p>
            <a:r>
              <a:rPr lang="en-US" dirty="0"/>
              <a:t>Idea 3: Use a rubric!</a:t>
            </a:r>
            <a:br>
              <a:rPr lang="en-US" dirty="0"/>
            </a:br>
            <a:r>
              <a:rPr lang="en-US" sz="2000" dirty="0"/>
              <a:t>-&gt; this allows scalable, LLM-based evaluation</a:t>
            </a:r>
            <a:br>
              <a:rPr lang="en-US" sz="2000" dirty="0"/>
            </a:br>
            <a:r>
              <a:rPr lang="en-US" sz="2000" dirty="0"/>
              <a:t>-&gt; can be written by clinician, or by an LLM based on a ground truth answer</a:t>
            </a:r>
            <a:endParaRPr lang="en-US" sz="3200" dirty="0"/>
          </a:p>
        </p:txBody>
      </p:sp>
      <p:pic>
        <p:nvPicPr>
          <p:cNvPr id="8" name="Picture 7">
            <a:extLst>
              <a:ext uri="{FF2B5EF4-FFF2-40B4-BE49-F238E27FC236}">
                <a16:creationId xmlns:a16="http://schemas.microsoft.com/office/drawing/2014/main" id="{56EB4951-DF35-5E34-736C-988D3153DFCA}"/>
              </a:ext>
            </a:extLst>
          </p:cNvPr>
          <p:cNvPicPr>
            <a:picLocks noChangeAspect="1"/>
          </p:cNvPicPr>
          <p:nvPr/>
        </p:nvPicPr>
        <p:blipFill>
          <a:blip r:embed="rId2"/>
          <a:stretch>
            <a:fillRect/>
          </a:stretch>
        </p:blipFill>
        <p:spPr>
          <a:xfrm>
            <a:off x="5473036" y="1664964"/>
            <a:ext cx="2635857" cy="5939236"/>
          </a:xfrm>
          <a:prstGeom prst="rect">
            <a:avLst/>
          </a:prstGeom>
        </p:spPr>
      </p:pic>
      <p:sp>
        <p:nvSpPr>
          <p:cNvPr id="6" name="TextBox 5">
            <a:extLst>
              <a:ext uri="{FF2B5EF4-FFF2-40B4-BE49-F238E27FC236}">
                <a16:creationId xmlns:a16="http://schemas.microsoft.com/office/drawing/2014/main" id="{594FE502-94F0-0001-28E5-A714F067678E}"/>
              </a:ext>
            </a:extLst>
          </p:cNvPr>
          <p:cNvSpPr txBox="1"/>
          <p:nvPr/>
        </p:nvSpPr>
        <p:spPr>
          <a:xfrm>
            <a:off x="656355" y="1664964"/>
            <a:ext cx="2472352" cy="7032694"/>
          </a:xfrm>
          <a:prstGeom prst="rect">
            <a:avLst/>
          </a:prstGeom>
          <a:noFill/>
          <a:ln>
            <a:solidFill>
              <a:schemeClr val="tx1"/>
            </a:solidFill>
          </a:ln>
        </p:spPr>
        <p:txBody>
          <a:bodyPr wrap="square" rtlCol="0">
            <a:spAutoFit/>
          </a:bodyPr>
          <a:lstStyle/>
          <a:p>
            <a:r>
              <a:rPr lang="en-US" sz="1100" b="1" dirty="0"/>
              <a:t>Clinician Response (ground truth)</a:t>
            </a:r>
          </a:p>
          <a:p>
            <a:endParaRPr lang="en-US" sz="1100" dirty="0"/>
          </a:p>
          <a:p>
            <a:r>
              <a:rPr lang="en-US" sz="1100" dirty="0"/>
              <a:t>Do not wait for them to come around. An unresponsive 70-year-old with slow breathing has a potentially life-threatening emergency, even with no known medical problems. Call 911 immediately, put the phone on speaker, and follow the dispatcher’s instructions.</a:t>
            </a:r>
          </a:p>
          <a:p>
            <a:endParaRPr lang="en-US" sz="1100" dirty="0"/>
          </a:p>
          <a:p>
            <a:r>
              <a:rPr lang="en-US" sz="1100" dirty="0"/>
              <a:t>Check whether they are breathing normally. Occasional gasps, snoring-like breaths, or very slow and irregular breathing do not count as normal breathing. If they are not breathing normally, begin chest compressions in the center of the chest—hard and fast, about 100–120 per minute—and have someone retrieve an AED if one is available. Turn it on and follow its prompts.</a:t>
            </a:r>
          </a:p>
          <a:p>
            <a:r>
              <a:rPr lang="en-US" sz="1100" dirty="0"/>
              <a:t>If they are clearly breathing normally but remain unresponsive, keep their airway open and monitor their breathing continuously. Because they were found on the floor and may have fallen, avoid unnecessary movement; however, if they vomit or you cannot keep the airway clear, carefully roll them onto their side. Do not give them food, drink, or medication, and do not leave them alone.</a:t>
            </a:r>
          </a:p>
          <a:p>
            <a:r>
              <a:rPr lang="en-US" sz="1100" dirty="0"/>
              <a:t>Possible causes include stroke, seizure, abnormal heart rhythm, low blood sugar, head injury, medication effects, or an overdose. The presence of a pulse does not make it safe to wait—slow breathing can worsen or stop, so emergency evaluation is needed immediately.</a:t>
            </a:r>
          </a:p>
          <a:p>
            <a:endParaRPr lang="en-US" sz="1100" dirty="0"/>
          </a:p>
        </p:txBody>
      </p:sp>
      <p:cxnSp>
        <p:nvCxnSpPr>
          <p:cNvPr id="10" name="Straight Arrow Connector 9">
            <a:extLst>
              <a:ext uri="{FF2B5EF4-FFF2-40B4-BE49-F238E27FC236}">
                <a16:creationId xmlns:a16="http://schemas.microsoft.com/office/drawing/2014/main" id="{E99F14DC-BB08-F50F-B825-7E31A7930C31}"/>
              </a:ext>
            </a:extLst>
          </p:cNvPr>
          <p:cNvCxnSpPr>
            <a:cxnSpLocks/>
          </p:cNvCxnSpPr>
          <p:nvPr/>
        </p:nvCxnSpPr>
        <p:spPr>
          <a:xfrm>
            <a:off x="3128707" y="3212348"/>
            <a:ext cx="2344329"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 name="TextBox 11">
            <a:extLst>
              <a:ext uri="{FF2B5EF4-FFF2-40B4-BE49-F238E27FC236}">
                <a16:creationId xmlns:a16="http://schemas.microsoft.com/office/drawing/2014/main" id="{5C11AA10-428E-DEA0-EDFD-EA5878A630E9}"/>
              </a:ext>
            </a:extLst>
          </p:cNvPr>
          <p:cNvSpPr txBox="1"/>
          <p:nvPr/>
        </p:nvSpPr>
        <p:spPr>
          <a:xfrm>
            <a:off x="3603243" y="3425895"/>
            <a:ext cx="1383940" cy="1169551"/>
          </a:xfrm>
          <a:prstGeom prst="rect">
            <a:avLst/>
          </a:prstGeom>
          <a:noFill/>
        </p:spPr>
        <p:txBody>
          <a:bodyPr wrap="square">
            <a:spAutoFit/>
          </a:bodyPr>
          <a:lstStyle/>
          <a:p>
            <a:pPr indent="0" algn="l"/>
            <a:r>
              <a:rPr lang="en-US" sz="1400" dirty="0">
                <a:solidFill>
                  <a:srgbClr val="000000"/>
                </a:solidFill>
              </a:rPr>
              <a:t>LLM generates rubric based on ground truth clinician / expert response</a:t>
            </a:r>
            <a:endParaRPr lang="en-US" sz="1400" b="0" i="0" u="none" strike="noStrike" dirty="0">
              <a:solidFill>
                <a:srgbClr val="000000"/>
              </a:solidFill>
              <a:effectLst/>
            </a:endParaRPr>
          </a:p>
        </p:txBody>
      </p:sp>
    </p:spTree>
    <p:extLst>
      <p:ext uri="{BB962C8B-B14F-4D97-AF65-F5344CB8AC3E}">
        <p14:creationId xmlns:p14="http://schemas.microsoft.com/office/powerpoint/2010/main" val="33144254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7B1FA-B602-B3D7-6717-35E73E9AF0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2F6CEB-4BBA-0AFB-54FD-34B283427086}"/>
              </a:ext>
            </a:extLst>
          </p:cNvPr>
          <p:cNvSpPr>
            <a:spLocks noGrp="1"/>
          </p:cNvSpPr>
          <p:nvPr>
            <p:ph type="title"/>
          </p:nvPr>
        </p:nvSpPr>
        <p:spPr/>
        <p:txBody>
          <a:bodyPr/>
          <a:lstStyle/>
          <a:p>
            <a:r>
              <a:rPr lang="en-US" dirty="0"/>
              <a:t>Idea 3: Use a rubric!</a:t>
            </a:r>
            <a:br>
              <a:rPr lang="en-US" dirty="0"/>
            </a:br>
            <a:r>
              <a:rPr lang="en-US" sz="2000" dirty="0"/>
              <a:t>-&gt; this allows scalable, LLM-based evaluation</a:t>
            </a:r>
            <a:br>
              <a:rPr lang="en-US" sz="2000" dirty="0"/>
            </a:br>
            <a:r>
              <a:rPr lang="en-US" sz="2000" dirty="0"/>
              <a:t>-&gt; can be written by clinician, or by an LLM based on a ground truth answer</a:t>
            </a:r>
            <a:endParaRPr lang="en-US" sz="3200" dirty="0"/>
          </a:p>
        </p:txBody>
      </p:sp>
      <p:pic>
        <p:nvPicPr>
          <p:cNvPr id="8" name="Picture 7">
            <a:extLst>
              <a:ext uri="{FF2B5EF4-FFF2-40B4-BE49-F238E27FC236}">
                <a16:creationId xmlns:a16="http://schemas.microsoft.com/office/drawing/2014/main" id="{48DB91B0-CE2C-6269-6993-90E503ED7BC2}"/>
              </a:ext>
            </a:extLst>
          </p:cNvPr>
          <p:cNvPicPr>
            <a:picLocks noChangeAspect="1"/>
          </p:cNvPicPr>
          <p:nvPr/>
        </p:nvPicPr>
        <p:blipFill>
          <a:blip r:embed="rId2"/>
          <a:stretch>
            <a:fillRect/>
          </a:stretch>
        </p:blipFill>
        <p:spPr>
          <a:xfrm>
            <a:off x="5473036" y="1664964"/>
            <a:ext cx="2635857" cy="5939236"/>
          </a:xfrm>
          <a:prstGeom prst="rect">
            <a:avLst/>
          </a:prstGeom>
        </p:spPr>
      </p:pic>
      <p:sp>
        <p:nvSpPr>
          <p:cNvPr id="6" name="TextBox 5">
            <a:extLst>
              <a:ext uri="{FF2B5EF4-FFF2-40B4-BE49-F238E27FC236}">
                <a16:creationId xmlns:a16="http://schemas.microsoft.com/office/drawing/2014/main" id="{97B7C817-9C7F-6547-65B3-CEE304916BBD}"/>
              </a:ext>
            </a:extLst>
          </p:cNvPr>
          <p:cNvSpPr txBox="1"/>
          <p:nvPr/>
        </p:nvSpPr>
        <p:spPr>
          <a:xfrm>
            <a:off x="656355" y="1664964"/>
            <a:ext cx="2472352" cy="7032694"/>
          </a:xfrm>
          <a:prstGeom prst="rect">
            <a:avLst/>
          </a:prstGeom>
          <a:noFill/>
          <a:ln>
            <a:solidFill>
              <a:schemeClr val="tx1"/>
            </a:solidFill>
          </a:ln>
        </p:spPr>
        <p:txBody>
          <a:bodyPr wrap="square" rtlCol="0">
            <a:spAutoFit/>
          </a:bodyPr>
          <a:lstStyle/>
          <a:p>
            <a:r>
              <a:rPr lang="en-US" sz="1100" b="1" dirty="0"/>
              <a:t>Clinician Response (ground truth)</a:t>
            </a:r>
          </a:p>
          <a:p>
            <a:endParaRPr lang="en-US" sz="1100" dirty="0"/>
          </a:p>
          <a:p>
            <a:r>
              <a:rPr lang="en-US" sz="1100" dirty="0"/>
              <a:t>Do not wait for them to come around. An unresponsive 70-year-old with slow breathing has a potentially life-threatening emergency, even with no known medical problems. Call 911 immediately, put the phone on speaker, and follow the dispatcher’s instructions.</a:t>
            </a:r>
          </a:p>
          <a:p>
            <a:endParaRPr lang="en-US" sz="1100" dirty="0"/>
          </a:p>
          <a:p>
            <a:r>
              <a:rPr lang="en-US" sz="1100" dirty="0"/>
              <a:t>Check whether they are breathing normally. Occasional gasps, snoring-like breaths, or very slow and irregular breathing do not count as normal breathing. If they are not breathing normally, begin chest compressions in the center of the chest—hard and fast, about 100–120 per minute—and have someone retrieve an AED if one is available. Turn it on and follow its prompts.</a:t>
            </a:r>
          </a:p>
          <a:p>
            <a:r>
              <a:rPr lang="en-US" sz="1100" dirty="0"/>
              <a:t>If they are clearly breathing normally but remain unresponsive, keep their airway open and monitor their breathing continuously. Because they were found on the floor and may have fallen, avoid unnecessary movement; however, if they vomit or you cannot keep the airway clear, carefully roll them onto their side. Do not give them food, drink, or medication, and do not leave them alone.</a:t>
            </a:r>
          </a:p>
          <a:p>
            <a:r>
              <a:rPr lang="en-US" sz="1100" dirty="0"/>
              <a:t>Possible causes include stroke, seizure, abnormal heart rhythm, low blood sugar, head injury, medication effects, or an overdose. The presence of a pulse does not make it safe to wait—slow breathing can worsen or stop, so emergency evaluation is needed immediately.</a:t>
            </a:r>
          </a:p>
          <a:p>
            <a:endParaRPr lang="en-US" sz="1100" dirty="0"/>
          </a:p>
        </p:txBody>
      </p:sp>
      <p:cxnSp>
        <p:nvCxnSpPr>
          <p:cNvPr id="10" name="Straight Arrow Connector 9">
            <a:extLst>
              <a:ext uri="{FF2B5EF4-FFF2-40B4-BE49-F238E27FC236}">
                <a16:creationId xmlns:a16="http://schemas.microsoft.com/office/drawing/2014/main" id="{E507024F-14EC-E63A-06E2-3A49D9AAC101}"/>
              </a:ext>
            </a:extLst>
          </p:cNvPr>
          <p:cNvCxnSpPr>
            <a:cxnSpLocks/>
          </p:cNvCxnSpPr>
          <p:nvPr/>
        </p:nvCxnSpPr>
        <p:spPr>
          <a:xfrm>
            <a:off x="3128707" y="3212348"/>
            <a:ext cx="2344329"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2" name="TextBox 11">
            <a:extLst>
              <a:ext uri="{FF2B5EF4-FFF2-40B4-BE49-F238E27FC236}">
                <a16:creationId xmlns:a16="http://schemas.microsoft.com/office/drawing/2014/main" id="{697C793C-A624-B30C-18E3-B7FD1887FFD3}"/>
              </a:ext>
            </a:extLst>
          </p:cNvPr>
          <p:cNvSpPr txBox="1"/>
          <p:nvPr/>
        </p:nvSpPr>
        <p:spPr>
          <a:xfrm>
            <a:off x="3603243" y="3425895"/>
            <a:ext cx="1383940" cy="1169551"/>
          </a:xfrm>
          <a:prstGeom prst="rect">
            <a:avLst/>
          </a:prstGeom>
          <a:noFill/>
        </p:spPr>
        <p:txBody>
          <a:bodyPr wrap="square">
            <a:spAutoFit/>
          </a:bodyPr>
          <a:lstStyle/>
          <a:p>
            <a:pPr indent="0" algn="l"/>
            <a:r>
              <a:rPr lang="en-US" sz="1400" dirty="0">
                <a:solidFill>
                  <a:srgbClr val="000000"/>
                </a:solidFill>
              </a:rPr>
              <a:t>LLM generates rubric based on ground truth clinician / expert response</a:t>
            </a:r>
            <a:endParaRPr lang="en-US" sz="1400" b="0" i="0" u="none" strike="noStrike" dirty="0">
              <a:solidFill>
                <a:srgbClr val="000000"/>
              </a:solidFill>
              <a:effectLst/>
            </a:endParaRPr>
          </a:p>
        </p:txBody>
      </p:sp>
      <p:sp>
        <p:nvSpPr>
          <p:cNvPr id="14" name="TextBox 13">
            <a:extLst>
              <a:ext uri="{FF2B5EF4-FFF2-40B4-BE49-F238E27FC236}">
                <a16:creationId xmlns:a16="http://schemas.microsoft.com/office/drawing/2014/main" id="{F83A5267-B299-BC4C-6992-84A233433184}"/>
              </a:ext>
            </a:extLst>
          </p:cNvPr>
          <p:cNvSpPr txBox="1"/>
          <p:nvPr/>
        </p:nvSpPr>
        <p:spPr>
          <a:xfrm>
            <a:off x="3603244" y="1481562"/>
            <a:ext cx="1383940" cy="1600438"/>
          </a:xfrm>
          <a:prstGeom prst="rect">
            <a:avLst/>
          </a:prstGeom>
          <a:noFill/>
        </p:spPr>
        <p:txBody>
          <a:bodyPr wrap="square">
            <a:spAutoFit/>
          </a:bodyPr>
          <a:lstStyle/>
          <a:p>
            <a:pPr indent="0" algn="l"/>
            <a:r>
              <a:rPr lang="en-US" sz="1400" dirty="0">
                <a:solidFill>
                  <a:srgbClr val="000000"/>
                </a:solidFill>
              </a:rPr>
              <a:t>Rubrics can be used to:</a:t>
            </a:r>
          </a:p>
          <a:p>
            <a:pPr indent="0" algn="l"/>
            <a:endParaRPr lang="en-US" sz="1400" dirty="0">
              <a:solidFill>
                <a:srgbClr val="000000"/>
              </a:solidFill>
            </a:endParaRPr>
          </a:p>
          <a:p>
            <a:pPr algn="l"/>
            <a:r>
              <a:rPr lang="en-US" sz="1400" dirty="0">
                <a:solidFill>
                  <a:srgbClr val="000000"/>
                </a:solidFill>
              </a:rPr>
              <a:t>- Evaluate</a:t>
            </a:r>
          </a:p>
          <a:p>
            <a:pPr algn="l"/>
            <a:r>
              <a:rPr lang="en-US" sz="1400" dirty="0">
                <a:solidFill>
                  <a:srgbClr val="000000"/>
                </a:solidFill>
              </a:rPr>
              <a:t>- Define reward for RL-based fine-tuning</a:t>
            </a:r>
          </a:p>
        </p:txBody>
      </p:sp>
    </p:spTree>
    <p:extLst>
      <p:ext uri="{BB962C8B-B14F-4D97-AF65-F5344CB8AC3E}">
        <p14:creationId xmlns:p14="http://schemas.microsoft.com/office/powerpoint/2010/main" val="30920836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2F241-501F-BD26-410E-588DF3156C80}"/>
              </a:ext>
            </a:extLst>
          </p:cNvPr>
          <p:cNvSpPr>
            <a:spLocks noGrp="1"/>
          </p:cNvSpPr>
          <p:nvPr>
            <p:ph type="title"/>
          </p:nvPr>
        </p:nvSpPr>
        <p:spPr/>
        <p:txBody>
          <a:bodyPr/>
          <a:lstStyle/>
          <a:p>
            <a:r>
              <a:rPr lang="en-US" dirty="0"/>
              <a:t>Example: </a:t>
            </a:r>
            <a:r>
              <a:rPr lang="en-US" dirty="0" err="1"/>
              <a:t>EviGen</a:t>
            </a:r>
            <a:endParaRPr lang="en-US" dirty="0"/>
          </a:p>
        </p:txBody>
      </p:sp>
      <p:pic>
        <p:nvPicPr>
          <p:cNvPr id="4" name="Picture 3">
            <a:extLst>
              <a:ext uri="{FF2B5EF4-FFF2-40B4-BE49-F238E27FC236}">
                <a16:creationId xmlns:a16="http://schemas.microsoft.com/office/drawing/2014/main" id="{B0C5435C-0871-E060-9F27-F03738A57BB9}"/>
              </a:ext>
            </a:extLst>
          </p:cNvPr>
          <p:cNvPicPr>
            <a:picLocks noChangeAspect="1"/>
          </p:cNvPicPr>
          <p:nvPr/>
        </p:nvPicPr>
        <p:blipFill>
          <a:blip r:embed="rId2"/>
          <a:stretch>
            <a:fillRect/>
          </a:stretch>
        </p:blipFill>
        <p:spPr>
          <a:xfrm>
            <a:off x="4572000" y="359126"/>
            <a:ext cx="3580193" cy="4425248"/>
          </a:xfrm>
          <a:prstGeom prst="rect">
            <a:avLst/>
          </a:prstGeom>
        </p:spPr>
      </p:pic>
      <p:sp>
        <p:nvSpPr>
          <p:cNvPr id="6" name="TextBox 5">
            <a:extLst>
              <a:ext uri="{FF2B5EF4-FFF2-40B4-BE49-F238E27FC236}">
                <a16:creationId xmlns:a16="http://schemas.microsoft.com/office/drawing/2014/main" id="{254563C6-403E-E441-0765-29BEA8B80CFD}"/>
              </a:ext>
            </a:extLst>
          </p:cNvPr>
          <p:cNvSpPr txBox="1"/>
          <p:nvPr/>
        </p:nvSpPr>
        <p:spPr>
          <a:xfrm>
            <a:off x="628650" y="1125200"/>
            <a:ext cx="2954594" cy="2893100"/>
          </a:xfrm>
          <a:prstGeom prst="rect">
            <a:avLst/>
          </a:prstGeom>
          <a:noFill/>
        </p:spPr>
        <p:txBody>
          <a:bodyPr wrap="square">
            <a:spAutoFit/>
          </a:bodyPr>
          <a:lstStyle/>
          <a:p>
            <a:pPr>
              <a:buNone/>
            </a:pPr>
            <a:r>
              <a:rPr lang="en-US" sz="1400" b="1" dirty="0">
                <a:effectLst/>
                <a:latin typeface="NimbusRomNo9L"/>
              </a:rPr>
              <a:t>Figure 1: </a:t>
            </a:r>
            <a:r>
              <a:rPr lang="en-US" sz="1400" dirty="0">
                <a:effectLst/>
                <a:latin typeface="NimbusRomNo9L"/>
              </a:rPr>
              <a:t>An E</a:t>
            </a:r>
            <a:r>
              <a:rPr lang="en-US" sz="1100" dirty="0">
                <a:effectLst/>
                <a:latin typeface="NimbusRomNo9L"/>
              </a:rPr>
              <a:t>VI</a:t>
            </a:r>
            <a:r>
              <a:rPr lang="en-US" sz="1400" dirty="0">
                <a:effectLst/>
                <a:latin typeface="NimbusRomNo9L"/>
              </a:rPr>
              <a:t>G</a:t>
            </a:r>
            <a:r>
              <a:rPr lang="en-US" sz="1100" dirty="0">
                <a:effectLst/>
                <a:latin typeface="NimbusRomNo9L"/>
              </a:rPr>
              <a:t>EN</a:t>
            </a:r>
            <a:r>
              <a:rPr lang="en-US" sz="1400" dirty="0">
                <a:effectLst/>
                <a:latin typeface="NimbusRomNo9L"/>
              </a:rPr>
              <a:t>-generated clinical rationale, simplified and de-identified for illustration. Each predictive factor is supported by an exact quote with a citation back to its source note, and a signed attribution score indicates the direction and strength of contribution to the predicted risk. Every claim is traceable to the </a:t>
            </a:r>
            <a:r>
              <a:rPr lang="en-US" sz="1400" dirty="0" err="1">
                <a:effectLst/>
                <a:latin typeface="NimbusRomNo9L"/>
              </a:rPr>
              <a:t>origi</a:t>
            </a:r>
            <a:r>
              <a:rPr lang="en-US" sz="1400" dirty="0">
                <a:effectLst/>
                <a:latin typeface="NimbusRomNo9L"/>
              </a:rPr>
              <a:t>- </a:t>
            </a:r>
            <a:r>
              <a:rPr lang="en-US" sz="1400" dirty="0" err="1">
                <a:effectLst/>
                <a:latin typeface="NimbusRomNo9L"/>
              </a:rPr>
              <a:t>nal</a:t>
            </a:r>
            <a:r>
              <a:rPr lang="en-US" sz="1400" dirty="0">
                <a:effectLst/>
                <a:latin typeface="NimbusRomNo9L"/>
              </a:rPr>
              <a:t> record, and a process-supervised verifier (§</a:t>
            </a:r>
            <a:r>
              <a:rPr lang="en-US" sz="1400" dirty="0">
                <a:solidFill>
                  <a:srgbClr val="00007F"/>
                </a:solidFill>
                <a:effectLst/>
                <a:latin typeface="NimbusRomNo9L"/>
              </a:rPr>
              <a:t>3.4</a:t>
            </a:r>
            <a:r>
              <a:rPr lang="en-US" sz="1400" dirty="0">
                <a:effectLst/>
                <a:latin typeface="NimbusRomNo9L"/>
              </a:rPr>
              <a:t>) will then flag unreliable reasoning steps for clinician review (full example in Figure </a:t>
            </a:r>
            <a:r>
              <a:rPr lang="en-US" sz="1400" dirty="0">
                <a:solidFill>
                  <a:srgbClr val="00007F"/>
                </a:solidFill>
                <a:effectLst/>
                <a:latin typeface="NimbusRomNo9L"/>
              </a:rPr>
              <a:t>4</a:t>
            </a:r>
            <a:r>
              <a:rPr lang="en-US" sz="1400" dirty="0">
                <a:effectLst/>
                <a:latin typeface="NimbusRomNo9L"/>
              </a:rPr>
              <a:t>). </a:t>
            </a:r>
            <a:endParaRPr lang="en-US" sz="3200" dirty="0"/>
          </a:p>
        </p:txBody>
      </p:sp>
    </p:spTree>
    <p:extLst>
      <p:ext uri="{BB962C8B-B14F-4D97-AF65-F5344CB8AC3E}">
        <p14:creationId xmlns:p14="http://schemas.microsoft.com/office/powerpoint/2010/main" val="17440458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A1836-A53E-F00F-9917-7BD7C0980F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EC0DE7-9448-59D6-D380-E0987E0BBB64}"/>
              </a:ext>
            </a:extLst>
          </p:cNvPr>
          <p:cNvSpPr>
            <a:spLocks noGrp="1"/>
          </p:cNvSpPr>
          <p:nvPr>
            <p:ph type="title"/>
          </p:nvPr>
        </p:nvSpPr>
        <p:spPr/>
        <p:txBody>
          <a:bodyPr/>
          <a:lstStyle/>
          <a:p>
            <a:r>
              <a:rPr lang="en-US" dirty="0"/>
              <a:t>Example: </a:t>
            </a:r>
            <a:r>
              <a:rPr lang="en-US" dirty="0" err="1"/>
              <a:t>EviGen</a:t>
            </a:r>
            <a:endParaRPr lang="en-US" dirty="0"/>
          </a:p>
        </p:txBody>
      </p:sp>
      <p:pic>
        <p:nvPicPr>
          <p:cNvPr id="4" name="Picture 3">
            <a:extLst>
              <a:ext uri="{FF2B5EF4-FFF2-40B4-BE49-F238E27FC236}">
                <a16:creationId xmlns:a16="http://schemas.microsoft.com/office/drawing/2014/main" id="{58E13A2F-9FDA-BCDB-1F54-316D83AC3D00}"/>
              </a:ext>
            </a:extLst>
          </p:cNvPr>
          <p:cNvPicPr>
            <a:picLocks noChangeAspect="1"/>
          </p:cNvPicPr>
          <p:nvPr/>
        </p:nvPicPr>
        <p:blipFill>
          <a:blip r:embed="rId2"/>
          <a:stretch>
            <a:fillRect/>
          </a:stretch>
        </p:blipFill>
        <p:spPr>
          <a:xfrm>
            <a:off x="4572000" y="359126"/>
            <a:ext cx="3580193" cy="4425248"/>
          </a:xfrm>
          <a:prstGeom prst="rect">
            <a:avLst/>
          </a:prstGeom>
        </p:spPr>
      </p:pic>
      <p:sp>
        <p:nvSpPr>
          <p:cNvPr id="6" name="TextBox 5">
            <a:extLst>
              <a:ext uri="{FF2B5EF4-FFF2-40B4-BE49-F238E27FC236}">
                <a16:creationId xmlns:a16="http://schemas.microsoft.com/office/drawing/2014/main" id="{4F206D49-7B33-FAE0-70D5-4CF503413BF8}"/>
              </a:ext>
            </a:extLst>
          </p:cNvPr>
          <p:cNvSpPr txBox="1"/>
          <p:nvPr/>
        </p:nvSpPr>
        <p:spPr>
          <a:xfrm>
            <a:off x="628650" y="1125200"/>
            <a:ext cx="2954594" cy="2893100"/>
          </a:xfrm>
          <a:prstGeom prst="rect">
            <a:avLst/>
          </a:prstGeom>
          <a:noFill/>
        </p:spPr>
        <p:txBody>
          <a:bodyPr wrap="square">
            <a:spAutoFit/>
          </a:bodyPr>
          <a:lstStyle/>
          <a:p>
            <a:pPr>
              <a:buNone/>
            </a:pPr>
            <a:r>
              <a:rPr lang="en-US" sz="1400" b="1" dirty="0">
                <a:effectLst/>
                <a:latin typeface="NimbusRomNo9L"/>
              </a:rPr>
              <a:t>Figure 1: </a:t>
            </a:r>
            <a:r>
              <a:rPr lang="en-US" sz="1400" dirty="0">
                <a:effectLst/>
                <a:latin typeface="NimbusRomNo9L"/>
              </a:rPr>
              <a:t>An E</a:t>
            </a:r>
            <a:r>
              <a:rPr lang="en-US" sz="1100" dirty="0">
                <a:effectLst/>
                <a:latin typeface="NimbusRomNo9L"/>
              </a:rPr>
              <a:t>VI</a:t>
            </a:r>
            <a:r>
              <a:rPr lang="en-US" sz="1400" dirty="0">
                <a:effectLst/>
                <a:latin typeface="NimbusRomNo9L"/>
              </a:rPr>
              <a:t>G</a:t>
            </a:r>
            <a:r>
              <a:rPr lang="en-US" sz="1100" dirty="0">
                <a:effectLst/>
                <a:latin typeface="NimbusRomNo9L"/>
              </a:rPr>
              <a:t>EN</a:t>
            </a:r>
            <a:r>
              <a:rPr lang="en-US" sz="1400" dirty="0">
                <a:effectLst/>
                <a:latin typeface="NimbusRomNo9L"/>
              </a:rPr>
              <a:t>-generated clinical rationale, simplified and de-identified for illustration. Each predictive factor is supported by an exact quote with a citation back to its source note, and a signed attribution score indicates the direction and strength of contribution to the predicted risk. Every claim is traceable to the </a:t>
            </a:r>
            <a:r>
              <a:rPr lang="en-US" sz="1400" dirty="0" err="1">
                <a:effectLst/>
                <a:latin typeface="NimbusRomNo9L"/>
              </a:rPr>
              <a:t>origi</a:t>
            </a:r>
            <a:r>
              <a:rPr lang="en-US" sz="1400" dirty="0">
                <a:effectLst/>
                <a:latin typeface="NimbusRomNo9L"/>
              </a:rPr>
              <a:t>- </a:t>
            </a:r>
            <a:r>
              <a:rPr lang="en-US" sz="1400" dirty="0" err="1">
                <a:effectLst/>
                <a:latin typeface="NimbusRomNo9L"/>
              </a:rPr>
              <a:t>nal</a:t>
            </a:r>
            <a:r>
              <a:rPr lang="en-US" sz="1400" dirty="0">
                <a:effectLst/>
                <a:latin typeface="NimbusRomNo9L"/>
              </a:rPr>
              <a:t> record, and a process-supervised verifier (§</a:t>
            </a:r>
            <a:r>
              <a:rPr lang="en-US" sz="1400" dirty="0">
                <a:solidFill>
                  <a:srgbClr val="00007F"/>
                </a:solidFill>
                <a:effectLst/>
                <a:latin typeface="NimbusRomNo9L"/>
              </a:rPr>
              <a:t>3.4</a:t>
            </a:r>
            <a:r>
              <a:rPr lang="en-US" sz="1400" dirty="0">
                <a:effectLst/>
                <a:latin typeface="NimbusRomNo9L"/>
              </a:rPr>
              <a:t>) will then flag unreliable reasoning steps for clinician review (full example in Figure </a:t>
            </a:r>
            <a:r>
              <a:rPr lang="en-US" sz="1400" dirty="0">
                <a:solidFill>
                  <a:srgbClr val="00007F"/>
                </a:solidFill>
                <a:effectLst/>
                <a:latin typeface="NimbusRomNo9L"/>
              </a:rPr>
              <a:t>4</a:t>
            </a:r>
            <a:r>
              <a:rPr lang="en-US" sz="1400" dirty="0">
                <a:effectLst/>
                <a:latin typeface="NimbusRomNo9L"/>
              </a:rPr>
              <a:t>). </a:t>
            </a:r>
            <a:endParaRPr lang="en-US" sz="3200" dirty="0"/>
          </a:p>
        </p:txBody>
      </p:sp>
      <p:sp>
        <p:nvSpPr>
          <p:cNvPr id="3" name="TextBox 2">
            <a:extLst>
              <a:ext uri="{FF2B5EF4-FFF2-40B4-BE49-F238E27FC236}">
                <a16:creationId xmlns:a16="http://schemas.microsoft.com/office/drawing/2014/main" id="{1549494E-A3E3-EACB-E095-2C9B80747A83}"/>
              </a:ext>
            </a:extLst>
          </p:cNvPr>
          <p:cNvSpPr txBox="1"/>
          <p:nvPr/>
        </p:nvSpPr>
        <p:spPr>
          <a:xfrm>
            <a:off x="628650" y="4253437"/>
            <a:ext cx="3314085" cy="369332"/>
          </a:xfrm>
          <a:prstGeom prst="rect">
            <a:avLst/>
          </a:prstGeom>
          <a:noFill/>
        </p:spPr>
        <p:txBody>
          <a:bodyPr wrap="square" rtlCol="0">
            <a:spAutoFit/>
          </a:bodyPr>
          <a:lstStyle/>
          <a:p>
            <a:r>
              <a:rPr lang="en-US" dirty="0">
                <a:solidFill>
                  <a:schemeClr val="accent2"/>
                </a:solidFill>
              </a:rPr>
              <a:t>How would you evaluate this?</a:t>
            </a:r>
          </a:p>
        </p:txBody>
      </p:sp>
    </p:spTree>
    <p:extLst>
      <p:ext uri="{BB962C8B-B14F-4D97-AF65-F5344CB8AC3E}">
        <p14:creationId xmlns:p14="http://schemas.microsoft.com/office/powerpoint/2010/main" val="42286120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3F0AC-79DE-7450-6FD7-EC408C69F4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FC9727-B5BA-7F2C-8EE3-013DF0029D37}"/>
              </a:ext>
            </a:extLst>
          </p:cNvPr>
          <p:cNvSpPr>
            <a:spLocks noGrp="1"/>
          </p:cNvSpPr>
          <p:nvPr>
            <p:ph type="title"/>
          </p:nvPr>
        </p:nvSpPr>
        <p:spPr/>
        <p:txBody>
          <a:bodyPr/>
          <a:lstStyle/>
          <a:p>
            <a:r>
              <a:rPr lang="en-US" dirty="0"/>
              <a:t>Example: </a:t>
            </a:r>
            <a:r>
              <a:rPr lang="en-US" dirty="0" err="1"/>
              <a:t>EviGen</a:t>
            </a:r>
            <a:endParaRPr lang="en-US" dirty="0"/>
          </a:p>
        </p:txBody>
      </p:sp>
      <p:pic>
        <p:nvPicPr>
          <p:cNvPr id="4" name="Picture 3">
            <a:extLst>
              <a:ext uri="{FF2B5EF4-FFF2-40B4-BE49-F238E27FC236}">
                <a16:creationId xmlns:a16="http://schemas.microsoft.com/office/drawing/2014/main" id="{8312EB63-EAAE-B2E7-6787-C1A6089F66FC}"/>
              </a:ext>
            </a:extLst>
          </p:cNvPr>
          <p:cNvPicPr>
            <a:picLocks noChangeAspect="1"/>
          </p:cNvPicPr>
          <p:nvPr/>
        </p:nvPicPr>
        <p:blipFill>
          <a:blip r:embed="rId2"/>
          <a:stretch>
            <a:fillRect/>
          </a:stretch>
        </p:blipFill>
        <p:spPr>
          <a:xfrm>
            <a:off x="4572000" y="359126"/>
            <a:ext cx="3580193" cy="4425248"/>
          </a:xfrm>
          <a:prstGeom prst="rect">
            <a:avLst/>
          </a:prstGeom>
        </p:spPr>
      </p:pic>
      <p:sp>
        <p:nvSpPr>
          <p:cNvPr id="6" name="TextBox 5">
            <a:extLst>
              <a:ext uri="{FF2B5EF4-FFF2-40B4-BE49-F238E27FC236}">
                <a16:creationId xmlns:a16="http://schemas.microsoft.com/office/drawing/2014/main" id="{B895DDD4-1B26-D74A-26F9-8893B52518D6}"/>
              </a:ext>
            </a:extLst>
          </p:cNvPr>
          <p:cNvSpPr txBox="1"/>
          <p:nvPr/>
        </p:nvSpPr>
        <p:spPr>
          <a:xfrm>
            <a:off x="628650" y="1125200"/>
            <a:ext cx="2954594" cy="2246769"/>
          </a:xfrm>
          <a:prstGeom prst="rect">
            <a:avLst/>
          </a:prstGeom>
          <a:noFill/>
        </p:spPr>
        <p:txBody>
          <a:bodyPr wrap="square">
            <a:spAutoFit/>
          </a:bodyPr>
          <a:lstStyle/>
          <a:p>
            <a:pPr>
              <a:buNone/>
            </a:pPr>
            <a:r>
              <a:rPr lang="en-US" sz="1400" b="1" dirty="0">
                <a:effectLst/>
                <a:latin typeface="NimbusRomNo9L"/>
              </a:rPr>
              <a:t>Quantitative Elements:</a:t>
            </a:r>
          </a:p>
          <a:p>
            <a:pPr>
              <a:buNone/>
            </a:pPr>
            <a:endParaRPr lang="en-US" sz="1400" b="1" dirty="0">
              <a:latin typeface="NimbusRomNo9L"/>
            </a:endParaRPr>
          </a:p>
          <a:p>
            <a:pPr marL="285750" indent="-285750">
              <a:buFontTx/>
              <a:buChar char="-"/>
            </a:pPr>
            <a:r>
              <a:rPr lang="en-US" sz="1400" dirty="0">
                <a:latin typeface="NimbusRomNo9L"/>
              </a:rPr>
              <a:t>Is the supporting evidence faithfully cited?</a:t>
            </a:r>
          </a:p>
          <a:p>
            <a:pPr marL="285750" indent="-285750">
              <a:buFontTx/>
              <a:buChar char="-"/>
            </a:pPr>
            <a:endParaRPr lang="en-US" sz="1400" dirty="0">
              <a:effectLst/>
              <a:latin typeface="NimbusRomNo9L"/>
            </a:endParaRPr>
          </a:p>
          <a:p>
            <a:pPr marL="285750" indent="-285750">
              <a:buFontTx/>
              <a:buChar char="-"/>
            </a:pPr>
            <a:r>
              <a:rPr lang="en-US" sz="1400" dirty="0">
                <a:latin typeface="NimbusRomNo9L"/>
              </a:rPr>
              <a:t>Are there any hallucinations?</a:t>
            </a:r>
          </a:p>
          <a:p>
            <a:pPr marL="285750" indent="-285750">
              <a:buFontTx/>
              <a:buChar char="-"/>
            </a:pPr>
            <a:endParaRPr lang="en-US" sz="1400" dirty="0">
              <a:effectLst/>
              <a:latin typeface="NimbusRomNo9L"/>
            </a:endParaRPr>
          </a:p>
          <a:p>
            <a:pPr marL="285750" indent="-285750">
              <a:buFontTx/>
              <a:buChar char="-"/>
            </a:pPr>
            <a:r>
              <a:rPr lang="en-US" sz="1400" dirty="0">
                <a:effectLst/>
                <a:latin typeface="NimbusRomNo9L"/>
              </a:rPr>
              <a:t>(arguable) Does the reasoning follow from the supporting evidence?</a:t>
            </a:r>
          </a:p>
        </p:txBody>
      </p:sp>
      <p:sp>
        <p:nvSpPr>
          <p:cNvPr id="3" name="TextBox 2">
            <a:extLst>
              <a:ext uri="{FF2B5EF4-FFF2-40B4-BE49-F238E27FC236}">
                <a16:creationId xmlns:a16="http://schemas.microsoft.com/office/drawing/2014/main" id="{1BEA7167-5B62-E672-5AB0-F39A9B35128B}"/>
              </a:ext>
            </a:extLst>
          </p:cNvPr>
          <p:cNvSpPr txBox="1"/>
          <p:nvPr/>
        </p:nvSpPr>
        <p:spPr>
          <a:xfrm>
            <a:off x="628650" y="4253437"/>
            <a:ext cx="3314085" cy="369332"/>
          </a:xfrm>
          <a:prstGeom prst="rect">
            <a:avLst/>
          </a:prstGeom>
          <a:noFill/>
        </p:spPr>
        <p:txBody>
          <a:bodyPr wrap="square" rtlCol="0">
            <a:spAutoFit/>
          </a:bodyPr>
          <a:lstStyle/>
          <a:p>
            <a:r>
              <a:rPr lang="en-US" dirty="0">
                <a:solidFill>
                  <a:schemeClr val="accent2"/>
                </a:solidFill>
              </a:rPr>
              <a:t>How would you evaluate this?</a:t>
            </a:r>
          </a:p>
        </p:txBody>
      </p:sp>
    </p:spTree>
    <p:extLst>
      <p:ext uri="{BB962C8B-B14F-4D97-AF65-F5344CB8AC3E}">
        <p14:creationId xmlns:p14="http://schemas.microsoft.com/office/powerpoint/2010/main" val="42197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BAD0A-1F8F-1255-F62F-3B8827C8D4BC}"/>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29142B5C-8587-1FC8-C6BE-2A099740DD57}"/>
              </a:ext>
            </a:extLst>
          </p:cNvPr>
          <p:cNvPicPr>
            <a:picLocks noChangeAspect="1"/>
          </p:cNvPicPr>
          <p:nvPr/>
        </p:nvPicPr>
        <p:blipFill>
          <a:blip r:embed="rId2"/>
          <a:stretch>
            <a:fillRect/>
          </a:stretch>
        </p:blipFill>
        <p:spPr>
          <a:xfrm>
            <a:off x="3610303" y="1022555"/>
            <a:ext cx="5101691" cy="3847101"/>
          </a:xfrm>
          <a:prstGeom prst="rect">
            <a:avLst/>
          </a:prstGeom>
          <a:ln>
            <a:solidFill>
              <a:schemeClr val="tx1"/>
            </a:solidFill>
          </a:ln>
        </p:spPr>
      </p:pic>
      <p:sp>
        <p:nvSpPr>
          <p:cNvPr id="9" name="Title 1">
            <a:extLst>
              <a:ext uri="{FF2B5EF4-FFF2-40B4-BE49-F238E27FC236}">
                <a16:creationId xmlns:a16="http://schemas.microsoft.com/office/drawing/2014/main" id="{E5CD4473-EE53-BFAC-99C0-80189F4F1E24}"/>
              </a:ext>
            </a:extLst>
          </p:cNvPr>
          <p:cNvSpPr>
            <a:spLocks noGrp="1"/>
          </p:cNvSpPr>
          <p:nvPr>
            <p:ph type="title"/>
          </p:nvPr>
        </p:nvSpPr>
        <p:spPr>
          <a:xfrm>
            <a:off x="628650" y="273844"/>
            <a:ext cx="7886700" cy="994172"/>
          </a:xfrm>
        </p:spPr>
        <p:txBody>
          <a:bodyPr/>
          <a:lstStyle/>
          <a:p>
            <a:r>
              <a:rPr lang="en-US" dirty="0"/>
              <a:t>Example: </a:t>
            </a:r>
            <a:r>
              <a:rPr lang="en-US" dirty="0" err="1"/>
              <a:t>EviGen</a:t>
            </a:r>
            <a:endParaRPr lang="en-US" dirty="0"/>
          </a:p>
        </p:txBody>
      </p:sp>
      <p:sp>
        <p:nvSpPr>
          <p:cNvPr id="11" name="TextBox 10">
            <a:extLst>
              <a:ext uri="{FF2B5EF4-FFF2-40B4-BE49-F238E27FC236}">
                <a16:creationId xmlns:a16="http://schemas.microsoft.com/office/drawing/2014/main" id="{DB94BAF8-6348-EF5D-8941-F0FEB872D9B5}"/>
              </a:ext>
            </a:extLst>
          </p:cNvPr>
          <p:cNvSpPr txBox="1"/>
          <p:nvPr/>
        </p:nvSpPr>
        <p:spPr>
          <a:xfrm>
            <a:off x="628650" y="1573125"/>
            <a:ext cx="2587140" cy="2893100"/>
          </a:xfrm>
          <a:prstGeom prst="rect">
            <a:avLst/>
          </a:prstGeom>
          <a:noFill/>
        </p:spPr>
        <p:txBody>
          <a:bodyPr wrap="square">
            <a:spAutoFit/>
          </a:bodyPr>
          <a:lstStyle/>
          <a:p>
            <a:pPr>
              <a:buNone/>
            </a:pPr>
            <a:r>
              <a:rPr lang="en-US" sz="1400" b="1" dirty="0">
                <a:effectLst/>
                <a:latin typeface="NimbusRomNo9L"/>
              </a:rPr>
              <a:t>Figure 4:</a:t>
            </a:r>
            <a:r>
              <a:rPr lang="en-US" sz="1400" dirty="0">
                <a:effectLst/>
                <a:latin typeface="NimbusRomNo9L"/>
              </a:rPr>
              <a:t> Complete EVIGEN-generated rationale (mortality task) with verifier step-level verification overlay. The verifier flags Factor 1 as a possible hallucination: the cited quote supports the weight fluctuation but does not mention the “declining exercise tolerance” that appears in the factor summary and reasoning. The bottom status line summarizes per-step verification results. </a:t>
            </a:r>
            <a:endParaRPr lang="en-US" sz="1400" dirty="0"/>
          </a:p>
        </p:txBody>
      </p:sp>
    </p:spTree>
    <p:extLst>
      <p:ext uri="{BB962C8B-B14F-4D97-AF65-F5344CB8AC3E}">
        <p14:creationId xmlns:p14="http://schemas.microsoft.com/office/powerpoint/2010/main" val="39293991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87661-D612-C200-F171-0EAA275FA904}"/>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B12945D4-6158-B7BA-BBEA-7E3FEAEA02A4}"/>
              </a:ext>
            </a:extLst>
          </p:cNvPr>
          <p:cNvPicPr>
            <a:picLocks noChangeAspect="1"/>
          </p:cNvPicPr>
          <p:nvPr/>
        </p:nvPicPr>
        <p:blipFill>
          <a:blip r:embed="rId2"/>
          <a:stretch>
            <a:fillRect/>
          </a:stretch>
        </p:blipFill>
        <p:spPr>
          <a:xfrm>
            <a:off x="3610303" y="1022555"/>
            <a:ext cx="5101691" cy="3847101"/>
          </a:xfrm>
          <a:prstGeom prst="rect">
            <a:avLst/>
          </a:prstGeom>
          <a:ln>
            <a:solidFill>
              <a:schemeClr val="tx1"/>
            </a:solidFill>
          </a:ln>
        </p:spPr>
      </p:pic>
      <p:sp>
        <p:nvSpPr>
          <p:cNvPr id="9" name="Title 1">
            <a:extLst>
              <a:ext uri="{FF2B5EF4-FFF2-40B4-BE49-F238E27FC236}">
                <a16:creationId xmlns:a16="http://schemas.microsoft.com/office/drawing/2014/main" id="{D54ED480-8FBB-2925-06AB-DEF1ACF79F21}"/>
              </a:ext>
            </a:extLst>
          </p:cNvPr>
          <p:cNvSpPr>
            <a:spLocks noGrp="1"/>
          </p:cNvSpPr>
          <p:nvPr>
            <p:ph type="title"/>
          </p:nvPr>
        </p:nvSpPr>
        <p:spPr>
          <a:xfrm>
            <a:off x="628650" y="273844"/>
            <a:ext cx="7886700" cy="994172"/>
          </a:xfrm>
        </p:spPr>
        <p:txBody>
          <a:bodyPr/>
          <a:lstStyle/>
          <a:p>
            <a:r>
              <a:rPr lang="en-US" dirty="0"/>
              <a:t>Example: </a:t>
            </a:r>
            <a:r>
              <a:rPr lang="en-US" dirty="0" err="1"/>
              <a:t>EviGen</a:t>
            </a:r>
            <a:endParaRPr lang="en-US" dirty="0"/>
          </a:p>
        </p:txBody>
      </p:sp>
      <p:sp>
        <p:nvSpPr>
          <p:cNvPr id="11" name="TextBox 10">
            <a:extLst>
              <a:ext uri="{FF2B5EF4-FFF2-40B4-BE49-F238E27FC236}">
                <a16:creationId xmlns:a16="http://schemas.microsoft.com/office/drawing/2014/main" id="{420D9A32-2D8A-A864-6AED-471E490C1C68}"/>
              </a:ext>
            </a:extLst>
          </p:cNvPr>
          <p:cNvSpPr txBox="1"/>
          <p:nvPr/>
        </p:nvSpPr>
        <p:spPr>
          <a:xfrm>
            <a:off x="628650" y="1573125"/>
            <a:ext cx="2587140" cy="2893100"/>
          </a:xfrm>
          <a:prstGeom prst="rect">
            <a:avLst/>
          </a:prstGeom>
          <a:noFill/>
        </p:spPr>
        <p:txBody>
          <a:bodyPr wrap="square">
            <a:spAutoFit/>
          </a:bodyPr>
          <a:lstStyle/>
          <a:p>
            <a:pPr>
              <a:buNone/>
            </a:pPr>
            <a:r>
              <a:rPr lang="en-US" sz="1400" b="1" dirty="0">
                <a:effectLst/>
                <a:latin typeface="NimbusRomNo9L"/>
              </a:rPr>
              <a:t>Figure 4:</a:t>
            </a:r>
            <a:r>
              <a:rPr lang="en-US" sz="1400" dirty="0">
                <a:effectLst/>
                <a:latin typeface="NimbusRomNo9L"/>
              </a:rPr>
              <a:t> Complete EVIGEN-generated rationale (mortality task) with verifier step-level verification overlay. The verifier flags Factor 1 as a possible hallucination: the cited quote supports the weight fluctuation but does not mention the “declining exercise tolerance” that appears in the factor summary and reasoning. The bottom status line summarizes per-step verification results. </a:t>
            </a:r>
            <a:endParaRPr lang="en-US" sz="1400" dirty="0"/>
          </a:p>
        </p:txBody>
      </p:sp>
    </p:spTree>
    <p:extLst>
      <p:ext uri="{BB962C8B-B14F-4D97-AF65-F5344CB8AC3E}">
        <p14:creationId xmlns:p14="http://schemas.microsoft.com/office/powerpoint/2010/main" val="10484958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A6F38-7DD4-39F0-D7AC-48FCB6939FF6}"/>
              </a:ext>
            </a:extLst>
          </p:cNvPr>
          <p:cNvSpPr>
            <a:spLocks noGrp="1"/>
          </p:cNvSpPr>
          <p:nvPr>
            <p:ph type="title"/>
          </p:nvPr>
        </p:nvSpPr>
        <p:spPr/>
        <p:txBody>
          <a:bodyPr/>
          <a:lstStyle/>
          <a:p>
            <a:r>
              <a:rPr lang="en-US" dirty="0"/>
              <a:t>Example: </a:t>
            </a:r>
            <a:r>
              <a:rPr lang="en-US" dirty="0" err="1"/>
              <a:t>EviGen</a:t>
            </a:r>
            <a:endParaRPr lang="en-US" dirty="0"/>
          </a:p>
        </p:txBody>
      </p:sp>
      <p:pic>
        <p:nvPicPr>
          <p:cNvPr id="4" name="Picture 3">
            <a:extLst>
              <a:ext uri="{FF2B5EF4-FFF2-40B4-BE49-F238E27FC236}">
                <a16:creationId xmlns:a16="http://schemas.microsoft.com/office/drawing/2014/main" id="{868507C7-B4EC-81CA-480D-6B2BD2B0C2A6}"/>
              </a:ext>
            </a:extLst>
          </p:cNvPr>
          <p:cNvPicPr>
            <a:picLocks noChangeAspect="1"/>
          </p:cNvPicPr>
          <p:nvPr/>
        </p:nvPicPr>
        <p:blipFill>
          <a:blip r:embed="rId2"/>
          <a:stretch>
            <a:fillRect/>
          </a:stretch>
        </p:blipFill>
        <p:spPr>
          <a:xfrm>
            <a:off x="3944175" y="329878"/>
            <a:ext cx="4710071" cy="4483743"/>
          </a:xfrm>
          <a:prstGeom prst="rect">
            <a:avLst/>
          </a:prstGeom>
        </p:spPr>
      </p:pic>
      <p:sp>
        <p:nvSpPr>
          <p:cNvPr id="6" name="TextBox 5">
            <a:extLst>
              <a:ext uri="{FF2B5EF4-FFF2-40B4-BE49-F238E27FC236}">
                <a16:creationId xmlns:a16="http://schemas.microsoft.com/office/drawing/2014/main" id="{9E5A3ED6-EF4D-879B-500E-EF1CDFA414C8}"/>
              </a:ext>
            </a:extLst>
          </p:cNvPr>
          <p:cNvSpPr txBox="1"/>
          <p:nvPr/>
        </p:nvSpPr>
        <p:spPr>
          <a:xfrm>
            <a:off x="628650" y="1705528"/>
            <a:ext cx="2763479" cy="2305014"/>
          </a:xfrm>
          <a:prstGeom prst="rect">
            <a:avLst/>
          </a:prstGeom>
          <a:noFill/>
        </p:spPr>
        <p:txBody>
          <a:bodyPr wrap="square">
            <a:spAutoFit/>
          </a:bodyPr>
          <a:lstStyle/>
          <a:p>
            <a:pPr>
              <a:buNone/>
            </a:pPr>
            <a:r>
              <a:rPr lang="en-US" sz="1400" b="1" dirty="0">
                <a:effectLst/>
                <a:latin typeface="NimbusRomNo9L"/>
              </a:rPr>
              <a:t>Table 14: </a:t>
            </a:r>
            <a:r>
              <a:rPr lang="en-US" sz="1400" b="1" u="sng" dirty="0">
                <a:effectLst/>
                <a:latin typeface="NimbusRomNo9L"/>
              </a:rPr>
              <a:t>Clinical reviewer survey</a:t>
            </a:r>
            <a:r>
              <a:rPr lang="en-US" sz="1400" dirty="0">
                <a:effectLst/>
                <a:latin typeface="NimbusRomNo9L"/>
              </a:rPr>
              <a:t> items, grouped by source scale. Each reviewer rated each item on a 5-point Likert scale (1 = Strongly Disagree, 5 = Strongly Agree). The placeholder </a:t>
            </a:r>
            <a:r>
              <a:rPr lang="en-US" sz="1400" dirty="0">
                <a:effectLst/>
                <a:latin typeface="Inconsolatazi4"/>
              </a:rPr>
              <a:t>[System] </a:t>
            </a:r>
            <a:r>
              <a:rPr lang="en-US" sz="1400" dirty="0">
                <a:effectLst/>
                <a:latin typeface="NimbusRomNo9L"/>
              </a:rPr>
              <a:t>is substituted with the method being rated (EVIGEN, the standard LLM rationale, or the raw Evidence Selection Layer output). </a:t>
            </a:r>
            <a:endParaRPr lang="en-US" sz="1400" dirty="0"/>
          </a:p>
        </p:txBody>
      </p:sp>
    </p:spTree>
    <p:extLst>
      <p:ext uri="{BB962C8B-B14F-4D97-AF65-F5344CB8AC3E}">
        <p14:creationId xmlns:p14="http://schemas.microsoft.com/office/powerpoint/2010/main" val="20021883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7DDB6-6735-564F-01A8-9FA10AA5F8F2}"/>
            </a:ext>
          </a:extLst>
        </p:cNvPr>
        <p:cNvGrpSpPr/>
        <p:nvPr/>
      </p:nvGrpSpPr>
      <p:grpSpPr>
        <a:xfrm>
          <a:off x="0" y="0"/>
          <a:ext cx="0" cy="0"/>
          <a:chOff x="0" y="0"/>
          <a:chExt cx="0" cy="0"/>
        </a:xfrm>
      </p:grpSpPr>
      <p:pic>
        <p:nvPicPr>
          <p:cNvPr id="12" name="Picture 11" descr="A close-up of a computer&#10;&#10;AI-generated content may be incorrect.">
            <a:extLst>
              <a:ext uri="{FF2B5EF4-FFF2-40B4-BE49-F238E27FC236}">
                <a16:creationId xmlns:a16="http://schemas.microsoft.com/office/drawing/2014/main" id="{E38F519C-B9DC-1521-622E-558C6A14FAAB}"/>
              </a:ext>
            </a:extLst>
          </p:cNvPr>
          <p:cNvPicPr>
            <a:picLocks noChangeAspect="1"/>
          </p:cNvPicPr>
          <p:nvPr/>
        </p:nvPicPr>
        <p:blipFill>
          <a:blip r:embed="rId2"/>
          <a:stretch>
            <a:fillRect/>
          </a:stretch>
        </p:blipFill>
        <p:spPr>
          <a:xfrm>
            <a:off x="435894" y="1554313"/>
            <a:ext cx="5829300" cy="2469098"/>
          </a:xfrm>
          <a:prstGeom prst="rect">
            <a:avLst/>
          </a:prstGeom>
          <a:ln w="19050">
            <a:solidFill>
              <a:srgbClr val="E93B79"/>
            </a:solidFill>
          </a:ln>
        </p:spPr>
      </p:pic>
      <p:pic>
        <p:nvPicPr>
          <p:cNvPr id="13" name="Picture 12" descr="A white background with black text&#10;&#10;AI-generated content may be incorrect.">
            <a:extLst>
              <a:ext uri="{FF2B5EF4-FFF2-40B4-BE49-F238E27FC236}">
                <a16:creationId xmlns:a16="http://schemas.microsoft.com/office/drawing/2014/main" id="{37AC3C82-AE5A-6166-1399-162681995B9E}"/>
              </a:ext>
            </a:extLst>
          </p:cNvPr>
          <p:cNvPicPr>
            <a:picLocks noChangeAspect="1"/>
          </p:cNvPicPr>
          <p:nvPr/>
        </p:nvPicPr>
        <p:blipFill>
          <a:blip r:embed="rId3"/>
          <a:stretch>
            <a:fillRect/>
          </a:stretch>
        </p:blipFill>
        <p:spPr>
          <a:xfrm>
            <a:off x="2878806" y="2385759"/>
            <a:ext cx="5829300" cy="2483789"/>
          </a:xfrm>
          <a:prstGeom prst="rect">
            <a:avLst/>
          </a:prstGeom>
          <a:ln w="19050">
            <a:solidFill>
              <a:srgbClr val="E93B79"/>
            </a:solidFill>
          </a:ln>
        </p:spPr>
      </p:pic>
      <p:sp>
        <p:nvSpPr>
          <p:cNvPr id="4" name="Title 3">
            <a:extLst>
              <a:ext uri="{FF2B5EF4-FFF2-40B4-BE49-F238E27FC236}">
                <a16:creationId xmlns:a16="http://schemas.microsoft.com/office/drawing/2014/main" id="{E097DE54-55B3-F3F4-46CF-CC404ADF5666}"/>
              </a:ext>
            </a:extLst>
          </p:cNvPr>
          <p:cNvSpPr>
            <a:spLocks noGrp="1"/>
          </p:cNvSpPr>
          <p:nvPr>
            <p:ph type="title"/>
          </p:nvPr>
        </p:nvSpPr>
        <p:spPr/>
        <p:txBody>
          <a:bodyPr/>
          <a:lstStyle/>
          <a:p>
            <a:r>
              <a:rPr lang="en-US" dirty="0"/>
              <a:t>Good performance (intrinsic eval) doesn’t always mean positive impact (extrinsic eval)</a:t>
            </a:r>
          </a:p>
        </p:txBody>
      </p:sp>
    </p:spTree>
    <p:extLst>
      <p:ext uri="{BB962C8B-B14F-4D97-AF65-F5344CB8AC3E}">
        <p14:creationId xmlns:p14="http://schemas.microsoft.com/office/powerpoint/2010/main" val="3496610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1BDE8-E0D0-3ADB-D981-F396919A8C9E}"/>
              </a:ext>
            </a:extLst>
          </p:cNvPr>
          <p:cNvSpPr>
            <a:spLocks noGrp="1"/>
          </p:cNvSpPr>
          <p:nvPr>
            <p:ph type="title"/>
          </p:nvPr>
        </p:nvSpPr>
        <p:spPr/>
        <p:txBody>
          <a:bodyPr/>
          <a:lstStyle/>
          <a:p>
            <a:r>
              <a:rPr lang="en-US" dirty="0"/>
              <a:t>Discussion: performance versus impact</a:t>
            </a:r>
          </a:p>
        </p:txBody>
      </p:sp>
      <p:sp>
        <p:nvSpPr>
          <p:cNvPr id="3" name="Content Placeholder 2">
            <a:extLst>
              <a:ext uri="{FF2B5EF4-FFF2-40B4-BE49-F238E27FC236}">
                <a16:creationId xmlns:a16="http://schemas.microsoft.com/office/drawing/2014/main" id="{CE43BDB6-B85C-1A69-AA0C-189FA68097D6}"/>
              </a:ext>
            </a:extLst>
          </p:cNvPr>
          <p:cNvSpPr>
            <a:spLocks noGrp="1"/>
          </p:cNvSpPr>
          <p:nvPr>
            <p:ph idx="1"/>
          </p:nvPr>
        </p:nvSpPr>
        <p:spPr/>
        <p:txBody>
          <a:bodyPr/>
          <a:lstStyle/>
          <a:p>
            <a:pPr marL="0" indent="0">
              <a:buNone/>
            </a:pPr>
            <a:r>
              <a:rPr lang="en-US" u="sng" dirty="0"/>
              <a:t>Possible discussion areas</a:t>
            </a:r>
            <a:r>
              <a:rPr lang="en-US" dirty="0"/>
              <a:t>:</a:t>
            </a:r>
          </a:p>
          <a:p>
            <a:endParaRPr lang="en-US" dirty="0"/>
          </a:p>
          <a:p>
            <a:r>
              <a:rPr lang="en-US" dirty="0"/>
              <a:t>Lessons from Dr. Poon’s lecture</a:t>
            </a:r>
          </a:p>
          <a:p>
            <a:r>
              <a:rPr lang="en-US" dirty="0"/>
              <a:t>Experiences with systems that performed well but weren’t useful</a:t>
            </a:r>
          </a:p>
          <a:p>
            <a:r>
              <a:rPr lang="en-US" dirty="0"/>
              <a:t>Streamlining the process and science of implementation</a:t>
            </a:r>
          </a:p>
        </p:txBody>
      </p:sp>
    </p:spTree>
    <p:extLst>
      <p:ext uri="{BB962C8B-B14F-4D97-AF65-F5344CB8AC3E}">
        <p14:creationId xmlns:p14="http://schemas.microsoft.com/office/powerpoint/2010/main" val="11094665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CAA21-D45C-A58E-C2D9-0EB4D1D583C0}"/>
              </a:ext>
            </a:extLst>
          </p:cNvPr>
          <p:cNvSpPr>
            <a:spLocks noGrp="1"/>
          </p:cNvSpPr>
          <p:nvPr>
            <p:ph type="title"/>
          </p:nvPr>
        </p:nvSpPr>
        <p:spPr/>
        <p:txBody>
          <a:bodyPr/>
          <a:lstStyle/>
          <a:p>
            <a:r>
              <a:rPr lang="en-US" dirty="0"/>
              <a:t>How to evaluate generative LLMs is very much a work in progress</a:t>
            </a:r>
          </a:p>
        </p:txBody>
      </p:sp>
      <p:pic>
        <p:nvPicPr>
          <p:cNvPr id="3074" name="Picture 2">
            <a:extLst>
              <a:ext uri="{FF2B5EF4-FFF2-40B4-BE49-F238E27FC236}">
                <a16:creationId xmlns:a16="http://schemas.microsoft.com/office/drawing/2014/main" id="{D90E9FDF-5609-18C3-5497-82431609A2B7}"/>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476018" y="1470017"/>
            <a:ext cx="5162144" cy="290370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1BABE78-3B6D-99B5-2D14-AB974FF6C022}"/>
              </a:ext>
            </a:extLst>
          </p:cNvPr>
          <p:cNvSpPr txBox="1"/>
          <p:nvPr/>
        </p:nvSpPr>
        <p:spPr>
          <a:xfrm>
            <a:off x="505838" y="1470017"/>
            <a:ext cx="2639439" cy="3046988"/>
          </a:xfrm>
          <a:prstGeom prst="rect">
            <a:avLst/>
          </a:prstGeom>
          <a:noFill/>
        </p:spPr>
        <p:txBody>
          <a:bodyPr wrap="square" rtlCol="0">
            <a:spAutoFit/>
          </a:bodyPr>
          <a:lstStyle/>
          <a:p>
            <a:r>
              <a:rPr lang="en-US" sz="1600" u="sng" dirty="0"/>
              <a:t>Additional open questions include</a:t>
            </a:r>
            <a:r>
              <a:rPr lang="en-US" sz="1600" dirty="0"/>
              <a:t>:</a:t>
            </a:r>
          </a:p>
          <a:p>
            <a:endParaRPr lang="en-US" sz="1600" dirty="0"/>
          </a:p>
          <a:p>
            <a:pPr marL="285750" indent="-285750">
              <a:buFontTx/>
              <a:buChar char="-"/>
            </a:pPr>
            <a:r>
              <a:rPr lang="en-US" sz="1600" dirty="0"/>
              <a:t>Can we trust models to evaluate other models?</a:t>
            </a:r>
          </a:p>
          <a:p>
            <a:pPr marL="285750" indent="-285750">
              <a:buFontTx/>
              <a:buChar char="-"/>
            </a:pPr>
            <a:endParaRPr lang="en-US" sz="1600" dirty="0"/>
          </a:p>
          <a:p>
            <a:pPr marL="285750" indent="-285750">
              <a:buFontTx/>
              <a:buChar char="-"/>
            </a:pPr>
            <a:r>
              <a:rPr lang="en-US" sz="1600" dirty="0"/>
              <a:t>How can models </a:t>
            </a:r>
            <a:r>
              <a:rPr lang="en-US" sz="1600" i="1" dirty="0"/>
              <a:t>learn when to defer </a:t>
            </a:r>
            <a:r>
              <a:rPr lang="en-US" sz="1600" dirty="0"/>
              <a:t>to human experts?</a:t>
            </a:r>
          </a:p>
          <a:p>
            <a:pPr marL="285750" indent="-285750">
              <a:buFontTx/>
              <a:buChar char="-"/>
            </a:pPr>
            <a:endParaRPr lang="en-US" sz="1600" dirty="0"/>
          </a:p>
          <a:p>
            <a:pPr marL="285750" indent="-285750">
              <a:buFontTx/>
              <a:buChar char="-"/>
            </a:pPr>
            <a:r>
              <a:rPr lang="en-US" sz="1600" dirty="0"/>
              <a:t>How can we identify LLM biases?</a:t>
            </a:r>
          </a:p>
        </p:txBody>
      </p:sp>
    </p:spTree>
    <p:extLst>
      <p:ext uri="{BB962C8B-B14F-4D97-AF65-F5344CB8AC3E}">
        <p14:creationId xmlns:p14="http://schemas.microsoft.com/office/powerpoint/2010/main" val="3639189315"/>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20C20ED-7DC6-FA46-9DC3-473E7616BF38}">
  <we:reference id="wa104380121" version="2.0.0.0" store="en-US" storeType="OMEX"/>
  <we:alternateReferences>
    <we:reference id="wa104380121" version="2.0.0.0" store="WA104380121"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13308</TotalTime>
  <Words>4290</Words>
  <Application>Microsoft Macintosh PowerPoint</Application>
  <PresentationFormat>On-screen Show (16:9)</PresentationFormat>
  <Paragraphs>281</Paragraphs>
  <Slides>30</Slides>
  <Notes>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30</vt:i4>
      </vt:variant>
    </vt:vector>
  </HeadingPairs>
  <TitlesOfParts>
    <vt:vector size="38" baseType="lpstr">
      <vt:lpstr>Arial</vt:lpstr>
      <vt:lpstr>Calibri</vt:lpstr>
      <vt:lpstr>Cambria Math</vt:lpstr>
      <vt:lpstr>Inconsolatazi4</vt:lpstr>
      <vt:lpstr>NimbusRomNo9L</vt:lpstr>
      <vt:lpstr>Times New Roman</vt:lpstr>
      <vt:lpstr>1_Office Theme</vt:lpstr>
      <vt:lpstr>2_Office Theme</vt:lpstr>
      <vt:lpstr>Understanding and evaluating large language models </vt:lpstr>
      <vt:lpstr>LLMs are initially trained to predict the next word</vt:lpstr>
      <vt:lpstr>They’re then fine-tuned to match our preferences</vt:lpstr>
      <vt:lpstr>LLM training does not ensure content is accurate</vt:lpstr>
      <vt:lpstr>What is RAG, and why can results be misleading?</vt:lpstr>
      <vt:lpstr>RAG augments LLMs with external knowledge</vt:lpstr>
      <vt:lpstr>RAG is biased toward supporting the query</vt:lpstr>
      <vt:lpstr>A primer on LLM evaluation</vt:lpstr>
      <vt:lpstr>Predictive AI: compare predictions to labels</vt:lpstr>
      <vt:lpstr>Predictive AI: compare predictions to labels</vt:lpstr>
      <vt:lpstr>Generative AI: compare generated text with ground truth response</vt:lpstr>
      <vt:lpstr>Generative AI: compare generated text with ground truth response</vt:lpstr>
      <vt:lpstr>How do we compare?</vt:lpstr>
      <vt:lpstr>Idea 1: Quantify the degree to which word sequences match directly</vt:lpstr>
      <vt:lpstr>Idea 1: Quantify the degree to which word sequences match directly</vt:lpstr>
      <vt:lpstr>Idea 2: Evaluate specific attributes (via human evaluator or preference model)</vt:lpstr>
      <vt:lpstr>Idea 2: Evaluate specific attributes (via human evaluator or preference model)</vt:lpstr>
      <vt:lpstr>Idea 2: Evaluate specific attributes (via human evaluator or preference model)</vt:lpstr>
      <vt:lpstr>Idea 3: Use a rubric! -&gt; this allows scalable, LLM-based evaluation</vt:lpstr>
      <vt:lpstr>Idea 3: Use a rubric! -&gt; this allows scalable, LLM-based evaluation -&gt; can be written by clinician, or by an LLM based on a ground truth answer</vt:lpstr>
      <vt:lpstr>Idea 3: Use a rubric! -&gt; this allows scalable, LLM-based evaluation -&gt; can be written by clinician, or by an LLM based on a ground truth answer</vt:lpstr>
      <vt:lpstr>Example: EviGen</vt:lpstr>
      <vt:lpstr>Example: EviGen</vt:lpstr>
      <vt:lpstr>Example: EviGen</vt:lpstr>
      <vt:lpstr>Example: EviGen</vt:lpstr>
      <vt:lpstr>Example: EviGen</vt:lpstr>
      <vt:lpstr>Example: EviGen</vt:lpstr>
      <vt:lpstr>Good performance (intrinsic eval) doesn’t always mean positive impact (extrinsic eval)</vt:lpstr>
      <vt:lpstr>Discussion: performance versus impact</vt:lpstr>
      <vt:lpstr>How to evaluate generative LLMs is very much a work in progress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 Carlson, Ph.D.</dc:creator>
  <cp:lastModifiedBy>Matthew Engelhard, M.D., Ph.D.</cp:lastModifiedBy>
  <cp:revision>392</cp:revision>
  <cp:lastPrinted>2018-06-22T18:27:38Z</cp:lastPrinted>
  <dcterms:created xsi:type="dcterms:W3CDTF">2018-06-03T14:52:22Z</dcterms:created>
  <dcterms:modified xsi:type="dcterms:W3CDTF">2026-07-11T04:03:27Z</dcterms:modified>
</cp:coreProperties>
</file>