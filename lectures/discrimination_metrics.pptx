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</p:sldMasterIdLst>
  <p:notesMasterIdLst>
    <p:notesMasterId r:id="rId58"/>
  </p:notesMasterIdLst>
  <p:sldIdLst>
    <p:sldId id="297" r:id="rId3"/>
    <p:sldId id="917" r:id="rId4"/>
    <p:sldId id="264" r:id="rId5"/>
    <p:sldId id="4367" r:id="rId6"/>
    <p:sldId id="4366" r:id="rId7"/>
    <p:sldId id="259" r:id="rId8"/>
    <p:sldId id="4391" r:id="rId9"/>
    <p:sldId id="4392" r:id="rId10"/>
    <p:sldId id="914" r:id="rId11"/>
    <p:sldId id="4368" r:id="rId12"/>
    <p:sldId id="4369" r:id="rId13"/>
    <p:sldId id="4370" r:id="rId14"/>
    <p:sldId id="911" r:id="rId15"/>
    <p:sldId id="4372" r:id="rId16"/>
    <p:sldId id="4371" r:id="rId17"/>
    <p:sldId id="4373" r:id="rId18"/>
    <p:sldId id="913" r:id="rId19"/>
    <p:sldId id="888" r:id="rId20"/>
    <p:sldId id="880" r:id="rId21"/>
    <p:sldId id="910" r:id="rId22"/>
    <p:sldId id="4376" r:id="rId23"/>
    <p:sldId id="912" r:id="rId24"/>
    <p:sldId id="875" r:id="rId25"/>
    <p:sldId id="877" r:id="rId26"/>
    <p:sldId id="916" r:id="rId27"/>
    <p:sldId id="4374" r:id="rId28"/>
    <p:sldId id="4375" r:id="rId29"/>
    <p:sldId id="892" r:id="rId30"/>
    <p:sldId id="893" r:id="rId31"/>
    <p:sldId id="894" r:id="rId32"/>
    <p:sldId id="900" r:id="rId33"/>
    <p:sldId id="901" r:id="rId34"/>
    <p:sldId id="895" r:id="rId35"/>
    <p:sldId id="902" r:id="rId36"/>
    <p:sldId id="897" r:id="rId37"/>
    <p:sldId id="903" r:id="rId38"/>
    <p:sldId id="899" r:id="rId39"/>
    <p:sldId id="904" r:id="rId40"/>
    <p:sldId id="905" r:id="rId41"/>
    <p:sldId id="4377" r:id="rId42"/>
    <p:sldId id="4378" r:id="rId43"/>
    <p:sldId id="4379" r:id="rId44"/>
    <p:sldId id="4380" r:id="rId45"/>
    <p:sldId id="4382" r:id="rId46"/>
    <p:sldId id="857" r:id="rId47"/>
    <p:sldId id="858" r:id="rId48"/>
    <p:sldId id="859" r:id="rId49"/>
    <p:sldId id="4381" r:id="rId50"/>
    <p:sldId id="4384" r:id="rId51"/>
    <p:sldId id="4385" r:id="rId52"/>
    <p:sldId id="4386" r:id="rId53"/>
    <p:sldId id="262" r:id="rId54"/>
    <p:sldId id="4387" r:id="rId55"/>
    <p:sldId id="4388" r:id="rId56"/>
    <p:sldId id="439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0060"/>
    <a:srgbClr val="0019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93"/>
    <p:restoredTop sz="75168" autoAdjust="0"/>
  </p:normalViewPr>
  <p:slideViewPr>
    <p:cSldViewPr snapToGrid="0" snapToObjects="1">
      <p:cViewPr varScale="1">
        <p:scale>
          <a:sx n="137" d="100"/>
          <a:sy n="137" d="100"/>
        </p:scale>
        <p:origin x="1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78A03-F245-1B43-8CDE-3B027588805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BF740-D535-F744-89A8-4E42B3D6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8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Hi everybody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this lecture, we’ll be learning about measures commonly used to assess classification performance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Having an in-depth understanding of these measures is critical when evaluating a model, whether it’s one you’ve developed or one you’re reading about in a scientific article</a:t>
            </a:r>
          </a:p>
          <a:p>
            <a:pPr marL="171450" indent="-171450">
              <a:buFontTx/>
              <a:buChar char="-"/>
            </a:pPr>
            <a:r>
              <a:rPr lang="en-US" dirty="0"/>
              <a:t>Throughout the course, we’ll be thinking about what these measures mean, mathematically, as well as their practical significance in a clinical or healthcare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5F3A6-6971-5D47-A3A5-1EDC47BAF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2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want to understand how well it performs. What do you need to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51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86E4-9384-5E5D-AA7E-F62E7A0F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204A6-1FDE-DCB4-8870-599F86FDF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0F99E-6073-83C4-D0B8-D16AD5DF0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want to understand how well it performs. What do you need to know?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A2B11-34B1-E185-57D9-78997BD69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61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this number mean?</a:t>
            </a:r>
          </a:p>
          <a:p>
            <a:r>
              <a:rPr lang="en-US" dirty="0"/>
              <a:t>Is this number high? Is it low?</a:t>
            </a:r>
          </a:p>
          <a:p>
            <a:endParaRPr lang="en-US" dirty="0"/>
          </a:p>
          <a:p>
            <a:r>
              <a:rPr lang="en-US" dirty="0"/>
              <a:t>Helpful to know how this compares to other patients…</a:t>
            </a:r>
          </a:p>
          <a:p>
            <a:r>
              <a:rPr lang="en-US" dirty="0"/>
              <a:t>- overall</a:t>
            </a:r>
          </a:p>
          <a:p>
            <a:r>
              <a:rPr lang="en-US" dirty="0"/>
              <a:t>- among patients meeting specific clinical criteria</a:t>
            </a:r>
          </a:p>
          <a:p>
            <a:r>
              <a:rPr lang="en-US" dirty="0"/>
              <a:t>- among patients in a particular demographic</a:t>
            </a:r>
          </a:p>
          <a:p>
            <a:endParaRPr lang="en-US" dirty="0"/>
          </a:p>
          <a:p>
            <a:r>
              <a:rPr lang="en-US" dirty="0"/>
              <a:t>You might… use the number to decide whether to take a certain action</a:t>
            </a:r>
          </a:p>
          <a:p>
            <a:r>
              <a:rPr lang="en-US" dirty="0"/>
              <a:t>You might… use the number to provide context around disease, or to set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73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we’ll focus on discrimination metrics</a:t>
            </a:r>
          </a:p>
          <a:p>
            <a:r>
              <a:rPr lang="en-US" dirty="0"/>
              <a:t>Next time, we’ll think more about calibration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9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Why don’t people like the AUC?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40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this point you might be wondering – so, what’s a *good* AUC value?</a:t>
            </a:r>
          </a:p>
          <a:p>
            <a:endParaRPr lang="en-US" dirty="0"/>
          </a:p>
          <a:p>
            <a:r>
              <a:rPr lang="en-US" dirty="0"/>
              <a:t>But we’re going to defer that question for a moment. Let’s start by thinking about what *bad* model performance would look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58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we arrive at our no information curve, where we can vary the threshold from 0 to 1 and always get both sensitivity and false positive rate equal to 1 minus the threshold.</a:t>
            </a:r>
          </a:p>
          <a:p>
            <a:r>
              <a:rPr lang="en-US" dirty="0"/>
              <a:t>And again, the area under this curve is 0.5.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So, now we’ve seen what BAD performance looks like – namely, a diagonal line running from bottom left to top right on the ROC curve, and a corresponding AUC of 0.5.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14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15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variations on this idea</a:t>
            </a:r>
          </a:p>
          <a:p>
            <a:pPr marL="171450" indent="-171450">
              <a:buFontTx/>
              <a:buChar char="-"/>
            </a:pPr>
            <a:r>
              <a:rPr lang="en-US" dirty="0"/>
              <a:t>GAN</a:t>
            </a:r>
          </a:p>
          <a:p>
            <a:pPr marL="171450" indent="-171450">
              <a:buFontTx/>
              <a:buChar char="-"/>
            </a:pPr>
            <a:r>
              <a:rPr lang="en-US" dirty="0"/>
              <a:t>ADDA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44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Generated samples match observed data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87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as we’ve discussed, we like to be agnostic to the particular decision threshold when quantifying model performance.</a:t>
            </a:r>
          </a:p>
          <a:p>
            <a:r>
              <a:rPr lang="en-US" dirty="0"/>
              <a:t>However, to actually use predictive models in decision-making, we typically need to pick a specific threshold</a:t>
            </a:r>
          </a:p>
          <a:p>
            <a:r>
              <a:rPr lang="en-US" dirty="0"/>
              <a:t>Our choice reflects the relative cost we place on false positives versus false negatives – in other words, how much we’re worried about missing cancer versus performing unnecessary testing or interventions.</a:t>
            </a:r>
          </a:p>
          <a:p>
            <a:r>
              <a:rPr lang="en-US" dirty="0"/>
              <a:t>And of course, this will depend on the scenario. Let’s run through a few hypotheticals.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78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you were specifying a decision threshold for a computer vision model that detects carcinoma.</a:t>
            </a:r>
          </a:p>
          <a:p>
            <a:r>
              <a:rPr lang="en-US" dirty="0"/>
              <a:t>Would you be more worried about missing cancer, and therefore pick a high sensitivity threshold, or would you be more worried about unnecessary tests or intervention, and therefore pick a high specificity threshold?</a:t>
            </a:r>
          </a:p>
          <a:p>
            <a:r>
              <a:rPr lang="en-US" dirty="0"/>
              <a:t>There’s no right answer here – in reality, you’d need to understand the clinical scenario in much more detail to make this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29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Supposing you were more worried about missing cancer, you might pick a high sensitivity operating point like the one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03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an important complement to the ROC curve, therefore, we often also want to plot a precision-recall curve – in other words, a sensitivity versus PPV curve. </a:t>
            </a:r>
          </a:p>
          <a:p>
            <a:r>
              <a:rPr lang="en-US" dirty="0"/>
              <a:t>The principles are very similar to the ROC curve. If we place our threshold near 1, we catch very few cases, therefore our sensitivity is near 0; however, our PPV is high.</a:t>
            </a:r>
          </a:p>
          <a:p>
            <a:r>
              <a:rPr lang="en-US" dirty="0"/>
              <a:t>On the other hand, if we place our threshold near 0, we’re predicting that every case is positive, therefore our positive predictive value – in other words, the rate at which we observe positive cases among our predicted positive cases -- is equal to the prevalence.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90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can see our high sensitivity operating point on the precision-recall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41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suppose you were specifying a decision threshold for an algorithm that detects atrial fibrillation in Apple Watch users.</a:t>
            </a:r>
          </a:p>
          <a:p>
            <a:r>
              <a:rPr lang="en-US" dirty="0"/>
              <a:t>Apple is understandably very concerned about raising too many false alarms given the large number of individuals that wear an Apple watch, therefore they are likely to pick a high specificity threshold…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08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our high </a:t>
            </a:r>
            <a:r>
              <a:rPr lang="en-US" dirty="0" err="1"/>
              <a:t>specificitiy</a:t>
            </a:r>
            <a:r>
              <a:rPr lang="en-US" dirty="0"/>
              <a:t> operating point on the precision-recall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94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research, I consider EHR-based predictive models that monitor autism risk from a young age.</a:t>
            </a:r>
          </a:p>
          <a:p>
            <a:r>
              <a:rPr lang="en-US" dirty="0"/>
              <a:t>We are trying to identify as many children as possible as early as possible, but at the same time, there’s already a long waiting list to see a specialist, and if we create too many false alarms, we’re going to overburden the system and end up delaying diagnosis for *everyone*.</a:t>
            </a:r>
          </a:p>
          <a:p>
            <a:r>
              <a:rPr lang="en-US" dirty="0"/>
              <a:t>Therefore we may end up choosing a “balanced” operating point that prioritizes specificity and sensitivity about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8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finally, here’s our balanced operating point. Please take a moment to think carefully about these curves and the relationships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63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particularly for rare events, it often makes most sense to focus on positive or negative predictive value rather than sensitivity or specificity.</a:t>
            </a:r>
          </a:p>
          <a:p>
            <a:r>
              <a:rPr lang="en-US" dirty="0"/>
              <a:t>The PPV and NPV are often more directly relevant to decision-making, because they tell us what we can expect in terms of the true outcome after seeing a positive or negative result, respectively.</a:t>
            </a:r>
          </a:p>
          <a:p>
            <a:r>
              <a:rPr lang="en-US" dirty="0"/>
              <a:t>And we also know that for rare events, PPV can be low even when specificity is relatively high, because there are many more negative cases than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915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in everything we’ve discussed so far, we’re thinking about binary problems – we’re distinguishing positive cases from negative cases</a:t>
            </a:r>
          </a:p>
          <a:p>
            <a:r>
              <a:rPr lang="en-US" dirty="0"/>
              <a:t>But in this course, we’ll also be considering multi-class problems, in which we’re predicting which of several labels corresponds to our patient, or case</a:t>
            </a:r>
          </a:p>
          <a:p>
            <a:endParaRPr lang="en-US" dirty="0"/>
          </a:p>
          <a:p>
            <a:r>
              <a:rPr lang="en-US" dirty="0"/>
              <a:t>For example, we might predict that a skin lesion is cancerous or benign – this is binary – but alternatively, we might predict what kind of lesion it is – a carcinoma, actinic keratosis, melanoma, and so on</a:t>
            </a:r>
          </a:p>
          <a:p>
            <a:endParaRPr lang="en-US" dirty="0"/>
          </a:p>
          <a:p>
            <a:r>
              <a:rPr lang="en-US" dirty="0"/>
              <a:t>In these problems, instead of a 2 by 2 ”confusion matrix” of TPs, FPs, TNs, and FNs, we instead have an N x N matrix, where N is the number of classes. We can think of this as a cross-tabulation between the true labels and predicted labels. In the top left corner, we have a count of cases for which the true label was the first label –and the predicted label was also the first label. Along the same lines, the box in the 2</a:t>
            </a:r>
            <a:r>
              <a:rPr lang="en-US" baseline="30000" dirty="0"/>
              <a:t>nd</a:t>
            </a:r>
            <a:r>
              <a:rPr lang="en-US" dirty="0"/>
              <a:t> row, 3</a:t>
            </a:r>
            <a:r>
              <a:rPr lang="en-US" baseline="30000" dirty="0"/>
              <a:t>rd</a:t>
            </a:r>
            <a:r>
              <a:rPr lang="en-US" dirty="0"/>
              <a:t> column tells us how many cases there were where the true label was the second label, but our model predicted the third label.</a:t>
            </a:r>
          </a:p>
          <a:p>
            <a:endParaRPr lang="en-US" dirty="0"/>
          </a:p>
          <a:p>
            <a:r>
              <a:rPr lang="en-US" dirty="0"/>
              <a:t>One metric we can calculate directly from this matrix is the accuracy – this is simply the number of correct predictions over the number of total predictions – in other words, the sum of the blue boxes divided by the sum of all boxes</a:t>
            </a:r>
          </a:p>
          <a:p>
            <a:r>
              <a:rPr lang="en-US" dirty="0"/>
              <a:t>However, it’s not obvious how all the metrics we’ve discussed previously, which are quite useful, can be applied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6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approach – really the only approach that is common – is to instead go back to binary prediction for each of the labels of interest.</a:t>
            </a:r>
          </a:p>
          <a:p>
            <a:r>
              <a:rPr lang="en-US" dirty="0"/>
              <a:t>We can consider only the first label, for example. Each patient, or case, is labeled either with that label, or with some other label; and similarly, the model either predicts that label, or it predicts some other label.</a:t>
            </a:r>
          </a:p>
          <a:p>
            <a:endParaRPr lang="en-US" dirty="0"/>
          </a:p>
          <a:p>
            <a:r>
              <a:rPr lang="en-US" dirty="0"/>
              <a:t>If the true label is the first label, and the model also predicts the first label, that’s a true positive; whereas if the model predicts a different label, that’s a false negative.</a:t>
            </a:r>
          </a:p>
          <a:p>
            <a:r>
              <a:rPr lang="en-US" dirty="0"/>
              <a:t>And if the true label </a:t>
            </a:r>
            <a:r>
              <a:rPr lang="en-US" i="1" dirty="0"/>
              <a:t>isn’t</a:t>
            </a:r>
            <a:r>
              <a:rPr lang="en-US" i="0" dirty="0"/>
              <a:t> the first label, and the model predicts the first label, that’s a false positive; whereas if the model predicts a different label, that’s a true negative.</a:t>
            </a:r>
          </a:p>
          <a:p>
            <a:endParaRPr lang="en-US" i="0" dirty="0"/>
          </a:p>
          <a:p>
            <a:r>
              <a:rPr lang="en-US" i="0" dirty="0"/>
              <a:t>We can then look at all our earlier metrics – sensitivity, specificity, </a:t>
            </a:r>
            <a:r>
              <a:rPr lang="en-US" i="0" dirty="0" err="1"/>
              <a:t>etc</a:t>
            </a:r>
            <a:r>
              <a:rPr lang="en-US" i="0" dirty="0"/>
              <a:t> – with respect to the binary prediction task defined by the first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328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And, in exactly the same way, we can define all these metrics with respect to any of the other labels.</a:t>
            </a:r>
          </a:p>
          <a:p>
            <a:r>
              <a:rPr lang="en-US" dirty="0"/>
              <a:t>Sometimes, we might even consider the average of these metrics across all these binary tasks – a mean precision, for example, not to be confused with the average precision, which is an approximation to the area under the precision-recall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432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want to correct this problem and make the model fair.</a:t>
            </a:r>
          </a:p>
          <a:p>
            <a:r>
              <a:rPr lang="en-US" dirty="0"/>
              <a:t>But what does that mean?</a:t>
            </a:r>
          </a:p>
          <a:p>
            <a:endParaRPr lang="en-US" dirty="0"/>
          </a:p>
          <a:p>
            <a:r>
              <a:rPr lang="en-US" dirty="0"/>
              <a:t>Intuitive idea – don’t let the model use sensitive attribute when making predictions</a:t>
            </a:r>
          </a:p>
          <a:p>
            <a:endParaRPr lang="en-US" dirty="0"/>
          </a:p>
          <a:p>
            <a:r>
              <a:rPr lang="en-US" dirty="0"/>
              <a:t>Divide up groups: some argue it’s good to be aware, others that it’s 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31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Kidney function estimation – clear example where inclusion did harm</a:t>
            </a:r>
          </a:p>
          <a:p>
            <a:r>
              <a:rPr lang="en-US" dirty="0"/>
              <a:t>Critical to be aware of the potential for harm</a:t>
            </a:r>
          </a:p>
          <a:p>
            <a:endParaRPr lang="en-US" dirty="0"/>
          </a:p>
          <a:p>
            <a:r>
              <a:rPr lang="en-US" dirty="0"/>
              <a:t>But there’s been a trend toward excluding</a:t>
            </a:r>
          </a:p>
          <a:p>
            <a:r>
              <a:rPr lang="en-US" dirty="0"/>
              <a:t>Almost becoming a precedent within the clinical literature</a:t>
            </a:r>
          </a:p>
          <a:p>
            <a:endParaRPr lang="en-US" dirty="0"/>
          </a:p>
          <a:p>
            <a:r>
              <a:rPr lang="en-US" dirty="0"/>
              <a:t>There’s a danger in this as well</a:t>
            </a:r>
          </a:p>
          <a:p>
            <a:r>
              <a:rPr lang="en-US" dirty="0"/>
              <a:t>Beware an easy solution to a complex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16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We’ve already considered option 1</a:t>
            </a:r>
          </a:p>
          <a:p>
            <a:endParaRPr lang="en-US" dirty="0"/>
          </a:p>
          <a:p>
            <a:r>
              <a:rPr lang="en-US" dirty="0"/>
              <a:t>What about option 2?</a:t>
            </a:r>
          </a:p>
          <a:p>
            <a:r>
              <a:rPr lang="en-US" dirty="0"/>
              <a:t>- should predictions be independent of group status</a:t>
            </a:r>
          </a:p>
          <a:p>
            <a:r>
              <a:rPr lang="en-US" dirty="0"/>
              <a:t>- this would imply, for example, that model predicted risk on average is the same in both groups</a:t>
            </a:r>
          </a:p>
          <a:p>
            <a:r>
              <a:rPr lang="en-US" dirty="0"/>
              <a:t>- same distributions</a:t>
            </a:r>
          </a:p>
          <a:p>
            <a:r>
              <a:rPr lang="en-US" dirty="0"/>
              <a:t>- why or why not?</a:t>
            </a:r>
          </a:p>
          <a:p>
            <a:endParaRPr lang="en-US" dirty="0"/>
          </a:p>
          <a:p>
            <a:r>
              <a:rPr lang="en-US" dirty="0"/>
              <a:t>What about option 3?</a:t>
            </a:r>
          </a:p>
          <a:p>
            <a:r>
              <a:rPr lang="en-US" dirty="0"/>
              <a:t>- what does this mean?</a:t>
            </a:r>
          </a:p>
          <a:p>
            <a:endParaRPr lang="en-US" dirty="0"/>
          </a:p>
          <a:p>
            <a:r>
              <a:rPr lang="en-US" dirty="0"/>
              <a:t>Challenges include differential observability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74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what it would imply.</a:t>
            </a:r>
          </a:p>
          <a:p>
            <a:endParaRPr lang="en-US" dirty="0"/>
          </a:p>
          <a:p>
            <a:r>
              <a:rPr lang="en-US" dirty="0"/>
              <a:t>If we set a threshold, it would imply that White and Black patients would receive intervention at equal rates.</a:t>
            </a:r>
          </a:p>
          <a:p>
            <a:r>
              <a:rPr lang="en-US" dirty="0"/>
              <a:t>Is this fair?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469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Probably the most promising in my view.</a:t>
            </a:r>
          </a:p>
          <a:p>
            <a:endParaRPr lang="en-US" dirty="0"/>
          </a:p>
          <a:p>
            <a:r>
              <a:rPr lang="en-US" dirty="0"/>
              <a:t>Important to note, firstly, that if outcome rates are the same in each group, then this is the same as independence.</a:t>
            </a:r>
          </a:p>
          <a:p>
            <a:r>
              <a:rPr lang="en-US" dirty="0"/>
              <a:t>But of course, they’re usually not.</a:t>
            </a:r>
          </a:p>
          <a:p>
            <a:endParaRPr lang="en-US" dirty="0"/>
          </a:p>
          <a:p>
            <a:r>
              <a:rPr lang="en-US" dirty="0"/>
              <a:t>And if they’re not, well that means that different groups will receive intervention at different rates.</a:t>
            </a:r>
          </a:p>
          <a:p>
            <a:endParaRPr lang="en-US" dirty="0"/>
          </a:p>
          <a:p>
            <a:r>
              <a:rPr lang="en-US" dirty="0"/>
              <a:t>The biggest problem with this:</a:t>
            </a:r>
          </a:p>
          <a:p>
            <a:r>
              <a:rPr lang="en-US" dirty="0"/>
              <a:t>- highly dependent on the outcomes being correct!</a:t>
            </a:r>
          </a:p>
          <a:p>
            <a:r>
              <a:rPr lang="en-US" dirty="0"/>
              <a:t>- difficult standard in most clinical applications</a:t>
            </a:r>
          </a:p>
          <a:p>
            <a:r>
              <a:rPr lang="en-US" dirty="0"/>
              <a:t>- biased outcomes, differential observability,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3A43-F82E-B147-8DF7-E30EBDC68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FB749-B07A-014F-A625-64EA0047C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187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87DF-4D61-FC47-8963-BB9B1D2F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1CEC4-0379-ED49-A0DF-EF465D712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589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0213-97C2-934A-932B-185137EC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9C884-A283-2E48-932F-C511F8B9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057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75BB-EF23-594F-BE5F-F6E8D48DC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635E4-86E3-7644-BC9B-017DF9C87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6B17C-35A9-7F4F-9AAF-A8705BAF9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419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6B5D-6E7D-7D45-B1BB-D206FDF0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86358-255C-7D46-84C2-DECB27617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3F162-02D2-2F4D-9BB4-E11914902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1AF6D-8A9B-5D4A-B03F-8199C9E1B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DD9DC-0E4B-B34D-B231-519E6D983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00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CB05-9B9C-DE47-B374-AECF7D39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197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40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3EA2-E3D2-7241-9CCB-7FF3A4FF1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15F9-8FBD-D749-AECC-E1E975BAC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91BB2-2C27-2243-9CCA-38E6E0774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000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93A1-2DF5-7245-B0A3-1335BA0B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6260C-AB0A-C649-AE78-695BC97C9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95834-A2CC-6549-BFAB-4AC2DDDFB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963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0DB0-37D1-C640-A2CF-93C08571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65811-D78F-1446-8FC3-5F966FEA8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707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B7866-69EC-A64F-9054-67C54ECE8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0830B-04B9-6D49-B206-DD4D3E90F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773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4AB1-0C04-DC44-9EEF-8E14DD897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DCB5C-883D-464A-85B5-94A64540B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FDD80-7258-1147-97E6-50E68284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76BB2-C111-8B4C-A55D-4FD06080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82394-004D-F941-9DAC-EBFCAD166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47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A131-316C-2A4C-95A5-3D479346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E04FB-C251-8A46-943C-964C7096F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80D18-C996-E044-9A16-CDCD43FA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9B45F-FCB2-F044-B9A6-AF935666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11D59-CE8A-E148-9E12-FED7EE5B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56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35AB-2CDA-3249-A6D4-71407E4E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CBB5-1AFA-0E45-A30A-00D2FE26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3AFF8-57F4-234C-A166-CD3BCBD3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41F54-B893-2442-823E-4B817B42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D3932-63CB-4744-A4D8-1562B62E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3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E19A-C751-654D-813E-0AA2C132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AEBD8-0473-AE4E-B9F4-DA8E9DB91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AFC0E-366A-DE4F-8757-5A90469D1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D127C-99E3-EC4E-BE83-6FC704CD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7A5F9-7AAA-5C4C-BBF9-FE6E8070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6BC17-1DF5-174C-AEC7-F573DB30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79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02D1-A8E4-7F4A-B653-A58A574FC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4BB65-1985-0C4F-87F8-3E943F6AC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AE1D3-A324-7440-AB0A-FE955F27E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8D628-E295-B24E-A469-702561F19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AD6856-C209-C94B-97AE-B6C4D5D92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B9280-3798-6049-A2D6-CE8B90AE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EAD4F-BC0E-D044-88BE-C971EAD1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22D64-60F4-6540-B6DA-E419057B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98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10F8-34E4-CB40-B16B-65D31A1B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78D02-2377-9041-ADA1-AAC35FFC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8A61B-C4A7-6C49-BD33-AEF38B5D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1C4B9-E98C-3D48-AFA2-14A187F4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63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D4A8FD-65F6-FA42-9AD0-A3237FC4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35DF8-DBEB-7548-81AE-FE53C0D2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25E4-8CD1-7E40-832E-C8F06B5A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89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C070-B14E-F54B-93BC-9C5A961C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039AB-549A-1648-AFD2-F7F2ED200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6C557-EA84-D041-820E-1C1E4FDAF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CAF55-B519-B249-9894-73D3F80C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59DBD-641D-4E4A-992F-8B9CE801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81C7E-9B6E-B845-85FE-0139AA2E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78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0705-F835-6243-96AF-6D5F64D5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C2E4D-D0E5-CA41-9938-B42CD7352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94724-9188-A741-8F65-2C3D66105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160DB-1CA0-2347-B617-DFE9C058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0710B-54D6-E948-92A7-B495259B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2D966-5ABB-D940-A93B-DAD597C1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2310-C834-F043-8BFC-6383ED6D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E4889-9B9A-204A-8E49-02D1849CE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01086-F1DC-E64F-ABC5-D8CDDA0A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29A71-87B8-EE4A-BA0E-4DA1B84B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47298-A28E-E84F-99C3-824A660B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4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1D5A9-8816-104A-8302-9FD95D3A8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3D286-A494-D44B-BD51-1FF8AEB93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BE192-8E6E-0147-B28E-63F4F299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DEEAE-58E8-B74F-A1BF-C289E8F7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A3F2D-31BD-A24A-9623-8D4A9873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1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20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B42BD-C1A2-6C48-A3BB-59F3FAA0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61113-E58A-664C-8B45-42B385F2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E4C48-9EE8-DC4A-A8E4-F0ABD8D70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73F10-24B0-F241-BAFD-0430E6089C9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AA4D5-A81F-B849-81B2-916D55BDD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52172-55CB-CE4B-AC88-924D92064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BCCA0-8005-9345-9127-015359B1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597900"/>
            <a:ext cx="10363200" cy="318972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Discrimination Metrics</a:t>
            </a:r>
            <a:br>
              <a:rPr lang="en-US" dirty="0"/>
            </a:b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7218" y="4276881"/>
            <a:ext cx="6137564" cy="1655762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Matt Engelhard</a:t>
            </a:r>
          </a:p>
        </p:txBody>
      </p:sp>
    </p:spTree>
    <p:extLst>
      <p:ext uri="{BB962C8B-B14F-4D97-AF65-F5344CB8AC3E}">
        <p14:creationId xmlns:p14="http://schemas.microsoft.com/office/powerpoint/2010/main" val="31935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36"/>
    </mc:Choice>
    <mc:Fallback xmlns="">
      <p:transition spd="slow" advTm="239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C95C-8213-38B9-2B1F-C8C24809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0F3FA-13D5-90E0-46FA-1CD704875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should be informed by the clinical use case</a:t>
            </a:r>
          </a:p>
        </p:txBody>
      </p:sp>
    </p:spTree>
    <p:extLst>
      <p:ext uri="{BB962C8B-B14F-4D97-AF65-F5344CB8AC3E}">
        <p14:creationId xmlns:p14="http://schemas.microsoft.com/office/powerpoint/2010/main" val="1977563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0943-54E9-A9BF-9397-E12DE24A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student case study:</a:t>
            </a:r>
            <a:br>
              <a:rPr lang="en-US" dirty="0"/>
            </a:br>
            <a:r>
              <a:rPr lang="en-US" dirty="0"/>
              <a:t>new kidney risk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9A904-BE43-A79C-305B-8A667EA0E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8829"/>
            <a:ext cx="10515600" cy="41081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 are a primary care provider seeing diabetic patients. You learn that some colleagues have implemented a new prediction model that aims to prevent or delay kidney failure by predicting 2-year risk of progression to end-stage chronic kidney disease.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model is based on electronic health record data, including diagnosis and procedure codes, medications, labs, and vitals; as well as social determinants of health.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think the model sounds promising and start thinking about ways you might use it in practice.</a:t>
            </a:r>
          </a:p>
        </p:txBody>
      </p:sp>
    </p:spTree>
    <p:extLst>
      <p:ext uri="{BB962C8B-B14F-4D97-AF65-F5344CB8AC3E}">
        <p14:creationId xmlns:p14="http://schemas.microsoft.com/office/powerpoint/2010/main" val="2656626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7742-CDB6-3756-D9C4-DE9F56B1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EB69-6B54-1872-CBAB-14D62BDA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AI student case study:</a:t>
            </a:r>
            <a:br>
              <a:rPr lang="en-US" dirty="0"/>
            </a:br>
            <a:r>
              <a:rPr lang="en-US" dirty="0"/>
              <a:t>new kidney risk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E3EF-07F5-8288-3C37-8D99DD9C3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8829"/>
            <a:ext cx="10515600" cy="41081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are a health AI student developing a new prediction model that aims to prevent or delay kidney failure by predicting 2-year risk of progression to end-stage chronic kidney disease.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model is based on electronic health record data, including diagnosis and procedure codes, medications, labs, and vitals; as well as social determinants of health.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want to design a performance evaluation that is aligned with the way providers will use your model in practice.</a:t>
            </a:r>
          </a:p>
        </p:txBody>
      </p:sp>
    </p:spTree>
    <p:extLst>
      <p:ext uri="{BB962C8B-B14F-4D97-AF65-F5344CB8AC3E}">
        <p14:creationId xmlns:p14="http://schemas.microsoft.com/office/powerpoint/2010/main" val="376507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5330-9940-3878-E781-54F16116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might a provider use your model’s predictions?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9C371-8A4F-B571-7B31-74B1DAD9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7355"/>
            <a:ext cx="6489183" cy="41399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497CBA6-BC9F-81D8-2788-2A4A797F4F2A}"/>
              </a:ext>
            </a:extLst>
          </p:cNvPr>
          <p:cNvSpPr txBox="1">
            <a:spLocks/>
          </p:cNvSpPr>
          <p:nvPr/>
        </p:nvSpPr>
        <p:spPr>
          <a:xfrm>
            <a:off x="8304901" y="1798868"/>
            <a:ext cx="2824779" cy="830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11%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C4880-8BD2-F3A8-6716-562B25F00A77}"/>
              </a:ext>
            </a:extLst>
          </p:cNvPr>
          <p:cNvSpPr txBox="1"/>
          <p:nvPr/>
        </p:nvSpPr>
        <p:spPr>
          <a:xfrm>
            <a:off x="8254249" y="2809467"/>
            <a:ext cx="2926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Probability of Stage IV CKD within two years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561C4-4177-5BFE-403B-B3D504FC60B8}"/>
              </a:ext>
            </a:extLst>
          </p:cNvPr>
          <p:cNvSpPr txBox="1"/>
          <p:nvPr/>
        </p:nvSpPr>
        <p:spPr>
          <a:xfrm>
            <a:off x="8136139" y="3890677"/>
            <a:ext cx="31623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Report Back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might a clinician use this number (be specific)?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performance metrics are relevant to this way of using the prediction?</a:t>
            </a:r>
          </a:p>
        </p:txBody>
      </p:sp>
    </p:spTree>
    <p:extLst>
      <p:ext uri="{BB962C8B-B14F-4D97-AF65-F5344CB8AC3E}">
        <p14:creationId xmlns:p14="http://schemas.microsoft.com/office/powerpoint/2010/main" val="261769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E457-7DEB-0C39-9ED2-9CA17710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Discrimination 		vs 		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C9BD-4812-84F3-E09D-22B94A05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75" y="5491594"/>
            <a:ext cx="4080640" cy="919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identify individuals who will progress?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789536-E1CD-DDF1-EAE4-85609CFF52D2}"/>
              </a:ext>
            </a:extLst>
          </p:cNvPr>
          <p:cNvCxnSpPr>
            <a:cxnSpLocks/>
          </p:cNvCxnSpPr>
          <p:nvPr/>
        </p:nvCxnSpPr>
        <p:spPr>
          <a:xfrm>
            <a:off x="6816439" y="4735224"/>
            <a:ext cx="3657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AE965D-164D-C077-0404-B6FC31567C7D}"/>
              </a:ext>
            </a:extLst>
          </p:cNvPr>
          <p:cNvCxnSpPr>
            <a:cxnSpLocks/>
          </p:cNvCxnSpPr>
          <p:nvPr/>
        </p:nvCxnSpPr>
        <p:spPr>
          <a:xfrm flipV="1">
            <a:off x="6968839" y="1690688"/>
            <a:ext cx="0" cy="3196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88CF9A-5819-32DB-7594-513E09277DD3}"/>
              </a:ext>
            </a:extLst>
          </p:cNvPr>
          <p:cNvCxnSpPr>
            <a:cxnSpLocks/>
          </p:cNvCxnSpPr>
          <p:nvPr/>
        </p:nvCxnSpPr>
        <p:spPr>
          <a:xfrm>
            <a:off x="1077193" y="3970193"/>
            <a:ext cx="3657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4D96882-9344-D608-F77B-E72A4C2CAEEF}"/>
              </a:ext>
            </a:extLst>
          </p:cNvPr>
          <p:cNvSpPr/>
          <p:nvPr/>
        </p:nvSpPr>
        <p:spPr>
          <a:xfrm>
            <a:off x="1257299" y="3809134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CE90AE-2232-F3D8-6710-BA110E195BBF}"/>
              </a:ext>
            </a:extLst>
          </p:cNvPr>
          <p:cNvSpPr/>
          <p:nvPr/>
        </p:nvSpPr>
        <p:spPr>
          <a:xfrm>
            <a:off x="1717960" y="3809134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AB5C70-6E28-AE75-67BA-E4DCF6909CA2}"/>
              </a:ext>
            </a:extLst>
          </p:cNvPr>
          <p:cNvSpPr/>
          <p:nvPr/>
        </p:nvSpPr>
        <p:spPr>
          <a:xfrm>
            <a:off x="3288719" y="3809134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069A13-0924-36B9-6BBE-DB458ACF22D2}"/>
              </a:ext>
            </a:extLst>
          </p:cNvPr>
          <p:cNvSpPr/>
          <p:nvPr/>
        </p:nvSpPr>
        <p:spPr>
          <a:xfrm>
            <a:off x="7268440" y="3984050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505249-1BBE-AD32-4F8B-859EBEFBEDC6}"/>
              </a:ext>
            </a:extLst>
          </p:cNvPr>
          <p:cNvSpPr/>
          <p:nvPr/>
        </p:nvSpPr>
        <p:spPr>
          <a:xfrm>
            <a:off x="7710057" y="4053971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318E0F-0C9E-28CB-B1AE-0F30B959D67A}"/>
              </a:ext>
            </a:extLst>
          </p:cNvPr>
          <p:cNvSpPr/>
          <p:nvPr/>
        </p:nvSpPr>
        <p:spPr>
          <a:xfrm>
            <a:off x="9000260" y="2729778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D7A7FBF-FEE4-A91C-900B-29D2049DB4FC}"/>
              </a:ext>
            </a:extLst>
          </p:cNvPr>
          <p:cNvSpPr/>
          <p:nvPr/>
        </p:nvSpPr>
        <p:spPr>
          <a:xfrm>
            <a:off x="2620236" y="3804804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3F5FEA-A467-D023-1FD6-EE5BFC02ACF2}"/>
              </a:ext>
            </a:extLst>
          </p:cNvPr>
          <p:cNvSpPr/>
          <p:nvPr/>
        </p:nvSpPr>
        <p:spPr>
          <a:xfrm>
            <a:off x="4067168" y="380134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F697EC-FBF8-908D-ADA7-FB67CEF7A4F9}"/>
              </a:ext>
            </a:extLst>
          </p:cNvPr>
          <p:cNvSpPr/>
          <p:nvPr/>
        </p:nvSpPr>
        <p:spPr>
          <a:xfrm>
            <a:off x="9757922" y="188811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F1BC349-E32E-5C99-7CDE-1082DD228D1D}"/>
              </a:ext>
            </a:extLst>
          </p:cNvPr>
          <p:cNvSpPr/>
          <p:nvPr/>
        </p:nvSpPr>
        <p:spPr>
          <a:xfrm>
            <a:off x="8399320" y="288477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FA16FE1-3A76-8123-1332-64BFDE3E0631}"/>
              </a:ext>
            </a:extLst>
          </p:cNvPr>
          <p:cNvSpPr/>
          <p:nvPr/>
        </p:nvSpPr>
        <p:spPr>
          <a:xfrm>
            <a:off x="1703232" y="2018003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471E7EC-3201-AC47-8CB3-DE37B7D24A03}"/>
              </a:ext>
            </a:extLst>
          </p:cNvPr>
          <p:cNvSpPr/>
          <p:nvPr/>
        </p:nvSpPr>
        <p:spPr>
          <a:xfrm>
            <a:off x="1703232" y="245139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681A9D-62C8-3636-8E74-5E35F1AB8D22}"/>
              </a:ext>
            </a:extLst>
          </p:cNvPr>
          <p:cNvSpPr txBox="1"/>
          <p:nvPr/>
        </p:nvSpPr>
        <p:spPr>
          <a:xfrm>
            <a:off x="2024721" y="2422792"/>
            <a:ext cx="2258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Progressed to stage IV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CBD4C6-5482-DC03-BE07-EE0BA7B346B3}"/>
              </a:ext>
            </a:extLst>
          </p:cNvPr>
          <p:cNvSpPr txBox="1"/>
          <p:nvPr/>
        </p:nvSpPr>
        <p:spPr>
          <a:xfrm>
            <a:off x="2024721" y="2027917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Did not progress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F96A98-EBF3-B20B-E0DC-802C737E1858}"/>
              </a:ext>
            </a:extLst>
          </p:cNvPr>
          <p:cNvSpPr/>
          <p:nvPr/>
        </p:nvSpPr>
        <p:spPr>
          <a:xfrm>
            <a:off x="1542173" y="1873182"/>
            <a:ext cx="2741243" cy="103909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4D0032-1DB3-4600-4766-E441D8CAE050}"/>
              </a:ext>
            </a:extLst>
          </p:cNvPr>
          <p:cNvSpPr txBox="1"/>
          <p:nvPr/>
        </p:nvSpPr>
        <p:spPr>
          <a:xfrm>
            <a:off x="2137123" y="4409211"/>
            <a:ext cx="1504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Risk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5ACDBE-D3FF-13E2-48BC-76E8697CCE23}"/>
              </a:ext>
            </a:extLst>
          </p:cNvPr>
          <p:cNvSpPr txBox="1"/>
          <p:nvPr/>
        </p:nvSpPr>
        <p:spPr>
          <a:xfrm>
            <a:off x="7969021" y="4887624"/>
            <a:ext cx="1504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Risk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193223-FB44-7949-C34C-B353D22D33F3}"/>
              </a:ext>
            </a:extLst>
          </p:cNvPr>
          <p:cNvSpPr txBox="1"/>
          <p:nvPr/>
        </p:nvSpPr>
        <p:spPr>
          <a:xfrm rot="16200000">
            <a:off x="6122856" y="3022227"/>
            <a:ext cx="1024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 Risk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6BA301-E72D-3BA8-105E-654761EA4F59}"/>
              </a:ext>
            </a:extLst>
          </p:cNvPr>
          <p:cNvCxnSpPr/>
          <p:nvPr/>
        </p:nvCxnSpPr>
        <p:spPr>
          <a:xfrm flipV="1">
            <a:off x="6968839" y="1797627"/>
            <a:ext cx="3276597" cy="293759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8222C4-2AD8-11B2-11B8-8F52443472AC}"/>
              </a:ext>
            </a:extLst>
          </p:cNvPr>
          <p:cNvCxnSpPr>
            <a:cxnSpLocks/>
          </p:cNvCxnSpPr>
          <p:nvPr/>
        </p:nvCxnSpPr>
        <p:spPr>
          <a:xfrm flipH="1">
            <a:off x="8995164" y="4142921"/>
            <a:ext cx="264718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3A4F0EE-DF61-35C0-7A61-E29E004205F6}"/>
              </a:ext>
            </a:extLst>
          </p:cNvPr>
          <p:cNvSpPr txBox="1"/>
          <p:nvPr/>
        </p:nvSpPr>
        <p:spPr>
          <a:xfrm>
            <a:off x="9388727" y="3958039"/>
            <a:ext cx="189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Perfect calibration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BD8E4E-7639-A02C-FF7E-483A19B44704}"/>
              </a:ext>
            </a:extLst>
          </p:cNvPr>
          <p:cNvSpPr/>
          <p:nvPr/>
        </p:nvSpPr>
        <p:spPr>
          <a:xfrm>
            <a:off x="8871227" y="3887498"/>
            <a:ext cx="2411032" cy="48858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82FE5A-565C-A98B-116F-834452615F2C}"/>
              </a:ext>
            </a:extLst>
          </p:cNvPr>
          <p:cNvSpPr txBox="1">
            <a:spLocks/>
          </p:cNvSpPr>
          <p:nvPr/>
        </p:nvSpPr>
        <p:spPr>
          <a:xfrm>
            <a:off x="6954844" y="5491594"/>
            <a:ext cx="4080640" cy="91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Are our predicted probabilities accurate?</a:t>
            </a:r>
          </a:p>
        </p:txBody>
      </p:sp>
    </p:spTree>
    <p:extLst>
      <p:ext uri="{BB962C8B-B14F-4D97-AF65-F5344CB8AC3E}">
        <p14:creationId xmlns:p14="http://schemas.microsoft.com/office/powerpoint/2010/main" val="237753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E7F4-2BA1-9DB2-8789-33F9C7A4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discrimination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43AA-EDAC-1175-E46A-5BC9DDD8B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time: calibration and class balance</a:t>
            </a:r>
          </a:p>
        </p:txBody>
      </p:sp>
    </p:spTree>
    <p:extLst>
      <p:ext uri="{BB962C8B-B14F-4D97-AF65-F5344CB8AC3E}">
        <p14:creationId xmlns:p14="http://schemas.microsoft.com/office/powerpoint/2010/main" val="122375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EAAF-7263-2FB3-9C84-56622776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6276-F42B-F086-1267-8E3E83AF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</p:spTree>
    <p:extLst>
      <p:ext uri="{BB962C8B-B14F-4D97-AF65-F5344CB8AC3E}">
        <p14:creationId xmlns:p14="http://schemas.microsoft.com/office/powerpoint/2010/main" val="117248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AA8D-1839-6C81-B610-4A96D2FD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E07CD5-F8A5-F70D-7606-A537E4A46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0" y="1901012"/>
            <a:ext cx="6940138" cy="4795618"/>
          </a:xfrm>
        </p:spPr>
      </p:pic>
    </p:spTree>
    <p:extLst>
      <p:ext uri="{BB962C8B-B14F-4D97-AF65-F5344CB8AC3E}">
        <p14:creationId xmlns:p14="http://schemas.microsoft.com/office/powerpoint/2010/main" val="176436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249C3-A13C-C866-30DF-0442F699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B6AD-06FF-3A7A-335F-FAC8F240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869B3B-F181-F7EB-B41B-CA91DD1B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0" y="1901012"/>
            <a:ext cx="6940138" cy="4795618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7FE7D2-2EA8-5161-B352-CFA186E5B78E}"/>
              </a:ext>
            </a:extLst>
          </p:cNvPr>
          <p:cNvSpPr/>
          <p:nvPr/>
        </p:nvSpPr>
        <p:spPr>
          <a:xfrm>
            <a:off x="6472052" y="2208810"/>
            <a:ext cx="2683823" cy="3942608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Predict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4C2D9E-2200-147F-4789-5A6BB233BB07}"/>
              </a:ext>
            </a:extLst>
          </p:cNvPr>
          <p:cNvSpPr/>
          <p:nvPr/>
        </p:nvSpPr>
        <p:spPr>
          <a:xfrm>
            <a:off x="3256385" y="2204145"/>
            <a:ext cx="3215668" cy="3942608"/>
          </a:xfrm>
          <a:prstGeom prst="roundRect">
            <a:avLst/>
          </a:prstGeom>
          <a:solidFill>
            <a:schemeClr val="accent2">
              <a:alpha val="24641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2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5090-E9B5-F99E-8748-86F425CA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3633-0E21-C0F1-F3FD-D53CF98A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4AA08-4972-5A27-6E61-E33EF1876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0" y="1901012"/>
            <a:ext cx="6940138" cy="4795618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9B44EA-BF17-5A13-E9B8-F35E0B899D54}"/>
              </a:ext>
            </a:extLst>
          </p:cNvPr>
          <p:cNvSpPr/>
          <p:nvPr/>
        </p:nvSpPr>
        <p:spPr>
          <a:xfrm>
            <a:off x="6472052" y="2208810"/>
            <a:ext cx="2683823" cy="1961973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468366-D200-90A8-EB19-560A5EEF7CE2}"/>
              </a:ext>
            </a:extLst>
          </p:cNvPr>
          <p:cNvSpPr/>
          <p:nvPr/>
        </p:nvSpPr>
        <p:spPr>
          <a:xfrm>
            <a:off x="3256385" y="4170783"/>
            <a:ext cx="3215668" cy="1975969"/>
          </a:xfrm>
          <a:prstGeom prst="roundRect">
            <a:avLst/>
          </a:prstGeom>
          <a:solidFill>
            <a:schemeClr val="accent2">
              <a:alpha val="24641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8BF1BE-5CA9-522D-4E28-B21FC758C1D0}"/>
              </a:ext>
            </a:extLst>
          </p:cNvPr>
          <p:cNvSpPr/>
          <p:nvPr/>
        </p:nvSpPr>
        <p:spPr>
          <a:xfrm>
            <a:off x="3256385" y="2208810"/>
            <a:ext cx="3215668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C1D7EA-16D0-ED0C-3F20-D230EA0F9BA2}"/>
              </a:ext>
            </a:extLst>
          </p:cNvPr>
          <p:cNvSpPr/>
          <p:nvPr/>
        </p:nvSpPr>
        <p:spPr>
          <a:xfrm>
            <a:off x="6472052" y="4184779"/>
            <a:ext cx="2683823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</p:spTree>
    <p:extLst>
      <p:ext uri="{BB962C8B-B14F-4D97-AF65-F5344CB8AC3E}">
        <p14:creationId xmlns:p14="http://schemas.microsoft.com/office/powerpoint/2010/main" val="305456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175C6-3317-FFAD-58A5-DBE5B01D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210E-72CE-BC9A-D0A4-2E83F65A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471A2B-C096-6EBC-0F0B-70B075F38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2351"/>
            <a:ext cx="6940138" cy="4795618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9F3D85-9348-3F84-F91B-CDBC2461EC0C}"/>
              </a:ext>
            </a:extLst>
          </p:cNvPr>
          <p:cNvSpPr/>
          <p:nvPr/>
        </p:nvSpPr>
        <p:spPr>
          <a:xfrm>
            <a:off x="4999512" y="2190149"/>
            <a:ext cx="2683823" cy="1961973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510632-75F0-81C6-48FC-78FDAC24F889}"/>
              </a:ext>
            </a:extLst>
          </p:cNvPr>
          <p:cNvSpPr/>
          <p:nvPr/>
        </p:nvSpPr>
        <p:spPr>
          <a:xfrm>
            <a:off x="1783845" y="4152122"/>
            <a:ext cx="3215668" cy="1975969"/>
          </a:xfrm>
          <a:prstGeom prst="roundRect">
            <a:avLst/>
          </a:prstGeom>
          <a:solidFill>
            <a:schemeClr val="accent2">
              <a:alpha val="24641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E26D19-4EB0-5B4E-7A51-53819433CE35}"/>
              </a:ext>
            </a:extLst>
          </p:cNvPr>
          <p:cNvSpPr/>
          <p:nvPr/>
        </p:nvSpPr>
        <p:spPr>
          <a:xfrm>
            <a:off x="1783845" y="2190149"/>
            <a:ext cx="3215668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1EBDD-BC40-5BCA-3603-AFD0CAF1B734}"/>
              </a:ext>
            </a:extLst>
          </p:cNvPr>
          <p:cNvSpPr/>
          <p:nvPr/>
        </p:nvSpPr>
        <p:spPr>
          <a:xfrm>
            <a:off x="4999512" y="4166118"/>
            <a:ext cx="2683823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7C5C8-A0A3-EA70-10F2-069855D437DC}"/>
              </a:ext>
            </a:extLst>
          </p:cNvPr>
          <p:cNvSpPr txBox="1"/>
          <p:nvPr/>
        </p:nvSpPr>
        <p:spPr>
          <a:xfrm>
            <a:off x="8574834" y="2360645"/>
            <a:ext cx="2778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 threshold-specific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 (sensitivity,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FPR (1 – specificity)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(PPV)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Consider the clinical utility of each!!</a:t>
            </a:r>
          </a:p>
        </p:txBody>
      </p:sp>
    </p:spTree>
    <p:extLst>
      <p:ext uri="{BB962C8B-B14F-4D97-AF65-F5344CB8AC3E}">
        <p14:creationId xmlns:p14="http://schemas.microsoft.com/office/powerpoint/2010/main" val="2409203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0BD5-7581-AB93-3D76-F4420351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the threshold?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A2787-E794-FFB4-5485-48B347D027EF}"/>
              </a:ext>
            </a:extLst>
          </p:cNvPr>
          <p:cNvSpPr txBox="1"/>
          <p:nvPr/>
        </p:nvSpPr>
        <p:spPr>
          <a:xfrm>
            <a:off x="8574834" y="2360645"/>
            <a:ext cx="2778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 threshold-specific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 (sensitivity,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FPR (1 – specificity)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(PPV)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Consider the clinical utility of each!!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33EA776-0ED0-0D95-BE2B-EBA769D1C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2353"/>
            <a:ext cx="6940138" cy="4795618"/>
          </a:xfrm>
        </p:spPr>
      </p:pic>
    </p:spTree>
    <p:extLst>
      <p:ext uri="{BB962C8B-B14F-4D97-AF65-F5344CB8AC3E}">
        <p14:creationId xmlns:p14="http://schemas.microsoft.com/office/powerpoint/2010/main" val="252218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39F4-CA97-4FEA-5554-F829CE99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9011-EAB8-D984-BA0A-B8CE6EBB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class balance?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DF7FF-F745-3F8D-EB5C-A15997892CB4}"/>
              </a:ext>
            </a:extLst>
          </p:cNvPr>
          <p:cNvSpPr txBox="1"/>
          <p:nvPr/>
        </p:nvSpPr>
        <p:spPr>
          <a:xfrm>
            <a:off x="8574834" y="2360645"/>
            <a:ext cx="2778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 threshold-specific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 (sensitivity,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FPR (1 – specificity)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(PPV)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Consider the clinical utility of each!!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9781B-DE63-BC98-45DF-2F32A613E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9500"/>
            <a:ext cx="6975158" cy="480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7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F22B-E9B9-86DA-44B1-C31D160C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9D77-4E07-0CC4-5091-25F40C5A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the threshold?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E2F43-D46E-2113-24DF-0E68D65F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0702"/>
            <a:ext cx="5947588" cy="45977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49C8AE-BCF1-4C88-AA3F-18830BA2638D}"/>
                  </a:ext>
                </a:extLst>
              </p:cNvPr>
              <p:cNvSpPr txBox="1"/>
              <p:nvPr/>
            </p:nvSpPr>
            <p:spPr>
              <a:xfrm>
                <a:off x="7249886" y="1505510"/>
                <a:ext cx="4618652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denote random variables associated with model predictions for positive and negative outcomes, respectively.</a:t>
                </a:r>
              </a:p>
              <a:p>
                <a:endParaRPr lang="en-US" dirty="0"/>
              </a:p>
              <a:p>
                <a:r>
                  <a:rPr lang="en-US" dirty="0"/>
                  <a:t>Note that: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TPR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		CDF for positives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		CDF for negatives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49C8AE-BCF1-4C88-AA3F-18830BA26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886" y="1505510"/>
                <a:ext cx="4618652" cy="4247317"/>
              </a:xfrm>
              <a:prstGeom prst="rect">
                <a:avLst/>
              </a:prstGeom>
              <a:blipFill>
                <a:blip r:embed="rId3"/>
                <a:stretch>
                  <a:fillRect l="-1096" t="-595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A823BAC8-1A09-F2D2-21BE-FC55BF845561}"/>
              </a:ext>
            </a:extLst>
          </p:cNvPr>
          <p:cNvSpPr/>
          <p:nvPr/>
        </p:nvSpPr>
        <p:spPr>
          <a:xfrm rot="16200000">
            <a:off x="10822424" y="3383434"/>
            <a:ext cx="193454" cy="100304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D70719D4-A4B6-7840-6AC0-49DA62ADED19}"/>
              </a:ext>
            </a:extLst>
          </p:cNvPr>
          <p:cNvSpPr/>
          <p:nvPr/>
        </p:nvSpPr>
        <p:spPr>
          <a:xfrm rot="16200000">
            <a:off x="10822424" y="4767475"/>
            <a:ext cx="193454" cy="100304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04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161F-AA19-28D9-C52D-8FF6AA05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3232-7F05-D3FF-1E69-189012FA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the threshold?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9E465-AEF8-0BD9-56BD-C8B45D4E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0702"/>
            <a:ext cx="5947588" cy="45977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3AA4B8-BD2A-4BC3-32E3-FBF147254B7D}"/>
                  </a:ext>
                </a:extLst>
              </p:cNvPr>
              <p:cNvSpPr txBox="1"/>
              <p:nvPr/>
            </p:nvSpPr>
            <p:spPr>
              <a:xfrm>
                <a:off x="7249886" y="1505510"/>
                <a:ext cx="4618652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denote random variables associated with model predictions for positive and negative outcomes, respectively.</a:t>
                </a:r>
              </a:p>
              <a:p>
                <a:endParaRPr lang="en-US" dirty="0"/>
              </a:p>
              <a:p>
                <a:r>
                  <a:rPr lang="en-US" dirty="0"/>
                  <a:t>Note that: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TPR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		CDF for positives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		CDF for negatives</a:t>
                </a:r>
              </a:p>
              <a:p>
                <a:endParaRPr lang="en-US" dirty="0"/>
              </a:p>
              <a:p>
                <a:r>
                  <a:rPr lang="en-US" u="sng" dirty="0">
                    <a:solidFill>
                      <a:schemeClr val="accent1"/>
                    </a:solidFill>
                  </a:rPr>
                  <a:t>TPR &amp; FPR decrease monotonically </a:t>
                </a:r>
              </a:p>
              <a:p>
                <a:r>
                  <a:rPr lang="en-US" u="sng" dirty="0">
                    <a:solidFill>
                      <a:schemeClr val="accent1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u="sng" dirty="0">
                    <a:solidFill>
                      <a:schemeClr val="accent1"/>
                    </a:solidFill>
                  </a:rPr>
                  <a:t> increases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3AA4B8-BD2A-4BC3-32E3-FBF147254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886" y="1505510"/>
                <a:ext cx="4618652" cy="5078313"/>
              </a:xfrm>
              <a:prstGeom prst="rect">
                <a:avLst/>
              </a:prstGeom>
              <a:blipFill>
                <a:blip r:embed="rId3"/>
                <a:stretch>
                  <a:fillRect l="-1096" t="-499" b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Brace 2">
            <a:extLst>
              <a:ext uri="{FF2B5EF4-FFF2-40B4-BE49-F238E27FC236}">
                <a16:creationId xmlns:a16="http://schemas.microsoft.com/office/drawing/2014/main" id="{190DE894-228E-4040-8E94-5C79B1731C20}"/>
              </a:ext>
            </a:extLst>
          </p:cNvPr>
          <p:cNvSpPr/>
          <p:nvPr/>
        </p:nvSpPr>
        <p:spPr>
          <a:xfrm rot="16200000">
            <a:off x="10822424" y="3383434"/>
            <a:ext cx="193454" cy="100304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6EA5318A-9D0F-3F1E-C252-17F38F329856}"/>
              </a:ext>
            </a:extLst>
          </p:cNvPr>
          <p:cNvSpPr/>
          <p:nvPr/>
        </p:nvSpPr>
        <p:spPr>
          <a:xfrm rot="16200000">
            <a:off x="10822424" y="4767475"/>
            <a:ext cx="193454" cy="100304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14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1CD4-0F1D-EF89-F23D-4F40118B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the threshold?</a:t>
            </a:r>
          </a:p>
        </p:txBody>
      </p:sp>
      <p:pic>
        <p:nvPicPr>
          <p:cNvPr id="7" name="Picture 6" descr="A comparison of negative and negative results&#10;&#10;AI-generated content may be incorrect.">
            <a:extLst>
              <a:ext uri="{FF2B5EF4-FFF2-40B4-BE49-F238E27FC236}">
                <a16:creationId xmlns:a16="http://schemas.microsoft.com/office/drawing/2014/main" id="{FF8C3A8F-3092-CE80-D8C6-0B128F33C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793875"/>
            <a:ext cx="117475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58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9E06-6EE7-2044-9326-D9806054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Receiver Operating Characteristic Curve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5D34D2-540F-0447-B227-F95E5D773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5417756" y="1234440"/>
            <a:ext cx="5343344" cy="5343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658CFB-0C09-253E-AA29-6E1CCF62AF5D}"/>
              </a:ext>
            </a:extLst>
          </p:cNvPr>
          <p:cNvSpPr txBox="1"/>
          <p:nvPr/>
        </p:nvSpPr>
        <p:spPr>
          <a:xfrm>
            <a:off x="838200" y="1690688"/>
            <a:ext cx="37468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Illustrates the tradeoff between the TPR (sensitivity) and FPR (1– specificity) as we vary the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clinicians to consider this tradeoff and select appropriate operating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area under this curve (AUC) provides a single number summarizing this tradeoff.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In most cases this is the most important metric (why??)</a:t>
            </a:r>
          </a:p>
        </p:txBody>
      </p:sp>
    </p:spTree>
    <p:extLst>
      <p:ext uri="{BB962C8B-B14F-4D97-AF65-F5344CB8AC3E}">
        <p14:creationId xmlns:p14="http://schemas.microsoft.com/office/powerpoint/2010/main" val="424573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901"/>
    </mc:Choice>
    <mc:Fallback xmlns="">
      <p:transition spd="slow" advTm="13890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9AEF-C5E6-CA2C-A9D1-D8BAE97A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what’s a </a:t>
            </a:r>
            <a:r>
              <a:rPr lang="en-US" i="1" dirty="0"/>
              <a:t>good</a:t>
            </a:r>
            <a:r>
              <a:rPr lang="en-US" dirty="0"/>
              <a:t> AUC value?</a:t>
            </a:r>
            <a:br>
              <a:rPr lang="en-US" dirty="0"/>
            </a:br>
            <a:r>
              <a:rPr lang="en-US" sz="3200" dirty="0"/>
              <a:t>(i.e., </a:t>
            </a:r>
            <a:r>
              <a:rPr lang="en-US" sz="3200" i="1" dirty="0"/>
              <a:t>good</a:t>
            </a:r>
            <a:r>
              <a:rPr lang="en-US" sz="3200" dirty="0"/>
              <a:t> performance)?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A9CD-6B0E-233F-23CC-053E0213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927"/>
            <a:ext cx="10515600" cy="484949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We’ll start to answer this question by taking a look at </a:t>
            </a:r>
            <a:r>
              <a:rPr lang="en-US" i="1" dirty="0"/>
              <a:t>bad</a:t>
            </a:r>
            <a:r>
              <a:rPr lang="en-US" dirty="0"/>
              <a:t>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654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00"/>
    </mc:Choice>
    <mc:Fallback xmlns="">
      <p:transition spd="slow" advTm="16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E935-F99D-75F5-5A08-E6013AA4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contain no information about the outcome. What might predictions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07669-DF58-BBA5-A5DB-9E58B88CE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7" y="2014905"/>
            <a:ext cx="5940553" cy="4571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9D9219-073A-E8A0-4143-3664BD8BAF52}"/>
              </a:ext>
            </a:extLst>
          </p:cNvPr>
          <p:cNvSpPr txBox="1"/>
          <p:nvPr/>
        </p:nvSpPr>
        <p:spPr>
          <a:xfrm>
            <a:off x="1575317" y="3035533"/>
            <a:ext cx="2866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distributions between positive and negative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predicted value tells you nothing about which one it’s more likely to be.</a:t>
            </a:r>
          </a:p>
        </p:txBody>
      </p:sp>
    </p:spTree>
    <p:extLst>
      <p:ext uri="{BB962C8B-B14F-4D97-AF65-F5344CB8AC3E}">
        <p14:creationId xmlns:p14="http://schemas.microsoft.com/office/powerpoint/2010/main" val="2490831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2338-E670-7EAC-7E95-4D92C69E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E38F-85F0-8DF4-101C-A483D385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contain no information about the outcome. What might predictions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DAFEB-542F-7DBA-302D-1F1B0B072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7" y="2014905"/>
            <a:ext cx="5940553" cy="4571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B1769-E7A4-BBED-A88C-BFF85B7907A7}"/>
              </a:ext>
            </a:extLst>
          </p:cNvPr>
          <p:cNvSpPr txBox="1"/>
          <p:nvPr/>
        </p:nvSpPr>
        <p:spPr>
          <a:xfrm>
            <a:off x="1873894" y="3281347"/>
            <a:ext cx="2471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the:</a:t>
            </a:r>
          </a:p>
          <a:p>
            <a:endParaRPr lang="en-US" dirty="0"/>
          </a:p>
          <a:p>
            <a:pPr marL="342900" indent="-342900">
              <a:buAutoNum type="alphaLcParenBoth"/>
            </a:pPr>
            <a:r>
              <a:rPr lang="en-US" dirty="0"/>
              <a:t>TPR (sensitivity)?</a:t>
            </a:r>
          </a:p>
          <a:p>
            <a:pPr marL="342900" indent="-342900">
              <a:buAutoNum type="alphaLcParenBoth"/>
            </a:pPr>
            <a:r>
              <a:rPr lang="en-US" dirty="0"/>
              <a:t>FPR (1 – specificity)?</a:t>
            </a:r>
          </a:p>
          <a:p>
            <a:pPr marL="342900" indent="-342900">
              <a:buAutoNum type="alphaLcParenBoth"/>
            </a:pPr>
            <a:r>
              <a:rPr lang="en-US" dirty="0"/>
              <a:t>PPV?</a:t>
            </a:r>
          </a:p>
        </p:txBody>
      </p:sp>
    </p:spTree>
    <p:extLst>
      <p:ext uri="{BB962C8B-B14F-4D97-AF65-F5344CB8AC3E}">
        <p14:creationId xmlns:p14="http://schemas.microsoft.com/office/powerpoint/2010/main" val="1770068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29E9-B23B-EED9-AA0D-F7E0FC09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“no information” predictive model</a:t>
            </a:r>
          </a:p>
        </p:txBody>
      </p:sp>
      <p:pic>
        <p:nvPicPr>
          <p:cNvPr id="7" name="Picture 6" descr="A graph of negative negatives and negatives&#10;&#10;AI-generated content may be incorrect.">
            <a:extLst>
              <a:ext uri="{FF2B5EF4-FFF2-40B4-BE49-F238E27FC236}">
                <a16:creationId xmlns:a16="http://schemas.microsoft.com/office/drawing/2014/main" id="{CD5E000F-06C6-090C-76E8-BF6C67C69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0" y="1027906"/>
            <a:ext cx="10678000" cy="4271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9AB642-EE70-0BCD-6126-9CE3902E8671}"/>
              </a:ext>
            </a:extLst>
          </p:cNvPr>
          <p:cNvSpPr txBox="1"/>
          <p:nvPr/>
        </p:nvSpPr>
        <p:spPr>
          <a:xfrm>
            <a:off x="1919773" y="5569545"/>
            <a:ext cx="8352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TPR and FPR always match (why?)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distributions of positive and negative cases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corresponding CDFs match</a:t>
            </a:r>
          </a:p>
        </p:txBody>
      </p:sp>
    </p:spTree>
    <p:extLst>
      <p:ext uri="{BB962C8B-B14F-4D97-AF65-F5344CB8AC3E}">
        <p14:creationId xmlns:p14="http://schemas.microsoft.com/office/powerpoint/2010/main" val="1369940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40B5-4A65-E95A-089B-060816A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“no information”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9183F-3DF8-76AD-8725-282881EFB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0810"/>
            <a:ext cx="4643846" cy="3934320"/>
          </a:xfrm>
        </p:spPr>
        <p:txBody>
          <a:bodyPr/>
          <a:lstStyle/>
          <a:p>
            <a:r>
              <a:rPr lang="en-US" dirty="0"/>
              <a:t>AUC is 0.5</a:t>
            </a:r>
          </a:p>
          <a:p>
            <a:endParaRPr lang="en-US" dirty="0"/>
          </a:p>
          <a:p>
            <a:r>
              <a:rPr lang="en-US" dirty="0"/>
              <a:t>Do we ever see AUC &lt; 0.5?</a:t>
            </a:r>
          </a:p>
          <a:p>
            <a:endParaRPr lang="en-US" dirty="0"/>
          </a:p>
          <a:p>
            <a:r>
              <a:rPr lang="en-US" dirty="0"/>
              <a:t>If so, what can we infer about the distributions of our predictions for positive and negative samples?</a:t>
            </a:r>
          </a:p>
        </p:txBody>
      </p:sp>
      <p:pic>
        <p:nvPicPr>
          <p:cNvPr id="6" name="Picture 5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7429A8F6-BE74-75C2-0D36-8B220E8500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8618" y="1533934"/>
            <a:ext cx="5307874" cy="506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1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86"/>
    </mc:Choice>
    <mc:Fallback xmlns="">
      <p:transition spd="slow" advTm="3018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9AEF-C5E6-CA2C-A9D1-D8BAE97A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what’s a </a:t>
            </a:r>
            <a:r>
              <a:rPr lang="en-US" i="1" dirty="0"/>
              <a:t>good</a:t>
            </a:r>
            <a:r>
              <a:rPr lang="en-US" dirty="0"/>
              <a:t> AUC value?</a:t>
            </a:r>
            <a:br>
              <a:rPr lang="en-US" dirty="0"/>
            </a:br>
            <a:r>
              <a:rPr lang="en-US" sz="3200" dirty="0"/>
              <a:t>(i.e., </a:t>
            </a:r>
            <a:r>
              <a:rPr lang="en-US" sz="3200" i="1" dirty="0"/>
              <a:t>good</a:t>
            </a:r>
            <a:r>
              <a:rPr lang="en-US" sz="3200" dirty="0"/>
              <a:t> performance)?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A9CD-6B0E-233F-23CC-053E0213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927"/>
            <a:ext cx="10515600" cy="4849495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It depends.</a:t>
            </a:r>
          </a:p>
          <a:p>
            <a:r>
              <a:rPr lang="en-US" sz="2400" dirty="0"/>
              <a:t>Are predictions better than random?</a:t>
            </a:r>
          </a:p>
          <a:p>
            <a:r>
              <a:rPr lang="en-US" sz="2400" dirty="0"/>
              <a:t>Are predictions than the previous best performing model?</a:t>
            </a:r>
          </a:p>
          <a:p>
            <a:r>
              <a:rPr lang="en-US" sz="2400" dirty="0"/>
              <a:t>Are predictions better than expert performance?</a:t>
            </a:r>
          </a:p>
          <a:p>
            <a:r>
              <a:rPr lang="en-US" sz="2400" dirty="0"/>
              <a:t>Does performance exceed our (informed) expectations?</a:t>
            </a:r>
          </a:p>
          <a:p>
            <a:endParaRPr lang="en-US" sz="2400" dirty="0"/>
          </a:p>
          <a:p>
            <a:r>
              <a:rPr lang="en-US" sz="2400" b="1" u="sng" dirty="0"/>
              <a:t>Is the model clinically useful?</a:t>
            </a:r>
          </a:p>
          <a:p>
            <a:endParaRPr lang="en-US" sz="2400" b="1" u="sng" dirty="0"/>
          </a:p>
          <a:p>
            <a:r>
              <a:rPr lang="en-US" sz="2400" u="sng" dirty="0"/>
              <a:t>Different expectations for risk prediction vs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91607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032"/>
    </mc:Choice>
    <mc:Fallback xmlns="">
      <p:transition spd="slow" advTm="9203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0780-DFF6-2C79-D664-08DBF0F1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say about prediction performance when distributions match?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6C79-9A7A-764D-D03C-6433BBD56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0727"/>
            <a:ext cx="10515600" cy="4096236"/>
          </a:xfrm>
        </p:spPr>
        <p:txBody>
          <a:bodyPr/>
          <a:lstStyle/>
          <a:p>
            <a:r>
              <a:rPr lang="en-US" sz="2400" dirty="0"/>
              <a:t>When distributions of </a:t>
            </a:r>
            <a:r>
              <a:rPr lang="en-US" sz="2400" u="sng" dirty="0"/>
              <a:t>predictions</a:t>
            </a:r>
            <a:r>
              <a:rPr lang="en-US" sz="2400" dirty="0"/>
              <a:t> match between pos/neg:</a:t>
            </a:r>
          </a:p>
          <a:p>
            <a:pPr lvl="1"/>
            <a:r>
              <a:rPr lang="en-US" sz="2000" dirty="0"/>
              <a:t>predictions provide no information about the outcome</a:t>
            </a:r>
          </a:p>
          <a:p>
            <a:pPr lvl="1"/>
            <a:r>
              <a:rPr lang="en-US" sz="2000" dirty="0"/>
              <a:t>i.e. random guessing</a:t>
            </a:r>
          </a:p>
          <a:p>
            <a:endParaRPr lang="en-US" sz="2400" dirty="0"/>
          </a:p>
          <a:p>
            <a:r>
              <a:rPr lang="en-US" sz="2400" dirty="0"/>
              <a:t>When distributions of </a:t>
            </a:r>
            <a:r>
              <a:rPr lang="en-US" sz="2400" u="sng" dirty="0"/>
              <a:t>features</a:t>
            </a:r>
            <a:r>
              <a:rPr lang="en-US" sz="2400" dirty="0"/>
              <a:t> (observed or latent) match between pos/neg:</a:t>
            </a:r>
          </a:p>
          <a:p>
            <a:pPr lvl="1"/>
            <a:r>
              <a:rPr lang="en-US" sz="2000" dirty="0"/>
              <a:t>features contain no information about the outcome</a:t>
            </a:r>
          </a:p>
          <a:p>
            <a:endParaRPr lang="en-US" sz="2400" dirty="0"/>
          </a:p>
          <a:p>
            <a:r>
              <a:rPr lang="en-US" sz="2400" dirty="0"/>
              <a:t>Note that adversarial methods operate on this principle:</a:t>
            </a:r>
            <a:endParaRPr lang="en-US" sz="2000" dirty="0"/>
          </a:p>
          <a:p>
            <a:pPr lvl="1"/>
            <a:r>
              <a:rPr lang="en-US" sz="2000" dirty="0"/>
              <a:t>Train a </a:t>
            </a:r>
            <a:r>
              <a:rPr lang="en-US" sz="2000" i="1" dirty="0"/>
              <a:t>discriminator</a:t>
            </a:r>
            <a:r>
              <a:rPr lang="en-US" sz="2000" dirty="0"/>
              <a:t> that predicts pos/neg (or real/fake)</a:t>
            </a:r>
            <a:endParaRPr lang="en-US" sz="2400" dirty="0"/>
          </a:p>
          <a:p>
            <a:pPr lvl="1"/>
            <a:r>
              <a:rPr lang="en-US" sz="2000" dirty="0"/>
              <a:t>Train a </a:t>
            </a:r>
            <a:r>
              <a:rPr lang="en-US" sz="2000" i="1" dirty="0"/>
              <a:t>generator</a:t>
            </a:r>
            <a:r>
              <a:rPr lang="en-US" sz="2000" dirty="0"/>
              <a:t> whose goal is to </a:t>
            </a:r>
            <a:r>
              <a:rPr lang="en-US" sz="2000" u="sng" dirty="0"/>
              <a:t>increase</a:t>
            </a:r>
            <a:r>
              <a:rPr lang="en-US" sz="2000" dirty="0"/>
              <a:t> the discriminator’s loss (many variations on this)</a:t>
            </a:r>
            <a:endParaRPr lang="en-US" sz="2400" dirty="0"/>
          </a:p>
          <a:p>
            <a:pPr lvl="1"/>
            <a:r>
              <a:rPr lang="en-US" sz="2000" dirty="0"/>
              <a:t>Result? Distribution matching</a:t>
            </a:r>
          </a:p>
        </p:txBody>
      </p:sp>
    </p:spTree>
    <p:extLst>
      <p:ext uri="{BB962C8B-B14F-4D97-AF65-F5344CB8AC3E}">
        <p14:creationId xmlns:p14="http://schemas.microsoft.com/office/powerpoint/2010/main" val="1325577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CE39-153B-1F9E-C1E1-AE3CD6B7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overview of generative adversarial networks (GANs)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6DFA6A-4B91-7031-711B-843505F9E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71213"/>
            <a:ext cx="6677609" cy="202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9D26D13-1D85-2C8A-E523-35C5B4CE8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664" y="2203946"/>
            <a:ext cx="3769568" cy="376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lue-objective-function">
            <a:extLst>
              <a:ext uri="{FF2B5EF4-FFF2-40B4-BE49-F238E27FC236}">
                <a16:creationId xmlns:a16="http://schemas.microsoft.com/office/drawing/2014/main" id="{E4F6A506-6FCC-AAFD-52E4-C842769A3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402403"/>
            <a:ext cx="6638123" cy="38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8E84E8-DD4B-4C0B-5FCA-D0BFFEA6FED0}"/>
              </a:ext>
            </a:extLst>
          </p:cNvPr>
          <p:cNvSpPr txBox="1"/>
          <p:nvPr/>
        </p:nvSpPr>
        <p:spPr>
          <a:xfrm>
            <a:off x="1849405" y="6398327"/>
            <a:ext cx="84931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Taken from: https://</a:t>
            </a:r>
            <a:r>
              <a:rPr lang="en-US" sz="1100" dirty="0" err="1"/>
              <a:t>blog.ovhcloud.com</a:t>
            </a:r>
            <a:r>
              <a:rPr lang="en-US" sz="1100" dirty="0"/>
              <a:t>/understanding-image-generation-beginner-guide-generative-adversarial-networks-gan/</a:t>
            </a:r>
          </a:p>
        </p:txBody>
      </p:sp>
    </p:spTree>
    <p:extLst>
      <p:ext uri="{BB962C8B-B14F-4D97-AF65-F5344CB8AC3E}">
        <p14:creationId xmlns:p14="http://schemas.microsoft.com/office/powerpoint/2010/main" val="3854738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4945-93BD-7A99-3107-D3D38DBA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Adversarial discriminative domain adaptation (ADDA)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0E7DA-1F91-07F6-7240-ECD6C096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45" y="1846575"/>
            <a:ext cx="10986910" cy="43383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93E587-174C-61E4-A9E0-77033A49ECF1}"/>
              </a:ext>
            </a:extLst>
          </p:cNvPr>
          <p:cNvSpPr txBox="1"/>
          <p:nvPr/>
        </p:nvSpPr>
        <p:spPr>
          <a:xfrm>
            <a:off x="602546" y="6424827"/>
            <a:ext cx="10986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Tzeng, Eric, et al. "Adversarial discriminative domain adaptation."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2017.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0603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9E06-6EE7-2044-9326-D9806054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quantified performance across all thresholds, but how do we use the model?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5D34D2-540F-0447-B227-F95E5D773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6483534" y="1822268"/>
            <a:ext cx="4670607" cy="46706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658CFB-0C09-253E-AA29-6E1CCF62AF5D}"/>
              </a:ext>
            </a:extLst>
          </p:cNvPr>
          <p:cNvSpPr txBox="1"/>
          <p:nvPr/>
        </p:nvSpPr>
        <p:spPr>
          <a:xfrm>
            <a:off x="1037859" y="1822268"/>
            <a:ext cx="428244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Sometimes the predicted probability really is what we care about.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Example</a:t>
            </a:r>
            <a:r>
              <a:rPr lang="en-US" sz="2000" dirty="0"/>
              <a:t>: probability of heart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so, we need to make sure our model is </a:t>
            </a:r>
            <a:r>
              <a:rPr lang="en-US" sz="2000" i="1" dirty="0"/>
              <a:t>calibrated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/>
          </a:p>
          <a:p>
            <a:r>
              <a:rPr lang="en-US" sz="2000" dirty="0"/>
              <a:t>More often, we need to pick a threshold so we can decide whether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Alert a 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Get a biopsy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Refer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etc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What threshold should we pick? What’s the right tradeoff?</a:t>
            </a:r>
          </a:p>
        </p:txBody>
      </p:sp>
    </p:spTree>
    <p:extLst>
      <p:ext uri="{BB962C8B-B14F-4D97-AF65-F5344CB8AC3E}">
        <p14:creationId xmlns:p14="http://schemas.microsoft.com/office/powerpoint/2010/main" val="177455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98"/>
    </mc:Choice>
    <mc:Fallback xmlns="">
      <p:transition spd="slow" advTm="41898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  <a:br>
              <a:rPr lang="en-US" dirty="0"/>
            </a:br>
            <a:r>
              <a:rPr lang="en-US" sz="3600" i="1" dirty="0"/>
              <a:t>Which performance metric is most important?</a:t>
            </a:r>
            <a:endParaRPr lang="en-US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4CE05D-B083-6933-46FB-097FF7CD928B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A computer vision model that detects carcinoma</a:t>
            </a:r>
          </a:p>
        </p:txBody>
      </p:sp>
    </p:spTree>
    <p:extLst>
      <p:ext uri="{BB962C8B-B14F-4D97-AF65-F5344CB8AC3E}">
        <p14:creationId xmlns:p14="http://schemas.microsoft.com/office/powerpoint/2010/main" val="241251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00"/>
    </mc:Choice>
    <mc:Fallback xmlns="">
      <p:transition spd="slow" advTm="28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947"/>
          <a:stretch/>
        </p:blipFill>
        <p:spPr>
          <a:xfrm>
            <a:off x="3894267" y="2666577"/>
            <a:ext cx="4061013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/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high sensitivity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6427037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5658864" y="286469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2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78"/>
    </mc:Choice>
    <mc:Fallback xmlns="">
      <p:transition spd="slow" advTm="1117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C668-9497-86E2-A1A6-C91697AB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Precision-Recall Curve</a:t>
            </a:r>
            <a:br>
              <a:rPr lang="en-US" dirty="0"/>
            </a:br>
            <a:r>
              <a:rPr lang="en-US" sz="3200" dirty="0"/>
              <a:t>(i.e., PPV-Sensitivity Curve)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CAC0-E156-9EFB-42F0-090E9D686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21825"/>
            <a:ext cx="4739640" cy="4351338"/>
          </a:xfrm>
        </p:spPr>
        <p:txBody>
          <a:bodyPr/>
          <a:lstStyle/>
          <a:p>
            <a:r>
              <a:rPr lang="en-US" sz="2400" dirty="0"/>
              <a:t>Some argue it has greater clinical relevance than the ROC curve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i="1" dirty="0"/>
              <a:t>no information </a:t>
            </a:r>
            <a:r>
              <a:rPr lang="en-US" sz="2400" dirty="0"/>
              <a:t>classifier always achieves PPV equal to the </a:t>
            </a:r>
            <a:r>
              <a:rPr lang="en-US" sz="2400" i="1" dirty="0"/>
              <a:t>base rate</a:t>
            </a:r>
            <a:r>
              <a:rPr lang="en-US" sz="2400" dirty="0"/>
              <a:t>, or </a:t>
            </a:r>
            <a:r>
              <a:rPr lang="en-US" sz="2400" i="1" dirty="0"/>
              <a:t>prevalence </a:t>
            </a:r>
            <a:r>
              <a:rPr lang="en-US" sz="2400" dirty="0"/>
              <a:t>(why?)</a:t>
            </a:r>
          </a:p>
          <a:p>
            <a:endParaRPr lang="en-US" sz="2400" dirty="0"/>
          </a:p>
          <a:p>
            <a:r>
              <a:rPr lang="en-US" sz="2400" dirty="0"/>
              <a:t>PPV as well as the area under this curve (average precision) must be interpreted relative to prevalence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51E2A-5A3A-6218-E39D-802C767BB3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087"/>
          <a:stretch/>
        </p:blipFill>
        <p:spPr>
          <a:xfrm>
            <a:off x="6256407" y="1498288"/>
            <a:ext cx="5097393" cy="50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189"/>
    </mc:Choice>
    <mc:Fallback xmlns="">
      <p:transition spd="slow" advTm="4318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67" y="2666577"/>
            <a:ext cx="8113377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/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high sensitivity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6427037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5658864" y="286469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0B6C1-790E-214F-B195-1B9CEE53D153}"/>
              </a:ext>
            </a:extLst>
          </p:cNvPr>
          <p:cNvSpPr/>
          <p:nvPr/>
        </p:nvSpPr>
        <p:spPr>
          <a:xfrm>
            <a:off x="11643082" y="3916978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4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85"/>
    </mc:Choice>
    <mc:Fallback xmlns="">
      <p:transition spd="slow" advTm="12085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73A7-560F-214F-84CC-6DA04B1F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computer vision model that detects carcinoma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An algorithm that detects atrial fibrillation in Apple Watch users</a:t>
            </a:r>
          </a:p>
        </p:txBody>
      </p:sp>
    </p:spTree>
    <p:extLst>
      <p:ext uri="{BB962C8B-B14F-4D97-AF65-F5344CB8AC3E}">
        <p14:creationId xmlns:p14="http://schemas.microsoft.com/office/powerpoint/2010/main" val="72873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76"/>
    </mc:Choice>
    <mc:Fallback xmlns="">
      <p:transition spd="slow" advTm="2137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67" y="2666577"/>
            <a:ext cx="8113377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/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high specificity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9954007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4570292" y="3880694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0B6C1-790E-214F-B195-1B9CEE53D153}"/>
              </a:ext>
            </a:extLst>
          </p:cNvPr>
          <p:cNvSpPr/>
          <p:nvPr/>
        </p:nvSpPr>
        <p:spPr>
          <a:xfrm>
            <a:off x="10598056" y="298806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44"/>
    </mc:Choice>
    <mc:Fallback xmlns="">
      <p:transition spd="slow" advTm="9344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73A7-560F-214F-84CC-6DA04B1F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computer vision model that detects carcinoma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algorithm that detects atrial fibrillation in Apple Watch users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An EHR-based model that monitors autism risk</a:t>
            </a:r>
          </a:p>
        </p:txBody>
      </p:sp>
    </p:spTree>
    <p:extLst>
      <p:ext uri="{BB962C8B-B14F-4D97-AF65-F5344CB8AC3E}">
        <p14:creationId xmlns:p14="http://schemas.microsoft.com/office/powerpoint/2010/main" val="327372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60"/>
    </mc:Choice>
    <mc:Fallback xmlns="">
      <p:transition spd="slow" advTm="3216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67" y="2666577"/>
            <a:ext cx="8113377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/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balanced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8183266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4889606" y="3217092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0B6C1-790E-214F-B195-1B9CEE53D153}"/>
              </a:ext>
            </a:extLst>
          </p:cNvPr>
          <p:cNvSpPr/>
          <p:nvPr/>
        </p:nvSpPr>
        <p:spPr>
          <a:xfrm>
            <a:off x="11265712" y="327834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2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73"/>
    </mc:Choice>
    <mc:Fallback xmlns="">
      <p:transition spd="slow" advTm="9973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73A7-560F-214F-84CC-6DA04B1F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computer vision model that detects carcinoma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algorithm that detects atrial fibrillation in Apple Watch users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EHR-based model that monitors autism risk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Sometimes specificity and sensitivity are difficult to interpret, particularly for </a:t>
            </a:r>
            <a:r>
              <a:rPr lang="en-US" u="sng" dirty="0">
                <a:solidFill>
                  <a:schemeClr val="tx2"/>
                </a:solidFill>
              </a:rPr>
              <a:t>rare conditions or events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r>
              <a:rPr lang="en-US" dirty="0">
                <a:solidFill>
                  <a:schemeClr val="tx2"/>
                </a:solidFill>
              </a:rPr>
              <a:t>The most clinically relevant measure is often the </a:t>
            </a:r>
            <a:r>
              <a:rPr lang="en-US" u="sng" dirty="0">
                <a:solidFill>
                  <a:schemeClr val="tx2"/>
                </a:solidFill>
              </a:rPr>
              <a:t>positive predictive value</a:t>
            </a:r>
            <a:r>
              <a:rPr lang="en-US" dirty="0">
                <a:solidFill>
                  <a:schemeClr val="tx2"/>
                </a:solidFill>
              </a:rPr>
              <a:t> (or negative predictive value).</a:t>
            </a:r>
          </a:p>
        </p:txBody>
      </p:sp>
    </p:spTree>
    <p:extLst>
      <p:ext uri="{BB962C8B-B14F-4D97-AF65-F5344CB8AC3E}">
        <p14:creationId xmlns:p14="http://schemas.microsoft.com/office/powerpoint/2010/main" val="126068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72"/>
    </mc:Choice>
    <mc:Fallback xmlns="">
      <p:transition spd="slow" advTm="35072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5084-5F39-72E0-A597-296045BD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definition of AUC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35EA2-6B4C-C49A-2C8E-6125902A1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AUC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 denote random variables associated with model predictions for positive and negative outcomes, respectively.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u="sng" dirty="0"/>
                  <a:t>Empirical estimator: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Consider all pairs of samples where one is positive and one is negative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Determine whether predictions are concordant with labels/outcomes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Calculate % concordant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How might you code this efficiently?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35EA2-6B4C-C49A-2C8E-6125902A1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813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FBA3-F1BD-624F-86F7-067FCD57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of probabilistic and graphical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228D6-A039-FABF-7F39-B2EE5C8F7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911" y="1912775"/>
            <a:ext cx="4048841" cy="44793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B0781C-8AE7-9918-755D-D9D4F37A81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376415" y="1690688"/>
            <a:ext cx="4048843" cy="4048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6D5D7-B6E9-E335-8DEC-B89459A3BEED}"/>
              </a:ext>
            </a:extLst>
          </p:cNvPr>
          <p:cNvSpPr txBox="1"/>
          <p:nvPr/>
        </p:nvSpPr>
        <p:spPr>
          <a:xfrm>
            <a:off x="7198911" y="1321356"/>
            <a:ext cx="2814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More detailed, step by step: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0425EF-424A-0232-53FF-4C920C7165DD}"/>
                  </a:ext>
                </a:extLst>
              </p:cNvPr>
              <p:cNvSpPr txBox="1"/>
              <p:nvPr/>
            </p:nvSpPr>
            <p:spPr>
              <a:xfrm>
                <a:off x="1870833" y="5979985"/>
                <a:ext cx="3060005" cy="4121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FPR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0425EF-424A-0232-53FF-4C920C716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833" y="5979985"/>
                <a:ext cx="3060005" cy="412100"/>
              </a:xfrm>
              <a:prstGeom prst="rect">
                <a:avLst/>
              </a:prstGeom>
              <a:blipFill>
                <a:blip r:embed="rId4"/>
                <a:stretch>
                  <a:fillRect l="-1653" t="-117647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095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9D7F-EA58-E7A7-0A86-1A093DD4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9B9B-9986-832B-AE24-E3FA678E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of probabilistic and graphical definitions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BFE3F-3160-0CE9-4D4B-F2B4E223F0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376415" y="1690688"/>
            <a:ext cx="4048843" cy="40488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DF50ED-0B60-DAD7-906A-C4A32FC28F1B}"/>
                  </a:ext>
                </a:extLst>
              </p:cNvPr>
              <p:cNvSpPr txBox="1"/>
              <p:nvPr/>
            </p:nvSpPr>
            <p:spPr>
              <a:xfrm>
                <a:off x="1870833" y="5979985"/>
                <a:ext cx="3060005" cy="4121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FPR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DF50ED-0B60-DAD7-906A-C4A32FC28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833" y="5979985"/>
                <a:ext cx="3060005" cy="412100"/>
              </a:xfrm>
              <a:prstGeom prst="rect">
                <a:avLst/>
              </a:prstGeom>
              <a:blipFill>
                <a:blip r:embed="rId3"/>
                <a:stretch>
                  <a:fillRect l="-1653" t="-117647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F59C17-32EB-F888-6EF9-DB47B94B2868}"/>
                  </a:ext>
                </a:extLst>
              </p:cNvPr>
              <p:cNvSpPr txBox="1"/>
              <p:nvPr/>
            </p:nvSpPr>
            <p:spPr>
              <a:xfrm>
                <a:off x="6466114" y="1866121"/>
                <a:ext cx="517849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Intuition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Sample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for positive and negative outcomes, respectively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TPR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Unif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 dirty="0" err="1">
                        <a:latin typeface="Cambria Math" panose="02040503050406030204" pitchFamily="18" charset="0"/>
                      </a:rPr>
                      <m:t>Unif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(because they are 1-CDF)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, then there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Since FPR and TPR are monotonically decreasing,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FPR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FPR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TPR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F59C17-32EB-F888-6EF9-DB47B94B2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114" y="1866121"/>
                <a:ext cx="5178490" cy="3970318"/>
              </a:xfrm>
              <a:prstGeom prst="rect">
                <a:avLst/>
              </a:prstGeom>
              <a:blipFill>
                <a:blip r:embed="rId4"/>
                <a:stretch>
                  <a:fillRect l="-1225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54CB1752-35F0-B7D0-9AE9-8F0BA8C39A53}"/>
              </a:ext>
            </a:extLst>
          </p:cNvPr>
          <p:cNvSpPr/>
          <p:nvPr/>
        </p:nvSpPr>
        <p:spPr>
          <a:xfrm>
            <a:off x="2612571" y="2155370"/>
            <a:ext cx="93306" cy="9330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94F4FF-BE3F-FEAF-CDFD-E2AB2B3D914F}"/>
                  </a:ext>
                </a:extLst>
              </p:cNvPr>
              <p:cNvSpPr txBox="1"/>
              <p:nvPr/>
            </p:nvSpPr>
            <p:spPr>
              <a:xfrm>
                <a:off x="3134582" y="3320811"/>
                <a:ext cx="17240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FPR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94F4FF-BE3F-FEAF-CDFD-E2AB2B3D9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582" y="3320811"/>
                <a:ext cx="1724062" cy="307777"/>
              </a:xfrm>
              <a:prstGeom prst="rect">
                <a:avLst/>
              </a:prstGeom>
              <a:blipFill>
                <a:blip r:embed="rId5"/>
                <a:stretch>
                  <a:fillRect t="-4000" r="-146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7F047D9D-8ABA-7F03-6821-7E6B2CD66E16}"/>
              </a:ext>
            </a:extLst>
          </p:cNvPr>
          <p:cNvSpPr/>
          <p:nvPr/>
        </p:nvSpPr>
        <p:spPr>
          <a:xfrm>
            <a:off x="3240834" y="3194179"/>
            <a:ext cx="93306" cy="9330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A88736-D79A-B3CA-C812-32B1299A9C53}"/>
                  </a:ext>
                </a:extLst>
              </p:cNvPr>
              <p:cNvSpPr txBox="1"/>
              <p:nvPr/>
            </p:nvSpPr>
            <p:spPr>
              <a:xfrm>
                <a:off x="2541401" y="2248678"/>
                <a:ext cx="17188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FPR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A88736-D79A-B3CA-C812-32B1299A9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401" y="2248678"/>
                <a:ext cx="1718867" cy="307777"/>
              </a:xfrm>
              <a:prstGeom prst="rect">
                <a:avLst/>
              </a:prstGeom>
              <a:blipFill>
                <a:blip r:embed="rId6"/>
                <a:stretch>
                  <a:fillRect t="-4000" r="-147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2571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8D66-5174-1ACB-64E1-D8F5D0C3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BC72-A581-D7F2-F5B3-BE0AE448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of probabilistic and graphical definitions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BC252-6FC0-DEC5-2EAE-BA7227F44D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376415" y="1690688"/>
            <a:ext cx="4048843" cy="40488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999663-94BC-676E-282A-CD6F9EAB56D7}"/>
                  </a:ext>
                </a:extLst>
              </p:cNvPr>
              <p:cNvSpPr txBox="1"/>
              <p:nvPr/>
            </p:nvSpPr>
            <p:spPr>
              <a:xfrm>
                <a:off x="1870833" y="5979985"/>
                <a:ext cx="3060005" cy="4121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FPR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999663-94BC-676E-282A-CD6F9EAB5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833" y="5979985"/>
                <a:ext cx="3060005" cy="412100"/>
              </a:xfrm>
              <a:prstGeom prst="rect">
                <a:avLst/>
              </a:prstGeom>
              <a:blipFill>
                <a:blip r:embed="rId3"/>
                <a:stretch>
                  <a:fillRect l="-1653" t="-117647" b="-17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443CD1-EA6C-8E04-98C3-86AC3AEA2F74}"/>
                  </a:ext>
                </a:extLst>
              </p:cNvPr>
              <p:cNvSpPr txBox="1"/>
              <p:nvPr/>
            </p:nvSpPr>
            <p:spPr>
              <a:xfrm>
                <a:off x="6466114" y="1866121"/>
                <a:ext cx="517849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Intuition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Sample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for positive and negative outcomes, respectively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TPR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Unif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 dirty="0" err="1">
                        <a:latin typeface="Cambria Math" panose="02040503050406030204" pitchFamily="18" charset="0"/>
                      </a:rPr>
                      <m:t>Unif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(because they are 1-CDF)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, then there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Since FPR and TPR are monotonically decreasing,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FPR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FPR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TPR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 marL="342900" indent="-342900"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443CD1-EA6C-8E04-98C3-86AC3AEA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114" y="1866121"/>
                <a:ext cx="5178490" cy="3970318"/>
              </a:xfrm>
              <a:prstGeom prst="rect">
                <a:avLst/>
              </a:prstGeom>
              <a:blipFill>
                <a:blip r:embed="rId4"/>
                <a:stretch>
                  <a:fillRect l="-1225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7915587-0168-C95C-EBA5-116ED5B87F9E}"/>
              </a:ext>
            </a:extLst>
          </p:cNvPr>
          <p:cNvSpPr/>
          <p:nvPr/>
        </p:nvSpPr>
        <p:spPr>
          <a:xfrm>
            <a:off x="2612571" y="2155370"/>
            <a:ext cx="93306" cy="9330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8C2CBF-5EFA-1A77-0C31-C102107ADFEF}"/>
                  </a:ext>
                </a:extLst>
              </p:cNvPr>
              <p:cNvSpPr txBox="1"/>
              <p:nvPr/>
            </p:nvSpPr>
            <p:spPr>
              <a:xfrm>
                <a:off x="2098885" y="1558344"/>
                <a:ext cx="17240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FPR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8C2CBF-5EFA-1A77-0C31-C102107AD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885" y="1558344"/>
                <a:ext cx="1724062" cy="307777"/>
              </a:xfrm>
              <a:prstGeom prst="rect">
                <a:avLst/>
              </a:prstGeom>
              <a:blipFill>
                <a:blip r:embed="rId5"/>
                <a:stretch>
                  <a:fillRect t="-4000" r="-2206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1B590607-B5C0-9ADA-E3BF-C92E511166E0}"/>
              </a:ext>
            </a:extLst>
          </p:cNvPr>
          <p:cNvSpPr/>
          <p:nvPr/>
        </p:nvSpPr>
        <p:spPr>
          <a:xfrm>
            <a:off x="2205136" y="1934253"/>
            <a:ext cx="93306" cy="9330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82526D-C2D9-1A18-BA3B-122C55483445}"/>
                  </a:ext>
                </a:extLst>
              </p:cNvPr>
              <p:cNvSpPr txBox="1"/>
              <p:nvPr/>
            </p:nvSpPr>
            <p:spPr>
              <a:xfrm>
                <a:off x="2541401" y="2272718"/>
                <a:ext cx="17188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FPR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TPR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82526D-C2D9-1A18-BA3B-122C5548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401" y="2272718"/>
                <a:ext cx="1718867" cy="307777"/>
              </a:xfrm>
              <a:prstGeom prst="rect">
                <a:avLst/>
              </a:prstGeom>
              <a:blipFill>
                <a:blip r:embed="rId6"/>
                <a:stretch>
                  <a:fillRect t="-4000" r="-147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8965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9151-7B81-1A91-513E-92B5E5DB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back: AUC in subgroups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F8FDC2-64C9-72B5-2D9B-8ED8E64461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62715"/>
                <a:ext cx="10515600" cy="41142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we calculate AUC</a:t>
                </a:r>
                <a:r>
                  <a:rPr lang="en-US" baseline="-25000" dirty="0"/>
                  <a:t>A</a:t>
                </a:r>
                <a:r>
                  <a:rPr lang="en-US" dirty="0"/>
                  <a:t> and AUC</a:t>
                </a:r>
                <a:r>
                  <a:rPr lang="en-US" baseline="-25000" dirty="0"/>
                  <a:t>B</a:t>
                </a:r>
                <a:r>
                  <a:rPr lang="en-US" dirty="0"/>
                  <a:t> in subgroups A and B, respectively.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it necessarily true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AU</m:t>
                    </m:r>
                    <m:sSub>
                      <m:sSub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∈(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AUC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AU</m:t>
                    </m:r>
                    <m:sSub>
                      <m:sSub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Why or why not?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F8FDC2-64C9-72B5-2D9B-8ED8E6446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62715"/>
                <a:ext cx="10515600" cy="4114247"/>
              </a:xfrm>
              <a:blipFill>
                <a:blip r:embed="rId2"/>
                <a:stretch>
                  <a:fillRect l="-1206" t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4004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E6EC-EE4D-F828-5F66-6BFF56BE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notable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2F2A4-6763-541D-A246-353554F9BB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AUC is rank-based and therefore invariant to monotonic transformation of predicted probabilities</a:t>
                </a:r>
              </a:p>
              <a:p>
                <a:pPr lvl="1"/>
                <a:r>
                  <a:rPr lang="en-US" dirty="0"/>
                  <a:t>Practical importance: AUC tells you nothing about whether predicted probabilities are accurate, i.e. calibration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AUC is the normalized Mann-Whitney U-statistic commonly used to test whether two sets of values are drawn from the same distribution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AUC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/(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AUC does not depend on class balance (why?)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2F2A4-6763-541D-A246-353554F9BB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1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026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1DEE-4667-F004-4F3C-F340EA99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65B17-2541-75EF-32A3-0DCEE2AE2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483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8466-7B1E-BA46-A508-2EBCADFA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Multi-class problems: “Confusion Matrix”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D7C9BEA-74BA-4948-92E9-E7728BEF7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869353"/>
              </p:ext>
            </p:extLst>
          </p:nvPr>
        </p:nvGraphicFramePr>
        <p:xfrm>
          <a:off x="2571567" y="1690688"/>
          <a:ext cx="5011060" cy="465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12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723352028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339604044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1934251026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935223234"/>
                    </a:ext>
                  </a:extLst>
                </a:gridCol>
              </a:tblGrid>
              <a:tr h="93112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95813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59697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148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96FFAE-7028-7E41-A6B7-D0D9E56A0392}"/>
              </a:ext>
            </a:extLst>
          </p:cNvPr>
          <p:cNvSpPr txBox="1"/>
          <p:nvPr/>
        </p:nvSpPr>
        <p:spPr>
          <a:xfrm>
            <a:off x="4021840" y="1229023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5FB58-6841-8749-9968-6DB30F2B13BF}"/>
              </a:ext>
            </a:extLst>
          </p:cNvPr>
          <p:cNvSpPr txBox="1"/>
          <p:nvPr/>
        </p:nvSpPr>
        <p:spPr>
          <a:xfrm rot="16200000">
            <a:off x="1429165" y="3791401"/>
            <a:ext cx="1472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 Label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AE228486-93C8-A44C-94CB-4DB254944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358986"/>
              </p:ext>
            </p:extLst>
          </p:nvPr>
        </p:nvGraphicFramePr>
        <p:xfrm>
          <a:off x="8482726" y="3548787"/>
          <a:ext cx="519283" cy="93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283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</a:tblGrid>
              <a:tr h="46970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4697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617D1A-20B1-EC4C-8925-68F509D8BFFC}"/>
              </a:ext>
            </a:extLst>
          </p:cNvPr>
          <p:cNvSpPr txBox="1"/>
          <p:nvPr/>
        </p:nvSpPr>
        <p:spPr>
          <a:xfrm>
            <a:off x="9002009" y="3548787"/>
            <a:ext cx="2451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108C2-BA6B-1C4A-A3EC-EF28D7BA3265}"/>
              </a:ext>
            </a:extLst>
          </p:cNvPr>
          <p:cNvSpPr txBox="1"/>
          <p:nvPr/>
        </p:nvSpPr>
        <p:spPr>
          <a:xfrm>
            <a:off x="9002009" y="4010452"/>
            <a:ext cx="26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 Prediction</a:t>
            </a:r>
          </a:p>
        </p:txBody>
      </p:sp>
    </p:spTree>
    <p:extLst>
      <p:ext uri="{BB962C8B-B14F-4D97-AF65-F5344CB8AC3E}">
        <p14:creationId xmlns:p14="http://schemas.microsoft.com/office/powerpoint/2010/main" val="421729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372"/>
    </mc:Choice>
    <mc:Fallback xmlns="">
      <p:transition spd="slow" advTm="90372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8466-7B1E-BA46-A508-2EBCADFA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Multi-class problems: Binary for Label 1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C6CB827A-B029-F241-88A2-F2DD30AC1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533518"/>
              </p:ext>
            </p:extLst>
          </p:nvPr>
        </p:nvGraphicFramePr>
        <p:xfrm>
          <a:off x="2571567" y="1690688"/>
          <a:ext cx="5011060" cy="465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12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723352028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339604044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1934251026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935223234"/>
                    </a:ext>
                  </a:extLst>
                </a:gridCol>
              </a:tblGrid>
              <a:tr h="93112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95813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59697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148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6DB2D6-84D6-1641-A8D6-025CDFB64A1A}"/>
              </a:ext>
            </a:extLst>
          </p:cNvPr>
          <p:cNvSpPr txBox="1"/>
          <p:nvPr/>
        </p:nvSpPr>
        <p:spPr>
          <a:xfrm>
            <a:off x="4021840" y="1229023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Label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263A5-FAD4-3947-8329-FB5B488D4930}"/>
              </a:ext>
            </a:extLst>
          </p:cNvPr>
          <p:cNvSpPr txBox="1"/>
          <p:nvPr/>
        </p:nvSpPr>
        <p:spPr>
          <a:xfrm rot="16200000">
            <a:off x="1429165" y="3791401"/>
            <a:ext cx="1472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 Label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91ECC4A-E68A-5341-B331-8C965FA7C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63939"/>
              </p:ext>
            </p:extLst>
          </p:nvPr>
        </p:nvGraphicFramePr>
        <p:xfrm>
          <a:off x="8482726" y="3548787"/>
          <a:ext cx="519283" cy="93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283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</a:tblGrid>
              <a:tr h="46970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4697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A35E5E4-FCB5-FC47-A217-650893436E07}"/>
              </a:ext>
            </a:extLst>
          </p:cNvPr>
          <p:cNvSpPr txBox="1"/>
          <p:nvPr/>
        </p:nvSpPr>
        <p:spPr>
          <a:xfrm>
            <a:off x="9002009" y="3548787"/>
            <a:ext cx="2451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EEAC6-86FB-9E40-A989-F22711C73492}"/>
              </a:ext>
            </a:extLst>
          </p:cNvPr>
          <p:cNvSpPr txBox="1"/>
          <p:nvPr/>
        </p:nvSpPr>
        <p:spPr>
          <a:xfrm>
            <a:off x="9002009" y="4010452"/>
            <a:ext cx="26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677DE-BE53-594A-85F0-8EB610D26DC4}"/>
              </a:ext>
            </a:extLst>
          </p:cNvPr>
          <p:cNvSpPr txBox="1"/>
          <p:nvPr/>
        </p:nvSpPr>
        <p:spPr>
          <a:xfrm>
            <a:off x="2610756" y="1967687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TruePos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C66E5-4A04-C54D-A25D-DA128DE69F84}"/>
              </a:ext>
            </a:extLst>
          </p:cNvPr>
          <p:cNvSpPr txBox="1"/>
          <p:nvPr/>
        </p:nvSpPr>
        <p:spPr>
          <a:xfrm>
            <a:off x="4325613" y="1967687"/>
            <a:ext cx="2549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False Negatives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-&gt;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691DE-B5B7-3C42-ADAC-6CBB6F3B851C}"/>
              </a:ext>
            </a:extLst>
          </p:cNvPr>
          <p:cNvSpPr txBox="1"/>
          <p:nvPr/>
        </p:nvSpPr>
        <p:spPr>
          <a:xfrm>
            <a:off x="9297507" y="2481238"/>
            <a:ext cx="103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 Pos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D708C-EDC3-CB42-BEAD-17A3B3A3A346}"/>
              </a:ext>
            </a:extLst>
          </p:cNvPr>
          <p:cNvSpPr txBox="1"/>
          <p:nvPr/>
        </p:nvSpPr>
        <p:spPr>
          <a:xfrm rot="16200000">
            <a:off x="1854010" y="4329176"/>
            <a:ext cx="245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False Positives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-&gt;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49CD80-D4E2-3644-8A17-174B8340DA3D}"/>
              </a:ext>
            </a:extLst>
          </p:cNvPr>
          <p:cNvSpPr txBox="1"/>
          <p:nvPr/>
        </p:nvSpPr>
        <p:spPr>
          <a:xfrm>
            <a:off x="4802890" y="4056618"/>
            <a:ext cx="159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Negatives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61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27"/>
    </mc:Choice>
    <mc:Fallback xmlns="">
      <p:transition spd="slow" advTm="47827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8466-7B1E-BA46-A508-2EBCADFA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Multi-class problems: Binary for Label 2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9DC1063B-4C02-FE4D-B973-8DA66E72A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847906"/>
              </p:ext>
            </p:extLst>
          </p:nvPr>
        </p:nvGraphicFramePr>
        <p:xfrm>
          <a:off x="2571567" y="1690688"/>
          <a:ext cx="5011060" cy="465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12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723352028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339604044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1934251026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935223234"/>
                    </a:ext>
                  </a:extLst>
                </a:gridCol>
              </a:tblGrid>
              <a:tr h="93112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95813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59697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148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0ACB149-7DD0-CD43-9EEA-BBB062437EF4}"/>
              </a:ext>
            </a:extLst>
          </p:cNvPr>
          <p:cNvSpPr txBox="1"/>
          <p:nvPr/>
        </p:nvSpPr>
        <p:spPr>
          <a:xfrm>
            <a:off x="4021840" y="1229023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Label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90858-7734-CD4A-BAFE-72EEF9B18D1B}"/>
              </a:ext>
            </a:extLst>
          </p:cNvPr>
          <p:cNvSpPr txBox="1"/>
          <p:nvPr/>
        </p:nvSpPr>
        <p:spPr>
          <a:xfrm rot="16200000">
            <a:off x="1429165" y="3791401"/>
            <a:ext cx="1472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 Label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4E48ADA7-0D43-D14A-AE45-8453C9C19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63939"/>
              </p:ext>
            </p:extLst>
          </p:nvPr>
        </p:nvGraphicFramePr>
        <p:xfrm>
          <a:off x="8482726" y="3548787"/>
          <a:ext cx="519283" cy="93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283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</a:tblGrid>
              <a:tr h="46970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4697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B8715AA-7BE8-C240-8214-112FC66CCE6E}"/>
              </a:ext>
            </a:extLst>
          </p:cNvPr>
          <p:cNvSpPr txBox="1"/>
          <p:nvPr/>
        </p:nvSpPr>
        <p:spPr>
          <a:xfrm>
            <a:off x="9002009" y="3548787"/>
            <a:ext cx="2451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 Prediction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68861-72D6-524C-9D32-1E6E44921BE1}"/>
              </a:ext>
            </a:extLst>
          </p:cNvPr>
          <p:cNvSpPr txBox="1"/>
          <p:nvPr/>
        </p:nvSpPr>
        <p:spPr>
          <a:xfrm>
            <a:off x="9002009" y="4010452"/>
            <a:ext cx="26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 Prediction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B8DD8-F85C-7F4C-A41C-7A85B53AEDB3}"/>
              </a:ext>
            </a:extLst>
          </p:cNvPr>
          <p:cNvSpPr txBox="1"/>
          <p:nvPr/>
        </p:nvSpPr>
        <p:spPr>
          <a:xfrm>
            <a:off x="5298762" y="4758237"/>
            <a:ext cx="159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Negatives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1D4D7-C653-9841-87DA-6D155A722D5E}"/>
              </a:ext>
            </a:extLst>
          </p:cNvPr>
          <p:cNvSpPr txBox="1"/>
          <p:nvPr/>
        </p:nvSpPr>
        <p:spPr>
          <a:xfrm>
            <a:off x="5298761" y="1967687"/>
            <a:ext cx="159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Negatives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087D3B-EFFB-7545-958C-B07300777D0D}"/>
              </a:ext>
            </a:extLst>
          </p:cNvPr>
          <p:cNvSpPr txBox="1"/>
          <p:nvPr/>
        </p:nvSpPr>
        <p:spPr>
          <a:xfrm rot="16200000">
            <a:off x="1969440" y="3937177"/>
            <a:ext cx="4200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False Positives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------                     ----&gt;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077703-FD41-4142-9B85-F4EEAF98B43C}"/>
              </a:ext>
            </a:extLst>
          </p:cNvPr>
          <p:cNvSpPr txBox="1"/>
          <p:nvPr/>
        </p:nvSpPr>
        <p:spPr>
          <a:xfrm>
            <a:off x="3599020" y="2894612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TruePos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E7784-1DB9-5540-B447-CD222ADD6ECA}"/>
              </a:ext>
            </a:extLst>
          </p:cNvPr>
          <p:cNvSpPr txBox="1"/>
          <p:nvPr/>
        </p:nvSpPr>
        <p:spPr>
          <a:xfrm rot="16200000">
            <a:off x="923216" y="3937177"/>
            <a:ext cx="4241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True Negatives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------                     ----&gt;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9E0909-7090-FB45-AD8D-2C7175194CBF}"/>
              </a:ext>
            </a:extLst>
          </p:cNvPr>
          <p:cNvSpPr txBox="1"/>
          <p:nvPr/>
        </p:nvSpPr>
        <p:spPr>
          <a:xfrm>
            <a:off x="2956657" y="2898493"/>
            <a:ext cx="450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                      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-----  </a:t>
            </a:r>
            <a:r>
              <a:rPr lang="en-US" b="1" dirty="0"/>
              <a:t>False Negatives </a:t>
            </a:r>
            <a:r>
              <a:rPr lang="en-US" dirty="0">
                <a:sym typeface="Wingdings" pitchFamily="2" charset="2"/>
              </a:rPr>
              <a:t>----&gt;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2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11"/>
    </mc:Choice>
    <mc:Fallback xmlns="">
      <p:transition spd="slow" advTm="2241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2A38-4759-5415-0B53-70C053CA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 and fairness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C7857-5180-A6D8-0A85-D271CDA8D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4532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B7B2-CCB3-EFFF-2CE2-EC830E98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for a model to be </a:t>
            </a:r>
            <a:r>
              <a:rPr lang="en-US" i="1" dirty="0"/>
              <a:t>fair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C1E0-B81A-68BA-F029-53BAFC461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 whether predictions are fair between two groups A and B.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One possible solution </a:t>
            </a:r>
            <a:r>
              <a:rPr lang="en-US" dirty="0"/>
              <a:t>is </a:t>
            </a:r>
            <a:r>
              <a:rPr lang="en-US" i="1" dirty="0"/>
              <a:t>fairness through unawareness</a:t>
            </a:r>
            <a:r>
              <a:rPr lang="en-US" dirty="0"/>
              <a:t>, also called </a:t>
            </a:r>
            <a:r>
              <a:rPr lang="en-US" i="1" dirty="0"/>
              <a:t>blindness, </a:t>
            </a:r>
            <a:r>
              <a:rPr lang="en-US" dirty="0"/>
              <a:t>wherein the</a:t>
            </a:r>
            <a:r>
              <a:rPr lang="en-US" i="1" dirty="0"/>
              <a:t> </a:t>
            </a:r>
            <a:r>
              <a:rPr lang="en-US" dirty="0"/>
              <a:t>model is not given information about group status.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Report back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What could go wrong if the model is </a:t>
            </a:r>
            <a:r>
              <a:rPr lang="en-US" i="1" dirty="0"/>
              <a:t>aware </a:t>
            </a:r>
            <a:r>
              <a:rPr lang="en-US" dirty="0"/>
              <a:t>of group status?</a:t>
            </a:r>
          </a:p>
          <a:p>
            <a:pPr marL="0" indent="0">
              <a:buNone/>
            </a:pPr>
            <a:r>
              <a:rPr lang="en-US" dirty="0"/>
              <a:t>- What could go wrong if the model is </a:t>
            </a:r>
            <a:r>
              <a:rPr lang="en-US" i="1" dirty="0"/>
              <a:t>unaware</a:t>
            </a:r>
            <a:r>
              <a:rPr lang="en-US" dirty="0"/>
              <a:t> of group status?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Then, propose an alternative approach to achieve or evaluate fairness.</a:t>
            </a:r>
          </a:p>
        </p:txBody>
      </p:sp>
    </p:spTree>
    <p:extLst>
      <p:ext uri="{BB962C8B-B14F-4D97-AF65-F5344CB8AC3E}">
        <p14:creationId xmlns:p14="http://schemas.microsoft.com/office/powerpoint/2010/main" val="12549443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3B352A-BFC2-BB9D-3FE3-7F1069B87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3" y="161440"/>
            <a:ext cx="5949489" cy="6057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C82366-2A7A-2F86-6BA0-01D678268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261" y="2022571"/>
            <a:ext cx="6411066" cy="46739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31873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0882-8420-2637-8C96-DDA1CDE5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Blindness can be ineffective or even harmful.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ABBFC-B6EE-C9AB-AFFE-6901D83C0A42}"/>
              </a:ext>
            </a:extLst>
          </p:cNvPr>
          <p:cNvSpPr txBox="1"/>
          <p:nvPr/>
        </p:nvSpPr>
        <p:spPr>
          <a:xfrm>
            <a:off x="1003610" y="1460809"/>
            <a:ext cx="5542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cases it is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other cases it isn’t enough to fix the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still other cases, it can make the problem worse.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2134-F61B-713C-B521-1166A18140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614"/>
          <a:stretch/>
        </p:blipFill>
        <p:spPr>
          <a:xfrm>
            <a:off x="566542" y="2710536"/>
            <a:ext cx="11058915" cy="37147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9D7974-13B2-6FD2-9006-6E9BE5BFB33E}"/>
              </a:ext>
            </a:extLst>
          </p:cNvPr>
          <p:cNvSpPr txBox="1"/>
          <p:nvPr/>
        </p:nvSpPr>
        <p:spPr>
          <a:xfrm>
            <a:off x="1598229" y="6089849"/>
            <a:ext cx="10027228" cy="3354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       Black-Black		White-White		Black-White	               White-Black</a:t>
            </a:r>
          </a:p>
        </p:txBody>
      </p:sp>
    </p:spTree>
    <p:extLst>
      <p:ext uri="{BB962C8B-B14F-4D97-AF65-F5344CB8AC3E}">
        <p14:creationId xmlns:p14="http://schemas.microsoft.com/office/powerpoint/2010/main" val="29321982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ED58-EA68-F272-284C-3F129FA4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definitions of algorithmic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63A1D-F89D-E0E0-7806-774DC92B0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Consider whether predictions are fair between two groups A and B.</a:t>
            </a:r>
          </a:p>
          <a:p>
            <a:pPr marL="514350" indent="-514350">
              <a:buFont typeface="+mj-lt"/>
              <a:buAutoNum type="arabicPeriod"/>
            </a:pPr>
            <a:endParaRPr lang="en-US" u="sng" dirty="0"/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Blindness</a:t>
            </a:r>
            <a:r>
              <a:rPr lang="en-US" dirty="0"/>
              <a:t>: The model </a:t>
            </a:r>
            <a:r>
              <a:rPr lang="en-US" i="1" dirty="0"/>
              <a:t>cannot see </a:t>
            </a:r>
            <a:r>
              <a:rPr lang="en-US" dirty="0"/>
              <a:t>group status</a:t>
            </a:r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Independence</a:t>
            </a:r>
            <a:r>
              <a:rPr lang="en-US" dirty="0"/>
              <a:t>: Model predictions are </a:t>
            </a:r>
            <a:r>
              <a:rPr lang="en-US" i="1" dirty="0"/>
              <a:t>independent</a:t>
            </a:r>
            <a:r>
              <a:rPr lang="en-US" dirty="0"/>
              <a:t> of group status</a:t>
            </a:r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Separation</a:t>
            </a:r>
            <a:r>
              <a:rPr lang="en-US" dirty="0"/>
              <a:t>: Model </a:t>
            </a:r>
            <a:r>
              <a:rPr lang="en-US" i="1" dirty="0"/>
              <a:t>performance</a:t>
            </a:r>
            <a:r>
              <a:rPr lang="en-US" dirty="0"/>
              <a:t> is similar in all groups</a:t>
            </a:r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Individual fairness</a:t>
            </a:r>
            <a:r>
              <a:rPr lang="en-US" dirty="0"/>
              <a:t>: The model makes </a:t>
            </a:r>
            <a:r>
              <a:rPr lang="en-US" i="1" dirty="0"/>
              <a:t>similar predictions </a:t>
            </a:r>
            <a:r>
              <a:rPr lang="en-US" dirty="0"/>
              <a:t>for similar individuals regardless of group status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Except under special (&amp; not realistic) circumstances, (1) – (4) are mutually exclusive.</a:t>
            </a:r>
          </a:p>
        </p:txBody>
      </p:sp>
    </p:spTree>
    <p:extLst>
      <p:ext uri="{BB962C8B-B14F-4D97-AF65-F5344CB8AC3E}">
        <p14:creationId xmlns:p14="http://schemas.microsoft.com/office/powerpoint/2010/main" val="27242255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1709-E213-2786-50C6-04D888E0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 on </a:t>
            </a:r>
            <a:r>
              <a:rPr lang="en-US" i="1" dirty="0"/>
              <a:t>Independence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43002-EB35-123D-21DC-897D2B738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546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Model predictions are independent of group status.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implies that the distribution of model predictions is the same in each group.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this </a:t>
            </a:r>
            <a:r>
              <a:rPr lang="en-US" b="1" dirty="0"/>
              <a:t>fair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3AFE9E-8092-5D7C-DEB3-0041151E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367" y="1328626"/>
            <a:ext cx="6647329" cy="4985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C5A11C-50E4-B816-F59F-E792C06AED14}"/>
              </a:ext>
            </a:extLst>
          </p:cNvPr>
          <p:cNvSpPr txBox="1"/>
          <p:nvPr/>
        </p:nvSpPr>
        <p:spPr>
          <a:xfrm>
            <a:off x="6884894" y="5807631"/>
            <a:ext cx="328878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Black		             White</a:t>
            </a:r>
          </a:p>
        </p:txBody>
      </p:sp>
    </p:spTree>
    <p:extLst>
      <p:ext uri="{BB962C8B-B14F-4D97-AF65-F5344CB8AC3E}">
        <p14:creationId xmlns:p14="http://schemas.microsoft.com/office/powerpoint/2010/main" val="225116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D58F-9B44-064B-AAAB-DFDEECCA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 on </a:t>
            </a:r>
            <a:r>
              <a:rPr lang="en-US" i="1" dirty="0"/>
              <a:t>Separation</a:t>
            </a:r>
            <a:endParaRPr lang="en-US" i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3EF44-9716-F8F9-2FE4-B998DD264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1" y="1286129"/>
            <a:ext cx="6521112" cy="489083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E2BA42-256B-72DC-79C9-BD98ECDE065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6154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Model predictions are independent of group status </a:t>
            </a:r>
            <a:r>
              <a:rPr lang="en-US" i="1" dirty="0"/>
              <a:t>after conditioning on the outcome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implies when considering individuals </a:t>
            </a:r>
            <a:r>
              <a:rPr lang="en-US" i="1" dirty="0"/>
              <a:t>with the same outcome</a:t>
            </a:r>
            <a:r>
              <a:rPr lang="en-US" dirty="0"/>
              <a:t>, the distribution of model predictions is the same in each group.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 this </a:t>
            </a:r>
            <a:r>
              <a:rPr lang="en-US" b="1" dirty="0"/>
              <a:t>fair</a:t>
            </a:r>
            <a:r>
              <a:rPr lang="en-U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ACEBA-4A77-3921-FD43-5A239CA3216C}"/>
              </a:ext>
            </a:extLst>
          </p:cNvPr>
          <p:cNvSpPr txBox="1"/>
          <p:nvPr/>
        </p:nvSpPr>
        <p:spPr>
          <a:xfrm>
            <a:off x="6282465" y="5678540"/>
            <a:ext cx="19951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Black	     White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423AC-58D0-D02D-AC6E-3AA01504F378}"/>
              </a:ext>
            </a:extLst>
          </p:cNvPr>
          <p:cNvSpPr txBox="1"/>
          <p:nvPr/>
        </p:nvSpPr>
        <p:spPr>
          <a:xfrm>
            <a:off x="8736107" y="5678540"/>
            <a:ext cx="19951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Black	     White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9E035-18B3-0505-5677-805DF8EDFBFD}"/>
              </a:ext>
            </a:extLst>
          </p:cNvPr>
          <p:cNvSpPr txBox="1"/>
          <p:nvPr/>
        </p:nvSpPr>
        <p:spPr>
          <a:xfrm>
            <a:off x="8595043" y="6168647"/>
            <a:ext cx="22772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Progressed to Stage IV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1B713-627D-971D-B5E2-7D33B850B7DF}"/>
              </a:ext>
            </a:extLst>
          </p:cNvPr>
          <p:cNvSpPr txBox="1"/>
          <p:nvPr/>
        </p:nvSpPr>
        <p:spPr>
          <a:xfrm>
            <a:off x="6416828" y="6176963"/>
            <a:ext cx="172643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Did not Progress</a:t>
            </a:r>
          </a:p>
        </p:txBody>
      </p:sp>
    </p:spTree>
    <p:extLst>
      <p:ext uri="{BB962C8B-B14F-4D97-AF65-F5344CB8AC3E}">
        <p14:creationId xmlns:p14="http://schemas.microsoft.com/office/powerpoint/2010/main" val="24726569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2A64-C25D-99E4-FCE0-135EB4C0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fairness with group conditional AUC (</a:t>
            </a:r>
            <a:r>
              <a:rPr lang="en-US" dirty="0" err="1"/>
              <a:t>xAUC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A28C8-EF81-5F6E-1101-6618BE7188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err="1"/>
                  <a:t>xAUC</a:t>
                </a:r>
                <a:r>
                  <a:rPr lang="en-US" sz="2000" baseline="-25000" dirty="0" err="1"/>
                  <a:t>A,B</a:t>
                </a:r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[i.e. we are now conditioning on group status]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Consider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dirty="0" err="1"/>
                  <a:t>xAUC</a:t>
                </a:r>
                <a:r>
                  <a:rPr lang="en-US" sz="2000" dirty="0"/>
                  <a:t> = |</a:t>
                </a:r>
                <a:r>
                  <a:rPr lang="en-US" sz="2000" dirty="0" err="1"/>
                  <a:t>xAUC</a:t>
                </a:r>
                <a:r>
                  <a:rPr lang="en-US" sz="2000" baseline="-25000" dirty="0" err="1"/>
                  <a:t>B,A</a:t>
                </a:r>
                <a:r>
                  <a:rPr lang="en-US" sz="2000" dirty="0"/>
                  <a:t> – </a:t>
                </a:r>
                <a:r>
                  <a:rPr lang="en-US" sz="2000" dirty="0" err="1"/>
                  <a:t>xAUC</a:t>
                </a:r>
                <a:r>
                  <a:rPr lang="en-US" sz="2000" baseline="-25000" dirty="0" err="1"/>
                  <a:t>A,B</a:t>
                </a:r>
                <a:r>
                  <a:rPr lang="en-US" sz="2000" dirty="0"/>
                  <a:t>|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Does lower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dirty="0" err="1"/>
                  <a:t>xAUC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imply a fairer model?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A28C8-EF81-5F6E-1101-6618BE718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69D735D-9C09-550E-BDE9-286C21AF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093" y="3889331"/>
            <a:ext cx="8445759" cy="270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9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6116</TotalTime>
  <Words>4033</Words>
  <Application>Microsoft Macintosh PowerPoint</Application>
  <PresentationFormat>Widescreen</PresentationFormat>
  <Paragraphs>509</Paragraphs>
  <Slides>55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Wingdings</vt:lpstr>
      <vt:lpstr>Office Theme</vt:lpstr>
      <vt:lpstr>2_Office Theme</vt:lpstr>
      <vt:lpstr>Discrimination Metrics </vt:lpstr>
      <vt:lpstr>Preliminaries</vt:lpstr>
      <vt:lpstr>Medical student case study: new kidney risk prediction model</vt:lpstr>
      <vt:lpstr>Health AI student case study: new kidney risk prediction model</vt:lpstr>
      <vt:lpstr>Consider: how might a provider use your model’s predictions?</vt:lpstr>
      <vt:lpstr>Discrimination   vs   Calibration</vt:lpstr>
      <vt:lpstr>Today: discrimination metrics</vt:lpstr>
      <vt:lpstr>Suppose our features are highly informative. What might our model’s predictions look like?</vt:lpstr>
      <vt:lpstr>Suppose our features are highly informative. What might our model’s predictions look like?</vt:lpstr>
      <vt:lpstr>Suppose our features are highly informative. What might our model’s predictions look like?</vt:lpstr>
      <vt:lpstr>Suppose our features are highly informative. What might our model’s predictions look like?</vt:lpstr>
      <vt:lpstr>Suppose our features are highly informative. What might our model’s predictions look like?</vt:lpstr>
      <vt:lpstr>Consider: how does each metric change as we vary the threshold?</vt:lpstr>
      <vt:lpstr>Consider: how does each metric change as we vary class balance?</vt:lpstr>
      <vt:lpstr>Consider: how does each metric change as we vary the threshold?</vt:lpstr>
      <vt:lpstr>Consider: how does each metric change as we vary the threshold?</vt:lpstr>
      <vt:lpstr>Consider: how does each metric change as we vary the threshold?</vt:lpstr>
      <vt:lpstr>Receiver Operating Characteristic Curve</vt:lpstr>
      <vt:lpstr>So, what’s a good AUC value? (i.e., good performance)?</vt:lpstr>
      <vt:lpstr>Suppose our features contain no information about the outcome. What might predictions look like?</vt:lpstr>
      <vt:lpstr>Suppose our features contain no information about the outcome. What might predictions look like?</vt:lpstr>
      <vt:lpstr>Our “no information” predictive model</vt:lpstr>
      <vt:lpstr>Our “no information” model</vt:lpstr>
      <vt:lpstr>So, what’s a good AUC value? (i.e., good performance)?</vt:lpstr>
      <vt:lpstr>What can we say about prediction performance when distributions match?</vt:lpstr>
      <vt:lpstr>Brief overview of generative adversarial networks (GANs)</vt:lpstr>
      <vt:lpstr>Adversarial discriminative domain adaptation (ADDA)</vt:lpstr>
      <vt:lpstr>We’ve quantified performance across all thresholds, but how do we use the model?</vt:lpstr>
      <vt:lpstr>Healthcare Scenarios Which performance metric is most important?</vt:lpstr>
      <vt:lpstr>Operating Point:  high sensitivity</vt:lpstr>
      <vt:lpstr>The Precision-Recall Curve (i.e., PPV-Sensitivity Curve)</vt:lpstr>
      <vt:lpstr>Operating Point:  high sensitivity</vt:lpstr>
      <vt:lpstr>Healthcare Scenarios</vt:lpstr>
      <vt:lpstr>Operating Point:  high specificity</vt:lpstr>
      <vt:lpstr>Healthcare Scenarios</vt:lpstr>
      <vt:lpstr>Operating Point:  balanced</vt:lpstr>
      <vt:lpstr>Healthcare Scenarios</vt:lpstr>
      <vt:lpstr>Probabilistic definition of AUC</vt:lpstr>
      <vt:lpstr>Equivalence of probabilistic and graphical definitions</vt:lpstr>
      <vt:lpstr>Equivalence of probabilistic and graphical definitions</vt:lpstr>
      <vt:lpstr>Equivalence of probabilistic and graphical definitions</vt:lpstr>
      <vt:lpstr>Report back: AUC in subgroups</vt:lpstr>
      <vt:lpstr>Other notable properties</vt:lpstr>
      <vt:lpstr>Multi-class problems</vt:lpstr>
      <vt:lpstr>Multi-class problems: “Confusion Matrix”</vt:lpstr>
      <vt:lpstr>Multi-class problems: Binary for Label 1</vt:lpstr>
      <vt:lpstr>Multi-class problems: Binary for Label 2</vt:lpstr>
      <vt:lpstr>AUC and fairness</vt:lpstr>
      <vt:lpstr>What does it mean for a model to be fair?</vt:lpstr>
      <vt:lpstr>PowerPoint Presentation</vt:lpstr>
      <vt:lpstr>Blindness can be ineffective or even harmful.</vt:lpstr>
      <vt:lpstr>Possible definitions of algorithmic fairness</vt:lpstr>
      <vt:lpstr>Zooming in on Independence</vt:lpstr>
      <vt:lpstr>Zooming in on Separation</vt:lpstr>
      <vt:lpstr>Assessing fairness with group conditional AUC (xAUC)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Data Science  May 24, 2019</dc:title>
  <dc:creator>Matthew Engelhard, M.D., Ph.D.</dc:creator>
  <cp:lastModifiedBy>Matthew Engelhard, M.D., Ph.D.</cp:lastModifiedBy>
  <cp:revision>85</cp:revision>
  <dcterms:created xsi:type="dcterms:W3CDTF">2019-05-17T00:10:36Z</dcterms:created>
  <dcterms:modified xsi:type="dcterms:W3CDTF">2026-01-28T20:04:17Z</dcterms:modified>
</cp:coreProperties>
</file>