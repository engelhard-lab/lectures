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942" r:id="rId5"/>
    <p:sldId id="259" r:id="rId6"/>
    <p:sldId id="907" r:id="rId7"/>
    <p:sldId id="915" r:id="rId8"/>
    <p:sldId id="916" r:id="rId9"/>
    <p:sldId id="918" r:id="rId10"/>
    <p:sldId id="919" r:id="rId11"/>
    <p:sldId id="920" r:id="rId12"/>
    <p:sldId id="921" r:id="rId13"/>
    <p:sldId id="585" r:id="rId14"/>
    <p:sldId id="922" r:id="rId15"/>
    <p:sldId id="923" r:id="rId16"/>
    <p:sldId id="924" r:id="rId17"/>
    <p:sldId id="925" r:id="rId18"/>
    <p:sldId id="934" r:id="rId19"/>
    <p:sldId id="930" r:id="rId20"/>
    <p:sldId id="940" r:id="rId21"/>
    <p:sldId id="939" r:id="rId22"/>
    <p:sldId id="941" r:id="rId23"/>
    <p:sldId id="932" r:id="rId24"/>
    <p:sldId id="931" r:id="rId25"/>
    <p:sldId id="944" r:id="rId26"/>
    <p:sldId id="935" r:id="rId27"/>
    <p:sldId id="928" r:id="rId28"/>
    <p:sldId id="265" r:id="rId29"/>
    <p:sldId id="936" r:id="rId30"/>
    <p:sldId id="943" r:id="rId31"/>
    <p:sldId id="937" r:id="rId32"/>
    <p:sldId id="93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0"/>
    <p:restoredTop sz="84129"/>
  </p:normalViewPr>
  <p:slideViewPr>
    <p:cSldViewPr snapToGrid="0">
      <p:cViewPr varScale="1">
        <p:scale>
          <a:sx n="168" d="100"/>
          <a:sy n="168" d="100"/>
        </p:scale>
        <p:origin x="57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F32F5-CD9F-2744-A992-A815CC1A3BAB}"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1341FB-3328-C649-B111-DF35F7377317}" type="slidenum">
              <a:rPr lang="en-US" smtClean="0"/>
              <a:t>‹#›</a:t>
            </a:fld>
            <a:endParaRPr lang="en-US"/>
          </a:p>
        </p:txBody>
      </p:sp>
    </p:spTree>
    <p:extLst>
      <p:ext uri="{BB962C8B-B14F-4D97-AF65-F5344CB8AC3E}">
        <p14:creationId xmlns:p14="http://schemas.microsoft.com/office/powerpoint/2010/main" val="3174233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the CNN identify this?</a:t>
            </a:r>
          </a:p>
          <a:p>
            <a:r>
              <a:rPr lang="en-US" dirty="0"/>
              <a:t>Not rotation invariant</a:t>
            </a:r>
          </a:p>
        </p:txBody>
      </p:sp>
      <p:sp>
        <p:nvSpPr>
          <p:cNvPr id="4" name="Slide Number Placeholder 3"/>
          <p:cNvSpPr>
            <a:spLocks noGrp="1"/>
          </p:cNvSpPr>
          <p:nvPr>
            <p:ph type="sldNum" sz="quarter" idx="5"/>
          </p:nvPr>
        </p:nvSpPr>
        <p:spPr/>
        <p:txBody>
          <a:bodyPr/>
          <a:lstStyle/>
          <a:p>
            <a:fld id="{1B1341FB-3328-C649-B111-DF35F7377317}" type="slidenum">
              <a:rPr lang="en-US" smtClean="0"/>
              <a:t>8</a:t>
            </a:fld>
            <a:endParaRPr lang="en-US"/>
          </a:p>
        </p:txBody>
      </p:sp>
    </p:spTree>
    <p:extLst>
      <p:ext uri="{BB962C8B-B14F-4D97-AF65-F5344CB8AC3E}">
        <p14:creationId xmlns:p14="http://schemas.microsoft.com/office/powerpoint/2010/main" val="2015680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Another hospital where all the measurements are a little higher, or a little lower</a:t>
            </a:r>
          </a:p>
          <a:p>
            <a:pPr marL="171450" indent="-171450">
              <a:buFontTx/>
              <a:buChar char="-"/>
            </a:pPr>
            <a:r>
              <a:rPr lang="en-US" dirty="0"/>
              <a:t>What would be a rotation in this context?</a:t>
            </a:r>
          </a:p>
          <a:p>
            <a:pPr marL="171450" indent="-171450">
              <a:buFontTx/>
              <a:buChar char="-"/>
            </a:pPr>
            <a:endParaRPr lang="en-US" dirty="0"/>
          </a:p>
          <a:p>
            <a:pPr marL="171450" indent="-171450">
              <a:buFontTx/>
              <a:buChar char="-"/>
            </a:pPr>
            <a:r>
              <a:rPr lang="en-US" dirty="0"/>
              <a:t>Consider permutation of two different ECG leads, for example</a:t>
            </a:r>
          </a:p>
        </p:txBody>
      </p:sp>
      <p:sp>
        <p:nvSpPr>
          <p:cNvPr id="4" name="Slide Number Placeholder 3"/>
          <p:cNvSpPr>
            <a:spLocks noGrp="1"/>
          </p:cNvSpPr>
          <p:nvPr>
            <p:ph type="sldNum" sz="quarter" idx="5"/>
          </p:nvPr>
        </p:nvSpPr>
        <p:spPr/>
        <p:txBody>
          <a:bodyPr/>
          <a:lstStyle/>
          <a:p>
            <a:fld id="{9FCDE58F-843A-8447-AF7F-7BD31329CDC1}" type="slidenum">
              <a:rPr lang="en-US" smtClean="0"/>
              <a:t>13</a:t>
            </a:fld>
            <a:endParaRPr lang="en-US"/>
          </a:p>
        </p:txBody>
      </p:sp>
    </p:spTree>
    <p:extLst>
      <p:ext uri="{BB962C8B-B14F-4D97-AF65-F5344CB8AC3E}">
        <p14:creationId xmlns:p14="http://schemas.microsoft.com/office/powerpoint/2010/main" val="2496373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341FB-3328-C649-B111-DF35F7377317}" type="slidenum">
              <a:rPr lang="en-US" smtClean="0"/>
              <a:t>24</a:t>
            </a:fld>
            <a:endParaRPr lang="en-US"/>
          </a:p>
        </p:txBody>
      </p:sp>
    </p:spTree>
    <p:extLst>
      <p:ext uri="{BB962C8B-B14F-4D97-AF65-F5344CB8AC3E}">
        <p14:creationId xmlns:p14="http://schemas.microsoft.com/office/powerpoint/2010/main" val="4262686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bf64fa526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bf64fa526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Why does CC work? Compare photoEMA to image cropping</a:t>
            </a:r>
            <a:endParaRPr/>
          </a:p>
          <a:p>
            <a:pPr marL="457200" lvl="0" indent="-298450" algn="l" rtl="0">
              <a:spcBef>
                <a:spcPts val="0"/>
              </a:spcBef>
              <a:spcAft>
                <a:spcPts val="0"/>
              </a:spcAft>
              <a:buSzPts val="1100"/>
              <a:buChar char="-"/>
            </a:pPr>
            <a:r>
              <a:rPr lang="en"/>
              <a:t>Explain NMI in this context</a:t>
            </a:r>
            <a:endParaRPr/>
          </a:p>
          <a:p>
            <a:pPr marL="457200" lvl="0" indent="-298450" algn="l" rtl="0">
              <a:spcBef>
                <a:spcPts val="0"/>
              </a:spcBef>
              <a:spcAft>
                <a:spcPts val="0"/>
              </a:spcAft>
              <a:buSzPts val="1100"/>
              <a:buChar char="-"/>
            </a:pPr>
            <a:r>
              <a:rPr lang="en"/>
              <a:t>Explain the bar plots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in our group activity we will come back to noise contrastive estimation and the relationship to mutual information</a:t>
            </a:r>
          </a:p>
        </p:txBody>
      </p:sp>
      <p:sp>
        <p:nvSpPr>
          <p:cNvPr id="4" name="Slide Number Placeholder 3"/>
          <p:cNvSpPr>
            <a:spLocks noGrp="1"/>
          </p:cNvSpPr>
          <p:nvPr>
            <p:ph type="sldNum" sz="quarter" idx="5"/>
          </p:nvPr>
        </p:nvSpPr>
        <p:spPr/>
        <p:txBody>
          <a:bodyPr/>
          <a:lstStyle/>
          <a:p>
            <a:fld id="{1B1341FB-3328-C649-B111-DF35F7377317}" type="slidenum">
              <a:rPr lang="en-US" smtClean="0"/>
              <a:t>29</a:t>
            </a:fld>
            <a:endParaRPr lang="en-US"/>
          </a:p>
        </p:txBody>
      </p:sp>
    </p:spTree>
    <p:extLst>
      <p:ext uri="{BB962C8B-B14F-4D97-AF65-F5344CB8AC3E}">
        <p14:creationId xmlns:p14="http://schemas.microsoft.com/office/powerpoint/2010/main" val="832263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4D5D1-3820-91B0-1BC4-9453BD9EC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2D30B-FFF8-AF71-517B-4B6D00D5B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B96DD-BA92-478A-B004-95014BF8C2FB}"/>
              </a:ext>
            </a:extLst>
          </p:cNvPr>
          <p:cNvSpPr>
            <a:spLocks noGrp="1"/>
          </p:cNvSpPr>
          <p:nvPr>
            <p:ph type="body" idx="1"/>
          </p:nvPr>
        </p:nvSpPr>
        <p:spPr/>
        <p:txBody>
          <a:bodyPr/>
          <a:lstStyle/>
          <a:p>
            <a:r>
              <a:rPr lang="en-US" dirty="0"/>
              <a:t>Note that in our group activity we will come back to noise contrastive estimation and the relationship to mutual information</a:t>
            </a:r>
          </a:p>
        </p:txBody>
      </p:sp>
      <p:sp>
        <p:nvSpPr>
          <p:cNvPr id="4" name="Slide Number Placeholder 3">
            <a:extLst>
              <a:ext uri="{FF2B5EF4-FFF2-40B4-BE49-F238E27FC236}">
                <a16:creationId xmlns:a16="http://schemas.microsoft.com/office/drawing/2014/main" id="{1A078385-358F-B8CE-68F7-76FAA27B60BE}"/>
              </a:ext>
            </a:extLst>
          </p:cNvPr>
          <p:cNvSpPr>
            <a:spLocks noGrp="1"/>
          </p:cNvSpPr>
          <p:nvPr>
            <p:ph type="sldNum" sz="quarter" idx="5"/>
          </p:nvPr>
        </p:nvSpPr>
        <p:spPr/>
        <p:txBody>
          <a:bodyPr/>
          <a:lstStyle/>
          <a:p>
            <a:fld id="{1B1341FB-3328-C649-B111-DF35F7377317}" type="slidenum">
              <a:rPr lang="en-US" smtClean="0"/>
              <a:t>30</a:t>
            </a:fld>
            <a:endParaRPr lang="en-US"/>
          </a:p>
        </p:txBody>
      </p:sp>
    </p:spTree>
    <p:extLst>
      <p:ext uri="{BB962C8B-B14F-4D97-AF65-F5344CB8AC3E}">
        <p14:creationId xmlns:p14="http://schemas.microsoft.com/office/powerpoint/2010/main" val="607875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368EE-9E5C-4C56-9871-08E7EC26FF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D5726A-21FD-8B79-42D0-608792BB7A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3BDD1A-C5EF-ACA8-4478-137443B7F37D}"/>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5" name="Footer Placeholder 4">
            <a:extLst>
              <a:ext uri="{FF2B5EF4-FFF2-40B4-BE49-F238E27FC236}">
                <a16:creationId xmlns:a16="http://schemas.microsoft.com/office/drawing/2014/main" id="{55A5D63F-2786-4379-B40C-E533EE9F3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0917F2-B8A3-35FF-EC49-B951D3EE420D}"/>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1720149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155-AB33-1DDF-C33A-E9E7CC5DB2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C67C4A-1546-2BBB-0DB5-A2671DE24F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975DF-D545-000E-97FA-9D36F5A1D8C2}"/>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5" name="Footer Placeholder 4">
            <a:extLst>
              <a:ext uri="{FF2B5EF4-FFF2-40B4-BE49-F238E27FC236}">
                <a16:creationId xmlns:a16="http://schemas.microsoft.com/office/drawing/2014/main" id="{42A62C77-3AA1-29B5-3803-D8E7F7BA21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B5039E-6CCF-D128-D708-6D1290C588E1}"/>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1989977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3C477-2A65-5510-0E72-E83B47B04C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0DEDBC-2FED-B65C-204F-EDA8C50C95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4592A0-AE32-1097-2475-242EACA29414}"/>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5" name="Footer Placeholder 4">
            <a:extLst>
              <a:ext uri="{FF2B5EF4-FFF2-40B4-BE49-F238E27FC236}">
                <a16:creationId xmlns:a16="http://schemas.microsoft.com/office/drawing/2014/main" id="{E441C1D1-2DDE-6E2A-38C1-E0E2F3FA92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04F04-7BF6-4927-7B84-5901EC84812B}"/>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997924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5D597-63F4-3C4B-E923-3AEC13195D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AAD2B5-050A-17AC-6E7A-02724DD5F9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857085-E8DE-AF1E-2A5B-0AC38839AF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14BE60-E504-8782-EB05-E82C69C107D0}"/>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6" name="Footer Placeholder 5">
            <a:extLst>
              <a:ext uri="{FF2B5EF4-FFF2-40B4-BE49-F238E27FC236}">
                <a16:creationId xmlns:a16="http://schemas.microsoft.com/office/drawing/2014/main" id="{E2544D0F-6526-09BC-EE4B-2EC4E270F4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72A879-F20B-EE67-0F63-6A2CDC69126D}"/>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1857835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9852-02DB-8FA4-E58C-43FCD67B22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C5BAC3-8D8A-16AD-D0C7-8BCC99B811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725C01-AD26-FB53-134A-1AD62E392C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5A96D7-0B24-0B42-D4B0-461D257715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3FB812-E8A3-69D8-46D1-866509B5CC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9CB0E4-086A-9F4C-B68E-BA48DF5B370D}"/>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8" name="Footer Placeholder 7">
            <a:extLst>
              <a:ext uri="{FF2B5EF4-FFF2-40B4-BE49-F238E27FC236}">
                <a16:creationId xmlns:a16="http://schemas.microsoft.com/office/drawing/2014/main" id="{79B6365D-CBE5-3F9F-0131-DED0CD11CA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3D2E8C-3DFC-F837-E8A0-3ED76D25C786}"/>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3801765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74CAD-E8EC-2848-CD4D-05BC9F1427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57FA72C-BFDB-64A7-ABB9-A56F367BEECB}"/>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4" name="Footer Placeholder 3">
            <a:extLst>
              <a:ext uri="{FF2B5EF4-FFF2-40B4-BE49-F238E27FC236}">
                <a16:creationId xmlns:a16="http://schemas.microsoft.com/office/drawing/2014/main" id="{C3D46733-FB93-5535-FA2B-5820FDE0FB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4744C0-C678-BD40-3556-2D991E244A45}"/>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2025857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1A3A6F-AE3A-459A-ED8A-83567A509741}"/>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3" name="Footer Placeholder 2">
            <a:extLst>
              <a:ext uri="{FF2B5EF4-FFF2-40B4-BE49-F238E27FC236}">
                <a16:creationId xmlns:a16="http://schemas.microsoft.com/office/drawing/2014/main" id="{BEAF7CC4-26E7-392F-F212-DE5C284FE8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8C3BBF-62FB-BA37-D38E-285639FA87A8}"/>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4001015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45ACC-A735-DC33-45FE-27CFE5496B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6E7C5D-79F0-3E9D-90DF-E3DB028EA8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597B71-6144-91F2-5953-31EB8919E1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D99A36-129A-7E83-86D7-969BAD9ADBBE}"/>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6" name="Footer Placeholder 5">
            <a:extLst>
              <a:ext uri="{FF2B5EF4-FFF2-40B4-BE49-F238E27FC236}">
                <a16:creationId xmlns:a16="http://schemas.microsoft.com/office/drawing/2014/main" id="{6B7385B4-09BA-0827-F85B-144D25653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A30CFA-C968-A969-78A0-7C5032A9CBFF}"/>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3395630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7090-CEB8-A3A3-29AF-02AC858933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52879C-0950-37E4-6797-C4D9850BEE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67F515-1B24-504B-E673-FD8A5033B4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0CC484-24F4-8B08-AE73-ED09FDD192F1}"/>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6" name="Footer Placeholder 5">
            <a:extLst>
              <a:ext uri="{FF2B5EF4-FFF2-40B4-BE49-F238E27FC236}">
                <a16:creationId xmlns:a16="http://schemas.microsoft.com/office/drawing/2014/main" id="{F5325517-FCB5-0EE3-16E1-7ED39D5742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698241-B62B-75AC-317E-DB0DD34D5C5B}"/>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642510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EFD08-1F68-054F-2D02-B56EEC11E4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61DD10-4DFC-A462-B187-7C577EEFC8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9A06B5-6719-5484-E35E-EF434B126F39}"/>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5" name="Footer Placeholder 4">
            <a:extLst>
              <a:ext uri="{FF2B5EF4-FFF2-40B4-BE49-F238E27FC236}">
                <a16:creationId xmlns:a16="http://schemas.microsoft.com/office/drawing/2014/main" id="{DA2B5016-3AA4-FFDE-23A3-66335DE387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01C4F7-181F-7300-D22F-6099483D351E}"/>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3593456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41F602-3EE3-122E-416D-6EA971515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82E099-5E85-E24B-2791-B0CD618A33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32D7D-A055-27FB-C82F-EB3A368455DA}"/>
              </a:ext>
            </a:extLst>
          </p:cNvPr>
          <p:cNvSpPr>
            <a:spLocks noGrp="1"/>
          </p:cNvSpPr>
          <p:nvPr>
            <p:ph type="dt" sz="half" idx="10"/>
          </p:nvPr>
        </p:nvSpPr>
        <p:spPr/>
        <p:txBody>
          <a:bodyPr/>
          <a:lstStyle/>
          <a:p>
            <a:fld id="{FFB0874D-C1BD-3848-8693-50D0371141A2}" type="datetimeFigureOut">
              <a:rPr lang="en-US" smtClean="0"/>
              <a:t>2/23/26</a:t>
            </a:fld>
            <a:endParaRPr lang="en-US"/>
          </a:p>
        </p:txBody>
      </p:sp>
      <p:sp>
        <p:nvSpPr>
          <p:cNvPr id="5" name="Footer Placeholder 4">
            <a:extLst>
              <a:ext uri="{FF2B5EF4-FFF2-40B4-BE49-F238E27FC236}">
                <a16:creationId xmlns:a16="http://schemas.microsoft.com/office/drawing/2014/main" id="{75970BD9-D56D-DED7-EED8-B1D1172C31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C371E6-FC1E-702D-570B-74512B1867A5}"/>
              </a:ext>
            </a:extLst>
          </p:cNvPr>
          <p:cNvSpPr>
            <a:spLocks noGrp="1"/>
          </p:cNvSpPr>
          <p:nvPr>
            <p:ph type="sldNum" sz="quarter" idx="12"/>
          </p:nvPr>
        </p:nvSpPr>
        <p:spPr/>
        <p:txBody>
          <a:bodyPr/>
          <a:lstStyle/>
          <a:p>
            <a:fld id="{C639321C-4CE0-8D44-A213-9F64034D3516}" type="slidenum">
              <a:rPr lang="en-US" smtClean="0"/>
              <a:t>‹#›</a:t>
            </a:fld>
            <a:endParaRPr lang="en-US"/>
          </a:p>
        </p:txBody>
      </p:sp>
    </p:spTree>
    <p:extLst>
      <p:ext uri="{BB962C8B-B14F-4D97-AF65-F5344CB8AC3E}">
        <p14:creationId xmlns:p14="http://schemas.microsoft.com/office/powerpoint/2010/main" val="31851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8778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47830F-2ADD-8FA9-A6F1-B9595204E6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BEDC92-9061-E57B-2612-7E35C33129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871656-D74F-9261-CDE8-3295C8B58E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B0874D-C1BD-3848-8693-50D0371141A2}" type="datetimeFigureOut">
              <a:rPr lang="en-US" smtClean="0"/>
              <a:t>2/23/26</a:t>
            </a:fld>
            <a:endParaRPr lang="en-US"/>
          </a:p>
        </p:txBody>
      </p:sp>
      <p:sp>
        <p:nvSpPr>
          <p:cNvPr id="5" name="Footer Placeholder 4">
            <a:extLst>
              <a:ext uri="{FF2B5EF4-FFF2-40B4-BE49-F238E27FC236}">
                <a16:creationId xmlns:a16="http://schemas.microsoft.com/office/drawing/2014/main" id="{45F33524-9948-4B1F-E941-589FD96A01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0F37C4-A5B7-9F14-E24F-30CA9EFF69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39321C-4CE0-8D44-A213-9F64034D3516}" type="slidenum">
              <a:rPr lang="en-US" smtClean="0"/>
              <a:t>‹#›</a:t>
            </a:fld>
            <a:endParaRPr lang="en-US"/>
          </a:p>
        </p:txBody>
      </p:sp>
    </p:spTree>
    <p:extLst>
      <p:ext uri="{BB962C8B-B14F-4D97-AF65-F5344CB8AC3E}">
        <p14:creationId xmlns:p14="http://schemas.microsoft.com/office/powerpoint/2010/main" val="2946331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C4BBA-9379-9FDB-20F0-09CE446D5304}"/>
              </a:ext>
            </a:extLst>
          </p:cNvPr>
          <p:cNvSpPr>
            <a:spLocks noGrp="1"/>
          </p:cNvSpPr>
          <p:nvPr>
            <p:ph type="ctrTitle"/>
          </p:nvPr>
        </p:nvSpPr>
        <p:spPr/>
        <p:txBody>
          <a:bodyPr/>
          <a:lstStyle/>
          <a:p>
            <a:r>
              <a:rPr lang="en-US" dirty="0"/>
              <a:t>Data augmentation and contrastive learning</a:t>
            </a:r>
          </a:p>
        </p:txBody>
      </p:sp>
      <p:sp>
        <p:nvSpPr>
          <p:cNvPr id="3" name="Subtitle 2">
            <a:extLst>
              <a:ext uri="{FF2B5EF4-FFF2-40B4-BE49-F238E27FC236}">
                <a16:creationId xmlns:a16="http://schemas.microsoft.com/office/drawing/2014/main" id="{C231A2B7-2B55-CCF3-ABD6-25A9C0DAFA04}"/>
              </a:ext>
            </a:extLst>
          </p:cNvPr>
          <p:cNvSpPr>
            <a:spLocks noGrp="1"/>
          </p:cNvSpPr>
          <p:nvPr>
            <p:ph type="subTitle" idx="1"/>
          </p:nvPr>
        </p:nvSpPr>
        <p:spPr/>
        <p:txBody>
          <a:bodyPr/>
          <a:lstStyle/>
          <a:p>
            <a:endParaRPr lang="en-US" dirty="0"/>
          </a:p>
          <a:p>
            <a:r>
              <a:rPr lang="en-US" dirty="0"/>
              <a:t>Matthew Engelhard</a:t>
            </a:r>
          </a:p>
          <a:p>
            <a:r>
              <a:rPr lang="en-US" dirty="0"/>
              <a:t>Duke Biostatistics &amp; Bioinformatics</a:t>
            </a:r>
          </a:p>
        </p:txBody>
      </p:sp>
    </p:spTree>
    <p:extLst>
      <p:ext uri="{BB962C8B-B14F-4D97-AF65-F5344CB8AC3E}">
        <p14:creationId xmlns:p14="http://schemas.microsoft.com/office/powerpoint/2010/main" val="135310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C72C-B056-0319-90DD-FF04119A02E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4371B9A9-259F-0DA4-91D9-61FDCC8648D8}"/>
              </a:ext>
            </a:extLst>
          </p:cNvPr>
          <p:cNvSpPr>
            <a:spLocks noGrp="1"/>
          </p:cNvSpPr>
          <p:nvPr>
            <p:ph idx="1"/>
          </p:nvPr>
        </p:nvSpPr>
        <p:spPr/>
        <p:txBody>
          <a:bodyPr/>
          <a:lstStyle/>
          <a:p>
            <a:r>
              <a:rPr lang="en-US" dirty="0"/>
              <a:t>CNN basics</a:t>
            </a:r>
          </a:p>
          <a:p>
            <a:r>
              <a:rPr lang="en-US" dirty="0"/>
              <a:t>CNN architectures</a:t>
            </a:r>
          </a:p>
        </p:txBody>
      </p:sp>
    </p:spTree>
    <p:extLst>
      <p:ext uri="{BB962C8B-B14F-4D97-AF65-F5344CB8AC3E}">
        <p14:creationId xmlns:p14="http://schemas.microsoft.com/office/powerpoint/2010/main" val="133617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13773-F5AD-BA86-7F96-6F0284F781C8}"/>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C0BC2BF6-04F8-BABC-4C7C-3C835CC97B5A}"/>
              </a:ext>
            </a:extLst>
          </p:cNvPr>
          <p:cNvSpPr>
            <a:spLocks noGrp="1"/>
          </p:cNvSpPr>
          <p:nvPr>
            <p:ph idx="1"/>
          </p:nvPr>
        </p:nvSpPr>
        <p:spPr/>
        <p:txBody>
          <a:bodyPr/>
          <a:lstStyle/>
          <a:p>
            <a:r>
              <a:rPr lang="en-US" dirty="0"/>
              <a:t>Discussion of data augmentation for computer vision</a:t>
            </a:r>
          </a:p>
          <a:p>
            <a:r>
              <a:rPr lang="en-US" dirty="0"/>
              <a:t>From data augmentation to contrastive learning</a:t>
            </a:r>
          </a:p>
          <a:p>
            <a:r>
              <a:rPr lang="en-US" i="1" dirty="0"/>
              <a:t>A Simple Framework for Contrastive Learning of Visual Representations </a:t>
            </a:r>
            <a:r>
              <a:rPr lang="en-US" dirty="0"/>
              <a:t>(</a:t>
            </a:r>
            <a:r>
              <a:rPr lang="en-US" dirty="0" err="1"/>
              <a:t>SimCLR</a:t>
            </a:r>
            <a:r>
              <a:rPr lang="en-US" dirty="0"/>
              <a:t>)</a:t>
            </a:r>
          </a:p>
          <a:p>
            <a:r>
              <a:rPr lang="en-US" dirty="0"/>
              <a:t>Examples of contrastive learning in healthcare</a:t>
            </a:r>
          </a:p>
          <a:p>
            <a:r>
              <a:rPr lang="en-US" dirty="0"/>
              <a:t>A look ahead at multi-modal data</a:t>
            </a:r>
          </a:p>
          <a:p>
            <a:endParaRPr lang="en-US" dirty="0"/>
          </a:p>
        </p:txBody>
      </p:sp>
    </p:spTree>
    <p:extLst>
      <p:ext uri="{BB962C8B-B14F-4D97-AF65-F5344CB8AC3E}">
        <p14:creationId xmlns:p14="http://schemas.microsoft.com/office/powerpoint/2010/main" val="485142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D2A2B-B7F0-DB20-DFC6-439541678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52684-ACD9-18E7-5AFA-4C64ECD2EE28}"/>
              </a:ext>
            </a:extLst>
          </p:cNvPr>
          <p:cNvSpPr>
            <a:spLocks noGrp="1"/>
          </p:cNvSpPr>
          <p:nvPr>
            <p:ph type="title"/>
          </p:nvPr>
        </p:nvSpPr>
        <p:spPr/>
        <p:txBody>
          <a:bodyPr/>
          <a:lstStyle/>
          <a:p>
            <a:r>
              <a:rPr lang="en-US" dirty="0"/>
              <a:t>Soon</a:t>
            </a:r>
          </a:p>
        </p:txBody>
      </p:sp>
      <p:sp>
        <p:nvSpPr>
          <p:cNvPr id="3" name="Content Placeholder 2">
            <a:extLst>
              <a:ext uri="{FF2B5EF4-FFF2-40B4-BE49-F238E27FC236}">
                <a16:creationId xmlns:a16="http://schemas.microsoft.com/office/drawing/2014/main" id="{7640EC20-3FE5-DBE9-20DE-B062B53FB12B}"/>
              </a:ext>
            </a:extLst>
          </p:cNvPr>
          <p:cNvSpPr>
            <a:spLocks noGrp="1"/>
          </p:cNvSpPr>
          <p:nvPr>
            <p:ph idx="1"/>
          </p:nvPr>
        </p:nvSpPr>
        <p:spPr/>
        <p:txBody>
          <a:bodyPr/>
          <a:lstStyle/>
          <a:p>
            <a:r>
              <a:rPr lang="en-US" dirty="0"/>
              <a:t>Attribution methods / XAI for computer vision and beyond</a:t>
            </a:r>
          </a:p>
          <a:p>
            <a:endParaRPr lang="en-US" dirty="0"/>
          </a:p>
          <a:p>
            <a:r>
              <a:rPr lang="en-US" dirty="0"/>
              <a:t>(activity) a closer look at contrastive learning</a:t>
            </a:r>
          </a:p>
          <a:p>
            <a:endParaRPr lang="en-US" dirty="0"/>
          </a:p>
          <a:p>
            <a:r>
              <a:rPr lang="en-US" dirty="0"/>
              <a:t>Midterm on March 4</a:t>
            </a:r>
          </a:p>
          <a:p>
            <a:endParaRPr lang="en-US" dirty="0"/>
          </a:p>
        </p:txBody>
      </p:sp>
    </p:spTree>
    <p:extLst>
      <p:ext uri="{BB962C8B-B14F-4D97-AF65-F5344CB8AC3E}">
        <p14:creationId xmlns:p14="http://schemas.microsoft.com/office/powerpoint/2010/main" val="488631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12917-74F3-AF2E-B800-23A628CDF6D6}"/>
              </a:ext>
            </a:extLst>
          </p:cNvPr>
          <p:cNvSpPr>
            <a:spLocks noGrp="1"/>
          </p:cNvSpPr>
          <p:nvPr>
            <p:ph type="title"/>
          </p:nvPr>
        </p:nvSpPr>
        <p:spPr/>
        <p:txBody>
          <a:bodyPr/>
          <a:lstStyle/>
          <a:p>
            <a:r>
              <a:rPr lang="en-US" dirty="0"/>
              <a:t>Data Augmentation</a:t>
            </a:r>
          </a:p>
        </p:txBody>
      </p:sp>
      <p:sp>
        <p:nvSpPr>
          <p:cNvPr id="3" name="Text Placeholder 2">
            <a:extLst>
              <a:ext uri="{FF2B5EF4-FFF2-40B4-BE49-F238E27FC236}">
                <a16:creationId xmlns:a16="http://schemas.microsoft.com/office/drawing/2014/main" id="{7DC24785-8DEE-2195-90AD-BB9E75922A0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89021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6C0F3-1C30-3549-94A5-D5A0EB0AACC6}"/>
              </a:ext>
            </a:extLst>
          </p:cNvPr>
          <p:cNvSpPr>
            <a:spLocks noGrp="1"/>
          </p:cNvSpPr>
          <p:nvPr>
            <p:ph type="title"/>
          </p:nvPr>
        </p:nvSpPr>
        <p:spPr>
          <a:xfrm>
            <a:off x="858570" y="365125"/>
            <a:ext cx="10474859" cy="1325563"/>
          </a:xfrm>
        </p:spPr>
        <p:txBody>
          <a:bodyPr/>
          <a:lstStyle/>
          <a:p>
            <a:r>
              <a:rPr lang="en-US" dirty="0"/>
              <a:t>CNN: It’s a goose</a:t>
            </a:r>
          </a:p>
        </p:txBody>
      </p:sp>
      <p:pic>
        <p:nvPicPr>
          <p:cNvPr id="2050" name="Picture 2" descr="Funny Animal Photos: Goose Step">
            <a:extLst>
              <a:ext uri="{FF2B5EF4-FFF2-40B4-BE49-F238E27FC236}">
                <a16:creationId xmlns:a16="http://schemas.microsoft.com/office/drawing/2014/main" id="{FDA962CF-4D10-8946-B711-F660E68D935E}"/>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r="33451" b="20096"/>
          <a:stretch>
            <a:fillRect/>
          </a:stretch>
        </p:blipFill>
        <p:spPr bwMode="auto">
          <a:xfrm>
            <a:off x="1388099" y="2034719"/>
            <a:ext cx="3446451" cy="3985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589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482B-45AE-7569-B89A-9679291A5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71744-B0FA-2E2F-EAD1-DE8B52B13D47}"/>
              </a:ext>
            </a:extLst>
          </p:cNvPr>
          <p:cNvSpPr>
            <a:spLocks noGrp="1"/>
          </p:cNvSpPr>
          <p:nvPr>
            <p:ph type="title"/>
          </p:nvPr>
        </p:nvSpPr>
        <p:spPr>
          <a:xfrm>
            <a:off x="858570" y="365125"/>
            <a:ext cx="10474859" cy="1325563"/>
          </a:xfrm>
        </p:spPr>
        <p:txBody>
          <a:bodyPr/>
          <a:lstStyle/>
          <a:p>
            <a:r>
              <a:rPr lang="en-US" dirty="0"/>
              <a:t>CNN: (translation invariance) Still a goose!</a:t>
            </a:r>
          </a:p>
        </p:txBody>
      </p:sp>
      <p:pic>
        <p:nvPicPr>
          <p:cNvPr id="2050" name="Picture 2" descr="Funny Animal Photos: Goose Step">
            <a:extLst>
              <a:ext uri="{FF2B5EF4-FFF2-40B4-BE49-F238E27FC236}">
                <a16:creationId xmlns:a16="http://schemas.microsoft.com/office/drawing/2014/main" id="{32E908D6-6774-15E4-D185-FF2424D9C590}"/>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l="24299" t="16516" r="9151" b="3580"/>
          <a:stretch>
            <a:fillRect/>
          </a:stretch>
        </p:blipFill>
        <p:spPr bwMode="auto">
          <a:xfrm>
            <a:off x="1388099" y="2034719"/>
            <a:ext cx="3446451" cy="3985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805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2DC5F-55F9-DC2E-4B5B-CB080B28B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88497-8F63-7AC9-A82F-4CBF816059BD}"/>
              </a:ext>
            </a:extLst>
          </p:cNvPr>
          <p:cNvSpPr>
            <a:spLocks noGrp="1"/>
          </p:cNvSpPr>
          <p:nvPr>
            <p:ph type="title"/>
          </p:nvPr>
        </p:nvSpPr>
        <p:spPr>
          <a:xfrm>
            <a:off x="858570" y="365125"/>
            <a:ext cx="10474859" cy="1325563"/>
          </a:xfrm>
        </p:spPr>
        <p:txBody>
          <a:bodyPr/>
          <a:lstStyle/>
          <a:p>
            <a:r>
              <a:rPr lang="en-US" dirty="0"/>
              <a:t>CNN: ?</a:t>
            </a:r>
          </a:p>
        </p:txBody>
      </p:sp>
      <p:pic>
        <p:nvPicPr>
          <p:cNvPr id="2050" name="Picture 2" descr="Funny Animal Photos: Goose Step">
            <a:extLst>
              <a:ext uri="{FF2B5EF4-FFF2-40B4-BE49-F238E27FC236}">
                <a16:creationId xmlns:a16="http://schemas.microsoft.com/office/drawing/2014/main" id="{C93C9B66-AA80-A59F-C94F-3FEE9DFAE89B}"/>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l="24299" t="16516" r="9151" b="3580"/>
          <a:stretch>
            <a:fillRect/>
          </a:stretch>
        </p:blipFill>
        <p:spPr bwMode="auto">
          <a:xfrm rot="5400000">
            <a:off x="1388099" y="2034719"/>
            <a:ext cx="3446451" cy="3985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65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A1F51-29D7-CBAE-2438-C7F83D321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B3061-87FD-0CC7-7DC5-9C856472C407}"/>
              </a:ext>
            </a:extLst>
          </p:cNvPr>
          <p:cNvSpPr>
            <a:spLocks noGrp="1"/>
          </p:cNvSpPr>
          <p:nvPr>
            <p:ph type="title"/>
          </p:nvPr>
        </p:nvSpPr>
        <p:spPr>
          <a:xfrm>
            <a:off x="858570" y="365125"/>
            <a:ext cx="10474859" cy="1325563"/>
          </a:xfrm>
        </p:spPr>
        <p:txBody>
          <a:bodyPr/>
          <a:lstStyle/>
          <a:p>
            <a:r>
              <a:rPr lang="en-US" dirty="0"/>
              <a:t>CNN: I don’t see anything.</a:t>
            </a:r>
          </a:p>
        </p:txBody>
      </p:sp>
      <p:pic>
        <p:nvPicPr>
          <p:cNvPr id="2050" name="Picture 2" descr="Funny Animal Photos: Goose Step">
            <a:extLst>
              <a:ext uri="{FF2B5EF4-FFF2-40B4-BE49-F238E27FC236}">
                <a16:creationId xmlns:a16="http://schemas.microsoft.com/office/drawing/2014/main" id="{92044890-3E8D-3080-9C9B-69DC565B06C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l="24299" t="16516" r="9151" b="3580"/>
          <a:stretch>
            <a:fillRect/>
          </a:stretch>
        </p:blipFill>
        <p:spPr bwMode="auto">
          <a:xfrm>
            <a:off x="1388099" y="2034719"/>
            <a:ext cx="3446451" cy="3985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993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F5197-D26B-6C51-1B81-11BDCAE4F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F4C47-21FF-EF31-CD66-DD1AFF9F8BEB}"/>
              </a:ext>
            </a:extLst>
          </p:cNvPr>
          <p:cNvSpPr>
            <a:spLocks noGrp="1"/>
          </p:cNvSpPr>
          <p:nvPr>
            <p:ph type="title"/>
          </p:nvPr>
        </p:nvSpPr>
        <p:spPr>
          <a:xfrm>
            <a:off x="858570" y="365125"/>
            <a:ext cx="10474859" cy="1325563"/>
          </a:xfrm>
        </p:spPr>
        <p:txBody>
          <a:bodyPr/>
          <a:lstStyle/>
          <a:p>
            <a:r>
              <a:rPr lang="en-US" dirty="0"/>
              <a:t>CNN: This is a bowling pin.</a:t>
            </a:r>
          </a:p>
        </p:txBody>
      </p:sp>
      <p:pic>
        <p:nvPicPr>
          <p:cNvPr id="2050" name="Picture 2" descr="Funny Animal Photos: Goose Step">
            <a:extLst>
              <a:ext uri="{FF2B5EF4-FFF2-40B4-BE49-F238E27FC236}">
                <a16:creationId xmlns:a16="http://schemas.microsoft.com/office/drawing/2014/main" id="{C4425464-B41F-64E5-59B2-2D669DC98AA7}"/>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l="32620" t="13095" r="33451" b="41979"/>
          <a:stretch>
            <a:fillRect/>
          </a:stretch>
        </p:blipFill>
        <p:spPr bwMode="auto">
          <a:xfrm>
            <a:off x="1367074" y="2009869"/>
            <a:ext cx="3123445" cy="398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2156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B5658-7842-F103-8C75-C0F8DEDAE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FBA73-167B-E7B0-389A-7AFAD303E65A}"/>
              </a:ext>
            </a:extLst>
          </p:cNvPr>
          <p:cNvSpPr>
            <a:spLocks noGrp="1"/>
          </p:cNvSpPr>
          <p:nvPr>
            <p:ph type="title"/>
          </p:nvPr>
        </p:nvSpPr>
        <p:spPr>
          <a:xfrm>
            <a:off x="858570" y="365125"/>
            <a:ext cx="10474859" cy="1325563"/>
          </a:xfrm>
        </p:spPr>
        <p:txBody>
          <a:bodyPr/>
          <a:lstStyle/>
          <a:p>
            <a:r>
              <a:rPr lang="en-US" dirty="0"/>
              <a:t>Data augmentation from first principles</a:t>
            </a:r>
          </a:p>
        </p:txBody>
      </p:sp>
      <p:pic>
        <p:nvPicPr>
          <p:cNvPr id="2050" name="Picture 2" descr="Funny Animal Photos: Goose Step">
            <a:extLst>
              <a:ext uri="{FF2B5EF4-FFF2-40B4-BE49-F238E27FC236}">
                <a16:creationId xmlns:a16="http://schemas.microsoft.com/office/drawing/2014/main" id="{F24174D1-E7D1-CD6C-A9B9-A66F93B8DB68}"/>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l="24299" t="16516" r="9151" b="3580"/>
          <a:stretch>
            <a:fillRect/>
          </a:stretch>
        </p:blipFill>
        <p:spPr bwMode="auto">
          <a:xfrm>
            <a:off x="1388099" y="2034719"/>
            <a:ext cx="3446451" cy="39858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1A8ABF6-FB8D-153C-0BD8-9B2DCDC4421E}"/>
              </a:ext>
            </a:extLst>
          </p:cNvPr>
          <p:cNvSpPr txBox="1"/>
          <p:nvPr/>
        </p:nvSpPr>
        <p:spPr>
          <a:xfrm>
            <a:off x="6203017" y="1892147"/>
            <a:ext cx="4916031"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kind of changes do we want to be robust to?</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data augmentation follows from this?</a:t>
            </a:r>
          </a:p>
        </p:txBody>
      </p:sp>
    </p:spTree>
    <p:extLst>
      <p:ext uri="{BB962C8B-B14F-4D97-AF65-F5344CB8AC3E}">
        <p14:creationId xmlns:p14="http://schemas.microsoft.com/office/powerpoint/2010/main" val="227867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E3E9B-3137-CF43-5994-386E67335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615AC-5C36-E85C-1ADF-79B5D871584F}"/>
              </a:ext>
            </a:extLst>
          </p:cNvPr>
          <p:cNvSpPr>
            <a:spLocks noGrp="1"/>
          </p:cNvSpPr>
          <p:nvPr>
            <p:ph type="title"/>
          </p:nvPr>
        </p:nvSpPr>
        <p:spPr>
          <a:xfrm>
            <a:off x="858570" y="365125"/>
            <a:ext cx="10474859" cy="1325563"/>
          </a:xfrm>
        </p:spPr>
        <p:txBody>
          <a:bodyPr/>
          <a:lstStyle/>
          <a:p>
            <a:r>
              <a:rPr lang="en-US" dirty="0"/>
              <a:t>Data augmentation from first principles</a:t>
            </a:r>
          </a:p>
        </p:txBody>
      </p:sp>
      <p:sp>
        <p:nvSpPr>
          <p:cNvPr id="3" name="TextBox 2">
            <a:extLst>
              <a:ext uri="{FF2B5EF4-FFF2-40B4-BE49-F238E27FC236}">
                <a16:creationId xmlns:a16="http://schemas.microsoft.com/office/drawing/2014/main" id="{02A4B94E-4D0B-1973-AC50-58697E8812CC}"/>
              </a:ext>
            </a:extLst>
          </p:cNvPr>
          <p:cNvSpPr txBox="1"/>
          <p:nvPr/>
        </p:nvSpPr>
        <p:spPr>
          <a:xfrm>
            <a:off x="6203017" y="1892147"/>
            <a:ext cx="4916031"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kind of changes do we want to be robust to?</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data augmentation follows from this?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are key differences between medical images and naturalistic images?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What are the implications for data augmentation?</a:t>
            </a:r>
          </a:p>
        </p:txBody>
      </p:sp>
      <p:pic>
        <p:nvPicPr>
          <p:cNvPr id="5" name="Picture 8" descr="Related image">
            <a:extLst>
              <a:ext uri="{FF2B5EF4-FFF2-40B4-BE49-F238E27FC236}">
                <a16:creationId xmlns:a16="http://schemas.microsoft.com/office/drawing/2014/main" id="{5B6A135E-F9A5-4E67-7C6C-A6DB7E7084E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1072952" y="1892147"/>
            <a:ext cx="3595550" cy="281735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igure 2">
            <a:extLst>
              <a:ext uri="{FF2B5EF4-FFF2-40B4-BE49-F238E27FC236}">
                <a16:creationId xmlns:a16="http://schemas.microsoft.com/office/drawing/2014/main" id="{98ABD4B0-4CA6-91F2-979C-687E03E5164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694990" y="3639547"/>
            <a:ext cx="2715903" cy="2715903"/>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815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a:xfrm>
            <a:off x="0" y="365126"/>
            <a:ext cx="12192000" cy="903582"/>
          </a:xfrm>
        </p:spPr>
        <p:txBody>
          <a:bodyPr>
            <a:normAutofit/>
          </a:bodyPr>
          <a:lstStyle/>
          <a:p>
            <a:pPr algn="ctr"/>
            <a:r>
              <a:rPr lang="en-US" dirty="0"/>
              <a:t>Consider augmentations for tabular data</a:t>
            </a:r>
          </a:p>
        </p:txBody>
      </p:sp>
      <p:sp>
        <p:nvSpPr>
          <p:cNvPr id="11" name="TextBox 10">
            <a:extLst>
              <a:ext uri="{FF2B5EF4-FFF2-40B4-BE49-F238E27FC236}">
                <a16:creationId xmlns:a16="http://schemas.microsoft.com/office/drawing/2014/main" id="{3522C4F1-C657-EA47-A958-6BC9C8AFC8F6}"/>
              </a:ext>
            </a:extLst>
          </p:cNvPr>
          <p:cNvSpPr txBox="1"/>
          <p:nvPr/>
        </p:nvSpPr>
        <p:spPr>
          <a:xfrm>
            <a:off x="8062219" y="4292423"/>
            <a:ext cx="3453963" cy="1714828"/>
          </a:xfrm>
          <a:prstGeom prst="rect">
            <a:avLst/>
          </a:prstGeom>
          <a:noFill/>
        </p:spPr>
        <p:txBody>
          <a:bodyPr wrap="square" rtlCol="0">
            <a:spAutoFit/>
          </a:bodyPr>
          <a:lstStyle/>
          <a:p>
            <a:r>
              <a:rPr lang="en-US" sz="2636" b="1" dirty="0"/>
              <a:t>Are there analogous augmentations?</a:t>
            </a:r>
          </a:p>
          <a:p>
            <a:endParaRPr lang="en-US" sz="2636" b="1" dirty="0"/>
          </a:p>
          <a:p>
            <a:r>
              <a:rPr lang="en-US" sz="2636" b="1" dirty="0"/>
              <a:t>Why or why not?</a:t>
            </a:r>
          </a:p>
        </p:txBody>
      </p:sp>
      <p:graphicFrame>
        <p:nvGraphicFramePr>
          <p:cNvPr id="12" name="Table 11">
            <a:extLst>
              <a:ext uri="{FF2B5EF4-FFF2-40B4-BE49-F238E27FC236}">
                <a16:creationId xmlns:a16="http://schemas.microsoft.com/office/drawing/2014/main" id="{7330BF0F-64E0-9F47-A64C-360C3C7ED0DD}"/>
              </a:ext>
            </a:extLst>
          </p:cNvPr>
          <p:cNvGraphicFramePr>
            <a:graphicFrameLocks noGrp="1"/>
          </p:cNvGraphicFramePr>
          <p:nvPr>
            <p:extLst>
              <p:ext uri="{D42A27DB-BD31-4B8C-83A1-F6EECF244321}">
                <p14:modId xmlns:p14="http://schemas.microsoft.com/office/powerpoint/2010/main" val="469510902"/>
              </p:ext>
            </p:extLst>
          </p:nvPr>
        </p:nvGraphicFramePr>
        <p:xfrm>
          <a:off x="867945" y="1735048"/>
          <a:ext cx="5784248"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gridCol w="723031">
                  <a:extLst>
                    <a:ext uri="{9D8B030D-6E8A-4147-A177-3AD203B41FA5}">
                      <a16:colId xmlns:a16="http://schemas.microsoft.com/office/drawing/2014/main" val="440623976"/>
                    </a:ext>
                  </a:extLst>
                </a:gridCol>
                <a:gridCol w="723031">
                  <a:extLst>
                    <a:ext uri="{9D8B030D-6E8A-4147-A177-3AD203B41FA5}">
                      <a16:colId xmlns:a16="http://schemas.microsoft.com/office/drawing/2014/main" val="2300620790"/>
                    </a:ext>
                  </a:extLst>
                </a:gridCol>
                <a:gridCol w="723031">
                  <a:extLst>
                    <a:ext uri="{9D8B030D-6E8A-4147-A177-3AD203B41FA5}">
                      <a16:colId xmlns:a16="http://schemas.microsoft.com/office/drawing/2014/main" val="387841067"/>
                    </a:ext>
                  </a:extLst>
                </a:gridCol>
                <a:gridCol w="723031">
                  <a:extLst>
                    <a:ext uri="{9D8B030D-6E8A-4147-A177-3AD203B41FA5}">
                      <a16:colId xmlns:a16="http://schemas.microsoft.com/office/drawing/2014/main" val="2317106339"/>
                    </a:ext>
                  </a:extLst>
                </a:gridCol>
                <a:gridCol w="723031">
                  <a:extLst>
                    <a:ext uri="{9D8B030D-6E8A-4147-A177-3AD203B41FA5}">
                      <a16:colId xmlns:a16="http://schemas.microsoft.com/office/drawing/2014/main" val="3112262120"/>
                    </a:ext>
                  </a:extLst>
                </a:gridCol>
                <a:gridCol w="723031">
                  <a:extLst>
                    <a:ext uri="{9D8B030D-6E8A-4147-A177-3AD203B41FA5}">
                      <a16:colId xmlns:a16="http://schemas.microsoft.com/office/drawing/2014/main" val="1492693499"/>
                    </a:ext>
                  </a:extLst>
                </a:gridCol>
                <a:gridCol w="723031">
                  <a:extLst>
                    <a:ext uri="{9D8B030D-6E8A-4147-A177-3AD203B41FA5}">
                      <a16:colId xmlns:a16="http://schemas.microsoft.com/office/drawing/2014/main" val="4043894517"/>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13" name="Table 12">
            <a:extLst>
              <a:ext uri="{FF2B5EF4-FFF2-40B4-BE49-F238E27FC236}">
                <a16:creationId xmlns:a16="http://schemas.microsoft.com/office/drawing/2014/main" id="{46A4145C-93C9-8E44-A49F-42688A16B578}"/>
              </a:ext>
            </a:extLst>
          </p:cNvPr>
          <p:cNvGraphicFramePr>
            <a:graphicFrameLocks noGrp="1"/>
          </p:cNvGraphicFramePr>
          <p:nvPr>
            <p:extLst>
              <p:ext uri="{D42A27DB-BD31-4B8C-83A1-F6EECF244321}">
                <p14:modId xmlns:p14="http://schemas.microsoft.com/office/powerpoint/2010/main" val="685106333"/>
              </p:ext>
            </p:extLst>
          </p:nvPr>
        </p:nvGraphicFramePr>
        <p:xfrm>
          <a:off x="7690919" y="1735047"/>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16" name="TextBox 15">
            <a:extLst>
              <a:ext uri="{FF2B5EF4-FFF2-40B4-BE49-F238E27FC236}">
                <a16:creationId xmlns:a16="http://schemas.microsoft.com/office/drawing/2014/main" id="{45F1BB00-7856-7446-8C5E-2FBA67162D88}"/>
              </a:ext>
            </a:extLst>
          </p:cNvPr>
          <p:cNvSpPr txBox="1"/>
          <p:nvPr/>
        </p:nvSpPr>
        <p:spPr>
          <a:xfrm rot="18054908">
            <a:off x="-650023" y="3389333"/>
            <a:ext cx="2507682" cy="497957"/>
          </a:xfrm>
          <a:prstGeom prst="rect">
            <a:avLst/>
          </a:prstGeom>
          <a:noFill/>
        </p:spPr>
        <p:txBody>
          <a:bodyPr wrap="square" rtlCol="0">
            <a:spAutoFit/>
          </a:bodyPr>
          <a:lstStyle/>
          <a:p>
            <a:pPr algn="r"/>
            <a:r>
              <a:rPr lang="en-US" sz="2636" dirty="0"/>
              <a:t>Age</a:t>
            </a:r>
          </a:p>
        </p:txBody>
      </p:sp>
      <p:sp>
        <p:nvSpPr>
          <p:cNvPr id="17" name="TextBox 16">
            <a:extLst>
              <a:ext uri="{FF2B5EF4-FFF2-40B4-BE49-F238E27FC236}">
                <a16:creationId xmlns:a16="http://schemas.microsoft.com/office/drawing/2014/main" id="{98BFDD58-EB3C-C34E-BB34-451CCAD8F698}"/>
              </a:ext>
            </a:extLst>
          </p:cNvPr>
          <p:cNvSpPr txBox="1"/>
          <p:nvPr/>
        </p:nvSpPr>
        <p:spPr>
          <a:xfrm rot="18054908">
            <a:off x="37280" y="3394321"/>
            <a:ext cx="2507682" cy="497957"/>
          </a:xfrm>
          <a:prstGeom prst="rect">
            <a:avLst/>
          </a:prstGeom>
          <a:noFill/>
        </p:spPr>
        <p:txBody>
          <a:bodyPr wrap="square" rtlCol="0">
            <a:spAutoFit/>
          </a:bodyPr>
          <a:lstStyle/>
          <a:p>
            <a:pPr algn="r"/>
            <a:r>
              <a:rPr lang="en-US" sz="2636" dirty="0"/>
              <a:t>Pulse Rate</a:t>
            </a:r>
          </a:p>
        </p:txBody>
      </p:sp>
      <p:sp>
        <p:nvSpPr>
          <p:cNvPr id="18" name="TextBox 17">
            <a:extLst>
              <a:ext uri="{FF2B5EF4-FFF2-40B4-BE49-F238E27FC236}">
                <a16:creationId xmlns:a16="http://schemas.microsoft.com/office/drawing/2014/main" id="{13818781-A770-454B-80A9-94744A7FF37F}"/>
              </a:ext>
            </a:extLst>
          </p:cNvPr>
          <p:cNvSpPr txBox="1"/>
          <p:nvPr/>
        </p:nvSpPr>
        <p:spPr>
          <a:xfrm rot="18054908">
            <a:off x="760524" y="3391828"/>
            <a:ext cx="2507682" cy="497957"/>
          </a:xfrm>
          <a:prstGeom prst="rect">
            <a:avLst/>
          </a:prstGeom>
          <a:noFill/>
        </p:spPr>
        <p:txBody>
          <a:bodyPr wrap="square" rtlCol="0">
            <a:spAutoFit/>
          </a:bodyPr>
          <a:lstStyle/>
          <a:p>
            <a:pPr algn="r"/>
            <a:r>
              <a:rPr lang="en-US" sz="2636" dirty="0"/>
              <a:t>Mean BP</a:t>
            </a:r>
          </a:p>
        </p:txBody>
      </p:sp>
      <p:sp>
        <p:nvSpPr>
          <p:cNvPr id="19" name="TextBox 18">
            <a:extLst>
              <a:ext uri="{FF2B5EF4-FFF2-40B4-BE49-F238E27FC236}">
                <a16:creationId xmlns:a16="http://schemas.microsoft.com/office/drawing/2014/main" id="{171F8335-ECB2-7A4D-82D0-3DCE61D73934}"/>
              </a:ext>
            </a:extLst>
          </p:cNvPr>
          <p:cNvSpPr txBox="1"/>
          <p:nvPr/>
        </p:nvSpPr>
        <p:spPr>
          <a:xfrm rot="18054908">
            <a:off x="1483768" y="3391828"/>
            <a:ext cx="2507682" cy="497957"/>
          </a:xfrm>
          <a:prstGeom prst="rect">
            <a:avLst/>
          </a:prstGeom>
          <a:noFill/>
        </p:spPr>
        <p:txBody>
          <a:bodyPr wrap="square" rtlCol="0">
            <a:spAutoFit/>
          </a:bodyPr>
          <a:lstStyle/>
          <a:p>
            <a:pPr algn="r"/>
            <a:r>
              <a:rPr lang="en-US" sz="2636" dirty="0"/>
              <a:t>Temperature</a:t>
            </a:r>
          </a:p>
        </p:txBody>
      </p:sp>
      <p:sp>
        <p:nvSpPr>
          <p:cNvPr id="20" name="TextBox 19">
            <a:extLst>
              <a:ext uri="{FF2B5EF4-FFF2-40B4-BE49-F238E27FC236}">
                <a16:creationId xmlns:a16="http://schemas.microsoft.com/office/drawing/2014/main" id="{39A63E6B-5114-B340-BC65-DBD86141279A}"/>
              </a:ext>
            </a:extLst>
          </p:cNvPr>
          <p:cNvSpPr txBox="1"/>
          <p:nvPr/>
        </p:nvSpPr>
        <p:spPr>
          <a:xfrm rot="18054908">
            <a:off x="1911982" y="3559034"/>
            <a:ext cx="2897477" cy="497957"/>
          </a:xfrm>
          <a:prstGeom prst="rect">
            <a:avLst/>
          </a:prstGeom>
          <a:noFill/>
        </p:spPr>
        <p:txBody>
          <a:bodyPr wrap="square" rtlCol="0">
            <a:spAutoFit/>
          </a:bodyPr>
          <a:lstStyle/>
          <a:p>
            <a:pPr algn="r"/>
            <a:r>
              <a:rPr lang="en-US" sz="2636" dirty="0"/>
              <a:t>Respiratory Rate</a:t>
            </a:r>
          </a:p>
        </p:txBody>
      </p:sp>
      <p:sp>
        <p:nvSpPr>
          <p:cNvPr id="21" name="TextBox 20">
            <a:extLst>
              <a:ext uri="{FF2B5EF4-FFF2-40B4-BE49-F238E27FC236}">
                <a16:creationId xmlns:a16="http://schemas.microsoft.com/office/drawing/2014/main" id="{403C6FED-0EF4-B34D-9DD5-ED78AC7B4C80}"/>
              </a:ext>
            </a:extLst>
          </p:cNvPr>
          <p:cNvSpPr txBox="1"/>
          <p:nvPr/>
        </p:nvSpPr>
        <p:spPr>
          <a:xfrm rot="18054908">
            <a:off x="2930256" y="3391826"/>
            <a:ext cx="2507682" cy="497957"/>
          </a:xfrm>
          <a:prstGeom prst="rect">
            <a:avLst/>
          </a:prstGeom>
          <a:noFill/>
        </p:spPr>
        <p:txBody>
          <a:bodyPr wrap="square" rtlCol="0">
            <a:spAutoFit/>
          </a:bodyPr>
          <a:lstStyle/>
          <a:p>
            <a:pPr algn="r"/>
            <a:r>
              <a:rPr lang="en-US" sz="2636" dirty="0"/>
              <a:t>Hematocrit</a:t>
            </a:r>
          </a:p>
        </p:txBody>
      </p:sp>
      <p:sp>
        <p:nvSpPr>
          <p:cNvPr id="22" name="TextBox 21">
            <a:extLst>
              <a:ext uri="{FF2B5EF4-FFF2-40B4-BE49-F238E27FC236}">
                <a16:creationId xmlns:a16="http://schemas.microsoft.com/office/drawing/2014/main" id="{B763DE9A-E18E-2C45-B7B8-FB7AB28B149B}"/>
              </a:ext>
            </a:extLst>
          </p:cNvPr>
          <p:cNvSpPr txBox="1"/>
          <p:nvPr/>
        </p:nvSpPr>
        <p:spPr>
          <a:xfrm rot="18054908">
            <a:off x="3653500" y="3389333"/>
            <a:ext cx="2507682" cy="497957"/>
          </a:xfrm>
          <a:prstGeom prst="rect">
            <a:avLst/>
          </a:prstGeom>
          <a:noFill/>
        </p:spPr>
        <p:txBody>
          <a:bodyPr wrap="square" rtlCol="0">
            <a:spAutoFit/>
          </a:bodyPr>
          <a:lstStyle/>
          <a:p>
            <a:pPr algn="r"/>
            <a:r>
              <a:rPr lang="en-US" sz="2636" dirty="0"/>
              <a:t>WBC Count</a:t>
            </a:r>
          </a:p>
        </p:txBody>
      </p:sp>
      <p:sp>
        <p:nvSpPr>
          <p:cNvPr id="23" name="TextBox 22">
            <a:extLst>
              <a:ext uri="{FF2B5EF4-FFF2-40B4-BE49-F238E27FC236}">
                <a16:creationId xmlns:a16="http://schemas.microsoft.com/office/drawing/2014/main" id="{A174C37D-8A18-434E-873B-38FBA9E7BABB}"/>
              </a:ext>
            </a:extLst>
          </p:cNvPr>
          <p:cNvSpPr txBox="1"/>
          <p:nvPr/>
        </p:nvSpPr>
        <p:spPr>
          <a:xfrm rot="18054908">
            <a:off x="4376747" y="3391825"/>
            <a:ext cx="2507682" cy="497957"/>
          </a:xfrm>
          <a:prstGeom prst="rect">
            <a:avLst/>
          </a:prstGeom>
          <a:noFill/>
        </p:spPr>
        <p:txBody>
          <a:bodyPr wrap="square" rtlCol="0">
            <a:spAutoFit/>
          </a:bodyPr>
          <a:lstStyle/>
          <a:p>
            <a:pPr algn="r"/>
            <a:r>
              <a:rPr lang="en-US" sz="2636" dirty="0"/>
              <a:t>Creatinine</a:t>
            </a:r>
          </a:p>
        </p:txBody>
      </p:sp>
      <p:sp>
        <p:nvSpPr>
          <p:cNvPr id="25" name="TextBox 24">
            <a:extLst>
              <a:ext uri="{FF2B5EF4-FFF2-40B4-BE49-F238E27FC236}">
                <a16:creationId xmlns:a16="http://schemas.microsoft.com/office/drawing/2014/main" id="{B25DDCFB-B31B-9441-A0A6-0ACFDC31396E}"/>
              </a:ext>
            </a:extLst>
          </p:cNvPr>
          <p:cNvSpPr txBox="1"/>
          <p:nvPr/>
        </p:nvSpPr>
        <p:spPr>
          <a:xfrm rot="18054908">
            <a:off x="6135456" y="3395935"/>
            <a:ext cx="2507682" cy="497957"/>
          </a:xfrm>
          <a:prstGeom prst="rect">
            <a:avLst/>
          </a:prstGeom>
          <a:noFill/>
        </p:spPr>
        <p:txBody>
          <a:bodyPr wrap="square" rtlCol="0">
            <a:spAutoFit/>
          </a:bodyPr>
          <a:lstStyle/>
          <a:p>
            <a:pPr algn="r"/>
            <a:r>
              <a:rPr lang="en-US" sz="2636" dirty="0"/>
              <a:t>Survival</a:t>
            </a:r>
          </a:p>
        </p:txBody>
      </p:sp>
      <p:sp>
        <p:nvSpPr>
          <p:cNvPr id="26" name="Left Brace 25">
            <a:extLst>
              <a:ext uri="{FF2B5EF4-FFF2-40B4-BE49-F238E27FC236}">
                <a16:creationId xmlns:a16="http://schemas.microsoft.com/office/drawing/2014/main" id="{68AC1F47-D806-B140-9DAC-AF4EB45EDABD}"/>
              </a:ext>
            </a:extLst>
          </p:cNvPr>
          <p:cNvSpPr/>
          <p:nvPr/>
        </p:nvSpPr>
        <p:spPr>
          <a:xfrm rot="16200000">
            <a:off x="3584897" y="1949812"/>
            <a:ext cx="350344" cy="5784248"/>
          </a:xfrm>
          <a:prstGeom prst="leftBrace">
            <a:avLst>
              <a:gd name="adj1" fmla="val 8333"/>
              <a:gd name="adj2" fmla="val 24681"/>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p:sp>
        <p:nvSpPr>
          <p:cNvPr id="27" name="TextBox 26">
            <a:extLst>
              <a:ext uri="{FF2B5EF4-FFF2-40B4-BE49-F238E27FC236}">
                <a16:creationId xmlns:a16="http://schemas.microsoft.com/office/drawing/2014/main" id="{8F5B2321-C6E0-1C41-A446-1CCE0D22A2A7}"/>
              </a:ext>
            </a:extLst>
          </p:cNvPr>
          <p:cNvSpPr txBox="1"/>
          <p:nvPr/>
        </p:nvSpPr>
        <p:spPr>
          <a:xfrm>
            <a:off x="2124658" y="5204512"/>
            <a:ext cx="2987135" cy="953210"/>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x</a:t>
            </a:r>
            <a:r>
              <a:rPr lang="en-US" sz="2797" dirty="0">
                <a:latin typeface="Times New Roman" panose="02020603050405020304" pitchFamily="18" charset="0"/>
                <a:cs typeface="Times New Roman" panose="02020603050405020304" pitchFamily="18" charset="0"/>
              </a:rPr>
              <a:t>, data/features for a subject or patient</a:t>
            </a:r>
          </a:p>
        </p:txBody>
      </p:sp>
      <p:sp>
        <p:nvSpPr>
          <p:cNvPr id="28" name="TextBox 27">
            <a:extLst>
              <a:ext uri="{FF2B5EF4-FFF2-40B4-BE49-F238E27FC236}">
                <a16:creationId xmlns:a16="http://schemas.microsoft.com/office/drawing/2014/main" id="{5CE8AD52-0582-0C41-A3AD-6A25EBCE7B8D}"/>
              </a:ext>
            </a:extLst>
          </p:cNvPr>
          <p:cNvSpPr txBox="1"/>
          <p:nvPr/>
        </p:nvSpPr>
        <p:spPr>
          <a:xfrm>
            <a:off x="9013463" y="1612368"/>
            <a:ext cx="2671356" cy="953210"/>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y</a:t>
            </a:r>
            <a:r>
              <a:rPr lang="en-US" sz="2797" dirty="0">
                <a:latin typeface="Times New Roman" panose="02020603050405020304" pitchFamily="18" charset="0"/>
                <a:cs typeface="Times New Roman" panose="02020603050405020304" pitchFamily="18" charset="0"/>
              </a:rPr>
              <a:t>, associated value or label</a:t>
            </a:r>
          </a:p>
        </p:txBody>
      </p:sp>
    </p:spTree>
    <p:extLst>
      <p:ext uri="{BB962C8B-B14F-4D97-AF65-F5344CB8AC3E}">
        <p14:creationId xmlns:p14="http://schemas.microsoft.com/office/powerpoint/2010/main" val="56968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BC861-BD0E-6F46-514C-8D9FD4069444}"/>
              </a:ext>
            </a:extLst>
          </p:cNvPr>
          <p:cNvSpPr>
            <a:spLocks noGrp="1"/>
          </p:cNvSpPr>
          <p:nvPr>
            <p:ph type="title"/>
          </p:nvPr>
        </p:nvSpPr>
        <p:spPr/>
        <p:txBody>
          <a:bodyPr/>
          <a:lstStyle/>
          <a:p>
            <a:r>
              <a:rPr lang="en-US" dirty="0"/>
              <a:t>Augmentation summary</a:t>
            </a:r>
          </a:p>
        </p:txBody>
      </p:sp>
      <p:sp>
        <p:nvSpPr>
          <p:cNvPr id="3" name="Content Placeholder 2">
            <a:extLst>
              <a:ext uri="{FF2B5EF4-FFF2-40B4-BE49-F238E27FC236}">
                <a16:creationId xmlns:a16="http://schemas.microsoft.com/office/drawing/2014/main" id="{3E876EB4-C858-75FF-8952-4E64967F9D42}"/>
              </a:ext>
            </a:extLst>
          </p:cNvPr>
          <p:cNvSpPr>
            <a:spLocks noGrp="1"/>
          </p:cNvSpPr>
          <p:nvPr>
            <p:ph idx="1"/>
          </p:nvPr>
        </p:nvSpPr>
        <p:spPr/>
        <p:txBody>
          <a:bodyPr/>
          <a:lstStyle/>
          <a:p>
            <a:r>
              <a:rPr lang="en-US" dirty="0"/>
              <a:t>Consider what variations you expect your model to encounter in the real world / when generalizing</a:t>
            </a:r>
          </a:p>
          <a:p>
            <a:endParaRPr lang="en-US" dirty="0"/>
          </a:p>
          <a:p>
            <a:r>
              <a:rPr lang="en-US" dirty="0"/>
              <a:t>Effective augmentation has a big impact on generalization performance</a:t>
            </a:r>
          </a:p>
        </p:txBody>
      </p:sp>
    </p:spTree>
    <p:extLst>
      <p:ext uri="{BB962C8B-B14F-4D97-AF65-F5344CB8AC3E}">
        <p14:creationId xmlns:p14="http://schemas.microsoft.com/office/powerpoint/2010/main" val="2549752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6DEB1-0715-4B57-89EC-A3B57D8FE96D}"/>
              </a:ext>
            </a:extLst>
          </p:cNvPr>
          <p:cNvSpPr>
            <a:spLocks noGrp="1"/>
          </p:cNvSpPr>
          <p:nvPr>
            <p:ph type="title"/>
          </p:nvPr>
        </p:nvSpPr>
        <p:spPr/>
        <p:txBody>
          <a:bodyPr/>
          <a:lstStyle/>
          <a:p>
            <a:r>
              <a:rPr lang="en-US" dirty="0"/>
              <a:t>Contrastive Learning</a:t>
            </a:r>
          </a:p>
        </p:txBody>
      </p:sp>
      <p:sp>
        <p:nvSpPr>
          <p:cNvPr id="3" name="Text Placeholder 2">
            <a:extLst>
              <a:ext uri="{FF2B5EF4-FFF2-40B4-BE49-F238E27FC236}">
                <a16:creationId xmlns:a16="http://schemas.microsoft.com/office/drawing/2014/main" id="{35295830-A02E-A754-F489-04A139CAEAF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58238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387E3-FD6C-BA0B-C101-ADAE0AD94726}"/>
              </a:ext>
            </a:extLst>
          </p:cNvPr>
          <p:cNvSpPr>
            <a:spLocks noGrp="1"/>
          </p:cNvSpPr>
          <p:nvPr>
            <p:ph type="title"/>
          </p:nvPr>
        </p:nvSpPr>
        <p:spPr/>
        <p:txBody>
          <a:bodyPr/>
          <a:lstStyle/>
          <a:p>
            <a:r>
              <a:rPr lang="en-US" dirty="0"/>
              <a:t>From augmentation to contrastive learning</a:t>
            </a:r>
          </a:p>
        </p:txBody>
      </p:sp>
      <p:sp>
        <p:nvSpPr>
          <p:cNvPr id="3" name="Content Placeholder 2">
            <a:extLst>
              <a:ext uri="{FF2B5EF4-FFF2-40B4-BE49-F238E27FC236}">
                <a16:creationId xmlns:a16="http://schemas.microsoft.com/office/drawing/2014/main" id="{032EE464-30D7-F49F-B3FF-B4F4A7DF62BA}"/>
              </a:ext>
            </a:extLst>
          </p:cNvPr>
          <p:cNvSpPr>
            <a:spLocks noGrp="1"/>
          </p:cNvSpPr>
          <p:nvPr>
            <p:ph idx="1"/>
          </p:nvPr>
        </p:nvSpPr>
        <p:spPr/>
        <p:txBody>
          <a:bodyPr>
            <a:normAutofit fontScale="92500" lnSpcReduction="10000"/>
          </a:bodyPr>
          <a:lstStyle/>
          <a:p>
            <a:pPr marL="0" indent="0">
              <a:buNone/>
            </a:pPr>
            <a:r>
              <a:rPr lang="en-US" dirty="0"/>
              <a:t>Consider the following line of reasoning:</a:t>
            </a:r>
          </a:p>
          <a:p>
            <a:endParaRPr lang="en-US" dirty="0"/>
          </a:p>
          <a:p>
            <a:pPr marL="514350" indent="-514350">
              <a:spcBef>
                <a:spcPts val="0"/>
              </a:spcBef>
              <a:buFont typeface="+mj-lt"/>
              <a:buAutoNum type="arabicPeriod"/>
            </a:pPr>
            <a:r>
              <a:rPr lang="en-US" dirty="0"/>
              <a:t>Predictions should be robust to superficial augmentations, i.e. the prediction should not change</a:t>
            </a:r>
          </a:p>
          <a:p>
            <a:pPr marL="514350" indent="-514350">
              <a:spcBef>
                <a:spcPts val="0"/>
              </a:spcBef>
              <a:buFont typeface="+mj-lt"/>
              <a:buAutoNum type="arabicPeriod"/>
            </a:pPr>
            <a:endParaRPr lang="en-US" dirty="0"/>
          </a:p>
          <a:p>
            <a:pPr marL="514350" indent="-514350">
              <a:spcBef>
                <a:spcPts val="0"/>
              </a:spcBef>
              <a:buFont typeface="+mj-lt"/>
              <a:buAutoNum type="arabicPeriod"/>
            </a:pPr>
            <a:r>
              <a:rPr lang="en-US" dirty="0"/>
              <a:t>This should be true for all prediction tasks we might consider</a:t>
            </a:r>
          </a:p>
          <a:p>
            <a:pPr marL="514350" indent="-514350">
              <a:spcBef>
                <a:spcPts val="0"/>
              </a:spcBef>
              <a:buFont typeface="+mj-lt"/>
              <a:buAutoNum type="arabicPeriod"/>
            </a:pPr>
            <a:endParaRPr lang="en-US" dirty="0"/>
          </a:p>
          <a:p>
            <a:pPr marL="514350" indent="-514350">
              <a:spcBef>
                <a:spcPts val="0"/>
              </a:spcBef>
              <a:buFont typeface="+mj-lt"/>
              <a:buAutoNum type="arabicPeriod"/>
            </a:pPr>
            <a:r>
              <a:rPr lang="en-US" dirty="0"/>
              <a:t>This in turn implies that latent representations should be the same</a:t>
            </a:r>
          </a:p>
          <a:p>
            <a:pPr marL="514350" indent="-514350">
              <a:spcBef>
                <a:spcPts val="0"/>
              </a:spcBef>
              <a:buFont typeface="+mj-lt"/>
              <a:buAutoNum type="arabicPeriod"/>
            </a:pPr>
            <a:endParaRPr lang="en-US" dirty="0"/>
          </a:p>
          <a:p>
            <a:pPr marL="514350" indent="-514350">
              <a:spcBef>
                <a:spcPts val="0"/>
              </a:spcBef>
              <a:buFont typeface="+mj-lt"/>
              <a:buAutoNum type="arabicPeriod"/>
            </a:pPr>
            <a:r>
              <a:rPr lang="en-US" dirty="0"/>
              <a:t>Contrastive learning is motivated by this observation</a:t>
            </a:r>
          </a:p>
          <a:p>
            <a:endParaRPr lang="en-US" dirty="0"/>
          </a:p>
          <a:p>
            <a:pPr marL="0" indent="0">
              <a:buNone/>
            </a:pPr>
            <a:r>
              <a:rPr lang="en-US" dirty="0"/>
              <a:t>This paradigm proves to be surprisingly effective.</a:t>
            </a:r>
          </a:p>
        </p:txBody>
      </p:sp>
    </p:spTree>
    <p:extLst>
      <p:ext uri="{BB962C8B-B14F-4D97-AF65-F5344CB8AC3E}">
        <p14:creationId xmlns:p14="http://schemas.microsoft.com/office/powerpoint/2010/main" val="816057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00D05-A95E-526E-B77D-3D08E27702F1}"/>
              </a:ext>
            </a:extLst>
          </p:cNvPr>
          <p:cNvSpPr>
            <a:spLocks noGrp="1"/>
          </p:cNvSpPr>
          <p:nvPr>
            <p:ph type="title"/>
          </p:nvPr>
        </p:nvSpPr>
        <p:spPr/>
        <p:txBody>
          <a:bodyPr/>
          <a:lstStyle/>
          <a:p>
            <a:r>
              <a:rPr lang="en-US" dirty="0"/>
              <a:t>An early contrastive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76FF88-F738-1A81-3210-2B485848BBD6}"/>
                  </a:ext>
                </a:extLst>
              </p:cNvPr>
              <p:cNvSpPr>
                <a:spLocks noGrp="1"/>
              </p:cNvSpPr>
              <p:nvPr>
                <p:ph idx="1"/>
              </p:nvPr>
            </p:nvSpPr>
            <p:spPr/>
            <p:txBody>
              <a:bodyPr>
                <a:normAutofit fontScale="85000" lnSpcReduction="10000"/>
              </a:bodyPr>
              <a:lstStyle/>
              <a:p>
                <a:r>
                  <a:rPr lang="en-US" dirty="0"/>
                  <a:t>Simply penalizing the distance between views (i.e., augmentations) leads to mode collapse</a:t>
                </a:r>
              </a:p>
              <a:p>
                <a:endParaRPr lang="en-US" dirty="0"/>
              </a:p>
              <a:p>
                <a:r>
                  <a:rPr lang="en-US" dirty="0"/>
                  <a:t>Positive pairs must therefore be contrasted against negative pairs</a:t>
                </a:r>
              </a:p>
              <a:p>
                <a:endParaRPr lang="en-US" dirty="0"/>
              </a:p>
              <a:p>
                <a:r>
                  <a:rPr lang="en-US" dirty="0"/>
                  <a:t>An early version of this (circa 2005) was the “maximum margin contrastive loss”:</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𝜃</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2</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𝑚</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2</m:t>
                                          </m:r>
                                        </m:sub>
                                      </m:sSub>
                                    </m:e>
                                  </m:d>
                                </m:e>
                              </m:d>
                            </m:e>
                          </m:func>
                        </m:e>
                        <m:sup>
                          <m:r>
                            <a:rPr lang="en-US" b="0" i="1" smtClean="0">
                              <a:latin typeface="Cambria Math" panose="02040503050406030204" pitchFamily="18" charset="0"/>
                            </a:rPr>
                            <m:t>2</m:t>
                          </m:r>
                        </m:sup>
                      </m:sSup>
                    </m:oMath>
                  </m:oMathPara>
                </a14:m>
                <a:endParaRPr lang="en-US" dirty="0"/>
              </a:p>
              <a:p>
                <a:pPr marL="0" indent="0">
                  <a:buNone/>
                </a:pPr>
                <a:endParaRPr lang="en-US" dirty="0"/>
              </a:p>
              <a:p>
                <a:pPr marL="0" indent="0">
                  <a:buNone/>
                </a:pPr>
                <a:r>
                  <a:rPr lang="en-US" dirty="0"/>
                  <a:t>where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𝑑</m:t>
                        </m:r>
                      </m:e>
                      <m:sub>
                        <m:r>
                          <a:rPr lang="en-US" i="1" dirty="0" smtClean="0">
                            <a:latin typeface="Cambria Math" panose="02040503050406030204" pitchFamily="18" charset="0"/>
                          </a:rPr>
                          <m:t>𝜃</m:t>
                        </m:r>
                      </m:sub>
                    </m:sSub>
                  </m:oMath>
                </a14:m>
                <a:r>
                  <a:rPr lang="en-US" dirty="0"/>
                  <a:t> is the distance in representation space after applying the encoder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𝑔</m:t>
                        </m:r>
                      </m:e>
                      <m:sub>
                        <m:r>
                          <a:rPr lang="en-US" i="1" dirty="0" smtClean="0">
                            <a:latin typeface="Cambria Math" panose="02040503050406030204" pitchFamily="18" charset="0"/>
                          </a:rPr>
                          <m:t>𝜃</m:t>
                        </m:r>
                      </m:sub>
                    </m:sSub>
                  </m:oMath>
                </a14:m>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076FF88-F738-1A81-3210-2B485848BBD6}"/>
                  </a:ext>
                </a:extLst>
              </p:cNvPr>
              <p:cNvSpPr>
                <a:spLocks noGrp="1" noRot="1" noChangeAspect="1" noMove="1" noResize="1" noEditPoints="1" noAdjustHandles="1" noChangeArrowheads="1" noChangeShapeType="1" noTextEdit="1"/>
              </p:cNvSpPr>
              <p:nvPr>
                <p:ph idx="1"/>
              </p:nvPr>
            </p:nvSpPr>
            <p:spPr>
              <a:blipFill>
                <a:blip r:embed="rId2"/>
                <a:stretch>
                  <a:fillRect l="-965" t="-2616" r="-603" b="-1163"/>
                </a:stretch>
              </a:blipFill>
            </p:spPr>
            <p:txBody>
              <a:bodyPr/>
              <a:lstStyle/>
              <a:p>
                <a:r>
                  <a:rPr lang="en-US">
                    <a:noFill/>
                  </a:rPr>
                  <a:t> </a:t>
                </a:r>
              </a:p>
            </p:txBody>
          </p:sp>
        </mc:Fallback>
      </mc:AlternateContent>
    </p:spTree>
    <p:extLst>
      <p:ext uri="{BB962C8B-B14F-4D97-AF65-F5344CB8AC3E}">
        <p14:creationId xmlns:p14="http://schemas.microsoft.com/office/powerpoint/2010/main" val="3378311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03014-77FB-EC9F-1DA2-6FA434E228A5}"/>
              </a:ext>
            </a:extLst>
          </p:cNvPr>
          <p:cNvSpPr>
            <a:spLocks noGrp="1"/>
          </p:cNvSpPr>
          <p:nvPr>
            <p:ph type="title"/>
          </p:nvPr>
        </p:nvSpPr>
        <p:spPr/>
        <p:txBody>
          <a:bodyPr/>
          <a:lstStyle/>
          <a:p>
            <a:r>
              <a:rPr lang="en-US" dirty="0"/>
              <a:t>MNIST: digits form well-defined clusters</a:t>
            </a:r>
          </a:p>
        </p:txBody>
      </p:sp>
      <p:pic>
        <p:nvPicPr>
          <p:cNvPr id="1026" name="Picture 2">
            <a:extLst>
              <a:ext uri="{FF2B5EF4-FFF2-40B4-BE49-F238E27FC236}">
                <a16:creationId xmlns:a16="http://schemas.microsoft.com/office/drawing/2014/main" id="{D3053BDE-67FC-3A54-1A00-0CE2B1CD3E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6331" y="1945962"/>
            <a:ext cx="5755672" cy="42907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546AA36-B8A7-8375-12F4-BAF012DF04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309" y="2169832"/>
            <a:ext cx="4352081" cy="20570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3899D24-4B2C-8394-8B46-B2B1BFD24601}"/>
                  </a:ext>
                </a:extLst>
              </p:cNvPr>
              <p:cNvSpPr txBox="1"/>
              <p:nvPr/>
            </p:nvSpPr>
            <p:spPr>
              <a:xfrm>
                <a:off x="471979" y="4924209"/>
                <a:ext cx="4588739" cy="830997"/>
              </a:xfrm>
              <a:prstGeom prst="rect">
                <a:avLst/>
              </a:prstGeom>
              <a:noFill/>
            </p:spPr>
            <p:txBody>
              <a:bodyPr wrap="square" rtlCol="0">
                <a:spAutoFit/>
              </a:bodyPr>
              <a:lstStyle/>
              <a:p>
                <a:r>
                  <a:rPr lang="en-US" sz="1600" dirty="0"/>
                  <a:t>Maximum margin contrastive loss</a:t>
                </a:r>
              </a:p>
              <a:p>
                <a:endParaRPr lang="en-US" sz="1600" dirty="0"/>
              </a:p>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𝑦</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m:t>
                          </m:r>
                        </m:e>
                        <m:sub>
                          <m:r>
                            <a:rPr lang="en-US" sz="1600" b="0" i="1" smtClean="0">
                              <a:latin typeface="Cambria Math" panose="02040503050406030204" pitchFamily="18" charset="0"/>
                            </a:rPr>
                            <m:t>𝜃</m:t>
                          </m:r>
                        </m:sub>
                      </m:sSub>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1" i="1" smtClean="0">
                                      <a:latin typeface="Cambria Math" panose="02040503050406030204" pitchFamily="18" charset="0"/>
                                    </a:rPr>
                                    <m:t>𝒙</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1" i="1" smtClean="0">
                                      <a:latin typeface="Cambria Math" panose="02040503050406030204" pitchFamily="18" charset="0"/>
                                    </a:rPr>
                                    <m:t>𝒙</m:t>
                                  </m:r>
                                </m:e>
                                <m:sub>
                                  <m:r>
                                    <a:rPr lang="en-US" sz="1600" b="0" i="1" smtClean="0">
                                      <a:latin typeface="Cambria Math" panose="02040503050406030204" pitchFamily="18" charset="0"/>
                                    </a:rPr>
                                    <m:t>2</m:t>
                                  </m:r>
                                </m:sub>
                              </m:sSub>
                            </m:e>
                          </m:d>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1−</m:t>
                          </m:r>
                          <m:r>
                            <a:rPr lang="en-US" sz="1600" b="0" i="1" smtClean="0">
                              <a:latin typeface="Cambria Math" panose="02040503050406030204" pitchFamily="18" charset="0"/>
                            </a:rPr>
                            <m:t>𝑦</m:t>
                          </m:r>
                        </m:e>
                      </m:d>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max</m:t>
                              </m:r>
                            </m:fName>
                            <m:e>
                              <m:d>
                                <m:dPr>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0,</m:t>
                                  </m:r>
                                  <m:r>
                                    <a:rPr lang="en-US" sz="1600" b="0" i="1" smtClean="0">
                                      <a:latin typeface="Cambria Math" panose="02040503050406030204" pitchFamily="18" charset="0"/>
                                    </a:rPr>
                                    <m:t>𝑚</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𝑑</m:t>
                                      </m:r>
                                    </m:e>
                                    <m:sub>
                                      <m:r>
                                        <a:rPr lang="en-US" sz="1600" b="0" i="1" smtClean="0">
                                          <a:latin typeface="Cambria Math" panose="02040503050406030204" pitchFamily="18" charset="0"/>
                                        </a:rPr>
                                        <m:t>𝜃</m:t>
                                      </m:r>
                                    </m:sub>
                                  </m:sSub>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1" i="1" smtClean="0">
                                              <a:latin typeface="Cambria Math" panose="02040503050406030204" pitchFamily="18" charset="0"/>
                                            </a:rPr>
                                            <m:t>𝒙</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1" i="1" smtClean="0">
                                              <a:latin typeface="Cambria Math" panose="02040503050406030204" pitchFamily="18" charset="0"/>
                                            </a:rPr>
                                            <m:t>𝒙</m:t>
                                          </m:r>
                                        </m:e>
                                        <m:sub>
                                          <m:r>
                                            <a:rPr lang="en-US" sz="1600" b="0" i="1" smtClean="0">
                                              <a:latin typeface="Cambria Math" panose="02040503050406030204" pitchFamily="18" charset="0"/>
                                            </a:rPr>
                                            <m:t>2</m:t>
                                          </m:r>
                                        </m:sub>
                                      </m:sSub>
                                    </m:e>
                                  </m:d>
                                </m:e>
                              </m:d>
                            </m:e>
                          </m:func>
                        </m:e>
                        <m:sup>
                          <m:r>
                            <a:rPr lang="en-US" sz="1600" b="0" i="1" smtClean="0">
                              <a:latin typeface="Cambria Math" panose="02040503050406030204" pitchFamily="18" charset="0"/>
                            </a:rPr>
                            <m:t>2</m:t>
                          </m:r>
                        </m:sup>
                      </m:sSup>
                    </m:oMath>
                  </m:oMathPara>
                </a14:m>
                <a:endParaRPr lang="en-US" sz="1600" dirty="0"/>
              </a:p>
            </p:txBody>
          </p:sp>
        </mc:Choice>
        <mc:Fallback xmlns="">
          <p:sp>
            <p:nvSpPr>
              <p:cNvPr id="4" name="TextBox 3">
                <a:extLst>
                  <a:ext uri="{FF2B5EF4-FFF2-40B4-BE49-F238E27FC236}">
                    <a16:creationId xmlns:a16="http://schemas.microsoft.com/office/drawing/2014/main" id="{E3899D24-4B2C-8394-8B46-B2B1BFD24601}"/>
                  </a:ext>
                </a:extLst>
              </p:cNvPr>
              <p:cNvSpPr txBox="1">
                <a:spLocks noRot="1" noChangeAspect="1" noMove="1" noResize="1" noEditPoints="1" noAdjustHandles="1" noChangeArrowheads="1" noChangeShapeType="1" noTextEdit="1"/>
              </p:cNvSpPr>
              <p:nvPr/>
            </p:nvSpPr>
            <p:spPr>
              <a:xfrm>
                <a:off x="471979" y="4924209"/>
                <a:ext cx="4588739" cy="830997"/>
              </a:xfrm>
              <a:prstGeom prst="rect">
                <a:avLst/>
              </a:prstGeom>
              <a:blipFill>
                <a:blip r:embed="rId4"/>
                <a:stretch>
                  <a:fillRect l="-551" t="-1493" b="-4478"/>
                </a:stretch>
              </a:blipFill>
            </p:spPr>
            <p:txBody>
              <a:bodyPr/>
              <a:lstStyle/>
              <a:p>
                <a:r>
                  <a:rPr lang="en-US">
                    <a:noFill/>
                  </a:rPr>
                  <a:t> </a:t>
                </a:r>
              </a:p>
            </p:txBody>
          </p:sp>
        </mc:Fallback>
      </mc:AlternateContent>
    </p:spTree>
    <p:extLst>
      <p:ext uri="{BB962C8B-B14F-4D97-AF65-F5344CB8AC3E}">
        <p14:creationId xmlns:p14="http://schemas.microsoft.com/office/powerpoint/2010/main" val="3171096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02AD-B2AA-11CA-A087-BC516F21829F}"/>
              </a:ext>
            </a:extLst>
          </p:cNvPr>
          <p:cNvSpPr>
            <a:spLocks noGrp="1"/>
          </p:cNvSpPr>
          <p:nvPr>
            <p:ph type="title"/>
          </p:nvPr>
        </p:nvSpPr>
        <p:spPr/>
        <p:txBody>
          <a:bodyPr/>
          <a:lstStyle/>
          <a:p>
            <a:r>
              <a:rPr lang="en-US" dirty="0" err="1"/>
              <a:t>SimCLR</a:t>
            </a:r>
            <a:r>
              <a:rPr lang="en-US" dirty="0"/>
              <a:t>: 3 primary improvements</a:t>
            </a:r>
          </a:p>
        </p:txBody>
      </p:sp>
      <p:sp>
        <p:nvSpPr>
          <p:cNvPr id="3" name="Content Placeholder 2">
            <a:extLst>
              <a:ext uri="{FF2B5EF4-FFF2-40B4-BE49-F238E27FC236}">
                <a16:creationId xmlns:a16="http://schemas.microsoft.com/office/drawing/2014/main" id="{A1D1E2F5-A130-F3B5-0750-C76412959DB5}"/>
              </a:ext>
            </a:extLst>
          </p:cNvPr>
          <p:cNvSpPr>
            <a:spLocks noGrp="1"/>
          </p:cNvSpPr>
          <p:nvPr>
            <p:ph idx="1"/>
          </p:nvPr>
        </p:nvSpPr>
        <p:spPr/>
        <p:txBody>
          <a:bodyPr/>
          <a:lstStyle/>
          <a:p>
            <a:r>
              <a:rPr lang="en-US" dirty="0"/>
              <a:t>Choice of loss function</a:t>
            </a:r>
          </a:p>
          <a:p>
            <a:r>
              <a:rPr lang="en-US" dirty="0"/>
              <a:t>Minibatch construction</a:t>
            </a:r>
          </a:p>
          <a:p>
            <a:r>
              <a:rPr lang="en-US" dirty="0"/>
              <a:t>Use of a projection head</a:t>
            </a:r>
          </a:p>
          <a:p>
            <a:endParaRPr lang="en-US" dirty="0"/>
          </a:p>
        </p:txBody>
      </p:sp>
    </p:spTree>
    <p:extLst>
      <p:ext uri="{BB962C8B-B14F-4D97-AF65-F5344CB8AC3E}">
        <p14:creationId xmlns:p14="http://schemas.microsoft.com/office/powerpoint/2010/main" val="3372580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8F8D6-16FC-4B77-E219-7DC934BF8DF5}"/>
              </a:ext>
            </a:extLst>
          </p:cNvPr>
          <p:cNvSpPr>
            <a:spLocks noGrp="1"/>
          </p:cNvSpPr>
          <p:nvPr>
            <p:ph type="title"/>
          </p:nvPr>
        </p:nvSpPr>
        <p:spPr/>
        <p:txBody>
          <a:bodyPr/>
          <a:lstStyle/>
          <a:p>
            <a:r>
              <a:rPr lang="en-US" dirty="0"/>
              <a:t>Minibatch construction and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586CF6-4330-880D-A4AD-F4DE91B9E1C0}"/>
                  </a:ext>
                </a:extLst>
              </p:cNvPr>
              <p:cNvSpPr>
                <a:spLocks noGrp="1"/>
              </p:cNvSpPr>
              <p:nvPr>
                <p:ph idx="1"/>
              </p:nvPr>
            </p:nvSpPr>
            <p:spPr>
              <a:xfrm>
                <a:off x="838200" y="1508760"/>
                <a:ext cx="10515600" cy="5113019"/>
              </a:xfrm>
            </p:spPr>
            <p:txBody>
              <a:bodyPr>
                <a:normAutofit lnSpcReduction="10000"/>
              </a:bodyPr>
              <a:lstStyle/>
              <a:p>
                <a:r>
                  <a:rPr lang="en-US" sz="2000" dirty="0"/>
                  <a:t>N examples each augmented in 2 ways -&gt; minibatch size 2N</a:t>
                </a:r>
              </a:p>
              <a:p>
                <a:r>
                  <a:rPr lang="en-US" sz="2000" dirty="0"/>
                  <a:t>Let </a:t>
                </a:r>
                <a14:m>
                  <m:oMath xmlns:m="http://schemas.openxmlformats.org/officeDocument/2006/math">
                    <m:r>
                      <m:rPr>
                        <m:sty m:val="p"/>
                      </m:rPr>
                      <a:rPr lang="en-US" sz="2000" i="0" dirty="0" smtClean="0">
                        <a:latin typeface="Cambria Math" panose="02040503050406030204" pitchFamily="18" charset="0"/>
                      </a:rPr>
                      <m:t>sim</m:t>
                    </m:r>
                    <m:r>
                      <a:rPr lang="en-US" sz="2000" i="1" dirty="0" smtClean="0">
                        <a:latin typeface="Cambria Math" panose="02040503050406030204" pitchFamily="18" charset="0"/>
                      </a:rPr>
                      <m:t>(</m:t>
                    </m:r>
                    <m:r>
                      <a:rPr lang="en-US" sz="2000" b="1" i="1" dirty="0" smtClean="0">
                        <a:latin typeface="Cambria Math" panose="02040503050406030204" pitchFamily="18" charset="0"/>
                      </a:rPr>
                      <m:t>𝒖</m:t>
                    </m:r>
                    <m:r>
                      <a:rPr lang="en-US" sz="2000" i="1" dirty="0" smtClean="0">
                        <a:latin typeface="Cambria Math" panose="02040503050406030204" pitchFamily="18" charset="0"/>
                      </a:rPr>
                      <m:t>, </m:t>
                    </m:r>
                    <m:r>
                      <a:rPr lang="en-US" sz="2000" b="1" i="1" dirty="0" smtClean="0">
                        <a:latin typeface="Cambria Math" panose="02040503050406030204" pitchFamily="18" charset="0"/>
                      </a:rPr>
                      <m:t>𝒗</m:t>
                    </m:r>
                    <m:r>
                      <a:rPr lang="en-US" sz="2000" i="1" dirty="0" smtClean="0">
                        <a:latin typeface="Cambria Math" panose="02040503050406030204" pitchFamily="18" charset="0"/>
                      </a:rPr>
                      <m:t>)</m:t>
                    </m:r>
                  </m:oMath>
                </a14:m>
                <a:r>
                  <a:rPr lang="en-US" sz="2000" dirty="0"/>
                  <a:t> denote the cosine similarity </a:t>
                </a:r>
                <a14:m>
                  <m:oMath xmlns:m="http://schemas.openxmlformats.org/officeDocument/2006/math">
                    <m:sSup>
                      <m:sSupPr>
                        <m:ctrlPr>
                          <a:rPr lang="en-US" sz="2000" i="1" dirty="0" smtClean="0">
                            <a:latin typeface="Cambria Math" panose="02040503050406030204" pitchFamily="18" charset="0"/>
                          </a:rPr>
                        </m:ctrlPr>
                      </m:sSupPr>
                      <m:e>
                        <m:r>
                          <a:rPr lang="en-US" sz="2000" b="1" i="1" dirty="0" smtClean="0">
                            <a:latin typeface="Cambria Math" panose="02040503050406030204" pitchFamily="18" charset="0"/>
                          </a:rPr>
                          <m:t>𝒖</m:t>
                        </m:r>
                      </m:e>
                      <m:sup>
                        <m:r>
                          <m:rPr>
                            <m:sty m:val="p"/>
                          </m:rPr>
                          <a:rPr lang="en-US" sz="2000" i="0" dirty="0" smtClean="0">
                            <a:latin typeface="Cambria Math" panose="02040503050406030204" pitchFamily="18" charset="0"/>
                          </a:rPr>
                          <m:t>T</m:t>
                        </m:r>
                      </m:sup>
                    </m:sSup>
                    <m:r>
                      <a:rPr lang="en-US" sz="2000" b="1" i="1" dirty="0" smtClean="0">
                        <a:latin typeface="Cambria Math" panose="02040503050406030204" pitchFamily="18" charset="0"/>
                      </a:rPr>
                      <m:t>𝒗</m:t>
                    </m:r>
                    <m:r>
                      <a:rPr lang="en-US" sz="2000" i="1" dirty="0" smtClean="0">
                        <a:latin typeface="Cambria Math" panose="02040503050406030204" pitchFamily="18" charset="0"/>
                      </a:rPr>
                      <m:t> / </m:t>
                    </m:r>
                    <m:d>
                      <m:dPr>
                        <m:begChr m:val="‖"/>
                        <m:endChr m:val="‖"/>
                        <m:ctrlPr>
                          <a:rPr lang="en-US" sz="2000" i="1" dirty="0" smtClean="0">
                            <a:latin typeface="Cambria Math" panose="02040503050406030204" pitchFamily="18" charset="0"/>
                          </a:rPr>
                        </m:ctrlPr>
                      </m:dPr>
                      <m:e>
                        <m:r>
                          <a:rPr lang="en-US" sz="2000" b="1" i="1" dirty="0" smtClean="0">
                            <a:latin typeface="Cambria Math" panose="02040503050406030204" pitchFamily="18" charset="0"/>
                          </a:rPr>
                          <m:t>𝒖</m:t>
                        </m:r>
                      </m:e>
                    </m:d>
                    <m:d>
                      <m:dPr>
                        <m:begChr m:val="‖"/>
                        <m:endChr m:val="‖"/>
                        <m:ctrlPr>
                          <a:rPr lang="en-US" sz="2000" i="1" dirty="0" smtClean="0">
                            <a:latin typeface="Cambria Math" panose="02040503050406030204" pitchFamily="18" charset="0"/>
                          </a:rPr>
                        </m:ctrlPr>
                      </m:dPr>
                      <m:e>
                        <m:r>
                          <a:rPr lang="en-US" sz="2000" b="1" i="1" dirty="0" smtClean="0">
                            <a:latin typeface="Cambria Math" panose="02040503050406030204" pitchFamily="18" charset="0"/>
                          </a:rPr>
                          <m:t>𝒗</m:t>
                        </m:r>
                      </m:e>
                    </m:d>
                  </m:oMath>
                </a14:m>
                <a:endParaRPr lang="en-US" sz="2000" dirty="0"/>
              </a:p>
              <a:p>
                <a:r>
                  <a:rPr lang="en-US" sz="2000" dirty="0"/>
                  <a:t>The loss function for a positive pair of examples </a:t>
                </a:r>
                <a14:m>
                  <m:oMath xmlns:m="http://schemas.openxmlformats.org/officeDocument/2006/math">
                    <m:r>
                      <a:rPr lang="en-US" sz="2000" i="1" dirty="0" smtClean="0">
                        <a:latin typeface="Cambria Math" panose="02040503050406030204" pitchFamily="18" charset="0"/>
                      </a:rPr>
                      <m:t>(</m:t>
                    </m:r>
                    <m:r>
                      <a:rPr lang="en-US" sz="2000" i="1" dirty="0" err="1" smtClean="0">
                        <a:latin typeface="Cambria Math" panose="02040503050406030204" pitchFamily="18" charset="0"/>
                      </a:rPr>
                      <m:t>𝑖</m:t>
                    </m:r>
                    <m:r>
                      <a:rPr lang="en-US" sz="2000" i="1" dirty="0" smtClean="0">
                        <a:latin typeface="Cambria Math" panose="02040503050406030204" pitchFamily="18" charset="0"/>
                      </a:rPr>
                      <m:t>, </m:t>
                    </m:r>
                    <m:r>
                      <a:rPr lang="en-US" sz="2000" i="1" dirty="0" smtClean="0">
                        <a:latin typeface="Cambria Math" panose="02040503050406030204" pitchFamily="18" charset="0"/>
                      </a:rPr>
                      <m:t>𝑗</m:t>
                    </m:r>
                    <m:r>
                      <a:rPr lang="en-US" sz="2000" i="1" dirty="0" smtClean="0">
                        <a:latin typeface="Cambria Math" panose="02040503050406030204" pitchFamily="18" charset="0"/>
                      </a:rPr>
                      <m:t>)</m:t>
                    </m:r>
                  </m:oMath>
                </a14:m>
                <a:r>
                  <a:rPr lang="en-US" sz="2000" dirty="0"/>
                  <a:t> is given by:</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m:rPr>
                          <m:sty m:val="p"/>
                        </m:rPr>
                        <a:rPr lang="en-US" sz="2000" b="0" i="0" smtClean="0">
                          <a:latin typeface="Cambria Math" panose="02040503050406030204" pitchFamily="18" charset="0"/>
                        </a:rPr>
                        <m:t>log</m:t>
                      </m:r>
                      <m:f>
                        <m:fPr>
                          <m:ctrlPr>
                            <a:rPr lang="en-US" sz="2000" b="0" i="1" smtClean="0">
                              <a:latin typeface="Cambria Math" panose="02040503050406030204" pitchFamily="18" charset="0"/>
                            </a:rPr>
                          </m:ctrlPr>
                        </m:fPr>
                        <m:num>
                          <m:r>
                            <m:rPr>
                              <m:sty m:val="p"/>
                            </m:rPr>
                            <a:rPr lang="en-US" sz="2000" b="0" i="0" smtClean="0">
                              <a:latin typeface="Cambria Math" panose="02040503050406030204" pitchFamily="18" charset="0"/>
                            </a:rPr>
                            <m:t>exp</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sim</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𝑗</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𝜏</m:t>
                          </m:r>
                          <m:r>
                            <a:rPr lang="en-US" sz="2000" b="0" i="1" smtClean="0">
                              <a:latin typeface="Cambria Math" panose="02040503050406030204" pitchFamily="18" charset="0"/>
                            </a:rPr>
                            <m:t>) </m:t>
                          </m:r>
                        </m:num>
                        <m:den>
                          <m:nary>
                            <m:naryPr>
                              <m:chr m:val="∑"/>
                              <m:limLoc m:val="subSup"/>
                              <m:ctrlPr>
                                <a:rPr lang="en-US" sz="2000" b="0" i="1" smtClean="0">
                                  <a:latin typeface="Cambria Math" panose="02040503050406030204" pitchFamily="18" charset="0"/>
                                </a:rPr>
                              </m:ctrlPr>
                            </m:naryPr>
                            <m:sub>
                              <m:r>
                                <m:rPr>
                                  <m:brk m:alnAt="25"/>
                                </m:rPr>
                                <a:rPr lang="en-US" sz="2000" b="0" i="1" smtClean="0">
                                  <a:latin typeface="Cambria Math" panose="02040503050406030204" pitchFamily="18" charset="0"/>
                                </a:rPr>
                                <m:t>𝑘</m:t>
                              </m:r>
                              <m:r>
                                <a:rPr lang="en-US" sz="2000" b="0" i="1" smtClean="0">
                                  <a:latin typeface="Cambria Math" panose="02040503050406030204" pitchFamily="18" charset="0"/>
                                </a:rPr>
                                <m:t>=1</m:t>
                              </m:r>
                            </m:sub>
                            <m:sup>
                              <m:r>
                                <a:rPr lang="en-US" sz="2000" b="0" i="1" smtClean="0">
                                  <a:latin typeface="Cambria Math" panose="02040503050406030204" pitchFamily="18" charset="0"/>
                                </a:rPr>
                                <m:t>2</m:t>
                              </m:r>
                              <m:r>
                                <a:rPr lang="en-US" sz="2000" b="0" i="1" smtClean="0">
                                  <a:latin typeface="Cambria Math" panose="02040503050406030204" pitchFamily="18" charset="0"/>
                                </a:rPr>
                                <m:t>𝑁</m:t>
                              </m:r>
                            </m:sup>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𝟏</m:t>
                                  </m:r>
                                </m:e>
                                <m:sub>
                                  <m:r>
                                    <a:rPr lang="en-US" sz="2000" b="0" i="1" smtClean="0">
                                      <a:latin typeface="Cambria Math" panose="02040503050406030204" pitchFamily="18" charset="0"/>
                                    </a:rPr>
                                    <m:t>[</m:t>
                                  </m:r>
                                  <m:r>
                                    <a:rPr lang="en-US" sz="2000" b="0" i="1" smtClean="0">
                                      <a:latin typeface="Cambria Math" panose="02040503050406030204" pitchFamily="18" charset="0"/>
                                    </a:rPr>
                                    <m:t>𝑘</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sub>
                              </m:sSub>
                              <m:r>
                                <m:rPr>
                                  <m:sty m:val="p"/>
                                </m:rPr>
                                <a:rPr lang="en-US" sz="2000" b="0" i="0" smtClean="0">
                                  <a:latin typeface="Cambria Math" panose="02040503050406030204" pitchFamily="18" charset="0"/>
                                </a:rPr>
                                <m:t>exp</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sim</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𝑘</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𝜏</m:t>
                              </m:r>
                              <m:r>
                                <a:rPr lang="en-US" sz="2000" b="0" i="1" smtClean="0">
                                  <a:latin typeface="Cambria Math" panose="02040503050406030204" pitchFamily="18" charset="0"/>
                                </a:rPr>
                                <m:t>)</m:t>
                              </m:r>
                            </m:e>
                          </m:nary>
                        </m:den>
                      </m:f>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sim</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𝑗</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𝜏</m:t>
                      </m:r>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d>
                            <m:dPr>
                              <m:ctrlPr>
                                <a:rPr lang="en-US" sz="2000" b="0" i="1" smtClean="0">
                                  <a:latin typeface="Cambria Math" panose="02040503050406030204" pitchFamily="18" charset="0"/>
                                </a:rPr>
                              </m:ctrlPr>
                            </m:dPr>
                            <m:e>
                              <m:nary>
                                <m:naryPr>
                                  <m:chr m:val="∑"/>
                                  <m:limLoc m:val="subSup"/>
                                  <m:ctrlPr>
                                    <a:rPr lang="en-US" sz="2000" b="0" i="1" smtClean="0">
                                      <a:latin typeface="Cambria Math" panose="02040503050406030204" pitchFamily="18" charset="0"/>
                                    </a:rPr>
                                  </m:ctrlPr>
                                </m:naryPr>
                                <m:sub>
                                  <m:r>
                                    <m:rPr>
                                      <m:brk m:alnAt="25"/>
                                    </m:rPr>
                                    <a:rPr lang="en-US" sz="2000" b="0" i="1" smtClean="0">
                                      <a:latin typeface="Cambria Math" panose="02040503050406030204" pitchFamily="18" charset="0"/>
                                    </a:rPr>
                                    <m:t>𝑘</m:t>
                                  </m:r>
                                  <m:r>
                                    <a:rPr lang="en-US" sz="2000" b="0" i="1" smtClean="0">
                                      <a:latin typeface="Cambria Math" panose="02040503050406030204" pitchFamily="18" charset="0"/>
                                    </a:rPr>
                                    <m:t>=1</m:t>
                                  </m:r>
                                </m:sub>
                                <m:sup>
                                  <m:r>
                                    <a:rPr lang="en-US" sz="2000" b="0" i="1" smtClean="0">
                                      <a:latin typeface="Cambria Math" panose="02040503050406030204" pitchFamily="18" charset="0"/>
                                    </a:rPr>
                                    <m:t>2</m:t>
                                  </m:r>
                                  <m:r>
                                    <a:rPr lang="en-US" sz="2000" b="0" i="1" smtClean="0">
                                      <a:latin typeface="Cambria Math" panose="02040503050406030204" pitchFamily="18" charset="0"/>
                                    </a:rPr>
                                    <m:t>𝑁</m:t>
                                  </m:r>
                                </m:sup>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𝟏</m:t>
                                      </m:r>
                                    </m:e>
                                    <m:sub>
                                      <m:r>
                                        <a:rPr lang="en-US" sz="2000" b="0" i="1" smtClean="0">
                                          <a:latin typeface="Cambria Math" panose="02040503050406030204" pitchFamily="18" charset="0"/>
                                        </a:rPr>
                                        <m:t>[</m:t>
                                      </m:r>
                                      <m:r>
                                        <a:rPr lang="en-US" sz="2000" b="0" i="1" smtClean="0">
                                          <a:latin typeface="Cambria Math" panose="02040503050406030204" pitchFamily="18" charset="0"/>
                                        </a:rPr>
                                        <m:t>𝑘</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sub>
                                  </m:sSub>
                                  <m:r>
                                    <m:rPr>
                                      <m:sty m:val="p"/>
                                    </m:rPr>
                                    <a:rPr lang="en-US" sz="2000" b="0" i="0" smtClean="0">
                                      <a:latin typeface="Cambria Math" panose="02040503050406030204" pitchFamily="18" charset="0"/>
                                    </a:rPr>
                                    <m:t>exp</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sim</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𝑧</m:t>
                                          </m:r>
                                        </m:e>
                                        <m:sub>
                                          <m:r>
                                            <a:rPr lang="en-US" sz="2000" b="0" i="1" smtClean="0">
                                              <a:latin typeface="Cambria Math" panose="02040503050406030204" pitchFamily="18" charset="0"/>
                                            </a:rPr>
                                            <m:t>𝑘</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𝜏</m:t>
                                  </m:r>
                                  <m:r>
                                    <a:rPr lang="en-US" sz="2000" b="0" i="1" smtClean="0">
                                      <a:latin typeface="Cambria Math" panose="02040503050406030204" pitchFamily="18" charset="0"/>
                                    </a:rPr>
                                    <m:t>)</m:t>
                                  </m:r>
                                </m:e>
                              </m:nary>
                            </m:e>
                          </m:d>
                        </m:e>
                      </m:func>
                    </m:oMath>
                  </m:oMathPara>
                </a14:m>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a:t>
                </a:r>
                <a:r>
                  <a:rPr lang="en-US" sz="2000" dirty="0" err="1"/>
                  <a:t>SimCLR</a:t>
                </a:r>
                <a:r>
                  <a:rPr lang="en-US" sz="2000" dirty="0"/>
                  <a:t>” or “NT-</a:t>
                </a:r>
                <a:r>
                  <a:rPr lang="en-US" sz="2000" dirty="0" err="1"/>
                  <a:t>Xent</a:t>
                </a:r>
                <a:r>
                  <a:rPr lang="en-US" sz="2000" dirty="0"/>
                  <a:t>” (normalized temperature-scaled cross-entropy) loss.</a:t>
                </a:r>
              </a:p>
            </p:txBody>
          </p:sp>
        </mc:Choice>
        <mc:Fallback xmlns="">
          <p:sp>
            <p:nvSpPr>
              <p:cNvPr id="3" name="Content Placeholder 2">
                <a:extLst>
                  <a:ext uri="{FF2B5EF4-FFF2-40B4-BE49-F238E27FC236}">
                    <a16:creationId xmlns:a16="http://schemas.microsoft.com/office/drawing/2014/main" id="{BD586CF6-4330-880D-A4AD-F4DE91B9E1C0}"/>
                  </a:ext>
                </a:extLst>
              </p:cNvPr>
              <p:cNvSpPr>
                <a:spLocks noGrp="1" noRot="1" noChangeAspect="1" noMove="1" noResize="1" noEditPoints="1" noAdjustHandles="1" noChangeArrowheads="1" noChangeShapeType="1" noTextEdit="1"/>
              </p:cNvSpPr>
              <p:nvPr>
                <p:ph idx="1"/>
              </p:nvPr>
            </p:nvSpPr>
            <p:spPr>
              <a:xfrm>
                <a:off x="838200" y="1508760"/>
                <a:ext cx="10515600" cy="5113019"/>
              </a:xfrm>
              <a:blipFill>
                <a:blip r:embed="rId2"/>
                <a:stretch>
                  <a:fillRect l="-724" t="-1737"/>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FC044A6E-BFA2-6F85-36E9-E6E3B3985BD4}"/>
              </a:ext>
            </a:extLst>
          </p:cNvPr>
          <p:cNvSpPr/>
          <p:nvPr/>
        </p:nvSpPr>
        <p:spPr>
          <a:xfrm rot="16200000">
            <a:off x="3943349" y="3966210"/>
            <a:ext cx="335280" cy="154686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0CC86956-9F89-DED3-01DE-530F098D9B16}"/>
              </a:ext>
            </a:extLst>
          </p:cNvPr>
          <p:cNvSpPr txBox="1"/>
          <p:nvPr/>
        </p:nvSpPr>
        <p:spPr>
          <a:xfrm>
            <a:off x="3288008" y="4983480"/>
            <a:ext cx="1645963" cy="523220"/>
          </a:xfrm>
          <a:prstGeom prst="rect">
            <a:avLst/>
          </a:prstGeom>
          <a:noFill/>
        </p:spPr>
        <p:txBody>
          <a:bodyPr wrap="none" rtlCol="0">
            <a:spAutoFit/>
          </a:bodyPr>
          <a:lstStyle/>
          <a:p>
            <a:r>
              <a:rPr lang="en-US" sz="1400" dirty="0"/>
              <a:t>attraction between</a:t>
            </a:r>
          </a:p>
          <a:p>
            <a:pPr algn="ctr"/>
            <a:r>
              <a:rPr lang="en-US" sz="1400" dirty="0"/>
              <a:t>positive pairs</a:t>
            </a:r>
          </a:p>
        </p:txBody>
      </p:sp>
      <p:sp>
        <p:nvSpPr>
          <p:cNvPr id="7" name="Left Brace 6">
            <a:extLst>
              <a:ext uri="{FF2B5EF4-FFF2-40B4-BE49-F238E27FC236}">
                <a16:creationId xmlns:a16="http://schemas.microsoft.com/office/drawing/2014/main" id="{F9B10EAC-497B-586A-CC17-AF5AC6EC1969}"/>
              </a:ext>
            </a:extLst>
          </p:cNvPr>
          <p:cNvSpPr/>
          <p:nvPr/>
        </p:nvSpPr>
        <p:spPr>
          <a:xfrm rot="16200000">
            <a:off x="6987540" y="2758440"/>
            <a:ext cx="335280" cy="39624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EAA9E909-EF5A-BE0F-932A-2E921D6BD1D0}"/>
              </a:ext>
            </a:extLst>
          </p:cNvPr>
          <p:cNvSpPr txBox="1"/>
          <p:nvPr/>
        </p:nvSpPr>
        <p:spPr>
          <a:xfrm>
            <a:off x="5124428" y="4983480"/>
            <a:ext cx="4216260" cy="523220"/>
          </a:xfrm>
          <a:prstGeom prst="rect">
            <a:avLst/>
          </a:prstGeom>
          <a:noFill/>
        </p:spPr>
        <p:txBody>
          <a:bodyPr wrap="square" rtlCol="0">
            <a:spAutoFit/>
          </a:bodyPr>
          <a:lstStyle/>
          <a:p>
            <a:pPr algn="ctr"/>
            <a:r>
              <a:rPr lang="en-US" sz="1400" dirty="0"/>
              <a:t>repulsion between</a:t>
            </a:r>
          </a:p>
          <a:p>
            <a:pPr algn="ctr"/>
            <a:r>
              <a:rPr lang="en-US" sz="1400" dirty="0"/>
              <a:t>negative pairs</a:t>
            </a:r>
          </a:p>
        </p:txBody>
      </p:sp>
    </p:spTree>
    <p:extLst>
      <p:ext uri="{BB962C8B-B14F-4D97-AF65-F5344CB8AC3E}">
        <p14:creationId xmlns:p14="http://schemas.microsoft.com/office/powerpoint/2010/main" val="181849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C677C-2551-0D09-6F43-806F3A06F041}"/>
              </a:ext>
            </a:extLst>
          </p:cNvPr>
          <p:cNvSpPr>
            <a:spLocks noGrp="1"/>
          </p:cNvSpPr>
          <p:nvPr>
            <p:ph type="title"/>
          </p:nvPr>
        </p:nvSpPr>
        <p:spPr/>
        <p:txBody>
          <a:bodyPr/>
          <a:lstStyle/>
          <a:p>
            <a:r>
              <a:rPr lang="en-US" dirty="0"/>
              <a:t>Benefit of larger batch size</a:t>
            </a:r>
          </a:p>
        </p:txBody>
      </p:sp>
      <p:pic>
        <p:nvPicPr>
          <p:cNvPr id="4" name="Picture 3">
            <a:extLst>
              <a:ext uri="{FF2B5EF4-FFF2-40B4-BE49-F238E27FC236}">
                <a16:creationId xmlns:a16="http://schemas.microsoft.com/office/drawing/2014/main" id="{C3FC797B-1274-78B9-76BD-3D448AF00DCE}"/>
              </a:ext>
            </a:extLst>
          </p:cNvPr>
          <p:cNvPicPr>
            <a:picLocks noChangeAspect="1"/>
          </p:cNvPicPr>
          <p:nvPr/>
        </p:nvPicPr>
        <p:blipFill>
          <a:blip r:embed="rId2"/>
          <a:stretch>
            <a:fillRect/>
          </a:stretch>
        </p:blipFill>
        <p:spPr>
          <a:xfrm>
            <a:off x="3147831" y="1690688"/>
            <a:ext cx="5896337" cy="4597952"/>
          </a:xfrm>
          <a:prstGeom prst="rect">
            <a:avLst/>
          </a:prstGeom>
        </p:spPr>
      </p:pic>
    </p:spTree>
    <p:extLst>
      <p:ext uri="{BB962C8B-B14F-4D97-AF65-F5344CB8AC3E}">
        <p14:creationId xmlns:p14="http://schemas.microsoft.com/office/powerpoint/2010/main" val="802915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FA5DF-EEFA-3E67-6032-584561950DBF}"/>
              </a:ext>
            </a:extLst>
          </p:cNvPr>
          <p:cNvSpPr>
            <a:spLocks noGrp="1"/>
          </p:cNvSpPr>
          <p:nvPr>
            <p:ph type="title"/>
          </p:nvPr>
        </p:nvSpPr>
        <p:spPr/>
        <p:txBody>
          <a:bodyPr/>
          <a:lstStyle/>
          <a:p>
            <a:r>
              <a:rPr lang="en-US" dirty="0"/>
              <a:t>Contrastive loss applied after projection head</a:t>
            </a:r>
          </a:p>
        </p:txBody>
      </p:sp>
      <p:pic>
        <p:nvPicPr>
          <p:cNvPr id="4" name="Picture 3">
            <a:extLst>
              <a:ext uri="{FF2B5EF4-FFF2-40B4-BE49-F238E27FC236}">
                <a16:creationId xmlns:a16="http://schemas.microsoft.com/office/drawing/2014/main" id="{7843DBA9-381B-FA0F-C19F-AE7BFE387A87}"/>
              </a:ext>
            </a:extLst>
          </p:cNvPr>
          <p:cNvPicPr>
            <a:picLocks noChangeAspect="1"/>
          </p:cNvPicPr>
          <p:nvPr/>
        </p:nvPicPr>
        <p:blipFill>
          <a:blip r:embed="rId2"/>
          <a:stretch>
            <a:fillRect/>
          </a:stretch>
        </p:blipFill>
        <p:spPr>
          <a:xfrm>
            <a:off x="3869696" y="2070506"/>
            <a:ext cx="4452607" cy="4422369"/>
          </a:xfrm>
          <a:prstGeom prst="rect">
            <a:avLst/>
          </a:prstGeom>
        </p:spPr>
      </p:pic>
    </p:spTree>
    <p:extLst>
      <p:ext uri="{BB962C8B-B14F-4D97-AF65-F5344CB8AC3E}">
        <p14:creationId xmlns:p14="http://schemas.microsoft.com/office/powerpoint/2010/main" val="2098666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1441-92A1-6D7E-01F8-C25B09BBFD36}"/>
              </a:ext>
            </a:extLst>
          </p:cNvPr>
          <p:cNvSpPr>
            <a:spLocks noGrp="1"/>
          </p:cNvSpPr>
          <p:nvPr>
            <p:ph type="title"/>
          </p:nvPr>
        </p:nvSpPr>
        <p:spPr/>
        <p:txBody>
          <a:bodyPr/>
          <a:lstStyle/>
          <a:p>
            <a:r>
              <a:rPr lang="en-US" dirty="0"/>
              <a:t>Contrastive learning in coding assignment 2</a:t>
            </a:r>
          </a:p>
        </p:txBody>
      </p:sp>
      <p:sp>
        <p:nvSpPr>
          <p:cNvPr id="3" name="Content Placeholder 2">
            <a:extLst>
              <a:ext uri="{FF2B5EF4-FFF2-40B4-BE49-F238E27FC236}">
                <a16:creationId xmlns:a16="http://schemas.microsoft.com/office/drawing/2014/main" id="{8F418C81-806D-DEB9-CB16-9FC881C35EA8}"/>
              </a:ext>
            </a:extLst>
          </p:cNvPr>
          <p:cNvSpPr>
            <a:spLocks noGrp="1"/>
          </p:cNvSpPr>
          <p:nvPr>
            <p:ph idx="1"/>
          </p:nvPr>
        </p:nvSpPr>
        <p:spPr>
          <a:xfrm>
            <a:off x="838200" y="1690688"/>
            <a:ext cx="10515600" cy="4351338"/>
          </a:xfrm>
        </p:spPr>
        <p:txBody>
          <a:bodyPr/>
          <a:lstStyle/>
          <a:p>
            <a:r>
              <a:rPr lang="en-US" dirty="0"/>
              <a:t>Evaluate benefits of </a:t>
            </a:r>
            <a:r>
              <a:rPr lang="en-US" dirty="0" err="1"/>
              <a:t>SimCLR</a:t>
            </a:r>
            <a:r>
              <a:rPr lang="en-US" dirty="0"/>
              <a:t>-based pre-training compared to:</a:t>
            </a:r>
          </a:p>
          <a:p>
            <a:pPr lvl="1"/>
            <a:endParaRPr lang="en-US" dirty="0"/>
          </a:p>
          <a:p>
            <a:pPr lvl="1"/>
            <a:r>
              <a:rPr lang="en-US" dirty="0"/>
              <a:t>Full or partial fine-tuning</a:t>
            </a:r>
          </a:p>
          <a:p>
            <a:pPr lvl="1"/>
            <a:r>
              <a:rPr lang="en-US" dirty="0"/>
              <a:t>Using representations learned from ImageNet</a:t>
            </a:r>
          </a:p>
        </p:txBody>
      </p:sp>
      <p:pic>
        <p:nvPicPr>
          <p:cNvPr id="2053" name="Picture 5">
            <a:extLst>
              <a:ext uri="{FF2B5EF4-FFF2-40B4-BE49-F238E27FC236}">
                <a16:creationId xmlns:a16="http://schemas.microsoft.com/office/drawing/2014/main" id="{3FB145CF-69FF-2196-E5E8-6457DEE209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1223"/>
          <a:stretch>
            <a:fillRect/>
          </a:stretch>
        </p:blipFill>
        <p:spPr bwMode="auto">
          <a:xfrm>
            <a:off x="2740025" y="3683643"/>
            <a:ext cx="6711950" cy="2659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092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71BE2-96DB-EC80-4C68-FDCF18B2DB51}"/>
              </a:ext>
            </a:extLst>
          </p:cNvPr>
          <p:cNvSpPr>
            <a:spLocks noGrp="1"/>
          </p:cNvSpPr>
          <p:nvPr>
            <p:ph type="title"/>
          </p:nvPr>
        </p:nvSpPr>
        <p:spPr/>
        <p:txBody>
          <a:bodyPr>
            <a:normAutofit/>
          </a:bodyPr>
          <a:lstStyle/>
          <a:p>
            <a:r>
              <a:rPr lang="en-US" dirty="0"/>
              <a:t>Self-supervised learning: The dark matter of intelligence</a:t>
            </a:r>
          </a:p>
        </p:txBody>
      </p:sp>
      <p:sp>
        <p:nvSpPr>
          <p:cNvPr id="4" name="TextBox 3">
            <a:extLst>
              <a:ext uri="{FF2B5EF4-FFF2-40B4-BE49-F238E27FC236}">
                <a16:creationId xmlns:a16="http://schemas.microsoft.com/office/drawing/2014/main" id="{2611EFDF-C7B1-103B-C40B-3421D6CEAE14}"/>
              </a:ext>
            </a:extLst>
          </p:cNvPr>
          <p:cNvSpPr txBox="1"/>
          <p:nvPr/>
        </p:nvSpPr>
        <p:spPr>
          <a:xfrm>
            <a:off x="1166125" y="6311900"/>
            <a:ext cx="9859750" cy="369332"/>
          </a:xfrm>
          <a:prstGeom prst="rect">
            <a:avLst/>
          </a:prstGeom>
          <a:noFill/>
        </p:spPr>
        <p:txBody>
          <a:bodyPr wrap="none" rtlCol="0">
            <a:spAutoFit/>
          </a:bodyPr>
          <a:lstStyle/>
          <a:p>
            <a:r>
              <a:rPr lang="en-US" dirty="0"/>
              <a:t>LeCun &amp; Misra. </a:t>
            </a:r>
            <a:r>
              <a:rPr lang="en-US" i="1" dirty="0"/>
              <a:t>Self-supervised learning: The dark matter of intelligence</a:t>
            </a:r>
            <a:r>
              <a:rPr lang="en-US" dirty="0"/>
              <a:t>. Meta research blog, 2021.</a:t>
            </a:r>
          </a:p>
        </p:txBody>
      </p:sp>
      <p:sp>
        <p:nvSpPr>
          <p:cNvPr id="6" name="TextBox 5">
            <a:extLst>
              <a:ext uri="{FF2B5EF4-FFF2-40B4-BE49-F238E27FC236}">
                <a16:creationId xmlns:a16="http://schemas.microsoft.com/office/drawing/2014/main" id="{0B98DC56-00F3-ED3B-E906-7022E3420036}"/>
              </a:ext>
            </a:extLst>
          </p:cNvPr>
          <p:cNvSpPr txBox="1"/>
          <p:nvPr/>
        </p:nvSpPr>
        <p:spPr>
          <a:xfrm>
            <a:off x="2335530" y="1928336"/>
            <a:ext cx="7520940" cy="1200329"/>
          </a:xfrm>
          <a:prstGeom prst="rect">
            <a:avLst/>
          </a:prstGeom>
          <a:noFill/>
        </p:spPr>
        <p:txBody>
          <a:bodyPr wrap="square">
            <a:spAutoFit/>
          </a:bodyPr>
          <a:lstStyle/>
          <a:p>
            <a:r>
              <a:rPr lang="en-US" b="0" i="0" u="none" strike="noStrike" dirty="0">
                <a:solidFill>
                  <a:srgbClr val="344854"/>
                </a:solidFill>
                <a:effectLst/>
                <a:latin typeface="Optimistic Text"/>
              </a:rPr>
              <a:t>“Self-supervised learning obtains supervisory signals from the data itself, often leveraging the underlying structure in the data. The general technique of self-supervised learning is to predict any unobserved or hidden part (or property) of the input from any observed or unhidden part of the input.”</a:t>
            </a:r>
            <a:endParaRPr lang="en-US" dirty="0"/>
          </a:p>
        </p:txBody>
      </p:sp>
      <p:pic>
        <p:nvPicPr>
          <p:cNvPr id="10" name="Picture 9">
            <a:extLst>
              <a:ext uri="{FF2B5EF4-FFF2-40B4-BE49-F238E27FC236}">
                <a16:creationId xmlns:a16="http://schemas.microsoft.com/office/drawing/2014/main" id="{A94421D6-DA2A-AC01-7AE2-468D8591E4DA}"/>
              </a:ext>
            </a:extLst>
          </p:cNvPr>
          <p:cNvPicPr>
            <a:picLocks noChangeAspect="1"/>
          </p:cNvPicPr>
          <p:nvPr/>
        </p:nvPicPr>
        <p:blipFill rotWithShape="1">
          <a:blip r:embed="rId3"/>
          <a:srcRect l="394" t="12170" b="6042"/>
          <a:stretch>
            <a:fillRect/>
          </a:stretch>
        </p:blipFill>
        <p:spPr>
          <a:xfrm>
            <a:off x="2910881" y="3366313"/>
            <a:ext cx="6370237" cy="2945347"/>
          </a:xfrm>
          <a:prstGeom prst="rect">
            <a:avLst/>
          </a:prstGeom>
        </p:spPr>
      </p:pic>
    </p:spTree>
    <p:extLst>
      <p:ext uri="{BB962C8B-B14F-4D97-AF65-F5344CB8AC3E}">
        <p14:creationId xmlns:p14="http://schemas.microsoft.com/office/powerpoint/2010/main" val="548026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058C-575E-576E-2626-C33A7DEDF8DE}"/>
              </a:ext>
            </a:extLst>
          </p:cNvPr>
          <p:cNvSpPr>
            <a:spLocks noGrp="1"/>
          </p:cNvSpPr>
          <p:nvPr>
            <p:ph type="title"/>
          </p:nvPr>
        </p:nvSpPr>
        <p:spPr/>
        <p:txBody>
          <a:bodyPr/>
          <a:lstStyle/>
          <a:p>
            <a:r>
              <a:rPr lang="en-US" dirty="0"/>
              <a:t>Two key variations on SSL</a:t>
            </a:r>
          </a:p>
        </p:txBody>
      </p:sp>
      <p:pic>
        <p:nvPicPr>
          <p:cNvPr id="5" name="Picture 4">
            <a:extLst>
              <a:ext uri="{FF2B5EF4-FFF2-40B4-BE49-F238E27FC236}">
                <a16:creationId xmlns:a16="http://schemas.microsoft.com/office/drawing/2014/main" id="{24807207-82C7-69A5-CEC4-EE8F3249C730}"/>
              </a:ext>
            </a:extLst>
          </p:cNvPr>
          <p:cNvPicPr>
            <a:picLocks noChangeAspect="1"/>
          </p:cNvPicPr>
          <p:nvPr/>
        </p:nvPicPr>
        <p:blipFill rotWithShape="1">
          <a:blip r:embed="rId2"/>
          <a:srcRect l="24058" t="1374" r="27939" b="5206"/>
          <a:stretch>
            <a:fillRect/>
          </a:stretch>
        </p:blipFill>
        <p:spPr>
          <a:xfrm>
            <a:off x="2056630" y="2214835"/>
            <a:ext cx="3150417" cy="3448775"/>
          </a:xfrm>
          <a:prstGeom prst="rect">
            <a:avLst/>
          </a:prstGeom>
        </p:spPr>
      </p:pic>
      <p:pic>
        <p:nvPicPr>
          <p:cNvPr id="6" name="Picture 5">
            <a:extLst>
              <a:ext uri="{FF2B5EF4-FFF2-40B4-BE49-F238E27FC236}">
                <a16:creationId xmlns:a16="http://schemas.microsoft.com/office/drawing/2014/main" id="{40B56159-FFB2-4F06-FFF3-D359F0D1564E}"/>
              </a:ext>
            </a:extLst>
          </p:cNvPr>
          <p:cNvPicPr>
            <a:picLocks noChangeAspect="1"/>
          </p:cNvPicPr>
          <p:nvPr/>
        </p:nvPicPr>
        <p:blipFill rotWithShape="1">
          <a:blip r:embed="rId2"/>
          <a:srcRect l="34603" t="72041" r="53166" b="8908"/>
          <a:stretch>
            <a:fillRect/>
          </a:stretch>
        </p:blipFill>
        <p:spPr>
          <a:xfrm>
            <a:off x="7111513" y="2614484"/>
            <a:ext cx="3023857" cy="2649475"/>
          </a:xfrm>
          <a:prstGeom prst="rect">
            <a:avLst/>
          </a:prstGeom>
        </p:spPr>
      </p:pic>
      <p:sp>
        <p:nvSpPr>
          <p:cNvPr id="7" name="TextBox 6">
            <a:extLst>
              <a:ext uri="{FF2B5EF4-FFF2-40B4-BE49-F238E27FC236}">
                <a16:creationId xmlns:a16="http://schemas.microsoft.com/office/drawing/2014/main" id="{2D5ECB38-B245-5329-89A6-BB9F520443F5}"/>
              </a:ext>
            </a:extLst>
          </p:cNvPr>
          <p:cNvSpPr txBox="1"/>
          <p:nvPr/>
        </p:nvSpPr>
        <p:spPr>
          <a:xfrm>
            <a:off x="2170930" y="5943600"/>
            <a:ext cx="3161378" cy="369332"/>
          </a:xfrm>
          <a:prstGeom prst="rect">
            <a:avLst/>
          </a:prstGeom>
          <a:noFill/>
        </p:spPr>
        <p:txBody>
          <a:bodyPr wrap="none" rtlCol="0">
            <a:spAutoFit/>
          </a:bodyPr>
          <a:lstStyle/>
          <a:p>
            <a:r>
              <a:rPr lang="en-US" dirty="0"/>
              <a:t>contrastive / noise contrastive</a:t>
            </a:r>
          </a:p>
        </p:txBody>
      </p:sp>
      <p:sp>
        <p:nvSpPr>
          <p:cNvPr id="8" name="TextBox 7">
            <a:extLst>
              <a:ext uri="{FF2B5EF4-FFF2-40B4-BE49-F238E27FC236}">
                <a16:creationId xmlns:a16="http://schemas.microsoft.com/office/drawing/2014/main" id="{539E1747-C42F-D834-AF00-81C1EA34DEFA}"/>
              </a:ext>
            </a:extLst>
          </p:cNvPr>
          <p:cNvSpPr txBox="1"/>
          <p:nvPr/>
        </p:nvSpPr>
        <p:spPr>
          <a:xfrm>
            <a:off x="6353076" y="5943600"/>
            <a:ext cx="4540730" cy="369332"/>
          </a:xfrm>
          <a:prstGeom prst="rect">
            <a:avLst/>
          </a:prstGeom>
          <a:noFill/>
        </p:spPr>
        <p:txBody>
          <a:bodyPr wrap="none" rtlCol="0">
            <a:spAutoFit/>
          </a:bodyPr>
          <a:lstStyle/>
          <a:p>
            <a:r>
              <a:rPr lang="en-US" dirty="0"/>
              <a:t>masked token / patch / sequence prediction</a:t>
            </a:r>
          </a:p>
        </p:txBody>
      </p:sp>
      <p:sp>
        <p:nvSpPr>
          <p:cNvPr id="9" name="Rectangle 8">
            <a:extLst>
              <a:ext uri="{FF2B5EF4-FFF2-40B4-BE49-F238E27FC236}">
                <a16:creationId xmlns:a16="http://schemas.microsoft.com/office/drawing/2014/main" id="{A6E00833-74E5-D2C3-B376-58166D407D6D}"/>
              </a:ext>
            </a:extLst>
          </p:cNvPr>
          <p:cNvSpPr/>
          <p:nvPr/>
        </p:nvSpPr>
        <p:spPr>
          <a:xfrm>
            <a:off x="8450580" y="2964180"/>
            <a:ext cx="1363980" cy="12039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9235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2F414-53FA-EF03-4AAB-D3DDB19A8165}"/>
              </a:ext>
            </a:extLst>
          </p:cNvPr>
          <p:cNvSpPr>
            <a:spLocks noGrp="1"/>
          </p:cNvSpPr>
          <p:nvPr>
            <p:ph type="title"/>
          </p:nvPr>
        </p:nvSpPr>
        <p:spPr/>
        <p:txBody>
          <a:bodyPr/>
          <a:lstStyle/>
          <a:p>
            <a:r>
              <a:rPr lang="en-US" dirty="0"/>
              <a:t>Examples</a:t>
            </a:r>
          </a:p>
        </p:txBody>
      </p:sp>
      <p:sp>
        <p:nvSpPr>
          <p:cNvPr id="3" name="Text Placeholder 2">
            <a:extLst>
              <a:ext uri="{FF2B5EF4-FFF2-40B4-BE49-F238E27FC236}">
                <a16:creationId xmlns:a16="http://schemas.microsoft.com/office/drawing/2014/main" id="{FA192678-A7BC-43CF-D4DD-B15A5A89EC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96912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1B679-A881-A1A3-6F04-F2722759BAFD}"/>
              </a:ext>
            </a:extLst>
          </p:cNvPr>
          <p:cNvSpPr>
            <a:spLocks noGrp="1"/>
          </p:cNvSpPr>
          <p:nvPr>
            <p:ph type="title"/>
          </p:nvPr>
        </p:nvSpPr>
        <p:spPr/>
        <p:txBody>
          <a:bodyPr/>
          <a:lstStyle/>
          <a:p>
            <a:r>
              <a:rPr lang="en-US" dirty="0"/>
              <a:t>Contrastive clustering</a:t>
            </a:r>
          </a:p>
        </p:txBody>
      </p:sp>
      <p:pic>
        <p:nvPicPr>
          <p:cNvPr id="4" name="Picture 3">
            <a:extLst>
              <a:ext uri="{FF2B5EF4-FFF2-40B4-BE49-F238E27FC236}">
                <a16:creationId xmlns:a16="http://schemas.microsoft.com/office/drawing/2014/main" id="{994E8332-D7C0-AE97-1E78-AC781704B7C5}"/>
              </a:ext>
            </a:extLst>
          </p:cNvPr>
          <p:cNvPicPr>
            <a:picLocks noChangeAspect="1"/>
          </p:cNvPicPr>
          <p:nvPr/>
        </p:nvPicPr>
        <p:blipFill>
          <a:blip r:embed="rId2"/>
          <a:stretch>
            <a:fillRect/>
          </a:stretch>
        </p:blipFill>
        <p:spPr>
          <a:xfrm>
            <a:off x="3807737" y="1880811"/>
            <a:ext cx="7772400" cy="3860326"/>
          </a:xfrm>
          <a:prstGeom prst="rect">
            <a:avLst/>
          </a:prstGeom>
        </p:spPr>
      </p:pic>
      <p:sp>
        <p:nvSpPr>
          <p:cNvPr id="6" name="TextBox 5">
            <a:extLst>
              <a:ext uri="{FF2B5EF4-FFF2-40B4-BE49-F238E27FC236}">
                <a16:creationId xmlns:a16="http://schemas.microsoft.com/office/drawing/2014/main" id="{25F4D781-B06C-69D9-06DD-60D3D4E9DE38}"/>
              </a:ext>
            </a:extLst>
          </p:cNvPr>
          <p:cNvSpPr txBox="1"/>
          <p:nvPr/>
        </p:nvSpPr>
        <p:spPr>
          <a:xfrm>
            <a:off x="3895087" y="6128128"/>
            <a:ext cx="7597700" cy="276999"/>
          </a:xfrm>
          <a:prstGeom prst="rect">
            <a:avLst/>
          </a:prstGeom>
          <a:noFill/>
        </p:spPr>
        <p:txBody>
          <a:bodyPr wrap="square">
            <a:spAutoFit/>
          </a:bodyPr>
          <a:lstStyle/>
          <a:p>
            <a:pPr algn="ctr"/>
            <a:r>
              <a:rPr lang="en-US" sz="1200" b="0" i="0" u="none" strike="noStrike" dirty="0">
                <a:solidFill>
                  <a:srgbClr val="222222"/>
                </a:solidFill>
                <a:effectLst/>
                <a:latin typeface="Arial" panose="020B0604020202020204" pitchFamily="34" charset="0"/>
              </a:rPr>
              <a:t>Li, </a:t>
            </a:r>
            <a:r>
              <a:rPr lang="en-US" sz="1200" b="0" i="0" u="none" strike="noStrike" dirty="0" err="1">
                <a:solidFill>
                  <a:srgbClr val="222222"/>
                </a:solidFill>
                <a:effectLst/>
                <a:latin typeface="Arial" panose="020B0604020202020204" pitchFamily="34" charset="0"/>
              </a:rPr>
              <a:t>Yunfan</a:t>
            </a:r>
            <a:r>
              <a:rPr lang="en-US" sz="1200" b="0" i="0" u="none" strike="noStrike" dirty="0">
                <a:solidFill>
                  <a:srgbClr val="222222"/>
                </a:solidFill>
                <a:effectLst/>
                <a:latin typeface="Arial" panose="020B0604020202020204" pitchFamily="34" charset="0"/>
              </a:rPr>
              <a:t>, et al. "Contrastive clustering." </a:t>
            </a:r>
            <a:r>
              <a:rPr lang="en-US" sz="1200" b="0" i="1" u="none" strike="noStrike" dirty="0">
                <a:solidFill>
                  <a:srgbClr val="222222"/>
                </a:solidFill>
                <a:effectLst/>
                <a:latin typeface="Arial" panose="020B0604020202020204" pitchFamily="34" charset="0"/>
              </a:rPr>
              <a:t>Proceedings of the AAAI conference on artificial intelligence</a:t>
            </a:r>
            <a:r>
              <a:rPr lang="en-US" sz="1200" b="0" i="0" u="none" strike="noStrike" dirty="0">
                <a:solidFill>
                  <a:srgbClr val="222222"/>
                </a:solidFill>
                <a:effectLst/>
                <a:latin typeface="Arial" panose="020B0604020202020204" pitchFamily="34" charset="0"/>
              </a:rPr>
              <a:t>. 2021.</a:t>
            </a:r>
            <a:endParaRPr lang="en-US" sz="1200" dirty="0"/>
          </a:p>
        </p:txBody>
      </p:sp>
      <p:sp>
        <p:nvSpPr>
          <p:cNvPr id="7" name="TextBox 6">
            <a:extLst>
              <a:ext uri="{FF2B5EF4-FFF2-40B4-BE49-F238E27FC236}">
                <a16:creationId xmlns:a16="http://schemas.microsoft.com/office/drawing/2014/main" id="{DC00BA1A-EF87-1AAE-5FF2-4DECF3E56D45}"/>
              </a:ext>
            </a:extLst>
          </p:cNvPr>
          <p:cNvSpPr txBox="1"/>
          <p:nvPr/>
        </p:nvSpPr>
        <p:spPr>
          <a:xfrm>
            <a:off x="733331" y="1880811"/>
            <a:ext cx="254402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The instance-level contrastive head follows </a:t>
            </a:r>
            <a:r>
              <a:rPr lang="en-US" dirty="0" err="1"/>
              <a:t>SimCLR</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cluster-level contrastive head ensures cluster assignment is robust to augmentation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is surprisingly effective in practice, e.g. compared to earlier deep clustering methods</a:t>
            </a:r>
          </a:p>
        </p:txBody>
      </p:sp>
    </p:spTree>
    <p:extLst>
      <p:ext uri="{BB962C8B-B14F-4D97-AF65-F5344CB8AC3E}">
        <p14:creationId xmlns:p14="http://schemas.microsoft.com/office/powerpoint/2010/main" val="619119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2" descr="page7image1190881680"/>
          <p:cNvPicPr preferRelativeResize="0"/>
          <p:nvPr/>
        </p:nvPicPr>
        <p:blipFill>
          <a:blip r:embed="rId3">
            <a:alphaModFix/>
          </a:blip>
          <a:stretch>
            <a:fillRect/>
          </a:stretch>
        </p:blipFill>
        <p:spPr>
          <a:xfrm>
            <a:off x="1808134" y="2022934"/>
            <a:ext cx="8755735" cy="2072567"/>
          </a:xfrm>
          <a:prstGeom prst="rect">
            <a:avLst/>
          </a:prstGeom>
          <a:noFill/>
          <a:ln>
            <a:noFill/>
          </a:ln>
        </p:spPr>
      </p:pic>
      <p:sp>
        <p:nvSpPr>
          <p:cNvPr id="112" name="Google Shape;112;p22"/>
          <p:cNvSpPr txBox="1"/>
          <p:nvPr/>
        </p:nvSpPr>
        <p:spPr>
          <a:xfrm>
            <a:off x="441400" y="1567000"/>
            <a:ext cx="11309200" cy="2462172"/>
          </a:xfrm>
          <a:prstGeom prst="rect">
            <a:avLst/>
          </a:prstGeom>
          <a:noFill/>
          <a:ln>
            <a:noFill/>
          </a:ln>
        </p:spPr>
        <p:txBody>
          <a:bodyPr spcFirstLastPara="1" wrap="square" lIns="121900" tIns="121900" rIns="121900" bIns="121900" anchor="t" anchorCtr="0">
            <a:spAutoFit/>
          </a:bodyPr>
          <a:lstStyle/>
          <a:p>
            <a:r>
              <a:rPr lang="en" sz="1600" dirty="0">
                <a:solidFill>
                  <a:schemeClr val="dk2"/>
                </a:solidFill>
              </a:rPr>
              <a:t>			— — — </a:t>
            </a:r>
            <a:r>
              <a:rPr lang="en" sz="1600" i="1" dirty="0">
                <a:solidFill>
                  <a:schemeClr val="dk2"/>
                </a:solidFill>
              </a:rPr>
              <a:t>Same</a:t>
            </a:r>
            <a:r>
              <a:rPr lang="en" sz="1600" dirty="0">
                <a:solidFill>
                  <a:schemeClr val="dk2"/>
                </a:solidFill>
              </a:rPr>
              <a:t> location type, </a:t>
            </a:r>
            <a:r>
              <a:rPr lang="en" sz="1600" i="1" dirty="0">
                <a:solidFill>
                  <a:schemeClr val="dk2"/>
                </a:solidFill>
              </a:rPr>
              <a:t>different</a:t>
            </a:r>
            <a:r>
              <a:rPr lang="en" sz="1600" dirty="0">
                <a:solidFill>
                  <a:schemeClr val="dk2"/>
                </a:solidFill>
              </a:rPr>
              <a:t> participants — — —</a:t>
            </a:r>
            <a:endParaRPr sz="1600" dirty="0">
              <a:solidFill>
                <a:schemeClr val="dk2"/>
              </a:solidFill>
            </a:endParaRPr>
          </a:p>
          <a:p>
            <a:endParaRPr sz="1600" dirty="0">
              <a:solidFill>
                <a:schemeClr val="dk2"/>
              </a:solidFill>
            </a:endParaRPr>
          </a:p>
          <a:p>
            <a:r>
              <a:rPr lang="en" sz="1600" dirty="0">
                <a:solidFill>
                  <a:schemeClr val="dk2"/>
                </a:solidFill>
              </a:rPr>
              <a:t>Work area</a:t>
            </a:r>
            <a:endParaRPr sz="1600" dirty="0">
              <a:solidFill>
                <a:schemeClr val="dk2"/>
              </a:solidFill>
            </a:endParaRPr>
          </a:p>
          <a:p>
            <a:endParaRPr sz="1600" dirty="0">
              <a:solidFill>
                <a:schemeClr val="dk2"/>
              </a:solidFill>
            </a:endParaRPr>
          </a:p>
          <a:p>
            <a:endParaRPr sz="1600" dirty="0">
              <a:solidFill>
                <a:schemeClr val="dk2"/>
              </a:solidFill>
            </a:endParaRPr>
          </a:p>
          <a:p>
            <a:r>
              <a:rPr lang="en" sz="1600" dirty="0">
                <a:solidFill>
                  <a:schemeClr val="dk2"/>
                </a:solidFill>
              </a:rPr>
              <a:t>Porch</a:t>
            </a:r>
            <a:endParaRPr sz="1600" dirty="0">
              <a:solidFill>
                <a:schemeClr val="dk2"/>
              </a:solidFill>
            </a:endParaRPr>
          </a:p>
          <a:p>
            <a:endParaRPr sz="1600" dirty="0">
              <a:solidFill>
                <a:schemeClr val="dk2"/>
              </a:solidFill>
            </a:endParaRPr>
          </a:p>
          <a:p>
            <a:endParaRPr sz="1600" dirty="0">
              <a:solidFill>
                <a:schemeClr val="dk2"/>
              </a:solidFill>
            </a:endParaRPr>
          </a:p>
          <a:p>
            <a:r>
              <a:rPr lang="en" sz="1600" dirty="0">
                <a:solidFill>
                  <a:schemeClr val="dk2"/>
                </a:solidFill>
              </a:rPr>
              <a:t>Eating area</a:t>
            </a:r>
            <a:endParaRPr sz="1600" dirty="0">
              <a:solidFill>
                <a:schemeClr val="dk2"/>
              </a:solidFill>
            </a:endParaRPr>
          </a:p>
        </p:txBody>
      </p:sp>
      <p:pic>
        <p:nvPicPr>
          <p:cNvPr id="114" name="Google Shape;114;p22"/>
          <p:cNvPicPr preferRelativeResize="0"/>
          <p:nvPr/>
        </p:nvPicPr>
        <p:blipFill rotWithShape="1">
          <a:blip r:embed="rId4">
            <a:alphaModFix/>
          </a:blip>
          <a:srcRect l="3976" t="21736" r="2688" b="2183"/>
          <a:stretch/>
        </p:blipFill>
        <p:spPr>
          <a:xfrm>
            <a:off x="2966834" y="4304605"/>
            <a:ext cx="3041573" cy="2072567"/>
          </a:xfrm>
          <a:prstGeom prst="rect">
            <a:avLst/>
          </a:prstGeom>
          <a:noFill/>
          <a:ln>
            <a:noFill/>
          </a:ln>
        </p:spPr>
      </p:pic>
      <p:sp>
        <p:nvSpPr>
          <p:cNvPr id="115" name="Google Shape;115;p22"/>
          <p:cNvSpPr txBox="1"/>
          <p:nvPr/>
        </p:nvSpPr>
        <p:spPr>
          <a:xfrm>
            <a:off x="430040" y="4684446"/>
            <a:ext cx="2449200" cy="1312883"/>
          </a:xfrm>
          <a:prstGeom prst="rect">
            <a:avLst/>
          </a:prstGeom>
          <a:noFill/>
          <a:ln>
            <a:noFill/>
          </a:ln>
        </p:spPr>
        <p:txBody>
          <a:bodyPr spcFirstLastPara="1" wrap="square" lIns="121900" tIns="121900" rIns="121900" bIns="121900" anchor="t" anchorCtr="0">
            <a:spAutoFit/>
          </a:bodyPr>
          <a:lstStyle/>
          <a:p>
            <a:r>
              <a:rPr lang="en" sz="1733" dirty="0">
                <a:solidFill>
                  <a:schemeClr val="dk2"/>
                </a:solidFill>
              </a:rPr>
              <a:t>The act of smoking is more environmentally linked than the urge to smoke.</a:t>
            </a:r>
            <a:endParaRPr sz="1733" dirty="0">
              <a:solidFill>
                <a:schemeClr val="dk2"/>
              </a:solidFill>
            </a:endParaRPr>
          </a:p>
        </p:txBody>
      </p:sp>
      <p:pic>
        <p:nvPicPr>
          <p:cNvPr id="116" name="Google Shape;116;p22"/>
          <p:cNvPicPr preferRelativeResize="0"/>
          <p:nvPr/>
        </p:nvPicPr>
        <p:blipFill rotWithShape="1">
          <a:blip r:embed="rId5">
            <a:alphaModFix/>
          </a:blip>
          <a:srcRect l="4689" t="20945" r="3169" b="2220"/>
          <a:stretch/>
        </p:blipFill>
        <p:spPr>
          <a:xfrm>
            <a:off x="8748332" y="4257904"/>
            <a:ext cx="2986907" cy="2072567"/>
          </a:xfrm>
          <a:prstGeom prst="rect">
            <a:avLst/>
          </a:prstGeom>
          <a:noFill/>
          <a:ln>
            <a:noFill/>
          </a:ln>
        </p:spPr>
      </p:pic>
      <p:sp>
        <p:nvSpPr>
          <p:cNvPr id="117" name="Google Shape;117;p22"/>
          <p:cNvSpPr txBox="1"/>
          <p:nvPr/>
        </p:nvSpPr>
        <p:spPr>
          <a:xfrm>
            <a:off x="6183595" y="4637746"/>
            <a:ext cx="2449200" cy="1312883"/>
          </a:xfrm>
          <a:prstGeom prst="rect">
            <a:avLst/>
          </a:prstGeom>
          <a:noFill/>
          <a:ln>
            <a:noFill/>
          </a:ln>
        </p:spPr>
        <p:txBody>
          <a:bodyPr spcFirstLastPara="1" wrap="square" lIns="121900" tIns="121900" rIns="121900" bIns="121900" anchor="t" anchorCtr="0">
            <a:spAutoFit/>
          </a:bodyPr>
          <a:lstStyle/>
          <a:p>
            <a:r>
              <a:rPr lang="en" sz="1733" dirty="0">
                <a:solidFill>
                  <a:schemeClr val="dk2"/>
                </a:solidFill>
              </a:rPr>
              <a:t>The importance of the environment is reduced when urge is high.</a:t>
            </a:r>
            <a:endParaRPr sz="1733" dirty="0">
              <a:solidFill>
                <a:schemeClr val="dk2"/>
              </a:solidFill>
            </a:endParaRPr>
          </a:p>
        </p:txBody>
      </p:sp>
      <p:sp>
        <p:nvSpPr>
          <p:cNvPr id="118" name="Google Shape;118;p22"/>
          <p:cNvSpPr txBox="1"/>
          <p:nvPr/>
        </p:nvSpPr>
        <p:spPr>
          <a:xfrm>
            <a:off x="10095053" y="4324233"/>
            <a:ext cx="2020800" cy="738816"/>
          </a:xfrm>
          <a:prstGeom prst="rect">
            <a:avLst/>
          </a:prstGeom>
          <a:noFill/>
          <a:ln>
            <a:noFill/>
          </a:ln>
        </p:spPr>
        <p:txBody>
          <a:bodyPr spcFirstLastPara="1" wrap="square" lIns="121900" tIns="121900" rIns="121900" bIns="121900" anchor="t" anchorCtr="0">
            <a:spAutoFit/>
          </a:bodyPr>
          <a:lstStyle/>
          <a:p>
            <a:r>
              <a:rPr lang="en" sz="1067" dirty="0">
                <a:solidFill>
                  <a:schemeClr val="dk2"/>
                </a:solidFill>
              </a:rPr>
              <a:t>Normalized mutual information between behavior and environment</a:t>
            </a:r>
            <a:endParaRPr sz="1067" dirty="0">
              <a:solidFill>
                <a:schemeClr val="dk2"/>
              </a:solidFill>
            </a:endParaRPr>
          </a:p>
        </p:txBody>
      </p:sp>
      <p:sp>
        <p:nvSpPr>
          <p:cNvPr id="119" name="Google Shape;119;p22"/>
          <p:cNvSpPr txBox="1"/>
          <p:nvPr/>
        </p:nvSpPr>
        <p:spPr>
          <a:xfrm>
            <a:off x="4354870" y="4326885"/>
            <a:ext cx="2020800" cy="738816"/>
          </a:xfrm>
          <a:prstGeom prst="rect">
            <a:avLst/>
          </a:prstGeom>
          <a:noFill/>
          <a:ln>
            <a:noFill/>
          </a:ln>
        </p:spPr>
        <p:txBody>
          <a:bodyPr spcFirstLastPara="1" wrap="square" lIns="121900" tIns="121900" rIns="121900" bIns="121900" anchor="t" anchorCtr="0">
            <a:spAutoFit/>
          </a:bodyPr>
          <a:lstStyle/>
          <a:p>
            <a:r>
              <a:rPr lang="en" sz="1067" dirty="0">
                <a:solidFill>
                  <a:schemeClr val="dk2"/>
                </a:solidFill>
              </a:rPr>
              <a:t>Normalized mutual information between behavior and environment</a:t>
            </a:r>
            <a:endParaRPr sz="1067" dirty="0">
              <a:solidFill>
                <a:schemeClr val="dk2"/>
              </a:solidFill>
            </a:endParaRPr>
          </a:p>
        </p:txBody>
      </p:sp>
      <p:sp>
        <p:nvSpPr>
          <p:cNvPr id="4" name="Title 1">
            <a:extLst>
              <a:ext uri="{FF2B5EF4-FFF2-40B4-BE49-F238E27FC236}">
                <a16:creationId xmlns:a16="http://schemas.microsoft.com/office/drawing/2014/main" id="{44BCF725-1918-368A-DD2F-B2DD47B9B8B6}"/>
              </a:ext>
            </a:extLst>
          </p:cNvPr>
          <p:cNvSpPr>
            <a:spLocks noGrp="1"/>
          </p:cNvSpPr>
          <p:nvPr>
            <p:ph type="title"/>
          </p:nvPr>
        </p:nvSpPr>
        <p:spPr>
          <a:xfrm>
            <a:off x="838200" y="365125"/>
            <a:ext cx="10515600" cy="1325563"/>
          </a:xfrm>
        </p:spPr>
        <p:txBody>
          <a:bodyPr>
            <a:normAutofit fontScale="90000"/>
          </a:bodyPr>
          <a:lstStyle/>
          <a:p>
            <a:r>
              <a:rPr lang="en-US" dirty="0"/>
              <a:t>Infinite hierarchical contrastive clustering for personal digital envirotyping</a:t>
            </a:r>
          </a:p>
        </p:txBody>
      </p:sp>
      <p:sp>
        <p:nvSpPr>
          <p:cNvPr id="6" name="TextBox 5">
            <a:extLst>
              <a:ext uri="{FF2B5EF4-FFF2-40B4-BE49-F238E27FC236}">
                <a16:creationId xmlns:a16="http://schemas.microsoft.com/office/drawing/2014/main" id="{72CD0A46-A4E9-ADA2-D248-04057BFB55CA}"/>
              </a:ext>
            </a:extLst>
          </p:cNvPr>
          <p:cNvSpPr txBox="1"/>
          <p:nvPr/>
        </p:nvSpPr>
        <p:spPr>
          <a:xfrm>
            <a:off x="1610723" y="6514374"/>
            <a:ext cx="8970553" cy="253916"/>
          </a:xfrm>
          <a:prstGeom prst="rect">
            <a:avLst/>
          </a:prstGeom>
          <a:noFill/>
        </p:spPr>
        <p:txBody>
          <a:bodyPr wrap="square">
            <a:spAutoFit/>
          </a:bodyPr>
          <a:lstStyle/>
          <a:p>
            <a:r>
              <a:rPr lang="en-US" sz="1050" b="0" i="0" u="none" strike="noStrike" dirty="0">
                <a:solidFill>
                  <a:srgbClr val="222222"/>
                </a:solidFill>
                <a:effectLst/>
                <a:latin typeface="Arial" panose="020B0604020202020204" pitchFamily="34" charset="0"/>
              </a:rPr>
              <a:t>Huang, Oliver, McClernon, and Engelhard. "Infinite hierarchical contrastive clustering for personal digital envirotyping." </a:t>
            </a:r>
            <a:r>
              <a:rPr lang="en-US" sz="1050" b="0" i="1" u="none" strike="noStrike" dirty="0">
                <a:solidFill>
                  <a:srgbClr val="222222"/>
                </a:solidFill>
                <a:effectLst/>
                <a:latin typeface="Arial" panose="020B0604020202020204" pitchFamily="34" charset="0"/>
              </a:rPr>
              <a:t>Findings of ML4H, </a:t>
            </a:r>
            <a:r>
              <a:rPr lang="en-US" sz="1050" b="0" u="none" strike="noStrike" dirty="0">
                <a:solidFill>
                  <a:srgbClr val="222222"/>
                </a:solidFill>
                <a:effectLst/>
                <a:latin typeface="Arial" panose="020B0604020202020204" pitchFamily="34" charset="0"/>
              </a:rPr>
              <a:t>2024.</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CF842-616F-2A93-2C31-CBE69C47A56F}"/>
              </a:ext>
            </a:extLst>
          </p:cNvPr>
          <p:cNvSpPr>
            <a:spLocks noGrp="1"/>
          </p:cNvSpPr>
          <p:nvPr>
            <p:ph type="title"/>
          </p:nvPr>
        </p:nvSpPr>
        <p:spPr/>
        <p:txBody>
          <a:bodyPr/>
          <a:lstStyle/>
          <a:p>
            <a:r>
              <a:rPr lang="en-US" dirty="0"/>
              <a:t>Disentangling style and content</a:t>
            </a:r>
          </a:p>
        </p:txBody>
      </p:sp>
      <p:pic>
        <p:nvPicPr>
          <p:cNvPr id="5" name="Picture 4">
            <a:extLst>
              <a:ext uri="{FF2B5EF4-FFF2-40B4-BE49-F238E27FC236}">
                <a16:creationId xmlns:a16="http://schemas.microsoft.com/office/drawing/2014/main" id="{9A3A3A80-2713-B03D-8AC1-AE025C776B14}"/>
              </a:ext>
            </a:extLst>
          </p:cNvPr>
          <p:cNvPicPr>
            <a:picLocks noChangeAspect="1"/>
          </p:cNvPicPr>
          <p:nvPr/>
        </p:nvPicPr>
        <p:blipFill>
          <a:blip r:embed="rId3"/>
          <a:stretch>
            <a:fillRect/>
          </a:stretch>
        </p:blipFill>
        <p:spPr>
          <a:xfrm>
            <a:off x="2087879" y="1533346"/>
            <a:ext cx="6035040" cy="3791307"/>
          </a:xfrm>
          <a:prstGeom prst="rect">
            <a:avLst/>
          </a:prstGeom>
        </p:spPr>
      </p:pic>
      <p:sp>
        <p:nvSpPr>
          <p:cNvPr id="7" name="TextBox 6">
            <a:extLst>
              <a:ext uri="{FF2B5EF4-FFF2-40B4-BE49-F238E27FC236}">
                <a16:creationId xmlns:a16="http://schemas.microsoft.com/office/drawing/2014/main" id="{4C7168F9-FC2B-E19E-8715-BDB3EB843BA0}"/>
              </a:ext>
            </a:extLst>
          </p:cNvPr>
          <p:cNvSpPr txBox="1"/>
          <p:nvPr/>
        </p:nvSpPr>
        <p:spPr>
          <a:xfrm>
            <a:off x="1291936" y="5661878"/>
            <a:ext cx="9608127" cy="830997"/>
          </a:xfrm>
          <a:prstGeom prst="rect">
            <a:avLst/>
          </a:prstGeom>
          <a:noFill/>
        </p:spPr>
        <p:txBody>
          <a:bodyPr wrap="square">
            <a:spAutoFit/>
          </a:bodyPr>
          <a:lstStyle/>
          <a:p>
            <a:pPr>
              <a:buNone/>
            </a:pPr>
            <a:r>
              <a:rPr lang="en-US" sz="1600" dirty="0">
                <a:solidFill>
                  <a:srgbClr val="000000"/>
                </a:solidFill>
                <a:effectLst/>
                <a:latin typeface="Helvetica" pitchFamily="2" charset="0"/>
              </a:rPr>
              <a:t>Figure 4: Swapping and interpolation experiments. In (a), each image is generated using the content semantics from the red axis and style semantics from the blue axis. (b) interpolates content and (c) interpolates style from the source to the target sample, keeping the other factor fixed.</a:t>
            </a:r>
          </a:p>
        </p:txBody>
      </p:sp>
      <p:sp>
        <p:nvSpPr>
          <p:cNvPr id="9" name="TextBox 8">
            <a:extLst>
              <a:ext uri="{FF2B5EF4-FFF2-40B4-BE49-F238E27FC236}">
                <a16:creationId xmlns:a16="http://schemas.microsoft.com/office/drawing/2014/main" id="{7E39269A-78D6-5E4F-AF6A-17AA3EFBAE7A}"/>
              </a:ext>
            </a:extLst>
          </p:cNvPr>
          <p:cNvSpPr txBox="1"/>
          <p:nvPr/>
        </p:nvSpPr>
        <p:spPr>
          <a:xfrm>
            <a:off x="8816340" y="2817293"/>
            <a:ext cx="2400300" cy="1223412"/>
          </a:xfrm>
          <a:prstGeom prst="rect">
            <a:avLst/>
          </a:prstGeom>
          <a:noFill/>
        </p:spPr>
        <p:txBody>
          <a:bodyPr wrap="square">
            <a:spAutoFit/>
          </a:bodyPr>
          <a:lstStyle/>
          <a:p>
            <a:r>
              <a:rPr lang="en-US" sz="1050" b="0" i="0" u="none" strike="noStrike" dirty="0">
                <a:solidFill>
                  <a:srgbClr val="222222"/>
                </a:solidFill>
                <a:effectLst/>
                <a:latin typeface="Arial" panose="020B0604020202020204" pitchFamily="34" charset="0"/>
              </a:rPr>
              <a:t>Sun, </a:t>
            </a:r>
            <a:r>
              <a:rPr lang="en-US" sz="1050" b="0" i="0" u="none" strike="noStrike" dirty="0" err="1">
                <a:solidFill>
                  <a:srgbClr val="222222"/>
                </a:solidFill>
                <a:effectLst/>
                <a:latin typeface="Arial" panose="020B0604020202020204" pitchFamily="34" charset="0"/>
              </a:rPr>
              <a:t>Minghui</a:t>
            </a:r>
            <a:r>
              <a:rPr lang="en-US" sz="1050" b="0" i="0" u="none" strike="noStrike" dirty="0">
                <a:solidFill>
                  <a:srgbClr val="222222"/>
                </a:solidFill>
                <a:effectLst/>
                <a:latin typeface="Arial" panose="020B0604020202020204" pitchFamily="34" charset="0"/>
              </a:rPr>
              <a:t>, Benjamin A. Goldstein, and Matthew M. Engelhard. "CLEAR: Unlearning Spurious Style-Content Associations with Contrastive </a:t>
            </a:r>
            <a:r>
              <a:rPr lang="en-US" sz="1050" b="0" i="0" u="none" strike="noStrike" dirty="0" err="1">
                <a:solidFill>
                  <a:srgbClr val="222222"/>
                </a:solidFill>
                <a:effectLst/>
                <a:latin typeface="Arial" panose="020B0604020202020204" pitchFamily="34" charset="0"/>
              </a:rPr>
              <a:t>LEarning</a:t>
            </a:r>
            <a:r>
              <a:rPr lang="en-US" sz="1050" b="0" i="0" u="none" strike="noStrike" dirty="0">
                <a:solidFill>
                  <a:srgbClr val="222222"/>
                </a:solidFill>
                <a:effectLst/>
                <a:latin typeface="Arial" panose="020B0604020202020204" pitchFamily="34" charset="0"/>
              </a:rPr>
              <a:t> with Anti-contrastive Regularization." </a:t>
            </a:r>
            <a:r>
              <a:rPr lang="en-US" sz="1050" b="0" i="1" u="none" strike="noStrike" dirty="0" err="1">
                <a:solidFill>
                  <a:srgbClr val="222222"/>
                </a:solidFill>
                <a:effectLst/>
                <a:latin typeface="Arial" panose="020B0604020202020204" pitchFamily="34" charset="0"/>
              </a:rPr>
              <a:t>arXiv</a:t>
            </a:r>
            <a:r>
              <a:rPr lang="en-US" sz="1050" b="0" i="1" u="none" strike="noStrike" dirty="0">
                <a:solidFill>
                  <a:srgbClr val="222222"/>
                </a:solidFill>
                <a:effectLst/>
                <a:latin typeface="Arial" panose="020B0604020202020204" pitchFamily="34" charset="0"/>
              </a:rPr>
              <a:t> preprint arXiv:2507.18794</a:t>
            </a:r>
            <a:r>
              <a:rPr lang="en-US" sz="1050" b="0" i="0" u="none" strike="noStrike" dirty="0">
                <a:solidFill>
                  <a:srgbClr val="222222"/>
                </a:solidFill>
                <a:effectLst/>
                <a:latin typeface="Arial" panose="020B0604020202020204" pitchFamily="34" charset="0"/>
              </a:rPr>
              <a:t> (2025).</a:t>
            </a:r>
            <a:endParaRPr lang="en-US" sz="1050" dirty="0"/>
          </a:p>
        </p:txBody>
      </p:sp>
    </p:spTree>
    <p:extLst>
      <p:ext uri="{BB962C8B-B14F-4D97-AF65-F5344CB8AC3E}">
        <p14:creationId xmlns:p14="http://schemas.microsoft.com/office/powerpoint/2010/main" val="1579591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FE053-6177-CA26-BB05-03B3682EE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188CB-A403-E62C-D051-1825C9D05DA2}"/>
              </a:ext>
            </a:extLst>
          </p:cNvPr>
          <p:cNvSpPr>
            <a:spLocks noGrp="1"/>
          </p:cNvSpPr>
          <p:nvPr>
            <p:ph type="title"/>
          </p:nvPr>
        </p:nvSpPr>
        <p:spPr/>
        <p:txBody>
          <a:bodyPr/>
          <a:lstStyle/>
          <a:p>
            <a:r>
              <a:rPr lang="en-US" dirty="0"/>
              <a:t>Disentangling style and content</a:t>
            </a:r>
          </a:p>
        </p:txBody>
      </p:sp>
      <p:pic>
        <p:nvPicPr>
          <p:cNvPr id="4" name="Picture 3">
            <a:extLst>
              <a:ext uri="{FF2B5EF4-FFF2-40B4-BE49-F238E27FC236}">
                <a16:creationId xmlns:a16="http://schemas.microsoft.com/office/drawing/2014/main" id="{E64D46E3-67C6-6DDF-7ACA-A09DBC2D183E}"/>
              </a:ext>
            </a:extLst>
          </p:cNvPr>
          <p:cNvPicPr>
            <a:picLocks noChangeAspect="1"/>
          </p:cNvPicPr>
          <p:nvPr/>
        </p:nvPicPr>
        <p:blipFill>
          <a:blip r:embed="rId3"/>
          <a:stretch>
            <a:fillRect/>
          </a:stretch>
        </p:blipFill>
        <p:spPr>
          <a:xfrm>
            <a:off x="824083" y="1690688"/>
            <a:ext cx="10543833" cy="3745835"/>
          </a:xfrm>
          <a:prstGeom prst="rect">
            <a:avLst/>
          </a:prstGeom>
        </p:spPr>
      </p:pic>
      <p:sp>
        <p:nvSpPr>
          <p:cNvPr id="3" name="TextBox 2">
            <a:extLst>
              <a:ext uri="{FF2B5EF4-FFF2-40B4-BE49-F238E27FC236}">
                <a16:creationId xmlns:a16="http://schemas.microsoft.com/office/drawing/2014/main" id="{4ABF7A08-4BD1-8EBE-4066-E69BB1D8614D}"/>
              </a:ext>
            </a:extLst>
          </p:cNvPr>
          <p:cNvSpPr txBox="1"/>
          <p:nvPr/>
        </p:nvSpPr>
        <p:spPr>
          <a:xfrm>
            <a:off x="838200" y="5745480"/>
            <a:ext cx="10588220" cy="646331"/>
          </a:xfrm>
          <a:prstGeom prst="rect">
            <a:avLst/>
          </a:prstGeom>
          <a:noFill/>
        </p:spPr>
        <p:txBody>
          <a:bodyPr wrap="none" rtlCol="0">
            <a:spAutoFit/>
          </a:bodyPr>
          <a:lstStyle/>
          <a:p>
            <a:pPr marL="285750" indent="-285750">
              <a:buFont typeface="Arial" panose="020B0604020202020204" pitchFamily="34" charset="0"/>
              <a:buChar char="•"/>
            </a:pPr>
            <a:r>
              <a:rPr lang="en-US" dirty="0"/>
              <a:t>Standard contrastive loss (NT-</a:t>
            </a:r>
            <a:r>
              <a:rPr lang="en-US" dirty="0" err="1"/>
              <a:t>Xent</a:t>
            </a:r>
            <a:r>
              <a:rPr lang="en-US" dirty="0"/>
              <a:t>) maximizes mutual information between label and content features</a:t>
            </a:r>
          </a:p>
          <a:p>
            <a:pPr marL="285750" indent="-285750">
              <a:buFont typeface="Arial" panose="020B0604020202020204" pitchFamily="34" charset="0"/>
              <a:buChar char="•"/>
            </a:pPr>
            <a:r>
              <a:rPr lang="en-US" dirty="0"/>
              <a:t>Anti-contrastive loss minimizes the mutual information between label and style features</a:t>
            </a:r>
          </a:p>
        </p:txBody>
      </p:sp>
    </p:spTree>
    <p:extLst>
      <p:ext uri="{BB962C8B-B14F-4D97-AF65-F5344CB8AC3E}">
        <p14:creationId xmlns:p14="http://schemas.microsoft.com/office/powerpoint/2010/main" val="2856364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EE58-873D-55AE-A0E5-606B50DEFC58}"/>
              </a:ext>
            </a:extLst>
          </p:cNvPr>
          <p:cNvSpPr>
            <a:spLocks noGrp="1"/>
          </p:cNvSpPr>
          <p:nvPr>
            <p:ph type="title"/>
          </p:nvPr>
        </p:nvSpPr>
        <p:spPr/>
        <p:txBody>
          <a:bodyPr/>
          <a:lstStyle/>
          <a:p>
            <a:r>
              <a:rPr lang="en-US" dirty="0"/>
              <a:t>Contrastive learning for tabular data</a:t>
            </a:r>
          </a:p>
        </p:txBody>
      </p:sp>
      <p:sp>
        <p:nvSpPr>
          <p:cNvPr id="5" name="TextBox 4">
            <a:extLst>
              <a:ext uri="{FF2B5EF4-FFF2-40B4-BE49-F238E27FC236}">
                <a16:creationId xmlns:a16="http://schemas.microsoft.com/office/drawing/2014/main" id="{D7FA6890-DA20-D457-8608-85001735BDCD}"/>
              </a:ext>
            </a:extLst>
          </p:cNvPr>
          <p:cNvSpPr txBox="1"/>
          <p:nvPr/>
        </p:nvSpPr>
        <p:spPr>
          <a:xfrm>
            <a:off x="838200" y="6154321"/>
            <a:ext cx="10515600" cy="338554"/>
          </a:xfrm>
          <a:prstGeom prst="rect">
            <a:avLst/>
          </a:prstGeom>
          <a:noFill/>
        </p:spPr>
        <p:txBody>
          <a:bodyPr wrap="square">
            <a:spAutoFit/>
          </a:bodyPr>
          <a:lstStyle/>
          <a:p>
            <a:pPr algn="ctr"/>
            <a:r>
              <a:rPr lang="en-US" sz="1600" b="0" i="0" u="none" strike="noStrike" dirty="0">
                <a:solidFill>
                  <a:srgbClr val="222222"/>
                </a:solidFill>
                <a:effectLst/>
                <a:latin typeface="Arial" panose="020B0604020202020204" pitchFamily="34" charset="0"/>
              </a:rPr>
              <a:t>Bahri, Dara, et al. "Scarf: Self-supervised contrastive learning using random feature corruption." </a:t>
            </a:r>
            <a:r>
              <a:rPr lang="en-US" sz="1600" b="0" i="1" u="none" strike="noStrike" dirty="0">
                <a:solidFill>
                  <a:srgbClr val="222222"/>
                </a:solidFill>
                <a:effectLst/>
                <a:latin typeface="Arial" panose="020B0604020202020204" pitchFamily="34" charset="0"/>
              </a:rPr>
              <a:t>ICLR </a:t>
            </a:r>
            <a:r>
              <a:rPr lang="en-US" sz="1600" b="0" u="none" strike="noStrike" dirty="0">
                <a:solidFill>
                  <a:srgbClr val="222222"/>
                </a:solidFill>
                <a:effectLst/>
                <a:latin typeface="Arial" panose="020B0604020202020204" pitchFamily="34" charset="0"/>
              </a:rPr>
              <a:t>2022.</a:t>
            </a:r>
            <a:endParaRPr lang="en-US" sz="1600" dirty="0"/>
          </a:p>
        </p:txBody>
      </p:sp>
      <p:pic>
        <p:nvPicPr>
          <p:cNvPr id="6" name="Picture 5">
            <a:extLst>
              <a:ext uri="{FF2B5EF4-FFF2-40B4-BE49-F238E27FC236}">
                <a16:creationId xmlns:a16="http://schemas.microsoft.com/office/drawing/2014/main" id="{328E3FA8-218C-6E65-DA62-D8D3851C6B16}"/>
              </a:ext>
            </a:extLst>
          </p:cNvPr>
          <p:cNvPicPr>
            <a:picLocks noChangeAspect="1"/>
          </p:cNvPicPr>
          <p:nvPr/>
        </p:nvPicPr>
        <p:blipFill>
          <a:blip r:embed="rId2"/>
          <a:stretch>
            <a:fillRect/>
          </a:stretch>
        </p:blipFill>
        <p:spPr>
          <a:xfrm>
            <a:off x="838200" y="1690688"/>
            <a:ext cx="5352327" cy="4202771"/>
          </a:xfrm>
          <a:prstGeom prst="rect">
            <a:avLst/>
          </a:prstGeom>
        </p:spPr>
      </p:pic>
      <p:sp>
        <p:nvSpPr>
          <p:cNvPr id="7" name="TextBox 6">
            <a:extLst>
              <a:ext uri="{FF2B5EF4-FFF2-40B4-BE49-F238E27FC236}">
                <a16:creationId xmlns:a16="http://schemas.microsoft.com/office/drawing/2014/main" id="{699ECD81-2887-E046-6E0A-D5862E082F41}"/>
              </a:ext>
            </a:extLst>
          </p:cNvPr>
          <p:cNvSpPr txBox="1"/>
          <p:nvPr/>
        </p:nvSpPr>
        <p:spPr>
          <a:xfrm>
            <a:off x="6898741" y="1951672"/>
            <a:ext cx="4455059" cy="2031325"/>
          </a:xfrm>
          <a:prstGeom prst="rect">
            <a:avLst/>
          </a:prstGeom>
          <a:noFill/>
        </p:spPr>
        <p:txBody>
          <a:bodyPr wrap="square" rtlCol="0">
            <a:spAutoFit/>
          </a:bodyPr>
          <a:lstStyle/>
          <a:p>
            <a:pPr marL="285750" indent="-285750">
              <a:buFont typeface="Arial" panose="020B0604020202020204" pitchFamily="34" charset="0"/>
              <a:buChar char="•"/>
            </a:pPr>
            <a:r>
              <a:rPr lang="en-US" dirty="0"/>
              <a:t>Self-supervised representation learning for tabular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Does improve performance in our experiments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Easy to implement</a:t>
            </a:r>
          </a:p>
        </p:txBody>
      </p:sp>
    </p:spTree>
    <p:extLst>
      <p:ext uri="{BB962C8B-B14F-4D97-AF65-F5344CB8AC3E}">
        <p14:creationId xmlns:p14="http://schemas.microsoft.com/office/powerpoint/2010/main" val="38351956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7AC15-F176-1BBC-97BA-FE891BDAD6BA}"/>
              </a:ext>
            </a:extLst>
          </p:cNvPr>
          <p:cNvSpPr>
            <a:spLocks noGrp="1"/>
          </p:cNvSpPr>
          <p:nvPr>
            <p:ph type="title"/>
          </p:nvPr>
        </p:nvSpPr>
        <p:spPr/>
        <p:txBody>
          <a:bodyPr/>
          <a:lstStyle/>
          <a:p>
            <a:r>
              <a:rPr lang="en-US" dirty="0"/>
              <a:t>A look ahead at (joint) multi-modal fusion</a:t>
            </a:r>
          </a:p>
        </p:txBody>
      </p:sp>
      <p:pic>
        <p:nvPicPr>
          <p:cNvPr id="4" name="Picture 3">
            <a:extLst>
              <a:ext uri="{FF2B5EF4-FFF2-40B4-BE49-F238E27FC236}">
                <a16:creationId xmlns:a16="http://schemas.microsoft.com/office/drawing/2014/main" id="{CCEE640E-F0E5-B0DC-871D-DEAACF39E46B}"/>
              </a:ext>
            </a:extLst>
          </p:cNvPr>
          <p:cNvPicPr>
            <a:picLocks noChangeAspect="1"/>
          </p:cNvPicPr>
          <p:nvPr/>
        </p:nvPicPr>
        <p:blipFill>
          <a:blip r:embed="rId2"/>
          <a:stretch>
            <a:fillRect/>
          </a:stretch>
        </p:blipFill>
        <p:spPr>
          <a:xfrm>
            <a:off x="1236518" y="1567029"/>
            <a:ext cx="9718964" cy="5046385"/>
          </a:xfrm>
          <a:prstGeom prst="rect">
            <a:avLst/>
          </a:prstGeom>
        </p:spPr>
      </p:pic>
    </p:spTree>
    <p:extLst>
      <p:ext uri="{BB962C8B-B14F-4D97-AF65-F5344CB8AC3E}">
        <p14:creationId xmlns:p14="http://schemas.microsoft.com/office/powerpoint/2010/main" val="3182842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TotalTime>
  <Words>1066</Words>
  <Application>Microsoft Macintosh PowerPoint</Application>
  <PresentationFormat>Widescreen</PresentationFormat>
  <Paragraphs>170</Paragraphs>
  <Slides>32</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Display</vt:lpstr>
      <vt:lpstr>Arial</vt:lpstr>
      <vt:lpstr>Cambria Math</vt:lpstr>
      <vt:lpstr>Helvetica</vt:lpstr>
      <vt:lpstr>Optimistic Text</vt:lpstr>
      <vt:lpstr>Times New Roman</vt:lpstr>
      <vt:lpstr>Office Theme</vt:lpstr>
      <vt:lpstr>Data augmentation and contrastive learning</vt:lpstr>
      <vt:lpstr>Last Time</vt:lpstr>
      <vt:lpstr>Today</vt:lpstr>
      <vt:lpstr>Soon</vt:lpstr>
      <vt:lpstr>Data Augmentation</vt:lpstr>
      <vt:lpstr>CNN: It’s a goose</vt:lpstr>
      <vt:lpstr>CNN: (translation invariance) Still a goose!</vt:lpstr>
      <vt:lpstr>CNN: ?</vt:lpstr>
      <vt:lpstr>CNN: I don’t see anything.</vt:lpstr>
      <vt:lpstr>CNN: This is a bowling pin.</vt:lpstr>
      <vt:lpstr>Data augmentation from first principles</vt:lpstr>
      <vt:lpstr>Data augmentation from first principles</vt:lpstr>
      <vt:lpstr>Consider augmentations for tabular data</vt:lpstr>
      <vt:lpstr>Augmentation summary</vt:lpstr>
      <vt:lpstr>Contrastive Learning</vt:lpstr>
      <vt:lpstr>From augmentation to contrastive learning</vt:lpstr>
      <vt:lpstr>An early contrastive loss</vt:lpstr>
      <vt:lpstr>MNIST: digits form well-defined clusters</vt:lpstr>
      <vt:lpstr>SimCLR: 3 primary improvements</vt:lpstr>
      <vt:lpstr>Minibatch construction and loss</vt:lpstr>
      <vt:lpstr>Benefit of larger batch size</vt:lpstr>
      <vt:lpstr>Contrastive loss applied after projection head</vt:lpstr>
      <vt:lpstr>Contrastive learning in coding assignment 2</vt:lpstr>
      <vt:lpstr>Self-supervised learning: The dark matter of intelligence</vt:lpstr>
      <vt:lpstr>Two key variations on SSL</vt:lpstr>
      <vt:lpstr>Examples</vt:lpstr>
      <vt:lpstr>Contrastive clustering</vt:lpstr>
      <vt:lpstr>Infinite hierarchical contrastive clustering for personal digital envirotyping</vt:lpstr>
      <vt:lpstr>Disentangling style and content</vt:lpstr>
      <vt:lpstr>Disentangling style and content</vt:lpstr>
      <vt:lpstr>Contrastive learning for tabular data</vt:lpstr>
      <vt:lpstr>A look ahead at (joint) multi-modal fusion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Engelhard, M.D., Ph.D.</dc:creator>
  <cp:lastModifiedBy>Matthew Engelhard, M.D., Ph.D.</cp:lastModifiedBy>
  <cp:revision>7</cp:revision>
  <dcterms:created xsi:type="dcterms:W3CDTF">2026-02-23T16:06:52Z</dcterms:created>
  <dcterms:modified xsi:type="dcterms:W3CDTF">2026-02-23T23:06:20Z</dcterms:modified>
</cp:coreProperties>
</file>