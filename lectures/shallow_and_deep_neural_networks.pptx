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1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1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sldIdLst>
    <p:sldId id="297" r:id="rId2"/>
    <p:sldId id="2147477825" r:id="rId3"/>
    <p:sldId id="2147477828" r:id="rId4"/>
    <p:sldId id="2147477826" r:id="rId5"/>
    <p:sldId id="2147477827" r:id="rId6"/>
    <p:sldId id="604" r:id="rId7"/>
    <p:sldId id="594" r:id="rId8"/>
    <p:sldId id="598" r:id="rId9"/>
    <p:sldId id="599" r:id="rId10"/>
    <p:sldId id="596" r:id="rId11"/>
    <p:sldId id="602" r:id="rId12"/>
    <p:sldId id="603" r:id="rId13"/>
    <p:sldId id="597" r:id="rId14"/>
    <p:sldId id="606" r:id="rId15"/>
    <p:sldId id="607" r:id="rId16"/>
    <p:sldId id="627" r:id="rId17"/>
    <p:sldId id="2147477829" r:id="rId18"/>
    <p:sldId id="2147477830" r:id="rId19"/>
    <p:sldId id="612" r:id="rId20"/>
    <p:sldId id="611" r:id="rId21"/>
    <p:sldId id="608" r:id="rId22"/>
    <p:sldId id="613" r:id="rId23"/>
    <p:sldId id="616" r:id="rId24"/>
    <p:sldId id="2147477831" r:id="rId25"/>
    <p:sldId id="2147477832" r:id="rId26"/>
    <p:sldId id="2147477834" r:id="rId27"/>
    <p:sldId id="2147477846" r:id="rId28"/>
    <p:sldId id="2147477843" r:id="rId29"/>
    <p:sldId id="2147477844" r:id="rId30"/>
    <p:sldId id="2147477845" r:id="rId31"/>
    <p:sldId id="466" r:id="rId32"/>
    <p:sldId id="467" r:id="rId33"/>
    <p:sldId id="468" r:id="rId34"/>
    <p:sldId id="469" r:id="rId35"/>
    <p:sldId id="2147477839" r:id="rId36"/>
    <p:sldId id="2147477840" r:id="rId37"/>
    <p:sldId id="2147477836" r:id="rId38"/>
    <p:sldId id="2147477837" r:id="rId39"/>
    <p:sldId id="2147477847" r:id="rId40"/>
    <p:sldId id="614" r:id="rId41"/>
    <p:sldId id="436" r:id="rId42"/>
    <p:sldId id="446" r:id="rId43"/>
    <p:sldId id="447" r:id="rId44"/>
    <p:sldId id="625" r:id="rId45"/>
    <p:sldId id="448" r:id="rId46"/>
    <p:sldId id="525" r:id="rId47"/>
    <p:sldId id="626" r:id="rId48"/>
    <p:sldId id="453" r:id="rId49"/>
    <p:sldId id="2147477833" r:id="rId50"/>
    <p:sldId id="2147477848" r:id="rId51"/>
    <p:sldId id="2147477851" r:id="rId52"/>
    <p:sldId id="2147477853" r:id="rId53"/>
    <p:sldId id="590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8"/>
    <p:restoredTop sz="77303"/>
  </p:normalViewPr>
  <p:slideViewPr>
    <p:cSldViewPr snapToGrid="0" snapToObjects="1">
      <p:cViewPr varScale="1">
        <p:scale>
          <a:sx n="121" d="100"/>
          <a:sy n="121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20T20:27:40.58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3107 1 24575,'-42'34'0,"29"-21"0,-41 22 0,38-26 0,-1-2 0,0 5 0,2-4 0,4 1 0,-3-2 0,8-1 0,-1 0 0,-11 12 0,6-8 0,-7 8 0,7-9 0,2-2 0,-2 2 0,2-3 0,-2 3 0,-3 2 0,-13 6 0,10-2 0,-6-1 0,6 7 0,9-11 0,-10 16 0,4-14 0,6 3 0,-22-2 0,21-4 0,-13 0 0,13 0 0,3-2 0,-2 2 0,3-3 0,-5 11 0,4-6 0,-4 4 0,8 2 0,-5-6 0,1 6 0,-8 1 0,3-5 0,0 5 0,3-8 0,2 6 0,-11 5 0,7-2 0,-7 3 0,9-9 0,2-1 0,-2 1 0,3-1 0,-5 6 0,-1 0 0,1-2 0,-2 15 0,2-12 0,1 6 0,-5-3 0,8-14 0,-4 9 0,8-8 0,-3 4 0,3-4 0,-8 8 0,6-6 0,-5 12 0,6-10 0,0 19 0,-2-16 0,-2 16 0,0-13 0,-2-1 0,2 0 0,5-1 0,0-6 0,-4 11 0,5-14 0,-8 9 0,7-2 0,-3-1 0,2 1 0,1-6 0,3 8 0,0-8 0,0 11 0,-7-6 0,5 0 0,-5 9 0,7-5 0,0 1 0,0-1 0,0-1 0,0-3 0,0 17 0,0-17 0,0 17 0,0-20 0,0 6 0,0-7 0,0 2 0,4 2 0,-3-3 0,5 6 0,-5-7 0,1 2 0,1 1 0,-2-1 0,9 6 0,-9-5 0,9 5 0,-9-3 0,2-4 0,-3 3 0,0-7 0,0 2 0,3 8 0,-2-8 0,3 15 0,-4-16 0,2 9 0,-1-7 0,2 7 0,-3 2 0,5 0 0,-3 3 0,3-8 0,-5 9 0,0-10 0,0 10 0,0-9 0,0 3 0,0-4 0,0 4 0,0-6 0,0 3 0,3-5 0,-2 1 0,1-1 0,-2 8 0,0-9 0,3 6 0,-2-7 0,2 2 0,-3 0 0,3 9 0,-2-7 0,8 6 0,-8-8 0,5 4 0,-3-4 0,-3 8 0,6-6 0,-2 12 0,0-12 0,6 10 0,-8-10 0,9 12 0,-10-9 0,6 8 0,-2 6 0,0-7 0,6 6 0,-10-10 0,7-3 0,-4 9 0,0-10 0,5 19 0,-8-19 0,11 18 0,-8-20 0,4 12 0,-2-10 0,-1 19 0,6-11 0,-1 7 0,9 13 0,-13-26 0,15 35 0,-19-40 0,13 30 0,-10-21 0,1 9 0,1-6 0,-6-8 0,12 17 0,-3 5 0,7 10 0,7-1 0,-12-11 0,3-11 0,-8 0 0,1-5 0,0 1 0,5 13 0,-6-16 0,8 25 0,-6-20 0,4 7 0,3 12 0,-5-21 0,2 17 0,-2-10 0,7 8 0,-6-3 0,18 22 0,-15-20 0,6 11 0,10 16 0,-12-29 0,2 15 0,2 6 0,19 30 0,-8 0 0,-13-32 0,0-3 0,3 2 0,-3 7 0,2-5 0,-13-30 0,0 11 0,1-4 0,-3-7 0,4 11 0,3-4 0,-6-2 0,5 7 0,-6-9 0,-3-1 0,7 10 0,-8-12 0,7 29 0,-7-26 0,8 13 0,-6 0 0,1-5 0,1 8 0,-7-12 0,3 4 0,0-2 0,5 5 0,-3-2 0,7-14 0,-12 4 0,11 14 0,-11-17 0,16 39 0,-9-30 0,8 16 0,-5-3 0,-1-7 0,0 0 0,-5-2 0,4 0 0,-8-7 0,7 2 0,-8-5 0,3-5 0,1 6 0,4 0 0,-3-5 0,5-2 0,-7-4 0,1-1 0,1-2 0,6 16 0,-3-16 0,6 21 0,-11-23 0,4 14 0,-6-14 0,5 9 0,1-7 0,0 2 0,-1-2 0,0 7 0,-2-6 0,3 4 0,-4-6 0,3 0 0,-6-3 0,6 6 0,-6-2 0,7 7 0,1 2 0,0-3 0,-1 1 0,-4 7 0,3-8 0,-5 16 0,15-5 0,-14-6 0,13 20 0,-14-25 0,10 34 0,-5-17 0,1 6 0,-2-7 0,-5-4 0,0-2 0,0 7 0,0 0 0,0-7 0,0 16 0,0-16 0,0 25 0,0-27 0,0 26 0,0-34 0,0 21 0,0-8 0,0 3 0,5 10 0,-1-21 0,1 6 0,-2-15 0,-3-2 0,0-1 0,0 5 0,0-6 0,0 9 0,0-8 0,0 4 0,0 4 0,0-6 0,0 6 0,0-7 0,-3 7 0,2-6 0,-3 6 0,4-7 0,0 2 0,-3 1 0,3-4 0,-6 3 0,5-5 0,-7 5 0,7-5 0,-5 5 0,6-3 0,0 4 0,-3-1 0,3-2 0,-6-1 0,5-3 0,-4 0 0,-2 3 0,0-2 0,-2 2 0,3-3 0,-3 3 0,2-2 0,-5 5 0,2-5 0,-2-1 0,-6 0 0,7-2 0,-11 7 0,14-4 0,-9 4 0,7-5 0,0-2 0,-2 4 0,3-4 0,-4 5 0,3-6 0,-7 4 0,9-6 0,-14 9 0,11-5 0,-12 2 0,5 0 0,-6-3 0,5 0 0,-13 10 0,19-9 0,-18 6 0,14-5 0,-6-5 0,7 5 0,-16-5 0,14 8 0,-10-4 0,-4 3 0,16-3 0,-16-1 0,21 0 0,-11 0 0,11 1 0,-6-1 0,4 3 0,3-5 0,-7-2 0,9 3 0,-6-2 0,8 1 0,-8 2 0,-2 0 0,-8 8 0,-9-7 0,11 5 0,-19-4 0,20-3 0,-7 8 0,11-7 0,7 2 0,1 0 0,0 0 0,4 1 0,-3 2 0,2-3 0,-1-2 0,-10-2 0,9 1 0,-6-2 0,7 2 0,-2-3 0,2 2 0,-2 2 0,3-1 0,-3 0 0,2 0 0,-2-3 0,-6 3 0,4 0 0,-11 1 0,8 0 0,-4 5 0,6-5 0,-1 2 0,-14 2 0,-3-2 0,-14 0 0,8 6 0,3-7 0,14 3 0,-3-1 0,8-6 0,-4 5 0,6-5 0,-1 7 0,-5-3 0,5 5 0,-10-6 0,4 2 0,0 0 0,-13 4 0,11 1 0,-7-3 0,11-4 0,-10 9 0,6-7 0,-7 7 0,-4-4 0,16 1 0,-25 6 0,27-8 0,-17 6 0,20-11 0,-6 7 0,7-6 0,-7 9 0,1-8 0,-8 10 0,0-6 0,5 1 0,-3-2 0,8 1 0,-4-1 0,-4 13 0,7-12 0,-11 14 0,12-13 0,-9 5 0,-8 10 0,9-11 0,-13 11 0,10-8 0,-4 8 0,3-3 0,4 0 0,8-5 0,0 2 0,-6 1 0,0-4 0,1-2 0,4-7 0,3 5 0,2-5 0,1 2 0,-3 0 0,-2 15 0,3-8 0,-7 16 0,10-14 0,-7 6 0,-8 18 0,2-4 0,-14 10 0,-5 20 0,13-37 0,-7 19 0,22-37 0,2-1 0,-2 1 0,5-1 0,-3 6 0,4-7 0,-2 11 0,-13 6 0,-14 29 0,-23 10 0,0 5-477,-11-15 477,7-5 0,2-11 0,8 4 0,18-14 0,11-8 0,12-5 0,2-8 0,3 1 477,-1-4-477,4 2 0,0-3 0,0 1 0,3-1 0,-6 3 0,5-2 0,-1 9 0,2-7 0,0 5 0,0-8 0,0 3 0,0 5 0,0 0 0,0 1 0,0-3 0,0 12 0,0-3 0,0 7 0,0-14 0,0 3 0,0 8 0,0-4 0,0 20 0,0-28 0,0 10 0,0-9 0,0-3 0,0 12 0,0-12 0,0 3 0,0 0 0,0-3 0,0 6 0,0-4 0,0 7 0,0 9 0,0 9 0,-5 6 0,-14 4 0,5-3 0,-22 6 0,19-15 0,-19 19 0,21-27 0,-7 14 0,18-18 0,0-8 0,4 1 0,-3-10 0,3 2 0,-3 5 0,3-6 0,-6 9 0,5-10 0,-5 4 0,6-4 0,0 2 0,0 0 0,0-2 0,0 2 0,0-3 0,0 3 0,3 1 0,-2 0 0,4 1 0,-4-1 0,2 0 0,-3 2 0,2-3 0,4 4 0,-1-4 0,3 3 0,-4 3 0,2-4 0,-1 3 0,5 0 0,-9-6 0,6 6 0,-3 0 0,-3-6 0,2 6 0,0-8 0,-2 3 0,16 10 0,-10-7 0,11 9 0,-12-14 0,15 23 0,-11-19 0,10 15 0,-1-7 0,-10-10 0,9 9 0,-12-15 0,0 3 0,3 0 0,1 1 0,3 2 0,-1-3 0,6 5 0,-5-4 0,5 4 0,-8-5 0,15 2 0,-11 2 0,12-4 0,-16 2 0,7-4 0,-1 4 0,8 3 0,-6-3 0,5 0 0,-4-2 0,4 2 0,-4-3 0,13 7 0,-19-11 0,27 4 0,-21-1 0,13-3 0,-8 2 0,-5 0 0,13-2 0,-11 2 0,7-3 0,3 0 0,0 0 0,22 0 0,-15 0 0,22 0 0,-22 0 0,24 0 0,-15 0 0,6 0 0,1 0 0,-17 0 0,24 0 0,-24 0 0,26 0 0,-16 0 0,25 0 0,-14 0 0,25 0 0,-16 0 0,-2 0 0,-2 0 0,-26 0 0,5 0 0,-9 0 0,-7 0 0,7 0 0,-9 0 0,18 0 0,-4-5 0,6 3 0,-2-8 0,-16 6 0,7-2 0,-9 2 0,9-1 0,-7 4 0,7-8 0,-9 5 0,0-4 0,8-6 0,-11 8 0,20-9 0,-10 8 0,22-10 0,-6 4 0,-3-7 0,-2 3 0,-16 4 0,7-1 0,-9 6 0,18-3 0,-19 1 0,27 3 0,-28-3 0,10 6 0,1 0 0,-12-3 0,6 4 0,-17-4 0,-1 4 0,8-6 0,-6 4 0,9-4 0,-7 2 0,4 0 0,2 0 0,5 3 0,0-7 0,0 9 0,-1-5 0,-4 7 0,4-4 0,-12 4 0,3-4 0,0 4 0,-3-3 0,6 2 0,-4-1 0,13 2 0,-10-3 0,25 2 0,-20-2 0,12 0 0,-14-1 0,3 0 0,-8 1 0,4 0 0,-9 3 0,8-3 0,-9 0 0,14 2 0,-6-5 0,8 5 0,-5-3 0,3 4 0,6 0 0,-7 0 0,11 0 0,-13 0 0,4 0 0,10 0 0,-12 0 0,11 0 0,-13 0 0,14 0 0,-7 0 0,7 0 0,-9 0 0,14 0 0,-10 0 0,10 0 0,-5 0 0,2 0 0,10 0 0,-10 0 0,-2 0 0,0 0 0,-12 0 0,10 0 0,-12 0 0,5 0 0,-5 0 0,12 0 0,0 0 0,-4 0 0,4 0 0,-20 0 0,21 0 0,-19 0 0,18 0 0,-15 0 0,3 0 0,-5 0 0,-5 0 0,-3 0 0,3 0 0,-2 0 0,5 0 0,-2 0 0,2 0 0,-2 3 0,7-2 0,11 2 0,-7-3 0,23 10 0,-31-8 0,13 11 0,-16-13 0,0 6 0,16-1 0,-16-1 0,33 19 0,-14-14 0,18 14 0,1 1 0,-3-10 0,12 10 0,-19-17 0,-1 4 0,-5 0 0,-14 0 0,15 7 0,-17-14 0,-1 6 0,-3-7 0,-3 4 0,9 3 0,-7-3 0,6 1 0,-10-2 0,4-3 0,-4 0 0,10 4 0,-6-1 0,4-1 0,-4 3 0,4-3 0,16 15 0,-9-9 0,23 12 0,-24-12 0,12-1 0,-1 3 0,-5-5 0,16 5 0,-16-4 0,7-1 0,-1 0 0,-7-3 0,25 12 0,-4-4 0,9 4 0,-12-6 0,-2 5 0,-16-10 0,16 8 0,-21-10 0,20 7 0,-11-7 0,15 11 0,17 0 0,-13 3 0,23 7 0,-7-11 0,31 11 0,-5-3 0,-38-11 0,-1-1 0,15 4 0,14-1 0,-23-12 0,16 11 0,0 2 0,-16-5 0,14 10 0,-7-12 0,-7 1 0,32 5 0,-48-12 0,28 6 0,-35 3 0,10-8 0,-1 13 0,-9-14 0,-2 4 0,-14-2 0,13-2 0,-16 4 0,15-4 0,-3 2 0,-7-3 0,11 0 0,-13 0 0,5 0 0,8 0 0,13 0 0,11 0 0,9 0 0,-19 0 0,6 0 0,-17 0 0,9 0 0,-9 0 0,17-6 0,-24 4 0,23-3 0,-30-1 0,11 1 0,-13-5 0,23 0 0,-14 5 0,33-12 0,-24 9 0,3-8 0,0 5 0,0-4 0,-3 0 0,5 1 0,-9-3 0,-12 9 0,11-3 0,-18 3 0,8 3 0,15-16 0,1 8 0,1-8 0,11-2 0,-17 11 0,6-9 0,5-3 0,-4 6 0,-4-8 0,0 7 0,-26 10 0,19-15 0,-18 14 0,16-14 0,-21 15 0,21-16 0,-16 10 0,20-15 0,-24 14 0,4-3 0,-5 4 0,-3 5 0,3-7 0,10-3 0,-6 0 0,6-2 0,-7 5 0,-4 3 0,20-27 0,-11 17 0,15-27 0,-2 12 0,-9 3 0,3 0 0,-2 8 0,-11 3 0,9 2 0,3-27 0,-3 15 0,24-46 0,-15 22 0,15-24 0,-24 30 0,0 1 0,24-32 0,-25 26 0,-3 4 0,6 5 0,-13-3 0,0 10 0,-5 5 0,5-8 0,4 3 0,-7 16 0,11-16 0,-12 20 0,2-19 0,0 20 0,-3-4 0,2 8 0,-3-7 0,5-6 0,-3-15 0,2 10 0,-4-7 0,0 7 0,10-10 0,-7 10 0,7-27 0,-10 36 0,0-35 0,0 40 0,0-12 0,0 0 0,0 6 0,0-6 0,0 0 0,0 7 0,0-7 0,0-9 0,5-5 0,-3-9 0,4 12 0,-6 11 0,0 9 0,0-18 0,0 4 0,0-7 0,0 12 0,0-9 0,0 5 0,0-8 0,0-6 0,0 13 0,0-15 0,0 8 0,0 10 0,0 2 0,0-10 0,0 6 0,0-3 0,0-1 0,0 25 0,0-34 0,0 18 0,0-13 0,0 12 0,0 9 0,0-9 0,0 7 0,0-7 0,0 14 0,0-13 0,0 2 0,0-15 0,0 18 0,0-13 0,0 26 0,0-27 0,0 20 0,0-12 0,0 17 0,0-6 0,0-3 0,0 7 0,-3-9 0,2 13 0,-2-14 0,-3-17 0,5-11 0,-8 14 0,9 2 0,-3 26 0,3-1 0,0-2 0,-3 6 0,2-7 0,-1 6 0,-8-15 0,7-3 0,-7-6 0,7 3 0,2 14 0,-6-3 0,6-6 0,-3 7 0,-1-20 0,4 27 0,-4-26 0,5 27 0,0-19 0,0 4 0,0 2 0,0-7 0,0 0 0,0 11 0,0-19 0,0 20 0,0-7 0,0 11 0,0-1 0,0 7 0,0-14 0,0 16 0,0-15 0,-3 13 0,0-4 0,-1 3 0,2 5 0,2-2 0,0 2 0,0-2 0,0 2 0,0-2 0,0 0 0,0-1 0,0-2 0,0-6 0,0 4 0,0-3 0,0 7 0,2 1 0,-1 3 0,2-4 0,-3 1 0,3-4 0,-3 0 0,3 4 0,-3-8 0,0 6 0,3-12 0,-2 9 0,3-18 0,-4 19 0,0-18 0,0 23 0,0-9 0,0 7 0,0 0 0,5-2 0,-3 3 0,3-1 0,-5-2 0,4-3 0,-1 4 0,2-20 0,0 20 0,6-29 0,-6 30 0,5-21 0,-7 22 0,-3-5 0,6 8 0,-6-3 0,6 2 0,-5-2 0,1 2 0,-2-2 0,3 0 0,1-1 0,-1-2 0,0 5 0,-3-2 0,0 2 0,0-2 0,0 2 0,0-2 0,0 3 0,0-3 0,0 2 0,0-2 0,0 3 0,0-4 0,0 3 0,2-4 0,3-4 0,-2 4 0,1-11 0,-1 13 0,-3-5 0,3 8 0,-3-3 0,3 2 0,0-2 0,3 0 0,-2 2 0,1-2 0,-4 2 0,4 1 0,-4-3 0,2 2 0,-3-2 0,0 3 0,5-3 0,-3 2 0,6-3 0,-7 4 0,2-3 0,-1-1 0,-1 0 0,5-6 0,-5 7 0,3-5 0,-4 5 0,2-1 0,2 1 0,2-3 0,-3 2 0,3 0 0,-3-2 0,1 5 0,-1-2 0,-1 3 0,2 0 0,2-1 0,-3 1 0,3 0 0,-5-1 0,1-2 0,-2 2 0,3-2 0,1 0 0,5-1 0,-3 0 0,1 1 0,-1-5 0,-2 6 0,3-6 0,-1 8 0,0-1 0,0 1 0,3 0 0,-2 2 0,2-1 0,5 0 0,-6 2 0,9-6 0,-10 7 0,5-6 0,-6 7 0,11-5 0,-9 5 0,42-22 0,-33 16 0,26-13 0,-32 17 0,-1 0 0,0 3 0,-1-3 0,-3 3 0,0-3 0,0 2 0,0-1 0,1 2 0,2-3 0,-2-1 0,1 1 0,-1 0 0,-1 0 0,3 2 0,-2-1 0,2 2 0,5 0 0,-3 0 0,11 0 0,-11 0 0,3 0 0,-8 0 0,3 0 0,-2 0 0,2 0 0,-3 0 0,8 0 0,-5 0 0,7 0 0,8 5 0,-11-4 0,13 7 0,-19-8 0,5 6 0,-5-6 0,2 6 0,0 0 0,-2 4 0,5 2 0,-6 1 0,3-1 0,-5-2 0,-1-1 0,-1-3 0,-1 0 0,7 3 0,-6-2 0,3 2 0,-2-3 0,1 1 0,-1-1 0,0 3 0,-1 0 0,3 9 0,4-4 0,-2 3 0,0-7 0,-1 7 0,-5-9 0,5 9 0,-2-10 0,-1 1 0,2-1 0,-4-1 0,2 0 0,-3 3 0,0-2 0,0 2 0,0-3 0,0 3 0,0-2 0,3 2 0,-3-3 0,3 8 0,-3-6 0,0 14 0,0-11 0,0 4 0,0 2 0,0-9 0,0 6 0,0-5 0,0 0 0,0 4 0,0-1 0,0 1 0,0 4 0,0-6 0,0 3 0,0-5 0,0-2 0,0 2 0,0-3 0,0 8 0,0-5 0,0 5 0,0-5 0,0-3 0,0 3 0,0-2 0,0 2 0,0-3 0,0 3 0,0 5 0,0-5 0,0 5 0,0-8 0,0 3 0,0-2 0,0 2 0,0-3 0,0 3 0,0-2 0,0 2 0,0-3 0,0 3 0,3-2 0,-2 5 0,1-3 0,-2 1 0,0-1 0,0-3 0,0 3 0,0-2 0,0 2 0,0-3 0,0 3 0,0 1 0,6 2 0,-5-2 0,5-1 0,-6-3 0,0 0 0,3 8 0,-2-6 0,5 9 0,-5-10 0,2 5 0,-3-5 0,0 5 0,0-5 0,3 2 0,-3-3 0,3 8 0,3-3 0,-5 6 0,5-7 0,-4-1 0,-1-3 0,2 3 0,-1 1 0,-1-1 0,2 3 0,0-2 0,0 0 0,3-1 0,-2-3 0,1 0 0,-1 3 0,-1 6 0,3-4 0,-6 3 0,9-5 0,-8-3 0,5 3 0,-4-2 0,2 2 0,-1-3 0,3 3 0,-3-2 0,3-1 0,0 3 0,1-2 0,-1 2 0,3 0 0,-2-2 0,2 2 0,-3-3 0,8 4 0,-6-3 0,6 4 0,-8-5 0,0-2 0,1-2 0,-1-2 0,3 0 0,0 3 0,4 1 0,-3 2 0,1 0 0,-1 0 0,3-2 0,-1 1 0,1-4 0,-4 1 0,0-2 0,-3 0 0,8 4 0,-5 0 0,5 0 0,0 2 0,-6-5 0,14 6 0,-14-6 0,6 2 0,-8-3 0,3 0 0,-2 0 0,2 0 0,-3 0 0,3 0 0,1 0 0,-1 0 0,3 0 0,-5 0 0,2 0 0,-3 0 0,3 0 0,1-5 0,0 3 0,1-3 0,-1 2 0,0 2 0,1-2 0,-4 1 0,2 1 0,0-5 0,-2 6 0,5-3 0,-5 0 0,2 0 0,-3-1 0,0-1 0,0 4 0,1-2 0,-1 3 0,0 0 0,3-3 0,-2 0 0,2-4 0,0 1 0,-2 0 0,2 0 0,0-1 0,-2 4 0,4-6 0,-1 8 0,0-7 0,-1 7 0,-3-2 0,3 3 0,-2-3 0,2 3 0,-3-3 0,3 3 0,6 0 0,3 0 0,-2 0 0,15 0 0,-20 0 0,12-3 0,-9-1 0,-6-3 0,14-1 0,-11 2 0,6 2 0,-4-2 0,-1 5 0,-2-4 0,2 1 0,-2-2 0,2 3 0,0 0 0,-2 0 0,2 2 0,-2-4 0,-1 4 0,8-9 0,-6 5 0,12-6 0,-12 7 0,10-3 0,-10 4 0,4-4 0,2-1 0,-6 5 0,11-4 0,-11 6 0,11-3 0,-11 4 0,12 0 0,-5-3 0,34-11 0,-27 7 0,34-10 0,-43 13 0,8-2 0,2-2 0,-13 4 0,11-4 0,-12 1 0,-5 4 0,10-4 0,-9 7 0,6-7 0,-5 7 0,-2-6 0,2 2 0,5-3 0,-3 1 0,11-2 0,-8 4 0,21-16 0,-21 15 0,13-12 0,-18 14 0,-3 2 0,20-1 0,-7 2 0,23 0 0,-16 0 0,2 0 0,3 0 0,-15 0 0,16 0 0,-4 0 0,-2 0 0,16 0 0,-16 0 0,2 0 0,-13 0 0,-3 0 0,-5 0 0,2 0 0,-3 0 0,3 0 0,0 0 0,9 0 0,-7 0 0,6 0 0,-8 0 0,1 0 0,2 0 0,-2 0 0,-1 0 0,3 0 0,-2 0 0,2 0 0,6 0 0,-5 0 0,10 0 0,-9 0 0,8 0 0,-8 0 0,1 0 0,-4 0 0,-4 0 0,5 5 0,3-4 0,-4 8 0,11-9 0,-14 6 0,9-3 0,-8 1 0,4 4 0,-4-4 0,3 2 0,-5 0 0,10-2 0,-1 3 0,3 3 0,12 0 0,-10 0 0,7 2 0,-13-5 0,-6 0 0,0-2 0,-2-1 0,10 3 0,-9-1 0,6 1 0,-5 2 0,6 2 0,-2-1 0,5 1 0,-1-4 0,6 11 0,-3-8 0,2 5 0,-13-9 0,8-2 0,-9 2 0,6 1 0,-5 0 0,1-1 0,0 0 0,-1 0 0,-3 0 0,3 1 0,10 11 0,-4-9 0,6 9 0,9 3 0,-13-11 0,13 11 0,-17-13 0,-1-1 0,15 5 0,-11-6 0,11 5 0,-15-1 0,1 0 0,-1-1 0,6 1 0,-5-2 0,2 2 0,-3-4 0,12 8 0,-3-6 0,4 6 0,-8-7 0,-10-4 0,9 7 0,-7-6 0,7 4 0,-6-2 0,0-3 0,16 6 0,-16-3 0,16 3 0,-19-6 0,2 3 0,-3-6 0,17 8 0,-4 0 0,8-1 0,-4 4 0,5-6 0,-2 0 0,16 5 0,-16-2 0,2-1 0,-10 3 0,8-5 0,-13-1 0,28 6 0,-23-1 0,7-3 0,-8 4 0,-3-6 0,0 0 0,9 3 0,5 4 0,12-5 0,-8 6 0,5-11 0,-26 4 0,11-4 0,-11 2 0,4 0 0,-4-3 0,-1 3 0,17 2 0,-14-1 0,27 2 0,-12-4 0,7 2 0,7-3 0,-7 7 0,-7-7 0,3 4 0,-23-5 0,6 0 0,0 0 0,-6 0 0,52 0 0,-16 0 0,17 0 0,-20 0 0,-28 0 0,2 0 0,2 0 0,-9 0 0,23 0 0,-3 0 0,34 0 0,-4 0 0,16 0 0,-32 0 0,8 0 0,-29 0 0,12 0 0,-14 0 0,-5 0 0,-5 0 0,-2 0 0,2 0 0,-3 0 0,11-7 0,-6 5 0,21-5 0,-11 4 0,49-5 0,-42 3 0,31-6 0,-45 5 0,0 1 0,-2-6 0,-2 7 0,-1-3 0,21-13 0,-16 13 0,21-15 0,-16 12 0,-3 2 0,-2-3 0,-5 2 0,-3-1 0,6-3 0,-2-5 0,-3 4 0,4-4 0,-10 0 0,8 5 0,-9-10 0,6 9 0,-6-9 0,7 5 0,-6-6 0,2 5 0,2-13 0,0 11 0,1-12 0,-3 0 0,-3-3 0,0 6 0,0-11 0,0 20 0,0-12 0,-5 0 0,4 7 0,-4-7 0,5 0 0,0 6 0,-4-6 0,3 15 0,-6-5 0,-7-16 0,7 10 0,-9-9 0,11 15 0,2 9 0,-16-13 0,12 8 0,-9-2 0,10 7 0,0-9 0,0 12 0,-7-20 0,8 6 0,-7-10 0,7-1 0,-8 3 0,5 14 0,-3-3 0,-8-1 0,7-11 0,-9-9 0,8 7 0,-1 0 0,1 12 0,-10-4 0,13 8 0,-28-19 0,22 17 0,-36-53 0,32 47 0,-31-45 0,29 54 0,-10-11 0,9 14 0,0-6 0,6 8 0,-21-24 0,23 26 0,-32-29 0,25 27 0,-15-12 0,9 2 0,8 10 0,-25-19 0,22 19 0,-32-22 0,28 17 0,-31-25 0,29 27 0,-20-24 0,24 26 0,-7-16 0,-16-10 0,1 1 0,-12-5 0,8 8 0,19 17 0,-7-13 0,24 21 0,-24-27 0,17 23 0,-21-32 0,13 20 0,-6-13 0,10 12 0,3 0 0,-1 1 0,-2-1 0,-7-4 0,-9-9 0,4-2 0,-4 1 0,-11-28 0,12 22 0,-18-24 0,26 25 0,-16-4 0,18 12 0,-5-7 0,3 13 0,2-13 0,5 16 0,1-1 0,-6-3 0,5 9 0,-8-11 0,13 9 0,-1-1 0,9 9 0,-7-6 0,8 12 0,1-4 0,-3 1 0,0-2 0,-13-18 0,10 15 0,-9-13 0,14 21 0,-4-8 0,6 8 0,-6-7 0,7 3 0,-15-8 0,14 6 0,-13-7 0,16 16 0,-5-11 0,2 6 0,-3-8 0,-3 0 0,-10-12 0,12 14 0,-8-13 0,1 4 0,3-6 0,-2 4 0,8 6 0,4 9 0,0-1 0,-10-14 0,0-11 0,3 14 0,-3-19 0,11 30 0,-9-23 0,0 7 0,0-1 0,2 3 0,2 10 0,3-1 0,-2 0 0,6 5 0,-5-4 0,5 12 0,-3-6 0,2 2 0,5 2 0,-5-5 0,5-9 0,-9 6 0,6-10 0,-4 8 0,2 6 0,5 0 0,-4 4 0,4-5 0,-7 5 0,6-2 0,-3 3 0,2 2 0,2-8 0,-4 5 0,4-2 0,-2 3 0,3 2 0,-5-17 0,4 14 0,-4-27 0,5 29 0,-7-20 0,5 23 0,-5-6 0,7 0 0,-3 3 0,2-4 0,-1-2 0,2 6 0,0-12 0,-3 12 0,2-3 0,-2 0 0,3 6 0,-3-14 0,2 13 0,-3-7 0,4 1 0,0 4 0,0-11 0,0 13 0,0-7 0,0 1 0,-5 1 0,3-9 0,-3 9 0,1-8 0,3 11 0,-2-3 0,3 4 0,0 4 0,0-4 0,0 4 0,0-3 0,-3 2 0,2-2 0,-2 3 0,3-3 0,0 2 0,0 0 0,0 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F4FC45-28A9-C64B-828B-73DD74DA1AAF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EC36FA-DBBA-6141-8519-EF3DFAEADE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8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dirty="0"/>
              <a:t>Points</a:t>
            </a:r>
          </a:p>
          <a:p>
            <a:pPr marL="171450" indent="-171450">
              <a:buFontTx/>
              <a:buChar char="-"/>
            </a:pPr>
            <a:r>
              <a:rPr lang="en-US" dirty="0"/>
              <a:t>Now you know LR</a:t>
            </a:r>
          </a:p>
          <a:p>
            <a:pPr marL="171450" indent="-171450">
              <a:buFontTx/>
              <a:buChar char="-"/>
            </a:pPr>
            <a:r>
              <a:rPr lang="en-US" dirty="0"/>
              <a:t>LR limitation: linear decision boundaries</a:t>
            </a:r>
          </a:p>
          <a:p>
            <a:pPr marL="171450" indent="-171450">
              <a:buFontTx/>
              <a:buChar char="-"/>
            </a:pPr>
            <a:r>
              <a:rPr lang="en-US" dirty="0"/>
              <a:t>Stack LRs: flexible, nonlinear decision boundaries</a:t>
            </a:r>
          </a:p>
          <a:p>
            <a:pPr marL="171450" indent="-171450">
              <a:buFontTx/>
              <a:buChar char="-"/>
            </a:pPr>
            <a:r>
              <a:rPr lang="en-US" i="0" dirty="0"/>
              <a:t>This gives us the MLP</a:t>
            </a:r>
          </a:p>
          <a:p>
            <a:pPr marL="171450" indent="-171450">
              <a:buFontTx/>
              <a:buChar char="-"/>
            </a:pPr>
            <a:r>
              <a:rPr lang="en-US" i="0" dirty="0"/>
              <a:t>MLP = NN = ANN</a:t>
            </a:r>
          </a:p>
          <a:p>
            <a:pPr marL="171450" indent="-171450">
              <a:buFontTx/>
              <a:buChar char="-"/>
            </a:pPr>
            <a:r>
              <a:rPr lang="en-US" i="0" dirty="0"/>
              <a:t>Many LRs, stacked: “deep learning”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Script</a:t>
            </a:r>
          </a:p>
          <a:p>
            <a:pPr marL="171450" indent="-171450">
              <a:buFontTx/>
              <a:buChar char="-"/>
            </a:pPr>
            <a:r>
              <a:rPr lang="en-US" dirty="0"/>
              <a:t>In this lecture, we’re going to pick up right where we left off – </a:t>
            </a:r>
          </a:p>
          <a:p>
            <a:pPr marL="171450" indent="-171450">
              <a:buFontTx/>
              <a:buChar char="-"/>
            </a:pPr>
            <a:r>
              <a:rPr lang="en-US" dirty="0"/>
              <a:t>we’ll build on our understanding of logistic regression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And see how we can </a:t>
            </a:r>
            <a:r>
              <a:rPr lang="en-US" i="1" dirty="0"/>
              <a:t>extend</a:t>
            </a:r>
            <a:r>
              <a:rPr lang="en-US" i="0" dirty="0"/>
              <a:t> logistic regression to overcome its major limitation, </a:t>
            </a:r>
          </a:p>
          <a:p>
            <a:pPr marL="171450" indent="-171450">
              <a:buFontTx/>
              <a:buChar char="-"/>
            </a:pPr>
            <a:r>
              <a:rPr lang="en-US" i="0" dirty="0"/>
              <a:t>namely that it can only learn linear decision boundaries</a:t>
            </a:r>
          </a:p>
          <a:p>
            <a:pPr marL="171450" indent="-171450">
              <a:buFontTx/>
              <a:buChar char="-"/>
            </a:pPr>
            <a:endParaRPr lang="en-US" i="0" dirty="0"/>
          </a:p>
          <a:p>
            <a:pPr marL="171450" indent="-171450">
              <a:buFontTx/>
              <a:buChar char="-"/>
            </a:pPr>
            <a:r>
              <a:rPr lang="en-US" i="0" dirty="0"/>
              <a:t>The model we’ll end up with – in which we perform multiple rounds of logistic regression in sequence – </a:t>
            </a:r>
          </a:p>
          <a:p>
            <a:pPr marL="171450" indent="-171450">
              <a:buFontTx/>
              <a:buChar char="-"/>
            </a:pPr>
            <a:r>
              <a:rPr lang="en-US" i="0" dirty="0"/>
              <a:t>turns out to be the multilayer perceptron, also called a neural network or artificial neural network</a:t>
            </a:r>
          </a:p>
          <a:p>
            <a:pPr marL="171450" indent="-171450">
              <a:buFontTx/>
              <a:buChar char="-"/>
            </a:pPr>
            <a:r>
              <a:rPr lang="en-US" dirty="0"/>
              <a:t>The more logistic regressions we stack up, the </a:t>
            </a:r>
            <a:r>
              <a:rPr lang="en-US" i="1" dirty="0"/>
              <a:t>deeper</a:t>
            </a:r>
            <a:r>
              <a:rPr lang="en-US" dirty="0"/>
              <a:t> our models become, hence the term “deep learning”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75F3A6-6971-5D47-A3A5-1EDC47BAF5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25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Go over this and emphasize the GLM portion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C133-1F4F-8747-A895-2F83A6083C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21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DC8E6-6504-B03B-22E1-FB26DAC79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416DD-4A91-6ABA-CAC7-9E5CF5506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B80747-4508-1889-AD89-5B4F3A548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Go over this and emphasize the GLM portion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77E34-A740-BAB3-DC8A-1A640261A8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C133-1F4F-8747-A895-2F83A6083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68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w define a direction in feature space</a:t>
            </a:r>
          </a:p>
          <a:p>
            <a:r>
              <a:rPr lang="en-US" dirty="0"/>
              <a:t>As we move in this direction, predicted log-odds increase</a:t>
            </a:r>
          </a:p>
          <a:p>
            <a:r>
              <a:rPr lang="en-US" dirty="0"/>
              <a:t>As we move perpendicular to this direction, predicted log-odds are constant</a:t>
            </a:r>
          </a:p>
          <a:p>
            <a:r>
              <a:rPr lang="en-US" dirty="0"/>
              <a:t>Decision boundary: we say we will predict positive if log-odds greater than some value</a:t>
            </a:r>
          </a:p>
          <a:p>
            <a:r>
              <a:rPr lang="en-US" dirty="0"/>
              <a:t>This defines a subspace perpendicular to our weight vector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CC133-1F4F-8747-A895-2F83A6083C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84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Imagine: red and blue are important!</a:t>
            </a:r>
          </a:p>
          <a:p>
            <a:r>
              <a:rPr lang="en-US" dirty="0"/>
              <a:t>So… we really need a non-linear decision boundary</a:t>
            </a:r>
          </a:p>
          <a:p>
            <a:r>
              <a:rPr lang="en-US" dirty="0"/>
              <a:t>Why can’t logistic regression do this?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60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Look at some simple problems LR *cannot* solve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38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48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it mean to be fully connected?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019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A09DC-EFA1-64CC-B8CC-839C1838E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AF2803-CE9F-908F-B76C-98ADABB49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923F0-89CD-4ADD-C57F-DB1DB1FE2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it mean to be fully connected?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9D6E08-C84A-8531-6D20-ECBD17C10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03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199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let’s get to it.</a:t>
            </a:r>
          </a:p>
          <a:p>
            <a:r>
              <a:rPr lang="en-US" dirty="0"/>
              <a:t>Returning to our logistic regression model, we’re going to make yet another simplification to our diagram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97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E10A1-C0C9-7501-6D28-957CCD47F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7CB73-AFBC-8E43-1120-180EBDF9B4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A6A54-455F-40DA-7C80-1C352013B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let’s get to it.</a:t>
            </a:r>
          </a:p>
          <a:p>
            <a:r>
              <a:rPr lang="en-US" dirty="0"/>
              <a:t>Returning to our logistic regression model, we’re going to make yet another simplification to our diagram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AC395-DA57-5F14-774B-9E34DF1EF5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48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F684B-9960-7F37-6059-9DD74A02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B95CA-C48F-690F-C32E-C4CB9531C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28A76-C320-79E2-802C-C34B71B5B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let’s get to it.</a:t>
            </a:r>
          </a:p>
          <a:p>
            <a:r>
              <a:rPr lang="en-US" dirty="0"/>
              <a:t>Returning to our logistic regression model, we’re going to make yet another simplification to our diagram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7A0BF-27EA-6FBC-CB44-5F4C0DD1F6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994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B9CB2-1AF8-EEBE-46AC-5E3705C7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471FB-72AC-06AD-C384-C1B748BCF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BCC1F-DF15-7C8F-979B-5D5CCA68B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EA524-652D-1257-BC8C-8656E02D9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2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C317-74BA-7921-B3DF-BF3669ED5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242C57-656C-B839-5CCE-4D9C95497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7F07C-C193-FF6C-D6EF-3A79F3F81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70D60-55FC-2F4E-C783-5FCA7EE3D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463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BDEB2-0631-DDE6-5BE1-4AED5EC8A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D1E57-6C64-050C-ACC3-B780F2991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D26FB-AE92-8682-05BC-6B19014B4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B5B717-2950-CB4E-EA6E-CCA17AA3CB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83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18178-F580-3614-321C-0E8282C51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25D7F-AC74-01E7-3CD8-B5B274E05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E23F6-0B62-4EFB-3986-D36B74AE3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689C1-2365-CA4E-7E66-0C7A9EB68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817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on this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443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It doesn’t always increase!</a:t>
            </a:r>
          </a:p>
          <a:p>
            <a:pPr marL="171450" indent="-171450">
              <a:buFontTx/>
              <a:buChar char="-"/>
            </a:pPr>
            <a:r>
              <a:rPr lang="en-US" dirty="0"/>
              <a:t>Bottleneck layer</a:t>
            </a:r>
          </a:p>
          <a:p>
            <a:pPr marL="171450" indent="-171450">
              <a:buFontTx/>
              <a:buChar char="-"/>
            </a:pPr>
            <a:r>
              <a:rPr lang="en-US" dirty="0"/>
              <a:t>Importance of depth rather than width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27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that we’ve covered the “what” – we’re going to be extending the logistic regression in this way –</a:t>
            </a:r>
          </a:p>
          <a:p>
            <a:r>
              <a:rPr lang="en-US" dirty="0"/>
              <a:t>Let’s think a little more about why.</a:t>
            </a:r>
          </a:p>
          <a:p>
            <a:endParaRPr lang="en-US" dirty="0"/>
          </a:p>
          <a:p>
            <a:r>
              <a:rPr lang="en-US" dirty="0"/>
              <a:t>And to help us do that, let’s return to our MNIST example from before.</a:t>
            </a:r>
          </a:p>
          <a:p>
            <a:endParaRPr lang="en-US" dirty="0"/>
          </a:p>
          <a:p>
            <a:r>
              <a:rPr lang="en-US" dirty="0"/>
              <a:t>Again, our vector of logistic regression parameters can be viewed as a filter that registers a “hit” – in other words, produces a positive value – when it encounters features that are similar to the filter itself.</a:t>
            </a:r>
          </a:p>
          <a:p>
            <a:r>
              <a:rPr lang="en-US" dirty="0"/>
              <a:t>When identifying handwritten digits, the model will learn that to identify zeros, it needs a filter that looks like a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070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But, if we go back to the dataset and look closely, we’ll notice that there are MANY ways to write each digit.</a:t>
            </a:r>
          </a:p>
          <a:p>
            <a:r>
              <a:rPr lang="en-US" dirty="0"/>
              <a:t>There’s no such thing as a filter that looks like a four, because there are several quit distinct ways of writing a four, and a filter that looks like one won’t look much like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777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logistic regression gets only one filter per digit</a:t>
            </a:r>
          </a:p>
          <a:p>
            <a:endParaRPr lang="en-US" dirty="0"/>
          </a:p>
          <a:p>
            <a:r>
              <a:rPr lang="en-US" dirty="0"/>
              <a:t>As a result, the filter it’ll end up learning will look like the average of all the different ways of writing a four.</a:t>
            </a:r>
          </a:p>
          <a:p>
            <a:r>
              <a:rPr lang="en-US" dirty="0"/>
              <a:t>This filter will weakly match all the styles, but it won’t strongly match any of them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689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let’s get to it.</a:t>
            </a:r>
          </a:p>
          <a:p>
            <a:r>
              <a:rPr lang="en-US" dirty="0"/>
              <a:t>Returning to our logistic regression model, we’re going to make yet another simplification to our diagram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02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Instead, we’d much prefer to have multiple filters, each corresponding to a different way of writing a four – there may be many</a:t>
            </a:r>
          </a:p>
          <a:p>
            <a:r>
              <a:rPr lang="en-US" dirty="0"/>
              <a:t>Then, we can predict four whenever any of these filters gives us a strong match instead of when the average filter gives us a weak match.</a:t>
            </a:r>
          </a:p>
          <a:p>
            <a:endParaRPr lang="en-US" dirty="0"/>
          </a:p>
          <a:p>
            <a:r>
              <a:rPr lang="en-US" dirty="0"/>
              <a:t>In practice, this is extremely helpful to help us distinguish 9’s from 4’s effectively, for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21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why introduce these </a:t>
            </a:r>
            <a:r>
              <a:rPr lang="en-US" dirty="0" err="1"/>
              <a:t>zeta_i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Let’s suppose we’re training a model to distinguish between 4’s and 9’s.</a:t>
            </a:r>
          </a:p>
          <a:p>
            <a:r>
              <a:rPr lang="en-US" dirty="0"/>
              <a:t>Instead of a single filter, we now have M filters corresponding to the M values of </a:t>
            </a:r>
            <a:r>
              <a:rPr lang="en-US" dirty="0" err="1"/>
              <a:t>zeta_i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Each of them has the ability to learn a distinct way of writing a 4, or even a smaller shape representing a small part of a 4</a:t>
            </a:r>
          </a:p>
          <a:p>
            <a:endParaRPr lang="en-US" dirty="0"/>
          </a:p>
          <a:p>
            <a:r>
              <a:rPr lang="en-US" dirty="0"/>
              <a:t>The second layer of the model – the layer connecting </a:t>
            </a:r>
            <a:r>
              <a:rPr lang="en-US" dirty="0" err="1"/>
              <a:t>zeta_i</a:t>
            </a:r>
            <a:r>
              <a:rPr lang="en-US" dirty="0"/>
              <a:t> to </a:t>
            </a:r>
            <a:r>
              <a:rPr lang="en-US" dirty="0" err="1"/>
              <a:t>p_i</a:t>
            </a:r>
            <a:r>
              <a:rPr lang="en-US" dirty="0"/>
              <a:t> – can then learn that when specific </a:t>
            </a:r>
            <a:r>
              <a:rPr lang="en-US" dirty="0" err="1"/>
              <a:t>zeta_i</a:t>
            </a:r>
            <a:r>
              <a:rPr lang="en-US" dirty="0"/>
              <a:t> values are large – indicating that their filter strongly matches x – then the image is highly likely to be a four.</a:t>
            </a:r>
          </a:p>
          <a:p>
            <a:r>
              <a:rPr lang="en-US" dirty="0"/>
              <a:t>We get M distinct sub-models, each of them specializing in identifying one very specific shape within the image. The final prediction about </a:t>
            </a:r>
            <a:r>
              <a:rPr lang="en-US" dirty="0" err="1"/>
              <a:t>p_i</a:t>
            </a:r>
            <a:r>
              <a:rPr lang="en-US" dirty="0"/>
              <a:t>, then, is based on the weighing all the reports from all of these different specialists.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072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by introducing a single hidden layer – using an MLP with one hidden layer – we immediately jump up to 96% accuracy.</a:t>
            </a:r>
          </a:p>
          <a:p>
            <a:r>
              <a:rPr lang="en-US" dirty="0"/>
              <a:t>And if you don’t think this is a big difference, think about an ATM that sometimes gave you only $400 dollars instead of the $900 you really deposited – it can happen 9% of the time or 4% of the time – you get to choose.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333E9F-084A-8543-BC6F-0AE70009C2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72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&amp; see you next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EC36FA-DBBA-6141-8519-EF3DFAEADE3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65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2E9E7-C297-0548-83FE-519EFA772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65ABB0-B43C-D940-A767-2F05E6C11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75FC5-1AB7-0E46-A34D-B4E3727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787EC-D901-0B47-BA52-B9D0C745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D7EA7-1BE2-FF4F-AFE4-9A0BCE5A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6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F131-C484-2444-8B42-30084E6F2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7258E-DEE6-4343-998E-5910836E2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8B39D-4B21-F44D-B052-75D9C86A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AF6CC-FE33-EE4D-BF76-7612A13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6E0A9-6106-E745-977C-E2E4D645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320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E20DF-4BDD-084C-8B7A-E19FD5E34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21C9F-679A-2145-920F-D2A5496CC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CE203-3DB3-854B-AB39-90E9A9809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3BC5E-30F6-C84D-B476-8EEB71431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A8932-99E2-4648-81E1-F845E60C6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91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20EEE-A066-A847-9DCA-7132CFF7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A88B6-37A1-8A44-97D0-3896241BDA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B341F3-CA4F-F042-BB69-32137FFAB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D5E93-6851-454F-BDAD-BB15BBDD7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3D430-1E19-DD43-8BA2-3F764B25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9CD9E-5313-2441-A165-A8FE3484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58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6207-7907-7C44-A418-85BE6ED11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DA2E9-5E25-5748-8F0B-39F1F7703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EBEB5-6814-314B-9A56-4AA6A502F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64A51-1E86-DE4D-9696-90326B2D0E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D87D1-A085-C248-B6AF-C07E9E2F9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976633-B872-A34D-BBA1-5950BB94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B857B3-3ECB-1145-8D04-C7DF8AE5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E6954-15E3-6C41-8745-C8DD1606E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CE63D-40A0-4542-B3DB-574E8BC0A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69282C-0DA0-DE41-A6CC-459D31DF8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A4B377-A9DB-7344-A2D4-A117E400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9623D-7B2C-B942-8A4D-67475FF6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03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B3B949-DB42-B84E-A9ED-E56537E68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EF3B6-9C95-7E4F-B733-5EAE6D5AC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87627-C027-7C4F-B7BB-BF6830EF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15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A27E8-2AEB-294F-A480-68E3188D6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69405-21ED-CE45-9B04-121C6BA09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D5023-A4D9-204D-AB71-BBF5E0E8E3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63DB7-02F4-1142-BD3A-41471B348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92F61-941F-7F4F-9C49-FEAE9443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E4608-E399-D545-B211-7EBEEA652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530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6607-F7BE-BC4E-B8EE-D13D64B5E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5CA1C-ADF5-9947-BDC3-D7EB2460AA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B9869-2F70-4941-93CB-8F7D92BE59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C23E36-169B-D947-A500-4AB0B457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E4781-1D0E-AC47-AF19-50DAB3ED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84F26-9E61-2A47-B9D3-754B9D674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0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FC0FF-8DBC-214D-9C2D-3D5585331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EAF8D3-C770-0549-9D56-2B326700DD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5A44A-4635-FA4D-996E-2852F888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53E90-A558-114A-B15F-BA8EAE285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90948-4115-0442-AF74-72283BF2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87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605D33-64F9-DA4F-8227-66DB9A068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495BDA-4232-F340-98CD-AF6FDB17D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17F8-0754-A741-B178-7CE9383C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1947C-C364-974F-9818-7AE59FCCE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9FAEA-F1A3-564B-9D01-554772B8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4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3EFF07-4689-5B48-8801-D9B093C39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1A328-2517-7143-9A3A-EE3A19D6D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99721-F559-0341-B430-55620ABC2A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15CD7-F30A-1849-AF44-44760E73158E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7B07E-BEEC-B441-96C0-B7C2B94E1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F24E9-F331-4146-ADEE-6E2B383F6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E61E3-801D-6041-BA3A-8CFA5110F9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96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2.png"/><Relationship Id="rId5" Type="http://schemas.openxmlformats.org/officeDocument/2006/relationships/image" Target="../media/image15.png"/><Relationship Id="rId10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7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7.png"/><Relationship Id="rId10" Type="http://schemas.openxmlformats.org/officeDocument/2006/relationships/image" Target="../media/image29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7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11" Type="http://schemas.openxmlformats.org/officeDocument/2006/relationships/image" Target="../media/image36.png"/><Relationship Id="rId10" Type="http://schemas.openxmlformats.org/officeDocument/2006/relationships/image" Target="../media/image35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7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0.png"/><Relationship Id="rId11" Type="http://schemas.openxmlformats.org/officeDocument/2006/relationships/image" Target="../media/image42.png"/><Relationship Id="rId10" Type="http://schemas.openxmlformats.org/officeDocument/2006/relationships/image" Target="../media/image40.png"/><Relationship Id="rId9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47.png"/><Relationship Id="rId10" Type="http://schemas.openxmlformats.org/officeDocument/2006/relationships/image" Target="../media/image49.png"/><Relationship Id="rId4" Type="http://schemas.openxmlformats.org/officeDocument/2006/relationships/image" Target="../media/image46.png"/><Relationship Id="rId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47.png"/><Relationship Id="rId10" Type="http://schemas.openxmlformats.org/officeDocument/2006/relationships/image" Target="../media/image49.png"/><Relationship Id="rId4" Type="http://schemas.openxmlformats.org/officeDocument/2006/relationships/image" Target="../media/image46.png"/><Relationship Id="rId9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0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4" Type="http://schemas.microsoft.com/office/2007/relationships/hdphoto" Target="../media/hdphoto4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11" Type="http://schemas.openxmlformats.org/officeDocument/2006/relationships/image" Target="../media/image58.png"/><Relationship Id="rId5" Type="http://schemas.openxmlformats.org/officeDocument/2006/relationships/image" Target="../media/image53.png"/><Relationship Id="rId10" Type="http://schemas.openxmlformats.org/officeDocument/2006/relationships/image" Target="../media/image57.png"/><Relationship Id="rId4" Type="http://schemas.openxmlformats.org/officeDocument/2006/relationships/image" Target="../media/image52.png"/><Relationship Id="rId9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9.png"/><Relationship Id="rId7" Type="http://schemas.openxmlformats.org/officeDocument/2006/relationships/image" Target="../media/image7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9.png"/><Relationship Id="rId7" Type="http://schemas.openxmlformats.org/officeDocument/2006/relationships/image" Target="../media/image7.png"/><Relationship Id="rId12" Type="http://schemas.openxmlformats.org/officeDocument/2006/relationships/image" Target="../media/image6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31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3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33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../media/image52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7" Type="http://schemas.openxmlformats.org/officeDocument/2006/relationships/image" Target="../media/image58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8.emf"/><Relationship Id="rId7" Type="http://schemas.openxmlformats.org/officeDocument/2006/relationships/image" Target="../media/image15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91.png"/><Relationship Id="rId9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7.emf"/><Relationship Id="rId7" Type="http://schemas.openxmlformats.org/officeDocument/2006/relationships/image" Target="../media/image59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emf"/><Relationship Id="rId5" Type="http://schemas.openxmlformats.org/officeDocument/2006/relationships/image" Target="../media/image55.emf"/><Relationship Id="rId4" Type="http://schemas.openxmlformats.org/officeDocument/2006/relationships/image" Target="../media/image54.emf"/><Relationship Id="rId9" Type="http://schemas.openxmlformats.org/officeDocument/2006/relationships/image" Target="../media/image61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56.png"/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95.png"/><Relationship Id="rId12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1.emf"/><Relationship Id="rId11" Type="http://schemas.openxmlformats.org/officeDocument/2006/relationships/image" Target="../media/image7.png"/><Relationship Id="rId5" Type="http://schemas.openxmlformats.org/officeDocument/2006/relationships/image" Target="../media/image60.emf"/><Relationship Id="rId10" Type="http://schemas.openxmlformats.org/officeDocument/2006/relationships/image" Target="../media/image98.png"/><Relationship Id="rId4" Type="http://schemas.openxmlformats.org/officeDocument/2006/relationships/image" Target="../media/image59.emf"/><Relationship Id="rId9" Type="http://schemas.openxmlformats.org/officeDocument/2006/relationships/image" Target="../media/image77.png"/><Relationship Id="rId14" Type="http://schemas.openxmlformats.org/officeDocument/2006/relationships/image" Target="../media/image9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emf"/><Relationship Id="rId13" Type="http://schemas.openxmlformats.org/officeDocument/2006/relationships/image" Target="../media/image93.png"/><Relationship Id="rId3" Type="http://schemas.openxmlformats.org/officeDocument/2006/relationships/image" Target="../media/image81.png"/><Relationship Id="rId7" Type="http://schemas.openxmlformats.org/officeDocument/2006/relationships/image" Target="../media/image86.png"/><Relationship Id="rId12" Type="http://schemas.openxmlformats.org/officeDocument/2006/relationships/image" Target="../media/image9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/Relationships>
</file>

<file path=ppt/slides/_rels/slide5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png"/><Relationship Id="rId18" Type="http://schemas.openxmlformats.org/officeDocument/2006/relationships/image" Target="../media/image105.png"/><Relationship Id="rId12" Type="http://schemas.openxmlformats.org/officeDocument/2006/relationships/image" Target="../media/image7.png"/><Relationship Id="rId17" Type="http://schemas.openxmlformats.org/officeDocument/2006/relationships/image" Target="../media/image104.png"/><Relationship Id="rId2" Type="http://schemas.openxmlformats.org/officeDocument/2006/relationships/image" Target="../media/image94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9.png"/><Relationship Id="rId15" Type="http://schemas.openxmlformats.org/officeDocument/2006/relationships/image" Target="../media/image102.png"/><Relationship Id="rId14" Type="http://schemas.openxmlformats.org/officeDocument/2006/relationships/image" Target="../media/image100.pn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7.png"/><Relationship Id="rId18" Type="http://schemas.openxmlformats.org/officeDocument/2006/relationships/image" Target="../media/image105.png"/><Relationship Id="rId12" Type="http://schemas.openxmlformats.org/officeDocument/2006/relationships/image" Target="../media/image7.png"/><Relationship Id="rId17" Type="http://schemas.openxmlformats.org/officeDocument/2006/relationships/image" Target="../media/image104.png"/><Relationship Id="rId2" Type="http://schemas.openxmlformats.org/officeDocument/2006/relationships/image" Target="../media/image94.png"/><Relationship Id="rId16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9.png"/><Relationship Id="rId15" Type="http://schemas.openxmlformats.org/officeDocument/2006/relationships/image" Target="../media/image102.png"/><Relationship Id="rId14" Type="http://schemas.openxmlformats.org/officeDocument/2006/relationships/image" Target="../media/image10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2313"/>
            <a:ext cx="10363200" cy="279370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Shallow and deep neural networks</a:t>
            </a:r>
            <a:br>
              <a:rPr lang="en-US" dirty="0"/>
            </a:b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7218" y="4231037"/>
            <a:ext cx="6137564" cy="163305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Matt Engelhard</a:t>
            </a:r>
          </a:p>
        </p:txBody>
      </p:sp>
    </p:spTree>
    <p:extLst>
      <p:ext uri="{BB962C8B-B14F-4D97-AF65-F5344CB8AC3E}">
        <p14:creationId xmlns:p14="http://schemas.microsoft.com/office/powerpoint/2010/main" val="319356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86"/>
    </mc:Choice>
    <mc:Fallback xmlns="">
      <p:transition spd="slow" advTm="348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E3D46-457A-6F1E-B79F-CC4BF7AC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0869B-DDD6-1BFB-2EE8-0AAA7CF3E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Today</a:t>
            </a:r>
            <a:r>
              <a:rPr lang="en-US" dirty="0"/>
              <a:t>: how can we modify logistic regression to learn complex, nonlinear relationships?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9B215AF-6E74-A319-2B8D-47D3DAB9C003}"/>
                  </a:ext>
                </a:extLst>
              </p:cNvPr>
              <p:cNvSpPr/>
              <p:nvPr/>
            </p:nvSpPr>
            <p:spPr>
              <a:xfrm>
                <a:off x="1207257" y="3087776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59B215AF-6E74-A319-2B8D-47D3DAB9C0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257" y="3087776"/>
                <a:ext cx="914400" cy="914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28C2449-D108-8BF9-C436-9BB454E713AE}"/>
                  </a:ext>
                </a:extLst>
              </p:cNvPr>
              <p:cNvSpPr/>
              <p:nvPr/>
            </p:nvSpPr>
            <p:spPr>
              <a:xfrm>
                <a:off x="1207257" y="476304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28C2449-D108-8BF9-C436-9BB454E713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257" y="4763040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224233B-91E2-F1A4-EDD8-7357ED313861}"/>
              </a:ext>
            </a:extLst>
          </p:cNvPr>
          <p:cNvSpPr txBox="1"/>
          <p:nvPr/>
        </p:nvSpPr>
        <p:spPr>
          <a:xfrm rot="5400000">
            <a:off x="1526234" y="419794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C328B09-9049-C8A8-8D30-A1BDD6103EB0}"/>
                  </a:ext>
                </a:extLst>
              </p:cNvPr>
              <p:cNvSpPr/>
              <p:nvPr/>
            </p:nvSpPr>
            <p:spPr>
              <a:xfrm>
                <a:off x="3217926" y="3469178"/>
                <a:ext cx="1826336" cy="182686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C328B09-9049-C8A8-8D30-A1BDD6103E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7926" y="3469178"/>
                <a:ext cx="1826336" cy="1826860"/>
              </a:xfrm>
              <a:prstGeom prst="ellipse">
                <a:avLst/>
              </a:prstGeom>
              <a:blipFill>
                <a:blip r:embed="rId5"/>
                <a:stretch>
                  <a:fillRect l="-30137" t="-19863" b="-43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0C454D9-9546-265A-BC35-B71745507573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2121657" y="3544976"/>
            <a:ext cx="1180214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5D86D90-B52B-45E8-BE75-18A3FA23B85D}"/>
              </a:ext>
            </a:extLst>
          </p:cNvPr>
          <p:cNvCxnSpPr>
            <a:cxnSpLocks/>
          </p:cNvCxnSpPr>
          <p:nvPr/>
        </p:nvCxnSpPr>
        <p:spPr>
          <a:xfrm flipV="1">
            <a:off x="2121657" y="4763040"/>
            <a:ext cx="1180214" cy="453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A7DCF7-902D-230E-E681-4CA5FF59B5D1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>
            <a:off x="1901818" y="4382608"/>
            <a:ext cx="1316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C6208-450C-B953-AF59-F166778F9725}"/>
                  </a:ext>
                </a:extLst>
              </p:cNvPr>
              <p:cNvSpPr txBox="1"/>
              <p:nvPr/>
            </p:nvSpPr>
            <p:spPr>
              <a:xfrm>
                <a:off x="2294436" y="3406476"/>
                <a:ext cx="83465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5C6208-450C-B953-AF59-F166778F9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36" y="3406476"/>
                <a:ext cx="834656" cy="276999"/>
              </a:xfrm>
              <a:prstGeom prst="rect">
                <a:avLst/>
              </a:prstGeom>
              <a:blipFill>
                <a:blip r:embed="rId6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E2C8DB-5E37-315E-7768-5AC8885DD63D}"/>
                  </a:ext>
                </a:extLst>
              </p:cNvPr>
              <p:cNvSpPr txBox="1"/>
              <p:nvPr/>
            </p:nvSpPr>
            <p:spPr>
              <a:xfrm>
                <a:off x="2294436" y="5077828"/>
                <a:ext cx="83465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E2C8DB-5E37-315E-7768-5AC8885DD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36" y="5077828"/>
                <a:ext cx="834656" cy="276999"/>
              </a:xfrm>
              <a:prstGeom prst="rect">
                <a:avLst/>
              </a:prstGeom>
              <a:blipFill>
                <a:blip r:embed="rId7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079ACC-78BE-B5D4-CCF4-8FFD33E4C89B}"/>
                  </a:ext>
                </a:extLst>
              </p:cNvPr>
              <p:cNvSpPr txBox="1"/>
              <p:nvPr/>
            </p:nvSpPr>
            <p:spPr>
              <a:xfrm>
                <a:off x="8123740" y="2915376"/>
                <a:ext cx="3113866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079ACC-78BE-B5D4-CCF4-8FFD33E4C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740" y="2915376"/>
                <a:ext cx="3113866" cy="891719"/>
              </a:xfrm>
              <a:prstGeom prst="rect">
                <a:avLst/>
              </a:prstGeom>
              <a:blipFill>
                <a:blip r:embed="rId8"/>
                <a:stretch>
                  <a:fillRect l="-1220" t="-92958" b="-143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BB06BBD-A7E6-AFE9-DD9E-8BF6304FB7E8}"/>
              </a:ext>
            </a:extLst>
          </p:cNvPr>
          <p:cNvGrpSpPr/>
          <p:nvPr/>
        </p:nvGrpSpPr>
        <p:grpSpPr>
          <a:xfrm>
            <a:off x="5497545" y="4147755"/>
            <a:ext cx="685800" cy="457200"/>
            <a:chOff x="8126236" y="3368737"/>
            <a:chExt cx="685800" cy="4572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DC0CE75-11F5-3CEC-794C-EE173204B01A}"/>
                </a:ext>
              </a:extLst>
            </p:cNvPr>
            <p:cNvSpPr/>
            <p:nvPr/>
          </p:nvSpPr>
          <p:spPr>
            <a:xfrm>
              <a:off x="8242764" y="3368737"/>
              <a:ext cx="452745" cy="457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2E6DD6DB-EAB4-19CC-F959-13CCEF431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6236" y="3368737"/>
              <a:ext cx="685800" cy="457200"/>
            </a:xfrm>
            <a:prstGeom prst="rect">
              <a:avLst/>
            </a:prstGeom>
          </p:spPr>
        </p:pic>
      </p:grp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763653C-553A-F086-F3BE-BBDC352F5DDD}"/>
              </a:ext>
            </a:extLst>
          </p:cNvPr>
          <p:cNvCxnSpPr>
            <a:cxnSpLocks/>
          </p:cNvCxnSpPr>
          <p:nvPr/>
        </p:nvCxnSpPr>
        <p:spPr>
          <a:xfrm>
            <a:off x="5044262" y="4382608"/>
            <a:ext cx="573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F1B3F06-5A7A-417A-B7F6-D6104095E7C6}"/>
              </a:ext>
            </a:extLst>
          </p:cNvPr>
          <p:cNvSpPr txBox="1"/>
          <p:nvPr/>
        </p:nvSpPr>
        <p:spPr>
          <a:xfrm>
            <a:off x="3822914" y="5296038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93E5EA3-CA6A-904E-F5F7-26E601903F9E}"/>
                  </a:ext>
                </a:extLst>
              </p:cNvPr>
              <p:cNvSpPr txBox="1"/>
              <p:nvPr/>
            </p:nvSpPr>
            <p:spPr>
              <a:xfrm>
                <a:off x="5119322" y="4618602"/>
                <a:ext cx="143693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sigmoid</a:t>
                </a:r>
              </a:p>
              <a:p>
                <a:pPr algn="ctr"/>
                <a:r>
                  <a:rPr lang="en-US" dirty="0"/>
                  <a:t>(aka logistic)</a:t>
                </a:r>
              </a:p>
              <a:p>
                <a:pPr algn="ctr"/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93E5EA3-CA6A-904E-F5F7-26E601903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322" y="4618602"/>
                <a:ext cx="1436932" cy="923330"/>
              </a:xfrm>
              <a:prstGeom prst="rect">
                <a:avLst/>
              </a:prstGeom>
              <a:blipFill>
                <a:blip r:embed="rId10"/>
                <a:stretch>
                  <a:fillRect l="-877" t="-2703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90DB319-A0CA-82BD-CF48-7DF50CAC2B1D}"/>
                  </a:ext>
                </a:extLst>
              </p:cNvPr>
              <p:cNvSpPr txBox="1"/>
              <p:nvPr/>
            </p:nvSpPr>
            <p:spPr>
              <a:xfrm>
                <a:off x="6492464" y="4181349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90DB319-A0CA-82BD-CF48-7DF50CAC2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464" y="4181349"/>
                <a:ext cx="1322157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498DC01-3113-7B4A-32D6-CAF4CE5A7751}"/>
              </a:ext>
            </a:extLst>
          </p:cNvPr>
          <p:cNvCxnSpPr>
            <a:cxnSpLocks/>
          </p:cNvCxnSpPr>
          <p:nvPr/>
        </p:nvCxnSpPr>
        <p:spPr>
          <a:xfrm>
            <a:off x="6066609" y="4376355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7663064-ACF2-4388-6E0F-7697E5E0046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4131094" y="2983585"/>
            <a:ext cx="0" cy="485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24BFD52-6D37-4409-597B-F57B455ADD74}"/>
                  </a:ext>
                </a:extLst>
              </p:cNvPr>
              <p:cNvSpPr txBox="1"/>
              <p:nvPr/>
            </p:nvSpPr>
            <p:spPr>
              <a:xfrm>
                <a:off x="3948608" y="2614253"/>
                <a:ext cx="3649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24BFD52-6D37-4409-597B-F57B455A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608" y="2614253"/>
                <a:ext cx="36497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7D6F941-D0F1-757C-289A-11F4F2F183E2}"/>
                  </a:ext>
                </a:extLst>
              </p:cNvPr>
              <p:cNvSpPr txBox="1"/>
              <p:nvPr/>
            </p:nvSpPr>
            <p:spPr>
              <a:xfrm>
                <a:off x="8123740" y="4237855"/>
                <a:ext cx="26080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7D6F941-D0F1-757C-289A-11F4F2F18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740" y="4237855"/>
                <a:ext cx="2608086" cy="276999"/>
              </a:xfrm>
              <a:prstGeom prst="rect">
                <a:avLst/>
              </a:prstGeom>
              <a:blipFill>
                <a:blip r:embed="rId13"/>
                <a:stretch>
                  <a:fillRect l="-1942" t="-4348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FFDA90F-CA1F-7407-DEEE-E5793AB39D08}"/>
                  </a:ext>
                </a:extLst>
              </p:cNvPr>
              <p:cNvSpPr txBox="1"/>
              <p:nvPr/>
            </p:nvSpPr>
            <p:spPr>
              <a:xfrm>
                <a:off x="8129736" y="5092319"/>
                <a:ext cx="1550937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FFDA90F-CA1F-7407-DEEE-E5793AB39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736" y="5092319"/>
                <a:ext cx="1550937" cy="525016"/>
              </a:xfrm>
              <a:prstGeom prst="rect">
                <a:avLst/>
              </a:prstGeom>
              <a:blipFill>
                <a:blip r:embed="rId14"/>
                <a:stretch>
                  <a:fillRect l="-1626" t="-4651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203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BBCC6-0702-8596-C421-3A18DA0DA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8288E-5175-FFE0-87C3-8D01631D9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our notation more concise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A38DCE9-D153-8C71-DD64-95AA62D12BA2}"/>
                  </a:ext>
                </a:extLst>
              </p:cNvPr>
              <p:cNvSpPr/>
              <p:nvPr/>
            </p:nvSpPr>
            <p:spPr>
              <a:xfrm>
                <a:off x="1207257" y="2346997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EA38DCE9-D153-8C71-DD64-95AA62D12B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257" y="2346997"/>
                <a:ext cx="914400" cy="914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5F9490E-1587-DE7A-1837-F689A28B0825}"/>
                  </a:ext>
                </a:extLst>
              </p:cNvPr>
              <p:cNvSpPr/>
              <p:nvPr/>
            </p:nvSpPr>
            <p:spPr>
              <a:xfrm>
                <a:off x="1207257" y="4022261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5F9490E-1587-DE7A-1837-F689A28B08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257" y="4022261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0804AA5-4E8F-0102-1341-1ECAA254A517}"/>
              </a:ext>
            </a:extLst>
          </p:cNvPr>
          <p:cNvSpPr txBox="1"/>
          <p:nvPr/>
        </p:nvSpPr>
        <p:spPr>
          <a:xfrm rot="5400000">
            <a:off x="1526234" y="345716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A7F27A-9775-C5B1-1A38-93B82A0E4348}"/>
              </a:ext>
            </a:extLst>
          </p:cNvPr>
          <p:cNvCxnSpPr>
            <a:cxnSpLocks/>
            <a:stCxn id="4" idx="6"/>
            <a:endCxn id="3" idx="1"/>
          </p:cNvCxnSpPr>
          <p:nvPr/>
        </p:nvCxnSpPr>
        <p:spPr>
          <a:xfrm>
            <a:off x="2121657" y="2804197"/>
            <a:ext cx="1214267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043820-688C-AE42-B218-B6730CBAA435}"/>
              </a:ext>
            </a:extLst>
          </p:cNvPr>
          <p:cNvCxnSpPr>
            <a:cxnSpLocks/>
            <a:endCxn id="3" idx="3"/>
          </p:cNvCxnSpPr>
          <p:nvPr/>
        </p:nvCxnSpPr>
        <p:spPr>
          <a:xfrm flipV="1">
            <a:off x="2121657" y="3958864"/>
            <a:ext cx="1214267" cy="516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659776B-BD29-D169-4AE8-9F91DBC0E5C8}"/>
              </a:ext>
            </a:extLst>
          </p:cNvPr>
          <p:cNvCxnSpPr>
            <a:cxnSpLocks/>
            <a:stCxn id="6" idx="0"/>
          </p:cNvCxnSpPr>
          <p:nvPr/>
        </p:nvCxnSpPr>
        <p:spPr>
          <a:xfrm>
            <a:off x="1901818" y="3641829"/>
            <a:ext cx="1316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ADFEA8-18E6-E3F3-9264-6186D8A35F4E}"/>
                  </a:ext>
                </a:extLst>
              </p:cNvPr>
              <p:cNvSpPr txBox="1"/>
              <p:nvPr/>
            </p:nvSpPr>
            <p:spPr>
              <a:xfrm>
                <a:off x="2294436" y="2665697"/>
                <a:ext cx="83465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ADFEA8-18E6-E3F3-9264-6186D8A35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36" y="2665697"/>
                <a:ext cx="834656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A0031A-6BED-E652-C5B4-047192F3F24C}"/>
                  </a:ext>
                </a:extLst>
              </p:cNvPr>
              <p:cNvSpPr txBox="1"/>
              <p:nvPr/>
            </p:nvSpPr>
            <p:spPr>
              <a:xfrm>
                <a:off x="2294436" y="4337049"/>
                <a:ext cx="83465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0A0031A-6BED-E652-C5B4-047192F3F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36" y="4337049"/>
                <a:ext cx="834656" cy="276999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408E7C5-AE2B-5603-001F-4F0E1253D969}"/>
                  </a:ext>
                </a:extLst>
              </p:cNvPr>
              <p:cNvSpPr txBox="1"/>
              <p:nvPr/>
            </p:nvSpPr>
            <p:spPr>
              <a:xfrm>
                <a:off x="8123740" y="2915376"/>
                <a:ext cx="3113866" cy="8917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408E7C5-AE2B-5603-001F-4F0E1253D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740" y="2915376"/>
                <a:ext cx="3113866" cy="891719"/>
              </a:xfrm>
              <a:prstGeom prst="rect">
                <a:avLst/>
              </a:prstGeom>
              <a:blipFill>
                <a:blip r:embed="rId7"/>
                <a:stretch>
                  <a:fillRect l="-1220" t="-92958" b="-143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A120BDDB-0E76-53C4-8562-723C246B593B}"/>
              </a:ext>
            </a:extLst>
          </p:cNvPr>
          <p:cNvSpPr txBox="1"/>
          <p:nvPr/>
        </p:nvSpPr>
        <p:spPr>
          <a:xfrm>
            <a:off x="3105738" y="4092775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72783F-2A9D-2E05-02E4-1D58A68712F4}"/>
                  </a:ext>
                </a:extLst>
              </p:cNvPr>
              <p:cNvSpPr txBox="1"/>
              <p:nvPr/>
            </p:nvSpPr>
            <p:spPr>
              <a:xfrm>
                <a:off x="3774172" y="4092775"/>
                <a:ext cx="135152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sigmoid</a:t>
                </a:r>
              </a:p>
              <a:p>
                <a:r>
                  <a:rPr lang="en-US" dirty="0"/>
                  <a:t>(aka logistic)</a:t>
                </a:r>
              </a:p>
              <a:p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72783F-2A9D-2E05-02E4-1D58A6871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172" y="4092775"/>
                <a:ext cx="1351524" cy="923330"/>
              </a:xfrm>
              <a:prstGeom prst="rect">
                <a:avLst/>
              </a:prstGeom>
              <a:blipFill>
                <a:blip r:embed="rId8"/>
                <a:stretch>
                  <a:fillRect l="-3738" t="-2703" r="-2804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E415A31-0A82-0C2C-C307-34B3F814C2CA}"/>
                  </a:ext>
                </a:extLst>
              </p:cNvPr>
              <p:cNvSpPr txBox="1"/>
              <p:nvPr/>
            </p:nvSpPr>
            <p:spPr>
              <a:xfrm>
                <a:off x="4538606" y="3457163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E415A31-0A82-0C2C-C307-34B3F814C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606" y="3457163"/>
                <a:ext cx="1322157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CC12732-A49B-B781-D0B0-43BE01403AAF}"/>
              </a:ext>
            </a:extLst>
          </p:cNvPr>
          <p:cNvCxnSpPr>
            <a:cxnSpLocks/>
          </p:cNvCxnSpPr>
          <p:nvPr/>
        </p:nvCxnSpPr>
        <p:spPr>
          <a:xfrm>
            <a:off x="4112751" y="3652169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1F389E8-D6DD-C9E4-6771-BD235895F3B1}"/>
                  </a:ext>
                </a:extLst>
              </p:cNvPr>
              <p:cNvSpPr txBox="1"/>
              <p:nvPr/>
            </p:nvSpPr>
            <p:spPr>
              <a:xfrm>
                <a:off x="8123740" y="4237855"/>
                <a:ext cx="26080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1F389E8-D6DD-C9E4-6771-BD235895F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740" y="4237855"/>
                <a:ext cx="2608086" cy="276999"/>
              </a:xfrm>
              <a:prstGeom prst="rect">
                <a:avLst/>
              </a:prstGeom>
              <a:blipFill>
                <a:blip r:embed="rId10"/>
                <a:stretch>
                  <a:fillRect l="-1942" t="-4348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6F6373C-AF96-8542-A7CB-96F67ED39834}"/>
                  </a:ext>
                </a:extLst>
              </p:cNvPr>
              <p:cNvSpPr txBox="1"/>
              <p:nvPr/>
            </p:nvSpPr>
            <p:spPr>
              <a:xfrm>
                <a:off x="8129736" y="5092319"/>
                <a:ext cx="1550937" cy="5250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6F6373C-AF96-8542-A7CB-96F67ED39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9736" y="5092319"/>
                <a:ext cx="1550937" cy="525016"/>
              </a:xfrm>
              <a:prstGeom prst="rect">
                <a:avLst/>
              </a:prstGeom>
              <a:blipFill>
                <a:blip r:embed="rId11"/>
                <a:stretch>
                  <a:fillRect l="-1626" t="-4651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9B3856BC-0811-3197-09E7-3FCE14C2346F}"/>
              </a:ext>
            </a:extLst>
          </p:cNvPr>
          <p:cNvGrpSpPr/>
          <p:nvPr/>
        </p:nvGrpSpPr>
        <p:grpSpPr>
          <a:xfrm>
            <a:off x="3202013" y="3178375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3BEED852-2CF5-3701-F283-AF1857749F48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3BEED852-2CF5-3701-F283-AF1857749F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2"/>
                  <a:stretch>
                    <a:fillRect r="-94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F60C8A2-0515-E174-B414-6481B00324E4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4A6D68A-8057-2FFF-D263-5CA47DA4A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967A3A-C278-DAC5-4EBD-4A6137073480}"/>
                  </a:ext>
                </a:extLst>
              </p:cNvPr>
              <p:cNvSpPr txBox="1"/>
              <p:nvPr/>
            </p:nvSpPr>
            <p:spPr>
              <a:xfrm>
                <a:off x="1207257" y="5464810"/>
                <a:ext cx="617677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We will later 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to denote the outputs of our probabilistic </a:t>
                </a:r>
                <a:r>
                  <a:rPr lang="en-US" dirty="0" err="1"/>
                  <a:t>perceptrons</a:t>
                </a:r>
                <a:r>
                  <a:rPr lang="en-US" dirty="0"/>
                  <a:t> (i.e., neurons) when building neural networks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4967A3A-C278-DAC5-4EBD-4A6137073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257" y="5464810"/>
                <a:ext cx="6176777" cy="646331"/>
              </a:xfrm>
              <a:prstGeom prst="rect">
                <a:avLst/>
              </a:prstGeom>
              <a:blipFill>
                <a:blip r:embed="rId14"/>
                <a:stretch>
                  <a:fillRect l="-821" t="-3922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79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56C1-DB99-5A71-628F-4095431ED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Recall</a:t>
            </a:r>
            <a:r>
              <a:rPr lang="en-US" dirty="0"/>
              <a:t>: logistic regression yields linear decision boundaries.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B230EE-8554-68C2-5720-61847974D8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008123" cy="4351338"/>
              </a:xfrm>
            </p:spPr>
            <p:txBody>
              <a:bodyPr>
                <a:normAutofit fontScale="92500" lnSpcReduction="10000"/>
              </a:bodyPr>
              <a:lstStyle/>
              <a:p>
                <a:endParaRPr lang="en-US" dirty="0"/>
              </a:p>
              <a:p>
                <a:r>
                  <a:rPr lang="en-US" dirty="0"/>
                  <a:t>Predicted log-odds increase as features move in the direction defined by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en-US" b="1" dirty="0"/>
              </a:p>
              <a:p>
                <a:pPr marL="457200" lvl="1" indent="0">
                  <a:buNone/>
                </a:pPr>
                <a:r>
                  <a:rPr lang="en-US" dirty="0"/>
                  <a:t>(consider the dot-product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:r>
                  <a:rPr lang="en-US" dirty="0"/>
                  <a:t>Intercept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allows predicted log-odds to be non-zero at the origin</a:t>
                </a:r>
              </a:p>
              <a:p>
                <a:endParaRPr lang="en-US" dirty="0"/>
              </a:p>
              <a:p>
                <a:r>
                  <a:rPr lang="en-US" dirty="0"/>
                  <a:t>Linear decision boundaries aren’t always good enough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B230EE-8554-68C2-5720-61847974D8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008123" cy="4351338"/>
              </a:xfrm>
              <a:blipFill>
                <a:blip r:embed="rId3"/>
                <a:stretch>
                  <a:fillRect l="-2025" r="-1772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DBCF19A2-550C-7F9D-7A30-5584928F6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242" y="1941570"/>
            <a:ext cx="4113560" cy="411356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04A08C-6962-7350-7769-7F47BCDFA823}"/>
              </a:ext>
            </a:extLst>
          </p:cNvPr>
          <p:cNvCxnSpPr>
            <a:cxnSpLocks/>
          </p:cNvCxnSpPr>
          <p:nvPr/>
        </p:nvCxnSpPr>
        <p:spPr>
          <a:xfrm flipH="1" flipV="1">
            <a:off x="9830163" y="2644635"/>
            <a:ext cx="399215" cy="9189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A0D45F-E9D1-FAE2-24D2-C699DF8DB586}"/>
                  </a:ext>
                </a:extLst>
              </p:cNvPr>
              <p:cNvSpPr txBox="1"/>
              <p:nvPr/>
            </p:nvSpPr>
            <p:spPr>
              <a:xfrm>
                <a:off x="10023232" y="2806589"/>
                <a:ext cx="412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A0D45F-E9D1-FAE2-24D2-C699DF8DB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3232" y="2806589"/>
                <a:ext cx="41229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605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15ED-205A-BB4F-86E2-4BDA73F28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2118"/>
          </a:xfrm>
        </p:spPr>
        <p:txBody>
          <a:bodyPr>
            <a:normAutofit fontScale="90000"/>
          </a:bodyPr>
          <a:lstStyle/>
          <a:p>
            <a:r>
              <a:rPr lang="en-US" sz="4800" u="sng" dirty="0"/>
              <a:t>Recall</a:t>
            </a:r>
            <a:r>
              <a:rPr lang="en-US" sz="4800" dirty="0"/>
              <a:t>: sometimes linear decision boundaries aren’t good enough.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2AD48400-5955-F445-AA34-C5BC496DB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152" y="1501827"/>
            <a:ext cx="4904944" cy="4904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463494-96A8-C94A-9277-2FA18309646F}"/>
              </a:ext>
            </a:extLst>
          </p:cNvPr>
          <p:cNvSpPr txBox="1"/>
          <p:nvPr/>
        </p:nvSpPr>
        <p:spPr>
          <a:xfrm>
            <a:off x="8098490" y="1417224"/>
            <a:ext cx="2028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Neural network</a:t>
            </a:r>
          </a:p>
          <a:p>
            <a:pPr algn="ctr"/>
            <a:r>
              <a:rPr lang="en-US" dirty="0"/>
              <a:t>decision boundary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1C391A9-D746-50B3-05A1-AB611375E2F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27187" y="1640264"/>
                <a:ext cx="5378757" cy="485261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are biomarker values</a:t>
                </a:r>
              </a:p>
              <a:p>
                <a:endParaRPr lang="en-US" dirty="0"/>
              </a:p>
              <a:p>
                <a:r>
                  <a:rPr lang="en-US" dirty="0"/>
                  <a:t>After biopsy:</a:t>
                </a:r>
              </a:p>
              <a:p>
                <a:pPr lvl="1"/>
                <a:r>
                  <a:rPr lang="en-US" dirty="0"/>
                  <a:t>Blue patients: benign</a:t>
                </a:r>
              </a:p>
              <a:p>
                <a:pPr lvl="1"/>
                <a:r>
                  <a:rPr lang="en-US" dirty="0"/>
                  <a:t>Red patients: malignant</a:t>
                </a:r>
              </a:p>
              <a:p>
                <a:endParaRPr lang="en-US" dirty="0"/>
              </a:p>
              <a:p>
                <a:r>
                  <a:rPr lang="en-US" dirty="0"/>
                  <a:t>Why can’t logistic regression yield this decision boundary?</a:t>
                </a:r>
              </a:p>
              <a:p>
                <a:endParaRPr lang="en-US" dirty="0"/>
              </a:p>
              <a:p>
                <a:r>
                  <a:rPr lang="en-US" dirty="0"/>
                  <a:t>Consider: how does increasing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change the predicted log-odds?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01C391A9-D746-50B3-05A1-AB611375E2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27187" y="1640264"/>
                <a:ext cx="5378757" cy="4852610"/>
              </a:xfrm>
              <a:blipFill>
                <a:blip r:embed="rId4"/>
                <a:stretch>
                  <a:fillRect l="-1647" t="-2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84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70"/>
    </mc:Choice>
    <mc:Fallback xmlns="">
      <p:transition spd="slow" advTm="2607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7A2C-4EC3-664C-FB9F-FC7E43E1D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break logistic regression.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B9A55-CABE-5CCF-6C5A-2B08D1D25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 examples where linear decision boundaries are insufficient</a:t>
            </a:r>
          </a:p>
        </p:txBody>
      </p:sp>
    </p:spTree>
    <p:extLst>
      <p:ext uri="{BB962C8B-B14F-4D97-AF65-F5344CB8AC3E}">
        <p14:creationId xmlns:p14="http://schemas.microsoft.com/office/powerpoint/2010/main" val="84346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E38A3-B8E3-A020-E090-8D439D4A6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there’s a new disease. We’re trying to develop a predictive model to determine who it will affect.</a:t>
            </a:r>
          </a:p>
          <a:p>
            <a:endParaRPr lang="en-US" dirty="0"/>
          </a:p>
          <a:p>
            <a:r>
              <a:rPr lang="en-US" dirty="0"/>
              <a:t>For whatever reason, it turns out the disease affects only two groups of people:</a:t>
            </a:r>
          </a:p>
          <a:p>
            <a:pPr lvl="1"/>
            <a:r>
              <a:rPr lang="en-US" dirty="0"/>
              <a:t>Younger Females (under 60)</a:t>
            </a:r>
          </a:p>
          <a:p>
            <a:pPr lvl="1"/>
            <a:r>
              <a:rPr lang="en-US" dirty="0"/>
              <a:t>Older Males (over 60)</a:t>
            </a:r>
          </a:p>
          <a:p>
            <a:pPr lvl="1"/>
            <a:endParaRPr lang="en-US" dirty="0"/>
          </a:p>
          <a:p>
            <a:r>
              <a:rPr lang="en-US" dirty="0"/>
              <a:t>Can logistic regression learn to predict this?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F76470-0882-9E5A-F897-8985C82AB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Breaking logistic regression: simple example 1</a:t>
            </a:r>
          </a:p>
        </p:txBody>
      </p:sp>
    </p:spTree>
    <p:extLst>
      <p:ext uri="{BB962C8B-B14F-4D97-AF65-F5344CB8AC3E}">
        <p14:creationId xmlns:p14="http://schemas.microsoft.com/office/powerpoint/2010/main" val="967101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8D903558-55C0-B958-78D9-84B20B9A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Breaking logistic regression: simple 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68CE95F-1C08-1B23-4D57-2B285D39F2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698547"/>
                <a:ext cx="4647827" cy="4478416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Predictor 1: Age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if age &gt; 60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if 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60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Predictor 2: Sex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female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male</a:t>
                </a:r>
              </a:p>
              <a:p>
                <a:endParaRPr lang="en-US" dirty="0"/>
              </a:p>
              <a:p>
                <a:r>
                  <a:rPr lang="en-US" dirty="0"/>
                  <a:t>Goal: predict high log-odds only for</a:t>
                </a:r>
              </a:p>
              <a:p>
                <a:pPr lvl="1"/>
                <a:r>
                  <a:rPr lang="en-US" dirty="0"/>
                  <a:t>Females under 60</a:t>
                </a:r>
              </a:p>
              <a:p>
                <a:pPr lvl="1"/>
                <a:r>
                  <a:rPr lang="en-US" dirty="0"/>
                  <a:t>Males over 60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should the parameters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 be?</a:t>
                </a: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68CE95F-1C08-1B23-4D57-2B285D39F2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698547"/>
                <a:ext cx="4647827" cy="4478416"/>
              </a:xfrm>
              <a:blipFill>
                <a:blip r:embed="rId2"/>
                <a:stretch>
                  <a:fillRect l="-1359" t="-2825" r="-8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E108CED-EF23-F148-529D-3662A791AADF}"/>
                  </a:ext>
                </a:extLst>
              </p:cNvPr>
              <p:cNvSpPr/>
              <p:nvPr/>
            </p:nvSpPr>
            <p:spPr>
              <a:xfrm>
                <a:off x="6700294" y="246274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Age</a:t>
                </a:r>
              </a:p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E108CED-EF23-F148-529D-3662A791AA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94" y="2462744"/>
                <a:ext cx="914400" cy="914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5DA2D2D-E16B-F571-EE32-30E91351B973}"/>
                  </a:ext>
                </a:extLst>
              </p:cNvPr>
              <p:cNvSpPr/>
              <p:nvPr/>
            </p:nvSpPr>
            <p:spPr>
              <a:xfrm>
                <a:off x="6700294" y="4138008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Sex</a:t>
                </a:r>
              </a:p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5DA2D2D-E16B-F571-EE32-30E91351B9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94" y="4138008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A937AD4-78AE-9CBB-2CBA-DC22F614F247}"/>
              </a:ext>
            </a:extLst>
          </p:cNvPr>
          <p:cNvCxnSpPr>
            <a:cxnSpLocks/>
            <a:stCxn id="37" idx="6"/>
            <a:endCxn id="50" idx="1"/>
          </p:cNvCxnSpPr>
          <p:nvPr/>
        </p:nvCxnSpPr>
        <p:spPr>
          <a:xfrm>
            <a:off x="7614694" y="2919944"/>
            <a:ext cx="1214267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EE39870-228F-5A65-22F7-4DA193A53E31}"/>
              </a:ext>
            </a:extLst>
          </p:cNvPr>
          <p:cNvCxnSpPr>
            <a:cxnSpLocks/>
            <a:endCxn id="50" idx="3"/>
          </p:cNvCxnSpPr>
          <p:nvPr/>
        </p:nvCxnSpPr>
        <p:spPr>
          <a:xfrm flipV="1">
            <a:off x="7614694" y="4074611"/>
            <a:ext cx="1214267" cy="516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6861A2-8F1D-2679-1E1B-8D1A4B332288}"/>
                  </a:ext>
                </a:extLst>
              </p:cNvPr>
              <p:cNvSpPr txBox="1"/>
              <p:nvPr/>
            </p:nvSpPr>
            <p:spPr>
              <a:xfrm>
                <a:off x="7787473" y="2781444"/>
                <a:ext cx="83465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66861A2-8F1D-2679-1E1B-8D1A4B332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473" y="2781444"/>
                <a:ext cx="834656" cy="276999"/>
              </a:xfrm>
              <a:prstGeom prst="rect">
                <a:avLst/>
              </a:prstGeom>
              <a:blipFill>
                <a:blip r:embed="rId5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F6C8592-6617-B6FB-FDB2-77F589957923}"/>
                  </a:ext>
                </a:extLst>
              </p:cNvPr>
              <p:cNvSpPr txBox="1"/>
              <p:nvPr/>
            </p:nvSpPr>
            <p:spPr>
              <a:xfrm>
                <a:off x="7787473" y="4452796"/>
                <a:ext cx="83465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F6C8592-6617-B6FB-FDB2-77F589957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473" y="4452796"/>
                <a:ext cx="834656" cy="276999"/>
              </a:xfrm>
              <a:prstGeom prst="rect">
                <a:avLst/>
              </a:prstGeom>
              <a:blipFill>
                <a:blip r:embed="rId6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1EAF0FD-C287-C2F0-E833-837C17FB041A}"/>
                  </a:ext>
                </a:extLst>
              </p:cNvPr>
              <p:cNvSpPr txBox="1"/>
              <p:nvPr/>
            </p:nvSpPr>
            <p:spPr>
              <a:xfrm>
                <a:off x="10031643" y="3572910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1EAF0FD-C287-C2F0-E833-837C17FB0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643" y="3572910"/>
                <a:ext cx="1322157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9B5F00C-D75A-8E3D-1795-084B75E4F466}"/>
              </a:ext>
            </a:extLst>
          </p:cNvPr>
          <p:cNvCxnSpPr>
            <a:cxnSpLocks/>
          </p:cNvCxnSpPr>
          <p:nvPr/>
        </p:nvCxnSpPr>
        <p:spPr>
          <a:xfrm>
            <a:off x="9605788" y="3767916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492FC70-718E-C804-DF5C-DFC81C0E1943}"/>
              </a:ext>
            </a:extLst>
          </p:cNvPr>
          <p:cNvGrpSpPr/>
          <p:nvPr/>
        </p:nvGrpSpPr>
        <p:grpSpPr>
          <a:xfrm>
            <a:off x="8695050" y="3294122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86E2734-401D-6D53-5332-59BFCCE93840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86E2734-401D-6D53-5332-59BFCCE938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8"/>
                  <a:stretch>
                    <a:fillRect r="-109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9DC4B8E-BE8C-9477-0064-0E36865EA082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CA1FB8C2-5B2F-A080-50A9-0B5E1C3DF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88365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479B41-4663-0458-2611-883354CFA9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28023" y="1358783"/>
            <a:ext cx="5381263" cy="512407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86756F1-9EAC-1623-6990-6099D3FD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Breaking logistic regression: simple example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A7FE24-B3E4-9E13-C01D-3F9144F4DC20}"/>
              </a:ext>
            </a:extLst>
          </p:cNvPr>
          <p:cNvSpPr/>
          <p:nvPr/>
        </p:nvSpPr>
        <p:spPr>
          <a:xfrm>
            <a:off x="838200" y="3043655"/>
            <a:ext cx="29351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Can we solve this with a linear decision boundary?</a:t>
            </a:r>
          </a:p>
          <a:p>
            <a:endParaRPr lang="en-US" dirty="0"/>
          </a:p>
          <a:p>
            <a:r>
              <a:rPr lang="en-US" dirty="0"/>
              <a:t>In other words, </a:t>
            </a:r>
            <a:r>
              <a:rPr lang="en-US" b="1" dirty="0"/>
              <a:t>can we draw a line separating those who lived from those who died?</a:t>
            </a:r>
          </a:p>
        </p:txBody>
      </p:sp>
    </p:spTree>
    <p:extLst>
      <p:ext uri="{BB962C8B-B14F-4D97-AF65-F5344CB8AC3E}">
        <p14:creationId xmlns:p14="http://schemas.microsoft.com/office/powerpoint/2010/main" val="4288768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283D-96A7-9B87-85B4-3B17E011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logistic regression: simple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E38A3-B8E3-A020-E090-8D439D4A6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ED, we’re trying to develop a model that predicts mortality from systolic blood pressure upon arrival.</a:t>
            </a:r>
          </a:p>
          <a:p>
            <a:endParaRPr lang="en-US" dirty="0"/>
          </a:p>
          <a:p>
            <a:r>
              <a:rPr lang="en-US" dirty="0"/>
              <a:t>It turns out, you’re at high risk of dying if you: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You have very </a:t>
            </a:r>
            <a:r>
              <a:rPr lang="en-US" u="sng" dirty="0"/>
              <a:t>high</a:t>
            </a:r>
            <a:r>
              <a:rPr lang="en-US" dirty="0"/>
              <a:t> blood pressure, OR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dirty="0"/>
              <a:t>You have very </a:t>
            </a:r>
            <a:r>
              <a:rPr lang="en-US" u="sng" dirty="0"/>
              <a:t>low</a:t>
            </a:r>
            <a:r>
              <a:rPr lang="en-US" dirty="0"/>
              <a:t> blood pressure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Can logistic regression learn to predict this?</a:t>
            </a:r>
          </a:p>
        </p:txBody>
      </p:sp>
    </p:spTree>
    <p:extLst>
      <p:ext uri="{BB962C8B-B14F-4D97-AF65-F5344CB8AC3E}">
        <p14:creationId xmlns:p14="http://schemas.microsoft.com/office/powerpoint/2010/main" val="1277570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8D903558-55C0-B958-78D9-84B20B9A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Breaking logistic regression: simple 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68CE95F-1C08-1B23-4D57-2B285D39F2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8547"/>
                <a:ext cx="4959284" cy="447841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Predictor 1: Systolic blood pressure</a:t>
                </a:r>
              </a:p>
              <a:p>
                <a:endParaRPr lang="en-US" dirty="0"/>
              </a:p>
              <a:p>
                <a:r>
                  <a:rPr lang="en-US" dirty="0"/>
                  <a:t>Goal: predict high log-odds only for</a:t>
                </a:r>
              </a:p>
              <a:p>
                <a:pPr lvl="1"/>
                <a:r>
                  <a:rPr lang="en-US" dirty="0"/>
                  <a:t>SBP &gt; 200</a:t>
                </a:r>
              </a:p>
              <a:p>
                <a:pPr lvl="1"/>
                <a:r>
                  <a:rPr lang="en-US" dirty="0"/>
                  <a:t>SBP &lt; 60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should the parameter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 be?</a:t>
                </a: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68CE95F-1C08-1B23-4D57-2B285D39F2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8547"/>
                <a:ext cx="4959284" cy="4478416"/>
              </a:xfrm>
              <a:blipFill>
                <a:blip r:embed="rId6"/>
                <a:stretch>
                  <a:fillRect l="-2302" t="-2260" b="-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72E9A2BD-BF5D-EC35-CBDC-02930C609B92}"/>
                  </a:ext>
                </a:extLst>
              </p:cNvPr>
              <p:cNvSpPr/>
              <p:nvPr/>
            </p:nvSpPr>
            <p:spPr>
              <a:xfrm>
                <a:off x="6601204" y="3294122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SBP</a:t>
                </a:r>
              </a:p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72E9A2BD-BF5D-EC35-CBDC-02930C609B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1204" y="3294122"/>
                <a:ext cx="914400" cy="9144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80AC447-92CD-3DE3-6170-5054AD884940}"/>
              </a:ext>
            </a:extLst>
          </p:cNvPr>
          <p:cNvCxnSpPr>
            <a:cxnSpLocks/>
            <a:stCxn id="2" idx="6"/>
            <a:endCxn id="20" idx="2"/>
          </p:cNvCxnSpPr>
          <p:nvPr/>
        </p:nvCxnSpPr>
        <p:spPr>
          <a:xfrm>
            <a:off x="7515604" y="3751322"/>
            <a:ext cx="11794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43DC1B-CBA5-6EBD-A223-390BBECBC42F}"/>
                  </a:ext>
                </a:extLst>
              </p:cNvPr>
              <p:cNvSpPr txBox="1"/>
              <p:nvPr/>
            </p:nvSpPr>
            <p:spPr>
              <a:xfrm>
                <a:off x="7687999" y="3402710"/>
                <a:ext cx="83465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43DC1B-CBA5-6EBD-A223-390BBECBC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999" y="3402710"/>
                <a:ext cx="834656" cy="276999"/>
              </a:xfrm>
              <a:prstGeom prst="rect">
                <a:avLst/>
              </a:prstGeom>
              <a:blipFill>
                <a:blip r:embed="rId8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B346B4-CBF0-11C8-5EBB-D087852ED9BC}"/>
                  </a:ext>
                </a:extLst>
              </p:cNvPr>
              <p:cNvSpPr txBox="1"/>
              <p:nvPr/>
            </p:nvSpPr>
            <p:spPr>
              <a:xfrm>
                <a:off x="10031643" y="3572910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B346B4-CBF0-11C8-5EBB-D087852ED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643" y="3572910"/>
                <a:ext cx="1322157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689689-0C06-0BE0-57ED-D543A84778E2}"/>
              </a:ext>
            </a:extLst>
          </p:cNvPr>
          <p:cNvCxnSpPr>
            <a:cxnSpLocks/>
          </p:cNvCxnSpPr>
          <p:nvPr/>
        </p:nvCxnSpPr>
        <p:spPr>
          <a:xfrm>
            <a:off x="9605788" y="3767916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D9C105D-FAB8-6A9F-08A2-A47BB558FE2B}"/>
              </a:ext>
            </a:extLst>
          </p:cNvPr>
          <p:cNvGrpSpPr/>
          <p:nvPr/>
        </p:nvGrpSpPr>
        <p:grpSpPr>
          <a:xfrm>
            <a:off x="8695050" y="3294122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00FB5CDB-28F9-54F5-E311-0D183D0A2C37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00FB5CDB-28F9-54F5-E311-0D183D0A2C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0"/>
                  <a:stretch>
                    <a:fillRect r="-109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2F2809-7A4D-C39F-B347-22DC73FBCB3A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6663530-4263-B196-88D7-CB2B0E6A1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1229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86756F1-9EAC-1623-6990-6099D3FDD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Breaking logistic regression: simple example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769E8F-0DDB-815C-6062-24F7B3177F6F}"/>
              </a:ext>
            </a:extLst>
          </p:cNvPr>
          <p:cNvSpPr/>
          <p:nvPr/>
        </p:nvSpPr>
        <p:spPr>
          <a:xfrm>
            <a:off x="838200" y="3043655"/>
            <a:ext cx="29351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Can we solve this with a linear decision boundary?</a:t>
            </a:r>
          </a:p>
          <a:p>
            <a:endParaRPr lang="en-US" dirty="0"/>
          </a:p>
          <a:p>
            <a:r>
              <a:rPr lang="en-US" dirty="0"/>
              <a:t>In other words, </a:t>
            </a:r>
            <a:r>
              <a:rPr lang="en-US" b="1" dirty="0"/>
              <a:t>can we draw a line separating those who lived from those who died?</a:t>
            </a:r>
          </a:p>
        </p:txBody>
      </p:sp>
      <p:pic>
        <p:nvPicPr>
          <p:cNvPr id="3" name="Picture 2" descr="Chart&#10;&#10;Description automatically generated">
            <a:extLst>
              <a:ext uri="{FF2B5EF4-FFF2-40B4-BE49-F238E27FC236}">
                <a16:creationId xmlns:a16="http://schemas.microsoft.com/office/drawing/2014/main" id="{8B7DE63B-6EF1-39F4-5146-B69922B1562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73347" y="1809701"/>
            <a:ext cx="7616577" cy="4222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92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92BC2-73B7-B444-6C6E-59838A51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general, there can be: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BBE76-26EC-4CCD-7801-56C346A8B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Nonlinear effects (e.g. </a:t>
            </a:r>
            <a:r>
              <a:rPr lang="en-US" i="1" dirty="0"/>
              <a:t>high</a:t>
            </a:r>
            <a:r>
              <a:rPr lang="en-US" dirty="0"/>
              <a:t> and </a:t>
            </a:r>
            <a:r>
              <a:rPr lang="en-US" i="1" dirty="0"/>
              <a:t>low</a:t>
            </a:r>
            <a:r>
              <a:rPr lang="en-US" dirty="0"/>
              <a:t> blood pressure both increase risk; middle/normal blood pressure is OK)</a:t>
            </a:r>
          </a:p>
          <a:p>
            <a:endParaRPr lang="en-US" dirty="0"/>
          </a:p>
          <a:p>
            <a:r>
              <a:rPr lang="en-US" dirty="0"/>
              <a:t>Interactions: males over 60 are at risk, and females under 60 are at risk, but being male (or female) does not on its own increase risk</a:t>
            </a:r>
          </a:p>
          <a:p>
            <a:endParaRPr lang="en-US" dirty="0"/>
          </a:p>
          <a:p>
            <a:r>
              <a:rPr lang="en-US" i="1" dirty="0"/>
              <a:t>Subgroups</a:t>
            </a:r>
            <a:r>
              <a:rPr lang="en-US" dirty="0"/>
              <a:t> we’d like to identify that may be at risk</a:t>
            </a:r>
          </a:p>
          <a:p>
            <a:endParaRPr lang="en-US" dirty="0"/>
          </a:p>
          <a:p>
            <a:r>
              <a:rPr lang="en-US" dirty="0"/>
              <a:t>We need models that learn these relationships rather than relying on predefined features</a:t>
            </a:r>
          </a:p>
          <a:p>
            <a:endParaRPr lang="en-US" dirty="0"/>
          </a:p>
          <a:p>
            <a:r>
              <a:rPr lang="en-US" dirty="0"/>
              <a:t>We’ll use logistic regression as a starting point to build more flexible models</a:t>
            </a:r>
          </a:p>
        </p:txBody>
      </p:sp>
    </p:spTree>
    <p:extLst>
      <p:ext uri="{BB962C8B-B14F-4D97-AF65-F5344CB8AC3E}">
        <p14:creationId xmlns:p14="http://schemas.microsoft.com/office/powerpoint/2010/main" val="1209935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68CE95F-1C08-1B23-4D57-2B285D39F2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8547"/>
                <a:ext cx="4959284" cy="447841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Predictor 1: Age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if age &gt; 60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if 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60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Predictor 2: Sex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female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male</a:t>
                </a:r>
              </a:p>
              <a:p>
                <a:endParaRPr lang="en-US" dirty="0"/>
              </a:p>
              <a:p>
                <a:r>
                  <a:rPr lang="en-US" dirty="0"/>
                  <a:t>Can logistic regression identify</a:t>
                </a:r>
              </a:p>
              <a:p>
                <a:pPr lvl="1"/>
                <a:r>
                  <a:rPr lang="en-US" dirty="0">
                    <a:solidFill>
                      <a:schemeClr val="accent2"/>
                    </a:solidFill>
                  </a:rPr>
                  <a:t>Females under 60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=1)?</a:t>
                </a:r>
              </a:p>
              <a:p>
                <a:pPr lvl="1"/>
                <a:r>
                  <a:rPr lang="en-US" dirty="0"/>
                  <a:t>Males over </a:t>
                </a:r>
                <a:r>
                  <a:rPr lang="en-US" dirty="0">
                    <a:solidFill>
                      <a:schemeClr val="tx1"/>
                    </a:solidFill>
                  </a:rPr>
                  <a:t>60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=1)?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should the parameters be?</a:t>
                </a: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68CE95F-1C08-1B23-4D57-2B285D39F2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8547"/>
                <a:ext cx="4959284" cy="4478416"/>
              </a:xfrm>
              <a:blipFill>
                <a:blip r:embed="rId6"/>
                <a:stretch>
                  <a:fillRect l="-1790" t="-3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itle 1">
            <a:extLst>
              <a:ext uri="{FF2B5EF4-FFF2-40B4-BE49-F238E27FC236}">
                <a16:creationId xmlns:a16="http://schemas.microsoft.com/office/drawing/2014/main" id="{375FB1F9-F9F1-BF01-EA13-2A9D10E6C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Let’s break the problem into simpler pieces.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06B632D5-C63C-4D59-08E0-23D64DB3EB9D}"/>
                  </a:ext>
                </a:extLst>
              </p:cNvPr>
              <p:cNvSpPr/>
              <p:nvPr/>
            </p:nvSpPr>
            <p:spPr>
              <a:xfrm>
                <a:off x="6700294" y="246274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Age</a:t>
                </a:r>
              </a:p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06B632D5-C63C-4D59-08E0-23D64DB3EB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94" y="2462744"/>
                <a:ext cx="914400" cy="9144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FB25A343-0F82-E23D-57CC-BADE573F978D}"/>
                  </a:ext>
                </a:extLst>
              </p:cNvPr>
              <p:cNvSpPr/>
              <p:nvPr/>
            </p:nvSpPr>
            <p:spPr>
              <a:xfrm>
                <a:off x="6700294" y="4138008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Sex</a:t>
                </a:r>
              </a:p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FB25A343-0F82-E23D-57CC-BADE573F9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94" y="4138008"/>
                <a:ext cx="914400" cy="9144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F35F607-EF10-E080-F80B-22B414A6304B}"/>
              </a:ext>
            </a:extLst>
          </p:cNvPr>
          <p:cNvCxnSpPr>
            <a:cxnSpLocks/>
            <a:stCxn id="2" idx="6"/>
            <a:endCxn id="16" idx="1"/>
          </p:cNvCxnSpPr>
          <p:nvPr/>
        </p:nvCxnSpPr>
        <p:spPr>
          <a:xfrm>
            <a:off x="7614694" y="2919944"/>
            <a:ext cx="1214267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175C3B1-2E89-00CD-89D4-A95A3DF518DF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7614694" y="4074611"/>
            <a:ext cx="1214267" cy="516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0EDC6E-3535-7099-CBD8-262C16C9DA5E}"/>
                  </a:ext>
                </a:extLst>
              </p:cNvPr>
              <p:cNvSpPr txBox="1"/>
              <p:nvPr/>
            </p:nvSpPr>
            <p:spPr>
              <a:xfrm>
                <a:off x="7787473" y="2781444"/>
                <a:ext cx="834656" cy="2891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70EDC6E-3535-7099-CBD8-262C16C9D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473" y="2781444"/>
                <a:ext cx="834656" cy="289182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ED2B8A-EA23-595C-BD63-779B1339AC07}"/>
                  </a:ext>
                </a:extLst>
              </p:cNvPr>
              <p:cNvSpPr txBox="1"/>
              <p:nvPr/>
            </p:nvSpPr>
            <p:spPr>
              <a:xfrm>
                <a:off x="7787473" y="4452796"/>
                <a:ext cx="834656" cy="2891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ED2B8A-EA23-595C-BD63-779B1339A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473" y="4452796"/>
                <a:ext cx="834656" cy="289182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A36C44-9B65-DB68-758D-E74743641321}"/>
                  </a:ext>
                </a:extLst>
              </p:cNvPr>
              <p:cNvSpPr txBox="1"/>
              <p:nvPr/>
            </p:nvSpPr>
            <p:spPr>
              <a:xfrm>
                <a:off x="10031643" y="3572910"/>
                <a:ext cx="1427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5A36C44-9B65-DB68-758D-E747436413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643" y="3572910"/>
                <a:ext cx="1427635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BB3535F-B145-9B5F-9E65-3A7216F410F3}"/>
              </a:ext>
            </a:extLst>
          </p:cNvPr>
          <p:cNvCxnSpPr>
            <a:cxnSpLocks/>
          </p:cNvCxnSpPr>
          <p:nvPr/>
        </p:nvCxnSpPr>
        <p:spPr>
          <a:xfrm>
            <a:off x="9605788" y="3767916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1BF025-F320-D82F-26E3-22E01A16DB95}"/>
              </a:ext>
            </a:extLst>
          </p:cNvPr>
          <p:cNvGrpSpPr/>
          <p:nvPr/>
        </p:nvGrpSpPr>
        <p:grpSpPr>
          <a:xfrm>
            <a:off x="8695050" y="3294122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FAB57397-8772-FB95-1C15-51B748FC54EA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FAB57397-8772-FB95-1C15-51B748FC54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2"/>
                  <a:stretch>
                    <a:fillRect r="-109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F835D65-7F37-3A29-2D01-10F163774719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E9EF68C1-A03B-239A-E0E1-61BB01F07C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81785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68CE95F-1C08-1B23-4D57-2B285D39F2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8547"/>
                <a:ext cx="4959284" cy="447841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Predictor 1: Age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if age &gt; 60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if age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60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Predictor 2: Sex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female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male</a:t>
                </a:r>
              </a:p>
              <a:p>
                <a:endParaRPr lang="en-US" dirty="0"/>
              </a:p>
              <a:p>
                <a:r>
                  <a:rPr lang="en-US" dirty="0"/>
                  <a:t>Can logistic regression identify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Females under 60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=1)?</a:t>
                </a:r>
              </a:p>
              <a:p>
                <a:pPr lvl="1"/>
                <a:r>
                  <a:rPr lang="en-US" dirty="0">
                    <a:solidFill>
                      <a:schemeClr val="accent6"/>
                    </a:solidFill>
                  </a:rPr>
                  <a:t>Males over 60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=1)?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What should the parameters be?</a:t>
                </a: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68CE95F-1C08-1B23-4D57-2B285D39F2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8547"/>
                <a:ext cx="4959284" cy="4478416"/>
              </a:xfrm>
              <a:blipFill>
                <a:blip r:embed="rId6"/>
                <a:stretch>
                  <a:fillRect l="-1790" t="-3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itle 1">
            <a:extLst>
              <a:ext uri="{FF2B5EF4-FFF2-40B4-BE49-F238E27FC236}">
                <a16:creationId xmlns:a16="http://schemas.microsoft.com/office/drawing/2014/main" id="{375FB1F9-F9F1-BF01-EA13-2A9D10E6C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Let’s break the problem into simpler pieces.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AC552CE-B7B9-B72E-DD8E-C0BA321E266E}"/>
                  </a:ext>
                </a:extLst>
              </p:cNvPr>
              <p:cNvSpPr/>
              <p:nvPr/>
            </p:nvSpPr>
            <p:spPr>
              <a:xfrm>
                <a:off x="6700294" y="246274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Age</a:t>
                </a:r>
              </a:p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AC552CE-B7B9-B72E-DD8E-C0BA321E26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94" y="2462744"/>
                <a:ext cx="914400" cy="9144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70DC44A-530F-6B33-77B2-F8F41AA94C15}"/>
                  </a:ext>
                </a:extLst>
              </p:cNvPr>
              <p:cNvSpPr/>
              <p:nvPr/>
            </p:nvSpPr>
            <p:spPr>
              <a:xfrm>
                <a:off x="6700294" y="4138008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0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Sex</a:t>
                </a:r>
              </a:p>
              <a:p>
                <a:pPr algn="ctr"/>
                <a:r>
                  <a:rPr lang="en-US" b="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70DC44A-530F-6B33-77B2-F8F41AA94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94" y="4138008"/>
                <a:ext cx="914400" cy="9144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E070752-22CB-8369-666B-81F3C3C674E1}"/>
              </a:ext>
            </a:extLst>
          </p:cNvPr>
          <p:cNvCxnSpPr>
            <a:cxnSpLocks/>
            <a:stCxn id="4" idx="6"/>
            <a:endCxn id="22" idx="1"/>
          </p:cNvCxnSpPr>
          <p:nvPr/>
        </p:nvCxnSpPr>
        <p:spPr>
          <a:xfrm>
            <a:off x="7614694" y="2919944"/>
            <a:ext cx="1214267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8C6727-3F7D-7D99-206D-CA7A84E2523B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7614694" y="4074611"/>
            <a:ext cx="1214267" cy="516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BEB150-C8F8-B2CA-D045-8FC06FA3ECC3}"/>
                  </a:ext>
                </a:extLst>
              </p:cNvPr>
              <p:cNvSpPr txBox="1"/>
              <p:nvPr/>
            </p:nvSpPr>
            <p:spPr>
              <a:xfrm>
                <a:off x="7787473" y="2781444"/>
                <a:ext cx="834656" cy="2891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BEB150-C8F8-B2CA-D045-8FC06FA3E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473" y="2781444"/>
                <a:ext cx="834656" cy="289182"/>
              </a:xfrm>
              <a:prstGeom prst="rect">
                <a:avLst/>
              </a:prstGeom>
              <a:blipFill>
                <a:blip r:embed="rId9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249849-B91C-E680-DA0E-DC6E910DC1C7}"/>
                  </a:ext>
                </a:extLst>
              </p:cNvPr>
              <p:cNvSpPr txBox="1"/>
              <p:nvPr/>
            </p:nvSpPr>
            <p:spPr>
              <a:xfrm>
                <a:off x="7787473" y="4452796"/>
                <a:ext cx="834656" cy="28918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249849-B91C-E680-DA0E-DC6E910DC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473" y="4452796"/>
                <a:ext cx="834656" cy="289182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F0D9EC-9FF9-F670-A648-8520179A4E78}"/>
                  </a:ext>
                </a:extLst>
              </p:cNvPr>
              <p:cNvSpPr txBox="1"/>
              <p:nvPr/>
            </p:nvSpPr>
            <p:spPr>
              <a:xfrm>
                <a:off x="10031643" y="3572910"/>
                <a:ext cx="14329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F0D9EC-9FF9-F670-A648-8520179A4E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643" y="3572910"/>
                <a:ext cx="1432956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59F7D5-ED40-1686-7509-F2417E837AFF}"/>
              </a:ext>
            </a:extLst>
          </p:cNvPr>
          <p:cNvCxnSpPr>
            <a:cxnSpLocks/>
          </p:cNvCxnSpPr>
          <p:nvPr/>
        </p:nvCxnSpPr>
        <p:spPr>
          <a:xfrm>
            <a:off x="9605788" y="3767916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072D9DB-74CC-0465-A6B5-BEAAAAD87745}"/>
              </a:ext>
            </a:extLst>
          </p:cNvPr>
          <p:cNvGrpSpPr/>
          <p:nvPr/>
        </p:nvGrpSpPr>
        <p:grpSpPr>
          <a:xfrm>
            <a:off x="8695050" y="3294122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1C01ACA6-C813-E46D-F54D-F4F65F99D111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1C01ACA6-C813-E46D-F54D-F4F65F99D1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2"/>
                  <a:stretch>
                    <a:fillRect r="-109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DC934E2-BB1A-5FFA-DF3A-40A296AB6E9E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52248392-195D-247B-F213-39515A75C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23652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68CE95F-1C08-1B23-4D57-2B285D39F2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6716" y="1992882"/>
                <a:ext cx="3278595" cy="447841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Neuron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):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if (female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60)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otherwise</a:t>
                </a: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Neuron 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if (male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60)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otherwise</a:t>
                </a:r>
              </a:p>
              <a:p>
                <a:endParaRPr lang="en-US" dirty="0"/>
              </a:p>
              <a:p>
                <a:r>
                  <a:rPr lang="en-US" dirty="0"/>
                  <a:t>What should the parameters be?</a:t>
                </a: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668CE95F-1C08-1B23-4D57-2B285D39F2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6716" y="1992882"/>
                <a:ext cx="3278595" cy="4478416"/>
              </a:xfrm>
              <a:blipFill>
                <a:blip r:embed="rId2"/>
                <a:stretch>
                  <a:fillRect l="-3089" t="-2542" r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itle 1">
            <a:extLst>
              <a:ext uri="{FF2B5EF4-FFF2-40B4-BE49-F238E27FC236}">
                <a16:creationId xmlns:a16="http://schemas.microsoft.com/office/drawing/2014/main" id="{375FB1F9-F9F1-BF01-EA13-2A9D10E6C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5049" cy="1325563"/>
          </a:xfrm>
        </p:spPr>
        <p:txBody>
          <a:bodyPr/>
          <a:lstStyle/>
          <a:p>
            <a:r>
              <a:rPr lang="en-US" dirty="0"/>
              <a:t>Now, </a:t>
            </a:r>
            <a:r>
              <a:rPr lang="en-US" i="1" dirty="0"/>
              <a:t>use these predictions</a:t>
            </a:r>
            <a:br>
              <a:rPr lang="en-US" i="1" dirty="0"/>
            </a:br>
            <a:r>
              <a:rPr lang="en-US" dirty="0"/>
              <a:t>to make predictions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B6578BF-3A8B-44D4-21BD-3DE9A4B2597D}"/>
                  </a:ext>
                </a:extLst>
              </p:cNvPr>
              <p:cNvSpPr/>
              <p:nvPr/>
            </p:nvSpPr>
            <p:spPr>
              <a:xfrm>
                <a:off x="6700294" y="246274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B6578BF-3A8B-44D4-21BD-3DE9A4B259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94" y="2462744"/>
                <a:ext cx="914400" cy="914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55D27A3-6407-8036-5D6B-7A1A6D180933}"/>
                  </a:ext>
                </a:extLst>
              </p:cNvPr>
              <p:cNvSpPr/>
              <p:nvPr/>
            </p:nvSpPr>
            <p:spPr>
              <a:xfrm>
                <a:off x="6700294" y="4138008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D55D27A3-6407-8036-5D6B-7A1A6D1809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0294" y="4138008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681A48E-BE9A-11A9-9E57-34A6ADBBA032}"/>
              </a:ext>
            </a:extLst>
          </p:cNvPr>
          <p:cNvCxnSpPr>
            <a:cxnSpLocks/>
            <a:stCxn id="4" idx="6"/>
            <a:endCxn id="13" idx="1"/>
          </p:cNvCxnSpPr>
          <p:nvPr/>
        </p:nvCxnSpPr>
        <p:spPr>
          <a:xfrm>
            <a:off x="7614694" y="2919944"/>
            <a:ext cx="1214267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9922CD-A7BE-EC9D-6CEE-1E4EF6D47829}"/>
              </a:ext>
            </a:extLst>
          </p:cNvPr>
          <p:cNvCxnSpPr>
            <a:cxnSpLocks/>
            <a:endCxn id="13" idx="3"/>
          </p:cNvCxnSpPr>
          <p:nvPr/>
        </p:nvCxnSpPr>
        <p:spPr>
          <a:xfrm flipV="1">
            <a:off x="7614694" y="4074611"/>
            <a:ext cx="1214267" cy="516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488C32-8327-2A74-7E70-6F06D479318E}"/>
                  </a:ext>
                </a:extLst>
              </p:cNvPr>
              <p:cNvSpPr txBox="1"/>
              <p:nvPr/>
            </p:nvSpPr>
            <p:spPr>
              <a:xfrm>
                <a:off x="10031643" y="3572910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488C32-8327-2A74-7E70-6F06D4793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643" y="3572910"/>
                <a:ext cx="1322157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222A43C-3944-A37D-7E9E-96C696CE9F92}"/>
              </a:ext>
            </a:extLst>
          </p:cNvPr>
          <p:cNvCxnSpPr>
            <a:cxnSpLocks/>
          </p:cNvCxnSpPr>
          <p:nvPr/>
        </p:nvCxnSpPr>
        <p:spPr>
          <a:xfrm>
            <a:off x="9605788" y="3767916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CB3380C-F17A-D993-9B3A-F6BDF1707945}"/>
              </a:ext>
            </a:extLst>
          </p:cNvPr>
          <p:cNvGrpSpPr/>
          <p:nvPr/>
        </p:nvGrpSpPr>
        <p:grpSpPr>
          <a:xfrm>
            <a:off x="8695050" y="3294122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03C32434-C11F-7614-CEB3-105D58F4B38E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03C32434-C11F-7614-CEB3-105D58F4B3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6"/>
                  <a:stretch>
                    <a:fillRect r="-109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991996B-BD55-1054-38FD-C4132F96C6A3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9741564-9D25-8AAF-7D70-1A7E9B9DD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7604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6F6DD-62F4-6AEE-8B6F-E4B60DA7D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C10EA90D-4786-25CE-4FFA-01D3F8D1AB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6716" y="1992882"/>
                <a:ext cx="3278595" cy="447841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Neuron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):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if (female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60)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otherwise</a:t>
                </a: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Neuron 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if (male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60)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otherwise</a:t>
                </a:r>
              </a:p>
              <a:p>
                <a:endParaRPr lang="en-US" dirty="0"/>
              </a:p>
              <a:p>
                <a:r>
                  <a:rPr lang="en-US" dirty="0"/>
                  <a:t>What should the parameters be?</a:t>
                </a: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C10EA90D-4786-25CE-4FFA-01D3F8D1AB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6716" y="1992882"/>
                <a:ext cx="3278595" cy="4478416"/>
              </a:xfrm>
              <a:blipFill>
                <a:blip r:embed="rId3"/>
                <a:stretch>
                  <a:fillRect l="-3089" t="-2542" r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itle 1">
            <a:extLst>
              <a:ext uri="{FF2B5EF4-FFF2-40B4-BE49-F238E27FC236}">
                <a16:creationId xmlns:a16="http://schemas.microsoft.com/office/drawing/2014/main" id="{EEA4A010-6507-EF69-5543-5FBD6A9CC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5049" cy="1325563"/>
          </a:xfrm>
        </p:spPr>
        <p:txBody>
          <a:bodyPr/>
          <a:lstStyle/>
          <a:p>
            <a:r>
              <a:rPr lang="en-US" dirty="0"/>
              <a:t>This is a (very simple) fully-connected neural network.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B258C22-622C-2165-AA57-316B11A84FCE}"/>
                  </a:ext>
                </a:extLst>
              </p:cNvPr>
              <p:cNvSpPr/>
              <p:nvPr/>
            </p:nvSpPr>
            <p:spPr>
              <a:xfrm>
                <a:off x="7305979" y="2659713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4B258C22-622C-2165-AA57-316B11A84F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979" y="2659713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EE57607-2434-472A-885E-02FCC94A25E2}"/>
                  </a:ext>
                </a:extLst>
              </p:cNvPr>
              <p:cNvSpPr/>
              <p:nvPr/>
            </p:nvSpPr>
            <p:spPr>
              <a:xfrm>
                <a:off x="7305979" y="3942242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9EE57607-2434-472A-885E-02FCC94A25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979" y="3942242"/>
                <a:ext cx="914400" cy="9144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92F2BD5-23CC-8B0B-C897-0268583590D9}"/>
              </a:ext>
            </a:extLst>
          </p:cNvPr>
          <p:cNvCxnSpPr>
            <a:cxnSpLocks/>
            <a:stCxn id="4" idx="6"/>
            <a:endCxn id="13" idx="1"/>
          </p:cNvCxnSpPr>
          <p:nvPr/>
        </p:nvCxnSpPr>
        <p:spPr>
          <a:xfrm>
            <a:off x="8220379" y="3116913"/>
            <a:ext cx="608582" cy="311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974F06-7894-F7B1-59E8-8B22F85B0622}"/>
              </a:ext>
            </a:extLst>
          </p:cNvPr>
          <p:cNvCxnSpPr>
            <a:cxnSpLocks/>
            <a:stCxn id="5" idx="6"/>
            <a:endCxn id="13" idx="3"/>
          </p:cNvCxnSpPr>
          <p:nvPr/>
        </p:nvCxnSpPr>
        <p:spPr>
          <a:xfrm flipV="1">
            <a:off x="8220379" y="4074611"/>
            <a:ext cx="608582" cy="324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2FE71F-91CA-90F2-2E8D-267DCDE5B203}"/>
                  </a:ext>
                </a:extLst>
              </p:cNvPr>
              <p:cNvSpPr txBox="1"/>
              <p:nvPr/>
            </p:nvSpPr>
            <p:spPr>
              <a:xfrm>
                <a:off x="10031643" y="3572910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2FE71F-91CA-90F2-2E8D-267DCDE5B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643" y="3572910"/>
                <a:ext cx="1322157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7DFEEB-94ED-517E-9D83-9FB93E960F55}"/>
              </a:ext>
            </a:extLst>
          </p:cNvPr>
          <p:cNvCxnSpPr>
            <a:cxnSpLocks/>
          </p:cNvCxnSpPr>
          <p:nvPr/>
        </p:nvCxnSpPr>
        <p:spPr>
          <a:xfrm>
            <a:off x="9605788" y="3767916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C26416-E29E-EA1C-0762-527CD2955F2F}"/>
              </a:ext>
            </a:extLst>
          </p:cNvPr>
          <p:cNvGrpSpPr/>
          <p:nvPr/>
        </p:nvGrpSpPr>
        <p:grpSpPr>
          <a:xfrm>
            <a:off x="8695050" y="3294122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937A3981-0E4A-C3DB-28B2-14A8F682C729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937A3981-0E4A-C3DB-28B2-14A8F682C7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7"/>
                  <a:stretch>
                    <a:fillRect r="-109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345049F-0F84-70C9-2212-AECA58DACDED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26F4358-3812-090A-4CE6-15029C86B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CD43009-B7B3-DA7B-E73B-017EDD2539F4}"/>
                  </a:ext>
                </a:extLst>
              </p:cNvPr>
              <p:cNvSpPr/>
              <p:nvPr/>
            </p:nvSpPr>
            <p:spPr>
              <a:xfrm>
                <a:off x="5590412" y="2659713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Age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</a:rPr>
                        <m:t>(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CD43009-B7B3-DA7B-E73B-017EDD2539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412" y="2659713"/>
                <a:ext cx="914400" cy="9144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DB28712-40B4-17AD-DAB1-746DDAB4757A}"/>
                  </a:ext>
                </a:extLst>
              </p:cNvPr>
              <p:cNvSpPr/>
              <p:nvPr/>
            </p:nvSpPr>
            <p:spPr>
              <a:xfrm>
                <a:off x="5590412" y="3942242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Sex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</a:rPr>
                        <m:t>(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DB28712-40B4-17AD-DAB1-746DDAB475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412" y="3942242"/>
                <a:ext cx="914400" cy="9144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49E4424-42C5-8996-0906-DBD799F0C661}"/>
              </a:ext>
            </a:extLst>
          </p:cNvPr>
          <p:cNvCxnSpPr>
            <a:cxnSpLocks/>
            <a:stCxn id="17" idx="6"/>
            <a:endCxn id="4" idx="2"/>
          </p:cNvCxnSpPr>
          <p:nvPr/>
        </p:nvCxnSpPr>
        <p:spPr>
          <a:xfrm>
            <a:off x="6504812" y="3116913"/>
            <a:ext cx="8011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DAD1653-86CF-8A4F-29B5-D8B2ABBF03F7}"/>
              </a:ext>
            </a:extLst>
          </p:cNvPr>
          <p:cNvCxnSpPr>
            <a:cxnSpLocks/>
            <a:stCxn id="18" idx="6"/>
            <a:endCxn id="5" idx="2"/>
          </p:cNvCxnSpPr>
          <p:nvPr/>
        </p:nvCxnSpPr>
        <p:spPr>
          <a:xfrm>
            <a:off x="6504812" y="4399442"/>
            <a:ext cx="8011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7C444B7-E8CF-E7EB-F480-B1B1F31CDFEB}"/>
              </a:ext>
            </a:extLst>
          </p:cNvPr>
          <p:cNvCxnSpPr>
            <a:cxnSpLocks/>
            <a:stCxn id="17" idx="5"/>
            <a:endCxn id="5" idx="1"/>
          </p:cNvCxnSpPr>
          <p:nvPr/>
        </p:nvCxnSpPr>
        <p:spPr>
          <a:xfrm>
            <a:off x="6370901" y="3440202"/>
            <a:ext cx="1068989" cy="635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03EA0F0-EE10-C274-155C-4E72395EA3A2}"/>
              </a:ext>
            </a:extLst>
          </p:cNvPr>
          <p:cNvCxnSpPr>
            <a:cxnSpLocks/>
            <a:stCxn id="18" idx="7"/>
            <a:endCxn id="4" idx="3"/>
          </p:cNvCxnSpPr>
          <p:nvPr/>
        </p:nvCxnSpPr>
        <p:spPr>
          <a:xfrm flipV="1">
            <a:off x="6370901" y="3440202"/>
            <a:ext cx="1068989" cy="635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99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47F00-74DE-760E-8191-01C200B20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C4C7CCE9-CDE1-500C-F92A-81F0F0E557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76716" y="1992882"/>
                <a:ext cx="3278595" cy="447841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Neuron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):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if (female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60)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 otherwise</a:t>
                </a:r>
              </a:p>
              <a:p>
                <a:endParaRPr lang="en-US" dirty="0">
                  <a:solidFill>
                    <a:schemeClr val="accent6"/>
                  </a:solidFill>
                </a:endParaRP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Neuron 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if (male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60)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otherwise</a:t>
                </a:r>
              </a:p>
              <a:p>
                <a:endParaRPr lang="en-US" dirty="0"/>
              </a:p>
              <a:p>
                <a:r>
                  <a:rPr lang="en-US" dirty="0"/>
                  <a:t>What should the parameters be?</a:t>
                </a:r>
              </a:p>
            </p:txBody>
          </p:sp>
        </mc:Choice>
        <mc:Fallback xmlns="">
          <p:sp>
            <p:nvSpPr>
              <p:cNvPr id="33" name="Content Placeholder 2">
                <a:extLst>
                  <a:ext uri="{FF2B5EF4-FFF2-40B4-BE49-F238E27FC236}">
                    <a16:creationId xmlns:a16="http://schemas.microsoft.com/office/drawing/2014/main" id="{C4C7CCE9-CDE1-500C-F92A-81F0F0E557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76716" y="1992882"/>
                <a:ext cx="3278595" cy="4478416"/>
              </a:xfrm>
              <a:blipFill>
                <a:blip r:embed="rId3"/>
                <a:stretch>
                  <a:fillRect l="-3089" t="-2542" r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itle 1">
            <a:extLst>
              <a:ext uri="{FF2B5EF4-FFF2-40B4-BE49-F238E27FC236}">
                <a16:creationId xmlns:a16="http://schemas.microsoft.com/office/drawing/2014/main" id="{DD6A8BF1-E047-EA22-001C-84A066E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5049" cy="1325563"/>
          </a:xfrm>
        </p:spPr>
        <p:txBody>
          <a:bodyPr/>
          <a:lstStyle/>
          <a:p>
            <a:r>
              <a:rPr lang="en-US" dirty="0"/>
              <a:t>This is a (very simple) fully-connected neural network.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FCC8F01-BECB-41E8-E45D-580CDB52D978}"/>
                  </a:ext>
                </a:extLst>
              </p:cNvPr>
              <p:cNvSpPr/>
              <p:nvPr/>
            </p:nvSpPr>
            <p:spPr>
              <a:xfrm>
                <a:off x="7305979" y="2659713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9FCC8F01-BECB-41E8-E45D-580CDB52D9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979" y="2659713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9387D4E-9231-76DD-E0AE-A259BAC129AB}"/>
                  </a:ext>
                </a:extLst>
              </p:cNvPr>
              <p:cNvSpPr/>
              <p:nvPr/>
            </p:nvSpPr>
            <p:spPr>
              <a:xfrm>
                <a:off x="7305979" y="3942242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A9387D4E-9231-76DD-E0AE-A259BAC129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979" y="3942242"/>
                <a:ext cx="914400" cy="9144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F6AF85E-0071-D067-6185-A11E474876FD}"/>
              </a:ext>
            </a:extLst>
          </p:cNvPr>
          <p:cNvCxnSpPr>
            <a:cxnSpLocks/>
            <a:stCxn id="4" idx="6"/>
            <a:endCxn id="13" idx="1"/>
          </p:cNvCxnSpPr>
          <p:nvPr/>
        </p:nvCxnSpPr>
        <p:spPr>
          <a:xfrm>
            <a:off x="8220379" y="3116913"/>
            <a:ext cx="608582" cy="311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C8EC0C-9D06-563A-08F1-7B2D0A65BF09}"/>
              </a:ext>
            </a:extLst>
          </p:cNvPr>
          <p:cNvCxnSpPr>
            <a:cxnSpLocks/>
            <a:stCxn id="5" idx="6"/>
            <a:endCxn id="13" idx="3"/>
          </p:cNvCxnSpPr>
          <p:nvPr/>
        </p:nvCxnSpPr>
        <p:spPr>
          <a:xfrm flipV="1">
            <a:off x="8220379" y="4074611"/>
            <a:ext cx="608582" cy="324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868541-D207-4F85-4E61-23BC3F804A83}"/>
                  </a:ext>
                </a:extLst>
              </p:cNvPr>
              <p:cNvSpPr txBox="1"/>
              <p:nvPr/>
            </p:nvSpPr>
            <p:spPr>
              <a:xfrm>
                <a:off x="10031643" y="3572910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868541-D207-4F85-4E61-23BC3F804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1643" y="3572910"/>
                <a:ext cx="1322157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E8AB00-7D59-F0C6-826E-08E1779C5BE5}"/>
              </a:ext>
            </a:extLst>
          </p:cNvPr>
          <p:cNvCxnSpPr>
            <a:cxnSpLocks/>
          </p:cNvCxnSpPr>
          <p:nvPr/>
        </p:nvCxnSpPr>
        <p:spPr>
          <a:xfrm>
            <a:off x="9605788" y="3767916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54F77C-8662-B6BF-4B00-7E25196FB49E}"/>
              </a:ext>
            </a:extLst>
          </p:cNvPr>
          <p:cNvGrpSpPr/>
          <p:nvPr/>
        </p:nvGrpSpPr>
        <p:grpSpPr>
          <a:xfrm>
            <a:off x="8695050" y="3294122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6B1FF429-1A4B-3264-E8FA-E9F15A07BC74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6B1FF429-1A4B-3264-E8FA-E9F15A07BC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7"/>
                  <a:stretch>
                    <a:fillRect r="-109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31A6D5C-AE1B-37D0-307E-3A29F351BE46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E357EB5-7090-506E-8934-08E12F2ED1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B8CDA3A-3E96-6FC1-45E6-6CA2369A41E4}"/>
                  </a:ext>
                </a:extLst>
              </p:cNvPr>
              <p:cNvSpPr/>
              <p:nvPr/>
            </p:nvSpPr>
            <p:spPr>
              <a:xfrm>
                <a:off x="5590412" y="2659713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Age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</a:rPr>
                        <m:t>(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B8CDA3A-3E96-6FC1-45E6-6CA2369A41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412" y="2659713"/>
                <a:ext cx="914400" cy="9144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946EF54-8AD4-E598-69D9-012EF6C0860A}"/>
                  </a:ext>
                </a:extLst>
              </p:cNvPr>
              <p:cNvSpPr/>
              <p:nvPr/>
            </p:nvSpPr>
            <p:spPr>
              <a:xfrm>
                <a:off x="5590412" y="3942242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Sex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</a:rPr>
                        <m:t>(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dirty="0">
                          <a:solidFill>
                            <a:schemeClr val="tx1"/>
                          </a:solidFill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946EF54-8AD4-E598-69D9-012EF6C086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412" y="3942242"/>
                <a:ext cx="914400" cy="9144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941825D-4090-4FDC-2B43-83A146199909}"/>
              </a:ext>
            </a:extLst>
          </p:cNvPr>
          <p:cNvCxnSpPr>
            <a:cxnSpLocks/>
            <a:stCxn id="17" idx="6"/>
            <a:endCxn id="4" idx="2"/>
          </p:cNvCxnSpPr>
          <p:nvPr/>
        </p:nvCxnSpPr>
        <p:spPr>
          <a:xfrm>
            <a:off x="6504812" y="3116913"/>
            <a:ext cx="8011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3889201-CE47-7F81-A521-92D3791D9D39}"/>
              </a:ext>
            </a:extLst>
          </p:cNvPr>
          <p:cNvCxnSpPr>
            <a:cxnSpLocks/>
            <a:stCxn id="18" idx="6"/>
            <a:endCxn id="5" idx="2"/>
          </p:cNvCxnSpPr>
          <p:nvPr/>
        </p:nvCxnSpPr>
        <p:spPr>
          <a:xfrm>
            <a:off x="6504812" y="4399442"/>
            <a:ext cx="8011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8AAF5A2-C0B2-9636-C052-5F7963B55E00}"/>
              </a:ext>
            </a:extLst>
          </p:cNvPr>
          <p:cNvCxnSpPr>
            <a:cxnSpLocks/>
            <a:stCxn id="17" idx="5"/>
            <a:endCxn id="5" idx="1"/>
          </p:cNvCxnSpPr>
          <p:nvPr/>
        </p:nvCxnSpPr>
        <p:spPr>
          <a:xfrm>
            <a:off x="6370901" y="3440202"/>
            <a:ext cx="1068989" cy="635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E5C3A13-BEF8-351E-D724-9D1BF711BDD4}"/>
              </a:ext>
            </a:extLst>
          </p:cNvPr>
          <p:cNvCxnSpPr>
            <a:cxnSpLocks/>
            <a:stCxn id="18" idx="7"/>
            <a:endCxn id="4" idx="3"/>
          </p:cNvCxnSpPr>
          <p:nvPr/>
        </p:nvCxnSpPr>
        <p:spPr>
          <a:xfrm flipV="1">
            <a:off x="6370901" y="3440202"/>
            <a:ext cx="1068989" cy="635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C5075F63-674F-BEC8-BC6D-4CAAD9BE6520}"/>
              </a:ext>
            </a:extLst>
          </p:cNvPr>
          <p:cNvSpPr txBox="1"/>
          <p:nvPr/>
        </p:nvSpPr>
        <p:spPr>
          <a:xfrm>
            <a:off x="7343031" y="5022934"/>
            <a:ext cx="8402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hidden</a:t>
            </a:r>
          </a:p>
          <a:p>
            <a:pPr algn="ctr"/>
            <a:r>
              <a:rPr lang="en-US" dirty="0"/>
              <a:t>layer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09D6325-F728-8C97-D733-622BD2BAD9BD}"/>
              </a:ext>
            </a:extLst>
          </p:cNvPr>
          <p:cNvSpPr/>
          <p:nvPr/>
        </p:nvSpPr>
        <p:spPr>
          <a:xfrm>
            <a:off x="7091901" y="2451708"/>
            <a:ext cx="1365813" cy="335665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44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-Up Neuron">
            <a:extLst>
              <a:ext uri="{FF2B5EF4-FFF2-40B4-BE49-F238E27FC236}">
                <a16:creationId xmlns:a16="http://schemas.microsoft.com/office/drawing/2014/main" id="{8C1CF7A9-F4C9-CD02-6785-ADF1740A2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5867" y1="52482" x2="25867" y2="52482"/>
                        <a14:foregroundMark x1="17200" y1="44681" x2="17200" y2="44681"/>
                        <a14:foregroundMark x1="12667" y1="52246" x2="12667" y2="522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930986">
            <a:off x="5358258" y="4296144"/>
            <a:ext cx="3287473" cy="185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81988A8-2094-572C-F7CF-AE00ACC4F61C}"/>
                  </a:ext>
                </a:extLst>
              </p:cNvPr>
              <p:cNvSpPr/>
              <p:nvPr/>
            </p:nvSpPr>
            <p:spPr>
              <a:xfrm>
                <a:off x="3597953" y="4991411"/>
                <a:ext cx="25828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Neuron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):</a:t>
                </a: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Detects females under 60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81988A8-2094-572C-F7CF-AE00ACC4F6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953" y="4991411"/>
                <a:ext cx="2582887" cy="646331"/>
              </a:xfrm>
              <a:prstGeom prst="rect">
                <a:avLst/>
              </a:prstGeom>
              <a:blipFill>
                <a:blip r:embed="rId4"/>
                <a:stretch>
                  <a:fillRect l="-1961" t="-5769" r="-980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A53A24-DCDD-4C20-FECA-B11DF998FD74}"/>
              </a:ext>
            </a:extLst>
          </p:cNvPr>
          <p:cNvSpPr/>
          <p:nvPr/>
        </p:nvSpPr>
        <p:spPr>
          <a:xfrm>
            <a:off x="6180840" y="3940403"/>
            <a:ext cx="1668544" cy="266563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6537BA6-7A67-4F90-88D7-8344BB65C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8547"/>
            <a:ext cx="4959284" cy="4478416"/>
          </a:xfrm>
        </p:spPr>
        <p:txBody>
          <a:bodyPr>
            <a:normAutofit/>
          </a:bodyPr>
          <a:lstStyle/>
          <a:p>
            <a:r>
              <a:rPr lang="en-US" sz="1800" dirty="0"/>
              <a:t>Each logistic regression is like a neuron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EBA7CFF-7D11-4E74-CA2E-C26FA9DFC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5049" cy="1325563"/>
          </a:xfrm>
        </p:spPr>
        <p:txBody>
          <a:bodyPr/>
          <a:lstStyle/>
          <a:p>
            <a:r>
              <a:rPr lang="en-US" dirty="0"/>
              <a:t>This is a (very simple) fully-connected neural network.</a:t>
            </a:r>
          </a:p>
        </p:txBody>
      </p:sp>
    </p:spTree>
    <p:extLst>
      <p:ext uri="{BB962C8B-B14F-4D97-AF65-F5344CB8AC3E}">
        <p14:creationId xmlns:p14="http://schemas.microsoft.com/office/powerpoint/2010/main" val="4263824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-Up Neuron">
            <a:extLst>
              <a:ext uri="{FF2B5EF4-FFF2-40B4-BE49-F238E27FC236}">
                <a16:creationId xmlns:a16="http://schemas.microsoft.com/office/drawing/2014/main" id="{8C1CF7A9-F4C9-CD02-6785-ADF1740A2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5867" y1="52482" x2="25867" y2="52482"/>
                        <a14:foregroundMark x1="17200" y1="44681" x2="17200" y2="44681"/>
                        <a14:foregroundMark x1="12667" y1="52246" x2="12667" y2="522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930986">
            <a:off x="5358258" y="4296144"/>
            <a:ext cx="3287473" cy="185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Light-Up Neuron">
            <a:extLst>
              <a:ext uri="{FF2B5EF4-FFF2-40B4-BE49-F238E27FC236}">
                <a16:creationId xmlns:a16="http://schemas.microsoft.com/office/drawing/2014/main" id="{B7861EEB-C07C-2ADC-6A88-01EE32CA0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5867" y1="52482" x2="25867" y2="52482"/>
                        <a14:foregroundMark x1="17200" y1="44681" x2="17200" y2="44681"/>
                        <a14:foregroundMark x1="12667" y1="52246" x2="12667" y2="522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4669014" flipH="1">
            <a:off x="7127919" y="4296143"/>
            <a:ext cx="3287473" cy="185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81988A8-2094-572C-F7CF-AE00ACC4F61C}"/>
                  </a:ext>
                </a:extLst>
              </p:cNvPr>
              <p:cNvSpPr/>
              <p:nvPr/>
            </p:nvSpPr>
            <p:spPr>
              <a:xfrm>
                <a:off x="3597953" y="4991411"/>
                <a:ext cx="25828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Neuron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):</a:t>
                </a: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Detects females under 60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81988A8-2094-572C-F7CF-AE00ACC4F6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953" y="4991411"/>
                <a:ext cx="2582887" cy="646331"/>
              </a:xfrm>
              <a:prstGeom prst="rect">
                <a:avLst/>
              </a:prstGeom>
              <a:blipFill>
                <a:blip r:embed="rId5"/>
                <a:stretch>
                  <a:fillRect l="-1961" t="-5769" r="-980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A53A24-DCDD-4C20-FECA-B11DF998FD74}"/>
              </a:ext>
            </a:extLst>
          </p:cNvPr>
          <p:cNvSpPr/>
          <p:nvPr/>
        </p:nvSpPr>
        <p:spPr>
          <a:xfrm>
            <a:off x="6180840" y="3940403"/>
            <a:ext cx="1668544" cy="266563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F8A595-56AE-2397-FD56-E7F44D61DD11}"/>
              </a:ext>
            </a:extLst>
          </p:cNvPr>
          <p:cNvSpPr/>
          <p:nvPr/>
        </p:nvSpPr>
        <p:spPr>
          <a:xfrm>
            <a:off x="7937383" y="3940403"/>
            <a:ext cx="1668544" cy="2665635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11E6BFE-4A17-C525-2074-1BE02C7F4FB6}"/>
                  </a:ext>
                </a:extLst>
              </p:cNvPr>
              <p:cNvSpPr/>
              <p:nvPr/>
            </p:nvSpPr>
            <p:spPr>
              <a:xfrm>
                <a:off x="9693926" y="4991410"/>
                <a:ext cx="225997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6"/>
                    </a:solidFill>
                  </a:rPr>
                  <a:t>Neuron 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):</a:t>
                </a: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Detects males over 60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11E6BFE-4A17-C525-2074-1BE02C7F4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926" y="4991410"/>
                <a:ext cx="2259978" cy="646331"/>
              </a:xfrm>
              <a:prstGeom prst="rect">
                <a:avLst/>
              </a:prstGeom>
              <a:blipFill>
                <a:blip r:embed="rId6"/>
                <a:stretch>
                  <a:fillRect l="-2235" t="-5769" r="-1117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BD74367-401E-DBD6-0D52-444A9A25D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8547"/>
            <a:ext cx="4959284" cy="4478416"/>
          </a:xfrm>
        </p:spPr>
        <p:txBody>
          <a:bodyPr>
            <a:normAutofit/>
          </a:bodyPr>
          <a:lstStyle/>
          <a:p>
            <a:r>
              <a:rPr lang="en-US" sz="1800" dirty="0"/>
              <a:t>Each logistic regression is like a neuron</a:t>
            </a:r>
          </a:p>
          <a:p>
            <a:endParaRPr lang="en-US" sz="1800" dirty="0"/>
          </a:p>
          <a:p>
            <a:r>
              <a:rPr lang="en-US" sz="1800" dirty="0"/>
              <a:t>Different neurons detect different </a:t>
            </a:r>
            <a:r>
              <a:rPr lang="en-US" sz="1800" i="1" dirty="0"/>
              <a:t>features</a:t>
            </a:r>
          </a:p>
          <a:p>
            <a:pPr lvl="1"/>
            <a:r>
              <a:rPr lang="en-US" sz="1600" i="1" dirty="0"/>
              <a:t>Feature 1</a:t>
            </a:r>
            <a:r>
              <a:rPr lang="en-US" sz="1600" dirty="0"/>
              <a:t>: female under 60</a:t>
            </a:r>
          </a:p>
          <a:p>
            <a:pPr lvl="1"/>
            <a:r>
              <a:rPr lang="en-US" sz="1600" i="1" dirty="0"/>
              <a:t>Feature 2</a:t>
            </a:r>
            <a:r>
              <a:rPr lang="en-US" sz="1600" dirty="0"/>
              <a:t>: male over 60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DEDD72-9464-A4EA-3A4F-88BDB5EB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5049" cy="1325563"/>
          </a:xfrm>
        </p:spPr>
        <p:txBody>
          <a:bodyPr/>
          <a:lstStyle/>
          <a:p>
            <a:r>
              <a:rPr lang="en-US" dirty="0"/>
              <a:t>This is a (very simple) fully-connected neural network.</a:t>
            </a:r>
          </a:p>
        </p:txBody>
      </p:sp>
    </p:spTree>
    <p:extLst>
      <p:ext uri="{BB962C8B-B14F-4D97-AF65-F5344CB8AC3E}">
        <p14:creationId xmlns:p14="http://schemas.microsoft.com/office/powerpoint/2010/main" val="1277091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-Up Neuron">
            <a:extLst>
              <a:ext uri="{FF2B5EF4-FFF2-40B4-BE49-F238E27FC236}">
                <a16:creationId xmlns:a16="http://schemas.microsoft.com/office/drawing/2014/main" id="{8C1CF7A9-F4C9-CD02-6785-ADF1740A2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5867" y1="52482" x2="25867" y2="52482"/>
                        <a14:foregroundMark x1="17200" y1="44681" x2="17200" y2="44681"/>
                        <a14:foregroundMark x1="12667" y1="52246" x2="12667" y2="522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6930986">
            <a:off x="5358258" y="4296144"/>
            <a:ext cx="3287473" cy="185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Light-Up Neuron">
            <a:extLst>
              <a:ext uri="{FF2B5EF4-FFF2-40B4-BE49-F238E27FC236}">
                <a16:creationId xmlns:a16="http://schemas.microsoft.com/office/drawing/2014/main" id="{B7861EEB-C07C-2ADC-6A88-01EE32CA0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5867" y1="52482" x2="25867" y2="52482"/>
                        <a14:foregroundMark x1="17200" y1="44681" x2="17200" y2="44681"/>
                        <a14:foregroundMark x1="12667" y1="52246" x2="12667" y2="522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4669014" flipH="1">
            <a:off x="7127919" y="4296143"/>
            <a:ext cx="3287473" cy="185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81988A8-2094-572C-F7CF-AE00ACC4F61C}"/>
                  </a:ext>
                </a:extLst>
              </p:cNvPr>
              <p:cNvSpPr/>
              <p:nvPr/>
            </p:nvSpPr>
            <p:spPr>
              <a:xfrm>
                <a:off x="3597953" y="4991411"/>
                <a:ext cx="258288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Neuron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2"/>
                    </a:solidFill>
                  </a:rPr>
                  <a:t>):</a:t>
                </a: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Detects females under 60</a:t>
                </a: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81988A8-2094-572C-F7CF-AE00ACC4F6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953" y="4991411"/>
                <a:ext cx="2582887" cy="646331"/>
              </a:xfrm>
              <a:prstGeom prst="rect">
                <a:avLst/>
              </a:prstGeom>
              <a:blipFill>
                <a:blip r:embed="rId5"/>
                <a:stretch>
                  <a:fillRect l="-1961" t="-5769" r="-980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3A53A24-DCDD-4C20-FECA-B11DF998FD74}"/>
              </a:ext>
            </a:extLst>
          </p:cNvPr>
          <p:cNvSpPr/>
          <p:nvPr/>
        </p:nvSpPr>
        <p:spPr>
          <a:xfrm>
            <a:off x="6180840" y="3940403"/>
            <a:ext cx="1668544" cy="2665636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F8A595-56AE-2397-FD56-E7F44D61DD11}"/>
              </a:ext>
            </a:extLst>
          </p:cNvPr>
          <p:cNvSpPr/>
          <p:nvPr/>
        </p:nvSpPr>
        <p:spPr>
          <a:xfrm>
            <a:off x="7937383" y="3940403"/>
            <a:ext cx="1668544" cy="2665635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11E6BFE-4A17-C525-2074-1BE02C7F4FB6}"/>
                  </a:ext>
                </a:extLst>
              </p:cNvPr>
              <p:cNvSpPr/>
              <p:nvPr/>
            </p:nvSpPr>
            <p:spPr>
              <a:xfrm>
                <a:off x="9693926" y="4991410"/>
                <a:ext cx="225997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chemeClr val="accent6"/>
                    </a:solidFill>
                  </a:rPr>
                  <a:t>Neuron 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):</a:t>
                </a:r>
              </a:p>
              <a:p>
                <a:r>
                  <a:rPr lang="en-US" dirty="0">
                    <a:solidFill>
                      <a:schemeClr val="accent6"/>
                    </a:solidFill>
                  </a:rPr>
                  <a:t>Detects males over 60</a:t>
                </a: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11E6BFE-4A17-C525-2074-1BE02C7F4F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926" y="4991410"/>
                <a:ext cx="2259978" cy="646331"/>
              </a:xfrm>
              <a:prstGeom prst="rect">
                <a:avLst/>
              </a:prstGeom>
              <a:blipFill>
                <a:blip r:embed="rId6"/>
                <a:stretch>
                  <a:fillRect l="-2235" t="-5769" r="-1117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2" descr="Light-Up Neuron">
            <a:extLst>
              <a:ext uri="{FF2B5EF4-FFF2-40B4-BE49-F238E27FC236}">
                <a16:creationId xmlns:a16="http://schemas.microsoft.com/office/drawing/2014/main" id="{2536FDB9-059F-352F-02CC-64C24031E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25867" y1="52482" x2="25867" y2="52482"/>
                        <a14:foregroundMark x1="17200" y1="44681" x2="17200" y2="44681"/>
                        <a14:foregroundMark x1="12667" y1="52246" x2="12667" y2="522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 flipH="1">
            <a:off x="6359695" y="1983288"/>
            <a:ext cx="3287473" cy="185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ED8B1A4-A2A4-3FC0-D065-1514ED7772C0}"/>
              </a:ext>
            </a:extLst>
          </p:cNvPr>
          <p:cNvSpPr/>
          <p:nvPr/>
        </p:nvSpPr>
        <p:spPr>
          <a:xfrm>
            <a:off x="7169159" y="1577537"/>
            <a:ext cx="1668544" cy="2665636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A63FBB-9E88-72CA-5497-298D61FF8D64}"/>
              </a:ext>
            </a:extLst>
          </p:cNvPr>
          <p:cNvSpPr/>
          <p:nvPr/>
        </p:nvSpPr>
        <p:spPr>
          <a:xfrm>
            <a:off x="8837703" y="2587189"/>
            <a:ext cx="219028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Neuron 3:</a:t>
            </a:r>
          </a:p>
          <a:p>
            <a:r>
              <a:rPr lang="en-US" dirty="0"/>
              <a:t>Predicts the outcome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020D778-9878-807D-65FA-1A909030F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8547"/>
            <a:ext cx="4959284" cy="4478416"/>
          </a:xfrm>
        </p:spPr>
        <p:txBody>
          <a:bodyPr>
            <a:normAutofit/>
          </a:bodyPr>
          <a:lstStyle/>
          <a:p>
            <a:r>
              <a:rPr lang="en-US" sz="1800" dirty="0"/>
              <a:t>Each logistic regression is like a neuron</a:t>
            </a:r>
          </a:p>
          <a:p>
            <a:endParaRPr lang="en-US" sz="1800" dirty="0"/>
          </a:p>
          <a:p>
            <a:r>
              <a:rPr lang="en-US" sz="1800" dirty="0"/>
              <a:t>Different neurons detect different </a:t>
            </a:r>
            <a:r>
              <a:rPr lang="en-US" sz="1800" i="1" dirty="0"/>
              <a:t>features</a:t>
            </a:r>
          </a:p>
          <a:p>
            <a:pPr lvl="1"/>
            <a:r>
              <a:rPr lang="en-US" sz="1600" i="1" dirty="0"/>
              <a:t>Feature 1</a:t>
            </a:r>
            <a:r>
              <a:rPr lang="en-US" sz="1600" dirty="0"/>
              <a:t>: female under 60</a:t>
            </a:r>
          </a:p>
          <a:p>
            <a:pPr lvl="1"/>
            <a:r>
              <a:rPr lang="en-US" sz="1600" i="1" dirty="0"/>
              <a:t>Feature 2</a:t>
            </a:r>
            <a:r>
              <a:rPr lang="en-US" sz="1600" dirty="0"/>
              <a:t>: male over 60</a:t>
            </a:r>
          </a:p>
          <a:p>
            <a:pPr lvl="1"/>
            <a:endParaRPr lang="en-US" sz="1600" dirty="0"/>
          </a:p>
          <a:p>
            <a:r>
              <a:rPr lang="en-US" sz="1800" dirty="0"/>
              <a:t>Predictions are made based on detected features rather than the original predictors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91AAC55-A364-9FBA-913C-8C0CCD80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85049" cy="1325563"/>
          </a:xfrm>
        </p:spPr>
        <p:txBody>
          <a:bodyPr/>
          <a:lstStyle/>
          <a:p>
            <a:r>
              <a:rPr lang="en-US" dirty="0"/>
              <a:t>This is a (very simple) fully-connected neural network.</a:t>
            </a:r>
          </a:p>
        </p:txBody>
      </p:sp>
    </p:spTree>
    <p:extLst>
      <p:ext uri="{BB962C8B-B14F-4D97-AF65-F5344CB8AC3E}">
        <p14:creationId xmlns:p14="http://schemas.microsoft.com/office/powerpoint/2010/main" val="707007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15ED-205A-BB4F-86E2-4BDA73F28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92118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Neural networks provide unlimited flexibility.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2AD48400-5955-F445-AA34-C5BC496DB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152" y="1501827"/>
            <a:ext cx="4904944" cy="49049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463494-96A8-C94A-9277-2FA18309646F}"/>
              </a:ext>
            </a:extLst>
          </p:cNvPr>
          <p:cNvSpPr txBox="1"/>
          <p:nvPr/>
        </p:nvSpPr>
        <p:spPr>
          <a:xfrm>
            <a:off x="8023213" y="1417224"/>
            <a:ext cx="25618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MLP (i.e. neural network)</a:t>
            </a:r>
          </a:p>
          <a:p>
            <a:pPr algn="ctr"/>
            <a:r>
              <a:rPr lang="en-US" dirty="0"/>
              <a:t>decision boundary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1C391A9-D746-50B3-05A1-AB611375E2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7187" y="1640264"/>
            <a:ext cx="5378757" cy="48526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Add flexibility: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More layers of feature detectors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More feature detectors per layer</a:t>
            </a:r>
          </a:p>
        </p:txBody>
      </p:sp>
    </p:spTree>
    <p:extLst>
      <p:ext uri="{BB962C8B-B14F-4D97-AF65-F5344CB8AC3E}">
        <p14:creationId xmlns:p14="http://schemas.microsoft.com/office/powerpoint/2010/main" val="91033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070"/>
    </mc:Choice>
    <mc:Fallback xmlns="">
      <p:transition spd="slow" advTm="2607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30C90355-C0BB-40C8-27DB-5B9D7258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267" dirty="0"/>
              <a:t>A shallow, wide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D56741B-57C9-95EC-CADB-D84C7D2D4D8F}"/>
                  </a:ext>
                </a:extLst>
              </p:cNvPr>
              <p:cNvSpPr/>
              <p:nvPr/>
            </p:nvSpPr>
            <p:spPr>
              <a:xfrm>
                <a:off x="2574254" y="251460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D56741B-57C9-95EC-CADB-D84C7D2D4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254" y="2514600"/>
                <a:ext cx="914400" cy="914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B31849D-B9D7-DAD9-DDC7-9DA9D6D8CA36}"/>
                  </a:ext>
                </a:extLst>
              </p:cNvPr>
              <p:cNvSpPr/>
              <p:nvPr/>
            </p:nvSpPr>
            <p:spPr>
              <a:xfrm>
                <a:off x="2574254" y="418986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B31849D-B9D7-DAD9-DDC7-9DA9D6D8CA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254" y="4189864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546760E-56F4-0DBF-CA32-04ACC7827DA0}"/>
              </a:ext>
            </a:extLst>
          </p:cNvPr>
          <p:cNvSpPr txBox="1"/>
          <p:nvPr/>
        </p:nvSpPr>
        <p:spPr>
          <a:xfrm rot="5400000">
            <a:off x="2893231" y="362476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D4CF4C-F181-032A-1CED-4E44E383F72B}"/>
              </a:ext>
            </a:extLst>
          </p:cNvPr>
          <p:cNvCxnSpPr>
            <a:cxnSpLocks/>
            <a:stCxn id="17" idx="6"/>
            <a:endCxn id="31" idx="1"/>
          </p:cNvCxnSpPr>
          <p:nvPr/>
        </p:nvCxnSpPr>
        <p:spPr>
          <a:xfrm>
            <a:off x="3488654" y="2971800"/>
            <a:ext cx="542934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FEE3EA-0F7B-AAF2-9366-C32F5A988BC7}"/>
              </a:ext>
            </a:extLst>
          </p:cNvPr>
          <p:cNvCxnSpPr>
            <a:cxnSpLocks/>
            <a:stCxn id="18" idx="6"/>
            <a:endCxn id="31" idx="3"/>
          </p:cNvCxnSpPr>
          <p:nvPr/>
        </p:nvCxnSpPr>
        <p:spPr>
          <a:xfrm flipV="1">
            <a:off x="3488654" y="4126467"/>
            <a:ext cx="542934" cy="520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486C113-CB30-2E51-01E8-A7DBCF2363B2}"/>
              </a:ext>
            </a:extLst>
          </p:cNvPr>
          <p:cNvCxnSpPr>
            <a:cxnSpLocks/>
            <a:stCxn id="19" idx="0"/>
            <a:endCxn id="31" idx="2"/>
          </p:cNvCxnSpPr>
          <p:nvPr/>
        </p:nvCxnSpPr>
        <p:spPr>
          <a:xfrm flipV="1">
            <a:off x="3268815" y="3803178"/>
            <a:ext cx="628862" cy="6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3973C8-A67F-FBD6-F3B0-14DC634D1009}"/>
                  </a:ext>
                </a:extLst>
              </p:cNvPr>
              <p:cNvSpPr txBox="1"/>
              <p:nvPr/>
            </p:nvSpPr>
            <p:spPr>
              <a:xfrm>
                <a:off x="5234270" y="3624766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3973C8-A67F-FBD6-F3B0-14DC634D1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4270" y="3624766"/>
                <a:ext cx="1322157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DF8F3E-1A12-FDAC-1780-3D7B252A87F2}"/>
              </a:ext>
            </a:extLst>
          </p:cNvPr>
          <p:cNvCxnSpPr>
            <a:cxnSpLocks/>
          </p:cNvCxnSpPr>
          <p:nvPr/>
        </p:nvCxnSpPr>
        <p:spPr>
          <a:xfrm>
            <a:off x="4808415" y="3819772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9C19E12-2A1B-C136-E35F-725317AEB5CC}"/>
              </a:ext>
            </a:extLst>
          </p:cNvPr>
          <p:cNvGrpSpPr/>
          <p:nvPr/>
        </p:nvGrpSpPr>
        <p:grpSpPr>
          <a:xfrm>
            <a:off x="3897677" y="3345978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D82ADCBF-D750-3242-5239-59D8CDB48CFF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D82ADCBF-D750-3242-5239-59D8CDB48C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6"/>
                  <a:stretch>
                    <a:fillRect r="-9459" b="-109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6281F6C-499D-FFFC-9ECB-26F24187111B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6E4D3215-CBE0-3DD4-179D-2D2EB4FC1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772FF23-8C9D-D97D-7774-F4B5B13C17C7}"/>
                  </a:ext>
                </a:extLst>
              </p:cNvPr>
              <p:cNvSpPr/>
              <p:nvPr/>
            </p:nvSpPr>
            <p:spPr>
              <a:xfrm>
                <a:off x="1030992" y="251460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9772FF23-8C9D-D97D-7774-F4B5B13C17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992" y="2514600"/>
                <a:ext cx="914400" cy="9144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D3EF6F9-69CF-C802-F2C8-D1745C2019C4}"/>
                  </a:ext>
                </a:extLst>
              </p:cNvPr>
              <p:cNvSpPr/>
              <p:nvPr/>
            </p:nvSpPr>
            <p:spPr>
              <a:xfrm>
                <a:off x="1030992" y="418986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DD3EF6F9-69CF-C802-F2C8-D1745C2019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992" y="4189864"/>
                <a:ext cx="914400" cy="9144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D11B853B-0BAF-B46E-7C12-1FF583F614C0}"/>
              </a:ext>
            </a:extLst>
          </p:cNvPr>
          <p:cNvSpPr txBox="1"/>
          <p:nvPr/>
        </p:nvSpPr>
        <p:spPr>
          <a:xfrm rot="5400000">
            <a:off x="1349969" y="362476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99C4C85-1F79-0AC2-A04D-8C733551B889}"/>
              </a:ext>
            </a:extLst>
          </p:cNvPr>
          <p:cNvCxnSpPr>
            <a:cxnSpLocks/>
          </p:cNvCxnSpPr>
          <p:nvPr/>
        </p:nvCxnSpPr>
        <p:spPr>
          <a:xfrm>
            <a:off x="1915423" y="3167864"/>
            <a:ext cx="1038759" cy="51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3FD2992-9868-034A-623D-7D81DD609D25}"/>
              </a:ext>
            </a:extLst>
          </p:cNvPr>
          <p:cNvCxnSpPr>
            <a:cxnSpLocks/>
          </p:cNvCxnSpPr>
          <p:nvPr/>
        </p:nvCxnSpPr>
        <p:spPr>
          <a:xfrm flipV="1">
            <a:off x="1915423" y="3886200"/>
            <a:ext cx="1047703" cy="576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29A3142-AB15-11FF-1066-0B93832710EB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1718661" y="3809432"/>
            <a:ext cx="11808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C789452-8D78-6F8A-CAB1-A207261BEAB2}"/>
              </a:ext>
            </a:extLst>
          </p:cNvPr>
          <p:cNvCxnSpPr>
            <a:cxnSpLocks/>
            <a:stCxn id="40" idx="5"/>
            <a:endCxn id="18" idx="1"/>
          </p:cNvCxnSpPr>
          <p:nvPr/>
        </p:nvCxnSpPr>
        <p:spPr>
          <a:xfrm>
            <a:off x="1811481" y="329508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B07941D-BE3A-4486-4B59-B88E86C1F785}"/>
              </a:ext>
            </a:extLst>
          </p:cNvPr>
          <p:cNvCxnSpPr>
            <a:cxnSpLocks/>
            <a:stCxn id="41" idx="7"/>
            <a:endCxn id="17" idx="3"/>
          </p:cNvCxnSpPr>
          <p:nvPr/>
        </p:nvCxnSpPr>
        <p:spPr>
          <a:xfrm flipV="1">
            <a:off x="1811481" y="329508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71C201D-4DCD-A437-8F14-88A6C3DC912E}"/>
              </a:ext>
            </a:extLst>
          </p:cNvPr>
          <p:cNvCxnSpPr>
            <a:cxnSpLocks/>
            <a:stCxn id="41" idx="6"/>
            <a:endCxn id="18" idx="2"/>
          </p:cNvCxnSpPr>
          <p:nvPr/>
        </p:nvCxnSpPr>
        <p:spPr>
          <a:xfrm>
            <a:off x="1945392" y="4647064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E8DC2D6-59A3-D09F-FCF8-FE966425AFA8}"/>
              </a:ext>
            </a:extLst>
          </p:cNvPr>
          <p:cNvCxnSpPr>
            <a:cxnSpLocks/>
          </p:cNvCxnSpPr>
          <p:nvPr/>
        </p:nvCxnSpPr>
        <p:spPr>
          <a:xfrm flipV="1">
            <a:off x="1632811" y="3167864"/>
            <a:ext cx="974730" cy="544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EF3E43A-0B1D-275C-CD27-03A24A384509}"/>
              </a:ext>
            </a:extLst>
          </p:cNvPr>
          <p:cNvCxnSpPr>
            <a:cxnSpLocks/>
            <a:stCxn id="40" idx="6"/>
            <a:endCxn id="17" idx="2"/>
          </p:cNvCxnSpPr>
          <p:nvPr/>
        </p:nvCxnSpPr>
        <p:spPr>
          <a:xfrm>
            <a:off x="1945392" y="2971800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87AD63E-A969-603E-899C-95912C26E9AF}"/>
              </a:ext>
            </a:extLst>
          </p:cNvPr>
          <p:cNvCxnSpPr>
            <a:cxnSpLocks/>
          </p:cNvCxnSpPr>
          <p:nvPr/>
        </p:nvCxnSpPr>
        <p:spPr>
          <a:xfrm>
            <a:off x="1632811" y="3906515"/>
            <a:ext cx="983819" cy="56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8CEB737-D171-2451-9F09-87AA01B34E3E}"/>
                  </a:ext>
                </a:extLst>
              </p:cNvPr>
              <p:cNvSpPr txBox="1"/>
              <p:nvPr/>
            </p:nvSpPr>
            <p:spPr>
              <a:xfrm>
                <a:off x="8773705" y="2293944"/>
                <a:ext cx="225125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dirty="0"/>
                  <a:t> is </a:t>
                </a:r>
              </a:p>
              <a:p>
                <a:r>
                  <a:rPr lang="en-US" dirty="0"/>
                  <a:t>“fully connected”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28CEB737-D171-2451-9F09-87AA01B34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705" y="2293944"/>
                <a:ext cx="2251257" cy="646331"/>
              </a:xfrm>
              <a:prstGeom prst="rect">
                <a:avLst/>
              </a:prstGeom>
              <a:blipFill>
                <a:blip r:embed="rId10"/>
                <a:stretch>
                  <a:fillRect l="-2235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71FF3D0-B57F-97B9-33C5-453FFDB3FA94}"/>
                  </a:ext>
                </a:extLst>
              </p:cNvPr>
              <p:cNvSpPr txBox="1"/>
              <p:nvPr/>
            </p:nvSpPr>
            <p:spPr>
              <a:xfrm>
                <a:off x="8773705" y="3620675"/>
                <a:ext cx="2820516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71FF3D0-B57F-97B9-33C5-453FFDB3FA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705" y="3620675"/>
                <a:ext cx="2820516" cy="830997"/>
              </a:xfrm>
              <a:prstGeom prst="rect">
                <a:avLst/>
              </a:prstGeom>
              <a:blipFill>
                <a:blip r:embed="rId11"/>
                <a:stretch>
                  <a:fillRect l="-2691" t="-1515" b="-7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88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36"/>
    </mc:Choice>
    <mc:Fallback xmlns="">
      <p:transition spd="slow" advTm="1023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F15AB-3D47-6728-6B32-7E13C9E6C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B07E1D21-26E6-FE84-5DFF-2AC9227B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267" dirty="0"/>
              <a:t>A deep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CC4636B-C0EA-C1E5-0A0A-9EE08AEA861E}"/>
                  </a:ext>
                </a:extLst>
              </p:cNvPr>
              <p:cNvSpPr/>
              <p:nvPr/>
            </p:nvSpPr>
            <p:spPr>
              <a:xfrm>
                <a:off x="5938018" y="236775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DCC4636B-C0EA-C1E5-0A0A-9EE08AEA86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018" y="2367750"/>
                <a:ext cx="914400" cy="914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D3A9B5A-7704-21B5-1387-B13F90E4CD47}"/>
                  </a:ext>
                </a:extLst>
              </p:cNvPr>
              <p:cNvSpPr/>
              <p:nvPr/>
            </p:nvSpPr>
            <p:spPr>
              <a:xfrm>
                <a:off x="5938018" y="404301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D3A9B5A-7704-21B5-1387-B13F90E4C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018" y="4043014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C235F59-CF8B-1136-3686-76631EBF6130}"/>
              </a:ext>
            </a:extLst>
          </p:cNvPr>
          <p:cNvSpPr txBox="1"/>
          <p:nvPr/>
        </p:nvSpPr>
        <p:spPr>
          <a:xfrm rot="5400000">
            <a:off x="6256995" y="34779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D8F94E9-0862-653A-AE5F-44CC1353E276}"/>
              </a:ext>
            </a:extLst>
          </p:cNvPr>
          <p:cNvCxnSpPr>
            <a:cxnSpLocks/>
            <a:stCxn id="17" idx="6"/>
            <a:endCxn id="31" idx="1"/>
          </p:cNvCxnSpPr>
          <p:nvPr/>
        </p:nvCxnSpPr>
        <p:spPr>
          <a:xfrm>
            <a:off x="6852418" y="2824950"/>
            <a:ext cx="542934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F62FA3-42D7-9C4A-A01A-5FBC0AA0ED88}"/>
              </a:ext>
            </a:extLst>
          </p:cNvPr>
          <p:cNvCxnSpPr>
            <a:cxnSpLocks/>
            <a:stCxn id="18" idx="6"/>
            <a:endCxn id="31" idx="3"/>
          </p:cNvCxnSpPr>
          <p:nvPr/>
        </p:nvCxnSpPr>
        <p:spPr>
          <a:xfrm flipV="1">
            <a:off x="6852418" y="3979617"/>
            <a:ext cx="542934" cy="520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8BC3BF-F698-D7DD-EEDB-3EEA58D4A043}"/>
              </a:ext>
            </a:extLst>
          </p:cNvPr>
          <p:cNvCxnSpPr>
            <a:cxnSpLocks/>
            <a:stCxn id="19" idx="0"/>
            <a:endCxn id="31" idx="2"/>
          </p:cNvCxnSpPr>
          <p:nvPr/>
        </p:nvCxnSpPr>
        <p:spPr>
          <a:xfrm flipV="1">
            <a:off x="6632579" y="3656328"/>
            <a:ext cx="628862" cy="6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29976A9-C5B6-D952-3A5A-8A17588B0C16}"/>
                  </a:ext>
                </a:extLst>
              </p:cNvPr>
              <p:cNvSpPr txBox="1"/>
              <p:nvPr/>
            </p:nvSpPr>
            <p:spPr>
              <a:xfrm>
                <a:off x="8598034" y="3477916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29976A9-C5B6-D952-3A5A-8A17588B0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34" y="3477916"/>
                <a:ext cx="1322157" cy="369332"/>
              </a:xfrm>
              <a:prstGeom prst="rect">
                <a:avLst/>
              </a:prstGeom>
              <a:blipFill>
                <a:blip r:embed="rId5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074D463-A629-D66E-7440-C7B8616B231F}"/>
              </a:ext>
            </a:extLst>
          </p:cNvPr>
          <p:cNvCxnSpPr>
            <a:cxnSpLocks/>
          </p:cNvCxnSpPr>
          <p:nvPr/>
        </p:nvCxnSpPr>
        <p:spPr>
          <a:xfrm>
            <a:off x="8172179" y="3672922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0DE21D0-FC43-91DD-4762-00305492DE26}"/>
              </a:ext>
            </a:extLst>
          </p:cNvPr>
          <p:cNvGrpSpPr/>
          <p:nvPr/>
        </p:nvGrpSpPr>
        <p:grpSpPr>
          <a:xfrm>
            <a:off x="7261441" y="3199128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F903E51F-329D-9DCC-7D12-FE4D89890A06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F903E51F-329D-9DCC-7D12-FE4D89890A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6"/>
                  <a:stretch>
                    <a:fillRect r="-94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1E58D21-5374-F4FE-33F2-299787CBDB06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0471590B-DED4-05AC-DD56-DBDE6BDEB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FF901E9-8E11-D9B8-E244-837555C91C2C}"/>
                  </a:ext>
                </a:extLst>
              </p:cNvPr>
              <p:cNvSpPr/>
              <p:nvPr/>
            </p:nvSpPr>
            <p:spPr>
              <a:xfrm>
                <a:off x="4394756" y="236775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FF901E9-8E11-D9B8-E244-837555C91C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56" y="2367750"/>
                <a:ext cx="914400" cy="9144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BECD797-3F89-1E31-D70E-1A4A068C5CA5}"/>
                  </a:ext>
                </a:extLst>
              </p:cNvPr>
              <p:cNvSpPr/>
              <p:nvPr/>
            </p:nvSpPr>
            <p:spPr>
              <a:xfrm>
                <a:off x="4394756" y="404301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4BECD797-3F89-1E31-D70E-1A4A068C5C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56" y="4043014"/>
                <a:ext cx="914400" cy="9144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4B1CDF66-FEE2-274B-DB26-AF432ADEF871}"/>
              </a:ext>
            </a:extLst>
          </p:cNvPr>
          <p:cNvSpPr txBox="1"/>
          <p:nvPr/>
        </p:nvSpPr>
        <p:spPr>
          <a:xfrm rot="5400000">
            <a:off x="4713733" y="34779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DCD628C-6168-48F1-C5F7-95C9F4B00547}"/>
              </a:ext>
            </a:extLst>
          </p:cNvPr>
          <p:cNvCxnSpPr>
            <a:cxnSpLocks/>
          </p:cNvCxnSpPr>
          <p:nvPr/>
        </p:nvCxnSpPr>
        <p:spPr>
          <a:xfrm>
            <a:off x="5279187" y="3021014"/>
            <a:ext cx="1038759" cy="51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DF3063D-D2F6-291F-70B3-10F7EA7668AE}"/>
              </a:ext>
            </a:extLst>
          </p:cNvPr>
          <p:cNvCxnSpPr>
            <a:cxnSpLocks/>
          </p:cNvCxnSpPr>
          <p:nvPr/>
        </p:nvCxnSpPr>
        <p:spPr>
          <a:xfrm flipV="1">
            <a:off x="5279187" y="3739350"/>
            <a:ext cx="1047703" cy="576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EEA188C-4E90-CF22-231B-B5457C98E342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5082425" y="3662582"/>
            <a:ext cx="11808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27E7C26-DCD6-5FF8-9A5A-17CA0261029B}"/>
              </a:ext>
            </a:extLst>
          </p:cNvPr>
          <p:cNvCxnSpPr>
            <a:cxnSpLocks/>
            <a:stCxn id="40" idx="5"/>
            <a:endCxn id="18" idx="1"/>
          </p:cNvCxnSpPr>
          <p:nvPr/>
        </p:nvCxnSpPr>
        <p:spPr>
          <a:xfrm>
            <a:off x="5175245" y="314823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9FFE896-46DE-9FDB-F8C3-ECDC7E30E6A5}"/>
              </a:ext>
            </a:extLst>
          </p:cNvPr>
          <p:cNvCxnSpPr>
            <a:cxnSpLocks/>
            <a:stCxn id="41" idx="7"/>
            <a:endCxn id="17" idx="3"/>
          </p:cNvCxnSpPr>
          <p:nvPr/>
        </p:nvCxnSpPr>
        <p:spPr>
          <a:xfrm flipV="1">
            <a:off x="5175245" y="314823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D500D33-EE79-5F81-A53D-8DDE997F9166}"/>
              </a:ext>
            </a:extLst>
          </p:cNvPr>
          <p:cNvCxnSpPr>
            <a:cxnSpLocks/>
            <a:stCxn id="41" idx="6"/>
            <a:endCxn id="18" idx="2"/>
          </p:cNvCxnSpPr>
          <p:nvPr/>
        </p:nvCxnSpPr>
        <p:spPr>
          <a:xfrm>
            <a:off x="5309156" y="4500214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BBBB3748-34FF-E03D-2C90-A767041773D2}"/>
              </a:ext>
            </a:extLst>
          </p:cNvPr>
          <p:cNvCxnSpPr>
            <a:cxnSpLocks/>
          </p:cNvCxnSpPr>
          <p:nvPr/>
        </p:nvCxnSpPr>
        <p:spPr>
          <a:xfrm flipV="1">
            <a:off x="4996575" y="3021014"/>
            <a:ext cx="974730" cy="544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C941F6A-8C18-5E5B-8CBE-065C0529BB6F}"/>
              </a:ext>
            </a:extLst>
          </p:cNvPr>
          <p:cNvCxnSpPr>
            <a:cxnSpLocks/>
            <a:stCxn id="40" idx="6"/>
            <a:endCxn id="17" idx="2"/>
          </p:cNvCxnSpPr>
          <p:nvPr/>
        </p:nvCxnSpPr>
        <p:spPr>
          <a:xfrm>
            <a:off x="5309156" y="2824950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FC5CB6E-B9C9-7526-A83C-9A71B19B3E12}"/>
              </a:ext>
            </a:extLst>
          </p:cNvPr>
          <p:cNvCxnSpPr>
            <a:cxnSpLocks/>
          </p:cNvCxnSpPr>
          <p:nvPr/>
        </p:nvCxnSpPr>
        <p:spPr>
          <a:xfrm>
            <a:off x="4996575" y="3759665"/>
            <a:ext cx="983819" cy="56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B81C5CC-B6B6-F741-2B31-BD23039ACB04}"/>
                  </a:ext>
                </a:extLst>
              </p:cNvPr>
              <p:cNvSpPr txBox="1"/>
              <p:nvPr/>
            </p:nvSpPr>
            <p:spPr>
              <a:xfrm>
                <a:off x="8598034" y="1690688"/>
                <a:ext cx="225125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dirty="0"/>
                  <a:t> is </a:t>
                </a:r>
              </a:p>
              <a:p>
                <a:r>
                  <a:rPr lang="en-US" dirty="0"/>
                  <a:t>“fully connected”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B81C5CC-B6B6-F741-2B31-BD23039AC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34" y="1690688"/>
                <a:ext cx="2251257" cy="646331"/>
              </a:xfrm>
              <a:prstGeom prst="rect">
                <a:avLst/>
              </a:prstGeom>
              <a:blipFill>
                <a:blip r:embed="rId10"/>
                <a:stretch>
                  <a:fillRect l="-2235" t="-192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ADAAA47-DFC3-5035-2744-DE9F467AB53C}"/>
                  </a:ext>
                </a:extLst>
              </p:cNvPr>
              <p:cNvSpPr txBox="1"/>
              <p:nvPr/>
            </p:nvSpPr>
            <p:spPr>
              <a:xfrm>
                <a:off x="8598034" y="4647064"/>
                <a:ext cx="3042436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endParaRPr lang="en-U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ADAAA47-DFC3-5035-2744-DE9F467A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34" y="4647064"/>
                <a:ext cx="3042436" cy="1384995"/>
              </a:xfrm>
              <a:prstGeom prst="rect">
                <a:avLst/>
              </a:prstGeom>
              <a:blipFill>
                <a:blip r:embed="rId11"/>
                <a:stretch>
                  <a:fillRect l="-2490"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6DCD3F4-66A3-6CDF-6B78-6BAAB4796CC2}"/>
              </a:ext>
            </a:extLst>
          </p:cNvPr>
          <p:cNvSpPr txBox="1"/>
          <p:nvPr/>
        </p:nvSpPr>
        <p:spPr>
          <a:xfrm>
            <a:off x="3937156" y="341063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313ED0-50F5-F42C-2C84-EC3B68E7F6ED}"/>
              </a:ext>
            </a:extLst>
          </p:cNvPr>
          <p:cNvSpPr txBox="1"/>
          <p:nvPr/>
        </p:nvSpPr>
        <p:spPr>
          <a:xfrm>
            <a:off x="3937156" y="42777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12BA52-0AF2-96A5-09C5-F58C3F66198C}"/>
              </a:ext>
            </a:extLst>
          </p:cNvPr>
          <p:cNvSpPr txBox="1"/>
          <p:nvPr/>
        </p:nvSpPr>
        <p:spPr>
          <a:xfrm>
            <a:off x="3937156" y="2636067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0EC9BA1-067C-149C-BF35-A49A67A8A5CF}"/>
                  </a:ext>
                </a:extLst>
              </p:cNvPr>
              <p:cNvSpPr/>
              <p:nvPr/>
            </p:nvSpPr>
            <p:spPr>
              <a:xfrm>
                <a:off x="2954943" y="236775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0EC9BA1-067C-149C-BF35-A49A67A8A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943" y="2367750"/>
                <a:ext cx="914400" cy="9144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4062565-93A3-2A9B-0EFE-7286A04DDE7C}"/>
                  </a:ext>
                </a:extLst>
              </p:cNvPr>
              <p:cNvSpPr/>
              <p:nvPr/>
            </p:nvSpPr>
            <p:spPr>
              <a:xfrm>
                <a:off x="2954943" y="404301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84062565-93A3-2A9B-0EFE-7286A04DD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943" y="4043014"/>
                <a:ext cx="914400" cy="9144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F5DB4887-9078-2B67-BB63-58F51F282F27}"/>
              </a:ext>
            </a:extLst>
          </p:cNvPr>
          <p:cNvSpPr txBox="1"/>
          <p:nvPr/>
        </p:nvSpPr>
        <p:spPr>
          <a:xfrm rot="5400000">
            <a:off x="3273920" y="34779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5A57D07-8583-E0A5-EC73-02E0297D3DC0}"/>
                  </a:ext>
                </a:extLst>
              </p:cNvPr>
              <p:cNvSpPr/>
              <p:nvPr/>
            </p:nvSpPr>
            <p:spPr>
              <a:xfrm>
                <a:off x="1411681" y="236775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5A57D07-8583-E0A5-EC73-02E0297D3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681" y="2367750"/>
                <a:ext cx="914400" cy="9144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B883664-A67A-F3E0-2FEF-F4B3F5CB6E5F}"/>
                  </a:ext>
                </a:extLst>
              </p:cNvPr>
              <p:cNvSpPr/>
              <p:nvPr/>
            </p:nvSpPr>
            <p:spPr>
              <a:xfrm>
                <a:off x="1411681" y="404301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B883664-A67A-F3E0-2FEF-F4B3F5CB6E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681" y="4043014"/>
                <a:ext cx="914400" cy="9144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31C211DA-2B8A-8591-56F1-96C0A60E9E82}"/>
              </a:ext>
            </a:extLst>
          </p:cNvPr>
          <p:cNvSpPr txBox="1"/>
          <p:nvPr/>
        </p:nvSpPr>
        <p:spPr>
          <a:xfrm rot="5400000">
            <a:off x="1730658" y="34779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E4440BD-1F75-4321-5923-60E129D2C0B2}"/>
              </a:ext>
            </a:extLst>
          </p:cNvPr>
          <p:cNvCxnSpPr>
            <a:cxnSpLocks/>
          </p:cNvCxnSpPr>
          <p:nvPr/>
        </p:nvCxnSpPr>
        <p:spPr>
          <a:xfrm>
            <a:off x="2296112" y="3021014"/>
            <a:ext cx="1038759" cy="51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AC1BDF1-3BB6-E77E-1FAF-C09D6138746A}"/>
              </a:ext>
            </a:extLst>
          </p:cNvPr>
          <p:cNvCxnSpPr>
            <a:cxnSpLocks/>
          </p:cNvCxnSpPr>
          <p:nvPr/>
        </p:nvCxnSpPr>
        <p:spPr>
          <a:xfrm flipV="1">
            <a:off x="2296112" y="3739350"/>
            <a:ext cx="1047703" cy="576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802DC4F-A708-0406-94E2-19A1539156B5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2099350" y="3662582"/>
            <a:ext cx="11808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D00DEC5-5FE0-6471-205A-950CEEE9A527}"/>
              </a:ext>
            </a:extLst>
          </p:cNvPr>
          <p:cNvCxnSpPr>
            <a:cxnSpLocks/>
            <a:stCxn id="27" idx="5"/>
            <a:endCxn id="24" idx="1"/>
          </p:cNvCxnSpPr>
          <p:nvPr/>
        </p:nvCxnSpPr>
        <p:spPr>
          <a:xfrm>
            <a:off x="2192170" y="314823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7374E36-2EAD-0FC0-AB49-4424255B87CF}"/>
              </a:ext>
            </a:extLst>
          </p:cNvPr>
          <p:cNvCxnSpPr>
            <a:cxnSpLocks/>
            <a:stCxn id="34" idx="7"/>
            <a:endCxn id="23" idx="3"/>
          </p:cNvCxnSpPr>
          <p:nvPr/>
        </p:nvCxnSpPr>
        <p:spPr>
          <a:xfrm flipV="1">
            <a:off x="2192170" y="314823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AE69744-E54A-5FF9-F0AB-7DB3BD87A131}"/>
              </a:ext>
            </a:extLst>
          </p:cNvPr>
          <p:cNvCxnSpPr>
            <a:cxnSpLocks/>
            <a:stCxn id="34" idx="6"/>
            <a:endCxn id="24" idx="2"/>
          </p:cNvCxnSpPr>
          <p:nvPr/>
        </p:nvCxnSpPr>
        <p:spPr>
          <a:xfrm>
            <a:off x="2326081" y="4500214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BB75216-F634-925B-CB29-397E4268A3F6}"/>
              </a:ext>
            </a:extLst>
          </p:cNvPr>
          <p:cNvCxnSpPr>
            <a:cxnSpLocks/>
          </p:cNvCxnSpPr>
          <p:nvPr/>
        </p:nvCxnSpPr>
        <p:spPr>
          <a:xfrm flipV="1">
            <a:off x="2013500" y="3021014"/>
            <a:ext cx="974730" cy="544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00555F4-5D11-2CD4-5403-923E242EB82D}"/>
              </a:ext>
            </a:extLst>
          </p:cNvPr>
          <p:cNvCxnSpPr>
            <a:cxnSpLocks/>
            <a:stCxn id="27" idx="6"/>
            <a:endCxn id="23" idx="2"/>
          </p:cNvCxnSpPr>
          <p:nvPr/>
        </p:nvCxnSpPr>
        <p:spPr>
          <a:xfrm>
            <a:off x="2326081" y="2824950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C4A6ACD-14A8-F350-074B-77E8631BC5AA}"/>
              </a:ext>
            </a:extLst>
          </p:cNvPr>
          <p:cNvCxnSpPr>
            <a:cxnSpLocks/>
          </p:cNvCxnSpPr>
          <p:nvPr/>
        </p:nvCxnSpPr>
        <p:spPr>
          <a:xfrm>
            <a:off x="2013500" y="3759665"/>
            <a:ext cx="983819" cy="56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49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36"/>
    </mc:Choice>
    <mc:Fallback xmlns="">
      <p:transition spd="slow" advTm="10236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6F4F5-366E-B6F9-0827-5EEF137FC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6365E1DD-F90A-E7FF-A6EA-BB00522D6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267" dirty="0"/>
              <a:t>A deep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CA572D7-A570-2B53-984D-85625B4CAB82}"/>
                  </a:ext>
                </a:extLst>
              </p:cNvPr>
              <p:cNvSpPr/>
              <p:nvPr/>
            </p:nvSpPr>
            <p:spPr>
              <a:xfrm>
                <a:off x="5938018" y="236775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FCA572D7-A570-2B53-984D-85625B4CAB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018" y="2367750"/>
                <a:ext cx="914400" cy="91440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E203279-E448-04B5-B0CE-AEA83E24BC1C}"/>
                  </a:ext>
                </a:extLst>
              </p:cNvPr>
              <p:cNvSpPr/>
              <p:nvPr/>
            </p:nvSpPr>
            <p:spPr>
              <a:xfrm>
                <a:off x="5938018" y="404301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E203279-E448-04B5-B0CE-AEA83E24BC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018" y="4043014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A40A963-84D4-F7E4-B010-92FA86C73998}"/>
              </a:ext>
            </a:extLst>
          </p:cNvPr>
          <p:cNvSpPr txBox="1"/>
          <p:nvPr/>
        </p:nvSpPr>
        <p:spPr>
          <a:xfrm rot="5400000">
            <a:off x="6256995" y="34779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98C3D92-CDA5-58B4-A8E8-21ADBB72E8F3}"/>
              </a:ext>
            </a:extLst>
          </p:cNvPr>
          <p:cNvCxnSpPr>
            <a:cxnSpLocks/>
            <a:stCxn id="17" idx="6"/>
            <a:endCxn id="31" idx="1"/>
          </p:cNvCxnSpPr>
          <p:nvPr/>
        </p:nvCxnSpPr>
        <p:spPr>
          <a:xfrm>
            <a:off x="6852418" y="2824950"/>
            <a:ext cx="542934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A76D62-3FE7-2B91-8399-9529FB0FCEDD}"/>
              </a:ext>
            </a:extLst>
          </p:cNvPr>
          <p:cNvCxnSpPr>
            <a:cxnSpLocks/>
            <a:stCxn id="18" idx="6"/>
            <a:endCxn id="31" idx="3"/>
          </p:cNvCxnSpPr>
          <p:nvPr/>
        </p:nvCxnSpPr>
        <p:spPr>
          <a:xfrm flipV="1">
            <a:off x="6852418" y="3979617"/>
            <a:ext cx="542934" cy="520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69A178-7B11-3827-B673-78242E3F87B9}"/>
              </a:ext>
            </a:extLst>
          </p:cNvPr>
          <p:cNvCxnSpPr>
            <a:cxnSpLocks/>
            <a:stCxn id="19" idx="0"/>
            <a:endCxn id="31" idx="2"/>
          </p:cNvCxnSpPr>
          <p:nvPr/>
        </p:nvCxnSpPr>
        <p:spPr>
          <a:xfrm flipV="1">
            <a:off x="6632579" y="3656328"/>
            <a:ext cx="628862" cy="6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2B033D-1497-D1E6-FC3D-186C6523CB11}"/>
                  </a:ext>
                </a:extLst>
              </p:cNvPr>
              <p:cNvSpPr txBox="1"/>
              <p:nvPr/>
            </p:nvSpPr>
            <p:spPr>
              <a:xfrm>
                <a:off x="8598034" y="3477916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B2B033D-1497-D1E6-FC3D-186C6523C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34" y="3477916"/>
                <a:ext cx="1322157" cy="369332"/>
              </a:xfrm>
              <a:prstGeom prst="rect">
                <a:avLst/>
              </a:prstGeom>
              <a:blipFill>
                <a:blip r:embed="rId5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E14CF97-EFB0-9160-3EBE-085DFB08F5CC}"/>
              </a:ext>
            </a:extLst>
          </p:cNvPr>
          <p:cNvCxnSpPr>
            <a:cxnSpLocks/>
          </p:cNvCxnSpPr>
          <p:nvPr/>
        </p:nvCxnSpPr>
        <p:spPr>
          <a:xfrm>
            <a:off x="8172179" y="3672922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BF231EB-A01E-064F-6D80-46973BE12CA5}"/>
              </a:ext>
            </a:extLst>
          </p:cNvPr>
          <p:cNvGrpSpPr/>
          <p:nvPr/>
        </p:nvGrpSpPr>
        <p:grpSpPr>
          <a:xfrm>
            <a:off x="7261441" y="3199128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391D864-B7EB-9F98-5D8A-270EA4F473E5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8391D864-B7EB-9F98-5D8A-270EA4F473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6"/>
                  <a:stretch>
                    <a:fillRect r="-94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57E1626-D596-19D2-BA35-553F1D6E04FC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3B7CBEC-016A-8EEB-B691-06927FB19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DCC079C-9D9D-CDCD-3728-2D4F2264964D}"/>
                  </a:ext>
                </a:extLst>
              </p:cNvPr>
              <p:cNvSpPr/>
              <p:nvPr/>
            </p:nvSpPr>
            <p:spPr>
              <a:xfrm>
                <a:off x="4394756" y="236775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FDCC079C-9D9D-CDCD-3728-2D4F226496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56" y="2367750"/>
                <a:ext cx="914400" cy="9144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71FB7F7-CE29-338C-506E-B8CC11E3F21A}"/>
                  </a:ext>
                </a:extLst>
              </p:cNvPr>
              <p:cNvSpPr/>
              <p:nvPr/>
            </p:nvSpPr>
            <p:spPr>
              <a:xfrm>
                <a:off x="4394756" y="404301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−2,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B71FB7F7-CE29-338C-506E-B8CC11E3F2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756" y="4043014"/>
                <a:ext cx="914400" cy="914400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5E9F2F41-8C94-B656-A297-B904463099C6}"/>
              </a:ext>
            </a:extLst>
          </p:cNvPr>
          <p:cNvSpPr txBox="1"/>
          <p:nvPr/>
        </p:nvSpPr>
        <p:spPr>
          <a:xfrm rot="5400000">
            <a:off x="4713733" y="34779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D500CB3-5891-73ED-A16F-096D64E53B46}"/>
              </a:ext>
            </a:extLst>
          </p:cNvPr>
          <p:cNvCxnSpPr>
            <a:cxnSpLocks/>
          </p:cNvCxnSpPr>
          <p:nvPr/>
        </p:nvCxnSpPr>
        <p:spPr>
          <a:xfrm>
            <a:off x="5279187" y="3021014"/>
            <a:ext cx="1038759" cy="51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8B48D5F-659B-655D-90E4-D801B423D791}"/>
              </a:ext>
            </a:extLst>
          </p:cNvPr>
          <p:cNvCxnSpPr>
            <a:cxnSpLocks/>
          </p:cNvCxnSpPr>
          <p:nvPr/>
        </p:nvCxnSpPr>
        <p:spPr>
          <a:xfrm flipV="1">
            <a:off x="5279187" y="3739350"/>
            <a:ext cx="1047703" cy="576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D7122EF-E267-F9ED-B134-1B15BBE8A19B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5082425" y="3662582"/>
            <a:ext cx="11808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9B76DBD-7918-CA1A-08B8-4B4BFBA0069A}"/>
              </a:ext>
            </a:extLst>
          </p:cNvPr>
          <p:cNvCxnSpPr>
            <a:cxnSpLocks/>
            <a:stCxn id="40" idx="5"/>
            <a:endCxn id="18" idx="1"/>
          </p:cNvCxnSpPr>
          <p:nvPr/>
        </p:nvCxnSpPr>
        <p:spPr>
          <a:xfrm>
            <a:off x="5175245" y="314823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5896C34-F50D-CB8A-8864-BC6D6D085DD2}"/>
              </a:ext>
            </a:extLst>
          </p:cNvPr>
          <p:cNvCxnSpPr>
            <a:cxnSpLocks/>
            <a:stCxn id="41" idx="7"/>
            <a:endCxn id="17" idx="3"/>
          </p:cNvCxnSpPr>
          <p:nvPr/>
        </p:nvCxnSpPr>
        <p:spPr>
          <a:xfrm flipV="1">
            <a:off x="5175245" y="314823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9B741CC2-596E-FBFC-6C9E-11EC06C12753}"/>
              </a:ext>
            </a:extLst>
          </p:cNvPr>
          <p:cNvCxnSpPr>
            <a:cxnSpLocks/>
            <a:stCxn id="41" idx="6"/>
            <a:endCxn id="18" idx="2"/>
          </p:cNvCxnSpPr>
          <p:nvPr/>
        </p:nvCxnSpPr>
        <p:spPr>
          <a:xfrm>
            <a:off x="5309156" y="4500214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C47B9B1-D7E5-5108-7BE1-84AE6702000C}"/>
              </a:ext>
            </a:extLst>
          </p:cNvPr>
          <p:cNvCxnSpPr>
            <a:cxnSpLocks/>
          </p:cNvCxnSpPr>
          <p:nvPr/>
        </p:nvCxnSpPr>
        <p:spPr>
          <a:xfrm flipV="1">
            <a:off x="4996575" y="3021014"/>
            <a:ext cx="974730" cy="544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2C9CF28-3EB5-062C-AADE-30743F7D6CDF}"/>
              </a:ext>
            </a:extLst>
          </p:cNvPr>
          <p:cNvCxnSpPr>
            <a:cxnSpLocks/>
            <a:stCxn id="40" idx="6"/>
            <a:endCxn id="17" idx="2"/>
          </p:cNvCxnSpPr>
          <p:nvPr/>
        </p:nvCxnSpPr>
        <p:spPr>
          <a:xfrm>
            <a:off x="5309156" y="2824950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6EB6BB5-3F98-087E-1EA0-71D2E1889939}"/>
              </a:ext>
            </a:extLst>
          </p:cNvPr>
          <p:cNvCxnSpPr>
            <a:cxnSpLocks/>
          </p:cNvCxnSpPr>
          <p:nvPr/>
        </p:nvCxnSpPr>
        <p:spPr>
          <a:xfrm>
            <a:off x="4996575" y="3759665"/>
            <a:ext cx="983819" cy="56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BB65777-3B9B-52FB-D1A8-B4CE5E5BAD2D}"/>
                  </a:ext>
                </a:extLst>
              </p:cNvPr>
              <p:cNvSpPr txBox="1"/>
              <p:nvPr/>
            </p:nvSpPr>
            <p:spPr>
              <a:xfrm>
                <a:off x="8598034" y="1690688"/>
                <a:ext cx="225125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𝒉</m:t>
                    </m:r>
                  </m:oMath>
                </a14:m>
                <a:r>
                  <a:rPr lang="en-US" dirty="0"/>
                  <a:t> is </a:t>
                </a:r>
              </a:p>
              <a:p>
                <a:r>
                  <a:rPr lang="en-US" dirty="0"/>
                  <a:t>“fully connected”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5BB65777-3B9B-52FB-D1A8-B4CE5E5BA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34" y="1690688"/>
                <a:ext cx="2251257" cy="646331"/>
              </a:xfrm>
              <a:prstGeom prst="rect">
                <a:avLst/>
              </a:prstGeom>
              <a:blipFill>
                <a:blip r:embed="rId10"/>
                <a:stretch>
                  <a:fillRect l="-2235" t="-192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CCA5DA4-5A18-17DE-06A9-5523A0CAF41B}"/>
                  </a:ext>
                </a:extLst>
              </p:cNvPr>
              <p:cNvSpPr txBox="1"/>
              <p:nvPr/>
            </p:nvSpPr>
            <p:spPr>
              <a:xfrm>
                <a:off x="8598034" y="4647064"/>
                <a:ext cx="3042436" cy="13849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endParaRPr lang="en-U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CCA5DA4-5A18-17DE-06A9-5523A0CAF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8034" y="4647064"/>
                <a:ext cx="3042436" cy="1384995"/>
              </a:xfrm>
              <a:prstGeom prst="rect">
                <a:avLst/>
              </a:prstGeom>
              <a:blipFill>
                <a:blip r:embed="rId11"/>
                <a:stretch>
                  <a:fillRect l="-2490"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04EA42A-0FB9-31EE-EF97-DE931578F334}"/>
              </a:ext>
            </a:extLst>
          </p:cNvPr>
          <p:cNvSpPr txBox="1"/>
          <p:nvPr/>
        </p:nvSpPr>
        <p:spPr>
          <a:xfrm>
            <a:off x="3937156" y="341063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82348B-720D-67CA-62A8-F0409FBB2C8F}"/>
              </a:ext>
            </a:extLst>
          </p:cNvPr>
          <p:cNvSpPr txBox="1"/>
          <p:nvPr/>
        </p:nvSpPr>
        <p:spPr>
          <a:xfrm>
            <a:off x="3937156" y="427773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4A5328-5B7B-82B7-4EBC-BC91CECCE5C7}"/>
              </a:ext>
            </a:extLst>
          </p:cNvPr>
          <p:cNvSpPr txBox="1"/>
          <p:nvPr/>
        </p:nvSpPr>
        <p:spPr>
          <a:xfrm>
            <a:off x="3937156" y="2636067"/>
            <a:ext cx="38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7A51F92-B9FB-C49F-ABB5-DB1C2FFFF37E}"/>
                  </a:ext>
                </a:extLst>
              </p:cNvPr>
              <p:cNvSpPr/>
              <p:nvPr/>
            </p:nvSpPr>
            <p:spPr>
              <a:xfrm>
                <a:off x="2954943" y="236775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7A51F92-B9FB-C49F-ABB5-DB1C2FFFF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943" y="2367750"/>
                <a:ext cx="914400" cy="9144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9EFEBE0-C4F9-D629-1388-A001883739BC}"/>
                  </a:ext>
                </a:extLst>
              </p:cNvPr>
              <p:cNvSpPr/>
              <p:nvPr/>
            </p:nvSpPr>
            <p:spPr>
              <a:xfrm>
                <a:off x="2954943" y="404301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9EFEBE0-C4F9-D629-1388-A001883739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943" y="4043014"/>
                <a:ext cx="914400" cy="9144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EC77C720-1882-52AD-0470-D096223D2E20}"/>
              </a:ext>
            </a:extLst>
          </p:cNvPr>
          <p:cNvSpPr txBox="1"/>
          <p:nvPr/>
        </p:nvSpPr>
        <p:spPr>
          <a:xfrm rot="5400000">
            <a:off x="3273920" y="34779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0219F01-1AB0-D002-33B7-18DB2B5E6DAD}"/>
                  </a:ext>
                </a:extLst>
              </p:cNvPr>
              <p:cNvSpPr/>
              <p:nvPr/>
            </p:nvSpPr>
            <p:spPr>
              <a:xfrm>
                <a:off x="1411681" y="236775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0219F01-1AB0-D002-33B7-18DB2B5E6D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681" y="2367750"/>
                <a:ext cx="914400" cy="9144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3F6B881-6C36-51C2-E97A-3C4F48E37E3A}"/>
                  </a:ext>
                </a:extLst>
              </p:cNvPr>
              <p:cNvSpPr/>
              <p:nvPr/>
            </p:nvSpPr>
            <p:spPr>
              <a:xfrm>
                <a:off x="1411681" y="404301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03F6B881-6C36-51C2-E97A-3C4F48E37E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681" y="4043014"/>
                <a:ext cx="914400" cy="9144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282B5658-4D5B-9DD1-1604-EBDEA4B85C65}"/>
              </a:ext>
            </a:extLst>
          </p:cNvPr>
          <p:cNvSpPr txBox="1"/>
          <p:nvPr/>
        </p:nvSpPr>
        <p:spPr>
          <a:xfrm rot="5400000">
            <a:off x="1730658" y="347791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5E5D031-540F-2B0B-5C61-DBB019B018C9}"/>
              </a:ext>
            </a:extLst>
          </p:cNvPr>
          <p:cNvCxnSpPr>
            <a:cxnSpLocks/>
          </p:cNvCxnSpPr>
          <p:nvPr/>
        </p:nvCxnSpPr>
        <p:spPr>
          <a:xfrm>
            <a:off x="2296112" y="3021014"/>
            <a:ext cx="1038759" cy="51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CF7A082-9B4E-9398-4D5D-D5CB345323E1}"/>
              </a:ext>
            </a:extLst>
          </p:cNvPr>
          <p:cNvCxnSpPr>
            <a:cxnSpLocks/>
          </p:cNvCxnSpPr>
          <p:nvPr/>
        </p:nvCxnSpPr>
        <p:spPr>
          <a:xfrm flipV="1">
            <a:off x="2296112" y="3739350"/>
            <a:ext cx="1047703" cy="576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309D6D0-1DAD-62D8-94E5-93D4446A36AF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2099350" y="3662582"/>
            <a:ext cx="11808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7B7321-3A62-7F17-9AD0-0F087CDF6F5B}"/>
              </a:ext>
            </a:extLst>
          </p:cNvPr>
          <p:cNvCxnSpPr>
            <a:cxnSpLocks/>
            <a:stCxn id="27" idx="5"/>
            <a:endCxn id="24" idx="1"/>
          </p:cNvCxnSpPr>
          <p:nvPr/>
        </p:nvCxnSpPr>
        <p:spPr>
          <a:xfrm>
            <a:off x="2192170" y="314823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45FCC71-9C1C-6FB8-90F4-302CC3D0BFB3}"/>
              </a:ext>
            </a:extLst>
          </p:cNvPr>
          <p:cNvCxnSpPr>
            <a:cxnSpLocks/>
            <a:stCxn id="34" idx="7"/>
            <a:endCxn id="23" idx="3"/>
          </p:cNvCxnSpPr>
          <p:nvPr/>
        </p:nvCxnSpPr>
        <p:spPr>
          <a:xfrm flipV="1">
            <a:off x="2192170" y="314823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5B3754B-80DE-934B-8687-05735711BB52}"/>
              </a:ext>
            </a:extLst>
          </p:cNvPr>
          <p:cNvCxnSpPr>
            <a:cxnSpLocks/>
            <a:stCxn id="34" idx="6"/>
            <a:endCxn id="24" idx="2"/>
          </p:cNvCxnSpPr>
          <p:nvPr/>
        </p:nvCxnSpPr>
        <p:spPr>
          <a:xfrm>
            <a:off x="2326081" y="4500214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30B697-261A-2515-0006-5D28F64BC42F}"/>
              </a:ext>
            </a:extLst>
          </p:cNvPr>
          <p:cNvCxnSpPr>
            <a:cxnSpLocks/>
          </p:cNvCxnSpPr>
          <p:nvPr/>
        </p:nvCxnSpPr>
        <p:spPr>
          <a:xfrm flipV="1">
            <a:off x="2013500" y="3021014"/>
            <a:ext cx="974730" cy="544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99CE3AB-B9EE-51CE-B7E7-2544923F96E8}"/>
              </a:ext>
            </a:extLst>
          </p:cNvPr>
          <p:cNvCxnSpPr>
            <a:cxnSpLocks/>
            <a:stCxn id="27" idx="6"/>
            <a:endCxn id="23" idx="2"/>
          </p:cNvCxnSpPr>
          <p:nvPr/>
        </p:nvCxnSpPr>
        <p:spPr>
          <a:xfrm>
            <a:off x="2326081" y="2824950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DB0AE27-29F9-FDCE-D806-C752D1AE270C}"/>
              </a:ext>
            </a:extLst>
          </p:cNvPr>
          <p:cNvCxnSpPr>
            <a:cxnSpLocks/>
          </p:cNvCxnSpPr>
          <p:nvPr/>
        </p:nvCxnSpPr>
        <p:spPr>
          <a:xfrm>
            <a:off x="2013500" y="3759665"/>
            <a:ext cx="983819" cy="56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BF69F3-8CE6-67A4-0054-A92F05986B8A}"/>
              </a:ext>
            </a:extLst>
          </p:cNvPr>
          <p:cNvSpPr txBox="1"/>
          <p:nvPr/>
        </p:nvSpPr>
        <p:spPr>
          <a:xfrm>
            <a:off x="1411681" y="5533612"/>
            <a:ext cx="39851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Note</a:t>
            </a:r>
            <a:r>
              <a:rPr lang="en-US" dirty="0"/>
              <a:t>: layers can have different numbers </a:t>
            </a:r>
          </a:p>
          <a:p>
            <a:r>
              <a:rPr lang="en-US" dirty="0"/>
              <a:t>of </a:t>
            </a:r>
            <a:r>
              <a:rPr lang="en-US" i="1" dirty="0"/>
              <a:t>hidden units </a:t>
            </a:r>
            <a:r>
              <a:rPr lang="en-US" dirty="0"/>
              <a:t>(i.e. neurons)</a:t>
            </a:r>
          </a:p>
        </p:txBody>
      </p:sp>
    </p:spTree>
    <p:extLst>
      <p:ext uri="{BB962C8B-B14F-4D97-AF65-F5344CB8AC3E}">
        <p14:creationId xmlns:p14="http://schemas.microsoft.com/office/powerpoint/2010/main" val="3882483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36"/>
    </mc:Choice>
    <mc:Fallback xmlns="">
      <p:transition spd="slow" advTm="10236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E13EE-BAEC-5350-F689-6D8CA20A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back: counting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D2D5A-3908-01C7-9CDF-BB4AB7C1B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3995" y="1455235"/>
            <a:ext cx="9339805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the number of NN parameters scale with: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the width of each hidden layer?</a:t>
            </a:r>
          </a:p>
          <a:p>
            <a:pPr marL="514350" indent="-514350">
              <a:buAutoNum type="alphaLcParenR"/>
            </a:pPr>
            <a:r>
              <a:rPr lang="en-US" dirty="0"/>
              <a:t>the number of hidden layers?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(discuss and report back in a few minutes)</a:t>
            </a:r>
          </a:p>
        </p:txBody>
      </p:sp>
    </p:spTree>
    <p:extLst>
      <p:ext uri="{BB962C8B-B14F-4D97-AF65-F5344CB8AC3E}">
        <p14:creationId xmlns:p14="http://schemas.microsoft.com/office/powerpoint/2010/main" val="1638521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B77B2-3AE2-00B4-A3B5-B16E4D612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37AF-FCB7-0A87-A6F1-C72BCFDD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are universal function approximators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A9F3D1-29BD-AB31-F94A-EAFFB1D284F7}"/>
                  </a:ext>
                </a:extLst>
              </p:cNvPr>
              <p:cNvSpPr txBox="1"/>
              <p:nvPr/>
            </p:nvSpPr>
            <p:spPr>
              <a:xfrm>
                <a:off x="838200" y="1889598"/>
                <a:ext cx="5257800" cy="4476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denote the unit step function: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We’d like to construct a neural network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that approximates a smooth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Our network has a single hidden layer of size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where each h_m is defined as follows: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A9F3D1-29BD-AB31-F94A-EAFFB1D28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89598"/>
                <a:ext cx="5257800" cy="4476610"/>
              </a:xfrm>
              <a:prstGeom prst="rect">
                <a:avLst/>
              </a:prstGeom>
              <a:blipFill>
                <a:blip r:embed="rId3"/>
                <a:stretch>
                  <a:fillRect l="-1205" t="-18362" b="-5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F69038A-109E-A722-A85C-99ED9827068E}"/>
                  </a:ext>
                </a:extLst>
              </p:cNvPr>
              <p:cNvSpPr/>
              <p:nvPr/>
            </p:nvSpPr>
            <p:spPr>
              <a:xfrm>
                <a:off x="7708710" y="2643921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F69038A-109E-A722-A85C-99ED982706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710" y="2643921"/>
                <a:ext cx="914400" cy="9144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8B25C09-FF71-2B64-6D63-7F34B143A89C}"/>
                  </a:ext>
                </a:extLst>
              </p:cNvPr>
              <p:cNvSpPr/>
              <p:nvPr/>
            </p:nvSpPr>
            <p:spPr>
              <a:xfrm>
                <a:off x="7708710" y="4319185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C8B25C09-FF71-2B64-6D63-7F34B143A8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8710" y="4319185"/>
                <a:ext cx="914400" cy="9144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0F0ADA6-DB6E-D40C-DCC5-BD0F88C242FC}"/>
              </a:ext>
            </a:extLst>
          </p:cNvPr>
          <p:cNvSpPr txBox="1"/>
          <p:nvPr/>
        </p:nvSpPr>
        <p:spPr>
          <a:xfrm rot="5400000">
            <a:off x="8027687" y="375408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8C49D5-C9CA-6842-1D90-3F81E6CCAA87}"/>
              </a:ext>
            </a:extLst>
          </p:cNvPr>
          <p:cNvCxnSpPr>
            <a:cxnSpLocks/>
            <a:stCxn id="3" idx="6"/>
            <a:endCxn id="12" idx="1"/>
          </p:cNvCxnSpPr>
          <p:nvPr/>
        </p:nvCxnSpPr>
        <p:spPr>
          <a:xfrm>
            <a:off x="8623110" y="3101121"/>
            <a:ext cx="542934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8ADA587-E0A0-0F24-B2AA-21F5D98C01DD}"/>
              </a:ext>
            </a:extLst>
          </p:cNvPr>
          <p:cNvCxnSpPr>
            <a:cxnSpLocks/>
            <a:stCxn id="5" idx="6"/>
            <a:endCxn id="12" idx="3"/>
          </p:cNvCxnSpPr>
          <p:nvPr/>
        </p:nvCxnSpPr>
        <p:spPr>
          <a:xfrm flipV="1">
            <a:off x="8623110" y="4255788"/>
            <a:ext cx="542934" cy="5205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CA5A43-BE4D-4EBF-2387-04CFCAB54A51}"/>
              </a:ext>
            </a:extLst>
          </p:cNvPr>
          <p:cNvCxnSpPr>
            <a:cxnSpLocks/>
            <a:stCxn id="6" idx="0"/>
            <a:endCxn id="12" idx="2"/>
          </p:cNvCxnSpPr>
          <p:nvPr/>
        </p:nvCxnSpPr>
        <p:spPr>
          <a:xfrm flipV="1">
            <a:off x="8403271" y="3932499"/>
            <a:ext cx="628862" cy="6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957D66-1B4E-E1FC-68FF-BFC129FA043F}"/>
                  </a:ext>
                </a:extLst>
              </p:cNvPr>
              <p:cNvSpPr txBox="1"/>
              <p:nvPr/>
            </p:nvSpPr>
            <p:spPr>
              <a:xfrm>
                <a:off x="10368726" y="3754087"/>
                <a:ext cx="6719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957D66-1B4E-E1FC-68FF-BFC129FA0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8726" y="3754087"/>
                <a:ext cx="671979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F9FE1A5-89E1-F7B3-31AC-3ECC0094288F}"/>
              </a:ext>
            </a:extLst>
          </p:cNvPr>
          <p:cNvCxnSpPr>
            <a:cxnSpLocks/>
          </p:cNvCxnSpPr>
          <p:nvPr/>
        </p:nvCxnSpPr>
        <p:spPr>
          <a:xfrm>
            <a:off x="9942871" y="3949093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DFF7A00-B937-8271-869F-3F638FC7BCB6}"/>
                  </a:ext>
                </a:extLst>
              </p:cNvPr>
              <p:cNvSpPr/>
              <p:nvPr/>
            </p:nvSpPr>
            <p:spPr>
              <a:xfrm>
                <a:off x="9032133" y="3475299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60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DFF7A00-B937-8271-869F-3F638FC7BC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133" y="3475299"/>
                <a:ext cx="914400" cy="914400"/>
              </a:xfrm>
              <a:prstGeom prst="ellipse">
                <a:avLst/>
              </a:prstGeom>
              <a:blipFill>
                <a:blip r:embed="rId7"/>
                <a:stretch>
                  <a:fillRect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901810B-45FF-C0E1-BB41-B17DB5E6E753}"/>
                  </a:ext>
                </a:extLst>
              </p:cNvPr>
              <p:cNvSpPr/>
              <p:nvPr/>
            </p:nvSpPr>
            <p:spPr>
              <a:xfrm>
                <a:off x="6292087" y="3491893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1901810B-45FF-C0E1-BB41-B17DB5E6E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087" y="3491893"/>
                <a:ext cx="914400" cy="9144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B827AEC-685E-1A6C-71F7-C201877FA61C}"/>
              </a:ext>
            </a:extLst>
          </p:cNvPr>
          <p:cNvCxnSpPr>
            <a:cxnSpLocks/>
            <a:stCxn id="14" idx="6"/>
            <a:endCxn id="6" idx="2"/>
          </p:cNvCxnSpPr>
          <p:nvPr/>
        </p:nvCxnSpPr>
        <p:spPr>
          <a:xfrm flipV="1">
            <a:off x="7206487" y="3938753"/>
            <a:ext cx="827452" cy="103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DDF429-859C-8CDC-40A4-BCA9866F5BAB}"/>
              </a:ext>
            </a:extLst>
          </p:cNvPr>
          <p:cNvCxnSpPr>
            <a:cxnSpLocks/>
            <a:stCxn id="14" idx="7"/>
            <a:endCxn id="3" idx="2"/>
          </p:cNvCxnSpPr>
          <p:nvPr/>
        </p:nvCxnSpPr>
        <p:spPr>
          <a:xfrm flipV="1">
            <a:off x="7072576" y="3101121"/>
            <a:ext cx="636134" cy="524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F7016F6-2610-60D9-C25D-1477F3EF4216}"/>
              </a:ext>
            </a:extLst>
          </p:cNvPr>
          <p:cNvCxnSpPr>
            <a:cxnSpLocks/>
            <a:stCxn id="14" idx="5"/>
            <a:endCxn id="5" idx="2"/>
          </p:cNvCxnSpPr>
          <p:nvPr/>
        </p:nvCxnSpPr>
        <p:spPr>
          <a:xfrm>
            <a:off x="7072576" y="4272382"/>
            <a:ext cx="636134" cy="504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475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EA3CE-F443-6146-62D7-6C3155C8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B42C-97A9-45BF-CB3A-755496AE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are universal function approximators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E03827-85D8-426C-478D-118D19B337BF}"/>
                  </a:ext>
                </a:extLst>
              </p:cNvPr>
              <p:cNvSpPr txBox="1"/>
              <p:nvPr/>
            </p:nvSpPr>
            <p:spPr>
              <a:xfrm>
                <a:off x="838200" y="1889598"/>
                <a:ext cx="5257800" cy="4476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denote the unit step function: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We’d like to construct a neural network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that approximates a smooth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Our network has a single hidden layer of size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where each h_m is defined as follows: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E03827-85D8-426C-478D-118D19B33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89598"/>
                <a:ext cx="5257800" cy="4476610"/>
              </a:xfrm>
              <a:prstGeom prst="rect">
                <a:avLst/>
              </a:prstGeom>
              <a:blipFill>
                <a:blip r:embed="rId3"/>
                <a:stretch>
                  <a:fillRect l="-1205" t="-18362" b="-5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5F745AD5-2473-C6F7-C26E-3139F331D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5552" y="1459188"/>
            <a:ext cx="5854700" cy="439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757C7E-C1B0-94F4-55A0-08CC2431F1B5}"/>
                  </a:ext>
                </a:extLst>
              </p:cNvPr>
              <p:cNvSpPr txBox="1"/>
              <p:nvPr/>
            </p:nvSpPr>
            <p:spPr>
              <a:xfrm>
                <a:off x="6525871" y="5974562"/>
                <a:ext cx="453406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u="sng" dirty="0"/>
                  <a:t>Consider</a:t>
                </a:r>
                <a:r>
                  <a:rPr lang="en-US" dirty="0"/>
                  <a:t>: what are the associated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757C7E-C1B0-94F4-55A0-08CC2431F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871" y="5974562"/>
                <a:ext cx="4534062" cy="391646"/>
              </a:xfrm>
              <a:prstGeom prst="rect">
                <a:avLst/>
              </a:prstGeom>
              <a:blipFill>
                <a:blip r:embed="rId5"/>
                <a:stretch>
                  <a:fillRect l="-1401" t="-6250" r="-28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74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0F524-C75D-4C00-4E11-9CF3EBF6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24BF-E9B5-91AD-39A1-C7D232F5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are universal function approximators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B1AE36-1421-F663-6FBE-BDC33D8412F7}"/>
                  </a:ext>
                </a:extLst>
              </p:cNvPr>
              <p:cNvSpPr txBox="1"/>
              <p:nvPr/>
            </p:nvSpPr>
            <p:spPr>
              <a:xfrm>
                <a:off x="838200" y="1889598"/>
                <a:ext cx="5257800" cy="4476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denote the unit step function: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We’d like to construct a neural network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that approximates a smooth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Our network has a single hidden layer of size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where each h_m is defined as follows: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B1AE36-1421-F663-6FBE-BDC33D8412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89598"/>
                <a:ext cx="5257800" cy="4476610"/>
              </a:xfrm>
              <a:prstGeom prst="rect">
                <a:avLst/>
              </a:prstGeom>
              <a:blipFill>
                <a:blip r:embed="rId3"/>
                <a:stretch>
                  <a:fillRect l="-1205" t="-18362" b="-5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6D9BB392-DFEB-DD33-142B-FEE2B10845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65552" y="1459188"/>
            <a:ext cx="5854700" cy="439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B308E7-67E0-EE01-AB2F-2C63E90A9C0B}"/>
                  </a:ext>
                </a:extLst>
              </p:cNvPr>
              <p:cNvSpPr txBox="1"/>
              <p:nvPr/>
            </p:nvSpPr>
            <p:spPr>
              <a:xfrm>
                <a:off x="6525871" y="5974562"/>
                <a:ext cx="453406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u="sng" dirty="0"/>
                  <a:t>Consider</a:t>
                </a:r>
                <a:r>
                  <a:rPr lang="en-US" dirty="0"/>
                  <a:t>: what are the associated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2B308E7-67E0-EE01-AB2F-2C63E90A9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871" y="5974562"/>
                <a:ext cx="4534062" cy="391646"/>
              </a:xfrm>
              <a:prstGeom prst="rect">
                <a:avLst/>
              </a:prstGeom>
              <a:blipFill>
                <a:blip r:embed="rId5"/>
                <a:stretch>
                  <a:fillRect l="-1401" t="-6250" r="-28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6822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15FA4-EFAE-1A63-2310-F2514A346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664A4-6F8A-B840-4386-76863E667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 are universal function approximators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08A1EF-4B5E-F0D5-382F-900A49862B1B}"/>
                  </a:ext>
                </a:extLst>
              </p:cNvPr>
              <p:cNvSpPr txBox="1"/>
              <p:nvPr/>
            </p:nvSpPr>
            <p:spPr>
              <a:xfrm>
                <a:off x="838200" y="1889598"/>
                <a:ext cx="5257800" cy="4476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denote the unit step function: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We’d like to construct a neural network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that approximates a smooth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[0,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Our network has a single hidden layer of size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where each h_m is defined as follows: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US" dirty="0"/>
                  <a:t>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08A1EF-4B5E-F0D5-382F-900A49862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89598"/>
                <a:ext cx="5257800" cy="4476610"/>
              </a:xfrm>
              <a:prstGeom prst="rect">
                <a:avLst/>
              </a:prstGeom>
              <a:blipFill>
                <a:blip r:embed="rId3"/>
                <a:stretch>
                  <a:fillRect l="-1205" t="-18362" b="-52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A64BE778-12B2-62B6-1F11-8AFDDC5EA7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65552" y="1459188"/>
            <a:ext cx="5854700" cy="4394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ABB8AE-D96A-F8F4-99A1-CEE98FA20FFB}"/>
                  </a:ext>
                </a:extLst>
              </p:cNvPr>
              <p:cNvSpPr txBox="1"/>
              <p:nvPr/>
            </p:nvSpPr>
            <p:spPr>
              <a:xfrm>
                <a:off x="6525871" y="5974562"/>
                <a:ext cx="453406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u="sng" dirty="0"/>
                  <a:t>Consider</a:t>
                </a:r>
                <a:r>
                  <a:rPr lang="en-US" dirty="0"/>
                  <a:t>: what are the associated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ABB8AE-D96A-F8F4-99A1-CEE98FA20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871" y="5974562"/>
                <a:ext cx="4534062" cy="391646"/>
              </a:xfrm>
              <a:prstGeom prst="rect">
                <a:avLst/>
              </a:prstGeom>
              <a:blipFill>
                <a:blip r:embed="rId5"/>
                <a:stretch>
                  <a:fillRect l="-1401" t="-6250" r="-28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9924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CB1BFBA5-1905-DE96-8249-13EF4D37C5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8600" y="1690688"/>
            <a:ext cx="7315200" cy="502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8D993F-C151-ED27-6948-534733E1A6A8}"/>
              </a:ext>
            </a:extLst>
          </p:cNvPr>
          <p:cNvSpPr txBox="1"/>
          <p:nvPr/>
        </p:nvSpPr>
        <p:spPr>
          <a:xfrm>
            <a:off x="838200" y="1895084"/>
            <a:ext cx="29807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Question</a:t>
            </a:r>
            <a:r>
              <a:rPr lang="en-US" dirty="0"/>
              <a:t>: Can logistic regression classify all points correctly?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6D43625-B3B9-2225-027F-D4B27BD5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Neural networks are perfect classifiers</a:t>
            </a:r>
          </a:p>
        </p:txBody>
      </p:sp>
    </p:spTree>
    <p:extLst>
      <p:ext uri="{BB962C8B-B14F-4D97-AF65-F5344CB8AC3E}">
        <p14:creationId xmlns:p14="http://schemas.microsoft.com/office/powerpoint/2010/main" val="16192367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CB1BFBA5-1905-DE96-8249-13EF4D37C5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8600" y="1690688"/>
            <a:ext cx="7315200" cy="502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8D993F-C151-ED27-6948-534733E1A6A8}"/>
              </a:ext>
            </a:extLst>
          </p:cNvPr>
          <p:cNvSpPr txBox="1"/>
          <p:nvPr/>
        </p:nvSpPr>
        <p:spPr>
          <a:xfrm>
            <a:off x="838200" y="1895084"/>
            <a:ext cx="298076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Question</a:t>
            </a:r>
            <a:r>
              <a:rPr lang="en-US" dirty="0"/>
              <a:t>: Can logistic regression classify all points correctly?</a:t>
            </a:r>
          </a:p>
          <a:p>
            <a:endParaRPr lang="en-US" dirty="0"/>
          </a:p>
          <a:p>
            <a:r>
              <a:rPr lang="en-US" u="sng" dirty="0"/>
              <a:t>Answer:</a:t>
            </a:r>
            <a:r>
              <a:rPr lang="en-US" dirty="0"/>
              <a:t> No. There is no line that perfectly separates the blue and orange points.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dirty="0"/>
              <a:t>*note that here we have </a:t>
            </a:r>
            <a:r>
              <a:rPr lang="en-US" sz="1600" dirty="0" err="1"/>
              <a:t>num_points</a:t>
            </a:r>
            <a:r>
              <a:rPr lang="en-US" sz="1600" dirty="0"/>
              <a:t> &gt;&gt; </a:t>
            </a:r>
            <a:r>
              <a:rPr lang="en-US" sz="1600" dirty="0" err="1"/>
              <a:t>num_features</a:t>
            </a:r>
            <a:endParaRPr lang="en-US" sz="1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571C18-4DCE-B48E-90D5-25699BC9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Neural networks are perfect classifiers</a:t>
            </a:r>
          </a:p>
        </p:txBody>
      </p:sp>
    </p:spTree>
    <p:extLst>
      <p:ext uri="{BB962C8B-B14F-4D97-AF65-F5344CB8AC3E}">
        <p14:creationId xmlns:p14="http://schemas.microsoft.com/office/powerpoint/2010/main" val="11385151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CB1BFBA5-1905-DE96-8249-13EF4D37C5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8600" y="1690688"/>
            <a:ext cx="7315200" cy="502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8D993F-C151-ED27-6948-534733E1A6A8}"/>
              </a:ext>
            </a:extLst>
          </p:cNvPr>
          <p:cNvSpPr txBox="1"/>
          <p:nvPr/>
        </p:nvSpPr>
        <p:spPr>
          <a:xfrm>
            <a:off x="838200" y="1895084"/>
            <a:ext cx="29807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Question</a:t>
            </a:r>
            <a:r>
              <a:rPr lang="en-US" dirty="0"/>
              <a:t>: Can a neural network classify all points correctly?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7671246-A6B1-CF34-B0E8-1C71B40E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Neural networks are perfect classifiers</a:t>
            </a:r>
          </a:p>
        </p:txBody>
      </p:sp>
    </p:spTree>
    <p:extLst>
      <p:ext uri="{BB962C8B-B14F-4D97-AF65-F5344CB8AC3E}">
        <p14:creationId xmlns:p14="http://schemas.microsoft.com/office/powerpoint/2010/main" val="29149537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art, scatter chart&#10;&#10;Description automatically generated">
            <a:extLst>
              <a:ext uri="{FF2B5EF4-FFF2-40B4-BE49-F238E27FC236}">
                <a16:creationId xmlns:a16="http://schemas.microsoft.com/office/drawing/2014/main" id="{CB1BFBA5-1905-DE96-8249-13EF4D37C59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38600" y="1690688"/>
            <a:ext cx="7315200" cy="5029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8D993F-C151-ED27-6948-534733E1A6A8}"/>
              </a:ext>
            </a:extLst>
          </p:cNvPr>
          <p:cNvSpPr txBox="1"/>
          <p:nvPr/>
        </p:nvSpPr>
        <p:spPr>
          <a:xfrm>
            <a:off x="838200" y="1895084"/>
            <a:ext cx="29807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Question</a:t>
            </a:r>
            <a:r>
              <a:rPr lang="en-US" dirty="0"/>
              <a:t>: Can a neural network classify all points correctly?</a:t>
            </a:r>
          </a:p>
          <a:p>
            <a:endParaRPr lang="en-US" dirty="0"/>
          </a:p>
          <a:p>
            <a:r>
              <a:rPr lang="en-US" u="sng" dirty="0"/>
              <a:t>Answer:</a:t>
            </a:r>
            <a:r>
              <a:rPr lang="en-US" dirty="0"/>
              <a:t> Yes… like so </a:t>
            </a:r>
            <a:r>
              <a:rPr lang="en-US" dirty="0">
                <a:sym typeface="Wingdings" pitchFamily="2" charset="2"/>
              </a:rPr>
              <a:t>--&gt;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2E2FD99-F056-3376-BADD-C55A9C577626}"/>
                  </a:ext>
                </a:extLst>
              </p14:cNvPr>
              <p14:cNvContentPartPr/>
              <p14:nvPr/>
            </p14:nvContentPartPr>
            <p14:xfrm>
              <a:off x="4504665" y="1618386"/>
              <a:ext cx="6348960" cy="4152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2E2FD99-F056-3376-BADD-C55A9C5776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5665" y="1609746"/>
                <a:ext cx="6366600" cy="41702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6D8E2CB1-B20D-91D9-A33C-96B9E7842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Neural networks are perfect classifiers</a:t>
            </a:r>
          </a:p>
        </p:txBody>
      </p:sp>
    </p:spTree>
    <p:extLst>
      <p:ext uri="{BB962C8B-B14F-4D97-AF65-F5344CB8AC3E}">
        <p14:creationId xmlns:p14="http://schemas.microsoft.com/office/powerpoint/2010/main" val="2139147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D2F9C-39EB-1A5E-4607-F65E27D77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practical importance of this?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Flexible enough to solve real, difficult problems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0C4E32-AF2E-F6FA-314F-74729EBFD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Neural networks are perfect classifiers</a:t>
            </a:r>
          </a:p>
        </p:txBody>
      </p:sp>
    </p:spTree>
    <p:extLst>
      <p:ext uri="{BB962C8B-B14F-4D97-AF65-F5344CB8AC3E}">
        <p14:creationId xmlns:p14="http://schemas.microsoft.com/office/powerpoint/2010/main" val="363957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18DCB-911C-5777-5F46-122556F67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FAA3A-26A6-9F85-A655-55D74388D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practical importance of this?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Flexible enough to solve real, difficult problems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  <a:p>
            <a:pPr marL="514350" indent="-514350">
              <a:buAutoNum type="arabicParenR"/>
            </a:pPr>
            <a:endParaRPr lang="en-US" dirty="0"/>
          </a:p>
          <a:p>
            <a:pPr marL="514350" indent="-514350">
              <a:buAutoNum type="arabicParenR"/>
            </a:pPr>
            <a:r>
              <a:rPr lang="en-US" dirty="0"/>
              <a:t>So flexible that they can easily overfit datasets </a:t>
            </a:r>
            <a:r>
              <a:rPr lang="en-US" dirty="0">
                <a:sym typeface="Wingdings" pitchFamily="2" charset="2"/>
              </a:rPr>
              <a:t>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105228-121F-A956-4DAC-1A80266AD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Neural networks are perfect classifiers</a:t>
            </a:r>
          </a:p>
        </p:txBody>
      </p:sp>
    </p:spTree>
    <p:extLst>
      <p:ext uri="{BB962C8B-B14F-4D97-AF65-F5344CB8AC3E}">
        <p14:creationId xmlns:p14="http://schemas.microsoft.com/office/powerpoint/2010/main" val="7489993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2B7AB-1568-10B6-0F40-A62A34332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C07F-DD6C-7845-9860-C7B66E19E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back: adding an intervening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4FAC2D-DC75-3A51-E4DD-C33C87864C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26097" y="1910607"/>
                <a:ext cx="9339805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a fully connected neural network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hidden layers. Suppose not all layers contain the same number of hidden units, and write the number of hidden units in a given layer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then modify the architecture by placing a new 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containing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hidden units between layers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 does the number of parameters in the network change?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(discuss and report back in a few minutes)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4FAC2D-DC75-3A51-E4DD-C33C87864C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6097" y="1910607"/>
                <a:ext cx="9339805" cy="4351338"/>
              </a:xfrm>
              <a:blipFill>
                <a:blip r:embed="rId3"/>
                <a:stretch>
                  <a:fillRect l="-1223" t="-2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5381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F9F63-75FC-C0A0-E8B7-8284E5B5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Why depth over width?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F8ECD-3D16-546B-15D8-CCB376C65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967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936D6-ECDD-BADD-6B90-0CA893725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EF4A3-33E8-BDEF-D005-A470CC585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Q: Why depth over width?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B3EE8-4BDC-D270-95B8-07CE33E22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A: It is more parameter-efficient!</a:t>
            </a:r>
          </a:p>
        </p:txBody>
      </p:sp>
    </p:spTree>
    <p:extLst>
      <p:ext uri="{BB962C8B-B14F-4D97-AF65-F5344CB8AC3E}">
        <p14:creationId xmlns:p14="http://schemas.microsoft.com/office/powerpoint/2010/main" val="6598678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6DE84-3EDD-8036-3C4E-853C45FAD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for MNIST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9CF02-5741-90A4-908C-6F7F623EE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toward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22636214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76F062-3BA0-6A4F-A05E-6B982E6B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6" y="226922"/>
            <a:ext cx="10960485" cy="1141717"/>
          </a:xfrm>
        </p:spPr>
        <p:txBody>
          <a:bodyPr>
            <a:noAutofit/>
          </a:bodyPr>
          <a:lstStyle/>
          <a:p>
            <a:r>
              <a:rPr lang="en-US" sz="4261" dirty="0"/>
              <a:t>Why Limit Ourselves to Only One Filter?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E2BCDF-DA92-B744-AF04-90C8D7490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881" y="1729096"/>
            <a:ext cx="4077352" cy="4077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29BB11-C21A-7F43-BA77-B70822A28B56}"/>
                  </a:ext>
                </a:extLst>
              </p:cNvPr>
              <p:cNvSpPr txBox="1"/>
              <p:nvPr/>
            </p:nvSpPr>
            <p:spPr>
              <a:xfrm>
                <a:off x="996977" y="3591728"/>
                <a:ext cx="10024235" cy="830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795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sz="4795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795" i="1">
                              <a:latin typeface="Cambria Math" panose="02040503050406030204" pitchFamily="18" charset="0"/>
                            </a:rPr>
                            <m:t>                            ×                                 </m:t>
                          </m:r>
                        </m:e>
                      </m:d>
                    </m:oMath>
                  </m:oMathPara>
                </a14:m>
                <a:endParaRPr lang="en-US" sz="4795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E29BB11-C21A-7F43-BA77-B70822A28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977" y="3591728"/>
                <a:ext cx="10024235" cy="830227"/>
              </a:xfrm>
              <a:prstGeom prst="rect">
                <a:avLst/>
              </a:prstGeom>
              <a:blipFill>
                <a:blip r:embed="rId6"/>
                <a:stretch>
                  <a:fillRect t="-151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0B6B775-C3DF-3E40-9817-0D018BB107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1907" y="1366215"/>
            <a:ext cx="4860549" cy="486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73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116"/>
    </mc:Choice>
    <mc:Fallback xmlns="">
      <p:transition spd="slow" advTm="47116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6A1F3-3EA5-EB41-9766-D0DD2E80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67" dirty="0"/>
              <a:t>Return to MNIST: </a:t>
            </a:r>
            <a:br>
              <a:rPr lang="en-US" sz="4267" dirty="0"/>
            </a:br>
            <a:r>
              <a:rPr lang="en-US" sz="4267" dirty="0"/>
              <a:t>Many ways of writing “4”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F6D06-EFE1-DA47-B069-AD21F2162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64" y="1971096"/>
            <a:ext cx="2347425" cy="2347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05A61D-36F7-D54F-8299-DACC4697D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628" y="2370621"/>
            <a:ext cx="2293539" cy="2293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DE1D2A-A06D-FE4B-AD8A-763AD3E00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24" y="3967864"/>
            <a:ext cx="2284781" cy="22847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7A13E6-ADBA-9940-9CF8-90B557A52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2816" y="4318518"/>
            <a:ext cx="2306337" cy="230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86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915"/>
    </mc:Choice>
    <mc:Fallback xmlns="">
      <p:transition spd="slow" advTm="22915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6A1F3-3EA5-EB41-9766-D0DD2E80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67" dirty="0"/>
              <a:t>Return to MNIST: </a:t>
            </a:r>
            <a:br>
              <a:rPr lang="en-US" sz="4267" dirty="0"/>
            </a:br>
            <a:r>
              <a:rPr lang="en-US" sz="4267" dirty="0"/>
              <a:t>Many ways of writing “4”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F6D06-EFE1-DA47-B069-AD21F2162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64" y="1971096"/>
            <a:ext cx="2347425" cy="2347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05A61D-36F7-D54F-8299-DACC4697D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628" y="2370621"/>
            <a:ext cx="2293539" cy="2293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DE1D2A-A06D-FE4B-AD8A-763AD3E00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24" y="3967864"/>
            <a:ext cx="2284781" cy="22847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7A13E6-ADBA-9940-9CF8-90B557A52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2816" y="4318518"/>
            <a:ext cx="2306337" cy="2306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2FC2EB-76DA-604E-BAB5-563EA7C9C73F}"/>
              </a:ext>
            </a:extLst>
          </p:cNvPr>
          <p:cNvSpPr txBox="1"/>
          <p:nvPr/>
        </p:nvSpPr>
        <p:spPr>
          <a:xfrm>
            <a:off x="6126825" y="5056187"/>
            <a:ext cx="5226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single filter (i.e., logistic regression) looks for the average shape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C5FA1-48E1-4B43-835D-81A35BCD95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7144" y="1796473"/>
            <a:ext cx="3226448" cy="322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5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90"/>
    </mc:Choice>
    <mc:Fallback xmlns="">
      <p:transition spd="slow" advTm="2679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30C90355-C0BB-40C8-27DB-5B9D72585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267" dirty="0"/>
              <a:t>A single ‘4’ detector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8FC6B57-AD55-9244-353E-DA225548A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973" y="3270152"/>
            <a:ext cx="3226448" cy="32264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2A87A2-7556-71F5-74AA-035D58313642}"/>
                  </a:ext>
                </a:extLst>
              </p:cNvPr>
              <p:cNvSpPr txBox="1"/>
              <p:nvPr/>
            </p:nvSpPr>
            <p:spPr>
              <a:xfrm>
                <a:off x="9712193" y="4488638"/>
                <a:ext cx="18653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parameters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after reshaping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D2A87A2-7556-71F5-74AA-035D58313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2193" y="4488638"/>
                <a:ext cx="1865376" cy="646331"/>
              </a:xfrm>
              <a:prstGeom prst="rect">
                <a:avLst/>
              </a:prstGeom>
              <a:blipFill>
                <a:blip r:embed="rId4"/>
                <a:stretch>
                  <a:fillRect l="-2703" t="-3846" r="-67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A5DE64E-5D40-3E46-D4DF-E83D7F74E56F}"/>
              </a:ext>
            </a:extLst>
          </p:cNvPr>
          <p:cNvSpPr txBox="1"/>
          <p:nvPr/>
        </p:nvSpPr>
        <p:spPr>
          <a:xfrm>
            <a:off x="6546264" y="1957645"/>
            <a:ext cx="3134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Our model detects images that </a:t>
            </a:r>
          </a:p>
          <a:p>
            <a:r>
              <a:rPr lang="en-US" dirty="0"/>
              <a:t>look like this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C0D6AC-2295-C735-175A-147875FFE744}"/>
              </a:ext>
            </a:extLst>
          </p:cNvPr>
          <p:cNvCxnSpPr>
            <a:cxnSpLocks/>
          </p:cNvCxnSpPr>
          <p:nvPr/>
        </p:nvCxnSpPr>
        <p:spPr>
          <a:xfrm>
            <a:off x="7481420" y="2665697"/>
            <a:ext cx="377790" cy="6465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EC0C5A9A-24F5-ABE4-58D1-A9D7BDDE5B2F}"/>
                  </a:ext>
                </a:extLst>
              </p:cNvPr>
              <p:cNvSpPr/>
              <p:nvPr/>
            </p:nvSpPr>
            <p:spPr>
              <a:xfrm>
                <a:off x="1207257" y="2346997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EC0C5A9A-24F5-ABE4-58D1-A9D7BDDE5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257" y="2346997"/>
                <a:ext cx="914400" cy="9144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DDD38A26-A40C-1C01-A71A-3E707A82ED7A}"/>
                  </a:ext>
                </a:extLst>
              </p:cNvPr>
              <p:cNvSpPr/>
              <p:nvPr/>
            </p:nvSpPr>
            <p:spPr>
              <a:xfrm>
                <a:off x="1207257" y="4022261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DDD38A26-A40C-1C01-A71A-3E707A82ED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7257" y="4022261"/>
                <a:ext cx="914400" cy="9144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DC7AD8A-097A-0548-294A-DB36DCBC3B1D}"/>
              </a:ext>
            </a:extLst>
          </p:cNvPr>
          <p:cNvSpPr txBox="1"/>
          <p:nvPr/>
        </p:nvSpPr>
        <p:spPr>
          <a:xfrm rot="5400000">
            <a:off x="1526234" y="345716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B55CF61-BFE7-A762-C963-8F5341102B18}"/>
              </a:ext>
            </a:extLst>
          </p:cNvPr>
          <p:cNvCxnSpPr>
            <a:cxnSpLocks/>
            <a:stCxn id="2" idx="6"/>
            <a:endCxn id="18" idx="1"/>
          </p:cNvCxnSpPr>
          <p:nvPr/>
        </p:nvCxnSpPr>
        <p:spPr>
          <a:xfrm>
            <a:off x="2121657" y="2804197"/>
            <a:ext cx="1214267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B207BA-9C00-886D-FE18-630F4BA8936E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2121657" y="3958864"/>
            <a:ext cx="1214267" cy="516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188920-7B2B-C9BB-B6BE-1B08EB2D0B41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1901818" y="3641829"/>
            <a:ext cx="1316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C74AEE-8B00-A2C4-19DD-2A01EB599A8D}"/>
                  </a:ext>
                </a:extLst>
              </p:cNvPr>
              <p:cNvSpPr txBox="1"/>
              <p:nvPr/>
            </p:nvSpPr>
            <p:spPr>
              <a:xfrm>
                <a:off x="2294436" y="2665697"/>
                <a:ext cx="83465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C74AEE-8B00-A2C4-19DD-2A01EB599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36" y="2665697"/>
                <a:ext cx="834656" cy="276999"/>
              </a:xfrm>
              <a:prstGeom prst="rect">
                <a:avLst/>
              </a:prstGeom>
              <a:blipFill>
                <a:blip r:embed="rId7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D5DF8D-F260-9EAD-ACBE-31B0F6C2CD37}"/>
                  </a:ext>
                </a:extLst>
              </p:cNvPr>
              <p:cNvSpPr txBox="1"/>
              <p:nvPr/>
            </p:nvSpPr>
            <p:spPr>
              <a:xfrm>
                <a:off x="2294436" y="4337049"/>
                <a:ext cx="83465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D5DF8D-F260-9EAD-ACBE-31B0F6C2C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36" y="4337049"/>
                <a:ext cx="834656" cy="276999"/>
              </a:xfrm>
              <a:prstGeom prst="rect">
                <a:avLst/>
              </a:prstGeom>
              <a:blipFill>
                <a:blip r:embed="rId8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7998C72-DC69-187B-2CE0-854B7E96CEBE}"/>
              </a:ext>
            </a:extLst>
          </p:cNvPr>
          <p:cNvSpPr txBox="1"/>
          <p:nvPr/>
        </p:nvSpPr>
        <p:spPr>
          <a:xfrm>
            <a:off x="3105738" y="4092775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9367F2-D48E-CA89-1AA4-1B1A7B382B23}"/>
                  </a:ext>
                </a:extLst>
              </p:cNvPr>
              <p:cNvSpPr txBox="1"/>
              <p:nvPr/>
            </p:nvSpPr>
            <p:spPr>
              <a:xfrm>
                <a:off x="3774172" y="4092775"/>
                <a:ext cx="135152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sigmoid</a:t>
                </a:r>
              </a:p>
              <a:p>
                <a:r>
                  <a:rPr lang="en-US" dirty="0"/>
                  <a:t>(aka logistic)</a:t>
                </a:r>
              </a:p>
              <a:p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59367F2-D48E-CA89-1AA4-1B1A7B382B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172" y="4092775"/>
                <a:ext cx="1351524" cy="923330"/>
              </a:xfrm>
              <a:prstGeom prst="rect">
                <a:avLst/>
              </a:prstGeom>
              <a:blipFill>
                <a:blip r:embed="rId9"/>
                <a:stretch>
                  <a:fillRect l="-3738" t="-2703" r="-2804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856296-3B61-FBDE-158F-2BBC1DE170C8}"/>
                  </a:ext>
                </a:extLst>
              </p:cNvPr>
              <p:cNvSpPr txBox="1"/>
              <p:nvPr/>
            </p:nvSpPr>
            <p:spPr>
              <a:xfrm>
                <a:off x="4538606" y="3457163"/>
                <a:ext cx="13221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7856296-3B61-FBDE-158F-2BBC1DE17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606" y="3457163"/>
                <a:ext cx="1322157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A2AE293-76EF-3DD6-38F6-E2EB51D938B1}"/>
              </a:ext>
            </a:extLst>
          </p:cNvPr>
          <p:cNvCxnSpPr>
            <a:cxnSpLocks/>
          </p:cNvCxnSpPr>
          <p:nvPr/>
        </p:nvCxnSpPr>
        <p:spPr>
          <a:xfrm>
            <a:off x="4112751" y="3652169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CEB3D0-7F24-EEFD-EF11-099857D395E6}"/>
              </a:ext>
            </a:extLst>
          </p:cNvPr>
          <p:cNvGrpSpPr/>
          <p:nvPr/>
        </p:nvGrpSpPr>
        <p:grpSpPr>
          <a:xfrm>
            <a:off x="3202013" y="3178375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DB2277F-7006-2D11-72F4-FDF9C7D10BD3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DB2277F-7006-2D11-72F4-FDF9C7D10B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1"/>
                  <a:stretch>
                    <a:fillRect r="-94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7C675EC-550D-436D-6097-864350B2C739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3E21787-2EC3-5ACE-5B9E-F15FCD372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868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36"/>
    </mc:Choice>
    <mc:Fallback xmlns="">
      <p:transition spd="slow" advTm="10236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6A1F3-3EA5-EB41-9766-D0DD2E80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67" dirty="0"/>
              <a:t>Return to MNIST: </a:t>
            </a:r>
            <a:br>
              <a:rPr lang="en-US" sz="4267" dirty="0"/>
            </a:br>
            <a:r>
              <a:rPr lang="en-US" sz="4267" dirty="0"/>
              <a:t>Many ways of writing “4”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F6D06-EFE1-DA47-B069-AD21F2162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64" y="1971096"/>
            <a:ext cx="2347425" cy="2347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05A61D-36F7-D54F-8299-DACC4697D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1628" y="2370621"/>
            <a:ext cx="2293539" cy="22935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DE1D2A-A06D-FE4B-AD8A-763AD3E00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24" y="3967864"/>
            <a:ext cx="2284781" cy="22847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7A13E6-ADBA-9940-9CF8-90B557A52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2816" y="4318518"/>
            <a:ext cx="2306337" cy="2306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2FC2EB-76DA-604E-BAB5-563EA7C9C73F}"/>
              </a:ext>
            </a:extLst>
          </p:cNvPr>
          <p:cNvSpPr txBox="1"/>
          <p:nvPr/>
        </p:nvSpPr>
        <p:spPr>
          <a:xfrm>
            <a:off x="5682713" y="5471687"/>
            <a:ext cx="5893531" cy="903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36" dirty="0"/>
              <a:t>Multiple filters can look for </a:t>
            </a:r>
            <a:r>
              <a:rPr lang="en-US" sz="2636" i="1" dirty="0"/>
              <a:t>subtypes</a:t>
            </a:r>
            <a:r>
              <a:rPr lang="en-US" sz="2636" dirty="0"/>
              <a:t> indicative of different ways of writing “4”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AE61B0-04A7-0046-9996-3BBBDF5C6B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7188" y="1450499"/>
            <a:ext cx="2474056" cy="24740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E7B36D-FF52-E841-BF1D-E77F10D26F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6878" y="1419898"/>
            <a:ext cx="2496871" cy="24968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91AB7C-579D-6741-86B5-FD1C28D765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6083" y="3391210"/>
            <a:ext cx="2465285" cy="246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4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043"/>
    </mc:Choice>
    <mc:Fallback xmlns="">
      <p:transition spd="slow" advTm="29043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1">
            <a:extLst>
              <a:ext uri="{FF2B5EF4-FFF2-40B4-BE49-F238E27FC236}">
                <a16:creationId xmlns:a16="http://schemas.microsoft.com/office/drawing/2014/main" id="{755AFB6B-AE37-32B4-48BE-92100F34A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pPr algn="r"/>
            <a:r>
              <a:rPr lang="en-US" sz="4267" dirty="0"/>
              <a:t>A more flexible ‘4’ detector</a:t>
            </a:r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37DE0FB7-34E3-C6EC-85F2-E4A51E315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524" y="4050595"/>
            <a:ext cx="1044431" cy="1044431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04303D06-0066-0626-D930-2B303F3C1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192" y="1283143"/>
            <a:ext cx="1044431" cy="1044431"/>
          </a:xfrm>
          <a:prstGeom prst="rect">
            <a:avLst/>
          </a:prstGeom>
        </p:spPr>
      </p:pic>
      <p:pic>
        <p:nvPicPr>
          <p:cNvPr id="98" name="Picture 97">
            <a:extLst>
              <a:ext uri="{FF2B5EF4-FFF2-40B4-BE49-F238E27FC236}">
                <a16:creationId xmlns:a16="http://schemas.microsoft.com/office/drawing/2014/main" id="{79FF957F-AA96-8547-0345-3643ADE6DB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191" y="2671128"/>
            <a:ext cx="1044431" cy="1044431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DB0E9416-2281-4B2C-F14A-E2DCB1487838}"/>
              </a:ext>
            </a:extLst>
          </p:cNvPr>
          <p:cNvSpPr txBox="1"/>
          <p:nvPr/>
        </p:nvSpPr>
        <p:spPr>
          <a:xfrm>
            <a:off x="5200630" y="5167559"/>
            <a:ext cx="32850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now detect images that </a:t>
            </a:r>
          </a:p>
          <a:p>
            <a:r>
              <a:rPr lang="en-US" dirty="0"/>
              <a:t>look like </a:t>
            </a:r>
            <a:r>
              <a:rPr lang="en-US" b="1" u="sng" dirty="0"/>
              <a:t>any</a:t>
            </a:r>
            <a:r>
              <a:rPr lang="en-US" dirty="0"/>
              <a:t> of these “4”s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49F41E5-C190-148F-B2DC-68B3FCC52917}"/>
                  </a:ext>
                </a:extLst>
              </p:cNvPr>
              <p:cNvSpPr/>
              <p:nvPr/>
            </p:nvSpPr>
            <p:spPr>
              <a:xfrm>
                <a:off x="2574737" y="3345978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49F41E5-C190-148F-B2DC-68B3FCC52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737" y="3345978"/>
                <a:ext cx="914400" cy="9144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25F436A-CE29-D184-5E40-859C015554C4}"/>
                  </a:ext>
                </a:extLst>
              </p:cNvPr>
              <p:cNvSpPr/>
              <p:nvPr/>
            </p:nvSpPr>
            <p:spPr>
              <a:xfrm>
                <a:off x="2579008" y="4710112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E25F436A-CE29-D184-5E40-859C015554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008" y="4710112"/>
                <a:ext cx="914400" cy="914400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A2EBED-4E26-870F-B634-3362656256FD}"/>
              </a:ext>
            </a:extLst>
          </p:cNvPr>
          <p:cNvCxnSpPr>
            <a:cxnSpLocks/>
            <a:stCxn id="44" idx="6"/>
            <a:endCxn id="24" idx="1"/>
          </p:cNvCxnSpPr>
          <p:nvPr/>
        </p:nvCxnSpPr>
        <p:spPr>
          <a:xfrm>
            <a:off x="3483959" y="2437439"/>
            <a:ext cx="1716671" cy="10424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00B846-EABA-90A9-783E-23FB9C048415}"/>
              </a:ext>
            </a:extLst>
          </p:cNvPr>
          <p:cNvCxnSpPr>
            <a:cxnSpLocks/>
            <a:stCxn id="10" idx="6"/>
            <a:endCxn id="24" idx="3"/>
          </p:cNvCxnSpPr>
          <p:nvPr/>
        </p:nvCxnSpPr>
        <p:spPr>
          <a:xfrm flipV="1">
            <a:off x="3493408" y="4126467"/>
            <a:ext cx="1707222" cy="10408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7985C0-FA15-5321-998C-DF11FAC16263}"/>
              </a:ext>
            </a:extLst>
          </p:cNvPr>
          <p:cNvCxnSpPr>
            <a:cxnSpLocks/>
            <a:stCxn id="9" idx="6"/>
            <a:endCxn id="24" idx="2"/>
          </p:cNvCxnSpPr>
          <p:nvPr/>
        </p:nvCxnSpPr>
        <p:spPr>
          <a:xfrm>
            <a:off x="3489137" y="3803178"/>
            <a:ext cx="15775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32D714-7006-4ABF-DB05-DEC5EC23712F}"/>
                  </a:ext>
                </a:extLst>
              </p:cNvPr>
              <p:cNvSpPr txBox="1"/>
              <p:nvPr/>
            </p:nvSpPr>
            <p:spPr>
              <a:xfrm>
                <a:off x="6403312" y="3624766"/>
                <a:ext cx="13311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532D714-7006-4ABF-DB05-DEC5EC237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312" y="3624766"/>
                <a:ext cx="1331198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E967F07-5589-3525-64B7-B8B60EC66C81}"/>
              </a:ext>
            </a:extLst>
          </p:cNvPr>
          <p:cNvCxnSpPr>
            <a:cxnSpLocks/>
          </p:cNvCxnSpPr>
          <p:nvPr/>
        </p:nvCxnSpPr>
        <p:spPr>
          <a:xfrm>
            <a:off x="5977457" y="3819772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88F431-16E5-BD3D-13D1-381CCCD38162}"/>
              </a:ext>
            </a:extLst>
          </p:cNvPr>
          <p:cNvGrpSpPr/>
          <p:nvPr/>
        </p:nvGrpSpPr>
        <p:grpSpPr>
          <a:xfrm>
            <a:off x="5066719" y="3345978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71FBF4EC-F041-CD43-E493-24B977C2CE70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71FBF4EC-F041-CD43-E493-24B977C2CE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0"/>
                  <a:stretch>
                    <a:fillRect r="-9459" b="-109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584150A-7B69-C134-E17A-8B89694D92AD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AD20507-702C-7FD3-D309-62FBB9E56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1FA6D63-0BE3-6630-F17D-3C818F0CC566}"/>
                  </a:ext>
                </a:extLst>
              </p:cNvPr>
              <p:cNvSpPr/>
              <p:nvPr/>
            </p:nvSpPr>
            <p:spPr>
              <a:xfrm>
                <a:off x="1030992" y="251460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1FA6D63-0BE3-6630-F17D-3C818F0CC5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992" y="2514600"/>
                <a:ext cx="914400" cy="9144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CB3089C-AF3A-8D0F-C155-7F90C1BBAF5C}"/>
                  </a:ext>
                </a:extLst>
              </p:cNvPr>
              <p:cNvSpPr/>
              <p:nvPr/>
            </p:nvSpPr>
            <p:spPr>
              <a:xfrm>
                <a:off x="1030992" y="418986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6CB3089C-AF3A-8D0F-C155-7F90C1BBAF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992" y="4189864"/>
                <a:ext cx="914400" cy="9144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A783E54C-117F-5076-1BD7-76E73536871F}"/>
              </a:ext>
            </a:extLst>
          </p:cNvPr>
          <p:cNvSpPr txBox="1"/>
          <p:nvPr/>
        </p:nvSpPr>
        <p:spPr>
          <a:xfrm rot="5400000">
            <a:off x="1349969" y="362476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3E9B547-3BE6-0935-BA24-EBA04D5ED8CE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1915423" y="3167864"/>
            <a:ext cx="793225" cy="3120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19C92C1-42AD-9C76-23F1-F44BB2D0CF0A}"/>
              </a:ext>
            </a:extLst>
          </p:cNvPr>
          <p:cNvCxnSpPr>
            <a:cxnSpLocks/>
            <a:endCxn id="9" idx="3"/>
          </p:cNvCxnSpPr>
          <p:nvPr/>
        </p:nvCxnSpPr>
        <p:spPr>
          <a:xfrm flipV="1">
            <a:off x="1915423" y="4126467"/>
            <a:ext cx="793225" cy="3362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6B20F41-97CC-514C-E09C-17E4B2D5CE36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718661" y="3803178"/>
            <a:ext cx="856076" cy="62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0E5D8C8-6631-3320-29FF-DD72ED471ED4}"/>
              </a:ext>
            </a:extLst>
          </p:cNvPr>
          <p:cNvCxnSpPr>
            <a:cxnSpLocks/>
            <a:stCxn id="27" idx="5"/>
            <a:endCxn id="10" idx="1"/>
          </p:cNvCxnSpPr>
          <p:nvPr/>
        </p:nvCxnSpPr>
        <p:spPr>
          <a:xfrm>
            <a:off x="1811481" y="3295089"/>
            <a:ext cx="901438" cy="1548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B92B834-9C98-8B18-7377-43354E721A53}"/>
              </a:ext>
            </a:extLst>
          </p:cNvPr>
          <p:cNvCxnSpPr>
            <a:cxnSpLocks/>
            <a:stCxn id="28" idx="7"/>
            <a:endCxn id="44" idx="3"/>
          </p:cNvCxnSpPr>
          <p:nvPr/>
        </p:nvCxnSpPr>
        <p:spPr>
          <a:xfrm flipV="1">
            <a:off x="1811481" y="2760728"/>
            <a:ext cx="891989" cy="1563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298501C-CE0E-4A3B-E2B9-E106BCF9AC33}"/>
              </a:ext>
            </a:extLst>
          </p:cNvPr>
          <p:cNvCxnSpPr>
            <a:cxnSpLocks/>
            <a:stCxn id="28" idx="6"/>
            <a:endCxn id="10" idx="2"/>
          </p:cNvCxnSpPr>
          <p:nvPr/>
        </p:nvCxnSpPr>
        <p:spPr>
          <a:xfrm>
            <a:off x="1945392" y="4647064"/>
            <a:ext cx="633616" cy="5202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21B3504-C536-0A2A-981F-A7D9DFCC8CC0}"/>
              </a:ext>
            </a:extLst>
          </p:cNvPr>
          <p:cNvCxnSpPr>
            <a:cxnSpLocks/>
          </p:cNvCxnSpPr>
          <p:nvPr/>
        </p:nvCxnSpPr>
        <p:spPr>
          <a:xfrm flipV="1">
            <a:off x="1632811" y="2623395"/>
            <a:ext cx="982988" cy="1088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764F442-B3A6-A8CF-988B-2FBD97BB00EB}"/>
              </a:ext>
            </a:extLst>
          </p:cNvPr>
          <p:cNvCxnSpPr>
            <a:cxnSpLocks/>
            <a:stCxn id="27" idx="6"/>
            <a:endCxn id="44" idx="2"/>
          </p:cNvCxnSpPr>
          <p:nvPr/>
        </p:nvCxnSpPr>
        <p:spPr>
          <a:xfrm flipV="1">
            <a:off x="1945392" y="2437439"/>
            <a:ext cx="624167" cy="534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328910-7625-02D7-D1B1-4734452C197D}"/>
              </a:ext>
            </a:extLst>
          </p:cNvPr>
          <p:cNvCxnSpPr>
            <a:cxnSpLocks/>
          </p:cNvCxnSpPr>
          <p:nvPr/>
        </p:nvCxnSpPr>
        <p:spPr>
          <a:xfrm>
            <a:off x="1632811" y="3906515"/>
            <a:ext cx="1007142" cy="1064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A209248-428E-2884-18C8-7B2F3EE71A1C}"/>
                  </a:ext>
                </a:extLst>
              </p:cNvPr>
              <p:cNvSpPr/>
              <p:nvPr/>
            </p:nvSpPr>
            <p:spPr>
              <a:xfrm>
                <a:off x="2569559" y="1980239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DA209248-428E-2884-18C8-7B2F3EE71A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559" y="1980239"/>
                <a:ext cx="914400" cy="914400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313897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866"/>
    </mc:Choice>
    <mc:Fallback xmlns="">
      <p:transition spd="slow" advTm="76866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D5C8A-0B4D-8E06-C233-654A9A27A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increase flexibility/complexity, we can: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CD64F-6696-B3B1-E5D4-BA1A92FB8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Increase the width (i.e. number of hidden units) in one or more hidden layers (WIDE)</a:t>
            </a:r>
          </a:p>
          <a:p>
            <a:endParaRPr lang="en-US" dirty="0"/>
          </a:p>
          <a:p>
            <a:r>
              <a:rPr lang="en-US" dirty="0"/>
              <a:t>Increase the number of hidden layers (DEEP)</a:t>
            </a:r>
          </a:p>
          <a:p>
            <a:endParaRPr lang="en-US" dirty="0"/>
          </a:p>
          <a:p>
            <a:r>
              <a:rPr lang="en-US" i="1" dirty="0"/>
              <a:t>Deep learning </a:t>
            </a:r>
            <a:r>
              <a:rPr lang="en-US" dirty="0"/>
              <a:t>refers to the latter; we are building a deep hierarchy of features</a:t>
            </a:r>
          </a:p>
        </p:txBody>
      </p:sp>
    </p:spTree>
    <p:extLst>
      <p:ext uri="{BB962C8B-B14F-4D97-AF65-F5344CB8AC3E}">
        <p14:creationId xmlns:p14="http://schemas.microsoft.com/office/powerpoint/2010/main" val="68180413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43286-B39B-484C-8B95-8FA1B0092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this work with MNIST?</a:t>
            </a: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80463DC6-9E5D-AC4C-ACF8-A335F5817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47" y="2350164"/>
            <a:ext cx="5192128" cy="2958477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287A3FE7-7774-6343-A5C2-F13CF7342404}"/>
              </a:ext>
            </a:extLst>
          </p:cNvPr>
          <p:cNvSpPr txBox="1"/>
          <p:nvPr/>
        </p:nvSpPr>
        <p:spPr>
          <a:xfrm>
            <a:off x="6278880" y="2382651"/>
            <a:ext cx="4858512" cy="3742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36" dirty="0"/>
              <a:t>Logistic regression:</a:t>
            </a:r>
          </a:p>
          <a:p>
            <a:r>
              <a:rPr lang="en-US" sz="2636" dirty="0"/>
              <a:t>~91% Accurate</a:t>
            </a:r>
          </a:p>
          <a:p>
            <a:endParaRPr lang="en-US" sz="2636" dirty="0"/>
          </a:p>
          <a:p>
            <a:r>
              <a:rPr lang="en-US" sz="2636" dirty="0"/>
              <a:t>MLP with 1 hidden layer:</a:t>
            </a:r>
          </a:p>
          <a:p>
            <a:r>
              <a:rPr lang="en-US" sz="2636" dirty="0"/>
              <a:t>~96% Accurate</a:t>
            </a:r>
          </a:p>
          <a:p>
            <a:endParaRPr lang="en-US" sz="2636" dirty="0"/>
          </a:p>
          <a:p>
            <a:endParaRPr lang="en-US" sz="2636" dirty="0"/>
          </a:p>
          <a:p>
            <a:endParaRPr lang="en-US" sz="2636" dirty="0"/>
          </a:p>
          <a:p>
            <a:r>
              <a:rPr lang="en-US" sz="2636" dirty="0"/>
              <a:t>...maybe we can do even better…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3501D-93B2-904D-8A52-A82E91EDC088}"/>
              </a:ext>
            </a:extLst>
          </p:cNvPr>
          <p:cNvSpPr txBox="1"/>
          <p:nvPr/>
        </p:nvSpPr>
        <p:spPr>
          <a:xfrm>
            <a:off x="8134845" y="8108331"/>
            <a:ext cx="184731" cy="497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636"/>
          </a:p>
        </p:txBody>
      </p:sp>
    </p:spTree>
    <p:extLst>
      <p:ext uri="{BB962C8B-B14F-4D97-AF65-F5344CB8AC3E}">
        <p14:creationId xmlns:p14="http://schemas.microsoft.com/office/powerpoint/2010/main" val="184067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27"/>
    </mc:Choice>
    <mc:Fallback xmlns="">
      <p:transition spd="slow" advTm="21727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06D21-0109-8154-2EE2-711385FD4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different ways of being sick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6236-DAD0-F5CD-2083-63F86E58E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Suppose we wish to predict mortality risk from complex clinical data</a:t>
            </a:r>
          </a:p>
          <a:p>
            <a:endParaRPr lang="en-US" dirty="0"/>
          </a:p>
          <a:p>
            <a:r>
              <a:rPr lang="en-US" dirty="0"/>
              <a:t>With logistic regression, our model looks for the average sick patient</a:t>
            </a:r>
          </a:p>
          <a:p>
            <a:endParaRPr lang="en-US" dirty="0"/>
          </a:p>
          <a:p>
            <a:r>
              <a:rPr lang="en-US" dirty="0"/>
              <a:t>However, there are many different ways to be sick, and they may look very different from one another</a:t>
            </a:r>
          </a:p>
          <a:p>
            <a:endParaRPr lang="en-US" dirty="0"/>
          </a:p>
          <a:p>
            <a:r>
              <a:rPr lang="en-US" dirty="0"/>
              <a:t>With a neural network, we can detect any of those ways of being sick, and combinations of them, much like we can detect multiple distinct ways of writing a “4”</a:t>
            </a:r>
          </a:p>
          <a:p>
            <a:endParaRPr lang="en-US" dirty="0"/>
          </a:p>
          <a:p>
            <a:r>
              <a:rPr lang="en-US" dirty="0"/>
              <a:t>In principle this leads us to more effective classification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0672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FED5-2F3A-9791-5E9C-CE850E98B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Multi-class neural networks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A47207-0B1E-418F-8438-5D3E9E8C09FA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3305134" y="3103010"/>
            <a:ext cx="1214267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64D85A5-B0DE-EF47-4104-CE0A52A22484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3305134" y="4257677"/>
            <a:ext cx="1214267" cy="516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96FEA78-A42C-71B1-AD10-9DD0906326C3}"/>
              </a:ext>
            </a:extLst>
          </p:cNvPr>
          <p:cNvCxnSpPr>
            <a:cxnSpLocks/>
          </p:cNvCxnSpPr>
          <p:nvPr/>
        </p:nvCxnSpPr>
        <p:spPr>
          <a:xfrm>
            <a:off x="3085295" y="3940642"/>
            <a:ext cx="1316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1DCC2D-4D91-E9AC-6303-A4A3741456CF}"/>
                  </a:ext>
                </a:extLst>
              </p:cNvPr>
              <p:cNvSpPr txBox="1"/>
              <p:nvPr/>
            </p:nvSpPr>
            <p:spPr>
              <a:xfrm>
                <a:off x="5543841" y="4312144"/>
                <a:ext cx="10312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</a:t>
                </a:r>
                <a:r>
                  <a:rPr lang="en-US" dirty="0" err="1"/>
                  <a:t>oftmax</a:t>
                </a:r>
                <a:r>
                  <a:rPr lang="en-US" dirty="0"/>
                  <a:t> function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1DCC2D-4D91-E9AC-6303-A4A374145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841" y="4312144"/>
                <a:ext cx="1031291" cy="923330"/>
              </a:xfrm>
              <a:prstGeom prst="rect">
                <a:avLst/>
              </a:prstGeom>
              <a:blipFill>
                <a:blip r:embed="rId2"/>
                <a:stretch>
                  <a:fillRect l="-1220" t="-2703" r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173F696-BCFF-8C99-5A89-29BEAD5BC1C7}"/>
              </a:ext>
            </a:extLst>
          </p:cNvPr>
          <p:cNvCxnSpPr>
            <a:cxnSpLocks/>
          </p:cNvCxnSpPr>
          <p:nvPr/>
        </p:nvCxnSpPr>
        <p:spPr>
          <a:xfrm>
            <a:off x="5296228" y="3950982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A8AD86-62F7-2A6E-BF73-61145F077489}"/>
                  </a:ext>
                </a:extLst>
              </p:cNvPr>
              <p:cNvSpPr txBox="1"/>
              <p:nvPr/>
            </p:nvSpPr>
            <p:spPr>
              <a:xfrm>
                <a:off x="9485309" y="3299074"/>
                <a:ext cx="159383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0, 1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A8AD86-62F7-2A6E-BF73-61145F077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5309" y="3299074"/>
                <a:ext cx="1593834" cy="276999"/>
              </a:xfrm>
              <a:prstGeom prst="rect">
                <a:avLst/>
              </a:prstGeom>
              <a:blipFill>
                <a:blip r:embed="rId3"/>
                <a:stretch>
                  <a:fillRect l="-787" t="-4348" r="-787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403180C-FBC6-0461-345F-A733796704F8}"/>
                  </a:ext>
                </a:extLst>
              </p:cNvPr>
              <p:cNvSpPr txBox="1"/>
              <p:nvPr/>
            </p:nvSpPr>
            <p:spPr>
              <a:xfrm>
                <a:off x="9485309" y="4190276"/>
                <a:ext cx="1689309" cy="635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403180C-FBC6-0461-345F-A73379670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5309" y="4190276"/>
                <a:ext cx="1689309" cy="635943"/>
              </a:xfrm>
              <a:prstGeom prst="rect">
                <a:avLst/>
              </a:prstGeom>
              <a:blipFill>
                <a:blip r:embed="rId4"/>
                <a:stretch>
                  <a:fillRect l="-746" t="-23077" r="-1493" b="-9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123894C-5A2A-7A7A-5AC2-7E67D072426A}"/>
                  </a:ext>
                </a:extLst>
              </p:cNvPr>
              <p:cNvSpPr/>
              <p:nvPr/>
            </p:nvSpPr>
            <p:spPr>
              <a:xfrm>
                <a:off x="4385490" y="3477188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9123894C-5A2A-7A7A-5AC2-7E67D07242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490" y="3477188"/>
                <a:ext cx="914400" cy="91440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45BC7B9-1B11-DD8A-A818-BB128D8D8B16}"/>
                  </a:ext>
                </a:extLst>
              </p:cNvPr>
              <p:cNvSpPr/>
              <p:nvPr/>
            </p:nvSpPr>
            <p:spPr>
              <a:xfrm>
                <a:off x="4385490" y="2262763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545BC7B9-1B11-DD8A-A818-BB128D8D8B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490" y="2262763"/>
                <a:ext cx="914400" cy="91440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B41E0C4-28AB-609B-5D1F-284A77CB7C78}"/>
                  </a:ext>
                </a:extLst>
              </p:cNvPr>
              <p:cNvSpPr/>
              <p:nvPr/>
            </p:nvSpPr>
            <p:spPr>
              <a:xfrm>
                <a:off x="4385490" y="4692289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B41E0C4-28AB-609B-5D1F-284A77CB7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490" y="4692289"/>
                <a:ext cx="914400" cy="91440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5510A95-520E-3A6E-C10E-C516D61291D4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171223" y="2719963"/>
            <a:ext cx="1214267" cy="5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184CEEB-DC72-A4E0-0331-455130CF9C84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3171223" y="5101563"/>
            <a:ext cx="1214267" cy="47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E42E2DA-A38F-7D4F-A304-A45691BAAB6E}"/>
              </a:ext>
            </a:extLst>
          </p:cNvPr>
          <p:cNvCxnSpPr>
            <a:cxnSpLocks/>
            <a:endCxn id="23" idx="3"/>
          </p:cNvCxnSpPr>
          <p:nvPr/>
        </p:nvCxnSpPr>
        <p:spPr>
          <a:xfrm flipV="1">
            <a:off x="3171223" y="3043252"/>
            <a:ext cx="1348178" cy="1411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6A46C05-17A3-321C-F166-0A203CEE5D61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171223" y="3426299"/>
            <a:ext cx="1348178" cy="1399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4843149-5FBE-9B6E-E6AA-3BE1BA6F0BE8}"/>
              </a:ext>
            </a:extLst>
          </p:cNvPr>
          <p:cNvCxnSpPr>
            <a:cxnSpLocks/>
          </p:cNvCxnSpPr>
          <p:nvPr/>
        </p:nvCxnSpPr>
        <p:spPr>
          <a:xfrm flipV="1">
            <a:off x="2963878" y="2924929"/>
            <a:ext cx="1455417" cy="915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5ACC081-B66B-4B09-E900-D4A296115FF5}"/>
              </a:ext>
            </a:extLst>
          </p:cNvPr>
          <p:cNvCxnSpPr>
            <a:cxnSpLocks/>
          </p:cNvCxnSpPr>
          <p:nvPr/>
        </p:nvCxnSpPr>
        <p:spPr>
          <a:xfrm>
            <a:off x="2963878" y="4071236"/>
            <a:ext cx="1455417" cy="887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BE305AF-E891-F13A-2F3A-84DCC6F1E878}"/>
              </a:ext>
            </a:extLst>
          </p:cNvPr>
          <p:cNvGrpSpPr/>
          <p:nvPr/>
        </p:nvGrpSpPr>
        <p:grpSpPr>
          <a:xfrm>
            <a:off x="5785873" y="3676662"/>
            <a:ext cx="548640" cy="548640"/>
            <a:chOff x="5450895" y="3759316"/>
            <a:chExt cx="548640" cy="548640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3FDFB857-EBB5-4D0C-03A4-23DDE5F5D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3876" r="14340"/>
            <a:stretch>
              <a:fillRect/>
            </a:stretch>
          </p:blipFill>
          <p:spPr>
            <a:xfrm>
              <a:off x="5460129" y="3843136"/>
              <a:ext cx="528761" cy="381000"/>
            </a:xfrm>
            <a:prstGeom prst="rect">
              <a:avLst/>
            </a:prstGeom>
          </p:spPr>
        </p:pic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9E08355-BD33-406D-EC3A-F11732A1755C}"/>
                </a:ext>
              </a:extLst>
            </p:cNvPr>
            <p:cNvSpPr/>
            <p:nvPr/>
          </p:nvSpPr>
          <p:spPr>
            <a:xfrm>
              <a:off x="5450895" y="3759316"/>
              <a:ext cx="548640" cy="54864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C3D4B3C-32C4-4533-5CA7-E31D54121166}"/>
              </a:ext>
            </a:extLst>
          </p:cNvPr>
          <p:cNvCxnSpPr>
            <a:cxnSpLocks/>
            <a:stCxn id="23" idx="5"/>
            <a:endCxn id="61" idx="1"/>
          </p:cNvCxnSpPr>
          <p:nvPr/>
        </p:nvCxnSpPr>
        <p:spPr>
          <a:xfrm>
            <a:off x="5165979" y="3043252"/>
            <a:ext cx="700240" cy="713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85433B2-E008-261A-BED9-37F0F535BB1A}"/>
              </a:ext>
            </a:extLst>
          </p:cNvPr>
          <p:cNvCxnSpPr>
            <a:cxnSpLocks/>
            <a:stCxn id="27" idx="7"/>
            <a:endCxn id="61" idx="3"/>
          </p:cNvCxnSpPr>
          <p:nvPr/>
        </p:nvCxnSpPr>
        <p:spPr>
          <a:xfrm flipV="1">
            <a:off x="5165979" y="4144956"/>
            <a:ext cx="700240" cy="681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CE92104-080C-E4FC-0642-D45426EE1FDD}"/>
                  </a:ext>
                </a:extLst>
              </p:cNvPr>
              <p:cNvSpPr txBox="1"/>
              <p:nvPr/>
            </p:nvSpPr>
            <p:spPr>
              <a:xfrm>
                <a:off x="6820496" y="3762228"/>
                <a:ext cx="13363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DCE92104-080C-E4FC-0642-D45426EE1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0496" y="3762228"/>
                <a:ext cx="1336328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1848614-C004-F425-DE1F-DA050E19931A}"/>
              </a:ext>
            </a:extLst>
          </p:cNvPr>
          <p:cNvCxnSpPr>
            <a:cxnSpLocks/>
            <a:stCxn id="61" idx="6"/>
          </p:cNvCxnSpPr>
          <p:nvPr/>
        </p:nvCxnSpPr>
        <p:spPr>
          <a:xfrm>
            <a:off x="6334513" y="3950982"/>
            <a:ext cx="549773" cy="6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F3D40F1-6F55-B083-0E0E-C47F3281A93F}"/>
                  </a:ext>
                </a:extLst>
              </p:cNvPr>
              <p:cNvSpPr/>
              <p:nvPr/>
            </p:nvSpPr>
            <p:spPr>
              <a:xfrm>
                <a:off x="2381462" y="264581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8F3D40F1-6F55-B083-0E0E-C47F3281A9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462" y="2645810"/>
                <a:ext cx="914400" cy="914400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EA2AC4D-2CF5-D99B-130B-FC5330F6F8E3}"/>
                  </a:ext>
                </a:extLst>
              </p:cNvPr>
              <p:cNvSpPr/>
              <p:nvPr/>
            </p:nvSpPr>
            <p:spPr>
              <a:xfrm>
                <a:off x="2381462" y="432107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EA2AC4D-2CF5-D99B-130B-FC5330F6F8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462" y="4321074"/>
                <a:ext cx="914400" cy="91440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4A759FBC-1079-E7E5-0109-8E731BBEE6B2}"/>
              </a:ext>
            </a:extLst>
          </p:cNvPr>
          <p:cNvSpPr txBox="1"/>
          <p:nvPr/>
        </p:nvSpPr>
        <p:spPr>
          <a:xfrm rot="5400000">
            <a:off x="2700439" y="37559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2AC7265-2072-3EC3-8B88-DB74E1DC84FD}"/>
                  </a:ext>
                </a:extLst>
              </p:cNvPr>
              <p:cNvSpPr/>
              <p:nvPr/>
            </p:nvSpPr>
            <p:spPr>
              <a:xfrm>
                <a:off x="838200" y="2645810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C2AC7265-2072-3EC3-8B88-DB74E1DC84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45810"/>
                <a:ext cx="914400" cy="914400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D812340-00AC-6DF2-17BB-D97F71317AD1}"/>
                  </a:ext>
                </a:extLst>
              </p:cNvPr>
              <p:cNvSpPr/>
              <p:nvPr/>
            </p:nvSpPr>
            <p:spPr>
              <a:xfrm>
                <a:off x="838200" y="4321074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D812340-00AC-6DF2-17BB-D97F71317A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321074"/>
                <a:ext cx="914400" cy="914400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60A4271-2EEA-D3EF-3843-C0D593AA4232}"/>
              </a:ext>
            </a:extLst>
          </p:cNvPr>
          <p:cNvSpPr txBox="1"/>
          <p:nvPr/>
        </p:nvSpPr>
        <p:spPr>
          <a:xfrm rot="5400000">
            <a:off x="1157177" y="375597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AB63B1-2A7E-CD81-B000-D5CFA9A7215A}"/>
              </a:ext>
            </a:extLst>
          </p:cNvPr>
          <p:cNvCxnSpPr>
            <a:cxnSpLocks/>
          </p:cNvCxnSpPr>
          <p:nvPr/>
        </p:nvCxnSpPr>
        <p:spPr>
          <a:xfrm>
            <a:off x="1722631" y="3299074"/>
            <a:ext cx="1038759" cy="51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35A3602-E33B-2A43-149E-20AA6BEF28F6}"/>
              </a:ext>
            </a:extLst>
          </p:cNvPr>
          <p:cNvCxnSpPr>
            <a:cxnSpLocks/>
          </p:cNvCxnSpPr>
          <p:nvPr/>
        </p:nvCxnSpPr>
        <p:spPr>
          <a:xfrm flipV="1">
            <a:off x="1722631" y="4017410"/>
            <a:ext cx="1047703" cy="576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EFA433B-10B8-7AC9-B889-707AE52DFF9E}"/>
              </a:ext>
            </a:extLst>
          </p:cNvPr>
          <p:cNvCxnSpPr>
            <a:cxnSpLocks/>
            <a:endCxn id="35" idx="2"/>
          </p:cNvCxnSpPr>
          <p:nvPr/>
        </p:nvCxnSpPr>
        <p:spPr>
          <a:xfrm>
            <a:off x="1525869" y="3940642"/>
            <a:ext cx="11808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F05A3E7-8643-A9D4-E071-BC38C6810479}"/>
              </a:ext>
            </a:extLst>
          </p:cNvPr>
          <p:cNvCxnSpPr>
            <a:cxnSpLocks/>
            <a:stCxn id="37" idx="5"/>
            <a:endCxn id="34" idx="1"/>
          </p:cNvCxnSpPr>
          <p:nvPr/>
        </p:nvCxnSpPr>
        <p:spPr>
          <a:xfrm>
            <a:off x="1618689" y="342629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D2540CC-78C7-F394-41A0-94B92326597C}"/>
              </a:ext>
            </a:extLst>
          </p:cNvPr>
          <p:cNvCxnSpPr>
            <a:cxnSpLocks/>
            <a:stCxn id="38" idx="7"/>
            <a:endCxn id="32" idx="3"/>
          </p:cNvCxnSpPr>
          <p:nvPr/>
        </p:nvCxnSpPr>
        <p:spPr>
          <a:xfrm flipV="1">
            <a:off x="1618689" y="3426299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D7C72DB-0D6D-D085-C89A-D240564EBD56}"/>
              </a:ext>
            </a:extLst>
          </p:cNvPr>
          <p:cNvCxnSpPr>
            <a:cxnSpLocks/>
            <a:stCxn id="38" idx="6"/>
            <a:endCxn id="34" idx="2"/>
          </p:cNvCxnSpPr>
          <p:nvPr/>
        </p:nvCxnSpPr>
        <p:spPr>
          <a:xfrm>
            <a:off x="1752600" y="4778274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71FB346-08A0-A1BF-BA8E-D4D798A7A571}"/>
              </a:ext>
            </a:extLst>
          </p:cNvPr>
          <p:cNvCxnSpPr>
            <a:cxnSpLocks/>
          </p:cNvCxnSpPr>
          <p:nvPr/>
        </p:nvCxnSpPr>
        <p:spPr>
          <a:xfrm flipV="1">
            <a:off x="1440019" y="3299074"/>
            <a:ext cx="974730" cy="544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6806D93-7EDC-D7A6-4BFD-0F109584A2D4}"/>
              </a:ext>
            </a:extLst>
          </p:cNvPr>
          <p:cNvCxnSpPr>
            <a:cxnSpLocks/>
            <a:stCxn id="37" idx="6"/>
            <a:endCxn id="32" idx="2"/>
          </p:cNvCxnSpPr>
          <p:nvPr/>
        </p:nvCxnSpPr>
        <p:spPr>
          <a:xfrm>
            <a:off x="1752600" y="3103010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2212F16-F8F3-6009-8FBB-18ACA0757831}"/>
              </a:ext>
            </a:extLst>
          </p:cNvPr>
          <p:cNvCxnSpPr>
            <a:cxnSpLocks/>
          </p:cNvCxnSpPr>
          <p:nvPr/>
        </p:nvCxnSpPr>
        <p:spPr>
          <a:xfrm>
            <a:off x="1440019" y="4037725"/>
            <a:ext cx="983819" cy="56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881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538C8-D848-150F-7678-094023E53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81FC-149D-AF3A-6417-9FCFF467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Multi-label neural networks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2F283B-8C6B-0714-87A5-5B25ACE29C4E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3225244" y="3111393"/>
            <a:ext cx="1214267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3D24A69-0DE1-E371-7151-33A940EB9249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3225244" y="4266060"/>
            <a:ext cx="1214267" cy="516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CA67A9-3017-76D4-4378-7B58C41F2BFA}"/>
              </a:ext>
            </a:extLst>
          </p:cNvPr>
          <p:cNvCxnSpPr>
            <a:cxnSpLocks/>
          </p:cNvCxnSpPr>
          <p:nvPr/>
        </p:nvCxnSpPr>
        <p:spPr>
          <a:xfrm>
            <a:off x="3005405" y="3949025"/>
            <a:ext cx="1316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ABA8C5-AFC6-FB7B-11A0-90AF0819EF07}"/>
                  </a:ext>
                </a:extLst>
              </p:cNvPr>
              <p:cNvSpPr txBox="1"/>
              <p:nvPr/>
            </p:nvSpPr>
            <p:spPr>
              <a:xfrm>
                <a:off x="5642193" y="3764359"/>
                <a:ext cx="14275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ABA8C5-AFC6-FB7B-11A0-90AF0819E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193" y="3764359"/>
                <a:ext cx="1427570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4F853CA-763E-420E-3D3D-B4EA058915FF}"/>
              </a:ext>
            </a:extLst>
          </p:cNvPr>
          <p:cNvCxnSpPr>
            <a:cxnSpLocks/>
          </p:cNvCxnSpPr>
          <p:nvPr/>
        </p:nvCxnSpPr>
        <p:spPr>
          <a:xfrm>
            <a:off x="5216338" y="3959365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33A36D-4639-451B-E70E-653B74654998}"/>
              </a:ext>
            </a:extLst>
          </p:cNvPr>
          <p:cNvGrpSpPr/>
          <p:nvPr/>
        </p:nvGrpSpPr>
        <p:grpSpPr>
          <a:xfrm>
            <a:off x="4305600" y="3485571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8B28729D-060B-F79E-9627-A0CFCF3EE130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123894C-5A2A-7A7A-5AC2-7E67D07242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1"/>
                  <a:stretch>
                    <a:fillRect r="-94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527398D-3A50-5F0A-7D34-361E763F9331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4C5FF84-F53D-5544-F543-642242FA22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B8EA055-B5CD-DBFF-94F8-EE5D9DFCDB62}"/>
              </a:ext>
            </a:extLst>
          </p:cNvPr>
          <p:cNvGrpSpPr/>
          <p:nvPr/>
        </p:nvGrpSpPr>
        <p:grpSpPr>
          <a:xfrm>
            <a:off x="4305600" y="2271146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61515C0-6758-DE1B-932B-EDAEC5EF82AB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123894C-5A2A-7A7A-5AC2-7E67D07242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1"/>
                  <a:stretch>
                    <a:fillRect r="-94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C87998F-67D6-3358-26E7-4CD20CF6B5C9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75EEAE5-971D-54A5-DCA0-0340DEAC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B9CAA02-8CC8-E721-6E14-3CF519BF3658}"/>
              </a:ext>
            </a:extLst>
          </p:cNvPr>
          <p:cNvGrpSpPr/>
          <p:nvPr/>
        </p:nvGrpSpPr>
        <p:grpSpPr>
          <a:xfrm>
            <a:off x="4305600" y="4700672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5A88D3A5-CE22-3E32-8A81-601B50838B89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123894C-5A2A-7A7A-5AC2-7E67D07242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1"/>
                  <a:stretch>
                    <a:fillRect r="-94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2A51C4D-C1DA-81ED-9F25-A625E5F4D58D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DA70678-B66B-F011-1054-0A1F442C7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62E5D8A-120B-2C26-C988-968DBBD88459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3091333" y="2728346"/>
            <a:ext cx="1214267" cy="5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E052C6-B03D-557B-EBB5-893C35B547A5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3091333" y="5109946"/>
            <a:ext cx="1214267" cy="47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19A564-5442-D403-B5A3-E8F5522CCCE5}"/>
              </a:ext>
            </a:extLst>
          </p:cNvPr>
          <p:cNvCxnSpPr>
            <a:cxnSpLocks/>
            <a:endCxn id="23" idx="3"/>
          </p:cNvCxnSpPr>
          <p:nvPr/>
        </p:nvCxnSpPr>
        <p:spPr>
          <a:xfrm flipV="1">
            <a:off x="3091333" y="3051635"/>
            <a:ext cx="1348178" cy="1411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42A2D69-9228-C95F-CE46-9D9C70155C3D}"/>
              </a:ext>
            </a:extLst>
          </p:cNvPr>
          <p:cNvCxnSpPr>
            <a:cxnSpLocks/>
            <a:endCxn id="27" idx="1"/>
          </p:cNvCxnSpPr>
          <p:nvPr/>
        </p:nvCxnSpPr>
        <p:spPr>
          <a:xfrm>
            <a:off x="3091333" y="3434682"/>
            <a:ext cx="1348178" cy="1399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DEE4B3F-1FD8-5E53-B817-15728BC00D6C}"/>
              </a:ext>
            </a:extLst>
          </p:cNvPr>
          <p:cNvCxnSpPr>
            <a:cxnSpLocks/>
          </p:cNvCxnSpPr>
          <p:nvPr/>
        </p:nvCxnSpPr>
        <p:spPr>
          <a:xfrm flipV="1">
            <a:off x="2883988" y="2933312"/>
            <a:ext cx="1455417" cy="915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733C0A7-E61C-34EF-D7C1-21F46E3D0A2A}"/>
              </a:ext>
            </a:extLst>
          </p:cNvPr>
          <p:cNvCxnSpPr>
            <a:cxnSpLocks/>
          </p:cNvCxnSpPr>
          <p:nvPr/>
        </p:nvCxnSpPr>
        <p:spPr>
          <a:xfrm>
            <a:off x="2883988" y="4079619"/>
            <a:ext cx="1455417" cy="887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BC98EA-97DC-25DC-CFAF-2128EC6E3906}"/>
                  </a:ext>
                </a:extLst>
              </p:cNvPr>
              <p:cNvSpPr txBox="1"/>
              <p:nvPr/>
            </p:nvSpPr>
            <p:spPr>
              <a:xfrm>
                <a:off x="5642193" y="4967162"/>
                <a:ext cx="14275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BC98EA-97DC-25DC-CFAF-2128EC6E3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193" y="4967162"/>
                <a:ext cx="1427570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F175A5-461E-E90D-49E3-499E2D381B03}"/>
              </a:ext>
            </a:extLst>
          </p:cNvPr>
          <p:cNvCxnSpPr>
            <a:cxnSpLocks/>
          </p:cNvCxnSpPr>
          <p:nvPr/>
        </p:nvCxnSpPr>
        <p:spPr>
          <a:xfrm>
            <a:off x="5216338" y="5162168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FEE836-194B-1EB8-0BCA-516A56DBCDD6}"/>
                  </a:ext>
                </a:extLst>
              </p:cNvPr>
              <p:cNvSpPr txBox="1"/>
              <p:nvPr/>
            </p:nvSpPr>
            <p:spPr>
              <a:xfrm>
                <a:off x="5642193" y="2551215"/>
                <a:ext cx="14222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FEE836-194B-1EB8-0BCA-516A56DBC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193" y="2551215"/>
                <a:ext cx="1422249" cy="369332"/>
              </a:xfrm>
              <a:prstGeom prst="rect">
                <a:avLst/>
              </a:prstGeom>
              <a:blipFill>
                <a:blip r:embed="rId14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DD1A18C-EB96-9B50-C159-1BC79CF03439}"/>
              </a:ext>
            </a:extLst>
          </p:cNvPr>
          <p:cNvCxnSpPr>
            <a:cxnSpLocks/>
          </p:cNvCxnSpPr>
          <p:nvPr/>
        </p:nvCxnSpPr>
        <p:spPr>
          <a:xfrm>
            <a:off x="5216338" y="2746221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EE84384-08BC-9664-90D9-A36C0804C7B7}"/>
              </a:ext>
            </a:extLst>
          </p:cNvPr>
          <p:cNvSpPr txBox="1"/>
          <p:nvPr/>
        </p:nvSpPr>
        <p:spPr>
          <a:xfrm>
            <a:off x="7396592" y="1829321"/>
            <a:ext cx="348397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Predict multiple labels from the same shared representation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Can have a mix of label types (e.g. binary, categorical, numeric, time-to-event)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Illustrates the flexibility of the NN/ML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8941CC3-B7FC-CAC5-50BB-821FC9789A0D}"/>
                  </a:ext>
                </a:extLst>
              </p:cNvPr>
              <p:cNvSpPr/>
              <p:nvPr/>
            </p:nvSpPr>
            <p:spPr>
              <a:xfrm>
                <a:off x="2297170" y="2654193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8941CC3-B7FC-CAC5-50BB-821FC9789A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170" y="2654193"/>
                <a:ext cx="914400" cy="9144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763ABF7-C595-A748-AB2C-902FC3B6E7BC}"/>
                  </a:ext>
                </a:extLst>
              </p:cNvPr>
              <p:cNvSpPr/>
              <p:nvPr/>
            </p:nvSpPr>
            <p:spPr>
              <a:xfrm>
                <a:off x="2297170" y="4329457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A763ABF7-C595-A748-AB2C-902FC3B6E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170" y="4329457"/>
                <a:ext cx="914400" cy="91440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471F606-05E5-BA83-EB4C-ED891FB9759D}"/>
              </a:ext>
            </a:extLst>
          </p:cNvPr>
          <p:cNvSpPr txBox="1"/>
          <p:nvPr/>
        </p:nvSpPr>
        <p:spPr>
          <a:xfrm rot="5400000">
            <a:off x="2616147" y="37643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46CC6AE-FCDD-5C92-6BA0-B4F0077814FE}"/>
                  </a:ext>
                </a:extLst>
              </p:cNvPr>
              <p:cNvSpPr/>
              <p:nvPr/>
            </p:nvSpPr>
            <p:spPr>
              <a:xfrm>
                <a:off x="753908" y="2654193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46CC6AE-FCDD-5C92-6BA0-B4F0077814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08" y="2654193"/>
                <a:ext cx="914400" cy="9144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0B70438-4C7F-EA82-DDD3-2792A7D8BA2F}"/>
                  </a:ext>
                </a:extLst>
              </p:cNvPr>
              <p:cNvSpPr/>
              <p:nvPr/>
            </p:nvSpPr>
            <p:spPr>
              <a:xfrm>
                <a:off x="753908" y="4329457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D0B70438-4C7F-EA82-DDD3-2792A7D8BA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08" y="4329457"/>
                <a:ext cx="914400" cy="91440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75CA95E5-A643-7912-1B93-D218FDCB0004}"/>
              </a:ext>
            </a:extLst>
          </p:cNvPr>
          <p:cNvSpPr txBox="1"/>
          <p:nvPr/>
        </p:nvSpPr>
        <p:spPr>
          <a:xfrm rot="5400000">
            <a:off x="1072885" y="37643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34FE4C5-C237-7020-F980-4F12024E4E6C}"/>
              </a:ext>
            </a:extLst>
          </p:cNvPr>
          <p:cNvCxnSpPr>
            <a:cxnSpLocks/>
          </p:cNvCxnSpPr>
          <p:nvPr/>
        </p:nvCxnSpPr>
        <p:spPr>
          <a:xfrm>
            <a:off x="1638339" y="3307457"/>
            <a:ext cx="1038759" cy="51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A3D60FA-C157-35C1-0FA3-226B0F978958}"/>
              </a:ext>
            </a:extLst>
          </p:cNvPr>
          <p:cNvCxnSpPr>
            <a:cxnSpLocks/>
          </p:cNvCxnSpPr>
          <p:nvPr/>
        </p:nvCxnSpPr>
        <p:spPr>
          <a:xfrm flipV="1">
            <a:off x="1638339" y="4025793"/>
            <a:ext cx="1047703" cy="576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D696ACE-73AB-E40A-DDB7-F1DB1D759138}"/>
              </a:ext>
            </a:extLst>
          </p:cNvPr>
          <p:cNvCxnSpPr>
            <a:cxnSpLocks/>
            <a:endCxn id="17" idx="2"/>
          </p:cNvCxnSpPr>
          <p:nvPr/>
        </p:nvCxnSpPr>
        <p:spPr>
          <a:xfrm>
            <a:off x="1441577" y="3949025"/>
            <a:ext cx="11808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256B657-5A58-98C8-27A0-1FFE7918F7EF}"/>
              </a:ext>
            </a:extLst>
          </p:cNvPr>
          <p:cNvCxnSpPr>
            <a:cxnSpLocks/>
            <a:stCxn id="18" idx="5"/>
            <a:endCxn id="14" idx="1"/>
          </p:cNvCxnSpPr>
          <p:nvPr/>
        </p:nvCxnSpPr>
        <p:spPr>
          <a:xfrm>
            <a:off x="1534397" y="3434682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8D14F01-A3CA-7788-4EB4-4CB332438749}"/>
              </a:ext>
            </a:extLst>
          </p:cNvPr>
          <p:cNvCxnSpPr>
            <a:cxnSpLocks/>
            <a:stCxn id="34" idx="7"/>
            <a:endCxn id="12" idx="3"/>
          </p:cNvCxnSpPr>
          <p:nvPr/>
        </p:nvCxnSpPr>
        <p:spPr>
          <a:xfrm flipV="1">
            <a:off x="1534397" y="3434682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2B4EA1E-2612-BA53-2CA5-0A8081741DDD}"/>
              </a:ext>
            </a:extLst>
          </p:cNvPr>
          <p:cNvCxnSpPr>
            <a:cxnSpLocks/>
            <a:stCxn id="34" idx="6"/>
            <a:endCxn id="14" idx="2"/>
          </p:cNvCxnSpPr>
          <p:nvPr/>
        </p:nvCxnSpPr>
        <p:spPr>
          <a:xfrm>
            <a:off x="1668308" y="4786657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CDFE7C3-1D95-221E-59B4-560F1B468B35}"/>
              </a:ext>
            </a:extLst>
          </p:cNvPr>
          <p:cNvCxnSpPr>
            <a:cxnSpLocks/>
          </p:cNvCxnSpPr>
          <p:nvPr/>
        </p:nvCxnSpPr>
        <p:spPr>
          <a:xfrm flipV="1">
            <a:off x="1355727" y="3307457"/>
            <a:ext cx="974730" cy="544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AB0F5F0-76B2-CA21-7B8B-60992BA8E7F1}"/>
              </a:ext>
            </a:extLst>
          </p:cNvPr>
          <p:cNvCxnSpPr>
            <a:cxnSpLocks/>
            <a:stCxn id="18" idx="6"/>
            <a:endCxn id="12" idx="2"/>
          </p:cNvCxnSpPr>
          <p:nvPr/>
        </p:nvCxnSpPr>
        <p:spPr>
          <a:xfrm>
            <a:off x="1668308" y="3111393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538D4B9-CD82-1A9B-EEB6-0C6AB94DB58F}"/>
              </a:ext>
            </a:extLst>
          </p:cNvPr>
          <p:cNvCxnSpPr>
            <a:cxnSpLocks/>
          </p:cNvCxnSpPr>
          <p:nvPr/>
        </p:nvCxnSpPr>
        <p:spPr>
          <a:xfrm>
            <a:off x="1355727" y="4046108"/>
            <a:ext cx="983819" cy="56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9047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8FA28-2785-43D9-855C-938560129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DD52D-1026-066B-A7D2-6F4B8B748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a multi-label approach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49DBD7-B853-78D1-4DD0-4C94C4288F7B}"/>
              </a:ext>
            </a:extLst>
          </p:cNvPr>
          <p:cNvSpPr txBox="1"/>
          <p:nvPr/>
        </p:nvSpPr>
        <p:spPr>
          <a:xfrm>
            <a:off x="7303996" y="2198653"/>
            <a:ext cx="34839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/>
              <a:t>Report back: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400" dirty="0"/>
              <a:t>Question 1: when &amp; why might a multi-label approach be helpful?</a:t>
            </a:r>
          </a:p>
          <a:p>
            <a:endParaRPr lang="en-US" sz="2400" dirty="0"/>
          </a:p>
          <a:p>
            <a:r>
              <a:rPr lang="en-US" sz="2400" dirty="0"/>
              <a:t>Question 2: would it make sense to train a multi-label logistic regression model?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010054-1386-59D5-0EA0-D93252237765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3225244" y="3111393"/>
            <a:ext cx="1214267" cy="5080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90451A-6189-613A-00B4-3E58A6153630}"/>
              </a:ext>
            </a:extLst>
          </p:cNvPr>
          <p:cNvCxnSpPr>
            <a:cxnSpLocks/>
            <a:endCxn id="37" idx="3"/>
          </p:cNvCxnSpPr>
          <p:nvPr/>
        </p:nvCxnSpPr>
        <p:spPr>
          <a:xfrm flipV="1">
            <a:off x="3225244" y="4266060"/>
            <a:ext cx="1214267" cy="516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C88ADB7-D3B7-54F8-68C3-C80C322FA056}"/>
              </a:ext>
            </a:extLst>
          </p:cNvPr>
          <p:cNvCxnSpPr>
            <a:cxnSpLocks/>
          </p:cNvCxnSpPr>
          <p:nvPr/>
        </p:nvCxnSpPr>
        <p:spPr>
          <a:xfrm>
            <a:off x="3005405" y="3949025"/>
            <a:ext cx="13161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C20781-7015-6916-F464-447CA2A2C2A7}"/>
                  </a:ext>
                </a:extLst>
              </p:cNvPr>
              <p:cNvSpPr txBox="1"/>
              <p:nvPr/>
            </p:nvSpPr>
            <p:spPr>
              <a:xfrm>
                <a:off x="5642193" y="3764359"/>
                <a:ext cx="14275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C20781-7015-6916-F464-447CA2A2C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193" y="3764359"/>
                <a:ext cx="1427570" cy="369332"/>
              </a:xfrm>
              <a:prstGeom prst="rect">
                <a:avLst/>
              </a:prstGeom>
              <a:blipFill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8AFF175-E61C-DDBA-BF43-D0571A1B862C}"/>
              </a:ext>
            </a:extLst>
          </p:cNvPr>
          <p:cNvCxnSpPr>
            <a:cxnSpLocks/>
          </p:cNvCxnSpPr>
          <p:nvPr/>
        </p:nvCxnSpPr>
        <p:spPr>
          <a:xfrm>
            <a:off x="5216338" y="3959365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7209730-5DC1-BA5C-540C-69FE2AFE9957}"/>
              </a:ext>
            </a:extLst>
          </p:cNvPr>
          <p:cNvGrpSpPr/>
          <p:nvPr/>
        </p:nvGrpSpPr>
        <p:grpSpPr>
          <a:xfrm>
            <a:off x="4305600" y="3485571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4DD6A1F6-BC87-5CE8-293E-81C418C2454C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123894C-5A2A-7A7A-5AC2-7E67D07242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1"/>
                  <a:stretch>
                    <a:fillRect r="-94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5353AFA-A6F1-6013-292C-784D8B095ED9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961EBB2E-9983-790D-B230-8919FDA53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3EA341D-B424-AF1C-7776-7B20CEC130A5}"/>
              </a:ext>
            </a:extLst>
          </p:cNvPr>
          <p:cNvGrpSpPr/>
          <p:nvPr/>
        </p:nvGrpSpPr>
        <p:grpSpPr>
          <a:xfrm>
            <a:off x="4305600" y="2271146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0B2DF187-AD6C-A898-32BB-37CD402F3AF9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123894C-5A2A-7A7A-5AC2-7E67D07242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1"/>
                  <a:stretch>
                    <a:fillRect r="-94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DFDEF20-F5B7-5971-EA8F-59E4FC2CABAD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B8AFDB2C-E9BA-9E6E-EEA2-B5EE265CA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2D6D02C-AE84-1099-1A9F-725B595A62BC}"/>
              </a:ext>
            </a:extLst>
          </p:cNvPr>
          <p:cNvGrpSpPr/>
          <p:nvPr/>
        </p:nvGrpSpPr>
        <p:grpSpPr>
          <a:xfrm>
            <a:off x="4305600" y="4700672"/>
            <a:ext cx="995337" cy="914400"/>
            <a:chOff x="7496986" y="1328396"/>
            <a:chExt cx="995337" cy="9144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4D041A7C-5192-13F4-EE43-F7887330331B}"/>
                    </a:ext>
                  </a:extLst>
                </p:cNvPr>
                <p:cNvSpPr/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36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 lang="en-US" sz="3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9123894C-5A2A-7A7A-5AC2-7E67D07242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96986" y="1328396"/>
                  <a:ext cx="914400" cy="914400"/>
                </a:xfrm>
                <a:prstGeom prst="ellipse">
                  <a:avLst/>
                </a:prstGeom>
                <a:blipFill>
                  <a:blip r:embed="rId11"/>
                  <a:stretch>
                    <a:fillRect r="-9459" b="-108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1C8E242-6F52-1FE2-3900-34F78B7007D0}"/>
                </a:ext>
              </a:extLst>
            </p:cNvPr>
            <p:cNvCxnSpPr>
              <a:cxnSpLocks/>
            </p:cNvCxnSpPr>
            <p:nvPr/>
          </p:nvCxnSpPr>
          <p:spPr>
            <a:xfrm>
              <a:off x="8022997" y="1328396"/>
              <a:ext cx="0" cy="9144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11F5D61-0A2D-B3A7-C3E3-F7244BC02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19179" y="1594886"/>
              <a:ext cx="573144" cy="382096"/>
            </a:xfrm>
            <a:prstGeom prst="rect">
              <a:avLst/>
            </a:prstGeom>
          </p:spPr>
        </p:pic>
      </p:grp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8D44728-CC33-A171-5B0C-C6C520D9D3E1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3091333" y="2728346"/>
            <a:ext cx="1214267" cy="597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ADE7171-E073-8F44-3D16-C2A69CF55BB2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3091333" y="5109946"/>
            <a:ext cx="1214267" cy="479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1DF9075-59DB-F784-267C-6D45D0FFB2AB}"/>
              </a:ext>
            </a:extLst>
          </p:cNvPr>
          <p:cNvCxnSpPr>
            <a:cxnSpLocks/>
            <a:endCxn id="42" idx="3"/>
          </p:cNvCxnSpPr>
          <p:nvPr/>
        </p:nvCxnSpPr>
        <p:spPr>
          <a:xfrm flipV="1">
            <a:off x="3091333" y="3051635"/>
            <a:ext cx="1348178" cy="1411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909D717-E347-E3A5-EF5C-859C07EF912A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3091333" y="3434682"/>
            <a:ext cx="1348178" cy="1399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0C35BE5-C497-6F74-DE54-222E5D74464A}"/>
              </a:ext>
            </a:extLst>
          </p:cNvPr>
          <p:cNvCxnSpPr>
            <a:cxnSpLocks/>
          </p:cNvCxnSpPr>
          <p:nvPr/>
        </p:nvCxnSpPr>
        <p:spPr>
          <a:xfrm flipV="1">
            <a:off x="2883988" y="2933312"/>
            <a:ext cx="1455417" cy="915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723D89C-AFBA-FF58-FF0F-3C00056A1CED}"/>
              </a:ext>
            </a:extLst>
          </p:cNvPr>
          <p:cNvCxnSpPr>
            <a:cxnSpLocks/>
          </p:cNvCxnSpPr>
          <p:nvPr/>
        </p:nvCxnSpPr>
        <p:spPr>
          <a:xfrm>
            <a:off x="2883988" y="4079619"/>
            <a:ext cx="1455417" cy="8875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6E08285-5880-9DC9-72D2-BFDFA95E0576}"/>
                  </a:ext>
                </a:extLst>
              </p:cNvPr>
              <p:cNvSpPr txBox="1"/>
              <p:nvPr/>
            </p:nvSpPr>
            <p:spPr>
              <a:xfrm>
                <a:off x="5642193" y="4967162"/>
                <a:ext cx="14275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6E08285-5880-9DC9-72D2-BFDFA95E0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193" y="4967162"/>
                <a:ext cx="1427570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E42C20A-A7B9-A34A-7F4A-7AA196424C1D}"/>
              </a:ext>
            </a:extLst>
          </p:cNvPr>
          <p:cNvCxnSpPr>
            <a:cxnSpLocks/>
          </p:cNvCxnSpPr>
          <p:nvPr/>
        </p:nvCxnSpPr>
        <p:spPr>
          <a:xfrm>
            <a:off x="5216338" y="5162168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89667C5-AF2B-6490-804F-96B6D08E4399}"/>
                  </a:ext>
                </a:extLst>
              </p:cNvPr>
              <p:cNvSpPr txBox="1"/>
              <p:nvPr/>
            </p:nvSpPr>
            <p:spPr>
              <a:xfrm>
                <a:off x="5642193" y="2551215"/>
                <a:ext cx="14222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89667C5-AF2B-6490-804F-96B6D08E4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193" y="2551215"/>
                <a:ext cx="1422249" cy="369332"/>
              </a:xfrm>
              <a:prstGeom prst="rect">
                <a:avLst/>
              </a:prstGeom>
              <a:blipFill>
                <a:blip r:embed="rId14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5BB62EC-AEA5-F493-7D9A-99A1B1AF86F0}"/>
              </a:ext>
            </a:extLst>
          </p:cNvPr>
          <p:cNvCxnSpPr>
            <a:cxnSpLocks/>
          </p:cNvCxnSpPr>
          <p:nvPr/>
        </p:nvCxnSpPr>
        <p:spPr>
          <a:xfrm>
            <a:off x="5216338" y="2746221"/>
            <a:ext cx="48964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3787E106-CCB8-5F98-015A-AA673D46CAA7}"/>
                  </a:ext>
                </a:extLst>
              </p:cNvPr>
              <p:cNvSpPr/>
              <p:nvPr/>
            </p:nvSpPr>
            <p:spPr>
              <a:xfrm>
                <a:off x="2297170" y="2654193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3787E106-CCB8-5F98-015A-AA673D46CA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170" y="2654193"/>
                <a:ext cx="914400" cy="914400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F0BD3F65-C462-F2E1-A8C8-F222CA5FD163}"/>
                  </a:ext>
                </a:extLst>
              </p:cNvPr>
              <p:cNvSpPr/>
              <p:nvPr/>
            </p:nvSpPr>
            <p:spPr>
              <a:xfrm>
                <a:off x="2297170" y="4329457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F0BD3F65-C462-F2E1-A8C8-F222CA5FD1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170" y="4329457"/>
                <a:ext cx="914400" cy="914400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BE5C289B-A096-C8F8-B1D2-00520A8DE5EA}"/>
              </a:ext>
            </a:extLst>
          </p:cNvPr>
          <p:cNvSpPr txBox="1"/>
          <p:nvPr/>
        </p:nvSpPr>
        <p:spPr>
          <a:xfrm rot="5400000">
            <a:off x="2616147" y="37643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CB7ABF6D-B086-7BBE-6EC7-7BDC67FE5640}"/>
                  </a:ext>
                </a:extLst>
              </p:cNvPr>
              <p:cNvSpPr/>
              <p:nvPr/>
            </p:nvSpPr>
            <p:spPr>
              <a:xfrm>
                <a:off x="753908" y="2654193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CB7ABF6D-B086-7BBE-6EC7-7BDC67FE56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08" y="2654193"/>
                <a:ext cx="914400" cy="914400"/>
              </a:xfrm>
              <a:prstGeom prst="ellipse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FC89B47F-224D-55E3-4245-CD6D129351CA}"/>
                  </a:ext>
                </a:extLst>
              </p:cNvPr>
              <p:cNvSpPr/>
              <p:nvPr/>
            </p:nvSpPr>
            <p:spPr>
              <a:xfrm>
                <a:off x="753908" y="4329457"/>
                <a:ext cx="914400" cy="9144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FC89B47F-224D-55E3-4245-CD6D12935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08" y="4329457"/>
                <a:ext cx="914400" cy="914400"/>
              </a:xfrm>
              <a:prstGeom prst="ellipse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5C95A354-70F5-8D28-7A24-F73F48A34521}"/>
              </a:ext>
            </a:extLst>
          </p:cNvPr>
          <p:cNvSpPr txBox="1"/>
          <p:nvPr/>
        </p:nvSpPr>
        <p:spPr>
          <a:xfrm rot="5400000">
            <a:off x="1072885" y="376435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A0DF10B-FE92-64A1-AE42-2CBE329396B7}"/>
              </a:ext>
            </a:extLst>
          </p:cNvPr>
          <p:cNvCxnSpPr>
            <a:cxnSpLocks/>
          </p:cNvCxnSpPr>
          <p:nvPr/>
        </p:nvCxnSpPr>
        <p:spPr>
          <a:xfrm>
            <a:off x="1638339" y="3307457"/>
            <a:ext cx="1038759" cy="514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22078F5-9C45-640B-0361-B40BF754766D}"/>
              </a:ext>
            </a:extLst>
          </p:cNvPr>
          <p:cNvCxnSpPr>
            <a:cxnSpLocks/>
          </p:cNvCxnSpPr>
          <p:nvPr/>
        </p:nvCxnSpPr>
        <p:spPr>
          <a:xfrm flipV="1">
            <a:off x="1638339" y="4025793"/>
            <a:ext cx="1047703" cy="5764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90B9D6B-FF40-25AB-B33C-C1C34B0438B4}"/>
              </a:ext>
            </a:extLst>
          </p:cNvPr>
          <p:cNvCxnSpPr>
            <a:cxnSpLocks/>
            <a:endCxn id="63" idx="2"/>
          </p:cNvCxnSpPr>
          <p:nvPr/>
        </p:nvCxnSpPr>
        <p:spPr>
          <a:xfrm>
            <a:off x="1441577" y="3949025"/>
            <a:ext cx="11808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E659A70-1503-9CB5-ED79-743EFCB3FBE8}"/>
              </a:ext>
            </a:extLst>
          </p:cNvPr>
          <p:cNvCxnSpPr>
            <a:cxnSpLocks/>
            <a:stCxn id="64" idx="5"/>
            <a:endCxn id="62" idx="1"/>
          </p:cNvCxnSpPr>
          <p:nvPr/>
        </p:nvCxnSpPr>
        <p:spPr>
          <a:xfrm>
            <a:off x="1534397" y="3434682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7424B16-CB46-49E6-913F-483E40F213C1}"/>
              </a:ext>
            </a:extLst>
          </p:cNvPr>
          <p:cNvCxnSpPr>
            <a:cxnSpLocks/>
            <a:stCxn id="65" idx="7"/>
            <a:endCxn id="61" idx="3"/>
          </p:cNvCxnSpPr>
          <p:nvPr/>
        </p:nvCxnSpPr>
        <p:spPr>
          <a:xfrm flipV="1">
            <a:off x="1534397" y="3434682"/>
            <a:ext cx="896684" cy="1028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DC7CC6-D9EE-C661-2D44-2D29C19C64A4}"/>
              </a:ext>
            </a:extLst>
          </p:cNvPr>
          <p:cNvCxnSpPr>
            <a:cxnSpLocks/>
            <a:stCxn id="65" idx="6"/>
            <a:endCxn id="62" idx="2"/>
          </p:cNvCxnSpPr>
          <p:nvPr/>
        </p:nvCxnSpPr>
        <p:spPr>
          <a:xfrm>
            <a:off x="1668308" y="4786657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87F3A531-B8D0-4F92-8A2F-DD1C5ABF4FBB}"/>
              </a:ext>
            </a:extLst>
          </p:cNvPr>
          <p:cNvCxnSpPr>
            <a:cxnSpLocks/>
          </p:cNvCxnSpPr>
          <p:nvPr/>
        </p:nvCxnSpPr>
        <p:spPr>
          <a:xfrm flipV="1">
            <a:off x="1355727" y="3307457"/>
            <a:ext cx="974730" cy="5444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FBE72EE-E78D-D7EC-FC27-9E5062E73DB5}"/>
              </a:ext>
            </a:extLst>
          </p:cNvPr>
          <p:cNvCxnSpPr>
            <a:cxnSpLocks/>
            <a:stCxn id="64" idx="6"/>
            <a:endCxn id="61" idx="2"/>
          </p:cNvCxnSpPr>
          <p:nvPr/>
        </p:nvCxnSpPr>
        <p:spPr>
          <a:xfrm>
            <a:off x="1668308" y="3111393"/>
            <a:ext cx="628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57C9FA7-AA6B-9A2F-CFC7-3278CD049E7D}"/>
              </a:ext>
            </a:extLst>
          </p:cNvPr>
          <p:cNvCxnSpPr>
            <a:cxnSpLocks/>
          </p:cNvCxnSpPr>
          <p:nvPr/>
        </p:nvCxnSpPr>
        <p:spPr>
          <a:xfrm>
            <a:off x="1355727" y="4046108"/>
            <a:ext cx="983819" cy="5666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5610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DF2E-A339-C543-AB73-A15A8F49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F0509-8EB3-5F40-89E4-CB193519C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ts val="400"/>
              </a:spcBef>
            </a:pPr>
            <a:r>
              <a:rPr lang="en-US" dirty="0"/>
              <a:t>There are many binary classification tasks that logistic regression can’t solve.</a:t>
            </a:r>
          </a:p>
          <a:p>
            <a:pPr>
              <a:spcBef>
                <a:spcPts val="400"/>
              </a:spcBef>
            </a:pPr>
            <a:endParaRPr lang="en-US" dirty="0"/>
          </a:p>
          <a:p>
            <a:pPr>
              <a:spcBef>
                <a:spcPts val="400"/>
              </a:spcBef>
            </a:pPr>
            <a:r>
              <a:rPr lang="en-US" dirty="0"/>
              <a:t>However, by stacking many logistic regressions together, we are able to learn intermediate, </a:t>
            </a:r>
            <a:r>
              <a:rPr lang="en-US" i="1" dirty="0"/>
              <a:t>latent</a:t>
            </a:r>
            <a:r>
              <a:rPr lang="en-US" dirty="0"/>
              <a:t> features, thereby breaking up one complex problem into many simple ones.</a:t>
            </a:r>
          </a:p>
          <a:p>
            <a:pPr>
              <a:spcBef>
                <a:spcPts val="400"/>
              </a:spcBef>
            </a:pPr>
            <a:endParaRPr lang="en-US" dirty="0"/>
          </a:p>
          <a:p>
            <a:pPr>
              <a:spcBef>
                <a:spcPts val="400"/>
              </a:spcBef>
            </a:pPr>
            <a:r>
              <a:rPr lang="en-US" dirty="0"/>
              <a:t>This is called a multilayer perceptron (MLP), an artificial neural network (ANN), a fully connected neural network (FCNN), or just a neural network (NN).</a:t>
            </a:r>
          </a:p>
          <a:p>
            <a:pPr>
              <a:spcBef>
                <a:spcPts val="400"/>
              </a:spcBef>
            </a:pPr>
            <a:endParaRPr lang="en-US" dirty="0"/>
          </a:p>
          <a:p>
            <a:pPr>
              <a:spcBef>
                <a:spcPts val="400"/>
              </a:spcBef>
            </a:pPr>
            <a:r>
              <a:rPr lang="en-US" dirty="0"/>
              <a:t>In NNs with multiple hidden layers, features detected by the hidden units become increasingly complex with each successive layer. We therefore say that the MLP learns a </a:t>
            </a:r>
            <a:r>
              <a:rPr lang="en-US" i="1" dirty="0"/>
              <a:t>hierarchy</a:t>
            </a:r>
            <a:r>
              <a:rPr lang="en-US" dirty="0"/>
              <a:t> of features.</a:t>
            </a:r>
          </a:p>
          <a:p>
            <a:pPr>
              <a:spcBef>
                <a:spcPts val="400"/>
              </a:spcBef>
            </a:pPr>
            <a:endParaRPr lang="en-US" dirty="0"/>
          </a:p>
          <a:p>
            <a:pPr>
              <a:spcBef>
                <a:spcPts val="400"/>
              </a:spcBef>
            </a:pPr>
            <a:r>
              <a:rPr lang="en-US" dirty="0"/>
              <a:t>However, NNs can easily overfit data, which we will discuss more in later lectures.</a:t>
            </a:r>
          </a:p>
          <a:p>
            <a:pPr>
              <a:spcBef>
                <a:spcPts val="400"/>
              </a:spcBef>
            </a:pPr>
            <a:endParaRPr lang="en-US" dirty="0"/>
          </a:p>
          <a:p>
            <a:pPr>
              <a:spcBef>
                <a:spcPts val="400"/>
              </a:spcBef>
            </a:pPr>
            <a:r>
              <a:rPr lang="en-US" dirty="0"/>
              <a:t>In addition to binary classification and risk prediction tasks, NNs can easily be adapted to multi-class and multi-label prediction tasks.</a:t>
            </a:r>
          </a:p>
          <a:p>
            <a:pPr>
              <a:spcBef>
                <a:spcPts val="400"/>
              </a:spcBef>
            </a:pPr>
            <a:endParaRPr lang="en-US" dirty="0"/>
          </a:p>
          <a:p>
            <a:pPr>
              <a:spcBef>
                <a:spcPts val="400"/>
              </a:spcBef>
            </a:pPr>
            <a:r>
              <a:rPr lang="en-US" dirty="0"/>
              <a:t>The next lecture will focus on how we learn model parameters from data.</a:t>
            </a:r>
          </a:p>
        </p:txBody>
      </p:sp>
    </p:spTree>
    <p:extLst>
      <p:ext uri="{BB962C8B-B14F-4D97-AF65-F5344CB8AC3E}">
        <p14:creationId xmlns:p14="http://schemas.microsoft.com/office/powerpoint/2010/main" val="355403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8768"/>
    </mc:Choice>
    <mc:Fallback xmlns="">
      <p:transition spd="slow" advTm="88768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1243</TotalTime>
  <Words>3717</Words>
  <Application>Microsoft Macintosh PowerPoint</Application>
  <PresentationFormat>Widescreen</PresentationFormat>
  <Paragraphs>657</Paragraphs>
  <Slides>53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Calibri Light</vt:lpstr>
      <vt:lpstr>Cambria Math</vt:lpstr>
      <vt:lpstr>Wingdings</vt:lpstr>
      <vt:lpstr>Office Theme</vt:lpstr>
      <vt:lpstr>Shallow and deep neural networks </vt:lpstr>
      <vt:lpstr>Today: how can we modify logistic regression to learn complex, nonlinear relationships?</vt:lpstr>
      <vt:lpstr>Let’s make our notation more concise</vt:lpstr>
      <vt:lpstr>Recall: logistic regression yields linear decision boundaries.</vt:lpstr>
      <vt:lpstr>Recall: sometimes linear decision boundaries aren’t good enough.</vt:lpstr>
      <vt:lpstr>Let’s break logistic regression.</vt:lpstr>
      <vt:lpstr>Breaking logistic regression: simple example 1</vt:lpstr>
      <vt:lpstr>Breaking logistic regression: simple example 1</vt:lpstr>
      <vt:lpstr>Breaking logistic regression: simple example 1</vt:lpstr>
      <vt:lpstr>Breaking logistic regression: simple example 2</vt:lpstr>
      <vt:lpstr>Breaking logistic regression: simple example 2</vt:lpstr>
      <vt:lpstr>Breaking logistic regression: simple example 2</vt:lpstr>
      <vt:lpstr>In general, there can be:</vt:lpstr>
      <vt:lpstr>Let’s break the problem into simpler pieces.</vt:lpstr>
      <vt:lpstr>Let’s break the problem into simpler pieces.</vt:lpstr>
      <vt:lpstr>Now, use these predictions to make predictions</vt:lpstr>
      <vt:lpstr>This is a (very simple) fully-connected neural network.</vt:lpstr>
      <vt:lpstr>This is a (very simple) fully-connected neural network.</vt:lpstr>
      <vt:lpstr>This is a (very simple) fully-connected neural network.</vt:lpstr>
      <vt:lpstr>This is a (very simple) fully-connected neural network.</vt:lpstr>
      <vt:lpstr>This is a (very simple) fully-connected neural network.</vt:lpstr>
      <vt:lpstr>Neural networks provide unlimited flexibility.</vt:lpstr>
      <vt:lpstr>A shallow, wide neural network</vt:lpstr>
      <vt:lpstr>A deep neural network</vt:lpstr>
      <vt:lpstr>A deep neural network</vt:lpstr>
      <vt:lpstr>Report back: counting parameters</vt:lpstr>
      <vt:lpstr>Neural networks are universal function approximators</vt:lpstr>
      <vt:lpstr>Neural networks are universal function approximators</vt:lpstr>
      <vt:lpstr>Neural networks are universal function approximators</vt:lpstr>
      <vt:lpstr>Neural networks are universal function approximators</vt:lpstr>
      <vt:lpstr>Neural networks are perfect classifiers</vt:lpstr>
      <vt:lpstr>Neural networks are perfect classifiers</vt:lpstr>
      <vt:lpstr>Neural networks are perfect classifiers</vt:lpstr>
      <vt:lpstr>Neural networks are perfect classifiers</vt:lpstr>
      <vt:lpstr>Neural networks are perfect classifiers</vt:lpstr>
      <vt:lpstr>Neural networks are perfect classifiers</vt:lpstr>
      <vt:lpstr>Report back: adding an intervening layer</vt:lpstr>
      <vt:lpstr>Q: Why depth over width?</vt:lpstr>
      <vt:lpstr>Q: Why depth over width?</vt:lpstr>
      <vt:lpstr>Neural network for MNIST</vt:lpstr>
      <vt:lpstr>Why Limit Ourselves to Only One Filter?</vt:lpstr>
      <vt:lpstr>Return to MNIST:  Many ways of writing “4”</vt:lpstr>
      <vt:lpstr>Return to MNIST:  Many ways of writing “4”</vt:lpstr>
      <vt:lpstr>A single ‘4’ detector</vt:lpstr>
      <vt:lpstr>Return to MNIST:  Many ways of writing “4”</vt:lpstr>
      <vt:lpstr>A more flexible ‘4’ detector</vt:lpstr>
      <vt:lpstr>To increase flexibility/complexity, we can:</vt:lpstr>
      <vt:lpstr>Does this work with MNIST?</vt:lpstr>
      <vt:lpstr>Many different ways of being sick</vt:lpstr>
      <vt:lpstr>Multi-class neural networks</vt:lpstr>
      <vt:lpstr>Multi-label neural networks</vt:lpstr>
      <vt:lpstr>Benefits of a multi-label approach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Multilayer Perceptron </dc:title>
  <dc:creator>Matthew Engelhard, M.D., Ph.D.</dc:creator>
  <cp:lastModifiedBy>Matthew Engelhard, M.D., Ph.D.</cp:lastModifiedBy>
  <cp:revision>47</cp:revision>
  <dcterms:created xsi:type="dcterms:W3CDTF">2021-05-04T01:14:45Z</dcterms:created>
  <dcterms:modified xsi:type="dcterms:W3CDTF">2026-01-12T21:42:13Z</dcterms:modified>
</cp:coreProperties>
</file>