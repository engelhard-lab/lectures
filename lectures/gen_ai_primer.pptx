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147477840" r:id="rId3"/>
    <p:sldId id="2147477842" r:id="rId4"/>
    <p:sldId id="324" r:id="rId5"/>
    <p:sldId id="2147477844" r:id="rId6"/>
    <p:sldId id="2147477851" r:id="rId7"/>
    <p:sldId id="2147477858" r:id="rId8"/>
    <p:sldId id="2147477861" r:id="rId9"/>
    <p:sldId id="2147477862" r:id="rId10"/>
    <p:sldId id="2147477852" r:id="rId11"/>
    <p:sldId id="214747785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74726"/>
  </p:normalViewPr>
  <p:slideViewPr>
    <p:cSldViewPr snapToGrid="0">
      <p:cViewPr varScale="1">
        <p:scale>
          <a:sx n="86" d="100"/>
          <a:sy n="86" d="100"/>
        </p:scale>
        <p:origin x="22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AFFE4-3A02-1547-9098-39F8BD984D40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CC133-1F4F-8747-A895-2F83A6083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6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09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83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1791-F81D-9C71-2046-7E40291E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F41C8-7B84-24D6-36CC-397E4C104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870BD-93CE-1A79-AB2C-2CB0A0CA0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8BFA-A385-99C2-3C03-A6040468C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97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D2CF-ECEB-5E60-8D5D-CA8504D8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95E30-CE7F-35A1-ABDF-247B42EA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C12EE-0C0B-9DC4-D8BD-E8A057AE5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FDB51-6B9D-3E02-4B93-DCB781B37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3A57C-59D8-92A1-B5C4-ABD4DA2F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96760-E09E-BCAC-948A-90A4FE750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15889-4048-9E44-1C1D-191AC10C9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8B270-22AD-F2FA-A68C-8B3676B1D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96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8BF7-922E-5529-63A6-95723D18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E8ED9-C41D-7280-8194-252220AD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0B485-97DB-CE85-D0A7-8610838BD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9F68C-692D-5CDD-FEE1-07DC00C55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91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561B-6A4B-AF79-5F16-22EC5B25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F0B93F-9DF3-776C-0ADA-85C5C418D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E2B19-195C-C206-A44F-9E23B1861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our focus: prediction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they? functions, algorithms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specifically: neural network prediction machines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goal? Predict as well as we can. Approach is secondary.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F7172-C24A-FC09-F165-433FE324E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56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E2A3-8F68-03E1-587A-46037933A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584DC-2FEC-311C-FEC0-941D6972F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B743-195D-A24E-AE33-6DE2F7EE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B1E1A-D64A-EF8D-C5E3-4FF56F6E9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2464-5A86-7C58-902C-7BD3AC67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5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C12F-26DD-876A-029D-4399DEE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B584-69FC-2FFA-4CF5-AF919EE3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10FAB-2B77-7F53-C442-E2D93AF0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261D-CFD7-A0A3-8FE0-37042E4C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E9892-3472-EFA8-209A-F5919BDD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80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2FAE-61CA-D123-C2E2-91ECA24B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05870-4AD2-4F93-B4AD-01DD61BC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37AF4-4B9D-5977-607D-27BC766D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0E7BF-9AE7-E256-96A3-B3E86088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8BD48-823F-3482-DD6A-A2D3E373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6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A063-C35A-2836-9D49-977A1A9B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2862-048F-0BED-D91D-A943AF987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2D000-0BE5-8E89-5B10-5EFA3A637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5C0C5-6A4E-942C-BF25-B31A901A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5B5D6-D16B-E653-5D40-A1BB56F8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CEC73-5BAE-E9D1-CC02-B491B8BDF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4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480D-301D-33A8-8EEF-6E87E6FB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54796-E2B9-D5D6-5E2B-BE2A3A64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37A09B-1A73-E136-B839-039D78DC8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D9D70A-02F3-8A6F-C99E-F98B2D012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6AEF2-495C-1699-F1C7-7D003DD3AF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2B642-F7B6-22C0-0977-B1507F47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E11CC-FBCB-CCB0-537D-8A2C9FA0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69B64-1DF8-9A10-1541-F3FDE939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2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75FA-55AC-96EF-64B0-9FEEE8907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E08E4-519F-E3C0-87E5-61AFECAA7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CC263-901B-6935-43F9-58BF2385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50203-B5BC-0573-55DF-AB2BDA0C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7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1F979-E231-4EAA-AD7B-62F57C42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764D7-2D79-347D-D349-17B7C84E4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7977-A919-1BCC-FC89-57792A99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2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9AAA-C22E-9E58-D63A-99BCE582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B5B5-93D3-74C7-2173-83FEE997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B4A00-0F7F-A015-56BA-45675877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DE32F-4EB0-63B1-5798-B12D3BC70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18FE8-63FF-133C-CC7D-BE24E1F6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AB7B3-C41B-3EF3-6AA6-3BE4DEB7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2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6AB4-0C8E-8B28-88B5-999E341C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D8F739-710A-C6B8-CDB6-3AB6AF16E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7D66F-0EF6-A32A-15FC-E2C29C3F4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54D5C-153F-A55C-321F-3E916D6C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A0A08-952E-2BF8-444D-463F6778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F77D5-DA4C-CCF4-54EE-F4538C66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8B75-438E-A0EE-A5E3-D0D3DD354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F3A72-8BAD-B89F-228F-A1D8FF5BC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0B80-ACEC-B622-8D98-46940048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7B6D7-547C-5B7A-FEB2-025CF973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88B2-2462-D6A7-D3DB-E2226C64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0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FAF38-82DF-D2CF-9043-06FC1559D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108C3-9B9F-BD98-0B71-461BB7EE8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A92FC-9D39-DD11-F52A-72A2DD87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2F68A-9D7F-79D7-EF88-7771D466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D215-CE38-EF45-8214-B1038651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0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E24D1-E4CA-89E5-1A57-B711C849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3852D-406F-0CDD-BFC9-0F7679FA2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C6CA-48F5-4CF6-D9D7-044A13941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481E7-3EC7-124A-8537-0C0EDDAF5CB5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2888-29FB-B904-47F6-7B338D1A0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DB7F5-1F7D-730C-53DC-D8469DFD2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CC790-2AC2-744B-A509-06C7E3760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3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6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C17F-7A6A-F2D5-397F-65D9F8E48C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1886C-43B3-9A64-E166-0E549123E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  <a:p>
            <a:r>
              <a:rPr lang="en-US" dirty="0"/>
              <a:t>Duke Biostatistics &amp;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99372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8629-26BA-3DCA-3DCD-8B83DEAF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AI versus Generative AI (GenAI)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A9B6C3-3DD9-3522-D459-3CDD55BDD94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45F9D1-071D-505B-5D6D-23F43781C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Regression</a:t>
            </a:r>
          </a:p>
          <a:p>
            <a:r>
              <a:rPr lang="en-US" sz="2400" dirty="0"/>
              <a:t>Classification</a:t>
            </a:r>
          </a:p>
          <a:p>
            <a:r>
              <a:rPr lang="en-US" sz="2400" dirty="0"/>
              <a:t>Risk prediction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dirty="0"/>
              <a:t>Multimodal</a:t>
            </a:r>
          </a:p>
        </p:txBody>
      </p:sp>
    </p:spTree>
    <p:extLst>
      <p:ext uri="{BB962C8B-B14F-4D97-AF65-F5344CB8AC3E}">
        <p14:creationId xmlns:p14="http://schemas.microsoft.com/office/powerpoint/2010/main" val="404227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C78B-4FC1-ED74-5B13-C170C27A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2071-DED9-F790-0169-CA1B6635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AI versus Generative AI (GenAI)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1A0D24-034F-52F7-1379-61A9165366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85" y="1805353"/>
            <a:ext cx="2177180" cy="43592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BCC0E9-FCCD-B537-0FDA-1091032B6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8165" y="1904508"/>
            <a:ext cx="263211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Predictive AI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Regression</a:t>
            </a:r>
          </a:p>
          <a:p>
            <a:r>
              <a:rPr lang="en-US" sz="2400" dirty="0"/>
              <a:t>Classification</a:t>
            </a:r>
          </a:p>
          <a:p>
            <a:r>
              <a:rPr lang="en-US" sz="2400" dirty="0"/>
              <a:t>Risk prediction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dirty="0"/>
              <a:t>Multimodal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D60F6-BA3A-4C2D-03D0-3A19126B65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805352"/>
            <a:ext cx="2177180" cy="43592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22D491-BC4B-2B3E-0594-01E1EED7A568}"/>
              </a:ext>
            </a:extLst>
          </p:cNvPr>
          <p:cNvSpPr txBox="1">
            <a:spLocks/>
          </p:cNvSpPr>
          <p:nvPr/>
        </p:nvSpPr>
        <p:spPr>
          <a:xfrm>
            <a:off x="8721688" y="1904508"/>
            <a:ext cx="31024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Generative AI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Tasks</a:t>
            </a:r>
          </a:p>
          <a:p>
            <a:r>
              <a:rPr lang="en-US" sz="2400" dirty="0"/>
              <a:t>“Data generation”</a:t>
            </a:r>
          </a:p>
          <a:p>
            <a:r>
              <a:rPr lang="en-US" sz="2400" dirty="0"/>
              <a:t>Less well-defined</a:t>
            </a:r>
          </a:p>
          <a:p>
            <a:r>
              <a:rPr lang="en-US" sz="2400" dirty="0"/>
              <a:t>Can perform pred tasks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u="sng" dirty="0"/>
              <a:t>Types of data</a:t>
            </a:r>
          </a:p>
          <a:p>
            <a:r>
              <a:rPr lang="en-US" sz="2400" dirty="0"/>
              <a:t>Tabular</a:t>
            </a:r>
          </a:p>
          <a:p>
            <a:r>
              <a:rPr lang="en-US" sz="2400" dirty="0"/>
              <a:t>Images</a:t>
            </a:r>
          </a:p>
          <a:p>
            <a:r>
              <a:rPr lang="en-US" sz="2400" b="1" dirty="0"/>
              <a:t>Text</a:t>
            </a:r>
          </a:p>
          <a:p>
            <a:r>
              <a:rPr lang="en-US" sz="2400" dirty="0"/>
              <a:t>Biomedical signals</a:t>
            </a:r>
          </a:p>
          <a:p>
            <a:r>
              <a:rPr lang="en-US" sz="2400" b="1" dirty="0"/>
              <a:t>Multimodal</a:t>
            </a:r>
          </a:p>
        </p:txBody>
      </p:sp>
    </p:spTree>
    <p:extLst>
      <p:ext uri="{BB962C8B-B14F-4D97-AF65-F5344CB8AC3E}">
        <p14:creationId xmlns:p14="http://schemas.microsoft.com/office/powerpoint/2010/main" val="77421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A755C91-54B1-D53E-331A-807DDECBA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Predictive AI Paradigm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CF9A1DD-56D8-EB20-290C-7FD3093640D3}"/>
              </a:ext>
            </a:extLst>
          </p:cNvPr>
          <p:cNvSpPr/>
          <p:nvPr/>
        </p:nvSpPr>
        <p:spPr>
          <a:xfrm rot="16200000">
            <a:off x="4238288" y="623021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F46D1-FADF-F679-59E4-FFF92F95E1E4}"/>
              </a:ext>
            </a:extLst>
          </p:cNvPr>
          <p:cNvSpPr txBox="1"/>
          <p:nvPr/>
        </p:nvSpPr>
        <p:spPr>
          <a:xfrm>
            <a:off x="2778049" y="3877721"/>
            <a:ext cx="29871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subject or patient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D8C63-D92A-E01D-86B0-6CCA696365FA}"/>
              </a:ext>
            </a:extLst>
          </p:cNvPr>
          <p:cNvSpPr txBox="1"/>
          <p:nvPr/>
        </p:nvSpPr>
        <p:spPr>
          <a:xfrm>
            <a:off x="8515761" y="3277853"/>
            <a:ext cx="2671356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associated value or label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57A14-4CCC-AC10-02CC-BE1BAE3575F4}"/>
              </a:ext>
            </a:extLst>
          </p:cNvPr>
          <p:cNvSpPr txBox="1"/>
          <p:nvPr/>
        </p:nvSpPr>
        <p:spPr>
          <a:xfrm>
            <a:off x="4184515" y="5715128"/>
            <a:ext cx="382297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predict</a:t>
            </a:r>
            <a:r>
              <a:rPr lang="en-US" sz="2636" i="1" dirty="0"/>
              <a:t>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636" dirty="0"/>
              <a:t> from </a:t>
            </a:r>
            <a:r>
              <a:rPr lang="en-US" sz="2636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636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3CAD5B-863C-DFED-D72C-02B3BAE01BB9}"/>
              </a:ext>
            </a:extLst>
          </p:cNvPr>
          <p:cNvGraphicFramePr>
            <a:graphicFrameLocks noGrp="1"/>
          </p:cNvGraphicFramePr>
          <p:nvPr/>
        </p:nvGraphicFramePr>
        <p:xfrm>
          <a:off x="1521336" y="2444717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673E038-76B2-30C3-48ED-E5B6F5B07695}"/>
              </a:ext>
            </a:extLst>
          </p:cNvPr>
          <p:cNvGraphicFramePr>
            <a:graphicFrameLocks noGrp="1"/>
          </p:cNvGraphicFramePr>
          <p:nvPr/>
        </p:nvGraphicFramePr>
        <p:xfrm>
          <a:off x="8344310" y="2444716"/>
          <a:ext cx="723031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F08EBF-536F-4A44-8A33-5DF8AD88E2C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305584" y="2798642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3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8D13-8355-822A-5CEF-87818BD8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0A8412-51D8-E5C6-A9DF-D5B41D73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Generative AI Paradigm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284B0908-FD29-F500-0401-656322E447D4}"/>
              </a:ext>
            </a:extLst>
          </p:cNvPr>
          <p:cNvSpPr/>
          <p:nvPr/>
        </p:nvSpPr>
        <p:spPr>
          <a:xfrm rot="16200000">
            <a:off x="7979970" y="795993"/>
            <a:ext cx="350344" cy="5784248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4B99E-D367-5905-1BAF-0D9D44B37B53}"/>
              </a:ext>
            </a:extLst>
          </p:cNvPr>
          <p:cNvSpPr txBox="1"/>
          <p:nvPr/>
        </p:nvSpPr>
        <p:spPr>
          <a:xfrm>
            <a:off x="6519731" y="4050693"/>
            <a:ext cx="452753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data/features for a synthetic subject or patient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09F90-3649-E4A1-EA14-8E18301B6B28}"/>
              </a:ext>
            </a:extLst>
          </p:cNvPr>
          <p:cNvSpPr txBox="1"/>
          <p:nvPr/>
        </p:nvSpPr>
        <p:spPr>
          <a:xfrm>
            <a:off x="2807772" y="5715128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BCCD97B-0081-655A-D60A-417D4C1CF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281120"/>
              </p:ext>
            </p:extLst>
          </p:nvPr>
        </p:nvGraphicFramePr>
        <p:xfrm>
          <a:off x="5263018" y="2617689"/>
          <a:ext cx="5784248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03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40623976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0062079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87841067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231710633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3112262120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1492693499"/>
                    </a:ext>
                  </a:extLst>
                </a:gridCol>
                <a:gridCol w="723031">
                  <a:extLst>
                    <a:ext uri="{9D8B030D-6E8A-4147-A177-3AD203B41FA5}">
                      <a16:colId xmlns:a16="http://schemas.microsoft.com/office/drawing/2014/main" val="4043894517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FD1E1D1-E1AC-C7BB-6BD9-776C37EE2F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DB200EDE-0583-F187-DF9B-84FB472F6152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D39D4-1589-95ED-D6E9-B3E68A25D631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29F294-6EE1-D913-48A8-1CF72256E6DE}"/>
              </a:ext>
            </a:extLst>
          </p:cNvPr>
          <p:cNvCxnSpPr>
            <a:cxnSpLocks/>
          </p:cNvCxnSpPr>
          <p:nvPr/>
        </p:nvCxnSpPr>
        <p:spPr>
          <a:xfrm flipV="1">
            <a:off x="4177400" y="2971616"/>
            <a:ext cx="103872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7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B8B1-AB41-D3D6-2E03-6CD2E4C8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F57180A-2883-C739-1BB5-8860CBE1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Image generation via GAN or diffusion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81A20B-20BB-9295-4E55-2613D720C52D}"/>
              </a:ext>
            </a:extLst>
          </p:cNvPr>
          <p:cNvSpPr txBox="1"/>
          <p:nvPr/>
        </p:nvSpPr>
        <p:spPr>
          <a:xfrm>
            <a:off x="287310" y="6114016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5B98A-233F-0D3E-4DF7-16FBA18B754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AD6923C1-1C65-6595-6B82-DDE7512A61F7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F1DA7-0041-7FFE-24D8-26DC5D60256D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097277-3DB3-4BA5-6669-70A5DF66F9C8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235D5EE-B4C4-9908-24CE-F2F6A9C4D5D7}"/>
              </a:ext>
            </a:extLst>
          </p:cNvPr>
          <p:cNvSpPr/>
          <p:nvPr/>
        </p:nvSpPr>
        <p:spPr>
          <a:xfrm>
            <a:off x="7335057" y="1690688"/>
            <a:ext cx="3479800" cy="35226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15285B0-214B-A3A3-F049-C3936974F5A8}"/>
              </a:ext>
            </a:extLst>
          </p:cNvPr>
          <p:cNvSpPr/>
          <p:nvPr/>
        </p:nvSpPr>
        <p:spPr>
          <a:xfrm rot="16200000">
            <a:off x="8899785" y="3766615"/>
            <a:ext cx="350344" cy="3479800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6C5E-0C46-F54C-81E1-E5F4694F2E18}"/>
                  </a:ext>
                </a:extLst>
              </p:cNvPr>
              <p:cNvSpPr txBox="1"/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retinal image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DC6C5E-0C46-F54C-81E1-E5F4694F2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8631" y="5646774"/>
                <a:ext cx="2987135" cy="953210"/>
              </a:xfrm>
              <a:prstGeom prst="rect">
                <a:avLst/>
              </a:prstGeom>
              <a:blipFill>
                <a:blip r:embed="rId4"/>
                <a:stretch>
                  <a:fillRect l="-4237" t="-6579" r="-1271" b="-171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Cover">
            <a:extLst>
              <a:ext uri="{FF2B5EF4-FFF2-40B4-BE49-F238E27FC236}">
                <a16:creationId xmlns:a16="http://schemas.microsoft.com/office/drawing/2014/main" id="{21EECC0C-04E7-D7E7-0789-FD19DAC5F5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04327" y="1808682"/>
            <a:ext cx="3289301" cy="326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2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40D86-5A8B-5530-CFDA-7B09CF57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4DBF580-2B6C-0816-BA2D-F4949995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Generative Adversarial Network (GAN)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3369B3-30F9-899C-3AAB-FE6D3A06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94" y="1933311"/>
            <a:ext cx="4560206" cy="2422044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8C0C45-EA45-CDB5-0161-45A4BF1E9C38}"/>
              </a:ext>
            </a:extLst>
          </p:cNvPr>
          <p:cNvSpPr/>
          <p:nvPr/>
        </p:nvSpPr>
        <p:spPr>
          <a:xfrm>
            <a:off x="694267" y="1690688"/>
            <a:ext cx="4944533" cy="266466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B002F65-6F84-DAEE-4822-81092DA14F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2293" y="4597978"/>
            <a:ext cx="1724107" cy="162268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AC4BB8-6436-E5CE-83A1-3B07C3E379B5}"/>
              </a:ext>
            </a:extLst>
          </p:cNvPr>
          <p:cNvSpPr txBox="1"/>
          <p:nvPr/>
        </p:nvSpPr>
        <p:spPr>
          <a:xfrm>
            <a:off x="3864266" y="6309401"/>
            <a:ext cx="1520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real retinal image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CD5D4B-16F0-BF54-F657-617B0DFC36BD}"/>
              </a:ext>
            </a:extLst>
          </p:cNvPr>
          <p:cNvSpPr txBox="1"/>
          <p:nvPr/>
        </p:nvSpPr>
        <p:spPr>
          <a:xfrm>
            <a:off x="781083" y="3599504"/>
            <a:ext cx="2912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IMAGE GENERATOR</a:t>
            </a:r>
          </a:p>
          <a:p>
            <a:pPr algn="ctr"/>
            <a:r>
              <a:rPr lang="en-US" sz="1600" dirty="0"/>
              <a:t>(CNN-based generative model)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736F485-2414-2DA9-0D59-81268704690C}"/>
              </a:ext>
            </a:extLst>
          </p:cNvPr>
          <p:cNvSpPr/>
          <p:nvPr/>
        </p:nvSpPr>
        <p:spPr>
          <a:xfrm>
            <a:off x="6821043" y="3272415"/>
            <a:ext cx="2983357" cy="132556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Discriminator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(CNN-based predictive model)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0B3E6F-FC8C-7D58-152A-0FEC49ABD057}"/>
              </a:ext>
            </a:extLst>
          </p:cNvPr>
          <p:cNvCxnSpPr>
            <a:stCxn id="23" idx="3"/>
          </p:cNvCxnSpPr>
          <p:nvPr/>
        </p:nvCxnSpPr>
        <p:spPr>
          <a:xfrm>
            <a:off x="5638800" y="3023022"/>
            <a:ext cx="1182243" cy="576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2FB716-E92D-DF1A-E5D8-B9F74E0F5EE1}"/>
              </a:ext>
            </a:extLst>
          </p:cNvPr>
          <p:cNvCxnSpPr>
            <a:cxnSpLocks/>
          </p:cNvCxnSpPr>
          <p:nvPr/>
        </p:nvCxnSpPr>
        <p:spPr>
          <a:xfrm flipV="1">
            <a:off x="5486400" y="4355355"/>
            <a:ext cx="1334643" cy="1053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A7AEB1-0450-104C-F30A-ED6D1D3B561B}"/>
              </a:ext>
            </a:extLst>
          </p:cNvPr>
          <p:cNvCxnSpPr>
            <a:cxnSpLocks/>
          </p:cNvCxnSpPr>
          <p:nvPr/>
        </p:nvCxnSpPr>
        <p:spPr>
          <a:xfrm>
            <a:off x="9804400" y="3972916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175018-070B-C3D5-74EE-7C81A2167A7A}"/>
                  </a:ext>
                </a:extLst>
              </p:cNvPr>
              <p:cNvSpPr txBox="1"/>
              <p:nvPr/>
            </p:nvSpPr>
            <p:spPr>
              <a:xfrm>
                <a:off x="10414000" y="3772861"/>
                <a:ext cx="1376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175018-070B-C3D5-74EE-7C81A2167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000" y="3772861"/>
                <a:ext cx="1376915" cy="400110"/>
              </a:xfrm>
              <a:prstGeom prst="rect">
                <a:avLst/>
              </a:prstGeom>
              <a:blipFill>
                <a:blip r:embed="rId5"/>
                <a:stretch>
                  <a:fillRect t="-9375" r="-636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933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411F-DD95-EB09-B133-EC6021C06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28CC-27E3-B204-F7D7-B0C36FAE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via Diffusion</a:t>
            </a:r>
          </a:p>
        </p:txBody>
      </p:sp>
      <p:pic>
        <p:nvPicPr>
          <p:cNvPr id="5" name="fundus_diffusion">
            <a:hlinkClick r:id="" action="ppaction://media"/>
            <a:extLst>
              <a:ext uri="{FF2B5EF4-FFF2-40B4-BE49-F238E27FC236}">
                <a16:creationId xmlns:a16="http://schemas.microsoft.com/office/drawing/2014/main" id="{9DAE5362-685D-B42C-F250-21C15237FA4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00" y="1690688"/>
            <a:ext cx="4953000" cy="467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DF4822-2CFD-3C13-FAE7-3243A90D3FFC}"/>
              </a:ext>
            </a:extLst>
          </p:cNvPr>
          <p:cNvSpPr txBox="1"/>
          <p:nvPr/>
        </p:nvSpPr>
        <p:spPr>
          <a:xfrm>
            <a:off x="1722722" y="2354042"/>
            <a:ext cx="33939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learns to predict what noise was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generation, it progressively de-noises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images, the diffusion process is typically performed on latent image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1033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B52C9-785D-1C67-4B93-ED3F8A3A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92F79-5268-0E40-6555-D7F8936E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via Diffusion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A3958-2647-151F-765E-576780E475E6}"/>
              </a:ext>
            </a:extLst>
          </p:cNvPr>
          <p:cNvSpPr txBox="1"/>
          <p:nvPr/>
        </p:nvSpPr>
        <p:spPr>
          <a:xfrm>
            <a:off x="1722722" y="2354042"/>
            <a:ext cx="33939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learns to predict what noise was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generation, it progressively de-noises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images, the diffusion process is typically performed on latent image representations</a:t>
            </a:r>
          </a:p>
        </p:txBody>
      </p:sp>
      <p:pic>
        <p:nvPicPr>
          <p:cNvPr id="6" name="mmci_diffusion">
            <a:hlinkClick r:id="" action="ppaction://media"/>
            <a:extLst>
              <a:ext uri="{FF2B5EF4-FFF2-40B4-BE49-F238E27FC236}">
                <a16:creationId xmlns:a16="http://schemas.microsoft.com/office/drawing/2014/main" id="{172C140C-363E-CA47-0D85-EB088B1E3B9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075357" y="447485"/>
            <a:ext cx="4536841" cy="604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8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882D-11CA-0CF9-A168-0CA08116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A0E8468-2C04-5D1C-FD06-72E62C0F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can we generate </a:t>
            </a:r>
            <a:r>
              <a:rPr lang="en-US" b="1" dirty="0"/>
              <a:t>text </a:t>
            </a:r>
            <a:r>
              <a:rPr lang="en-US" dirty="0"/>
              <a:t>from randomness?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64747-22B5-FB45-5588-AEC2A82A06E2}"/>
              </a:ext>
            </a:extLst>
          </p:cNvPr>
          <p:cNvSpPr txBox="1"/>
          <p:nvPr/>
        </p:nvSpPr>
        <p:spPr>
          <a:xfrm>
            <a:off x="287310" y="6114016"/>
            <a:ext cx="6576480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36" dirty="0"/>
              <a:t>End goal: create structure from randomness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93445-37F0-22B3-0826-268870D0F2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036" y="2089793"/>
            <a:ext cx="2645472" cy="1763648"/>
          </a:xfrm>
          <a:prstGeom prst="rect">
            <a:avLst/>
          </a:prstGeom>
          <a:effectLst/>
        </p:spPr>
      </p:pic>
      <p:sp>
        <p:nvSpPr>
          <p:cNvPr id="4" name="Left Brace 3">
            <a:extLst>
              <a:ext uri="{FF2B5EF4-FFF2-40B4-BE49-F238E27FC236}">
                <a16:creationId xmlns:a16="http://schemas.microsoft.com/office/drawing/2014/main" id="{75B0A4CB-1D06-3C71-F356-277B7CFD322C}"/>
              </a:ext>
            </a:extLst>
          </p:cNvPr>
          <p:cNvSpPr/>
          <p:nvPr/>
        </p:nvSpPr>
        <p:spPr>
          <a:xfrm rot="16200000">
            <a:off x="2626667" y="2842221"/>
            <a:ext cx="350344" cy="2645472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18979-96E3-B094-A006-56085FE61BA1}"/>
              </a:ext>
            </a:extLst>
          </p:cNvPr>
          <p:cNvSpPr txBox="1"/>
          <p:nvPr/>
        </p:nvSpPr>
        <p:spPr>
          <a:xfrm>
            <a:off x="1950370" y="4340129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random noise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8A583F-2A10-066A-F927-D03027978DA0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7E1E32D9-D7F2-8814-94ED-E664CF1C382E}"/>
              </a:ext>
            </a:extLst>
          </p:cNvPr>
          <p:cNvSpPr/>
          <p:nvPr/>
        </p:nvSpPr>
        <p:spPr>
          <a:xfrm rot="16200000">
            <a:off x="8312387" y="334348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0EC3B5-30E9-B9BB-AD6B-8B3FD837EC7C}"/>
                  </a:ext>
                </a:extLst>
              </p:cNvPr>
              <p:cNvSpPr txBox="1"/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clinical note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0EC3B5-30E9-B9BB-AD6B-8B3FD837E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blipFill>
                <a:blip r:embed="rId4"/>
                <a:stretch>
                  <a:fillRect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C0B7779-5457-C51E-3871-2470DDC829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0030" y="1719813"/>
            <a:ext cx="2586151" cy="227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59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CB73-5573-46EB-13AF-2E3D88C4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0A0F14C-B8E9-F9C5-FE09-1375EC056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How can we generate </a:t>
            </a:r>
            <a:r>
              <a:rPr lang="en-US" b="1" dirty="0"/>
              <a:t>text</a:t>
            </a:r>
            <a:r>
              <a:rPr lang="en-US" dirty="0"/>
              <a:t> from a prompt?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21B1A8-86EE-CFF2-9936-360533E10333}"/>
              </a:ext>
            </a:extLst>
          </p:cNvPr>
          <p:cNvCxnSpPr>
            <a:cxnSpLocks/>
          </p:cNvCxnSpPr>
          <p:nvPr/>
        </p:nvCxnSpPr>
        <p:spPr>
          <a:xfrm>
            <a:off x="4177400" y="2971617"/>
            <a:ext cx="30557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301D3397-FBC0-03EF-6BC5-70180C9D6474}"/>
              </a:ext>
            </a:extLst>
          </p:cNvPr>
          <p:cNvSpPr/>
          <p:nvPr/>
        </p:nvSpPr>
        <p:spPr>
          <a:xfrm rot="16200000">
            <a:off x="8312387" y="3343487"/>
            <a:ext cx="350344" cy="1851535"/>
          </a:xfrm>
          <a:prstGeom prst="leftBrace">
            <a:avLst>
              <a:gd name="adj1" fmla="val 8333"/>
              <a:gd name="adj2" fmla="val 24563"/>
            </a:avLst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F1EB1D-39BB-42A8-896E-AF7F174035D3}"/>
                  </a:ext>
                </a:extLst>
              </p:cNvPr>
              <p:cNvSpPr txBox="1"/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797" i="1" dirty="0" smtClean="0">
                        <a:latin typeface="Cambria Math" panose="02040503050406030204" pitchFamily="18" charset="0"/>
                        <a:cs typeface="Poppins Light" panose="00000400000000000000" pitchFamily="2" charset="0"/>
                      </a:rPr>
                      <m:t>𝑥</m:t>
                    </m:r>
                  </m:oMath>
                </a14:m>
                <a:r>
                  <a:rPr lang="en-US" sz="2797" dirty="0">
                    <a:cs typeface="Poppins Light" panose="00000400000000000000" pitchFamily="2" charset="0"/>
                  </a:rPr>
                  <a:t>, realistic clinical note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F1EB1D-39BB-42A8-896E-AF7F17403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546" y="4508413"/>
                <a:ext cx="4261944" cy="522772"/>
              </a:xfrm>
              <a:prstGeom prst="rect">
                <a:avLst/>
              </a:prstGeom>
              <a:blipFill>
                <a:blip r:embed="rId3"/>
                <a:stretch>
                  <a:fillRect t="-14634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F9DB97A-661C-72C1-E936-75ED6E30471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20" b="91884" l="9885" r="90026">
                        <a14:foregroundMark x1="60547" y1="11323" x2="60547" y2="11323"/>
                        <a14:foregroundMark x1="21094" y1="83667" x2="21094" y2="83667"/>
                        <a14:foregroundMark x1="25508" y1="91884" x2="25508" y2="91884"/>
                        <a14:foregroundMark x1="51545" y1="77054" x2="51545" y2="77054"/>
                        <a14:foregroundMark x1="57282" y1="76854" x2="57282" y2="76854"/>
                        <a14:foregroundMark x1="58694" y1="58216" x2="58694" y2="58216"/>
                        <a14:foregroundMark x1="47396" y1="27054" x2="47396" y2="27054"/>
                        <a14:foregroundMark x1="35834" y1="16433" x2="57282" y2="59018"/>
                        <a14:foregroundMark x1="17829" y1="76854" x2="75552" y2="36874"/>
                        <a14:foregroundMark x1="67608" y1="89980" x2="40512" y2="17535"/>
                        <a14:foregroundMark x1="40512" y1="17535" x2="73698" y2="26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0030" y="1719813"/>
            <a:ext cx="2586151" cy="22770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9513E4-C49D-6AFA-1987-5B4F3A1B003E}"/>
              </a:ext>
            </a:extLst>
          </p:cNvPr>
          <p:cNvSpPr txBox="1"/>
          <p:nvPr/>
        </p:nvSpPr>
        <p:spPr>
          <a:xfrm>
            <a:off x="472854" y="5681686"/>
            <a:ext cx="4802660" cy="903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36" dirty="0"/>
              <a:t>End goal: create structure </a:t>
            </a:r>
          </a:p>
          <a:p>
            <a:r>
              <a:rPr lang="en-US" sz="2636" u="sng" dirty="0"/>
              <a:t>consistent with the user prompt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1F55D903-6351-1A53-E5D7-EA5C9FDB7181}"/>
              </a:ext>
            </a:extLst>
          </p:cNvPr>
          <p:cNvSpPr/>
          <p:nvPr/>
        </p:nvSpPr>
        <p:spPr>
          <a:xfrm rot="16200000">
            <a:off x="2486205" y="2047817"/>
            <a:ext cx="350344" cy="2926396"/>
          </a:xfrm>
          <a:prstGeom prst="leftBrace">
            <a:avLst>
              <a:gd name="adj1" fmla="val 8333"/>
              <a:gd name="adj2" fmla="val 2468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79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DE87C-894B-AFE6-DFDF-DED7FB859AAF}"/>
              </a:ext>
            </a:extLst>
          </p:cNvPr>
          <p:cNvSpPr txBox="1"/>
          <p:nvPr/>
        </p:nvSpPr>
        <p:spPr>
          <a:xfrm>
            <a:off x="1198179" y="2648451"/>
            <a:ext cx="2926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 a note reporting on an autism assessment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0FE0E0-2A0F-750E-25AD-C233EC679D81}"/>
              </a:ext>
            </a:extLst>
          </p:cNvPr>
          <p:cNvSpPr txBox="1"/>
          <p:nvPr/>
        </p:nvSpPr>
        <p:spPr>
          <a:xfrm>
            <a:off x="1750674" y="3686187"/>
            <a:ext cx="298713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7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797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prompt</a:t>
            </a:r>
          </a:p>
        </p:txBody>
      </p:sp>
    </p:spTree>
    <p:extLst>
      <p:ext uri="{BB962C8B-B14F-4D97-AF65-F5344CB8AC3E}">
        <p14:creationId xmlns:p14="http://schemas.microsoft.com/office/powerpoint/2010/main" val="6753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511</Words>
  <Application>Microsoft Macintosh PowerPoint</Application>
  <PresentationFormat>Widescreen</PresentationFormat>
  <Paragraphs>124</Paragraphs>
  <Slides>11</Slides>
  <Notes>7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Poppins Light</vt:lpstr>
      <vt:lpstr>Times New Roman</vt:lpstr>
      <vt:lpstr>Office Theme</vt:lpstr>
      <vt:lpstr>Introduction to Generative AI</vt:lpstr>
      <vt:lpstr>Predictive AI versus Generative AI (GenAI)</vt:lpstr>
      <vt:lpstr>Predictive AI versus Generative AI (GenAI)</vt:lpstr>
      <vt:lpstr>The Predictive AI Paradigm</vt:lpstr>
      <vt:lpstr>The Generative AI Paradigm</vt:lpstr>
      <vt:lpstr>Image generation via GAN or diffusion</vt:lpstr>
      <vt:lpstr>Generative Adversarial Network (GAN)</vt:lpstr>
      <vt:lpstr>Generation via Diffusion</vt:lpstr>
      <vt:lpstr>Generation via Diffusion</vt:lpstr>
      <vt:lpstr>How can we generate text from randomness?</vt:lpstr>
      <vt:lpstr>How can we generate text from a prompt?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35</cp:revision>
  <dcterms:created xsi:type="dcterms:W3CDTF">2026-01-05T18:42:21Z</dcterms:created>
  <dcterms:modified xsi:type="dcterms:W3CDTF">2026-06-26T02:50:42Z</dcterms:modified>
</cp:coreProperties>
</file>