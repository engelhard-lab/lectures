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147477865" r:id="rId3"/>
    <p:sldId id="2147477866" r:id="rId4"/>
    <p:sldId id="2147477867" r:id="rId5"/>
    <p:sldId id="2147477868" r:id="rId6"/>
    <p:sldId id="2147477869" r:id="rId7"/>
    <p:sldId id="2147477870" r:id="rId8"/>
    <p:sldId id="2147477871" r:id="rId9"/>
    <p:sldId id="2147477872" r:id="rId10"/>
    <p:sldId id="2147477887" r:id="rId11"/>
    <p:sldId id="2147477889" r:id="rId12"/>
    <p:sldId id="2147477888" r:id="rId13"/>
    <p:sldId id="2147477892" r:id="rId14"/>
    <p:sldId id="2147477890" r:id="rId15"/>
    <p:sldId id="2147477891" r:id="rId16"/>
    <p:sldId id="2147477894" r:id="rId17"/>
    <p:sldId id="2147477893" r:id="rId18"/>
    <p:sldId id="2147477897" r:id="rId19"/>
    <p:sldId id="2147477898" r:id="rId20"/>
    <p:sldId id="2147477895" r:id="rId21"/>
    <p:sldId id="2147477899" r:id="rId22"/>
    <p:sldId id="2147477900" r:id="rId23"/>
    <p:sldId id="2147477919" r:id="rId24"/>
    <p:sldId id="2147477901" r:id="rId25"/>
    <p:sldId id="2147477902" r:id="rId26"/>
    <p:sldId id="2147477918" r:id="rId27"/>
    <p:sldId id="2147477903" r:id="rId28"/>
    <p:sldId id="2147477916" r:id="rId29"/>
    <p:sldId id="2147477917" r:id="rId30"/>
    <p:sldId id="2147477907" r:id="rId31"/>
    <p:sldId id="939" r:id="rId32"/>
    <p:sldId id="2147477921" r:id="rId33"/>
    <p:sldId id="940" r:id="rId34"/>
    <p:sldId id="2147477876" r:id="rId35"/>
    <p:sldId id="908" r:id="rId36"/>
    <p:sldId id="2147477922" r:id="rId37"/>
    <p:sldId id="2147477923" r:id="rId38"/>
    <p:sldId id="2147477880" r:id="rId39"/>
    <p:sldId id="2147477881" r:id="rId40"/>
    <p:sldId id="2147477882" r:id="rId41"/>
    <p:sldId id="2147477924" r:id="rId42"/>
    <p:sldId id="2147477925" r:id="rId43"/>
    <p:sldId id="2147477926" r:id="rId44"/>
    <p:sldId id="2147477883" r:id="rId45"/>
    <p:sldId id="2147477885" r:id="rId46"/>
    <p:sldId id="891" r:id="rId47"/>
    <p:sldId id="2147477927" r:id="rId48"/>
    <p:sldId id="2147477928" r:id="rId49"/>
    <p:sldId id="898" r:id="rId50"/>
    <p:sldId id="899" r:id="rId51"/>
    <p:sldId id="900" r:id="rId52"/>
    <p:sldId id="902" r:id="rId53"/>
    <p:sldId id="901" r:id="rId54"/>
    <p:sldId id="90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7"/>
    <p:restoredTop sz="84440"/>
  </p:normalViewPr>
  <p:slideViewPr>
    <p:cSldViewPr snapToGrid="0">
      <p:cViewPr varScale="1">
        <p:scale>
          <a:sx n="130" d="100"/>
          <a:sy n="130" d="100"/>
        </p:scale>
        <p:origin x="43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DB165-4AA5-C74B-B92C-8112284ED01E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473FC-0C5D-CC45-9E3C-24DA0A6AE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8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47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3E3B-D842-7E36-FB83-9335C0E6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FEA91-1F61-962F-5806-3EBE182E9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EE87B-79E2-D1FD-EBBC-9315C97BE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67FDE-338F-8484-B884-406551CCD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7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493E8-D385-EBE9-1209-5E12D8CD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521A4-F689-BD7A-F89C-8AFBDBEE1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D26A5-A57D-332E-3AB0-500F5DA8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CDEF0-BF7D-A9ED-75B5-EA73FE347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73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4525-D83A-09B8-A3E5-B155F7FA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C0C6E-7C21-23FE-2A62-8E130F0BF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9E093-B200-EC03-EF31-271158075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E7574-8B22-7336-B71E-54D74F10D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B022-EE78-A46A-CEB4-FB992068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0ED7-6A32-47F9-5B3A-64208A61D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D56B7-6266-8946-694B-9734E8681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D3638-B056-2CFE-BFE2-82E00559D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09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7916-9358-8CBF-EDB4-3195F835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2E38B-EC04-21CB-F766-3C6471CF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77064-2467-AC7E-AD77-3EBAB2DB8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haven’t we covered? Positional encodings.</a:t>
            </a:r>
          </a:p>
          <a:p>
            <a:endParaRPr lang="en-US" dirty="0"/>
          </a:p>
          <a:p>
            <a:r>
              <a:rPr lang="en-US" dirty="0"/>
              <a:t>Again emphasize that we are progressively refining our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505DC-8A3B-44C5-D6D6-983A08A0C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5A5AC-518E-BD4E-B7EF-25EA240514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81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94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054E8-221D-1F5E-14CC-21288D73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5353A-2CF9-9891-2F2A-4C8686FAC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31F07-D5E2-15F8-7522-177B2F807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0D554-0C95-D88F-96E6-4416ECD87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1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C3F4-2EED-4623-2696-1F13369C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36C44-AA08-03F3-D652-7D0C97773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84492-0425-C107-F08A-04CB31267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F0934-C8DF-B26E-DB31-AB5457DDA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95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FD18-EEFD-5349-8368-29C750B5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F69B3-C179-A40D-8353-3ACA1EDCB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DC6CF-9BC2-4243-3C45-553B95D52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8F5D1-0CD8-5B70-5CF2-6BF33BEEE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13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E77D-7461-82C0-3094-4728BAC5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AC910-58C5-42D0-0D5A-BE1BC6349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B7DA3-E5DF-79E7-6010-3287EB2F2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C1EAC-A6DA-DB7D-57B5-396D95AFA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19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68E3-CA66-71F4-FCE6-9804519B1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AF775-75D0-2ABB-4AA6-43E4D5E99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5CA46-E07E-E7E1-D822-06F127398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215D2-4DF8-D19A-C725-72DB640C4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29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48C4-2896-65E3-0E76-3383EB9C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3E122-9E1E-9D4A-1B67-3F8E026F4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C9E82-9A07-AEDF-EB77-EB35E60EA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907AE-C04E-8DF5-AAF0-5318CFC7F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43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3F39-C62D-F447-FE8A-CB59148F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C86F2-5290-69D3-22B9-EAFB6530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6FA3A-62FB-C90C-7507-D96A45613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15E21-E16B-F24B-311A-93FAD5AE1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91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86C2-D80B-84F3-BC14-FA0977F9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7917A-A878-7B3B-5E14-6A45E0795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4E05E-433C-AC0B-5AAC-1C702AF23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07779-6BAC-1256-2632-2014ED177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315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7C4C-BB3F-3BCB-1CBA-63A528DA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71FDF-D515-FB2D-2748-D4B96B6B6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919FB-B8CE-9FF1-C127-D216F088B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47E4-9936-15C9-4BAC-FC7DE5549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39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1A830-4CCE-2F6D-D08D-FC15DDE8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8CADA-A5C5-3EA8-2D16-538D316AD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CB589-C79F-ECC4-39DC-B13DA78BC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ED100-2EDB-41C0-E498-AA7886079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180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1573-9FC3-42A0-114D-0B3B96E1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00E2B-496F-1AD8-8106-D79E583DF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C89B6-B703-47AC-50ED-8D754D796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B4072-6881-3C98-9A1B-9F7C626ED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88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4766-B0BF-0117-CEBF-9B9712074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F8BD3-5B9A-AF81-4479-4DD5C161F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BC37C-83C7-2AEB-651C-EF2C34026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C0937-3A1A-E584-990A-0251144A3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1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0045F-2631-5CC5-9114-6730B1D4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8EE13-73A3-B189-3FC1-FDE415C5D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9F531-4ABA-89E8-01F2-FCA2036A1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1842B-9BC8-1BC3-95C7-076717A39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312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2D18-6F2F-8DAC-585C-08AFA1DF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1C304-EC15-396D-F36A-F79461E6C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5E595-EF07-0CFA-57BE-2EB510246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EB68C-6581-2A95-9625-9E4B3D0F5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97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A287-71AC-5C89-48BA-3A605A82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F5790-D172-C248-094F-79929B0EF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210D0-4E92-9186-C3D3-E07D2A1D4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6D0FF-F0DF-B05F-74AB-CA396556A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839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42E9-7D30-6D80-5E83-93533D45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60AC0-AB0D-BC29-4897-E3DBABD93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B56C5-2868-4DD3-1A16-FEE87F11D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0D1BC-809A-8214-B4BB-7E1380C0C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77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1346-36B9-CEF5-4FA4-E472E74F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50C03-40CA-00C7-49B0-B0610DE7C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028E3-2E1C-2766-A4C5-27085F3B9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what about the systems we’re seeing today?</a:t>
            </a:r>
          </a:p>
          <a:p>
            <a:r>
              <a:rPr lang="en-US" dirty="0"/>
              <a:t>Does the paradigm I’ve described still fit?</a:t>
            </a:r>
          </a:p>
          <a:p>
            <a:endParaRPr lang="en-US" dirty="0"/>
          </a:p>
          <a:p>
            <a:r>
              <a:rPr lang="en-US" dirty="0"/>
              <a:t>“next-token predictor”</a:t>
            </a:r>
          </a:p>
          <a:p>
            <a:r>
              <a:rPr lang="en-US" dirty="0"/>
              <a:t>“stochastic parrot”</a:t>
            </a:r>
          </a:p>
          <a:p>
            <a:endParaRPr lang="en-US" dirty="0"/>
          </a:p>
          <a:p>
            <a:r>
              <a:rPr lang="en-US" dirty="0"/>
              <a:t>Generation via repeated prediction</a:t>
            </a:r>
          </a:p>
          <a:p>
            <a:endParaRPr lang="en-US" dirty="0"/>
          </a:p>
          <a:p>
            <a:r>
              <a:rPr lang="en-US" dirty="0"/>
              <a:t>Make the point about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71A71-5AB7-3326-5218-7A0942674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71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1F99-AA73-85E3-DC6C-85782C35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98F60-AF9B-04D3-C3F7-74BA91DE1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FCBB4-2490-D2C9-B6FC-DE1B24CE2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what about the systems we’re seeing today?</a:t>
            </a:r>
          </a:p>
          <a:p>
            <a:r>
              <a:rPr lang="en-US" dirty="0"/>
              <a:t>Does the paradigm I’ve described still fit?</a:t>
            </a:r>
          </a:p>
          <a:p>
            <a:endParaRPr lang="en-US" dirty="0"/>
          </a:p>
          <a:p>
            <a:r>
              <a:rPr lang="en-US" dirty="0"/>
              <a:t>“next-token predictor”</a:t>
            </a:r>
          </a:p>
          <a:p>
            <a:r>
              <a:rPr lang="en-US" dirty="0"/>
              <a:t>“stochastic parrot”</a:t>
            </a:r>
          </a:p>
          <a:p>
            <a:endParaRPr lang="en-US" dirty="0"/>
          </a:p>
          <a:p>
            <a:r>
              <a:rPr lang="en-US" dirty="0"/>
              <a:t>Generation via repeated prediction</a:t>
            </a:r>
          </a:p>
          <a:p>
            <a:endParaRPr lang="en-US" dirty="0"/>
          </a:p>
          <a:p>
            <a:r>
              <a:rPr lang="en-US" dirty="0"/>
              <a:t>Make the point about truth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60E72-66E5-B2F4-38B7-7C6CD173A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68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What model? 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will you find it?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will you use it?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Supervised approach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 if you wanted to do this without task-specific training?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EA247-0547-4418-98F2-21648836853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6555-B3A0-3EA8-08DB-39753549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B2029-4027-026F-BCF2-492A4BBA5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266EF-FB5C-6AD8-18DB-7FA335A05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What model? 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will you find it?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will you use it?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Supervised approach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 if you wanted to do this without task-specific training?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How to find relevant messages?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Consider: retrieval leaderboard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C88F0-5939-F598-65B7-8C1123384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EA247-0547-4418-98F2-21648836853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826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86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F20E-3BC5-B04B-193D-B959B2B6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0D52D-C9DB-AB56-0025-FC613C071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10B38-D8FC-FC02-56C7-86E8AE429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51BF3-91CE-FD32-41F4-C391532AD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689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939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we treat this as a translation (i.e., sequence to sequence) problem? Or a text generation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9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group – how would you evaluate a generative model?</a:t>
            </a:r>
          </a:p>
          <a:p>
            <a:r>
              <a:rPr lang="en-US" dirty="0"/>
              <a:t>What approaches have you seen?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50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9C65-5B45-8A8E-6F68-DB8813D50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E2F5E-2C3B-665A-18F6-A5AF96FEE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FB75-BBF9-CE7A-F8BC-4A975F76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45DBA-D53D-DED5-4E2C-190805F0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4D7B-969D-60F7-CDF7-A966A5F2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EF66-0BC9-C007-D01E-330C2517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B056-3BB2-F08D-F24E-F2C0B17E7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3EACD-7C53-904F-0E01-F1DB5849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DDF4B-8F12-53F1-E4C6-DFC885E1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FDE48-BB3A-E427-0C8A-B97FDDC4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2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3C34-9191-AD4A-C4D6-100A0B0BC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E5B1-C421-6E73-5A75-C04B26240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EB455-2B87-1B0B-FA70-8A3453E3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AC2CF-D42D-1BF8-F030-24EE4ADB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F3628-B960-5FE2-011C-85E05890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4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FFA7-397A-6E63-FC55-D9668AFF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170B-F1C5-11BB-20E0-E9699D451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AAF1-9250-AD2F-C51A-A78E677E0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86B45-3211-583C-DF75-47252F0B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31E91-6B3B-755B-CE41-9B75BDBA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B5F32-A309-D240-CB50-57E43BA1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2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7221-B97C-6314-F438-79602B8B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6F021-5F22-9058-D110-9A74E0C8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5EB17-6288-7281-3ADB-17B184363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7BA09-1256-9494-8429-EAACB830F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1BAFA-5849-1CA3-93C4-0E0CC07E5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A1979-1DAE-5C10-C622-2CE01FEF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6B46C-4D21-239D-2521-1162C2AE7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86F83-168C-95EB-7D14-E3688EBD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9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D26B-E9A1-3F78-07BE-12F68AE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52216-19C3-F20F-68E3-2807ADCB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B7522-A8CF-AE06-7314-DFB38F3E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BBECA-8707-07CD-F6C8-89230DDD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95EE6-5846-34B2-5F48-58D48864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9984D-E134-3A92-44D9-0413636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7603B-9DE5-A74C-2F20-3369369E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2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1BE3-8E4E-2548-60A5-CF825841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7EF94-6CD9-16E1-1403-5D1E5A95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C7406-E7F9-AD81-EDD0-C57E579D5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A3DFC-13F3-4E97-7137-2BFAAF41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ADD85-0360-E355-6310-E2CBB985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28605-A981-E96F-DE9C-8424CA61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6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009E-3A38-F2E3-7BE9-1E3749A3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B96A2-B800-193B-88C3-7BA63CAE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6064E-3B32-923B-0173-2F57430CA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F01D6-BC17-0865-3C73-42C4E68A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742DC-DB0B-5F5E-E8D0-EB07844A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13C2E-6930-E83E-2376-857E7828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0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1369-B521-5906-A0D1-FA20E929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31B2F-3ECC-961C-E937-FB747625D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B5D81-608C-B992-E941-A6B95038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E6592-1BEC-1698-7399-87760AB0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0BFC-4464-56E4-DEEF-52208340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731FE-4280-E0BB-D446-746C9576A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6D82F-F998-F323-C5F8-05C549B96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752F0-6F92-F51A-D0A3-8408F3F6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7BF9-90B7-C63E-4455-CB7F68D3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073A-BF42-7766-BCF6-51B96672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7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94FBE-4498-3B81-33D2-EE3DBE4B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1CF58-C00C-244D-09DF-22EEAAF8B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FB298-49D7-5942-8949-D5E8B8668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3541D-DF74-9A4A-9DDD-A2AC91D32397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8894-C5CA-3AC9-C7B9-BAA7CF820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CDD15-3388-C785-5462-3CAF010D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F423-A3DA-87A1-1809-981A5D713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 architectures for text and medical records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9D3A7-5D22-0854-6C55-AB68BF9E2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Matt Engelhard</a:t>
            </a:r>
          </a:p>
        </p:txBody>
      </p:sp>
    </p:spTree>
    <p:extLst>
      <p:ext uri="{BB962C8B-B14F-4D97-AF65-F5344CB8AC3E}">
        <p14:creationId xmlns:p14="http://schemas.microsoft.com/office/powerpoint/2010/main" val="363573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9F4A-0F07-A466-777D-B298C0CA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9D52-282E-C332-D99D-EC090EB5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E637-1FB6-DE37-E811-3EED85192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23724-0ACB-F0B9-9686-73F1C78F1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47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E0D6-F70A-A0D0-C6A1-8DD7F92D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F48A-876A-DA1A-D62B-90A022A3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42CD-D218-0BE4-C2DF-F04298309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E1F13-53B9-2CD8-4882-0109F26A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0A15D8-77F1-C811-E31D-56DA988FBAEB}"/>
              </a:ext>
            </a:extLst>
          </p:cNvPr>
          <p:cNvSpPr/>
          <p:nvPr/>
        </p:nvSpPr>
        <p:spPr>
          <a:xfrm>
            <a:off x="1084521" y="2083981"/>
            <a:ext cx="5917641" cy="55289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08B28-F22A-1439-A20E-F01A0F211DF2}"/>
              </a:ext>
            </a:extLst>
          </p:cNvPr>
          <p:cNvSpPr txBox="1"/>
          <p:nvPr/>
        </p:nvSpPr>
        <p:spPr>
          <a:xfrm>
            <a:off x="5927925" y="1690688"/>
            <a:ext cx="2220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EMBEDDING LAYER</a:t>
            </a:r>
          </a:p>
        </p:txBody>
      </p:sp>
    </p:spTree>
    <p:extLst>
      <p:ext uri="{BB962C8B-B14F-4D97-AF65-F5344CB8AC3E}">
        <p14:creationId xmlns:p14="http://schemas.microsoft.com/office/powerpoint/2010/main" val="322908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251A-D0DD-D9C2-DF9E-E0325165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B9CF-BD33-8470-E3E6-4EAB4EC8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52815-E84C-FECC-3E29-0C44DD8BB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4A429-1C53-06D8-D78C-C12A02CA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B86F38-4775-0D1C-1233-1E3CF5DFF876}"/>
              </a:ext>
            </a:extLst>
          </p:cNvPr>
          <p:cNvSpPr/>
          <p:nvPr/>
        </p:nvSpPr>
        <p:spPr>
          <a:xfrm>
            <a:off x="1084521" y="4710223"/>
            <a:ext cx="5917641" cy="6804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CD5F4-16CA-B229-A84E-3347A0287B96}"/>
              </a:ext>
            </a:extLst>
          </p:cNvPr>
          <p:cNvSpPr txBox="1"/>
          <p:nvPr/>
        </p:nvSpPr>
        <p:spPr>
          <a:xfrm>
            <a:off x="6714734" y="5453822"/>
            <a:ext cx="3065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STABLE TRAINING</a:t>
            </a:r>
          </a:p>
          <a:p>
            <a:r>
              <a:rPr lang="en-US" b="1" dirty="0">
                <a:solidFill>
                  <a:schemeClr val="accent6"/>
                </a:solidFill>
              </a:rPr>
              <a:t>NO VANISHING GRADIENTS</a:t>
            </a:r>
          </a:p>
        </p:txBody>
      </p:sp>
    </p:spTree>
    <p:extLst>
      <p:ext uri="{BB962C8B-B14F-4D97-AF65-F5344CB8AC3E}">
        <p14:creationId xmlns:p14="http://schemas.microsoft.com/office/powerpoint/2010/main" val="244011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17DA-8857-767C-9A90-65BA6D59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63A5-F7FF-6F35-9D80-12E7DF63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81EE-3164-801D-34D6-3405F4DE6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40EA2-F9E3-C97B-37CC-1867591F7D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567605-CD00-145E-4ACE-49AB6FC02EB3}"/>
              </a:ext>
            </a:extLst>
          </p:cNvPr>
          <p:cNvSpPr/>
          <p:nvPr/>
        </p:nvSpPr>
        <p:spPr>
          <a:xfrm>
            <a:off x="1084521" y="5419669"/>
            <a:ext cx="5917641" cy="6804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0B475-D969-44E1-3529-CF9DBE0B9D20}"/>
              </a:ext>
            </a:extLst>
          </p:cNvPr>
          <p:cNvSpPr txBox="1"/>
          <p:nvPr/>
        </p:nvSpPr>
        <p:spPr>
          <a:xfrm>
            <a:off x="5664549" y="6176963"/>
            <a:ext cx="3072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MLP APPLIED IN PARALLEL</a:t>
            </a:r>
          </a:p>
        </p:txBody>
      </p:sp>
    </p:spTree>
    <p:extLst>
      <p:ext uri="{BB962C8B-B14F-4D97-AF65-F5344CB8AC3E}">
        <p14:creationId xmlns:p14="http://schemas.microsoft.com/office/powerpoint/2010/main" val="388763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E687-D8B2-BD44-6CA6-C4D4B264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763D-2B29-A0FB-2555-FD594601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2F7B-4F94-FEF7-EC5D-8D122AAF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A96C9-EB0E-4A9F-E792-7C7C04D03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A32907-2E7C-E467-DD8C-5038E7A218F2}"/>
              </a:ext>
            </a:extLst>
          </p:cNvPr>
          <p:cNvSpPr/>
          <p:nvPr/>
        </p:nvSpPr>
        <p:spPr>
          <a:xfrm>
            <a:off x="1084521" y="3998358"/>
            <a:ext cx="5917641" cy="73313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00ECD-0714-221D-43E1-107AFBAEEAA9}"/>
              </a:ext>
            </a:extLst>
          </p:cNvPr>
          <p:cNvSpPr txBox="1"/>
          <p:nvPr/>
        </p:nvSpPr>
        <p:spPr>
          <a:xfrm>
            <a:off x="6780968" y="4794603"/>
            <a:ext cx="249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ON THE WHITEBOARD</a:t>
            </a:r>
          </a:p>
        </p:txBody>
      </p:sp>
    </p:spTree>
    <p:extLst>
      <p:ext uri="{BB962C8B-B14F-4D97-AF65-F5344CB8AC3E}">
        <p14:creationId xmlns:p14="http://schemas.microsoft.com/office/powerpoint/2010/main" val="303365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50AC-4FFF-769C-65B5-2A328774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ADF6-CE76-8153-10B9-8A01C06A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70AB9-D317-3EF4-06DA-326FB094D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Input embeddings and positional encodings</a:t>
            </a:r>
            <a:endParaRPr lang="en-US" dirty="0"/>
          </a:p>
          <a:p>
            <a:r>
              <a:rPr lang="en-US" u="sng" dirty="0"/>
              <a:t>Input embeddings</a:t>
            </a:r>
            <a:r>
              <a:rPr lang="en-US" dirty="0"/>
              <a:t>: map text to a sequence of dense vector representations</a:t>
            </a:r>
          </a:p>
          <a:p>
            <a:r>
              <a:rPr lang="en-US" u="sng" dirty="0"/>
              <a:t>Positional encodings</a:t>
            </a:r>
            <a:r>
              <a:rPr lang="en-US" dirty="0"/>
              <a:t>: add information about relative position within the sequence (we will return to this)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Transformer encoder stack </a:t>
            </a:r>
            <a:r>
              <a:rPr lang="en-US" dirty="0"/>
              <a:t>(N=6 in Vaswani; N=24 in BERT-large; N=96 in GPT-3)</a:t>
            </a:r>
          </a:p>
          <a:p>
            <a:r>
              <a:rPr lang="en-US" u="sng" dirty="0"/>
              <a:t>Multi-head attention</a:t>
            </a:r>
            <a:r>
              <a:rPr lang="en-US" dirty="0"/>
              <a:t>: refine representations of words (i.e. the meaning of each token) based on other words</a:t>
            </a:r>
          </a:p>
          <a:p>
            <a:pPr marL="457200" lvl="1" indent="0">
              <a:buNone/>
            </a:pPr>
            <a:r>
              <a:rPr lang="en-US" dirty="0"/>
              <a:t>[information exchange across words]</a:t>
            </a:r>
          </a:p>
          <a:p>
            <a:r>
              <a:rPr lang="en-US" u="sng" dirty="0"/>
              <a:t>Add &amp; norm</a:t>
            </a:r>
            <a:r>
              <a:rPr lang="en-US" dirty="0"/>
              <a:t>: residual connections (</a:t>
            </a:r>
            <a:r>
              <a:rPr lang="en-US" b="1" dirty="0"/>
              <a:t>add</a:t>
            </a:r>
            <a:r>
              <a:rPr lang="en-US" dirty="0"/>
              <a:t>) avoid vanishing gradients in earlier layers; normalizing improves numeric stability</a:t>
            </a:r>
          </a:p>
          <a:p>
            <a:r>
              <a:rPr lang="en-US" u="sng" dirty="0"/>
              <a:t>Feed forward</a:t>
            </a:r>
            <a:r>
              <a:rPr lang="en-US" dirty="0"/>
              <a:t>: nonlinear refinement of representations</a:t>
            </a:r>
          </a:p>
          <a:p>
            <a:pPr marL="457200" lvl="1" indent="0">
              <a:buNone/>
            </a:pPr>
            <a:r>
              <a:rPr lang="en-US" dirty="0"/>
              <a:t>[information exchange across embedding/representation dimensions]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156EC-5C27-A362-4CB3-11F6788C2D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83" r="50870"/>
          <a:stretch>
            <a:fillRect/>
          </a:stretch>
        </p:blipFill>
        <p:spPr>
          <a:xfrm>
            <a:off x="7902609" y="612906"/>
            <a:ext cx="3053716" cy="5852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1F04D2-B781-1B88-AF37-79BE09194278}"/>
              </a:ext>
            </a:extLst>
          </p:cNvPr>
          <p:cNvSpPr/>
          <p:nvPr/>
        </p:nvSpPr>
        <p:spPr>
          <a:xfrm>
            <a:off x="1084521" y="2626242"/>
            <a:ext cx="5917641" cy="5316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8B459-58C4-8709-077E-7DA44ED82383}"/>
              </a:ext>
            </a:extLst>
          </p:cNvPr>
          <p:cNvSpPr txBox="1"/>
          <p:nvPr/>
        </p:nvSpPr>
        <p:spPr>
          <a:xfrm>
            <a:off x="5953507" y="3157870"/>
            <a:ext cx="249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ON THE WHITEBOARD</a:t>
            </a:r>
          </a:p>
        </p:txBody>
      </p:sp>
    </p:spTree>
    <p:extLst>
      <p:ext uri="{BB962C8B-B14F-4D97-AF65-F5344CB8AC3E}">
        <p14:creationId xmlns:p14="http://schemas.microsoft.com/office/powerpoint/2010/main" val="90038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557B-A179-0586-AABC-99F20A095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884-F089-5EEB-EFBD-2CC124A0F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Encoder-only models</a:t>
            </a:r>
          </a:p>
        </p:txBody>
      </p:sp>
    </p:spTree>
    <p:extLst>
      <p:ext uri="{BB962C8B-B14F-4D97-AF65-F5344CB8AC3E}">
        <p14:creationId xmlns:p14="http://schemas.microsoft.com/office/powerpoint/2010/main" val="810935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F649-EE2F-DB76-29CF-E64C1A91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encoder-only architectures:</a:t>
            </a:r>
            <a:br>
              <a:rPr lang="en-US" dirty="0"/>
            </a:br>
            <a:r>
              <a:rPr lang="en-US" sz="3200" dirty="0"/>
              <a:t>Masked language modeling (MLM)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3715F-12E6-7E24-8A96-538F77B18BDA}"/>
              </a:ext>
            </a:extLst>
          </p:cNvPr>
          <p:cNvSpPr txBox="1"/>
          <p:nvPr/>
        </p:nvSpPr>
        <p:spPr>
          <a:xfrm>
            <a:off x="3044637" y="6123543"/>
            <a:ext cx="799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1B22F6-1E9D-6EC3-67A0-655FD2513930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E7B97D-C6DF-1764-87A0-8EA25D78416B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D84CC5-ADE6-3541-6041-249B8152BBC5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0975FD-13E1-A21E-08AF-518086D22678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207160-076D-7976-6DE5-95D4C3FA52F9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21CE78-EEEA-1AD4-C53A-6E963414618B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ADC90F-0137-7439-5DA2-429A74D39550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5FEEF2-835A-647C-D4BC-D86F07CB7DCE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5D9FD2-1C1A-4DD4-CE40-1715EA891917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A7259D-6BC2-7639-A1F4-3A6D1AEDCF33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0ED1C8-BDA4-7E95-C1AD-7E03AAFAD152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082AFB-FC64-1CE1-61D0-5A90376B3797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D15A01-6DB6-FDF6-88F1-DA86F2F40066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458C8D-AD0C-23FE-C876-C78699AC61A3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78ABC6-CCF3-666A-C835-E64C7986ABE0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813FF7-453E-4AA5-6927-66A822984429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CEA1B-0459-A95F-BC14-A4A96C6C2295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81F150-B7C6-A3B6-A018-E3863DD1A8BB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0ABC4D-8276-4E4D-EFF0-E9EF807BB14D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DA84BC-0B5F-BC32-7F03-15B0A90193A2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0AD738-BA2C-9FBC-D62B-4A554ACC0D85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2A0970-351D-C5D4-7E47-2EC27D5F05BA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A332DA-AD37-952A-DDF5-D8177999296C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DA38D9B-DF39-BD29-63FF-F611BDFB0980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DA38D9B-DF39-BD29-63FF-F611BDFB0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2689F7-2EEF-C979-A952-6FACBFFA54F7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2689F7-2EEF-C979-A952-6FACBFFA5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3FF81F-E465-1FF7-D5F9-20965A084A74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3FF81F-E465-1FF7-D5F9-20965A084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50CF69-A7B2-3FD8-76A8-E509ADF32497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50CF69-A7B2-3FD8-76A8-E509ADF32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2A66F7-EEF8-5940-E8A0-7804608FA9E8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2A66F7-EEF8-5940-E8A0-7804608FA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E3BAF8-E145-979F-7084-B111EC6324B7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E3BAF8-E145-979F-7084-B111EC632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F0397F-BF85-9797-E8DD-8F6BDB48EB5B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F0397F-BF85-9797-E8DD-8F6BDB48E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24AB007-0C4B-7AC1-A49B-035B1E79BB68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24AB007-0C4B-7AC1-A49B-035B1E79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28BA81-BE4B-34C0-1045-1B07BDD31C3F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28BA81-BE4B-34C0-1045-1B07BDD31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F9B856-EB7A-4DBD-5B36-388C9AA1FC85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F9B856-EB7A-4DBD-5B36-388C9AA1F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39BC19-A600-5D26-6199-B1EA4515BFBA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39BC19-A600-5D26-6199-B1EA4515B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7368DF25-656C-A19B-F089-891A0BD0D855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0E7888-667E-2D9C-DD2B-CD10EBC6DD36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427954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02438-351E-72D3-FB1C-2B6545B7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87262-E024-B1C6-CE58-0AA62DEA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encoder-only architectures:</a:t>
            </a:r>
            <a:br>
              <a:rPr lang="en-US" dirty="0"/>
            </a:br>
            <a:r>
              <a:rPr lang="en-US" sz="3200" dirty="0"/>
              <a:t>Masked language modeling (MLM)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642AE-AFAF-269B-9DF4-BA144A00EE4C}"/>
              </a:ext>
            </a:extLst>
          </p:cNvPr>
          <p:cNvSpPr txBox="1"/>
          <p:nvPr/>
        </p:nvSpPr>
        <p:spPr>
          <a:xfrm>
            <a:off x="3044637" y="6123543"/>
            <a:ext cx="7866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[MASK]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332972-52E0-A172-F5E7-50A81927D735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13E8A4-85D1-1FEF-19E7-BF005DC9D4B3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DB1D04-6FD1-03EB-7BA0-47A77DD5027C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9A6D8B-9C6B-C8F5-CE74-AA3618886128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86867B-04B2-759D-BFB4-998C66D8D69B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68D88B-E3EB-C087-3EAC-CD41B57BC62D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AD5522-2A1A-8D6F-74F8-CBF240DF02D9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13F3F7-F375-AB48-C19C-06993877D6D2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8599DC-D84E-A5E1-4D7B-526CF2BAFC9A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DF1887-B65C-BED5-B7D5-0EE578AC62F2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2BBCF3-9FEC-53ED-A7D1-A161DA89F33B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F58F2E-5F47-433D-88A7-BDBC9E377206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E1C1A8-74E5-F575-089A-CF8B42CA925F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D561BE-19F2-232A-63A7-1521399A88CC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7E5BD4-5AB0-A6D7-90AB-EACE5FC29945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B5C02B-8310-F7AA-3CA9-0FEB8591D46A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9290D4-E954-614B-E51F-7BAF8BA17EAF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1F4972-F7A4-2169-1388-678A3CDF0CD9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7118B34-3B43-7BDF-6CEC-3B53004DE882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71D7AE2-9D07-772B-C423-1A0589971511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869571-CCF4-A745-4990-917BA2AEFB91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AD0DC9-A5AC-A333-7ED2-044493101107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276B86-6ABA-26CF-EB23-525404D28777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9DE2A6-0BDF-976D-CC7D-805811934039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9DE2A6-0BDF-976D-CC7D-805811934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9D52F1F-974F-47F8-E4A2-BC9F55F52F59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9D52F1F-974F-47F8-E4A2-BC9F55F52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4B5589-B887-F91E-4262-414074A9193B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4B5589-B887-F91E-4262-414074A91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420CBD-E1E5-6AB4-F10E-D777A27FD039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420CBD-E1E5-6AB4-F10E-D777A27FD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826D16-7AA3-A3F4-BE39-0951DD5DDEEF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826D16-7AA3-A3F4-BE39-0951DD5DD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FD5AC03-B853-BE6F-F914-8C45A584BCFA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FD5AC03-B853-BE6F-F914-8C45A584B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08122A-31E2-670A-BD04-DB55B74B970B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08122A-31E2-670A-BD04-DB55B74B9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EEFD44-2C69-ED9F-D866-7B1E269C089A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EEFD44-2C69-ED9F-D866-7B1E269C0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A42E3F-6415-C007-AB24-E3AD4A0D14F2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A42E3F-6415-C007-AB24-E3AD4A0D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926C5B4-1043-DE95-F5E2-A97DD83DD08B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926C5B4-1043-DE95-F5E2-A97DD83DD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79787E-5927-D264-4529-01376D2A04C4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A79787E-5927-D264-4529-01376D2A0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FF613FED-C149-EA1D-CDB5-EC9DD67BCB20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2E147F-4C69-F422-3CC6-F7C9625DC53D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852312-E9D4-1CBF-E90A-C2300D8A58F1}"/>
              </a:ext>
            </a:extLst>
          </p:cNvPr>
          <p:cNvSpPr/>
          <p:nvPr/>
        </p:nvSpPr>
        <p:spPr>
          <a:xfrm>
            <a:off x="5743707" y="2190900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 prediction head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1ECEE9-5B56-25F3-E3E4-677DA7B401C4}"/>
              </a:ext>
            </a:extLst>
          </p:cNvPr>
          <p:cNvCxnSpPr/>
          <p:nvPr/>
        </p:nvCxnSpPr>
        <p:spPr>
          <a:xfrm flipV="1">
            <a:off x="6960409" y="296451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C14FB4-530F-79F1-1AE0-C5202885C85E}"/>
              </a:ext>
            </a:extLst>
          </p:cNvPr>
          <p:cNvSpPr txBox="1"/>
          <p:nvPr/>
        </p:nvSpPr>
        <p:spPr>
          <a:xfrm>
            <a:off x="8391838" y="2392733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11C956-055F-247C-2D16-7DCC7A1089FD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8171830" y="2577399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316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5541-1BB1-9430-5314-B4CA1DB6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EFAA-9829-3B64-E2FC-5D34E58B4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encoder-only architectures:</a:t>
            </a:r>
            <a:br>
              <a:rPr lang="en-US" dirty="0"/>
            </a:br>
            <a:r>
              <a:rPr lang="en-US" sz="3200" dirty="0"/>
              <a:t>Masked language modeling (MLM)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59465-CF55-1AE8-A128-A24F93A37945}"/>
              </a:ext>
            </a:extLst>
          </p:cNvPr>
          <p:cNvSpPr txBox="1"/>
          <p:nvPr/>
        </p:nvSpPr>
        <p:spPr>
          <a:xfrm>
            <a:off x="3044637" y="7330170"/>
            <a:ext cx="7866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[MASK]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E20594-B03B-2267-B61F-AABA9621F882}"/>
              </a:ext>
            </a:extLst>
          </p:cNvPr>
          <p:cNvSpPr/>
          <p:nvPr/>
        </p:nvSpPr>
        <p:spPr>
          <a:xfrm>
            <a:off x="2697639" y="5363848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4F1269-F259-DD0D-7573-6925E97EDD50}"/>
              </a:ext>
            </a:extLst>
          </p:cNvPr>
          <p:cNvCxnSpPr/>
          <p:nvPr/>
        </p:nvCxnSpPr>
        <p:spPr>
          <a:xfrm flipV="1">
            <a:off x="3393652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106085-DAFE-642E-D204-E7497495C1ED}"/>
              </a:ext>
            </a:extLst>
          </p:cNvPr>
          <p:cNvCxnSpPr/>
          <p:nvPr/>
        </p:nvCxnSpPr>
        <p:spPr>
          <a:xfrm flipV="1">
            <a:off x="6244946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4855BA-207E-06CE-6383-7899CF019FBA}"/>
              </a:ext>
            </a:extLst>
          </p:cNvPr>
          <p:cNvCxnSpPr/>
          <p:nvPr/>
        </p:nvCxnSpPr>
        <p:spPr>
          <a:xfrm flipV="1">
            <a:off x="6957769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5740FF-F32D-674F-3B7B-C514AF2C7C58}"/>
              </a:ext>
            </a:extLst>
          </p:cNvPr>
          <p:cNvCxnSpPr/>
          <p:nvPr/>
        </p:nvCxnSpPr>
        <p:spPr>
          <a:xfrm flipV="1">
            <a:off x="7670592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FACA45-D728-5218-23FA-570ABED3F70A}"/>
              </a:ext>
            </a:extLst>
          </p:cNvPr>
          <p:cNvCxnSpPr/>
          <p:nvPr/>
        </p:nvCxnSpPr>
        <p:spPr>
          <a:xfrm flipV="1">
            <a:off x="8383415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21316C-8207-EAA8-45FC-EE9FE83E431D}"/>
              </a:ext>
            </a:extLst>
          </p:cNvPr>
          <p:cNvCxnSpPr/>
          <p:nvPr/>
        </p:nvCxnSpPr>
        <p:spPr>
          <a:xfrm flipV="1">
            <a:off x="9096238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AF863E-36EC-91D9-9ABC-018E33F0460A}"/>
              </a:ext>
            </a:extLst>
          </p:cNvPr>
          <p:cNvCxnSpPr/>
          <p:nvPr/>
        </p:nvCxnSpPr>
        <p:spPr>
          <a:xfrm flipV="1">
            <a:off x="9809061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3FC241-089D-1FC7-AB22-4C8437C6CB66}"/>
              </a:ext>
            </a:extLst>
          </p:cNvPr>
          <p:cNvCxnSpPr/>
          <p:nvPr/>
        </p:nvCxnSpPr>
        <p:spPr>
          <a:xfrm flipV="1">
            <a:off x="10521887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7D0F63-2CC9-3733-6C86-BBCF79F0696B}"/>
              </a:ext>
            </a:extLst>
          </p:cNvPr>
          <p:cNvCxnSpPr/>
          <p:nvPr/>
        </p:nvCxnSpPr>
        <p:spPr>
          <a:xfrm flipV="1">
            <a:off x="4819300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BB05D6-A063-CA19-3D77-9CE6A3F0F386}"/>
              </a:ext>
            </a:extLst>
          </p:cNvPr>
          <p:cNvCxnSpPr/>
          <p:nvPr/>
        </p:nvCxnSpPr>
        <p:spPr>
          <a:xfrm flipV="1">
            <a:off x="5532123" y="6906702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E5FFA2-19B6-8463-923B-65BD30163899}"/>
              </a:ext>
            </a:extLst>
          </p:cNvPr>
          <p:cNvCxnSpPr/>
          <p:nvPr/>
        </p:nvCxnSpPr>
        <p:spPr>
          <a:xfrm flipV="1">
            <a:off x="4106476" y="690041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EA4125-8CF5-DCD7-4C12-6909260BFD6A}"/>
              </a:ext>
            </a:extLst>
          </p:cNvPr>
          <p:cNvCxnSpPr/>
          <p:nvPr/>
        </p:nvCxnSpPr>
        <p:spPr>
          <a:xfrm flipV="1">
            <a:off x="3393652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078560-8169-4350-0501-F607F778230E}"/>
              </a:ext>
            </a:extLst>
          </p:cNvPr>
          <p:cNvCxnSpPr/>
          <p:nvPr/>
        </p:nvCxnSpPr>
        <p:spPr>
          <a:xfrm flipV="1">
            <a:off x="6244946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132ED5-61C9-D763-A18C-B085D1876026}"/>
              </a:ext>
            </a:extLst>
          </p:cNvPr>
          <p:cNvCxnSpPr/>
          <p:nvPr/>
        </p:nvCxnSpPr>
        <p:spPr>
          <a:xfrm flipV="1">
            <a:off x="6957769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9C5339-59FC-C411-4886-B194F4CEFF4F}"/>
              </a:ext>
            </a:extLst>
          </p:cNvPr>
          <p:cNvCxnSpPr/>
          <p:nvPr/>
        </p:nvCxnSpPr>
        <p:spPr>
          <a:xfrm flipV="1">
            <a:off x="7670592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61CA91-A90E-45ED-EFFB-937A4ABA58B4}"/>
              </a:ext>
            </a:extLst>
          </p:cNvPr>
          <p:cNvCxnSpPr/>
          <p:nvPr/>
        </p:nvCxnSpPr>
        <p:spPr>
          <a:xfrm flipV="1">
            <a:off x="8383415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9C56E5-43B2-B47A-CF31-CFC407E218E2}"/>
              </a:ext>
            </a:extLst>
          </p:cNvPr>
          <p:cNvCxnSpPr/>
          <p:nvPr/>
        </p:nvCxnSpPr>
        <p:spPr>
          <a:xfrm flipV="1">
            <a:off x="9096238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8D5938E-C6ED-4F9E-95F4-4F996C8405A1}"/>
              </a:ext>
            </a:extLst>
          </p:cNvPr>
          <p:cNvCxnSpPr/>
          <p:nvPr/>
        </p:nvCxnSpPr>
        <p:spPr>
          <a:xfrm flipV="1">
            <a:off x="9809061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3FCEC4-4AFB-F680-4E69-741820CED568}"/>
              </a:ext>
            </a:extLst>
          </p:cNvPr>
          <p:cNvCxnSpPr/>
          <p:nvPr/>
        </p:nvCxnSpPr>
        <p:spPr>
          <a:xfrm flipV="1">
            <a:off x="10521887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B6EE79F-1ABA-BB28-C741-9DDFB333A95A}"/>
              </a:ext>
            </a:extLst>
          </p:cNvPr>
          <p:cNvCxnSpPr/>
          <p:nvPr/>
        </p:nvCxnSpPr>
        <p:spPr>
          <a:xfrm flipV="1">
            <a:off x="4819300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D13165-D3A5-12F8-1BCC-A765251D78C3}"/>
              </a:ext>
            </a:extLst>
          </p:cNvPr>
          <p:cNvCxnSpPr/>
          <p:nvPr/>
        </p:nvCxnSpPr>
        <p:spPr>
          <a:xfrm flipV="1">
            <a:off x="5532123" y="494038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80AA9C-1A3E-890E-4771-F0CF34A1A9F4}"/>
              </a:ext>
            </a:extLst>
          </p:cNvPr>
          <p:cNvCxnSpPr/>
          <p:nvPr/>
        </p:nvCxnSpPr>
        <p:spPr>
          <a:xfrm flipV="1">
            <a:off x="4106476" y="493409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DEFD4F-B424-1F40-4CD0-A452B42F5169}"/>
                  </a:ext>
                </a:extLst>
              </p:cNvPr>
              <p:cNvSpPr txBox="1"/>
              <p:nvPr/>
            </p:nvSpPr>
            <p:spPr>
              <a:xfrm>
                <a:off x="3164068" y="4564762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DEFD4F-B424-1F40-4CD0-A452B42F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4564762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76679D-481A-FD94-5358-6638C52D0632}"/>
                  </a:ext>
                </a:extLst>
              </p:cNvPr>
              <p:cNvSpPr txBox="1"/>
              <p:nvPr/>
            </p:nvSpPr>
            <p:spPr>
              <a:xfrm>
                <a:off x="3888906" y="45598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876679D-481A-FD94-5358-6638C52D0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4559827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E7EE31-3750-AA8B-278A-3CA372A61E37}"/>
                  </a:ext>
                </a:extLst>
              </p:cNvPr>
              <p:cNvSpPr txBox="1"/>
              <p:nvPr/>
            </p:nvSpPr>
            <p:spPr>
              <a:xfrm>
                <a:off x="4594093" y="45598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E7EE31-3750-AA8B-278A-3CA372A61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4559827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0A0F0D-6BD2-6C6F-2288-7F7A3809E9A5}"/>
                  </a:ext>
                </a:extLst>
              </p:cNvPr>
              <p:cNvSpPr txBox="1"/>
              <p:nvPr/>
            </p:nvSpPr>
            <p:spPr>
              <a:xfrm>
                <a:off x="8153820" y="4558478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00A0F0D-6BD2-6C6F-2288-7F7A3809E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4558478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13FD191-5056-F93D-E567-F74B24FF8D07}"/>
                  </a:ext>
                </a:extLst>
              </p:cNvPr>
              <p:cNvSpPr txBox="1"/>
              <p:nvPr/>
            </p:nvSpPr>
            <p:spPr>
              <a:xfrm>
                <a:off x="8866647" y="4558479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13FD191-5056-F93D-E567-F74B24FF8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4558479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740011-E8CB-7465-D39C-DC8CFF6D41D8}"/>
                  </a:ext>
                </a:extLst>
              </p:cNvPr>
              <p:cNvSpPr txBox="1"/>
              <p:nvPr/>
            </p:nvSpPr>
            <p:spPr>
              <a:xfrm>
                <a:off x="9579474" y="4559827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740011-E8CB-7465-D39C-DC8CFF6D4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4559827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23D5D5-0FA0-7DB6-5381-DE069427B831}"/>
                  </a:ext>
                </a:extLst>
              </p:cNvPr>
              <p:cNvSpPr txBox="1"/>
              <p:nvPr/>
            </p:nvSpPr>
            <p:spPr>
              <a:xfrm>
                <a:off x="10292301" y="4559827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23D5D5-0FA0-7DB6-5381-DE069427B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4559827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42751AF-4E06-BC37-39F5-B6B725E82D60}"/>
                  </a:ext>
                </a:extLst>
              </p:cNvPr>
              <p:cNvSpPr txBox="1"/>
              <p:nvPr/>
            </p:nvSpPr>
            <p:spPr>
              <a:xfrm>
                <a:off x="5302512" y="4553153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42751AF-4E06-BC37-39F5-B6B725E82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4553153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324004E-4BDB-8541-2202-C1B199163ED0}"/>
                  </a:ext>
                </a:extLst>
              </p:cNvPr>
              <p:cNvSpPr txBox="1"/>
              <p:nvPr/>
            </p:nvSpPr>
            <p:spPr>
              <a:xfrm>
                <a:off x="6015339" y="455315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324004E-4BDB-8541-2202-C1B199163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4553154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28764D-46A4-B29E-2CC8-8F6FDD3BC870}"/>
                  </a:ext>
                </a:extLst>
              </p:cNvPr>
              <p:cNvSpPr txBox="1"/>
              <p:nvPr/>
            </p:nvSpPr>
            <p:spPr>
              <a:xfrm>
                <a:off x="6728166" y="45545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28764D-46A4-B29E-2CC8-8F6FDD3BC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4554502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C983DE-1A7D-E4FD-1140-4FC3F3D2E667}"/>
                  </a:ext>
                </a:extLst>
              </p:cNvPr>
              <p:cNvSpPr txBox="1"/>
              <p:nvPr/>
            </p:nvSpPr>
            <p:spPr>
              <a:xfrm>
                <a:off x="7440993" y="45545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C983DE-1A7D-E4FD-1140-4FC3F3D2E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4554502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9D797592-D906-4A3E-421A-515834A319CA}"/>
              </a:ext>
            </a:extLst>
          </p:cNvPr>
          <p:cNvSpPr txBox="1"/>
          <p:nvPr/>
        </p:nvSpPr>
        <p:spPr>
          <a:xfrm>
            <a:off x="568548" y="7330168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1C79C4-E2FC-BC56-89A0-3B05E62BBE3A}"/>
              </a:ext>
            </a:extLst>
          </p:cNvPr>
          <p:cNvSpPr txBox="1"/>
          <p:nvPr/>
        </p:nvSpPr>
        <p:spPr>
          <a:xfrm>
            <a:off x="566794" y="4421327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CD5F19FB-FB01-A738-5CA5-CC4D1AFBFE8D}"/>
                  </a:ext>
                </a:extLst>
              </p:cNvPr>
              <p:cNvSpPr/>
              <p:nvPr/>
            </p:nvSpPr>
            <p:spPr>
              <a:xfrm>
                <a:off x="5743707" y="1800520"/>
                <a:ext cx="2428123" cy="2370005"/>
              </a:xfrm>
              <a:prstGeom prst="roundRect">
                <a:avLst>
                  <a:gd name="adj" fmla="val 5020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Token prediction head</a:t>
                </a:r>
              </a:p>
              <a:p>
                <a:pPr algn="ctr"/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Linear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Activation </a:t>
                </a:r>
                <a:r>
                  <a:rPr lang="en-US" dirty="0" err="1"/>
                  <a:t>fn</a:t>
                </a: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Linear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 err="1"/>
                  <a:t>Softmax</a:t>
                </a:r>
                <a:endParaRPr lang="en-US" dirty="0"/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CD5F19FB-FB01-A738-5CA5-CC4D1AFBF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707" y="1800520"/>
                <a:ext cx="2428123" cy="2370005"/>
              </a:xfrm>
              <a:prstGeom prst="roundRect">
                <a:avLst>
                  <a:gd name="adj" fmla="val 5020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5D2D1A-E354-CD4A-23C8-B30ADAC77B3E}"/>
              </a:ext>
            </a:extLst>
          </p:cNvPr>
          <p:cNvCxnSpPr/>
          <p:nvPr/>
        </p:nvCxnSpPr>
        <p:spPr>
          <a:xfrm flipV="1">
            <a:off x="6960409" y="41711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11AD7D7-E3A2-72A0-7EC8-823270350862}"/>
              </a:ext>
            </a:extLst>
          </p:cNvPr>
          <p:cNvSpPr txBox="1"/>
          <p:nvPr/>
        </p:nvSpPr>
        <p:spPr>
          <a:xfrm>
            <a:off x="8559470" y="2800856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A3470B-4811-B8EF-8CC2-E7F6055B9917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8171830" y="2985522"/>
            <a:ext cx="38764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01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68094-1448-FB56-6753-AC41C1F5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89B4-196C-0F44-DCE5-9C3155CC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encoder-only architectures:</a:t>
            </a:r>
            <a:br>
              <a:rPr lang="en-US" dirty="0"/>
            </a:br>
            <a:r>
              <a:rPr lang="en-US" sz="3200" dirty="0"/>
              <a:t>Masked language modeling (MLM)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64120-F199-D0D2-D5E0-E8673311513E}"/>
              </a:ext>
            </a:extLst>
          </p:cNvPr>
          <p:cNvSpPr txBox="1"/>
          <p:nvPr/>
        </p:nvSpPr>
        <p:spPr>
          <a:xfrm>
            <a:off x="3044637" y="7330170"/>
            <a:ext cx="7866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[MASK]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1839FE-A663-7A03-A7FD-B08E8267D81E}"/>
              </a:ext>
            </a:extLst>
          </p:cNvPr>
          <p:cNvSpPr/>
          <p:nvPr/>
        </p:nvSpPr>
        <p:spPr>
          <a:xfrm>
            <a:off x="2697639" y="5363848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F2B0FC-9F57-9FD8-1347-C8760C4249A4}"/>
              </a:ext>
            </a:extLst>
          </p:cNvPr>
          <p:cNvCxnSpPr/>
          <p:nvPr/>
        </p:nvCxnSpPr>
        <p:spPr>
          <a:xfrm flipV="1">
            <a:off x="3393652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1937ED-F347-177B-90E3-57409B315BA1}"/>
              </a:ext>
            </a:extLst>
          </p:cNvPr>
          <p:cNvCxnSpPr/>
          <p:nvPr/>
        </p:nvCxnSpPr>
        <p:spPr>
          <a:xfrm flipV="1">
            <a:off x="6244946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F7D194-8D14-A8DC-6CC0-80E98E208087}"/>
              </a:ext>
            </a:extLst>
          </p:cNvPr>
          <p:cNvCxnSpPr/>
          <p:nvPr/>
        </p:nvCxnSpPr>
        <p:spPr>
          <a:xfrm flipV="1">
            <a:off x="6957769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8BC94B-3225-1EA4-D99B-0224E837511D}"/>
              </a:ext>
            </a:extLst>
          </p:cNvPr>
          <p:cNvCxnSpPr/>
          <p:nvPr/>
        </p:nvCxnSpPr>
        <p:spPr>
          <a:xfrm flipV="1">
            <a:off x="7670592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8195F4-6103-DFEE-FDC0-CA1B4D89DE66}"/>
              </a:ext>
            </a:extLst>
          </p:cNvPr>
          <p:cNvCxnSpPr/>
          <p:nvPr/>
        </p:nvCxnSpPr>
        <p:spPr>
          <a:xfrm flipV="1">
            <a:off x="8383415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CB5E7F-AED1-0155-B106-72F88A855959}"/>
              </a:ext>
            </a:extLst>
          </p:cNvPr>
          <p:cNvCxnSpPr/>
          <p:nvPr/>
        </p:nvCxnSpPr>
        <p:spPr>
          <a:xfrm flipV="1">
            <a:off x="9096238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5D564D-B843-66D2-3086-753F5B6C9944}"/>
              </a:ext>
            </a:extLst>
          </p:cNvPr>
          <p:cNvCxnSpPr/>
          <p:nvPr/>
        </p:nvCxnSpPr>
        <p:spPr>
          <a:xfrm flipV="1">
            <a:off x="9809061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B5780B-DB8C-BA6E-D774-C8B2693C82D8}"/>
              </a:ext>
            </a:extLst>
          </p:cNvPr>
          <p:cNvCxnSpPr/>
          <p:nvPr/>
        </p:nvCxnSpPr>
        <p:spPr>
          <a:xfrm flipV="1">
            <a:off x="10521887" y="690041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A20938-5730-3C47-5C35-C8D754F72A7F}"/>
              </a:ext>
            </a:extLst>
          </p:cNvPr>
          <p:cNvCxnSpPr/>
          <p:nvPr/>
        </p:nvCxnSpPr>
        <p:spPr>
          <a:xfrm flipV="1">
            <a:off x="4819300" y="690041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AA9B36-093B-E6E6-340E-494CE2042712}"/>
              </a:ext>
            </a:extLst>
          </p:cNvPr>
          <p:cNvCxnSpPr/>
          <p:nvPr/>
        </p:nvCxnSpPr>
        <p:spPr>
          <a:xfrm flipV="1">
            <a:off x="5532123" y="6906702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8EA100-89D8-B058-555D-38ECF0994323}"/>
              </a:ext>
            </a:extLst>
          </p:cNvPr>
          <p:cNvCxnSpPr/>
          <p:nvPr/>
        </p:nvCxnSpPr>
        <p:spPr>
          <a:xfrm flipV="1">
            <a:off x="4106476" y="690041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D40B62-34E0-05D5-356C-089B2E1DC110}"/>
              </a:ext>
            </a:extLst>
          </p:cNvPr>
          <p:cNvCxnSpPr/>
          <p:nvPr/>
        </p:nvCxnSpPr>
        <p:spPr>
          <a:xfrm flipV="1">
            <a:off x="3393652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FF9289A-1A6B-30CF-EA1C-034C158BC9A3}"/>
              </a:ext>
            </a:extLst>
          </p:cNvPr>
          <p:cNvCxnSpPr/>
          <p:nvPr/>
        </p:nvCxnSpPr>
        <p:spPr>
          <a:xfrm flipV="1">
            <a:off x="6244946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8E2970B-C681-1E08-8686-73741CE3DBD1}"/>
              </a:ext>
            </a:extLst>
          </p:cNvPr>
          <p:cNvCxnSpPr/>
          <p:nvPr/>
        </p:nvCxnSpPr>
        <p:spPr>
          <a:xfrm flipV="1">
            <a:off x="6957769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FCBC86-23AE-963D-62D4-41C2899B48DB}"/>
              </a:ext>
            </a:extLst>
          </p:cNvPr>
          <p:cNvCxnSpPr/>
          <p:nvPr/>
        </p:nvCxnSpPr>
        <p:spPr>
          <a:xfrm flipV="1">
            <a:off x="7670592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AAF9131-7E51-3C1A-AC29-D6D490F4946B}"/>
              </a:ext>
            </a:extLst>
          </p:cNvPr>
          <p:cNvCxnSpPr/>
          <p:nvPr/>
        </p:nvCxnSpPr>
        <p:spPr>
          <a:xfrm flipV="1">
            <a:off x="8383415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C74254-7B0E-287F-636D-AB45290F2344}"/>
              </a:ext>
            </a:extLst>
          </p:cNvPr>
          <p:cNvCxnSpPr/>
          <p:nvPr/>
        </p:nvCxnSpPr>
        <p:spPr>
          <a:xfrm flipV="1">
            <a:off x="9096238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76C99B-17C0-CACC-051B-4E8E0E0EB1AB}"/>
              </a:ext>
            </a:extLst>
          </p:cNvPr>
          <p:cNvCxnSpPr/>
          <p:nvPr/>
        </p:nvCxnSpPr>
        <p:spPr>
          <a:xfrm flipV="1">
            <a:off x="9809061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7F2E09-8D78-5AAB-4F2D-8C29EF858BF1}"/>
              </a:ext>
            </a:extLst>
          </p:cNvPr>
          <p:cNvCxnSpPr/>
          <p:nvPr/>
        </p:nvCxnSpPr>
        <p:spPr>
          <a:xfrm flipV="1">
            <a:off x="10521887" y="493409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E7A649-607E-749B-906C-C9A6C0942617}"/>
              </a:ext>
            </a:extLst>
          </p:cNvPr>
          <p:cNvCxnSpPr/>
          <p:nvPr/>
        </p:nvCxnSpPr>
        <p:spPr>
          <a:xfrm flipV="1">
            <a:off x="4819300" y="49340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7375B0-7807-1246-26A7-B63DBC3D5B67}"/>
              </a:ext>
            </a:extLst>
          </p:cNvPr>
          <p:cNvCxnSpPr/>
          <p:nvPr/>
        </p:nvCxnSpPr>
        <p:spPr>
          <a:xfrm flipV="1">
            <a:off x="5532123" y="494038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8646DE5-940D-AE1B-FC23-14A7E94B719D}"/>
              </a:ext>
            </a:extLst>
          </p:cNvPr>
          <p:cNvCxnSpPr/>
          <p:nvPr/>
        </p:nvCxnSpPr>
        <p:spPr>
          <a:xfrm flipV="1">
            <a:off x="4106476" y="493409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8A1170E-01CA-9A25-13E8-4DC6630CE1E1}"/>
                  </a:ext>
                </a:extLst>
              </p:cNvPr>
              <p:cNvSpPr txBox="1"/>
              <p:nvPr/>
            </p:nvSpPr>
            <p:spPr>
              <a:xfrm>
                <a:off x="3164068" y="4564762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8A1170E-01CA-9A25-13E8-4DC6630CE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4564762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B0F85C-1082-30C1-0108-30D347082CE5}"/>
                  </a:ext>
                </a:extLst>
              </p:cNvPr>
              <p:cNvSpPr txBox="1"/>
              <p:nvPr/>
            </p:nvSpPr>
            <p:spPr>
              <a:xfrm>
                <a:off x="3888906" y="45598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B0F85C-1082-30C1-0108-30D347082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4559827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EFDDEB8-AD55-A453-58E0-8F72AC9CB2AC}"/>
                  </a:ext>
                </a:extLst>
              </p:cNvPr>
              <p:cNvSpPr txBox="1"/>
              <p:nvPr/>
            </p:nvSpPr>
            <p:spPr>
              <a:xfrm>
                <a:off x="4594093" y="45598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EFDDEB8-AD55-A453-58E0-8F72AC9CB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4559827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EF5F630-392E-EC63-5346-01C2FD0E95AB}"/>
                  </a:ext>
                </a:extLst>
              </p:cNvPr>
              <p:cNvSpPr txBox="1"/>
              <p:nvPr/>
            </p:nvSpPr>
            <p:spPr>
              <a:xfrm>
                <a:off x="8153820" y="4558478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EF5F630-392E-EC63-5346-01C2FD0E9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4558478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7BD540-AFA7-A837-D0AC-FD44E6C79999}"/>
                  </a:ext>
                </a:extLst>
              </p:cNvPr>
              <p:cNvSpPr txBox="1"/>
              <p:nvPr/>
            </p:nvSpPr>
            <p:spPr>
              <a:xfrm>
                <a:off x="8866647" y="4558479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7BD540-AFA7-A837-D0AC-FD44E6C79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4558479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48D02E-809F-FB3B-F7BF-8725BCC2ECA5}"/>
                  </a:ext>
                </a:extLst>
              </p:cNvPr>
              <p:cNvSpPr txBox="1"/>
              <p:nvPr/>
            </p:nvSpPr>
            <p:spPr>
              <a:xfrm>
                <a:off x="9579474" y="4559827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48D02E-809F-FB3B-F7BF-8725BCC2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4559827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F5D7C28-9E6B-D36D-219E-32E9F543C4A8}"/>
                  </a:ext>
                </a:extLst>
              </p:cNvPr>
              <p:cNvSpPr txBox="1"/>
              <p:nvPr/>
            </p:nvSpPr>
            <p:spPr>
              <a:xfrm>
                <a:off x="10292301" y="4559827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F5D7C28-9E6B-D36D-219E-32E9F543C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4559827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2E05C41-1178-2F5A-3487-D8ECC7B45C1A}"/>
                  </a:ext>
                </a:extLst>
              </p:cNvPr>
              <p:cNvSpPr txBox="1"/>
              <p:nvPr/>
            </p:nvSpPr>
            <p:spPr>
              <a:xfrm>
                <a:off x="5302512" y="4553153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2E05C41-1178-2F5A-3487-D8ECC7B45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4553153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3C4E8B-5342-260A-4FEC-A4D09568345D}"/>
                  </a:ext>
                </a:extLst>
              </p:cNvPr>
              <p:cNvSpPr txBox="1"/>
              <p:nvPr/>
            </p:nvSpPr>
            <p:spPr>
              <a:xfrm>
                <a:off x="6015339" y="455315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3C4E8B-5342-260A-4FEC-A4D095683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4553154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BB7B40F-9DE8-C966-98F3-18B0E549C124}"/>
                  </a:ext>
                </a:extLst>
              </p:cNvPr>
              <p:cNvSpPr txBox="1"/>
              <p:nvPr/>
            </p:nvSpPr>
            <p:spPr>
              <a:xfrm>
                <a:off x="6728166" y="45545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BB7B40F-9DE8-C966-98F3-18B0E549C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4554502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6B91EF-AF57-77B1-3BB2-8AF9FE749D08}"/>
                  </a:ext>
                </a:extLst>
              </p:cNvPr>
              <p:cNvSpPr txBox="1"/>
              <p:nvPr/>
            </p:nvSpPr>
            <p:spPr>
              <a:xfrm>
                <a:off x="7440993" y="45545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6B91EF-AF57-77B1-3BB2-8AF9FE74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4554502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8CE07450-10EC-48A1-469C-20CCC9C9A9F3}"/>
              </a:ext>
            </a:extLst>
          </p:cNvPr>
          <p:cNvSpPr txBox="1"/>
          <p:nvPr/>
        </p:nvSpPr>
        <p:spPr>
          <a:xfrm>
            <a:off x="568548" y="7330168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1A96A3-C2F7-2DE4-2641-A2C595C32E7C}"/>
              </a:ext>
            </a:extLst>
          </p:cNvPr>
          <p:cNvSpPr txBox="1"/>
          <p:nvPr/>
        </p:nvSpPr>
        <p:spPr>
          <a:xfrm>
            <a:off x="566794" y="4421327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B353D53-B9EC-E2B7-088C-8A92F74DF2CF}"/>
                  </a:ext>
                </a:extLst>
              </p:cNvPr>
              <p:cNvSpPr/>
              <p:nvPr/>
            </p:nvSpPr>
            <p:spPr>
              <a:xfrm>
                <a:off x="5743707" y="1800520"/>
                <a:ext cx="2428123" cy="2370005"/>
              </a:xfrm>
              <a:prstGeom prst="roundRect">
                <a:avLst>
                  <a:gd name="adj" fmla="val 5020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Token prediction head</a:t>
                </a:r>
              </a:p>
              <a:p>
                <a:pPr algn="ctr"/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Linear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Activation </a:t>
                </a:r>
                <a:r>
                  <a:rPr lang="en-US" dirty="0" err="1"/>
                  <a:t>fn</a:t>
                </a:r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/>
                  <a:t>Linear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sz="1400" b="1" dirty="0">
                    <a:solidFill>
                      <a:schemeClr val="bg1"/>
                    </a:solidFill>
                  </a:rPr>
                  <a:t>- weights often tied to input embeddings</a:t>
                </a:r>
              </a:p>
              <a:p>
                <a:pPr marL="342900" indent="-342900">
                  <a:buAutoNum type="arabicPeriod"/>
                </a:pPr>
                <a:r>
                  <a:rPr lang="en-US" dirty="0" err="1"/>
                  <a:t>Softmax</a:t>
                </a:r>
                <a:endParaRPr lang="en-US" dirty="0"/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B353D53-B9EC-E2B7-088C-8A92F74DF2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707" y="1800520"/>
                <a:ext cx="2428123" cy="2370005"/>
              </a:xfrm>
              <a:prstGeom prst="roundRect">
                <a:avLst>
                  <a:gd name="adj" fmla="val 5020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BE9C1B-68CC-60AC-6AF8-8C08018E4C35}"/>
              </a:ext>
            </a:extLst>
          </p:cNvPr>
          <p:cNvCxnSpPr/>
          <p:nvPr/>
        </p:nvCxnSpPr>
        <p:spPr>
          <a:xfrm flipV="1">
            <a:off x="6960409" y="41711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3E3D81-93B4-F894-3780-EAB911EDD6EF}"/>
              </a:ext>
            </a:extLst>
          </p:cNvPr>
          <p:cNvSpPr txBox="1"/>
          <p:nvPr/>
        </p:nvSpPr>
        <p:spPr>
          <a:xfrm>
            <a:off x="8559470" y="2800856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4905C3-CEAB-BE80-040A-921B8456A763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8171830" y="2985522"/>
            <a:ext cx="38764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5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CF57-AB78-0566-3E6C-4C8F6A38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1F150-DBCE-F416-ADBB-C1ADDDF90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[CLS] is a “classification” token prepended to the input sequence</a:t>
            </a:r>
          </a:p>
          <a:p>
            <a:pPr lvl="1"/>
            <a:r>
              <a:rPr lang="en-US" dirty="0"/>
              <a:t>final hidden state at the [CLS] position can attend to all other tokens </a:t>
            </a:r>
          </a:p>
          <a:p>
            <a:pPr lvl="1"/>
            <a:r>
              <a:rPr lang="en-US" dirty="0"/>
              <a:t>for sentence-level classification tasks, a classification head is added on top of the [CLS] hidden state during fine-tuning</a:t>
            </a:r>
          </a:p>
          <a:p>
            <a:endParaRPr lang="en-US" dirty="0"/>
          </a:p>
          <a:p>
            <a:r>
              <a:rPr lang="en-US" dirty="0"/>
              <a:t>[MASK] is used for masked language modeling</a:t>
            </a:r>
          </a:p>
          <a:p>
            <a:endParaRPr lang="en-US" dirty="0"/>
          </a:p>
          <a:p>
            <a:r>
              <a:rPr lang="en-US" dirty="0"/>
              <a:t>[SEP] can be used to separate distinct pieces of the input (e.g. sentences)</a:t>
            </a:r>
          </a:p>
          <a:p>
            <a:endParaRPr lang="en-US" dirty="0"/>
          </a:p>
          <a:p>
            <a:r>
              <a:rPr lang="en-US" dirty="0"/>
              <a:t>[PAD] is used to pad shorter sequences up to a common length</a:t>
            </a:r>
          </a:p>
          <a:p>
            <a:endParaRPr lang="en-US" dirty="0"/>
          </a:p>
          <a:p>
            <a:r>
              <a:rPr lang="en-US" dirty="0"/>
              <a:t>[UNK] is used for tokens not in the vocabulary</a:t>
            </a:r>
          </a:p>
        </p:txBody>
      </p:sp>
    </p:spTree>
    <p:extLst>
      <p:ext uri="{BB962C8B-B14F-4D97-AF65-F5344CB8AC3E}">
        <p14:creationId xmlns:p14="http://schemas.microsoft.com/office/powerpoint/2010/main" val="2469758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6F0C-4913-7A93-B9BF-019C7EE7D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use the output?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69A5C-AAAD-6FE5-A186-331430BBE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Encoder-only models</a:t>
            </a:r>
          </a:p>
        </p:txBody>
      </p:sp>
    </p:spTree>
    <p:extLst>
      <p:ext uri="{BB962C8B-B14F-4D97-AF65-F5344CB8AC3E}">
        <p14:creationId xmlns:p14="http://schemas.microsoft.com/office/powerpoint/2010/main" val="795219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F02B-EA10-F48C-E304-8CCE253A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8BB7-F9CB-D891-DDC0-889A5E5B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gives a sequence of representations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BF263-7C40-F364-7653-1F41F732478E}"/>
              </a:ext>
            </a:extLst>
          </p:cNvPr>
          <p:cNvSpPr txBox="1"/>
          <p:nvPr/>
        </p:nvSpPr>
        <p:spPr>
          <a:xfrm>
            <a:off x="1277909" y="1678132"/>
            <a:ext cx="762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Consider: How are these different / better than Word2Vec embeddings?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06F95-F6F8-E971-F779-87649F8DEC46}"/>
              </a:ext>
            </a:extLst>
          </p:cNvPr>
          <p:cNvSpPr txBox="1"/>
          <p:nvPr/>
        </p:nvSpPr>
        <p:spPr>
          <a:xfrm>
            <a:off x="2799538" y="6123543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603E69-51CA-2178-E70B-C8A305CD725A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59CE26-9056-9CAD-34D3-97146FC5F0C9}"/>
              </a:ext>
            </a:extLst>
          </p:cNvPr>
          <p:cNvCxnSpPr/>
          <p:nvPr/>
        </p:nvCxnSpPr>
        <p:spPr>
          <a:xfrm flipV="1">
            <a:off x="314855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0B13E3-1B4E-7CE3-683C-A339EC4BEB42}"/>
              </a:ext>
            </a:extLst>
          </p:cNvPr>
          <p:cNvCxnSpPr/>
          <p:nvPr/>
        </p:nvCxnSpPr>
        <p:spPr>
          <a:xfrm flipV="1">
            <a:off x="5994877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6343F4-1E53-E7C6-80E8-62AA544E555A}"/>
              </a:ext>
            </a:extLst>
          </p:cNvPr>
          <p:cNvCxnSpPr/>
          <p:nvPr/>
        </p:nvCxnSpPr>
        <p:spPr>
          <a:xfrm flipV="1">
            <a:off x="6706458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53C3B88-DCC3-E9E5-9290-1791996D5B18}"/>
              </a:ext>
            </a:extLst>
          </p:cNvPr>
          <p:cNvCxnSpPr/>
          <p:nvPr/>
        </p:nvCxnSpPr>
        <p:spPr>
          <a:xfrm flipV="1">
            <a:off x="741803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41458C-E45D-75F6-AA83-3AAE4C360CB7}"/>
              </a:ext>
            </a:extLst>
          </p:cNvPr>
          <p:cNvCxnSpPr/>
          <p:nvPr/>
        </p:nvCxnSpPr>
        <p:spPr>
          <a:xfrm flipV="1">
            <a:off x="812962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55E227-9AE4-CED3-ADA4-6473FC90ED24}"/>
              </a:ext>
            </a:extLst>
          </p:cNvPr>
          <p:cNvCxnSpPr/>
          <p:nvPr/>
        </p:nvCxnSpPr>
        <p:spPr>
          <a:xfrm flipV="1">
            <a:off x="884120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ACE9A9-9F51-82EB-1D51-3F86C4164219}"/>
              </a:ext>
            </a:extLst>
          </p:cNvPr>
          <p:cNvCxnSpPr/>
          <p:nvPr/>
        </p:nvCxnSpPr>
        <p:spPr>
          <a:xfrm flipV="1">
            <a:off x="95527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D13E62F-A359-517F-39A6-F9BFCEC57DA9}"/>
              </a:ext>
            </a:extLst>
          </p:cNvPr>
          <p:cNvCxnSpPr/>
          <p:nvPr/>
        </p:nvCxnSpPr>
        <p:spPr>
          <a:xfrm flipV="1">
            <a:off x="1026436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E3401E-2E93-095E-A885-70A5842BCAEA}"/>
              </a:ext>
            </a:extLst>
          </p:cNvPr>
          <p:cNvCxnSpPr/>
          <p:nvPr/>
        </p:nvCxnSpPr>
        <p:spPr>
          <a:xfrm flipV="1">
            <a:off x="45717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274809-9801-03E5-719E-234B80966DD2}"/>
              </a:ext>
            </a:extLst>
          </p:cNvPr>
          <p:cNvCxnSpPr/>
          <p:nvPr/>
        </p:nvCxnSpPr>
        <p:spPr>
          <a:xfrm flipV="1">
            <a:off x="5283296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283D39F-A20A-56D7-BE55-D3D37D12E673}"/>
              </a:ext>
            </a:extLst>
          </p:cNvPr>
          <p:cNvCxnSpPr/>
          <p:nvPr/>
        </p:nvCxnSpPr>
        <p:spPr>
          <a:xfrm flipV="1">
            <a:off x="3860134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C96223-96B9-CBD0-C4FE-41CAF335572D}"/>
              </a:ext>
            </a:extLst>
          </p:cNvPr>
          <p:cNvCxnSpPr/>
          <p:nvPr/>
        </p:nvCxnSpPr>
        <p:spPr>
          <a:xfrm flipV="1">
            <a:off x="313912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02FF8E2-65D7-F2A5-AEC3-C4340013A7ED}"/>
              </a:ext>
            </a:extLst>
          </p:cNvPr>
          <p:cNvCxnSpPr/>
          <p:nvPr/>
        </p:nvCxnSpPr>
        <p:spPr>
          <a:xfrm flipV="1">
            <a:off x="599042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49AF908-F6AD-FE36-10FD-1DE46DCEDC39}"/>
              </a:ext>
            </a:extLst>
          </p:cNvPr>
          <p:cNvCxnSpPr/>
          <p:nvPr/>
        </p:nvCxnSpPr>
        <p:spPr>
          <a:xfrm flipV="1">
            <a:off x="670324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0F22E65-55C1-E790-C45A-2E686FABA73D}"/>
              </a:ext>
            </a:extLst>
          </p:cNvPr>
          <p:cNvCxnSpPr/>
          <p:nvPr/>
        </p:nvCxnSpPr>
        <p:spPr>
          <a:xfrm flipV="1">
            <a:off x="7416068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42532FF-9D80-82F3-A424-19D9D6BA9B13}"/>
              </a:ext>
            </a:extLst>
          </p:cNvPr>
          <p:cNvCxnSpPr/>
          <p:nvPr/>
        </p:nvCxnSpPr>
        <p:spPr>
          <a:xfrm flipV="1">
            <a:off x="8128891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3DD322A-1327-C2B4-2712-DE3574F5DE7A}"/>
              </a:ext>
            </a:extLst>
          </p:cNvPr>
          <p:cNvCxnSpPr/>
          <p:nvPr/>
        </p:nvCxnSpPr>
        <p:spPr>
          <a:xfrm flipV="1">
            <a:off x="8841714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0908A91-A388-661E-CE4F-9911BD22C4A7}"/>
              </a:ext>
            </a:extLst>
          </p:cNvPr>
          <p:cNvCxnSpPr/>
          <p:nvPr/>
        </p:nvCxnSpPr>
        <p:spPr>
          <a:xfrm flipV="1">
            <a:off x="955453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A19E403-4FF0-A100-0A5F-26626FF850C4}"/>
              </a:ext>
            </a:extLst>
          </p:cNvPr>
          <p:cNvCxnSpPr/>
          <p:nvPr/>
        </p:nvCxnSpPr>
        <p:spPr>
          <a:xfrm flipV="1">
            <a:off x="10267363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153E329-3499-3A2F-375A-4322797E1226}"/>
              </a:ext>
            </a:extLst>
          </p:cNvPr>
          <p:cNvCxnSpPr/>
          <p:nvPr/>
        </p:nvCxnSpPr>
        <p:spPr>
          <a:xfrm flipV="1">
            <a:off x="456477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7349D8D-BAA7-C3E4-E588-FC02DD94B1AB}"/>
              </a:ext>
            </a:extLst>
          </p:cNvPr>
          <p:cNvCxnSpPr/>
          <p:nvPr/>
        </p:nvCxnSpPr>
        <p:spPr>
          <a:xfrm flipV="1">
            <a:off x="5277599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72C3A18-EEF1-CCC5-06DE-6CAC808AE379}"/>
              </a:ext>
            </a:extLst>
          </p:cNvPr>
          <p:cNvCxnSpPr/>
          <p:nvPr/>
        </p:nvCxnSpPr>
        <p:spPr>
          <a:xfrm flipV="1">
            <a:off x="3851952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EB0F10B-BC91-514B-8385-BD7C56535EDB}"/>
                  </a:ext>
                </a:extLst>
              </p:cNvPr>
              <p:cNvSpPr txBox="1"/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EB0F10B-BC91-514B-8385-BD7C56535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2C889DB-C392-22F9-92C8-906C3863BD4A}"/>
                  </a:ext>
                </a:extLst>
              </p:cNvPr>
              <p:cNvSpPr txBox="1"/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2C889DB-C392-22F9-92C8-906C3863B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4A295B5-1465-3580-0BF5-F06597B2241E}"/>
                  </a:ext>
                </a:extLst>
              </p:cNvPr>
              <p:cNvSpPr txBox="1"/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4A295B5-1465-3580-0BF5-F06597B22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E5CCA22-E847-044A-E0CD-9BE35C1AAE9E}"/>
                  </a:ext>
                </a:extLst>
              </p:cNvPr>
              <p:cNvSpPr txBox="1"/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E5CCA22-E847-044A-E0CD-9BE35C1AA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6BFE8B8-649B-72DD-CB12-1F9B814A90F4}"/>
                  </a:ext>
                </a:extLst>
              </p:cNvPr>
              <p:cNvSpPr txBox="1"/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6BFE8B8-649B-72DD-CB12-1F9B814A9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3514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00394A9-3ABD-F2B5-4C23-23900F2D3DF9}"/>
                  </a:ext>
                </a:extLst>
              </p:cNvPr>
              <p:cNvSpPr txBox="1"/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00394A9-3ABD-F2B5-4C23-23900F2D3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1111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9B5DEBE-DDD4-1239-3855-8E1FB3B34F8F}"/>
                  </a:ext>
                </a:extLst>
              </p:cNvPr>
              <p:cNvSpPr txBox="1"/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9B5DEBE-DDD4-1239-3855-8E1FB3B34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C22F140-9297-BF02-CD70-31F1222E08FB}"/>
                  </a:ext>
                </a:extLst>
              </p:cNvPr>
              <p:cNvSpPr txBox="1"/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C22F140-9297-BF02-CD70-31F1222E0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7C51A3-E071-AD72-39D5-1C759BD2BDFD}"/>
                  </a:ext>
                </a:extLst>
              </p:cNvPr>
              <p:cNvSpPr txBox="1"/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67C51A3-E071-AD72-39D5-1C759BD2B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08DFC6B-5316-B0C8-067D-552C827F9682}"/>
                  </a:ext>
                </a:extLst>
              </p:cNvPr>
              <p:cNvSpPr txBox="1"/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08DFC6B-5316-B0C8-067D-552C827F9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B27F23-B426-C171-0B57-E71328FEF3CC}"/>
                  </a:ext>
                </a:extLst>
              </p:cNvPr>
              <p:cNvSpPr txBox="1"/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B27F23-B426-C171-0B57-E71328FEF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43695F1B-AF84-7E04-1514-A58291B4B57A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024F62-AD0E-08B1-84CC-C069F98D2CD7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B05AF42-8728-131D-63B3-D8A4D2AD4313}"/>
              </a:ext>
            </a:extLst>
          </p:cNvPr>
          <p:cNvCxnSpPr/>
          <p:nvPr/>
        </p:nvCxnSpPr>
        <p:spPr>
          <a:xfrm flipV="1">
            <a:off x="10975942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9FF42D5-0556-CC91-6B23-E0E81BC70A4B}"/>
              </a:ext>
            </a:extLst>
          </p:cNvPr>
          <p:cNvCxnSpPr/>
          <p:nvPr/>
        </p:nvCxnSpPr>
        <p:spPr>
          <a:xfrm flipV="1">
            <a:off x="10962855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399B6AF-E7EF-B003-099E-4FBAD658AE04}"/>
                  </a:ext>
                </a:extLst>
              </p:cNvPr>
              <p:cNvSpPr txBox="1"/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399B6AF-E7EF-B003-099E-4FBAD658A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blipFill>
                <a:blip r:embed="rId14"/>
                <a:stretch>
                  <a:fillRect t="-6667" r="-1363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90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4F93F-F77A-DE50-17D9-3BF1C00D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E33-08D9-F95C-F48B-A61E7E1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gives a sequence of representations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E8943-070F-B99E-4941-C952826B78B3}"/>
              </a:ext>
            </a:extLst>
          </p:cNvPr>
          <p:cNvSpPr txBox="1"/>
          <p:nvPr/>
        </p:nvSpPr>
        <p:spPr>
          <a:xfrm>
            <a:off x="1277909" y="1678132"/>
            <a:ext cx="781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this for </a:t>
            </a:r>
            <a:r>
              <a:rPr lang="en-US" u="sng" dirty="0"/>
              <a:t>token-level prediction</a:t>
            </a:r>
            <a:r>
              <a:rPr lang="en-US" dirty="0"/>
              <a:t> is straightforward: apply prediction head to each output representation.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0E0153-0A3E-2A45-EB45-B709CA00AFE2}"/>
              </a:ext>
            </a:extLst>
          </p:cNvPr>
          <p:cNvSpPr/>
          <p:nvPr/>
        </p:nvSpPr>
        <p:spPr>
          <a:xfrm>
            <a:off x="5479755" y="2190900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Per-token</a:t>
            </a:r>
          </a:p>
          <a:p>
            <a:pPr algn="ctr"/>
            <a:r>
              <a:rPr lang="en-US" dirty="0"/>
              <a:t>prediction head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5AC30E-3D07-42D2-5FDD-62BA63A818C1}"/>
              </a:ext>
            </a:extLst>
          </p:cNvPr>
          <p:cNvCxnSpPr/>
          <p:nvPr/>
        </p:nvCxnSpPr>
        <p:spPr>
          <a:xfrm flipV="1">
            <a:off x="6696457" y="296451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746365-C4C0-056E-240C-4E72B06741CC}"/>
              </a:ext>
            </a:extLst>
          </p:cNvPr>
          <p:cNvSpPr txBox="1"/>
          <p:nvPr/>
        </p:nvSpPr>
        <p:spPr>
          <a:xfrm>
            <a:off x="8127886" y="2392733"/>
            <a:ext cx="2926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target)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617460-BE52-FDC1-466A-EC406E37223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7907878" y="2577399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A80417D-5B3C-546E-F618-41FEB1CCBC00}"/>
              </a:ext>
            </a:extLst>
          </p:cNvPr>
          <p:cNvSpPr txBox="1"/>
          <p:nvPr/>
        </p:nvSpPr>
        <p:spPr>
          <a:xfrm>
            <a:off x="2799538" y="6123543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1D785911-0765-D761-DB35-47B82DBBF902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FBA276B-E703-AF4C-5C6F-CFB4044831EC}"/>
              </a:ext>
            </a:extLst>
          </p:cNvPr>
          <p:cNvCxnSpPr/>
          <p:nvPr/>
        </p:nvCxnSpPr>
        <p:spPr>
          <a:xfrm flipV="1">
            <a:off x="314855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436DC8C-C90C-5508-30EC-52FC1285F04E}"/>
              </a:ext>
            </a:extLst>
          </p:cNvPr>
          <p:cNvCxnSpPr/>
          <p:nvPr/>
        </p:nvCxnSpPr>
        <p:spPr>
          <a:xfrm flipV="1">
            <a:off x="5994877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7022556-F829-86D6-16FA-3B750B86A7A3}"/>
              </a:ext>
            </a:extLst>
          </p:cNvPr>
          <p:cNvCxnSpPr/>
          <p:nvPr/>
        </p:nvCxnSpPr>
        <p:spPr>
          <a:xfrm flipV="1">
            <a:off x="6706458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CB916B0-2914-CCB6-E300-41A562BF5847}"/>
              </a:ext>
            </a:extLst>
          </p:cNvPr>
          <p:cNvCxnSpPr/>
          <p:nvPr/>
        </p:nvCxnSpPr>
        <p:spPr>
          <a:xfrm flipV="1">
            <a:off x="741803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098C1F9-EE48-5128-22B8-D20CC4F4801D}"/>
              </a:ext>
            </a:extLst>
          </p:cNvPr>
          <p:cNvCxnSpPr/>
          <p:nvPr/>
        </p:nvCxnSpPr>
        <p:spPr>
          <a:xfrm flipV="1">
            <a:off x="812962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6EEB674-9865-2E14-BC5A-D428049E4ED2}"/>
              </a:ext>
            </a:extLst>
          </p:cNvPr>
          <p:cNvCxnSpPr/>
          <p:nvPr/>
        </p:nvCxnSpPr>
        <p:spPr>
          <a:xfrm flipV="1">
            <a:off x="884120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32A5E6B-BD3D-DA2D-E4EF-B030D267EEF3}"/>
              </a:ext>
            </a:extLst>
          </p:cNvPr>
          <p:cNvCxnSpPr/>
          <p:nvPr/>
        </p:nvCxnSpPr>
        <p:spPr>
          <a:xfrm flipV="1">
            <a:off x="95527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688C450-F32B-FFB3-2F1C-A457ABA303C5}"/>
              </a:ext>
            </a:extLst>
          </p:cNvPr>
          <p:cNvCxnSpPr/>
          <p:nvPr/>
        </p:nvCxnSpPr>
        <p:spPr>
          <a:xfrm flipV="1">
            <a:off x="1026436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013A560-0B70-4056-6D27-DE3DDEA94DE2}"/>
              </a:ext>
            </a:extLst>
          </p:cNvPr>
          <p:cNvCxnSpPr/>
          <p:nvPr/>
        </p:nvCxnSpPr>
        <p:spPr>
          <a:xfrm flipV="1">
            <a:off x="45717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991AFA5-E7F5-F247-BB97-20CF9478C0E8}"/>
              </a:ext>
            </a:extLst>
          </p:cNvPr>
          <p:cNvCxnSpPr/>
          <p:nvPr/>
        </p:nvCxnSpPr>
        <p:spPr>
          <a:xfrm flipV="1">
            <a:off x="5283296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323202B-196D-12B5-1E3F-4FA523F992B9}"/>
              </a:ext>
            </a:extLst>
          </p:cNvPr>
          <p:cNvCxnSpPr/>
          <p:nvPr/>
        </p:nvCxnSpPr>
        <p:spPr>
          <a:xfrm flipV="1">
            <a:off x="3860134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8C55770-37D0-461C-CCA7-A9EBCE2FA238}"/>
              </a:ext>
            </a:extLst>
          </p:cNvPr>
          <p:cNvCxnSpPr/>
          <p:nvPr/>
        </p:nvCxnSpPr>
        <p:spPr>
          <a:xfrm flipV="1">
            <a:off x="313912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B8EB68A-04C7-E6A0-1D3A-29DCD54EE646}"/>
              </a:ext>
            </a:extLst>
          </p:cNvPr>
          <p:cNvCxnSpPr/>
          <p:nvPr/>
        </p:nvCxnSpPr>
        <p:spPr>
          <a:xfrm flipV="1">
            <a:off x="599042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1E3D68C-A99D-A468-0A4D-BBAECD766452}"/>
              </a:ext>
            </a:extLst>
          </p:cNvPr>
          <p:cNvCxnSpPr/>
          <p:nvPr/>
        </p:nvCxnSpPr>
        <p:spPr>
          <a:xfrm flipV="1">
            <a:off x="670324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49F23E1-1900-196F-05B4-CC0E444802F4}"/>
              </a:ext>
            </a:extLst>
          </p:cNvPr>
          <p:cNvCxnSpPr/>
          <p:nvPr/>
        </p:nvCxnSpPr>
        <p:spPr>
          <a:xfrm flipV="1">
            <a:off x="7416068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EC2CA1E-59EB-7955-E312-3FB8FF663DDE}"/>
              </a:ext>
            </a:extLst>
          </p:cNvPr>
          <p:cNvCxnSpPr/>
          <p:nvPr/>
        </p:nvCxnSpPr>
        <p:spPr>
          <a:xfrm flipV="1">
            <a:off x="8128891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1852DC5-0B6A-9767-5727-9301536A49B8}"/>
              </a:ext>
            </a:extLst>
          </p:cNvPr>
          <p:cNvCxnSpPr/>
          <p:nvPr/>
        </p:nvCxnSpPr>
        <p:spPr>
          <a:xfrm flipV="1">
            <a:off x="8841714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85D9CB2-7942-29BA-853B-6125E41063F9}"/>
              </a:ext>
            </a:extLst>
          </p:cNvPr>
          <p:cNvCxnSpPr/>
          <p:nvPr/>
        </p:nvCxnSpPr>
        <p:spPr>
          <a:xfrm flipV="1">
            <a:off x="955453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3190780-C595-0925-80C9-9160C6A615FC}"/>
              </a:ext>
            </a:extLst>
          </p:cNvPr>
          <p:cNvCxnSpPr/>
          <p:nvPr/>
        </p:nvCxnSpPr>
        <p:spPr>
          <a:xfrm flipV="1">
            <a:off x="10267363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7DF1252-A214-A332-E39A-1B0CB89EE285}"/>
              </a:ext>
            </a:extLst>
          </p:cNvPr>
          <p:cNvCxnSpPr/>
          <p:nvPr/>
        </p:nvCxnSpPr>
        <p:spPr>
          <a:xfrm flipV="1">
            <a:off x="456477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ACB4F28-DB69-3E2C-9B7D-BFE8AB0725DF}"/>
              </a:ext>
            </a:extLst>
          </p:cNvPr>
          <p:cNvCxnSpPr/>
          <p:nvPr/>
        </p:nvCxnSpPr>
        <p:spPr>
          <a:xfrm flipV="1">
            <a:off x="5277599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BB95ADE-EBA3-4707-3414-5AF5E97CF4B6}"/>
              </a:ext>
            </a:extLst>
          </p:cNvPr>
          <p:cNvCxnSpPr/>
          <p:nvPr/>
        </p:nvCxnSpPr>
        <p:spPr>
          <a:xfrm flipV="1">
            <a:off x="3851952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125DE15-E1E2-99C4-9122-1E01FC73D2F1}"/>
                  </a:ext>
                </a:extLst>
              </p:cNvPr>
              <p:cNvSpPr txBox="1"/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125DE15-E1E2-99C4-9122-1E01FC73D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33370FA-F427-E688-C81C-5380C8ACE860}"/>
                  </a:ext>
                </a:extLst>
              </p:cNvPr>
              <p:cNvSpPr txBox="1"/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33370FA-F427-E688-C81C-5380C8ACE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51D95DD-0060-BFD1-2FC8-E46B62B5FEDD}"/>
                  </a:ext>
                </a:extLst>
              </p:cNvPr>
              <p:cNvSpPr txBox="1"/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51D95DD-0060-BFD1-2FC8-E46B62B5F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415D1D-9AC3-5228-1DD3-41EB27407E3A}"/>
                  </a:ext>
                </a:extLst>
              </p:cNvPr>
              <p:cNvSpPr txBox="1"/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415D1D-9AC3-5228-1DD3-41EB27407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B9809BC-2633-B5E8-CB10-5A51690D3C9C}"/>
                  </a:ext>
                </a:extLst>
              </p:cNvPr>
              <p:cNvSpPr txBox="1"/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B9809BC-2633-B5E8-CB10-5A51690D3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3514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797D468-049E-4CC1-03CA-2A098CB547E0}"/>
                  </a:ext>
                </a:extLst>
              </p:cNvPr>
              <p:cNvSpPr txBox="1"/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797D468-049E-4CC1-03CA-2A098CB54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1111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46BD9AA-F817-44C6-AEE9-4881960B29FE}"/>
                  </a:ext>
                </a:extLst>
              </p:cNvPr>
              <p:cNvSpPr txBox="1"/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46BD9AA-F817-44C6-AEE9-4881960B2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F615458-93C6-D286-0E3E-496F93604A03}"/>
                  </a:ext>
                </a:extLst>
              </p:cNvPr>
              <p:cNvSpPr txBox="1"/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F615458-93C6-D286-0E3E-496F93604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266110-51DA-A8A9-7330-5B85DDA6D928}"/>
                  </a:ext>
                </a:extLst>
              </p:cNvPr>
              <p:cNvSpPr txBox="1"/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266110-51DA-A8A9-7330-5B85DDA6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FBCF6BF-84D6-C200-9C0C-4F3F9B2F516D}"/>
                  </a:ext>
                </a:extLst>
              </p:cNvPr>
              <p:cNvSpPr txBox="1"/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FBCF6BF-84D6-C200-9C0C-4F3F9B2F5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F4B25A1-092C-29DD-3131-7D0C91C3286E}"/>
                  </a:ext>
                </a:extLst>
              </p:cNvPr>
              <p:cNvSpPr txBox="1"/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F4B25A1-092C-29DD-3131-7D0C91C32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CCE71C21-2E2C-7F4A-731C-EB8093E54433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9A2E699-6606-3D02-E513-73DEF1E4CEE4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4757723-5A7A-5280-FFB4-ECE790BAE346}"/>
              </a:ext>
            </a:extLst>
          </p:cNvPr>
          <p:cNvCxnSpPr/>
          <p:nvPr/>
        </p:nvCxnSpPr>
        <p:spPr>
          <a:xfrm flipV="1">
            <a:off x="10975942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3B442D7-7710-8C44-FD21-845A7C3518A1}"/>
              </a:ext>
            </a:extLst>
          </p:cNvPr>
          <p:cNvCxnSpPr/>
          <p:nvPr/>
        </p:nvCxnSpPr>
        <p:spPr>
          <a:xfrm flipV="1">
            <a:off x="10962855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22FFDFA-A8F5-CF86-CC87-1B912F8D7793}"/>
                  </a:ext>
                </a:extLst>
              </p:cNvPr>
              <p:cNvSpPr txBox="1"/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22FFDFA-A8F5-CF86-CC87-1B912F8D7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blipFill>
                <a:blip r:embed="rId14"/>
                <a:stretch>
                  <a:fillRect t="-6667" r="-1363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323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FBB7-F91B-8B26-7F09-363710B1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1D1E-0F1A-33F7-295E-39A3DFFE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document-level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30DD4-4D3E-0BC3-41AE-4EC57C099F4B}"/>
              </a:ext>
            </a:extLst>
          </p:cNvPr>
          <p:cNvSpPr txBox="1"/>
          <p:nvPr/>
        </p:nvSpPr>
        <p:spPr>
          <a:xfrm>
            <a:off x="2799538" y="6123543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762B05-0F85-CB50-36FA-4D7DCD2700D6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9DBBA8-CE83-8C99-637F-983A9C01B15F}"/>
              </a:ext>
            </a:extLst>
          </p:cNvPr>
          <p:cNvCxnSpPr/>
          <p:nvPr/>
        </p:nvCxnSpPr>
        <p:spPr>
          <a:xfrm flipV="1">
            <a:off x="314855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0910EE-DB11-57D8-2EC4-4DE502F9271F}"/>
              </a:ext>
            </a:extLst>
          </p:cNvPr>
          <p:cNvCxnSpPr/>
          <p:nvPr/>
        </p:nvCxnSpPr>
        <p:spPr>
          <a:xfrm flipV="1">
            <a:off x="5994877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48DBB7-74EC-D9CA-CBB1-445DFDFAF28D}"/>
              </a:ext>
            </a:extLst>
          </p:cNvPr>
          <p:cNvCxnSpPr/>
          <p:nvPr/>
        </p:nvCxnSpPr>
        <p:spPr>
          <a:xfrm flipV="1">
            <a:off x="6706458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8759BC-EBD0-40DB-10D4-81A4D67EA5CF}"/>
              </a:ext>
            </a:extLst>
          </p:cNvPr>
          <p:cNvCxnSpPr/>
          <p:nvPr/>
        </p:nvCxnSpPr>
        <p:spPr>
          <a:xfrm flipV="1">
            <a:off x="741803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701A3F-314F-CC87-F020-3C3DA7BF6C53}"/>
              </a:ext>
            </a:extLst>
          </p:cNvPr>
          <p:cNvCxnSpPr/>
          <p:nvPr/>
        </p:nvCxnSpPr>
        <p:spPr>
          <a:xfrm flipV="1">
            <a:off x="812962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20ABDC-DEAB-B202-05C8-89DE78E42B79}"/>
              </a:ext>
            </a:extLst>
          </p:cNvPr>
          <p:cNvCxnSpPr/>
          <p:nvPr/>
        </p:nvCxnSpPr>
        <p:spPr>
          <a:xfrm flipV="1">
            <a:off x="884120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3EE751-9BC5-BE35-8891-CC5F0EA257A9}"/>
              </a:ext>
            </a:extLst>
          </p:cNvPr>
          <p:cNvCxnSpPr/>
          <p:nvPr/>
        </p:nvCxnSpPr>
        <p:spPr>
          <a:xfrm flipV="1">
            <a:off x="95527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C92FD1-6CCD-11A2-70C7-AC3E54EFEB10}"/>
              </a:ext>
            </a:extLst>
          </p:cNvPr>
          <p:cNvCxnSpPr/>
          <p:nvPr/>
        </p:nvCxnSpPr>
        <p:spPr>
          <a:xfrm flipV="1">
            <a:off x="1026436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278EE1-0F67-B4B0-CA0D-200E5E263C4C}"/>
              </a:ext>
            </a:extLst>
          </p:cNvPr>
          <p:cNvCxnSpPr/>
          <p:nvPr/>
        </p:nvCxnSpPr>
        <p:spPr>
          <a:xfrm flipV="1">
            <a:off x="45717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A8DFC4-1295-8D3B-C852-B8A371B9D1E4}"/>
              </a:ext>
            </a:extLst>
          </p:cNvPr>
          <p:cNvCxnSpPr/>
          <p:nvPr/>
        </p:nvCxnSpPr>
        <p:spPr>
          <a:xfrm flipV="1">
            <a:off x="5283296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1C07BB-391D-4406-C9A7-52F763A859F9}"/>
              </a:ext>
            </a:extLst>
          </p:cNvPr>
          <p:cNvCxnSpPr/>
          <p:nvPr/>
        </p:nvCxnSpPr>
        <p:spPr>
          <a:xfrm flipV="1">
            <a:off x="3860134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88C97B-00EE-F47B-0FC6-3D80336CCDB2}"/>
              </a:ext>
            </a:extLst>
          </p:cNvPr>
          <p:cNvCxnSpPr/>
          <p:nvPr/>
        </p:nvCxnSpPr>
        <p:spPr>
          <a:xfrm flipV="1">
            <a:off x="313912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918F52-1322-F0DF-9DB9-607AEACE41E6}"/>
              </a:ext>
            </a:extLst>
          </p:cNvPr>
          <p:cNvCxnSpPr/>
          <p:nvPr/>
        </p:nvCxnSpPr>
        <p:spPr>
          <a:xfrm flipV="1">
            <a:off x="599042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7F131E8-D803-D131-60E1-2BBDCCDE035C}"/>
              </a:ext>
            </a:extLst>
          </p:cNvPr>
          <p:cNvCxnSpPr/>
          <p:nvPr/>
        </p:nvCxnSpPr>
        <p:spPr>
          <a:xfrm flipV="1">
            <a:off x="670324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B08B5C-1D8E-F604-471D-6AD21EABFAAE}"/>
              </a:ext>
            </a:extLst>
          </p:cNvPr>
          <p:cNvCxnSpPr/>
          <p:nvPr/>
        </p:nvCxnSpPr>
        <p:spPr>
          <a:xfrm flipV="1">
            <a:off x="7416068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7209D3-4572-80DC-2C23-B69C35B42170}"/>
              </a:ext>
            </a:extLst>
          </p:cNvPr>
          <p:cNvCxnSpPr/>
          <p:nvPr/>
        </p:nvCxnSpPr>
        <p:spPr>
          <a:xfrm flipV="1">
            <a:off x="8128891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5377E28-581E-1F83-BE19-101DEDA37853}"/>
              </a:ext>
            </a:extLst>
          </p:cNvPr>
          <p:cNvCxnSpPr/>
          <p:nvPr/>
        </p:nvCxnSpPr>
        <p:spPr>
          <a:xfrm flipV="1">
            <a:off x="8841714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FD353CA-47C1-0632-8A5F-83E69A660E53}"/>
              </a:ext>
            </a:extLst>
          </p:cNvPr>
          <p:cNvCxnSpPr/>
          <p:nvPr/>
        </p:nvCxnSpPr>
        <p:spPr>
          <a:xfrm flipV="1">
            <a:off x="955453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0CDD15-9ED6-DBE9-C5DB-EF8DD6167E9A}"/>
              </a:ext>
            </a:extLst>
          </p:cNvPr>
          <p:cNvCxnSpPr/>
          <p:nvPr/>
        </p:nvCxnSpPr>
        <p:spPr>
          <a:xfrm flipV="1">
            <a:off x="10267363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6E9892-3F45-BA51-E1D6-CCE89EAE21E0}"/>
              </a:ext>
            </a:extLst>
          </p:cNvPr>
          <p:cNvCxnSpPr/>
          <p:nvPr/>
        </p:nvCxnSpPr>
        <p:spPr>
          <a:xfrm flipV="1">
            <a:off x="456477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05911C6-30DD-C1BD-EF60-AC9DDA2B38E2}"/>
              </a:ext>
            </a:extLst>
          </p:cNvPr>
          <p:cNvCxnSpPr/>
          <p:nvPr/>
        </p:nvCxnSpPr>
        <p:spPr>
          <a:xfrm flipV="1">
            <a:off x="5277599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749544-9060-FFDE-4C38-3CAE78F2AF06}"/>
              </a:ext>
            </a:extLst>
          </p:cNvPr>
          <p:cNvCxnSpPr/>
          <p:nvPr/>
        </p:nvCxnSpPr>
        <p:spPr>
          <a:xfrm flipV="1">
            <a:off x="3851952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0BE47F0-4104-F847-BF4D-9DFD01A4242A}"/>
                  </a:ext>
                </a:extLst>
              </p:cNvPr>
              <p:cNvSpPr txBox="1"/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0BE47F0-4104-F847-BF4D-9DFD01A42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1258DC1-FEAB-8B49-BAD0-5C30F1C0DA69}"/>
                  </a:ext>
                </a:extLst>
              </p:cNvPr>
              <p:cNvSpPr txBox="1"/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1258DC1-FEAB-8B49-BAD0-5C30F1C0D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14CD16F-370F-DE61-00D5-7A926F024EEB}"/>
                  </a:ext>
                </a:extLst>
              </p:cNvPr>
              <p:cNvSpPr txBox="1"/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14CD16F-370F-DE61-00D5-7A926F024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CA14F9D-A139-E89A-7C3E-DE50BFEA181E}"/>
                  </a:ext>
                </a:extLst>
              </p:cNvPr>
              <p:cNvSpPr txBox="1"/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CA14F9D-A139-E89A-7C3E-DE50BFEA1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844034-8CEA-FCA5-DA80-A2777B9E1D6A}"/>
                  </a:ext>
                </a:extLst>
              </p:cNvPr>
              <p:cNvSpPr txBox="1"/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844034-8CEA-FCA5-DA80-A2777B9E1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3514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3AE18E-9B99-24CB-959C-17D6CB72D5E5}"/>
                  </a:ext>
                </a:extLst>
              </p:cNvPr>
              <p:cNvSpPr txBox="1"/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3AE18E-9B99-24CB-959C-17D6CB72D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1111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05B0D03-2B90-22E6-B23A-8AF5E251415D}"/>
                  </a:ext>
                </a:extLst>
              </p:cNvPr>
              <p:cNvSpPr txBox="1"/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05B0D03-2B90-22E6-B23A-8AF5E2514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C1F699-C658-0B44-520D-54E4E227DD26}"/>
                  </a:ext>
                </a:extLst>
              </p:cNvPr>
              <p:cNvSpPr txBox="1"/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DC1F699-C658-0B44-520D-54E4E227D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071749-5740-8D8A-46B4-CB79E165EA24}"/>
                  </a:ext>
                </a:extLst>
              </p:cNvPr>
              <p:cNvSpPr txBox="1"/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6071749-5740-8D8A-46B4-CB79E165E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B6AA988-EED8-0471-C019-B5CE8E76DBE9}"/>
                  </a:ext>
                </a:extLst>
              </p:cNvPr>
              <p:cNvSpPr txBox="1"/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B6AA988-EED8-0471-C019-B5CE8E76D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47612B-06D0-0D27-E124-4E74A5D33E25}"/>
                  </a:ext>
                </a:extLst>
              </p:cNvPr>
              <p:cNvSpPr txBox="1"/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47612B-06D0-0D27-E124-4E74A5D33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F0D4B4AD-0E47-BE08-FE50-73A519CED158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3E0847-E0FB-2585-0BCA-6BCBAD7F3E68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05E04D-EF0E-D848-6331-B04FCFC15BB5}"/>
              </a:ext>
            </a:extLst>
          </p:cNvPr>
          <p:cNvCxnSpPr/>
          <p:nvPr/>
        </p:nvCxnSpPr>
        <p:spPr>
          <a:xfrm flipV="1">
            <a:off x="10975942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496A64-A038-0645-8EDD-B4E743B9DCDC}"/>
              </a:ext>
            </a:extLst>
          </p:cNvPr>
          <p:cNvCxnSpPr/>
          <p:nvPr/>
        </p:nvCxnSpPr>
        <p:spPr>
          <a:xfrm flipV="1">
            <a:off x="10962855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1B4EBF-CD65-4E40-6628-502626AB2D85}"/>
                  </a:ext>
                </a:extLst>
              </p:cNvPr>
              <p:cNvSpPr txBox="1"/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1B4EBF-CD65-4E40-6628-502626AB2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blipFill>
                <a:blip r:embed="rId14"/>
                <a:stretch>
                  <a:fillRect t="-6667" r="-1363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35857EB-5D82-4609-437A-66D8258610B6}"/>
              </a:ext>
            </a:extLst>
          </p:cNvPr>
          <p:cNvSpPr txBox="1"/>
          <p:nvPr/>
        </p:nvSpPr>
        <p:spPr>
          <a:xfrm>
            <a:off x="1277909" y="1678132"/>
            <a:ext cx="6089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Consider: How do we make document-level predictions?</a:t>
            </a:r>
          </a:p>
        </p:txBody>
      </p:sp>
    </p:spTree>
    <p:extLst>
      <p:ext uri="{BB962C8B-B14F-4D97-AF65-F5344CB8AC3E}">
        <p14:creationId xmlns:p14="http://schemas.microsoft.com/office/powerpoint/2010/main" val="413326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9ECA-C64D-01AD-793D-9267B613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17A6-B856-D47B-3270-4A6F8B36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sentence-level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0BE95-6BC4-CB6C-8E43-DDDFD8823B06}"/>
              </a:ext>
            </a:extLst>
          </p:cNvPr>
          <p:cNvSpPr txBox="1"/>
          <p:nvPr/>
        </p:nvSpPr>
        <p:spPr>
          <a:xfrm>
            <a:off x="2799538" y="6123543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B17541-DC91-DDC6-421D-2F3A12AED652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29936B-E92A-88A1-96C2-9923C212748C}"/>
              </a:ext>
            </a:extLst>
          </p:cNvPr>
          <p:cNvCxnSpPr/>
          <p:nvPr/>
        </p:nvCxnSpPr>
        <p:spPr>
          <a:xfrm flipV="1">
            <a:off x="314855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644141-416E-A505-3676-6E2E6D157DD3}"/>
              </a:ext>
            </a:extLst>
          </p:cNvPr>
          <p:cNvCxnSpPr/>
          <p:nvPr/>
        </p:nvCxnSpPr>
        <p:spPr>
          <a:xfrm flipV="1">
            <a:off x="5994877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913F4B-1D35-B184-0485-1834BB6EB264}"/>
              </a:ext>
            </a:extLst>
          </p:cNvPr>
          <p:cNvCxnSpPr/>
          <p:nvPr/>
        </p:nvCxnSpPr>
        <p:spPr>
          <a:xfrm flipV="1">
            <a:off x="6706458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E34FD8-CD11-1F8C-A91A-30A71EACFA01}"/>
              </a:ext>
            </a:extLst>
          </p:cNvPr>
          <p:cNvCxnSpPr/>
          <p:nvPr/>
        </p:nvCxnSpPr>
        <p:spPr>
          <a:xfrm flipV="1">
            <a:off x="741803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306B35-CF61-22CD-AB7B-F11044C53976}"/>
              </a:ext>
            </a:extLst>
          </p:cNvPr>
          <p:cNvCxnSpPr/>
          <p:nvPr/>
        </p:nvCxnSpPr>
        <p:spPr>
          <a:xfrm flipV="1">
            <a:off x="812962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9FB61F-E8A8-C474-14CE-CF8BE23DF76F}"/>
              </a:ext>
            </a:extLst>
          </p:cNvPr>
          <p:cNvCxnSpPr/>
          <p:nvPr/>
        </p:nvCxnSpPr>
        <p:spPr>
          <a:xfrm flipV="1">
            <a:off x="884120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97DBE0-7970-3122-8997-A9DABB4A0C22}"/>
              </a:ext>
            </a:extLst>
          </p:cNvPr>
          <p:cNvCxnSpPr/>
          <p:nvPr/>
        </p:nvCxnSpPr>
        <p:spPr>
          <a:xfrm flipV="1">
            <a:off x="95527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87A733-B1A2-AD9D-02DD-8D04BC7BE940}"/>
              </a:ext>
            </a:extLst>
          </p:cNvPr>
          <p:cNvCxnSpPr/>
          <p:nvPr/>
        </p:nvCxnSpPr>
        <p:spPr>
          <a:xfrm flipV="1">
            <a:off x="1026436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FDFA1F-6033-3298-7CCE-7D225748E18E}"/>
              </a:ext>
            </a:extLst>
          </p:cNvPr>
          <p:cNvCxnSpPr/>
          <p:nvPr/>
        </p:nvCxnSpPr>
        <p:spPr>
          <a:xfrm flipV="1">
            <a:off x="45717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74C60B-92F6-93FF-172F-2C5935C3AB4E}"/>
              </a:ext>
            </a:extLst>
          </p:cNvPr>
          <p:cNvCxnSpPr/>
          <p:nvPr/>
        </p:nvCxnSpPr>
        <p:spPr>
          <a:xfrm flipV="1">
            <a:off x="5283296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7026F3-B345-0B2D-38F1-0991E0030695}"/>
              </a:ext>
            </a:extLst>
          </p:cNvPr>
          <p:cNvCxnSpPr/>
          <p:nvPr/>
        </p:nvCxnSpPr>
        <p:spPr>
          <a:xfrm flipV="1">
            <a:off x="3860134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F5C277-3AE6-E68C-E521-8E37CC3AA088}"/>
              </a:ext>
            </a:extLst>
          </p:cNvPr>
          <p:cNvCxnSpPr/>
          <p:nvPr/>
        </p:nvCxnSpPr>
        <p:spPr>
          <a:xfrm flipV="1">
            <a:off x="313912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ABF8EC5-BA29-1C05-E05F-29059EB59A47}"/>
              </a:ext>
            </a:extLst>
          </p:cNvPr>
          <p:cNvCxnSpPr/>
          <p:nvPr/>
        </p:nvCxnSpPr>
        <p:spPr>
          <a:xfrm flipV="1">
            <a:off x="599042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1E3FF5-94ED-B893-3F1E-6898E38F35FD}"/>
              </a:ext>
            </a:extLst>
          </p:cNvPr>
          <p:cNvCxnSpPr/>
          <p:nvPr/>
        </p:nvCxnSpPr>
        <p:spPr>
          <a:xfrm flipV="1">
            <a:off x="670324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140E98F-F89B-1DEB-FE3C-32C890744550}"/>
              </a:ext>
            </a:extLst>
          </p:cNvPr>
          <p:cNvCxnSpPr/>
          <p:nvPr/>
        </p:nvCxnSpPr>
        <p:spPr>
          <a:xfrm flipV="1">
            <a:off x="7416068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6461EB-A64A-0F03-F4D6-15D90AF7B757}"/>
              </a:ext>
            </a:extLst>
          </p:cNvPr>
          <p:cNvCxnSpPr/>
          <p:nvPr/>
        </p:nvCxnSpPr>
        <p:spPr>
          <a:xfrm flipV="1">
            <a:off x="8128891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215F05-138C-5575-CA2B-F23603671432}"/>
              </a:ext>
            </a:extLst>
          </p:cNvPr>
          <p:cNvCxnSpPr/>
          <p:nvPr/>
        </p:nvCxnSpPr>
        <p:spPr>
          <a:xfrm flipV="1">
            <a:off x="8841714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7B5A7D-77DA-BB7D-2FE0-B65021B5830F}"/>
              </a:ext>
            </a:extLst>
          </p:cNvPr>
          <p:cNvCxnSpPr/>
          <p:nvPr/>
        </p:nvCxnSpPr>
        <p:spPr>
          <a:xfrm flipV="1">
            <a:off x="955453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2E55BB-DAC3-F470-E0D7-0300161390A0}"/>
              </a:ext>
            </a:extLst>
          </p:cNvPr>
          <p:cNvCxnSpPr/>
          <p:nvPr/>
        </p:nvCxnSpPr>
        <p:spPr>
          <a:xfrm flipV="1">
            <a:off x="10267363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19DB26-B498-FC11-92CB-EC79955FCBBD}"/>
              </a:ext>
            </a:extLst>
          </p:cNvPr>
          <p:cNvCxnSpPr/>
          <p:nvPr/>
        </p:nvCxnSpPr>
        <p:spPr>
          <a:xfrm flipV="1">
            <a:off x="456477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5933F6-FD94-4079-42DC-E2B1E06E41F2}"/>
              </a:ext>
            </a:extLst>
          </p:cNvPr>
          <p:cNvCxnSpPr/>
          <p:nvPr/>
        </p:nvCxnSpPr>
        <p:spPr>
          <a:xfrm flipV="1">
            <a:off x="5277599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CA477F-DCEF-3D60-D660-352A20427B80}"/>
              </a:ext>
            </a:extLst>
          </p:cNvPr>
          <p:cNvCxnSpPr/>
          <p:nvPr/>
        </p:nvCxnSpPr>
        <p:spPr>
          <a:xfrm flipV="1">
            <a:off x="3851952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A29C57-AA9F-0604-C0AF-D297DA876529}"/>
                  </a:ext>
                </a:extLst>
              </p:cNvPr>
              <p:cNvSpPr txBox="1"/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A29C57-AA9F-0604-C0AF-D297DA876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84A90E8-4133-452A-FF84-B094D4E16E69}"/>
                  </a:ext>
                </a:extLst>
              </p:cNvPr>
              <p:cNvSpPr txBox="1"/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84A90E8-4133-452A-FF84-B094D4E16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D256AB9-D219-48B4-54FD-A2CD44CB2E74}"/>
                  </a:ext>
                </a:extLst>
              </p:cNvPr>
              <p:cNvSpPr txBox="1"/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D256AB9-D219-48B4-54FD-A2CD44CB2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BC63B00-EC6D-89E4-E9BC-E0553E6F357F}"/>
                  </a:ext>
                </a:extLst>
              </p:cNvPr>
              <p:cNvSpPr txBox="1"/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BC63B00-EC6D-89E4-E9BC-E0553E6F3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82CE4A3-AB7D-1BC9-CDD3-D9AB9EF487EE}"/>
                  </a:ext>
                </a:extLst>
              </p:cNvPr>
              <p:cNvSpPr txBox="1"/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82CE4A3-AB7D-1BC9-CDD3-D9AB9EF48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3514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1B0D911-241C-FAAC-8184-0817529B38B7}"/>
                  </a:ext>
                </a:extLst>
              </p:cNvPr>
              <p:cNvSpPr txBox="1"/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1B0D911-241C-FAAC-8184-0817529B3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1111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430359-5F32-4C42-FD50-FDB1F0914306}"/>
                  </a:ext>
                </a:extLst>
              </p:cNvPr>
              <p:cNvSpPr txBox="1"/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430359-5F32-4C42-FD50-FDB1F0914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8A58FE3-9E12-6410-7FC5-D9856911CF16}"/>
                  </a:ext>
                </a:extLst>
              </p:cNvPr>
              <p:cNvSpPr txBox="1"/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8A58FE3-9E12-6410-7FC5-D9856911C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816440-51EF-CF40-1A6F-C8CBD7C870F2}"/>
                  </a:ext>
                </a:extLst>
              </p:cNvPr>
              <p:cNvSpPr txBox="1"/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816440-51EF-CF40-1A6F-C8CBD7C87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CAD9CC-D5DB-26EB-B0F0-7146C2F8CE13}"/>
                  </a:ext>
                </a:extLst>
              </p:cNvPr>
              <p:cNvSpPr txBox="1"/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0CAD9CC-D5DB-26EB-B0F0-7146C2F8C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9D69FC5-185D-AB04-A563-4BD3C524159F}"/>
                  </a:ext>
                </a:extLst>
              </p:cNvPr>
              <p:cNvSpPr txBox="1"/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9D69FC5-185D-AB04-A563-4BD3C5241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BC889C80-12C2-452D-5916-6AA92B93B6F4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822EE5-C94A-41CE-445E-38C8363B14A3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552392-9BD0-74A1-CDBE-7CBE99C4AAA0}"/>
              </a:ext>
            </a:extLst>
          </p:cNvPr>
          <p:cNvCxnSpPr/>
          <p:nvPr/>
        </p:nvCxnSpPr>
        <p:spPr>
          <a:xfrm flipV="1">
            <a:off x="10975942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9207F3-C897-C96F-6B8F-BDFEF0928854}"/>
              </a:ext>
            </a:extLst>
          </p:cNvPr>
          <p:cNvCxnSpPr/>
          <p:nvPr/>
        </p:nvCxnSpPr>
        <p:spPr>
          <a:xfrm flipV="1">
            <a:off x="10962855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170F63-CB14-FBB0-7F78-4D8AE603AB47}"/>
                  </a:ext>
                </a:extLst>
              </p:cNvPr>
              <p:cNvSpPr txBox="1"/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170F63-CB14-FBB0-7F78-4D8AE603A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blipFill>
                <a:blip r:embed="rId14"/>
                <a:stretch>
                  <a:fillRect t="-6667" r="-1363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4B0E51C-441A-FADC-1DD1-7AFD2E71EE01}"/>
              </a:ext>
            </a:extLst>
          </p:cNvPr>
          <p:cNvSpPr/>
          <p:nvPr/>
        </p:nvSpPr>
        <p:spPr>
          <a:xfrm>
            <a:off x="1925066" y="2145513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A72281-D549-B53E-2FAE-61091C05EF9E}"/>
              </a:ext>
            </a:extLst>
          </p:cNvPr>
          <p:cNvCxnSpPr/>
          <p:nvPr/>
        </p:nvCxnSpPr>
        <p:spPr>
          <a:xfrm flipV="1">
            <a:off x="3141768" y="291913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F568AA-76B9-8A31-3164-FA6630CC16EC}"/>
              </a:ext>
            </a:extLst>
          </p:cNvPr>
          <p:cNvSpPr txBox="1"/>
          <p:nvPr/>
        </p:nvSpPr>
        <p:spPr>
          <a:xfrm>
            <a:off x="4573197" y="2347346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EDAD3A-7E50-FCE0-9EE3-3C1C96FB52A1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4353189" y="2532012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BE564F-0283-E8AF-94AD-A86BDD670F0C}"/>
              </a:ext>
            </a:extLst>
          </p:cNvPr>
          <p:cNvSpPr txBox="1"/>
          <p:nvPr/>
        </p:nvSpPr>
        <p:spPr>
          <a:xfrm>
            <a:off x="1277909" y="1477736"/>
            <a:ext cx="7005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Most common approach: predict from [CLS] token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432635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D347C-DFD0-F22A-F65D-3DDD057FA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5FCF-946C-E154-E9B8-DF34D18A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sentence-level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C95FC-CB91-ED5C-A75E-105ACAE1247D}"/>
              </a:ext>
            </a:extLst>
          </p:cNvPr>
          <p:cNvSpPr txBox="1"/>
          <p:nvPr/>
        </p:nvSpPr>
        <p:spPr>
          <a:xfrm>
            <a:off x="2799538" y="6123543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102B9B-1802-7E5A-4ECF-1FE8B218A034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6DCFB4-733E-85FC-00DF-05150391ECA8}"/>
              </a:ext>
            </a:extLst>
          </p:cNvPr>
          <p:cNvCxnSpPr/>
          <p:nvPr/>
        </p:nvCxnSpPr>
        <p:spPr>
          <a:xfrm flipV="1">
            <a:off x="314855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E3FA73-FCB5-AC7F-9544-719B255832E4}"/>
              </a:ext>
            </a:extLst>
          </p:cNvPr>
          <p:cNvCxnSpPr/>
          <p:nvPr/>
        </p:nvCxnSpPr>
        <p:spPr>
          <a:xfrm flipV="1">
            <a:off x="5994877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B806B2-5D3C-E4FE-8E9C-D4A3C506CB0D}"/>
              </a:ext>
            </a:extLst>
          </p:cNvPr>
          <p:cNvCxnSpPr/>
          <p:nvPr/>
        </p:nvCxnSpPr>
        <p:spPr>
          <a:xfrm flipV="1">
            <a:off x="6706458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531694-8D72-0992-FB87-1637409B4367}"/>
              </a:ext>
            </a:extLst>
          </p:cNvPr>
          <p:cNvCxnSpPr/>
          <p:nvPr/>
        </p:nvCxnSpPr>
        <p:spPr>
          <a:xfrm flipV="1">
            <a:off x="741803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F8C6A2-74DA-FCD2-2521-48377D02F4A8}"/>
              </a:ext>
            </a:extLst>
          </p:cNvPr>
          <p:cNvCxnSpPr/>
          <p:nvPr/>
        </p:nvCxnSpPr>
        <p:spPr>
          <a:xfrm flipV="1">
            <a:off x="812962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E91049-9670-847E-0C47-FB8944DF6D53}"/>
              </a:ext>
            </a:extLst>
          </p:cNvPr>
          <p:cNvCxnSpPr/>
          <p:nvPr/>
        </p:nvCxnSpPr>
        <p:spPr>
          <a:xfrm flipV="1">
            <a:off x="884120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F89D72-1FD2-7067-9EB6-6B34C672915A}"/>
              </a:ext>
            </a:extLst>
          </p:cNvPr>
          <p:cNvCxnSpPr/>
          <p:nvPr/>
        </p:nvCxnSpPr>
        <p:spPr>
          <a:xfrm flipV="1">
            <a:off x="95527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05EE34-6A74-77FF-4B20-5A07D949F3CD}"/>
              </a:ext>
            </a:extLst>
          </p:cNvPr>
          <p:cNvCxnSpPr/>
          <p:nvPr/>
        </p:nvCxnSpPr>
        <p:spPr>
          <a:xfrm flipV="1">
            <a:off x="10264363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F4D335-BB0E-2C54-EABF-535385952877}"/>
              </a:ext>
            </a:extLst>
          </p:cNvPr>
          <p:cNvCxnSpPr/>
          <p:nvPr/>
        </p:nvCxnSpPr>
        <p:spPr>
          <a:xfrm flipV="1">
            <a:off x="45717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1B8A1D-F2BC-9A93-AED6-08E5C938FC21}"/>
              </a:ext>
            </a:extLst>
          </p:cNvPr>
          <p:cNvCxnSpPr/>
          <p:nvPr/>
        </p:nvCxnSpPr>
        <p:spPr>
          <a:xfrm flipV="1">
            <a:off x="5283296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5A008-3ABA-E767-AB2F-7BC435ACCD82}"/>
              </a:ext>
            </a:extLst>
          </p:cNvPr>
          <p:cNvCxnSpPr/>
          <p:nvPr/>
        </p:nvCxnSpPr>
        <p:spPr>
          <a:xfrm flipV="1">
            <a:off x="3860134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8D423D-7835-CF2B-5251-31483CC6101A}"/>
              </a:ext>
            </a:extLst>
          </p:cNvPr>
          <p:cNvCxnSpPr/>
          <p:nvPr/>
        </p:nvCxnSpPr>
        <p:spPr>
          <a:xfrm flipV="1">
            <a:off x="313912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F59E678-944F-0F9A-3E1A-5579676DBFE7}"/>
              </a:ext>
            </a:extLst>
          </p:cNvPr>
          <p:cNvCxnSpPr/>
          <p:nvPr/>
        </p:nvCxnSpPr>
        <p:spPr>
          <a:xfrm flipV="1">
            <a:off x="599042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E86C37-DCC2-4BDE-439A-F5C5D6BF39F0}"/>
              </a:ext>
            </a:extLst>
          </p:cNvPr>
          <p:cNvCxnSpPr/>
          <p:nvPr/>
        </p:nvCxnSpPr>
        <p:spPr>
          <a:xfrm flipV="1">
            <a:off x="670324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7C4197-7A35-3C2E-19A1-09BF52639C88}"/>
              </a:ext>
            </a:extLst>
          </p:cNvPr>
          <p:cNvCxnSpPr/>
          <p:nvPr/>
        </p:nvCxnSpPr>
        <p:spPr>
          <a:xfrm flipV="1">
            <a:off x="7416068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E59E37C-5DC9-528B-B021-0502ED8E6C51}"/>
              </a:ext>
            </a:extLst>
          </p:cNvPr>
          <p:cNvCxnSpPr/>
          <p:nvPr/>
        </p:nvCxnSpPr>
        <p:spPr>
          <a:xfrm flipV="1">
            <a:off x="8128891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E637EF-C6D5-EA54-77C1-7B9055AAF7C9}"/>
              </a:ext>
            </a:extLst>
          </p:cNvPr>
          <p:cNvCxnSpPr/>
          <p:nvPr/>
        </p:nvCxnSpPr>
        <p:spPr>
          <a:xfrm flipV="1">
            <a:off x="8841714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6A5580-E4F2-92EB-7928-FB547DC3FF4E}"/>
              </a:ext>
            </a:extLst>
          </p:cNvPr>
          <p:cNvCxnSpPr/>
          <p:nvPr/>
        </p:nvCxnSpPr>
        <p:spPr>
          <a:xfrm flipV="1">
            <a:off x="955453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2575208-1A62-0518-6FF0-3FDC0E80028B}"/>
              </a:ext>
            </a:extLst>
          </p:cNvPr>
          <p:cNvCxnSpPr/>
          <p:nvPr/>
        </p:nvCxnSpPr>
        <p:spPr>
          <a:xfrm flipV="1">
            <a:off x="10267363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E1F661-82F5-9416-8F25-3F52ED5F63B2}"/>
              </a:ext>
            </a:extLst>
          </p:cNvPr>
          <p:cNvCxnSpPr/>
          <p:nvPr/>
        </p:nvCxnSpPr>
        <p:spPr>
          <a:xfrm flipV="1">
            <a:off x="456477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925E4C-4214-A5EA-9F89-21A5B377D58A}"/>
              </a:ext>
            </a:extLst>
          </p:cNvPr>
          <p:cNvCxnSpPr/>
          <p:nvPr/>
        </p:nvCxnSpPr>
        <p:spPr>
          <a:xfrm flipV="1">
            <a:off x="5277599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923786D-6E47-4865-408E-7F642DEE55DF}"/>
              </a:ext>
            </a:extLst>
          </p:cNvPr>
          <p:cNvCxnSpPr/>
          <p:nvPr/>
        </p:nvCxnSpPr>
        <p:spPr>
          <a:xfrm flipV="1">
            <a:off x="3851952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ECF55F-45A8-3DC1-E7A8-265A7201175F}"/>
                  </a:ext>
                </a:extLst>
              </p:cNvPr>
              <p:cNvSpPr txBox="1"/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ECF55F-45A8-3DC1-E7A8-265A72011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8EE52DF-693A-8244-08FC-F62BC0396E76}"/>
                  </a:ext>
                </a:extLst>
              </p:cNvPr>
              <p:cNvSpPr txBox="1"/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8EE52DF-693A-8244-08FC-F62BC0396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36755F8-9F07-E3D2-56BE-281CC1F58276}"/>
                  </a:ext>
                </a:extLst>
              </p:cNvPr>
              <p:cNvSpPr txBox="1"/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36755F8-9F07-E3D2-56BE-281CC1F58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31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AF3D0F-10E7-3A04-74AE-5F07CC41EB3D}"/>
                  </a:ext>
                </a:extLst>
              </p:cNvPr>
              <p:cNvSpPr txBox="1"/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AF3D0F-10E7-3A04-74AE-5F07CC41E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E0AA8F7-DED9-A0A7-5D05-2A35269F2F2C}"/>
                  </a:ext>
                </a:extLst>
              </p:cNvPr>
              <p:cNvSpPr txBox="1"/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E0AA8F7-DED9-A0A7-5D05-2A35269F2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3514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C163152-EDB7-7721-EF0D-5DB29BFE4A5D}"/>
                  </a:ext>
                </a:extLst>
              </p:cNvPr>
              <p:cNvSpPr txBox="1"/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C163152-EDB7-7721-EF0D-5DB29BFE4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1111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8281BFA-2A0C-6F36-B6BC-D5F8E77A9BBD}"/>
                  </a:ext>
                </a:extLst>
              </p:cNvPr>
              <p:cNvSpPr txBox="1"/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8281BFA-2A0C-6F36-B6BC-D5F8E77A9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95D22C9-F80E-C5F4-1AC5-8B140259A056}"/>
                  </a:ext>
                </a:extLst>
              </p:cNvPr>
              <p:cNvSpPr txBox="1"/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95D22C9-F80E-C5F4-1AC5-8B140259A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7448517-9074-960A-77AF-F15B6EF5C7C6}"/>
                  </a:ext>
                </a:extLst>
              </p:cNvPr>
              <p:cNvSpPr txBox="1"/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7448517-9074-960A-77AF-F15B6EF5C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5F7F86-A893-0D8E-9394-086E4629BC10}"/>
                  </a:ext>
                </a:extLst>
              </p:cNvPr>
              <p:cNvSpPr txBox="1"/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5F7F86-A893-0D8E-9394-086E4629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D306A7-7460-C5FC-72C0-E9F511B0FFDE}"/>
                  </a:ext>
                </a:extLst>
              </p:cNvPr>
              <p:cNvSpPr txBox="1"/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D306A7-7460-C5FC-72C0-E9F511B0F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9A5AF3AD-3D70-4E3A-9F5F-D15BC55A4B30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82E843-AB87-932F-CACB-CD119E003AD5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C73843-B0AE-FF9B-EF8C-4FA2DB51424B}"/>
              </a:ext>
            </a:extLst>
          </p:cNvPr>
          <p:cNvCxnSpPr/>
          <p:nvPr/>
        </p:nvCxnSpPr>
        <p:spPr>
          <a:xfrm flipV="1">
            <a:off x="10975942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3FD4CF-0847-636D-9C49-1BF733E8E02C}"/>
              </a:ext>
            </a:extLst>
          </p:cNvPr>
          <p:cNvCxnSpPr/>
          <p:nvPr/>
        </p:nvCxnSpPr>
        <p:spPr>
          <a:xfrm flipV="1">
            <a:off x="10962855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00D8FE-5B97-4424-EB3B-048E9FCB2C7A}"/>
                  </a:ext>
                </a:extLst>
              </p:cNvPr>
              <p:cNvSpPr txBox="1"/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00D8FE-5B97-4424-EB3B-048E9FCB2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353200"/>
                <a:ext cx="556947" cy="369332"/>
              </a:xfrm>
              <a:prstGeom prst="rect">
                <a:avLst/>
              </a:prstGeom>
              <a:blipFill>
                <a:blip r:embed="rId14"/>
                <a:stretch>
                  <a:fillRect t="-6667" r="-1363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9E473F5-7DF3-FFC5-71BF-F9C27D23107C}"/>
              </a:ext>
            </a:extLst>
          </p:cNvPr>
          <p:cNvSpPr/>
          <p:nvPr/>
        </p:nvSpPr>
        <p:spPr>
          <a:xfrm>
            <a:off x="1925066" y="2145513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head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400756-79F4-960A-DC14-799572BE0D23}"/>
              </a:ext>
            </a:extLst>
          </p:cNvPr>
          <p:cNvCxnSpPr/>
          <p:nvPr/>
        </p:nvCxnSpPr>
        <p:spPr>
          <a:xfrm flipV="1">
            <a:off x="3141768" y="291913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EF4BF2-CEEE-CA58-B68D-AA0565372405}"/>
              </a:ext>
            </a:extLst>
          </p:cNvPr>
          <p:cNvSpPr txBox="1"/>
          <p:nvPr/>
        </p:nvSpPr>
        <p:spPr>
          <a:xfrm>
            <a:off x="4573197" y="2347346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CDD334-EF01-21AB-A928-683E03282614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4353189" y="2532012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887F9E-7526-F626-36A9-14E8E72A004E}"/>
              </a:ext>
            </a:extLst>
          </p:cNvPr>
          <p:cNvSpPr txBox="1"/>
          <p:nvPr/>
        </p:nvSpPr>
        <p:spPr>
          <a:xfrm>
            <a:off x="1277909" y="1477736"/>
            <a:ext cx="7005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Most common approach: predict from [CLS] token representation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47DD1-E1E4-451B-665A-27AA8631377E}"/>
              </a:ext>
            </a:extLst>
          </p:cNvPr>
          <p:cNvSpPr txBox="1"/>
          <p:nvPr/>
        </p:nvSpPr>
        <p:spPr>
          <a:xfrm>
            <a:off x="8610665" y="1477736"/>
            <a:ext cx="31828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Caveat</a:t>
            </a:r>
            <a:r>
              <a:rPr lang="en-US" dirty="0"/>
              <a:t>: requires a tuning strategy to ensure it represents the full document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task specific fine-tuning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General “classification” fine-tuning</a:t>
            </a:r>
          </a:p>
        </p:txBody>
      </p:sp>
    </p:spTree>
    <p:extLst>
      <p:ext uri="{BB962C8B-B14F-4D97-AF65-F5344CB8AC3E}">
        <p14:creationId xmlns:p14="http://schemas.microsoft.com/office/powerpoint/2010/main" val="3360821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CB53-9423-361E-BBCD-791F189A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6A96-1158-866E-948B-77A46E2D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sentence-level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FD8A0-532D-DE45-64AC-CFD6D89F7256}"/>
              </a:ext>
            </a:extLst>
          </p:cNvPr>
          <p:cNvSpPr txBox="1"/>
          <p:nvPr/>
        </p:nvSpPr>
        <p:spPr>
          <a:xfrm>
            <a:off x="2799538" y="6246094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ECB0FB-5C07-F3DA-FB1A-C423BF6E8487}"/>
              </a:ext>
            </a:extLst>
          </p:cNvPr>
          <p:cNvSpPr/>
          <p:nvPr/>
        </p:nvSpPr>
        <p:spPr>
          <a:xfrm>
            <a:off x="2697639" y="4279772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E421EC-EDAC-89E1-8092-3163A03B9EE6}"/>
              </a:ext>
            </a:extLst>
          </p:cNvPr>
          <p:cNvCxnSpPr/>
          <p:nvPr/>
        </p:nvCxnSpPr>
        <p:spPr>
          <a:xfrm flipV="1">
            <a:off x="3148553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92D9E0-200B-B0AB-F974-0825E46D3500}"/>
              </a:ext>
            </a:extLst>
          </p:cNvPr>
          <p:cNvCxnSpPr/>
          <p:nvPr/>
        </p:nvCxnSpPr>
        <p:spPr>
          <a:xfrm flipV="1">
            <a:off x="5994877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AC67F4-0096-1E4B-E471-C80EA6EB5592}"/>
              </a:ext>
            </a:extLst>
          </p:cNvPr>
          <p:cNvCxnSpPr/>
          <p:nvPr/>
        </p:nvCxnSpPr>
        <p:spPr>
          <a:xfrm flipV="1">
            <a:off x="6706458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28585C-CD10-68D7-82FE-D7E9F725550E}"/>
              </a:ext>
            </a:extLst>
          </p:cNvPr>
          <p:cNvCxnSpPr/>
          <p:nvPr/>
        </p:nvCxnSpPr>
        <p:spPr>
          <a:xfrm flipV="1">
            <a:off x="7418039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D528C9-7695-2EEA-A789-E812A5B801F4}"/>
              </a:ext>
            </a:extLst>
          </p:cNvPr>
          <p:cNvCxnSpPr/>
          <p:nvPr/>
        </p:nvCxnSpPr>
        <p:spPr>
          <a:xfrm flipV="1">
            <a:off x="8129620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32E4AA-C1D9-5F74-468B-C41EB56EA6C5}"/>
              </a:ext>
            </a:extLst>
          </p:cNvPr>
          <p:cNvCxnSpPr/>
          <p:nvPr/>
        </p:nvCxnSpPr>
        <p:spPr>
          <a:xfrm flipV="1">
            <a:off x="8841201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E3F6C0-7DB8-9886-DEA1-633C4183DA7A}"/>
              </a:ext>
            </a:extLst>
          </p:cNvPr>
          <p:cNvCxnSpPr/>
          <p:nvPr/>
        </p:nvCxnSpPr>
        <p:spPr>
          <a:xfrm flipV="1">
            <a:off x="9552782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7C323E-B430-377D-13BF-8F7148FC3AE0}"/>
              </a:ext>
            </a:extLst>
          </p:cNvPr>
          <p:cNvCxnSpPr/>
          <p:nvPr/>
        </p:nvCxnSpPr>
        <p:spPr>
          <a:xfrm flipV="1">
            <a:off x="10264363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D2E4B2-04CF-14E9-4594-8358C721E857}"/>
              </a:ext>
            </a:extLst>
          </p:cNvPr>
          <p:cNvCxnSpPr/>
          <p:nvPr/>
        </p:nvCxnSpPr>
        <p:spPr>
          <a:xfrm flipV="1">
            <a:off x="4571715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E9BA4C-EDD2-B3A9-F9C5-5EE58D8ABE13}"/>
              </a:ext>
            </a:extLst>
          </p:cNvPr>
          <p:cNvCxnSpPr/>
          <p:nvPr/>
        </p:nvCxnSpPr>
        <p:spPr>
          <a:xfrm flipV="1">
            <a:off x="5283296" y="582262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125C95-960C-F1CB-959D-9B5C084B23FA}"/>
              </a:ext>
            </a:extLst>
          </p:cNvPr>
          <p:cNvCxnSpPr/>
          <p:nvPr/>
        </p:nvCxnSpPr>
        <p:spPr>
          <a:xfrm flipV="1">
            <a:off x="3860134" y="581633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F750F4-2786-177C-7C4C-D9374A0268E6}"/>
              </a:ext>
            </a:extLst>
          </p:cNvPr>
          <p:cNvCxnSpPr/>
          <p:nvPr/>
        </p:nvCxnSpPr>
        <p:spPr>
          <a:xfrm flipV="1">
            <a:off x="3139128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ABD276-654A-E161-629A-D18B8ED2FB92}"/>
              </a:ext>
            </a:extLst>
          </p:cNvPr>
          <p:cNvCxnSpPr/>
          <p:nvPr/>
        </p:nvCxnSpPr>
        <p:spPr>
          <a:xfrm flipV="1">
            <a:off x="5990422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DA3565-D304-82A7-F749-0C43D48319CE}"/>
              </a:ext>
            </a:extLst>
          </p:cNvPr>
          <p:cNvCxnSpPr/>
          <p:nvPr/>
        </p:nvCxnSpPr>
        <p:spPr>
          <a:xfrm flipV="1">
            <a:off x="6703245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B190F2-7A94-03BE-F956-CFF40C094B1C}"/>
              </a:ext>
            </a:extLst>
          </p:cNvPr>
          <p:cNvCxnSpPr/>
          <p:nvPr/>
        </p:nvCxnSpPr>
        <p:spPr>
          <a:xfrm flipV="1">
            <a:off x="7416068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7141051-C4CB-108F-3B1D-96DE46214CD2}"/>
              </a:ext>
            </a:extLst>
          </p:cNvPr>
          <p:cNvCxnSpPr/>
          <p:nvPr/>
        </p:nvCxnSpPr>
        <p:spPr>
          <a:xfrm flipV="1">
            <a:off x="8128891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7A1C9DC-7835-DD01-9745-CCE8980CF1E5}"/>
              </a:ext>
            </a:extLst>
          </p:cNvPr>
          <p:cNvCxnSpPr/>
          <p:nvPr/>
        </p:nvCxnSpPr>
        <p:spPr>
          <a:xfrm flipV="1">
            <a:off x="8841714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EAF27C8-84CE-4572-0110-8CB0D8E97BCC}"/>
              </a:ext>
            </a:extLst>
          </p:cNvPr>
          <p:cNvCxnSpPr/>
          <p:nvPr/>
        </p:nvCxnSpPr>
        <p:spPr>
          <a:xfrm flipV="1">
            <a:off x="9554537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26D2DA-693F-F4B2-8082-717283A367BD}"/>
              </a:ext>
            </a:extLst>
          </p:cNvPr>
          <p:cNvCxnSpPr/>
          <p:nvPr/>
        </p:nvCxnSpPr>
        <p:spPr>
          <a:xfrm flipV="1">
            <a:off x="10267363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A79AE1-844A-ECA1-C1A6-8563685388C1}"/>
              </a:ext>
            </a:extLst>
          </p:cNvPr>
          <p:cNvCxnSpPr/>
          <p:nvPr/>
        </p:nvCxnSpPr>
        <p:spPr>
          <a:xfrm flipV="1">
            <a:off x="4564776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3840BA9-F737-8789-07FC-B59549B5E337}"/>
              </a:ext>
            </a:extLst>
          </p:cNvPr>
          <p:cNvCxnSpPr/>
          <p:nvPr/>
        </p:nvCxnSpPr>
        <p:spPr>
          <a:xfrm flipV="1">
            <a:off x="5277599" y="385630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255BAE6-A842-3A58-511D-245AE44AD211}"/>
              </a:ext>
            </a:extLst>
          </p:cNvPr>
          <p:cNvCxnSpPr/>
          <p:nvPr/>
        </p:nvCxnSpPr>
        <p:spPr>
          <a:xfrm flipV="1">
            <a:off x="3851952" y="385001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107B1A-3876-0E1F-2EB7-CF4715E500F0}"/>
                  </a:ext>
                </a:extLst>
              </p:cNvPr>
              <p:cNvSpPr txBox="1"/>
              <p:nvPr/>
            </p:nvSpPr>
            <p:spPr>
              <a:xfrm>
                <a:off x="2909544" y="3480686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107B1A-3876-0E1F-2EB7-CF4715E50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480686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C3AC0DC-DE1B-7038-825B-718BA5DFBDF1}"/>
                  </a:ext>
                </a:extLst>
              </p:cNvPr>
              <p:cNvSpPr txBox="1"/>
              <p:nvPr/>
            </p:nvSpPr>
            <p:spPr>
              <a:xfrm>
                <a:off x="3634382" y="34757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C3AC0DC-DE1B-7038-825B-718BA5DFB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475751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AADA9C-DF03-1B78-4EBE-1F29679AB2F2}"/>
                  </a:ext>
                </a:extLst>
              </p:cNvPr>
              <p:cNvSpPr txBox="1"/>
              <p:nvPr/>
            </p:nvSpPr>
            <p:spPr>
              <a:xfrm>
                <a:off x="4339569" y="34757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AADA9C-DF03-1B78-4EBE-1F29679A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475751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23765B-08DA-9E91-6DAF-CD74A1A263B2}"/>
                  </a:ext>
                </a:extLst>
              </p:cNvPr>
              <p:cNvSpPr txBox="1"/>
              <p:nvPr/>
            </p:nvSpPr>
            <p:spPr>
              <a:xfrm>
                <a:off x="7899296" y="34744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23765B-08DA-9E91-6DAF-CD74A1A26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474402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CFB23D5-2D29-1261-1C8F-F83A153A1316}"/>
                  </a:ext>
                </a:extLst>
              </p:cNvPr>
              <p:cNvSpPr txBox="1"/>
              <p:nvPr/>
            </p:nvSpPr>
            <p:spPr>
              <a:xfrm>
                <a:off x="8612123" y="3474403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CFB23D5-2D29-1261-1C8F-F83A153A1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474403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1DDEF0-D6C7-B13B-6B7F-CF6FBF136A1A}"/>
                  </a:ext>
                </a:extLst>
              </p:cNvPr>
              <p:cNvSpPr txBox="1"/>
              <p:nvPr/>
            </p:nvSpPr>
            <p:spPr>
              <a:xfrm>
                <a:off x="9324950" y="3475751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1DDEF0-D6C7-B13B-6B7F-CF6FBF136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475751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34B07C-A998-42E7-E881-F19305E5E48D}"/>
                  </a:ext>
                </a:extLst>
              </p:cNvPr>
              <p:cNvSpPr txBox="1"/>
              <p:nvPr/>
            </p:nvSpPr>
            <p:spPr>
              <a:xfrm>
                <a:off x="10037777" y="3475751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34B07C-A998-42E7-E881-F19305E5E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475751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9A661B2-3A39-A077-04F6-92A6F9F7DE2B}"/>
                  </a:ext>
                </a:extLst>
              </p:cNvPr>
              <p:cNvSpPr txBox="1"/>
              <p:nvPr/>
            </p:nvSpPr>
            <p:spPr>
              <a:xfrm>
                <a:off x="5047988" y="346907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9A661B2-3A39-A077-04F6-92A6F9F7D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469077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88F7471-4A82-0CDE-2226-DB8B05747F2D}"/>
                  </a:ext>
                </a:extLst>
              </p:cNvPr>
              <p:cNvSpPr txBox="1"/>
              <p:nvPr/>
            </p:nvSpPr>
            <p:spPr>
              <a:xfrm>
                <a:off x="5760815" y="3469078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88F7471-4A82-0CDE-2226-DB8B05747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469078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CA09EA-B007-9660-3A56-5C72B4120659}"/>
                  </a:ext>
                </a:extLst>
              </p:cNvPr>
              <p:cNvSpPr txBox="1"/>
              <p:nvPr/>
            </p:nvSpPr>
            <p:spPr>
              <a:xfrm>
                <a:off x="6473642" y="34704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CA09EA-B007-9660-3A56-5C72B4120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470426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8D96E01-D2A8-F220-23C9-0E52129DB080}"/>
                  </a:ext>
                </a:extLst>
              </p:cNvPr>
              <p:cNvSpPr txBox="1"/>
              <p:nvPr/>
            </p:nvSpPr>
            <p:spPr>
              <a:xfrm>
                <a:off x="7186469" y="34704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8D96E01-D2A8-F220-23C9-0E52129DB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470426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655784E3-7BC0-27BB-D349-970AAB9ED0AE}"/>
              </a:ext>
            </a:extLst>
          </p:cNvPr>
          <p:cNvSpPr txBox="1"/>
          <p:nvPr/>
        </p:nvSpPr>
        <p:spPr>
          <a:xfrm>
            <a:off x="568548" y="6246092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4F8D3F-6961-FB2F-5E0F-8392507EB245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8E3F20-815D-956D-5CB8-30FCED61FBB4}"/>
              </a:ext>
            </a:extLst>
          </p:cNvPr>
          <p:cNvCxnSpPr/>
          <p:nvPr/>
        </p:nvCxnSpPr>
        <p:spPr>
          <a:xfrm flipV="1">
            <a:off x="10975942" y="581633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1DE198-4E57-0551-58CF-638A5701DE62}"/>
              </a:ext>
            </a:extLst>
          </p:cNvPr>
          <p:cNvCxnSpPr/>
          <p:nvPr/>
        </p:nvCxnSpPr>
        <p:spPr>
          <a:xfrm flipV="1">
            <a:off x="10962855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0FEF9-06E1-87A6-3CD6-F61F0452052B}"/>
                  </a:ext>
                </a:extLst>
              </p:cNvPr>
              <p:cNvSpPr txBox="1"/>
              <p:nvPr/>
            </p:nvSpPr>
            <p:spPr>
              <a:xfrm>
                <a:off x="10733269" y="3475751"/>
                <a:ext cx="55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E0FEF9-06E1-87A6-3CD6-F61F04520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475751"/>
                <a:ext cx="5521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4124E3-9491-CE0C-A5A2-947B875E4509}"/>
              </a:ext>
            </a:extLst>
          </p:cNvPr>
          <p:cNvSpPr/>
          <p:nvPr/>
        </p:nvSpPr>
        <p:spPr>
          <a:xfrm>
            <a:off x="2697639" y="2479248"/>
            <a:ext cx="8644379" cy="6315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Mean Pooling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5627DEA-3886-CCE7-3311-75787E635501}"/>
              </a:ext>
            </a:extLst>
          </p:cNvPr>
          <p:cNvCxnSpPr>
            <a:cxnSpLocks/>
          </p:cNvCxnSpPr>
          <p:nvPr/>
        </p:nvCxnSpPr>
        <p:spPr>
          <a:xfrm flipV="1">
            <a:off x="3139128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FFE7C9-5968-CACE-5855-FCCC385B04BA}"/>
              </a:ext>
            </a:extLst>
          </p:cNvPr>
          <p:cNvCxnSpPr>
            <a:cxnSpLocks/>
          </p:cNvCxnSpPr>
          <p:nvPr/>
        </p:nvCxnSpPr>
        <p:spPr>
          <a:xfrm flipV="1">
            <a:off x="5990422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6E9CE3-9969-13B3-DD71-5E88E9AC5A58}"/>
              </a:ext>
            </a:extLst>
          </p:cNvPr>
          <p:cNvCxnSpPr>
            <a:cxnSpLocks/>
          </p:cNvCxnSpPr>
          <p:nvPr/>
        </p:nvCxnSpPr>
        <p:spPr>
          <a:xfrm flipV="1">
            <a:off x="6703245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8E70C9-0E6E-CDB6-091C-7B11E5D6B12B}"/>
              </a:ext>
            </a:extLst>
          </p:cNvPr>
          <p:cNvCxnSpPr>
            <a:cxnSpLocks/>
          </p:cNvCxnSpPr>
          <p:nvPr/>
        </p:nvCxnSpPr>
        <p:spPr>
          <a:xfrm flipV="1">
            <a:off x="7416068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C8EC7E-35E3-0BDC-DD17-19A6E6BA2D89}"/>
              </a:ext>
            </a:extLst>
          </p:cNvPr>
          <p:cNvCxnSpPr>
            <a:cxnSpLocks/>
          </p:cNvCxnSpPr>
          <p:nvPr/>
        </p:nvCxnSpPr>
        <p:spPr>
          <a:xfrm flipV="1">
            <a:off x="8128891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1599CE-F65D-9297-AF96-694A88C0CD0F}"/>
              </a:ext>
            </a:extLst>
          </p:cNvPr>
          <p:cNvCxnSpPr>
            <a:cxnSpLocks/>
          </p:cNvCxnSpPr>
          <p:nvPr/>
        </p:nvCxnSpPr>
        <p:spPr>
          <a:xfrm flipV="1">
            <a:off x="8841714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E53A47-9043-1EA2-02A7-DD425C2BABEE}"/>
              </a:ext>
            </a:extLst>
          </p:cNvPr>
          <p:cNvCxnSpPr>
            <a:cxnSpLocks/>
          </p:cNvCxnSpPr>
          <p:nvPr/>
        </p:nvCxnSpPr>
        <p:spPr>
          <a:xfrm flipV="1">
            <a:off x="9554537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FC3B5F-E80A-8E51-7E24-BCE5794DF081}"/>
              </a:ext>
            </a:extLst>
          </p:cNvPr>
          <p:cNvCxnSpPr>
            <a:cxnSpLocks/>
          </p:cNvCxnSpPr>
          <p:nvPr/>
        </p:nvCxnSpPr>
        <p:spPr>
          <a:xfrm flipV="1">
            <a:off x="10267363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1F0A2A7-3943-267A-F967-5B3B90AC4CB5}"/>
              </a:ext>
            </a:extLst>
          </p:cNvPr>
          <p:cNvCxnSpPr>
            <a:cxnSpLocks/>
          </p:cNvCxnSpPr>
          <p:nvPr/>
        </p:nvCxnSpPr>
        <p:spPr>
          <a:xfrm flipV="1">
            <a:off x="4564776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F6295E-363C-6540-BED1-EFA5C7647AA3}"/>
              </a:ext>
            </a:extLst>
          </p:cNvPr>
          <p:cNvCxnSpPr>
            <a:cxnSpLocks/>
          </p:cNvCxnSpPr>
          <p:nvPr/>
        </p:nvCxnSpPr>
        <p:spPr>
          <a:xfrm flipV="1">
            <a:off x="5277599" y="311713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3A0A5D-D2DC-91B1-E810-C34BDD3DD236}"/>
              </a:ext>
            </a:extLst>
          </p:cNvPr>
          <p:cNvCxnSpPr>
            <a:cxnSpLocks/>
          </p:cNvCxnSpPr>
          <p:nvPr/>
        </p:nvCxnSpPr>
        <p:spPr>
          <a:xfrm flipV="1">
            <a:off x="3851952" y="311084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FC14C9-1D00-455B-E256-281A4D4D69BD}"/>
              </a:ext>
            </a:extLst>
          </p:cNvPr>
          <p:cNvCxnSpPr>
            <a:cxnSpLocks/>
          </p:cNvCxnSpPr>
          <p:nvPr/>
        </p:nvCxnSpPr>
        <p:spPr>
          <a:xfrm flipV="1">
            <a:off x="10962855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16E84F9-FB04-3454-3351-7FA4DF0973AB}"/>
              </a:ext>
            </a:extLst>
          </p:cNvPr>
          <p:cNvCxnSpPr>
            <a:cxnSpLocks/>
          </p:cNvCxnSpPr>
          <p:nvPr/>
        </p:nvCxnSpPr>
        <p:spPr>
          <a:xfrm flipV="1">
            <a:off x="5015845" y="20494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8E2B47C-8357-66C4-4016-3F66DF08E4AF}"/>
                  </a:ext>
                </a:extLst>
              </p:cNvPr>
              <p:cNvSpPr txBox="1"/>
              <p:nvPr/>
            </p:nvSpPr>
            <p:spPr>
              <a:xfrm>
                <a:off x="4842807" y="1669902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8E2B47C-8357-66C4-4016-3F66DF08E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807" y="1669902"/>
                <a:ext cx="36157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D4323D1C-8F56-994D-40B9-A23935F5D920}"/>
              </a:ext>
            </a:extLst>
          </p:cNvPr>
          <p:cNvSpPr/>
          <p:nvPr/>
        </p:nvSpPr>
        <p:spPr>
          <a:xfrm>
            <a:off x="5499069" y="1469035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head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B49955B-5F87-7EE9-AC16-973C838AE8C9}"/>
              </a:ext>
            </a:extLst>
          </p:cNvPr>
          <p:cNvSpPr txBox="1"/>
          <p:nvPr/>
        </p:nvSpPr>
        <p:spPr>
          <a:xfrm>
            <a:off x="8147200" y="1671260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40535DB-BBA7-D115-BFDC-DE249A2C31A1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927192" y="1855534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A5061FC-8182-FFAB-EDFF-9A111B38CFCC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>
            <a:off x="5204381" y="1854568"/>
            <a:ext cx="294688" cy="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994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762EB-7E66-09B0-8329-6581A7B62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8AA9-1213-9C6A-3B9A-FF5E3975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sentence-level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4B8E2-5C63-3DA4-F7FB-665E280C5653}"/>
              </a:ext>
            </a:extLst>
          </p:cNvPr>
          <p:cNvSpPr txBox="1"/>
          <p:nvPr/>
        </p:nvSpPr>
        <p:spPr>
          <a:xfrm>
            <a:off x="2799538" y="6246094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B84D77-9D41-81EB-E02B-A8EAB729D2E6}"/>
              </a:ext>
            </a:extLst>
          </p:cNvPr>
          <p:cNvSpPr/>
          <p:nvPr/>
        </p:nvSpPr>
        <p:spPr>
          <a:xfrm>
            <a:off x="2697639" y="4279772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145C2E-B92F-06F5-0A1B-5DB54EEB1C84}"/>
              </a:ext>
            </a:extLst>
          </p:cNvPr>
          <p:cNvCxnSpPr/>
          <p:nvPr/>
        </p:nvCxnSpPr>
        <p:spPr>
          <a:xfrm flipV="1">
            <a:off x="3148553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2CE953-11CC-CAC9-9735-FA5766C92B76}"/>
              </a:ext>
            </a:extLst>
          </p:cNvPr>
          <p:cNvCxnSpPr/>
          <p:nvPr/>
        </p:nvCxnSpPr>
        <p:spPr>
          <a:xfrm flipV="1">
            <a:off x="5994877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E90555-2354-E4A1-50FF-6F041D0C9907}"/>
              </a:ext>
            </a:extLst>
          </p:cNvPr>
          <p:cNvCxnSpPr/>
          <p:nvPr/>
        </p:nvCxnSpPr>
        <p:spPr>
          <a:xfrm flipV="1">
            <a:off x="6706458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FD50AC-C0D8-6ACD-E229-61775BE8C9ED}"/>
              </a:ext>
            </a:extLst>
          </p:cNvPr>
          <p:cNvCxnSpPr/>
          <p:nvPr/>
        </p:nvCxnSpPr>
        <p:spPr>
          <a:xfrm flipV="1">
            <a:off x="7418039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0C166C-9D3E-FD4C-C267-BBEA5BD59F0D}"/>
              </a:ext>
            </a:extLst>
          </p:cNvPr>
          <p:cNvCxnSpPr/>
          <p:nvPr/>
        </p:nvCxnSpPr>
        <p:spPr>
          <a:xfrm flipV="1">
            <a:off x="8129620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4769DC-1C01-A169-C9F9-367F183B4AC7}"/>
              </a:ext>
            </a:extLst>
          </p:cNvPr>
          <p:cNvCxnSpPr/>
          <p:nvPr/>
        </p:nvCxnSpPr>
        <p:spPr>
          <a:xfrm flipV="1">
            <a:off x="8841201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B7E86B-54EA-39F6-6AA7-91588AA85D47}"/>
              </a:ext>
            </a:extLst>
          </p:cNvPr>
          <p:cNvCxnSpPr/>
          <p:nvPr/>
        </p:nvCxnSpPr>
        <p:spPr>
          <a:xfrm flipV="1">
            <a:off x="9552782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DD753F-2347-4F47-9A61-55EA21CC7929}"/>
              </a:ext>
            </a:extLst>
          </p:cNvPr>
          <p:cNvCxnSpPr/>
          <p:nvPr/>
        </p:nvCxnSpPr>
        <p:spPr>
          <a:xfrm flipV="1">
            <a:off x="10264363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1D10F7-E2FA-63C1-3A48-99426DBABF2B}"/>
              </a:ext>
            </a:extLst>
          </p:cNvPr>
          <p:cNvCxnSpPr/>
          <p:nvPr/>
        </p:nvCxnSpPr>
        <p:spPr>
          <a:xfrm flipV="1">
            <a:off x="4571715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595EF0-F4CF-121E-708D-3B86C84332A7}"/>
              </a:ext>
            </a:extLst>
          </p:cNvPr>
          <p:cNvCxnSpPr/>
          <p:nvPr/>
        </p:nvCxnSpPr>
        <p:spPr>
          <a:xfrm flipV="1">
            <a:off x="5283296" y="582262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B53CC9-5978-E097-8396-9AE957B0D407}"/>
              </a:ext>
            </a:extLst>
          </p:cNvPr>
          <p:cNvCxnSpPr/>
          <p:nvPr/>
        </p:nvCxnSpPr>
        <p:spPr>
          <a:xfrm flipV="1">
            <a:off x="3860134" y="581633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85AB2EA-7361-2512-3A62-881BBEC5A125}"/>
              </a:ext>
            </a:extLst>
          </p:cNvPr>
          <p:cNvCxnSpPr/>
          <p:nvPr/>
        </p:nvCxnSpPr>
        <p:spPr>
          <a:xfrm flipV="1">
            <a:off x="3139128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07EB6E-417D-4805-2F9F-597DF8B678C0}"/>
              </a:ext>
            </a:extLst>
          </p:cNvPr>
          <p:cNvCxnSpPr/>
          <p:nvPr/>
        </p:nvCxnSpPr>
        <p:spPr>
          <a:xfrm flipV="1">
            <a:off x="5990422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28735B-F456-13EE-0057-AD2840B76CEB}"/>
              </a:ext>
            </a:extLst>
          </p:cNvPr>
          <p:cNvCxnSpPr/>
          <p:nvPr/>
        </p:nvCxnSpPr>
        <p:spPr>
          <a:xfrm flipV="1">
            <a:off x="6703245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FEBA14-1423-DA7D-D09D-86B0EF381C43}"/>
              </a:ext>
            </a:extLst>
          </p:cNvPr>
          <p:cNvCxnSpPr/>
          <p:nvPr/>
        </p:nvCxnSpPr>
        <p:spPr>
          <a:xfrm flipV="1">
            <a:off x="7416068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5D0AEF8-C88B-D84F-AF08-5AA0866C3A3C}"/>
              </a:ext>
            </a:extLst>
          </p:cNvPr>
          <p:cNvCxnSpPr/>
          <p:nvPr/>
        </p:nvCxnSpPr>
        <p:spPr>
          <a:xfrm flipV="1">
            <a:off x="8128891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5B3662-860A-2410-4D9B-CC190B6EA747}"/>
              </a:ext>
            </a:extLst>
          </p:cNvPr>
          <p:cNvCxnSpPr/>
          <p:nvPr/>
        </p:nvCxnSpPr>
        <p:spPr>
          <a:xfrm flipV="1">
            <a:off x="8841714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E3EDC0-F5F2-1543-F48A-4DC50ADD5439}"/>
              </a:ext>
            </a:extLst>
          </p:cNvPr>
          <p:cNvCxnSpPr/>
          <p:nvPr/>
        </p:nvCxnSpPr>
        <p:spPr>
          <a:xfrm flipV="1">
            <a:off x="9554537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5C0863-35D6-5998-2E98-D6A1808758E9}"/>
              </a:ext>
            </a:extLst>
          </p:cNvPr>
          <p:cNvCxnSpPr/>
          <p:nvPr/>
        </p:nvCxnSpPr>
        <p:spPr>
          <a:xfrm flipV="1">
            <a:off x="10267363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4C6FA1-7D20-C6B8-383A-65848F3D5CF6}"/>
              </a:ext>
            </a:extLst>
          </p:cNvPr>
          <p:cNvCxnSpPr/>
          <p:nvPr/>
        </p:nvCxnSpPr>
        <p:spPr>
          <a:xfrm flipV="1">
            <a:off x="4564776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C76576-CFE4-A627-D755-C5471A1321E1}"/>
              </a:ext>
            </a:extLst>
          </p:cNvPr>
          <p:cNvCxnSpPr/>
          <p:nvPr/>
        </p:nvCxnSpPr>
        <p:spPr>
          <a:xfrm flipV="1">
            <a:off x="5277599" y="385630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495E2F-A907-9956-AFCF-470E8A322533}"/>
              </a:ext>
            </a:extLst>
          </p:cNvPr>
          <p:cNvCxnSpPr/>
          <p:nvPr/>
        </p:nvCxnSpPr>
        <p:spPr>
          <a:xfrm flipV="1">
            <a:off x="3851952" y="385001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1FAAA98-132B-1335-161F-B3EDC8E8104E}"/>
                  </a:ext>
                </a:extLst>
              </p:cNvPr>
              <p:cNvSpPr txBox="1"/>
              <p:nvPr/>
            </p:nvSpPr>
            <p:spPr>
              <a:xfrm>
                <a:off x="2909544" y="3480686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1FAAA98-132B-1335-161F-B3EDC8E81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480686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9171218-3511-4408-BBCA-E8425B5BAA29}"/>
                  </a:ext>
                </a:extLst>
              </p:cNvPr>
              <p:cNvSpPr txBox="1"/>
              <p:nvPr/>
            </p:nvSpPr>
            <p:spPr>
              <a:xfrm>
                <a:off x="3634382" y="34757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9171218-3511-4408-BBCA-E8425B5BA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475751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95BDF1-2DA5-319D-6C81-8EB3687BBC6B}"/>
                  </a:ext>
                </a:extLst>
              </p:cNvPr>
              <p:cNvSpPr txBox="1"/>
              <p:nvPr/>
            </p:nvSpPr>
            <p:spPr>
              <a:xfrm>
                <a:off x="4339569" y="34757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95BDF1-2DA5-319D-6C81-8EB3687BB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475751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359EE9C-0FEE-8F05-58AE-1920A84E008E}"/>
                  </a:ext>
                </a:extLst>
              </p:cNvPr>
              <p:cNvSpPr txBox="1"/>
              <p:nvPr/>
            </p:nvSpPr>
            <p:spPr>
              <a:xfrm>
                <a:off x="7899296" y="34744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359EE9C-0FEE-8F05-58AE-1920A84E0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474402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F7A11E-492A-3B4A-A21A-DF1EC2952371}"/>
                  </a:ext>
                </a:extLst>
              </p:cNvPr>
              <p:cNvSpPr txBox="1"/>
              <p:nvPr/>
            </p:nvSpPr>
            <p:spPr>
              <a:xfrm>
                <a:off x="8612123" y="3474403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1F7A11E-492A-3B4A-A21A-DF1EC2952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474403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62B1F9-CBBF-504F-F94E-B3249B29522D}"/>
                  </a:ext>
                </a:extLst>
              </p:cNvPr>
              <p:cNvSpPr txBox="1"/>
              <p:nvPr/>
            </p:nvSpPr>
            <p:spPr>
              <a:xfrm>
                <a:off x="9324950" y="3475751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62B1F9-CBBF-504F-F94E-B3249B295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475751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2E287BA-B8B6-4C3B-D3CF-5F2F0885A485}"/>
                  </a:ext>
                </a:extLst>
              </p:cNvPr>
              <p:cNvSpPr txBox="1"/>
              <p:nvPr/>
            </p:nvSpPr>
            <p:spPr>
              <a:xfrm>
                <a:off x="10037777" y="3475751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2E287BA-B8B6-4C3B-D3CF-5F2F0885A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475751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E264B5-B9B9-8911-DAD6-70C9A95FA86E}"/>
                  </a:ext>
                </a:extLst>
              </p:cNvPr>
              <p:cNvSpPr txBox="1"/>
              <p:nvPr/>
            </p:nvSpPr>
            <p:spPr>
              <a:xfrm>
                <a:off x="5047988" y="346907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E264B5-B9B9-8911-DAD6-70C9A95FA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469077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6C6762-C7FD-2181-9B98-4CF3E8E32277}"/>
                  </a:ext>
                </a:extLst>
              </p:cNvPr>
              <p:cNvSpPr txBox="1"/>
              <p:nvPr/>
            </p:nvSpPr>
            <p:spPr>
              <a:xfrm>
                <a:off x="5760815" y="3469078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6C6762-C7FD-2181-9B98-4CF3E8E32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469078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C9E207-4E6D-7BD0-0070-1D93BF23E654}"/>
                  </a:ext>
                </a:extLst>
              </p:cNvPr>
              <p:cNvSpPr txBox="1"/>
              <p:nvPr/>
            </p:nvSpPr>
            <p:spPr>
              <a:xfrm>
                <a:off x="6473642" y="34704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C9E207-4E6D-7BD0-0070-1D93BF23E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470426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E362097-F084-7B69-DE66-E9938A66318E}"/>
                  </a:ext>
                </a:extLst>
              </p:cNvPr>
              <p:cNvSpPr txBox="1"/>
              <p:nvPr/>
            </p:nvSpPr>
            <p:spPr>
              <a:xfrm>
                <a:off x="7186469" y="34704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E362097-F084-7B69-DE66-E9938A663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470426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9ECE81E-92D6-4589-5E64-C300239B6ED6}"/>
              </a:ext>
            </a:extLst>
          </p:cNvPr>
          <p:cNvSpPr txBox="1"/>
          <p:nvPr/>
        </p:nvSpPr>
        <p:spPr>
          <a:xfrm>
            <a:off x="568548" y="6246092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F4A0E5-D4A7-289A-89C7-AA307CBACDB9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5FAC4C-EB7C-8EEA-A2ED-C1E0D5F7EAF6}"/>
              </a:ext>
            </a:extLst>
          </p:cNvPr>
          <p:cNvCxnSpPr/>
          <p:nvPr/>
        </p:nvCxnSpPr>
        <p:spPr>
          <a:xfrm flipV="1">
            <a:off x="10975942" y="581633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DAD55C-3C58-C87C-6B51-D1E5249FDAA3}"/>
              </a:ext>
            </a:extLst>
          </p:cNvPr>
          <p:cNvCxnSpPr/>
          <p:nvPr/>
        </p:nvCxnSpPr>
        <p:spPr>
          <a:xfrm flipV="1">
            <a:off x="10962855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99733F-27B2-31D4-0BB4-235EF899A634}"/>
                  </a:ext>
                </a:extLst>
              </p:cNvPr>
              <p:cNvSpPr txBox="1"/>
              <p:nvPr/>
            </p:nvSpPr>
            <p:spPr>
              <a:xfrm>
                <a:off x="10733269" y="3475751"/>
                <a:ext cx="55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99733F-27B2-31D4-0BB4-235EF899A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475751"/>
                <a:ext cx="5521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8259E43-6CE1-5A49-CC38-C6F84FB2CA8E}"/>
              </a:ext>
            </a:extLst>
          </p:cNvPr>
          <p:cNvSpPr/>
          <p:nvPr/>
        </p:nvSpPr>
        <p:spPr>
          <a:xfrm>
            <a:off x="2697639" y="2479248"/>
            <a:ext cx="8644379" cy="6315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pooling method (max pooling, learned pooling)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6E733F-45EA-F195-DC20-204B159A0F0A}"/>
              </a:ext>
            </a:extLst>
          </p:cNvPr>
          <p:cNvCxnSpPr>
            <a:cxnSpLocks/>
          </p:cNvCxnSpPr>
          <p:nvPr/>
        </p:nvCxnSpPr>
        <p:spPr>
          <a:xfrm flipV="1">
            <a:off x="3139128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81DE3C-E8BA-6764-E68B-2311DB336E75}"/>
              </a:ext>
            </a:extLst>
          </p:cNvPr>
          <p:cNvCxnSpPr>
            <a:cxnSpLocks/>
          </p:cNvCxnSpPr>
          <p:nvPr/>
        </p:nvCxnSpPr>
        <p:spPr>
          <a:xfrm flipV="1">
            <a:off x="5990422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438068-BD0D-7C2B-02BF-20CED6866774}"/>
              </a:ext>
            </a:extLst>
          </p:cNvPr>
          <p:cNvCxnSpPr>
            <a:cxnSpLocks/>
          </p:cNvCxnSpPr>
          <p:nvPr/>
        </p:nvCxnSpPr>
        <p:spPr>
          <a:xfrm flipV="1">
            <a:off x="6703245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CFCD29-882E-B392-25D3-1832743E890C}"/>
              </a:ext>
            </a:extLst>
          </p:cNvPr>
          <p:cNvCxnSpPr>
            <a:cxnSpLocks/>
          </p:cNvCxnSpPr>
          <p:nvPr/>
        </p:nvCxnSpPr>
        <p:spPr>
          <a:xfrm flipV="1">
            <a:off x="7416068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191120-D419-800D-741D-9104EFA169C8}"/>
              </a:ext>
            </a:extLst>
          </p:cNvPr>
          <p:cNvCxnSpPr>
            <a:cxnSpLocks/>
          </p:cNvCxnSpPr>
          <p:nvPr/>
        </p:nvCxnSpPr>
        <p:spPr>
          <a:xfrm flipV="1">
            <a:off x="8128891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D514A7-A7A6-BAED-3EBF-DBD370FFA4BD}"/>
              </a:ext>
            </a:extLst>
          </p:cNvPr>
          <p:cNvCxnSpPr>
            <a:cxnSpLocks/>
          </p:cNvCxnSpPr>
          <p:nvPr/>
        </p:nvCxnSpPr>
        <p:spPr>
          <a:xfrm flipV="1">
            <a:off x="8841714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43F676-3BAD-C92F-A000-AF094FB92388}"/>
              </a:ext>
            </a:extLst>
          </p:cNvPr>
          <p:cNvCxnSpPr>
            <a:cxnSpLocks/>
          </p:cNvCxnSpPr>
          <p:nvPr/>
        </p:nvCxnSpPr>
        <p:spPr>
          <a:xfrm flipV="1">
            <a:off x="9554537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675E17-3D40-FA57-FCBB-E1ED207CA776}"/>
              </a:ext>
            </a:extLst>
          </p:cNvPr>
          <p:cNvCxnSpPr>
            <a:cxnSpLocks/>
          </p:cNvCxnSpPr>
          <p:nvPr/>
        </p:nvCxnSpPr>
        <p:spPr>
          <a:xfrm flipV="1">
            <a:off x="10267363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AA7BDD-2C7D-F3FD-EFEA-43A7E7E854D6}"/>
              </a:ext>
            </a:extLst>
          </p:cNvPr>
          <p:cNvCxnSpPr>
            <a:cxnSpLocks/>
          </p:cNvCxnSpPr>
          <p:nvPr/>
        </p:nvCxnSpPr>
        <p:spPr>
          <a:xfrm flipV="1">
            <a:off x="4564776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349A735-293B-5C40-D031-62AE91C25171}"/>
              </a:ext>
            </a:extLst>
          </p:cNvPr>
          <p:cNvCxnSpPr>
            <a:cxnSpLocks/>
          </p:cNvCxnSpPr>
          <p:nvPr/>
        </p:nvCxnSpPr>
        <p:spPr>
          <a:xfrm flipV="1">
            <a:off x="5277599" y="311713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8321D0-02EC-A755-4477-600E28C0DB5C}"/>
              </a:ext>
            </a:extLst>
          </p:cNvPr>
          <p:cNvCxnSpPr>
            <a:cxnSpLocks/>
          </p:cNvCxnSpPr>
          <p:nvPr/>
        </p:nvCxnSpPr>
        <p:spPr>
          <a:xfrm flipV="1">
            <a:off x="3851952" y="311084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D9B6BA2-B104-B156-2C9F-A680E85CDA1F}"/>
              </a:ext>
            </a:extLst>
          </p:cNvPr>
          <p:cNvCxnSpPr>
            <a:cxnSpLocks/>
          </p:cNvCxnSpPr>
          <p:nvPr/>
        </p:nvCxnSpPr>
        <p:spPr>
          <a:xfrm flipV="1">
            <a:off x="10962855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2CEC8C0-9C63-0CB2-7828-2148113A2460}"/>
              </a:ext>
            </a:extLst>
          </p:cNvPr>
          <p:cNvCxnSpPr>
            <a:cxnSpLocks/>
          </p:cNvCxnSpPr>
          <p:nvPr/>
        </p:nvCxnSpPr>
        <p:spPr>
          <a:xfrm flipV="1">
            <a:off x="5015845" y="20494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4F8F17C-2B23-0073-3206-BF82B4676BE4}"/>
                  </a:ext>
                </a:extLst>
              </p:cNvPr>
              <p:cNvSpPr txBox="1"/>
              <p:nvPr/>
            </p:nvSpPr>
            <p:spPr>
              <a:xfrm>
                <a:off x="4842807" y="1669902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4F8F17C-2B23-0073-3206-BF82B4676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807" y="1669902"/>
                <a:ext cx="36157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7194880D-2AD8-298C-2282-2EC6B4ACC226}"/>
              </a:ext>
            </a:extLst>
          </p:cNvPr>
          <p:cNvSpPr/>
          <p:nvPr/>
        </p:nvSpPr>
        <p:spPr>
          <a:xfrm>
            <a:off x="5499069" y="1469035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head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D2D238-EC4D-C263-7E45-51EEEE145744}"/>
              </a:ext>
            </a:extLst>
          </p:cNvPr>
          <p:cNvSpPr txBox="1"/>
          <p:nvPr/>
        </p:nvSpPr>
        <p:spPr>
          <a:xfrm>
            <a:off x="8147200" y="1671260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0424CB9-0220-094A-A6E5-1EC19F1E253D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927192" y="1855534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CCA4ABE-B6F4-D843-C5BF-FB7EC121B447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>
            <a:off x="5204381" y="1854568"/>
            <a:ext cx="294688" cy="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210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B1038-EC94-C4C1-B0B3-94A3C360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CEBD-44BC-73CD-D373-6F3BAB60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sentence-level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DD4DB-DC42-7019-5C9C-07C4BB45B239}"/>
              </a:ext>
            </a:extLst>
          </p:cNvPr>
          <p:cNvSpPr txBox="1"/>
          <p:nvPr/>
        </p:nvSpPr>
        <p:spPr>
          <a:xfrm>
            <a:off x="2799538" y="6246094"/>
            <a:ext cx="8649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[CLS]    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D1B2B1-6855-AFBD-E7BA-212472900988}"/>
              </a:ext>
            </a:extLst>
          </p:cNvPr>
          <p:cNvSpPr/>
          <p:nvPr/>
        </p:nvSpPr>
        <p:spPr>
          <a:xfrm>
            <a:off x="2697639" y="4279772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F67D60-215C-AAFD-6026-0F9CB8C2BEEA}"/>
              </a:ext>
            </a:extLst>
          </p:cNvPr>
          <p:cNvCxnSpPr/>
          <p:nvPr/>
        </p:nvCxnSpPr>
        <p:spPr>
          <a:xfrm flipV="1">
            <a:off x="3148553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F7D43F-59E0-BE2E-AA04-32D24C28F3DD}"/>
              </a:ext>
            </a:extLst>
          </p:cNvPr>
          <p:cNvCxnSpPr/>
          <p:nvPr/>
        </p:nvCxnSpPr>
        <p:spPr>
          <a:xfrm flipV="1">
            <a:off x="5994877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176FE0-DE06-142D-A2B3-8D6EF1167179}"/>
              </a:ext>
            </a:extLst>
          </p:cNvPr>
          <p:cNvCxnSpPr/>
          <p:nvPr/>
        </p:nvCxnSpPr>
        <p:spPr>
          <a:xfrm flipV="1">
            <a:off x="6706458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F96378-7811-082F-3306-AA159D1D2900}"/>
              </a:ext>
            </a:extLst>
          </p:cNvPr>
          <p:cNvCxnSpPr/>
          <p:nvPr/>
        </p:nvCxnSpPr>
        <p:spPr>
          <a:xfrm flipV="1">
            <a:off x="7418039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DF7B04-4AB9-A7AE-4690-4A91E9F85AC6}"/>
              </a:ext>
            </a:extLst>
          </p:cNvPr>
          <p:cNvCxnSpPr/>
          <p:nvPr/>
        </p:nvCxnSpPr>
        <p:spPr>
          <a:xfrm flipV="1">
            <a:off x="8129620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E5378A-6992-0F1B-05D0-93AED7180A55}"/>
              </a:ext>
            </a:extLst>
          </p:cNvPr>
          <p:cNvCxnSpPr/>
          <p:nvPr/>
        </p:nvCxnSpPr>
        <p:spPr>
          <a:xfrm flipV="1">
            <a:off x="8841201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5828FF-07A6-2D65-F40D-1DD9053F8655}"/>
              </a:ext>
            </a:extLst>
          </p:cNvPr>
          <p:cNvCxnSpPr/>
          <p:nvPr/>
        </p:nvCxnSpPr>
        <p:spPr>
          <a:xfrm flipV="1">
            <a:off x="9552782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E17B75-F5AB-6926-5FAC-B4CB492C9281}"/>
              </a:ext>
            </a:extLst>
          </p:cNvPr>
          <p:cNvCxnSpPr/>
          <p:nvPr/>
        </p:nvCxnSpPr>
        <p:spPr>
          <a:xfrm flipV="1">
            <a:off x="10264363" y="581634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8183BD-CA07-EF8D-7D82-6DEF13F78306}"/>
              </a:ext>
            </a:extLst>
          </p:cNvPr>
          <p:cNvCxnSpPr/>
          <p:nvPr/>
        </p:nvCxnSpPr>
        <p:spPr>
          <a:xfrm flipV="1">
            <a:off x="4571715" y="581634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BEB9EC-C1B9-832E-7F33-53474154CC1F}"/>
              </a:ext>
            </a:extLst>
          </p:cNvPr>
          <p:cNvCxnSpPr/>
          <p:nvPr/>
        </p:nvCxnSpPr>
        <p:spPr>
          <a:xfrm flipV="1">
            <a:off x="5283296" y="582262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B339E4-79CF-A4F9-0828-60DE150EEE38}"/>
              </a:ext>
            </a:extLst>
          </p:cNvPr>
          <p:cNvCxnSpPr/>
          <p:nvPr/>
        </p:nvCxnSpPr>
        <p:spPr>
          <a:xfrm flipV="1">
            <a:off x="3860134" y="581633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640A77-1AB6-733F-7965-3510C905E6FF}"/>
              </a:ext>
            </a:extLst>
          </p:cNvPr>
          <p:cNvCxnSpPr/>
          <p:nvPr/>
        </p:nvCxnSpPr>
        <p:spPr>
          <a:xfrm flipV="1">
            <a:off x="3139128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1FE1DE-37DC-5782-6D58-92CC13B54FB4}"/>
              </a:ext>
            </a:extLst>
          </p:cNvPr>
          <p:cNvCxnSpPr/>
          <p:nvPr/>
        </p:nvCxnSpPr>
        <p:spPr>
          <a:xfrm flipV="1">
            <a:off x="5990422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05F0F0-09A3-9AB3-2368-4A9EEF319335}"/>
              </a:ext>
            </a:extLst>
          </p:cNvPr>
          <p:cNvCxnSpPr/>
          <p:nvPr/>
        </p:nvCxnSpPr>
        <p:spPr>
          <a:xfrm flipV="1">
            <a:off x="6703245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E7764A-53BE-1B98-5956-77662FACF164}"/>
              </a:ext>
            </a:extLst>
          </p:cNvPr>
          <p:cNvCxnSpPr/>
          <p:nvPr/>
        </p:nvCxnSpPr>
        <p:spPr>
          <a:xfrm flipV="1">
            <a:off x="7416068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C08FA4-9034-F429-038A-BCCB52FD1059}"/>
              </a:ext>
            </a:extLst>
          </p:cNvPr>
          <p:cNvCxnSpPr/>
          <p:nvPr/>
        </p:nvCxnSpPr>
        <p:spPr>
          <a:xfrm flipV="1">
            <a:off x="8128891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3A4D2EE-9B56-88DE-C69E-08B78B8F3C5F}"/>
              </a:ext>
            </a:extLst>
          </p:cNvPr>
          <p:cNvCxnSpPr/>
          <p:nvPr/>
        </p:nvCxnSpPr>
        <p:spPr>
          <a:xfrm flipV="1">
            <a:off x="8841714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D6F760D-F523-300B-92E9-BD15124269E4}"/>
              </a:ext>
            </a:extLst>
          </p:cNvPr>
          <p:cNvCxnSpPr/>
          <p:nvPr/>
        </p:nvCxnSpPr>
        <p:spPr>
          <a:xfrm flipV="1">
            <a:off x="9554537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A803E3-96FE-AD0C-3CA2-2B782EEFDAA9}"/>
              </a:ext>
            </a:extLst>
          </p:cNvPr>
          <p:cNvCxnSpPr/>
          <p:nvPr/>
        </p:nvCxnSpPr>
        <p:spPr>
          <a:xfrm flipV="1">
            <a:off x="10267363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C437885-A363-4BC4-BD04-9F7744BA132E}"/>
              </a:ext>
            </a:extLst>
          </p:cNvPr>
          <p:cNvCxnSpPr/>
          <p:nvPr/>
        </p:nvCxnSpPr>
        <p:spPr>
          <a:xfrm flipV="1">
            <a:off x="4564776" y="385001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66065D-AAF7-D9F2-28EB-DDBEACF4D35F}"/>
              </a:ext>
            </a:extLst>
          </p:cNvPr>
          <p:cNvCxnSpPr/>
          <p:nvPr/>
        </p:nvCxnSpPr>
        <p:spPr>
          <a:xfrm flipV="1">
            <a:off x="5277599" y="385630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C369BEA-09C9-5DE1-77C9-4C16A1FC8081}"/>
              </a:ext>
            </a:extLst>
          </p:cNvPr>
          <p:cNvCxnSpPr/>
          <p:nvPr/>
        </p:nvCxnSpPr>
        <p:spPr>
          <a:xfrm flipV="1">
            <a:off x="3851952" y="385001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DDEBE0-94D8-E076-F3CC-62C180215639}"/>
                  </a:ext>
                </a:extLst>
              </p:cNvPr>
              <p:cNvSpPr txBox="1"/>
              <p:nvPr/>
            </p:nvSpPr>
            <p:spPr>
              <a:xfrm>
                <a:off x="2909544" y="3480686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9DDEBE0-94D8-E076-F3CC-62C180215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544" y="3480686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71EE9D-05BD-AF2F-9DC4-A17126ED2DFD}"/>
                  </a:ext>
                </a:extLst>
              </p:cNvPr>
              <p:cNvSpPr txBox="1"/>
              <p:nvPr/>
            </p:nvSpPr>
            <p:spPr>
              <a:xfrm>
                <a:off x="3634382" y="34757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71EE9D-05BD-AF2F-9DC4-A17126ED2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82" y="3475751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C36486E-1DA5-DAB7-24F7-725F6E8D3861}"/>
                  </a:ext>
                </a:extLst>
              </p:cNvPr>
              <p:cNvSpPr txBox="1"/>
              <p:nvPr/>
            </p:nvSpPr>
            <p:spPr>
              <a:xfrm>
                <a:off x="4339569" y="34757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C36486E-1DA5-DAB7-24F7-725F6E8D3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9" y="3475751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4DF59E5-BBFF-30C0-92BA-AE7663F8B909}"/>
                  </a:ext>
                </a:extLst>
              </p:cNvPr>
              <p:cNvSpPr txBox="1"/>
              <p:nvPr/>
            </p:nvSpPr>
            <p:spPr>
              <a:xfrm>
                <a:off x="7899296" y="3474402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4DF59E5-BBFF-30C0-92BA-AE7663F8B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296" y="3474402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2FA5B4-0392-7800-CB2A-23E1B6695879}"/>
                  </a:ext>
                </a:extLst>
              </p:cNvPr>
              <p:cNvSpPr txBox="1"/>
              <p:nvPr/>
            </p:nvSpPr>
            <p:spPr>
              <a:xfrm>
                <a:off x="8612123" y="3474403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2FA5B4-0392-7800-CB2A-23E1B6695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23" y="3474403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F216283-67E9-3EA5-C867-6E07E9D42214}"/>
                  </a:ext>
                </a:extLst>
              </p:cNvPr>
              <p:cNvSpPr txBox="1"/>
              <p:nvPr/>
            </p:nvSpPr>
            <p:spPr>
              <a:xfrm>
                <a:off x="9324950" y="3475751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F216283-67E9-3EA5-C867-6E07E9D42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50" y="3475751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6F3D4E-E13A-04E6-84CD-10DC138951DA}"/>
                  </a:ext>
                </a:extLst>
              </p:cNvPr>
              <p:cNvSpPr txBox="1"/>
              <p:nvPr/>
            </p:nvSpPr>
            <p:spPr>
              <a:xfrm>
                <a:off x="10037777" y="3475751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6F3D4E-E13A-04E6-84CD-10DC13895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7" y="3475751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6F70E2-9554-E249-2897-D15055639BC9}"/>
                  </a:ext>
                </a:extLst>
              </p:cNvPr>
              <p:cNvSpPr txBox="1"/>
              <p:nvPr/>
            </p:nvSpPr>
            <p:spPr>
              <a:xfrm>
                <a:off x="5047988" y="346907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6F70E2-9554-E249-2897-D15055639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3469077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CED5EC-71E7-225A-2CC3-D767F805438A}"/>
                  </a:ext>
                </a:extLst>
              </p:cNvPr>
              <p:cNvSpPr txBox="1"/>
              <p:nvPr/>
            </p:nvSpPr>
            <p:spPr>
              <a:xfrm>
                <a:off x="5760815" y="3469078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CED5EC-71E7-225A-2CC3-D767F8054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15" y="3469078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F0903A8-D46C-8526-DD52-CBDB36D3D8F7}"/>
                  </a:ext>
                </a:extLst>
              </p:cNvPr>
              <p:cNvSpPr txBox="1"/>
              <p:nvPr/>
            </p:nvSpPr>
            <p:spPr>
              <a:xfrm>
                <a:off x="6473642" y="34704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F0903A8-D46C-8526-DD52-CBDB36D3D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642" y="3470426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4571DA-AC62-2A2C-4FB2-A12A7F0E5612}"/>
                  </a:ext>
                </a:extLst>
              </p:cNvPr>
              <p:cNvSpPr txBox="1"/>
              <p:nvPr/>
            </p:nvSpPr>
            <p:spPr>
              <a:xfrm>
                <a:off x="7186469" y="34704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4571DA-AC62-2A2C-4FB2-A12A7F0E5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469" y="3470426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C5895BA-3061-9773-8A91-B3B165E2150A}"/>
              </a:ext>
            </a:extLst>
          </p:cNvPr>
          <p:cNvSpPr txBox="1"/>
          <p:nvPr/>
        </p:nvSpPr>
        <p:spPr>
          <a:xfrm>
            <a:off x="568548" y="6246092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8BA9AA-1917-B8D7-AAAC-C608D0D528F9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B9B850-AA90-84CF-35B4-5040846267CD}"/>
              </a:ext>
            </a:extLst>
          </p:cNvPr>
          <p:cNvCxnSpPr/>
          <p:nvPr/>
        </p:nvCxnSpPr>
        <p:spPr>
          <a:xfrm flipV="1">
            <a:off x="10975942" y="581633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54528F-7896-D18C-F760-940F4EB14842}"/>
              </a:ext>
            </a:extLst>
          </p:cNvPr>
          <p:cNvCxnSpPr/>
          <p:nvPr/>
        </p:nvCxnSpPr>
        <p:spPr>
          <a:xfrm flipV="1">
            <a:off x="10962855" y="385002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EEDFAC-3B1D-8B6C-F3E1-981C39629EBE}"/>
                  </a:ext>
                </a:extLst>
              </p:cNvPr>
              <p:cNvSpPr txBox="1"/>
              <p:nvPr/>
            </p:nvSpPr>
            <p:spPr>
              <a:xfrm>
                <a:off x="10733269" y="3475751"/>
                <a:ext cx="552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EEDFAC-3B1D-8B6C-F3E1-981C39629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69" y="3475751"/>
                <a:ext cx="5521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BBC85B-2760-314F-415D-DA1F507A6063}"/>
              </a:ext>
            </a:extLst>
          </p:cNvPr>
          <p:cNvSpPr/>
          <p:nvPr/>
        </p:nvSpPr>
        <p:spPr>
          <a:xfrm>
            <a:off x="2697639" y="2479248"/>
            <a:ext cx="8644379" cy="63159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aggregation method (e.g., RNN)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1707CEC-AD8C-ABC2-D03A-617A44ADCC00}"/>
              </a:ext>
            </a:extLst>
          </p:cNvPr>
          <p:cNvCxnSpPr>
            <a:cxnSpLocks/>
          </p:cNvCxnSpPr>
          <p:nvPr/>
        </p:nvCxnSpPr>
        <p:spPr>
          <a:xfrm flipV="1">
            <a:off x="3139128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84ABA8-F862-A0E9-E39F-2110966B53FA}"/>
              </a:ext>
            </a:extLst>
          </p:cNvPr>
          <p:cNvCxnSpPr>
            <a:cxnSpLocks/>
          </p:cNvCxnSpPr>
          <p:nvPr/>
        </p:nvCxnSpPr>
        <p:spPr>
          <a:xfrm flipV="1">
            <a:off x="5990422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992DB3-FDFC-8377-5803-D85D8294D7A7}"/>
              </a:ext>
            </a:extLst>
          </p:cNvPr>
          <p:cNvCxnSpPr>
            <a:cxnSpLocks/>
          </p:cNvCxnSpPr>
          <p:nvPr/>
        </p:nvCxnSpPr>
        <p:spPr>
          <a:xfrm flipV="1">
            <a:off x="6703245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942AE0-0FCF-5B3E-8AF5-4472FAF7B0D4}"/>
              </a:ext>
            </a:extLst>
          </p:cNvPr>
          <p:cNvCxnSpPr>
            <a:cxnSpLocks/>
          </p:cNvCxnSpPr>
          <p:nvPr/>
        </p:nvCxnSpPr>
        <p:spPr>
          <a:xfrm flipV="1">
            <a:off x="7416068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EC8984-C078-677D-3034-70033FAE4FD8}"/>
              </a:ext>
            </a:extLst>
          </p:cNvPr>
          <p:cNvCxnSpPr>
            <a:cxnSpLocks/>
          </p:cNvCxnSpPr>
          <p:nvPr/>
        </p:nvCxnSpPr>
        <p:spPr>
          <a:xfrm flipV="1">
            <a:off x="8128891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552CD7-89BB-14C3-14A4-EDB0D33EA311}"/>
              </a:ext>
            </a:extLst>
          </p:cNvPr>
          <p:cNvCxnSpPr>
            <a:cxnSpLocks/>
          </p:cNvCxnSpPr>
          <p:nvPr/>
        </p:nvCxnSpPr>
        <p:spPr>
          <a:xfrm flipV="1">
            <a:off x="8841714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8994E8-3656-5A26-3A0C-76375023A2EB}"/>
              </a:ext>
            </a:extLst>
          </p:cNvPr>
          <p:cNvCxnSpPr>
            <a:cxnSpLocks/>
          </p:cNvCxnSpPr>
          <p:nvPr/>
        </p:nvCxnSpPr>
        <p:spPr>
          <a:xfrm flipV="1">
            <a:off x="9554537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A9DC90-4032-8BC5-5685-AA54407BB0B8}"/>
              </a:ext>
            </a:extLst>
          </p:cNvPr>
          <p:cNvCxnSpPr>
            <a:cxnSpLocks/>
          </p:cNvCxnSpPr>
          <p:nvPr/>
        </p:nvCxnSpPr>
        <p:spPr>
          <a:xfrm flipV="1">
            <a:off x="10267363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3C2DDC-CC18-267C-C6EB-554B7594BF52}"/>
              </a:ext>
            </a:extLst>
          </p:cNvPr>
          <p:cNvCxnSpPr>
            <a:cxnSpLocks/>
          </p:cNvCxnSpPr>
          <p:nvPr/>
        </p:nvCxnSpPr>
        <p:spPr>
          <a:xfrm flipV="1">
            <a:off x="4564776" y="311084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B2B0BA-CE02-DA25-FD7B-75560EC81F01}"/>
              </a:ext>
            </a:extLst>
          </p:cNvPr>
          <p:cNvCxnSpPr>
            <a:cxnSpLocks/>
          </p:cNvCxnSpPr>
          <p:nvPr/>
        </p:nvCxnSpPr>
        <p:spPr>
          <a:xfrm flipV="1">
            <a:off x="5277599" y="3117131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675F29-BA26-7AB5-AF77-1AE2DBAB9721}"/>
              </a:ext>
            </a:extLst>
          </p:cNvPr>
          <p:cNvCxnSpPr>
            <a:cxnSpLocks/>
          </p:cNvCxnSpPr>
          <p:nvPr/>
        </p:nvCxnSpPr>
        <p:spPr>
          <a:xfrm flipV="1">
            <a:off x="3851952" y="311084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D4BE95-DB36-0566-64E3-7045CA3BFC07}"/>
              </a:ext>
            </a:extLst>
          </p:cNvPr>
          <p:cNvCxnSpPr>
            <a:cxnSpLocks/>
          </p:cNvCxnSpPr>
          <p:nvPr/>
        </p:nvCxnSpPr>
        <p:spPr>
          <a:xfrm flipV="1">
            <a:off x="10962855" y="311084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7B52903-249B-161D-945D-03130A1424A1}"/>
              </a:ext>
            </a:extLst>
          </p:cNvPr>
          <p:cNvCxnSpPr>
            <a:cxnSpLocks/>
          </p:cNvCxnSpPr>
          <p:nvPr/>
        </p:nvCxnSpPr>
        <p:spPr>
          <a:xfrm flipV="1">
            <a:off x="5015845" y="204949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9BA6504-7A8E-1DEC-D810-FBBA04DFBCDA}"/>
                  </a:ext>
                </a:extLst>
              </p:cNvPr>
              <p:cNvSpPr txBox="1"/>
              <p:nvPr/>
            </p:nvSpPr>
            <p:spPr>
              <a:xfrm>
                <a:off x="4842807" y="1669902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9BA6504-7A8E-1DEC-D810-FBBA04DFB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807" y="1669902"/>
                <a:ext cx="36157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BC737227-BE6B-461A-0DCE-D527D8505C30}"/>
              </a:ext>
            </a:extLst>
          </p:cNvPr>
          <p:cNvSpPr/>
          <p:nvPr/>
        </p:nvSpPr>
        <p:spPr>
          <a:xfrm>
            <a:off x="5499069" y="1469035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head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6A96A8-21E9-AB22-3134-EC31927F64EA}"/>
              </a:ext>
            </a:extLst>
          </p:cNvPr>
          <p:cNvSpPr txBox="1"/>
          <p:nvPr/>
        </p:nvSpPr>
        <p:spPr>
          <a:xfrm>
            <a:off x="8147200" y="1671260"/>
            <a:ext cx="3588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dirty="0" err="1"/>
              <a:t>target_token</a:t>
            </a:r>
            <a:r>
              <a:rPr lang="en-US" dirty="0"/>
              <a:t>)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49B581F-1BBF-73E0-5C6D-D34CBEA0C932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7927192" y="1855534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0646D18-A5F0-8E26-5941-34388745B7D2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>
            <a:off x="5204381" y="1854568"/>
            <a:ext cx="294688" cy="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1843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DDEF-55F5-6F17-60F1-74915EEE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Massive Text Embedding Benchmark (MTEB) leaderboard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308414-847C-9B41-D2DD-308F6B0F7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18" y="1980195"/>
            <a:ext cx="8166811" cy="53422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708D4-319B-5C9F-F650-A9EC6098751D}"/>
              </a:ext>
            </a:extLst>
          </p:cNvPr>
          <p:cNvSpPr txBox="1"/>
          <p:nvPr/>
        </p:nvSpPr>
        <p:spPr>
          <a:xfrm>
            <a:off x="687371" y="1980195"/>
            <a:ext cx="22632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models tuned for specific types of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</a:t>
            </a:r>
          </a:p>
          <a:p>
            <a:endParaRPr lang="en-US" dirty="0"/>
          </a:p>
          <a:p>
            <a:r>
              <a:rPr lang="en-US" dirty="0"/>
              <a:t>The *zero-shot* column is an indicator of leakage of evaluation tasks into training data</a:t>
            </a:r>
          </a:p>
          <a:p>
            <a:endParaRPr lang="en-US" dirty="0"/>
          </a:p>
          <a:p>
            <a:r>
              <a:rPr lang="en-US" dirty="0"/>
              <a:t>Part of Coding Assignment 3</a:t>
            </a:r>
          </a:p>
        </p:txBody>
      </p:sp>
    </p:spTree>
    <p:extLst>
      <p:ext uri="{BB962C8B-B14F-4D97-AF65-F5344CB8AC3E}">
        <p14:creationId xmlns:p14="http://schemas.microsoft.com/office/powerpoint/2010/main" val="3547827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3D4E-87BB-E4B1-7420-3D8A62E5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16D5-F23A-CE13-B410-A15815C1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CD78E-6F01-605A-3126-C0074F81F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Decoder-only models</a:t>
            </a:r>
          </a:p>
        </p:txBody>
      </p:sp>
    </p:spTree>
    <p:extLst>
      <p:ext uri="{BB962C8B-B14F-4D97-AF65-F5344CB8AC3E}">
        <p14:creationId xmlns:p14="http://schemas.microsoft.com/office/powerpoint/2010/main" val="255563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92B8-C7F1-92AE-3BAA-4D6C300B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DFB6-04C1-CED7-9D8B-1DFFF5DD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decoder-only architectures:</a:t>
            </a:r>
            <a:br>
              <a:rPr lang="en-US" dirty="0"/>
            </a:br>
            <a:r>
              <a:rPr lang="en-US" sz="3200" dirty="0"/>
              <a:t>Next token prediction (NTP)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2E838-3FD6-FCD3-E951-321335B9B8BA}"/>
              </a:ext>
            </a:extLst>
          </p:cNvPr>
          <p:cNvSpPr txBox="1"/>
          <p:nvPr/>
        </p:nvSpPr>
        <p:spPr>
          <a:xfrm>
            <a:off x="3044637" y="6123543"/>
            <a:ext cx="799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07B55D-3500-D105-5186-9ECC656707E4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dirty="0"/>
              <a:t>(token embeddings + positional encodings -&gt; (decoder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8AAA5B-148C-7258-4D48-B74D5C4E2434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5F0875-2A74-D484-D144-F91B9D0F10D6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6869AF-5664-9150-288B-C8A6300EAA9B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08F32B-209C-735A-CB1A-9DF213870A31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35D629-C813-CEE6-D0C0-4B1537B98415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2D5DE2-C27D-ED55-644E-EA9B77B949B1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5F931C-A446-92A5-5949-3B78625649A2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AE4E8D-AFB8-3A9E-FFBE-C15C28B0E7F0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5ECCF6-B175-C826-F1FF-A4A610B2B750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1D5742-FFFA-01DA-EC0D-D448B704A070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80B6C1-19A5-89B8-FF7F-4395AF8DD557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042771-AC6D-F52E-49F6-E21F4C3A8945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44F490-F514-264E-50A5-E1C8B8ACC1BF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16CAFB-5A55-4D97-C256-7347D073FA56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274BE95-5F0A-060B-89A4-3E0DF0FAFA5F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587F37-BAA6-9C3C-6267-654B40021BE4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EE16F6-C2ED-6C58-F750-62DC4DCEEFD3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04ECAF-19C3-7DBE-2C6E-DE11E80DA475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796771-7DBC-6E4C-7985-3D16DCC27352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EDA4E2-1D0F-49A9-65AC-5C61E23D975B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6E18FD4-7F03-784B-2104-08F99A40A2B1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60AF0E6-50A0-D77B-525B-EBB5F9BD4AF5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5C0C7C1-840D-043D-177D-F3966E1DCD30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5C0C7C1-840D-043D-177D-F3966E1DC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5AF236-963B-E4A3-EF8D-60B5EEC0CF83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5AF236-963B-E4A3-EF8D-60B5EEC0C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CF39A13-E35A-BEE8-6047-C0144D291680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CF39A13-E35A-BEE8-6047-C0144D291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5C9A14-81E7-5810-2841-ACDB9571DD77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5C9A14-81E7-5810-2841-ACDB9571D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2AB3EE4-2C73-4E2C-2DDA-24E7C2E8CFD3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2AB3EE4-2C73-4E2C-2DDA-24E7C2E8C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784571B-C1E7-B804-8368-8FB4AF35BB93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784571B-C1E7-B804-8368-8FB4AF35B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F7BBDA-B0D4-469C-DF33-7880FB13CAFE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F7BBDA-B0D4-469C-DF33-7880FB13C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F7BF1B-51CF-B220-3240-2A698C27E777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F7BF1B-51CF-B220-3240-2A698C27E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BA04304-6AB0-3A24-FF37-B87F9E52B109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BA04304-6AB0-3A24-FF37-B87F9E52B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E4B032-7DB6-8FFB-7186-C4732DF53D89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E4B032-7DB6-8FFB-7186-C4732DF53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1A2812-F4A5-3901-8609-73E63CBF8AB0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1A2812-F4A5-3901-8609-73E63CBF8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8FF2AEC3-55A3-5150-F4D0-8DC2706F30A1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944A58-3435-81F2-E53C-873DB629628F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481989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E108-EF48-8B0D-B90D-E62554FF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D090DC-B54B-6310-0F32-9C0C4F5BD612}"/>
              </a:ext>
            </a:extLst>
          </p:cNvPr>
          <p:cNvSpPr txBox="1"/>
          <p:nvPr/>
        </p:nvSpPr>
        <p:spPr>
          <a:xfrm>
            <a:off x="3044637" y="6123543"/>
            <a:ext cx="8085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C44BA6-0331-34CE-5E27-F739A43325D4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dirty="0"/>
              <a:t>(token embeddings + positional encodings -&gt; (decoder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4BD2C8-5AF1-136A-A23D-22169C3957DF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A5A27C-365A-55D8-1F42-93A0836DC8A0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558D0D-652C-BDBF-97CE-C1E223AE2331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A8DD3C-5D5A-AF2F-3FBB-B22AFDFFF875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7BE574-DAEC-537D-48CD-DCC4FFBAA134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B5649C-37F2-D44B-E083-0C59075A0162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474D3C-994E-ECAE-D92C-90BB91B332FE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F9CD2D-D92B-0C76-ADC9-7D81444BD794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EC270F-A97B-1990-D4C7-09382C45ADF1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77B9DA-C6FD-ABFC-EBD9-8E5A2BE33149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17D53A-2D00-1EBA-66C4-C61B062F2E95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072FE6-0018-9705-6EE3-49AB5910CF58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2F4580A-B87D-048A-B884-A21CFB243690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9B87EC-FB1A-F350-D273-10AE02AFD578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60F5C13-4843-28AB-7B17-B0BAC3B70A6D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F4E1AD-CA05-E7BF-97CA-17B545AC0EE3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CA871C-C12E-A9A4-1BDB-6ADD5051DD65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F9FE9C-8BBC-636A-FE68-829DB2D78514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093985-52A4-C4CE-F896-1469DA76797C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8B68A6-16CA-9C45-2C90-5235F0C33E6E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CF3D26-5C2C-D073-80CF-914C2EBAC224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0291BD-0DF1-DCAE-6CE4-94F052709B29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69EC739-03EC-9E80-C714-612E7D6A2D1D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69EC739-03EC-9E80-C714-612E7D6A2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8F09D3-DCD4-826A-6D4C-AEFE9A7EAB57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8F09D3-DCD4-826A-6D4C-AEFE9A7EA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1A8F38C-4F04-F8C4-9787-8DE475AE3CB0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1A8F38C-4F04-F8C4-9787-8DE475AE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C60BA28-1943-9767-9749-EB515E48BB6A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C60BA28-1943-9767-9749-EB515E48B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614C6BA-C22F-3A8B-BC0E-7DEB9F0E15FC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614C6BA-C22F-3A8B-BC0E-7DEB9F0E1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BC738A-7B8D-C154-B4B6-9CE44CB6BD91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BC738A-7B8D-C154-B4B6-9CE44CB6B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0A1705-8F41-4041-564A-1DCFB71CC92B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0A1705-8F41-4041-564A-1DCFB71CC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5633266-07B4-4E4E-726E-5AE8A8253347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5633266-07B4-4E4E-726E-5AE8A825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0CC170-6721-C165-A009-72417F5B9C95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0CC170-6721-C165-A009-72417F5B9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BEE2EE5-181C-6F5F-736F-B5CC2D050733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BEE2EE5-181C-6F5F-736F-B5CC2D050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6E00112-313D-9764-B73A-CA6355E14A49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6E00112-313D-9764-B73A-CA6355E14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99294192-5F65-F5DD-BE21-09C67270050E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221E9C-A51D-7CA9-A1E2-1CCBAAF2CACB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0F375C-29DB-1D47-6EB7-DF1C82078A61}"/>
              </a:ext>
            </a:extLst>
          </p:cNvPr>
          <p:cNvSpPr/>
          <p:nvPr/>
        </p:nvSpPr>
        <p:spPr>
          <a:xfrm>
            <a:off x="2165970" y="2205545"/>
            <a:ext cx="2428123" cy="77299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 prediction head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E440D61-E82A-5E87-8F1A-B8917F136A21}"/>
              </a:ext>
            </a:extLst>
          </p:cNvPr>
          <p:cNvCxnSpPr/>
          <p:nvPr/>
        </p:nvCxnSpPr>
        <p:spPr>
          <a:xfrm flipV="1">
            <a:off x="3382672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F6B0F0-3B8B-6C5D-9B12-7CE9BD9FE398}"/>
              </a:ext>
            </a:extLst>
          </p:cNvPr>
          <p:cNvSpPr txBox="1"/>
          <p:nvPr/>
        </p:nvSpPr>
        <p:spPr>
          <a:xfrm>
            <a:off x="4814101" y="2407378"/>
            <a:ext cx="3500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b="1" dirty="0" err="1"/>
              <a:t>next_token</a:t>
            </a:r>
            <a:r>
              <a:rPr lang="en-US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CEB3ED-915B-6D14-7898-3CA1992550C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4594093" y="2592044"/>
            <a:ext cx="2200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BADE742D-0421-D683-F5C6-B6115339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Training decoder-only architectures:</a:t>
            </a:r>
            <a:br>
              <a:rPr lang="en-US" dirty="0"/>
            </a:br>
            <a:r>
              <a:rPr lang="en-US" sz="3200" dirty="0"/>
              <a:t>Next token prediction (NTP)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59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FB21A-1D1F-B6C9-D0B4-FD6241EA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64276D-9A16-DC4F-BCCA-29EFA4CADC34}"/>
              </a:ext>
            </a:extLst>
          </p:cNvPr>
          <p:cNvSpPr txBox="1"/>
          <p:nvPr/>
        </p:nvSpPr>
        <p:spPr>
          <a:xfrm>
            <a:off x="3044637" y="6123543"/>
            <a:ext cx="8085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E16C21-28AD-8950-7D49-E3AD997620A7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dirty="0"/>
              <a:t>(token embeddings + positional encodings -&gt; (decoder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A6E437-86CE-E36F-3593-6BE39B7E607D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3B17C8-18F8-FAAC-0A03-5D9858BFE408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AD13D8-3F02-D7D1-D472-DB7A88792EF4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0F36D0-9C27-9DD2-2FE8-91894DCD1DB3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9A7E39-DA9B-6682-9157-516BDEDEBAD6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7D6980-D9D6-4E14-8103-5C72039BE261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8399B8-2A19-3578-6A55-84FC76F6FDAD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57A658-F112-F707-4789-58C0CD960FE9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D60786-CBBD-0DB7-70EB-67527E1A900C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CAA26E-A517-A7EB-8808-DA20C535E12C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36D7A3-43C3-A189-D930-A7BA2084ABB7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9B90CA-5956-5839-1F93-C1BD5735F6D8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5733F2-5336-58AB-677C-2A7EE19741C2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46DD90-EAB0-6686-2320-499126B51013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51A4E9-0DE1-E4F6-36E7-CAEC65FAADFE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A892CA-E922-AFB9-38A1-03172A67B289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2787627-982B-537B-06F2-9B7FE9935723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EE1B65E-7B1F-A02B-C2B5-AE56505D3AC7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15E41E-6DDD-DB84-EE2E-78D1E9325484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EE509E1-707F-63BA-DBED-F40A3FE64DD5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817BCE-0BE7-0E4A-D858-B96894EFB833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7984C2-8B8D-5884-B85F-24097241D1A7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7D5E8-EF20-0786-DF55-DA34BC161493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827D5E8-EF20-0786-DF55-DA34BC161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DFFCF71-931C-B5E6-4058-9D3471938613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DFFCF71-931C-B5E6-4058-9D3471938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068E01D-A174-5307-9AAF-F7102BC8559F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068E01D-A174-5307-9AAF-F7102BC8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539540B-C85D-0908-3AB4-0F22AE318A95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539540B-C85D-0908-3AB4-0F22AE318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FC5FD5-CF16-E673-3435-B4D519752D3F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FC5FD5-CF16-E673-3435-B4D519752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52AC703-B382-E189-8ED5-496D2DFE187B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52AC703-B382-E189-8ED5-496D2DFE1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16F8639-1D6C-0279-FFC0-39AA3439DC45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16F8639-1D6C-0279-FFC0-39AA3439D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57E8155-2A32-AB57-0F3C-3E69A9444EDD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57E8155-2A32-AB57-0F3C-3E69A9444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FB078DC-BE6C-ABA0-96C0-38797212DA2B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FB078DC-BE6C-ABA0-96C0-38797212D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74EBEB4-CC8E-1165-3C8B-B34740F50A10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74EBEB4-CC8E-1165-3C8B-B34740F50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435B91F-64B8-F5CC-4DBE-C8AA52E0249E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435B91F-64B8-F5CC-4DBE-C8AA52E02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4D081579-D05D-F090-4F45-FC242A567548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14DA0F-D0DC-8E47-4CAC-036546CA509D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ADFD104-7828-96DD-17DC-BA51D243B7B3}"/>
                  </a:ext>
                </a:extLst>
              </p:cNvPr>
              <p:cNvSpPr/>
              <p:nvPr/>
            </p:nvSpPr>
            <p:spPr>
              <a:xfrm>
                <a:off x="2165970" y="1652980"/>
                <a:ext cx="2428123" cy="1325563"/>
              </a:xfrm>
              <a:prstGeom prst="roundRect">
                <a:avLst>
                  <a:gd name="adj" fmla="val 6000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Token prediction head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Linear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*weight tying</a:t>
                </a:r>
              </a:p>
              <a:p>
                <a:pPr marL="342900" indent="-342900">
                  <a:buAutoNum type="arabicPeriod"/>
                </a:pPr>
                <a:r>
                  <a:rPr lang="en-US" dirty="0" err="1"/>
                  <a:t>Softmax</a:t>
                </a:r>
                <a:endParaRPr lang="en-US" dirty="0"/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ADFD104-7828-96DD-17DC-BA51D243B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970" y="1652980"/>
                <a:ext cx="2428123" cy="1325563"/>
              </a:xfrm>
              <a:prstGeom prst="roundRect">
                <a:avLst>
                  <a:gd name="adj" fmla="val 6000"/>
                </a:avLst>
              </a:prstGeom>
              <a:blipFill>
                <a:blip r:embed="rId14"/>
                <a:stretch>
                  <a:fillRect l="-515" b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332C09-890B-CC3B-A2B8-C3CFC77A20D8}"/>
              </a:ext>
            </a:extLst>
          </p:cNvPr>
          <p:cNvCxnSpPr/>
          <p:nvPr/>
        </p:nvCxnSpPr>
        <p:spPr>
          <a:xfrm flipV="1">
            <a:off x="3382672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5E67A4-B790-A7CD-3402-52C7593B27B1}"/>
              </a:ext>
            </a:extLst>
          </p:cNvPr>
          <p:cNvSpPr txBox="1"/>
          <p:nvPr/>
        </p:nvSpPr>
        <p:spPr>
          <a:xfrm>
            <a:off x="4882457" y="2124870"/>
            <a:ext cx="3500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CrossEntropy</a:t>
            </a:r>
            <a:r>
              <a:rPr lang="en-US" dirty="0"/>
              <a:t>(probs, </a:t>
            </a:r>
            <a:r>
              <a:rPr lang="en-US" b="1" dirty="0" err="1"/>
              <a:t>next_token</a:t>
            </a:r>
            <a:r>
              <a:rPr lang="en-US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DFFF45-42D9-B511-3337-ED943BE09CA9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4594093" y="2309536"/>
            <a:ext cx="288364" cy="62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91362A14-4933-685C-F276-E3B7B75B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Training decoder-only architectures:</a:t>
            </a:r>
            <a:br>
              <a:rPr lang="en-US" dirty="0"/>
            </a:br>
            <a:r>
              <a:rPr lang="en-US" sz="3200" dirty="0"/>
              <a:t>Next token prediction (NTP)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48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B876-C91D-6F14-151F-37BB5EF4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AA2F98-F0B1-FE16-6E42-D082C502BE07}"/>
              </a:ext>
            </a:extLst>
          </p:cNvPr>
          <p:cNvSpPr txBox="1"/>
          <p:nvPr/>
        </p:nvSpPr>
        <p:spPr>
          <a:xfrm>
            <a:off x="3044637" y="6123543"/>
            <a:ext cx="8085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D65D03-64B8-3E17-3C4F-970FFA4AF0D1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dirty="0"/>
              <a:t>(token embeddings + positional encodings -&gt; (decoder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44934A-9D9E-5638-595D-47BB5E8C62F8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C9E623-AE55-7559-5DAE-953F05D279ED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3FA6F4-901F-5FB4-65E1-713E9E058307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0A3DD8-8706-1102-3ECB-53A7C1D3F669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073043-CBB5-C68E-D870-1D256D7075E9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61EFD2-5BE6-E542-A4FC-024EF9986430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2D1418-5917-990A-7002-4582BF39809F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1FE56B-51D2-D2E9-F1E5-0C1B6E37CAF5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5B4853-375D-3415-8034-5D20D6617068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340C32-84A1-E84A-ADAF-286090FE1CA6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B1F554-4AA9-2F11-0DB3-749F15606485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3D620E-4EAA-8723-F64C-F02B648006AF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E86329-E1DA-83EB-F6C8-6E126550521A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79684E-29D3-6C7F-493F-AC6AC90A7A3B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5127B9-7106-6B86-D802-D5F8DE1A4E90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67B08B-AC35-F824-51D1-708FF16D3571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1FD0667-DD38-8AD3-0C39-9DC704B60C73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883122-61EC-950C-5446-8F7345CA3A74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F310ECF-D865-A196-9D10-F54FAA2D5E64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B7798B5-08E8-2531-AB28-1DC0F9BE9CEA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AA99349-ED8A-F8AF-43EE-97D3AB623DAE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CB613E-980E-D343-B08B-B82B3D4242A8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974F4AE-CDAC-004D-6E12-B38A79A726A2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974F4AE-CDAC-004D-6E12-B38A79A72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161CA8-359C-48C1-D114-218EF0E5FFF0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4161CA8-359C-48C1-D114-218EF0E5F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C52F2B-A46F-3F02-FD85-13CBBA63807A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0C52F2B-A46F-3F02-FD85-13CBBA638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F6D064-3413-D9A6-EEE1-3BF64C6DE547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F6D064-3413-D9A6-EEE1-3BF64C6DE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7992FA8-65F4-5F5E-25AD-DAE56BCF8060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7992FA8-65F4-5F5E-25AD-DAE56BCF8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12130A-A52F-DA7D-1BB1-CB67FF3E86E1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12130A-A52F-DA7D-1BB1-CB67FF3E8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AA0DD7A-368C-A8B6-C595-A4D91FF057B1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AA0DD7A-368C-A8B6-C595-A4D91FF0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8661EE2-10C9-2EFC-6222-AF2D60DA09C1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8661EE2-10C9-2EFC-6222-AF2D60DA0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B8206D8-C211-0E76-6520-4A38A306AE7D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B8206D8-C211-0E76-6520-4A38A306A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6B7DBC5-11D3-CD76-CFC6-659B3A8B72F1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6B7DBC5-11D3-CD76-CFC6-659B3A8B7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89424C9-9C04-50C8-8EE9-F3652DBBAA93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89424C9-9C04-50C8-8EE9-F3652DBBA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9E41B56C-233F-812D-35B9-DFCEFE6642B6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6DA3E9-F1A2-0D0B-4E2D-FBA2F755870D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DF48D8-380A-EDA9-2753-87FC9FB81BB9}"/>
              </a:ext>
            </a:extLst>
          </p:cNvPr>
          <p:cNvSpPr/>
          <p:nvPr/>
        </p:nvSpPr>
        <p:spPr>
          <a:xfrm>
            <a:off x="3041059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8A5B8C-8779-82E7-BA52-AF0B92F5FF0E}"/>
              </a:ext>
            </a:extLst>
          </p:cNvPr>
          <p:cNvCxnSpPr/>
          <p:nvPr/>
        </p:nvCxnSpPr>
        <p:spPr>
          <a:xfrm flipV="1">
            <a:off x="3382672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8F8F9254-ADE1-4E7F-B10D-8EB55681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Training decoder-only architectures:</a:t>
            </a:r>
            <a:br>
              <a:rPr lang="en-US" dirty="0"/>
            </a:br>
            <a:r>
              <a:rPr lang="en-US" sz="3200" dirty="0"/>
              <a:t>Next token prediction (NTP)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8AA720C-5BBE-C620-DA73-8668B3CE055E}"/>
              </a:ext>
            </a:extLst>
          </p:cNvPr>
          <p:cNvSpPr/>
          <p:nvPr/>
        </p:nvSpPr>
        <p:spPr>
          <a:xfrm>
            <a:off x="3763309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7A57AE-86AC-C7D3-8AAB-51C1912CA248}"/>
              </a:ext>
            </a:extLst>
          </p:cNvPr>
          <p:cNvCxnSpPr/>
          <p:nvPr/>
        </p:nvCxnSpPr>
        <p:spPr>
          <a:xfrm flipV="1">
            <a:off x="4104923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14E441C-C234-B19D-C3D1-FB4288A06F04}"/>
              </a:ext>
            </a:extLst>
          </p:cNvPr>
          <p:cNvSpPr/>
          <p:nvPr/>
        </p:nvSpPr>
        <p:spPr>
          <a:xfrm>
            <a:off x="4481218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C180531-E390-09C4-57AF-CFBB69E055B6}"/>
              </a:ext>
            </a:extLst>
          </p:cNvPr>
          <p:cNvCxnSpPr/>
          <p:nvPr/>
        </p:nvCxnSpPr>
        <p:spPr>
          <a:xfrm flipV="1">
            <a:off x="4822831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3A08DF0-D9CA-9B96-4573-58C02EAC485D}"/>
              </a:ext>
            </a:extLst>
          </p:cNvPr>
          <p:cNvSpPr/>
          <p:nvPr/>
        </p:nvSpPr>
        <p:spPr>
          <a:xfrm>
            <a:off x="5203468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B02646E-766F-0798-8E3B-AC27C841C86E}"/>
              </a:ext>
            </a:extLst>
          </p:cNvPr>
          <p:cNvCxnSpPr/>
          <p:nvPr/>
        </p:nvCxnSpPr>
        <p:spPr>
          <a:xfrm flipV="1">
            <a:off x="5545082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1A96F7C-6586-5EDA-42A3-0344E700BCB9}"/>
              </a:ext>
            </a:extLst>
          </p:cNvPr>
          <p:cNvSpPr/>
          <p:nvPr/>
        </p:nvSpPr>
        <p:spPr>
          <a:xfrm>
            <a:off x="5925717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77BFD6-248D-D3E3-5604-19BAC65FE7BC}"/>
              </a:ext>
            </a:extLst>
          </p:cNvPr>
          <p:cNvCxnSpPr/>
          <p:nvPr/>
        </p:nvCxnSpPr>
        <p:spPr>
          <a:xfrm flipV="1">
            <a:off x="6259184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77A6A99-893B-D9E5-A927-EF363960C2F9}"/>
              </a:ext>
            </a:extLst>
          </p:cNvPr>
          <p:cNvSpPr/>
          <p:nvPr/>
        </p:nvSpPr>
        <p:spPr>
          <a:xfrm>
            <a:off x="6639821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903AF7-8D79-9B3F-6CC0-6C77CBEAD868}"/>
              </a:ext>
            </a:extLst>
          </p:cNvPr>
          <p:cNvCxnSpPr/>
          <p:nvPr/>
        </p:nvCxnSpPr>
        <p:spPr>
          <a:xfrm flipV="1">
            <a:off x="6981435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3B7F8D2-AC55-1581-2274-EF40C9329B27}"/>
              </a:ext>
            </a:extLst>
          </p:cNvPr>
          <p:cNvSpPr/>
          <p:nvPr/>
        </p:nvSpPr>
        <p:spPr>
          <a:xfrm>
            <a:off x="7357730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B6C31E-53DF-C6AF-AA4F-5658436B46FF}"/>
              </a:ext>
            </a:extLst>
          </p:cNvPr>
          <p:cNvCxnSpPr/>
          <p:nvPr/>
        </p:nvCxnSpPr>
        <p:spPr>
          <a:xfrm flipV="1">
            <a:off x="7699343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7ECA893-AC7B-CE96-836A-715984C52CC3}"/>
              </a:ext>
            </a:extLst>
          </p:cNvPr>
          <p:cNvSpPr/>
          <p:nvPr/>
        </p:nvSpPr>
        <p:spPr>
          <a:xfrm>
            <a:off x="8079980" y="2405530"/>
            <a:ext cx="677229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702879-6991-5A03-022B-CB886A7667E2}"/>
              </a:ext>
            </a:extLst>
          </p:cNvPr>
          <p:cNvCxnSpPr/>
          <p:nvPr/>
        </p:nvCxnSpPr>
        <p:spPr>
          <a:xfrm flipV="1">
            <a:off x="8421594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DDB64F3-9CEA-5C6D-9918-4E45CE9897EE}"/>
              </a:ext>
            </a:extLst>
          </p:cNvPr>
          <p:cNvSpPr/>
          <p:nvPr/>
        </p:nvSpPr>
        <p:spPr>
          <a:xfrm>
            <a:off x="8766125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EF66E8A-57C3-26C3-8086-C72260BF7A95}"/>
              </a:ext>
            </a:extLst>
          </p:cNvPr>
          <p:cNvCxnSpPr/>
          <p:nvPr/>
        </p:nvCxnSpPr>
        <p:spPr>
          <a:xfrm flipV="1">
            <a:off x="9107739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806C9FED-51CC-4501-A05F-0561B595C4D5}"/>
              </a:ext>
            </a:extLst>
          </p:cNvPr>
          <p:cNvSpPr/>
          <p:nvPr/>
        </p:nvSpPr>
        <p:spPr>
          <a:xfrm>
            <a:off x="9484034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BBAF10C-20A1-90C0-4DAD-88181AAF084F}"/>
              </a:ext>
            </a:extLst>
          </p:cNvPr>
          <p:cNvCxnSpPr/>
          <p:nvPr/>
        </p:nvCxnSpPr>
        <p:spPr>
          <a:xfrm flipV="1">
            <a:off x="9825647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1D763CF-0EBB-62D0-052E-EFFB7CC0BA87}"/>
              </a:ext>
            </a:extLst>
          </p:cNvPr>
          <p:cNvSpPr/>
          <p:nvPr/>
        </p:nvSpPr>
        <p:spPr>
          <a:xfrm>
            <a:off x="10206284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5A88478-E1FF-617E-9DFD-D27A4354BC05}"/>
              </a:ext>
            </a:extLst>
          </p:cNvPr>
          <p:cNvCxnSpPr/>
          <p:nvPr/>
        </p:nvCxnSpPr>
        <p:spPr>
          <a:xfrm flipV="1">
            <a:off x="10547898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6FB16B0-345C-2386-A8AA-C411F078EA14}"/>
              </a:ext>
            </a:extLst>
          </p:cNvPr>
          <p:cNvSpPr txBox="1"/>
          <p:nvPr/>
        </p:nvSpPr>
        <p:spPr>
          <a:xfrm>
            <a:off x="3357283" y="1834139"/>
            <a:ext cx="7908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 smallest  person  can    change    the     course     of          the      future    [END]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63319FC-CF08-5CAD-C5C4-3580CE58CFA9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391205" y="219090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21F5AC-FF93-929F-F91A-A24A3B526723}"/>
              </a:ext>
            </a:extLst>
          </p:cNvPr>
          <p:cNvCxnSpPr>
            <a:cxnSpLocks/>
          </p:cNvCxnSpPr>
          <p:nvPr/>
        </p:nvCxnSpPr>
        <p:spPr>
          <a:xfrm flipV="1">
            <a:off x="4104923" y="2184616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4EF1BC-A818-0773-1006-9EF68227D4BC}"/>
              </a:ext>
            </a:extLst>
          </p:cNvPr>
          <p:cNvCxnSpPr>
            <a:cxnSpLocks/>
          </p:cNvCxnSpPr>
          <p:nvPr/>
        </p:nvCxnSpPr>
        <p:spPr>
          <a:xfrm flipV="1">
            <a:off x="4831364" y="2185355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1B1E51-4A01-08D3-7171-B61A52C6B12E}"/>
              </a:ext>
            </a:extLst>
          </p:cNvPr>
          <p:cNvCxnSpPr>
            <a:cxnSpLocks/>
          </p:cNvCxnSpPr>
          <p:nvPr/>
        </p:nvCxnSpPr>
        <p:spPr>
          <a:xfrm flipV="1">
            <a:off x="5545082" y="2179070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0C0666B-8E33-0920-5101-D9D1B502791E}"/>
              </a:ext>
            </a:extLst>
          </p:cNvPr>
          <p:cNvCxnSpPr>
            <a:cxnSpLocks/>
          </p:cNvCxnSpPr>
          <p:nvPr/>
        </p:nvCxnSpPr>
        <p:spPr>
          <a:xfrm flipV="1">
            <a:off x="6267717" y="2185355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C8614BE-7636-64ED-00DD-A40D71E9E3C7}"/>
              </a:ext>
            </a:extLst>
          </p:cNvPr>
          <p:cNvCxnSpPr>
            <a:cxnSpLocks/>
          </p:cNvCxnSpPr>
          <p:nvPr/>
        </p:nvCxnSpPr>
        <p:spPr>
          <a:xfrm flipV="1">
            <a:off x="6981435" y="2179070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142191D-31BE-8EC5-74C7-441536B8CAE0}"/>
              </a:ext>
            </a:extLst>
          </p:cNvPr>
          <p:cNvCxnSpPr>
            <a:cxnSpLocks/>
          </p:cNvCxnSpPr>
          <p:nvPr/>
        </p:nvCxnSpPr>
        <p:spPr>
          <a:xfrm flipV="1">
            <a:off x="7704070" y="2173267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F4A1B74-E244-F58C-D20B-D575B68B6147}"/>
              </a:ext>
            </a:extLst>
          </p:cNvPr>
          <p:cNvCxnSpPr>
            <a:cxnSpLocks/>
          </p:cNvCxnSpPr>
          <p:nvPr/>
        </p:nvCxnSpPr>
        <p:spPr>
          <a:xfrm flipV="1">
            <a:off x="8417788" y="2166982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8C492D5-0331-F177-E12B-C2DB18BA4745}"/>
              </a:ext>
            </a:extLst>
          </p:cNvPr>
          <p:cNvCxnSpPr>
            <a:cxnSpLocks/>
          </p:cNvCxnSpPr>
          <p:nvPr/>
        </p:nvCxnSpPr>
        <p:spPr>
          <a:xfrm flipV="1">
            <a:off x="9144229" y="216772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F2D8D4D-A54E-0BB2-0152-A8A0CAD2A298}"/>
              </a:ext>
            </a:extLst>
          </p:cNvPr>
          <p:cNvCxnSpPr>
            <a:cxnSpLocks/>
          </p:cNvCxnSpPr>
          <p:nvPr/>
        </p:nvCxnSpPr>
        <p:spPr>
          <a:xfrm flipV="1">
            <a:off x="9857947" y="2161436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CCDCE27-3728-DE49-2AD0-EC1E299BE667}"/>
              </a:ext>
            </a:extLst>
          </p:cNvPr>
          <p:cNvCxnSpPr>
            <a:cxnSpLocks/>
          </p:cNvCxnSpPr>
          <p:nvPr/>
        </p:nvCxnSpPr>
        <p:spPr>
          <a:xfrm flipV="1">
            <a:off x="10580582" y="216772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883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EBD8-FDFF-A442-CC11-CD92CAD3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8A28B3-76C7-0122-C4EA-B5993E01E882}"/>
              </a:ext>
            </a:extLst>
          </p:cNvPr>
          <p:cNvSpPr txBox="1"/>
          <p:nvPr/>
        </p:nvSpPr>
        <p:spPr>
          <a:xfrm>
            <a:off x="3044637" y="6123543"/>
            <a:ext cx="8085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9DFCD3-7609-1227-0F67-B4F13BEEBB90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b="1" dirty="0"/>
              <a:t>Important</a:t>
            </a:r>
            <a:r>
              <a:rPr lang="en-US" dirty="0"/>
              <a:t>: requires application of a causal mask</a:t>
            </a:r>
          </a:p>
          <a:p>
            <a:pPr algn="ctr"/>
            <a:r>
              <a:rPr lang="en-US" sz="1400" dirty="0"/>
              <a:t>[typically by setting inputs to </a:t>
            </a:r>
            <a:r>
              <a:rPr lang="en-US" sz="1400" dirty="0" err="1"/>
              <a:t>softmax</a:t>
            </a:r>
            <a:r>
              <a:rPr lang="en-US" sz="1400" dirty="0"/>
              <a:t> in attention heads to –inf]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BBC555-1311-037F-889F-A12368A5B7E5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950A18-CCCC-0F2E-75C6-14D3411A636E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249409-C93B-96B5-C765-871EAF039A19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41DACA-DA30-80CC-4539-49E2A57FFC21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65A75A-4EA3-B237-600E-264DC3C5005D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AEDEE9-837B-1F44-08D4-E58C0EC37F93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8FC5B0-CC64-A082-5B4D-CA111E7047B2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DF1EA2-4AD1-1F61-3DC9-FFE342788A0D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B7F589-2454-CA00-6A19-8BCAE8415968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2D16E6-E5A9-2401-A281-254357240A85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6FF521-A6CC-17C5-0E7E-3D922E96D92E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06579F4-41D6-250A-C3D2-6895C4D4143B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295D5E-D6BB-F2CC-CA48-8D2482F80E32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568BC9-23A3-44AA-10E8-47DC26EA3945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167F0A-AC90-61BF-98CA-C46D4905F530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FB714D-4BAF-337A-6712-33BC8537BB2B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D1EDEE-FC63-9110-7073-7ABEA286671D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113F1C1-CECE-C84B-0D14-358BDC0095EE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4BFF95D-361A-D013-56BE-C8FE74396310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12CE9E-5B3B-2D5E-E866-33184BDEEFDC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53339F-7732-DD5A-3FBD-85E161B5E327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CBED0C-2BAB-57EA-84B3-942862716502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F70DAD2-9FD9-747C-089F-B090CC14B245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F70DAD2-9FD9-747C-089F-B090CC14B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F1129A-5A24-AF8B-7018-7C28681BA7CC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F1129A-5A24-AF8B-7018-7C28681BA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579785-170E-E123-AE60-34349FAC0737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579785-170E-E123-AE60-34349FAC0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411335-0F5B-29EF-C258-86492859FE04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411335-0F5B-29EF-C258-86492859F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1DEFC1-2634-C631-65D6-15A6227520A7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1DEFC1-2634-C631-65D6-15A622752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D14E8B-2149-DA45-4C7F-ABBA685F0984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D14E8B-2149-DA45-4C7F-ABBA685F0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B366DC9-08DB-FB4D-4810-0E915A849FCF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B366DC9-08DB-FB4D-4810-0E915A849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B998AB-DC80-1C76-BCEE-7FB2871414BE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B998AB-DC80-1C76-BCEE-7FB287141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3E4CCBC-FDDE-1C98-88D5-3BF7F4F1D15C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3E4CCBC-FDDE-1C98-88D5-3BF7F4F1D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67828D9-F549-E79A-82D6-DEC45E0DEAFF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67828D9-F549-E79A-82D6-DEC45E0DE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5426D9-0E83-B762-74BB-B86EEEF5026D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5426D9-0E83-B762-74BB-B86EEEF5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3283DB2D-0362-C19A-B06A-BB99B982E7B2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B6983B-B648-D519-4286-BB5BB318E6C9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236A89F-AFC7-C819-7E9B-6A50D1567013}"/>
              </a:ext>
            </a:extLst>
          </p:cNvPr>
          <p:cNvSpPr/>
          <p:nvPr/>
        </p:nvSpPr>
        <p:spPr>
          <a:xfrm>
            <a:off x="3041059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8D798F-8939-3EC6-CB13-134359F31E3A}"/>
              </a:ext>
            </a:extLst>
          </p:cNvPr>
          <p:cNvCxnSpPr/>
          <p:nvPr/>
        </p:nvCxnSpPr>
        <p:spPr>
          <a:xfrm flipV="1">
            <a:off x="3382672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40FFB63B-3B31-D20B-6E9B-07FBB483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Training decoder-only architectures:</a:t>
            </a:r>
            <a:br>
              <a:rPr lang="en-US" dirty="0"/>
            </a:br>
            <a:r>
              <a:rPr lang="en-US" sz="3200" dirty="0"/>
              <a:t>Next token prediction (NTP)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9E18CA0-BDAC-29AA-458B-245FA4C41822}"/>
              </a:ext>
            </a:extLst>
          </p:cNvPr>
          <p:cNvSpPr/>
          <p:nvPr/>
        </p:nvSpPr>
        <p:spPr>
          <a:xfrm>
            <a:off x="3763309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19DE20-626C-C296-AF04-F3A920B5B2C1}"/>
              </a:ext>
            </a:extLst>
          </p:cNvPr>
          <p:cNvCxnSpPr/>
          <p:nvPr/>
        </p:nvCxnSpPr>
        <p:spPr>
          <a:xfrm flipV="1">
            <a:off x="4104923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365F7D6-A837-1EEB-E393-51A6C7CC4EAD}"/>
              </a:ext>
            </a:extLst>
          </p:cNvPr>
          <p:cNvSpPr/>
          <p:nvPr/>
        </p:nvSpPr>
        <p:spPr>
          <a:xfrm>
            <a:off x="4481218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465CE7-C5CA-47F3-4441-C8EA2ECB8E13}"/>
              </a:ext>
            </a:extLst>
          </p:cNvPr>
          <p:cNvCxnSpPr/>
          <p:nvPr/>
        </p:nvCxnSpPr>
        <p:spPr>
          <a:xfrm flipV="1">
            <a:off x="4822831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91138A9-CDAB-C710-49AA-996410543CA5}"/>
              </a:ext>
            </a:extLst>
          </p:cNvPr>
          <p:cNvSpPr/>
          <p:nvPr/>
        </p:nvSpPr>
        <p:spPr>
          <a:xfrm>
            <a:off x="5203468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82957E-148E-A4F4-78B2-44192C30147C}"/>
              </a:ext>
            </a:extLst>
          </p:cNvPr>
          <p:cNvCxnSpPr/>
          <p:nvPr/>
        </p:nvCxnSpPr>
        <p:spPr>
          <a:xfrm flipV="1">
            <a:off x="5545082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1821867-B4BC-E5EA-F21E-68F2262734AF}"/>
              </a:ext>
            </a:extLst>
          </p:cNvPr>
          <p:cNvSpPr/>
          <p:nvPr/>
        </p:nvSpPr>
        <p:spPr>
          <a:xfrm>
            <a:off x="5925717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0B6437-0525-9A1F-2D08-D6807C8AFF8B}"/>
              </a:ext>
            </a:extLst>
          </p:cNvPr>
          <p:cNvCxnSpPr/>
          <p:nvPr/>
        </p:nvCxnSpPr>
        <p:spPr>
          <a:xfrm flipV="1">
            <a:off x="6259184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079000A-D450-7496-2513-CD534CA8BFF6}"/>
              </a:ext>
            </a:extLst>
          </p:cNvPr>
          <p:cNvSpPr/>
          <p:nvPr/>
        </p:nvSpPr>
        <p:spPr>
          <a:xfrm>
            <a:off x="6639821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17B275-BD7A-A832-A87E-4A842B245186}"/>
              </a:ext>
            </a:extLst>
          </p:cNvPr>
          <p:cNvCxnSpPr/>
          <p:nvPr/>
        </p:nvCxnSpPr>
        <p:spPr>
          <a:xfrm flipV="1">
            <a:off x="6981435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A9513D9-6FC4-4E3E-42D8-7D6D2A746A3B}"/>
              </a:ext>
            </a:extLst>
          </p:cNvPr>
          <p:cNvSpPr/>
          <p:nvPr/>
        </p:nvSpPr>
        <p:spPr>
          <a:xfrm>
            <a:off x="7357730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F79FFB-0ECE-8749-3471-2C76C955965E}"/>
              </a:ext>
            </a:extLst>
          </p:cNvPr>
          <p:cNvCxnSpPr/>
          <p:nvPr/>
        </p:nvCxnSpPr>
        <p:spPr>
          <a:xfrm flipV="1">
            <a:off x="7699343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D359DA4-4392-33A5-9658-579C6E8D036F}"/>
              </a:ext>
            </a:extLst>
          </p:cNvPr>
          <p:cNvSpPr/>
          <p:nvPr/>
        </p:nvSpPr>
        <p:spPr>
          <a:xfrm>
            <a:off x="8079980" y="2405530"/>
            <a:ext cx="677229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5E2D5AD-DF77-3716-80D9-676D60EFA61D}"/>
              </a:ext>
            </a:extLst>
          </p:cNvPr>
          <p:cNvCxnSpPr/>
          <p:nvPr/>
        </p:nvCxnSpPr>
        <p:spPr>
          <a:xfrm flipV="1">
            <a:off x="8421594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E4432D7-49C7-8855-96D2-7B8171AD19DA}"/>
              </a:ext>
            </a:extLst>
          </p:cNvPr>
          <p:cNvSpPr/>
          <p:nvPr/>
        </p:nvSpPr>
        <p:spPr>
          <a:xfrm>
            <a:off x="8766125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03A89C0-2FE4-5E80-AA75-9EEBEBC8A83E}"/>
              </a:ext>
            </a:extLst>
          </p:cNvPr>
          <p:cNvCxnSpPr/>
          <p:nvPr/>
        </p:nvCxnSpPr>
        <p:spPr>
          <a:xfrm flipV="1">
            <a:off x="9107739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B2AF81A3-8FF5-44D8-87CB-A5D7D3A96853}"/>
              </a:ext>
            </a:extLst>
          </p:cNvPr>
          <p:cNvSpPr/>
          <p:nvPr/>
        </p:nvSpPr>
        <p:spPr>
          <a:xfrm>
            <a:off x="9484034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3E1A3E7-A635-9FB9-6D22-A3964EFCD14C}"/>
              </a:ext>
            </a:extLst>
          </p:cNvPr>
          <p:cNvCxnSpPr/>
          <p:nvPr/>
        </p:nvCxnSpPr>
        <p:spPr>
          <a:xfrm flipV="1">
            <a:off x="9825647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EFCE060-FB7E-1C4D-4BCE-90A9A5BB5C2C}"/>
              </a:ext>
            </a:extLst>
          </p:cNvPr>
          <p:cNvSpPr/>
          <p:nvPr/>
        </p:nvSpPr>
        <p:spPr>
          <a:xfrm>
            <a:off x="10206284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B979CB7-C884-791C-D3F5-9EAD13978B83}"/>
              </a:ext>
            </a:extLst>
          </p:cNvPr>
          <p:cNvCxnSpPr/>
          <p:nvPr/>
        </p:nvCxnSpPr>
        <p:spPr>
          <a:xfrm flipV="1">
            <a:off x="10547898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546D147-838D-2AE4-75EF-1A7AA595A3BF}"/>
              </a:ext>
            </a:extLst>
          </p:cNvPr>
          <p:cNvSpPr txBox="1"/>
          <p:nvPr/>
        </p:nvSpPr>
        <p:spPr>
          <a:xfrm>
            <a:off x="3357283" y="1834139"/>
            <a:ext cx="7908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 smallest  person  can    change    the     course     of          the      future    [END]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5CAB729-6A19-DBCE-0307-27A7BB4DC7C1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391205" y="219090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00191B-03D4-DD31-DDE6-574ED1143812}"/>
              </a:ext>
            </a:extLst>
          </p:cNvPr>
          <p:cNvCxnSpPr>
            <a:cxnSpLocks/>
          </p:cNvCxnSpPr>
          <p:nvPr/>
        </p:nvCxnSpPr>
        <p:spPr>
          <a:xfrm flipV="1">
            <a:off x="4104923" y="2184616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3CA7C73-83D1-B991-BB8B-86E74E939919}"/>
              </a:ext>
            </a:extLst>
          </p:cNvPr>
          <p:cNvCxnSpPr>
            <a:cxnSpLocks/>
          </p:cNvCxnSpPr>
          <p:nvPr/>
        </p:nvCxnSpPr>
        <p:spPr>
          <a:xfrm flipV="1">
            <a:off x="4831364" y="2185355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161D268-DD07-54A9-CC93-3C03CF8AFA49}"/>
              </a:ext>
            </a:extLst>
          </p:cNvPr>
          <p:cNvCxnSpPr>
            <a:cxnSpLocks/>
          </p:cNvCxnSpPr>
          <p:nvPr/>
        </p:nvCxnSpPr>
        <p:spPr>
          <a:xfrm flipV="1">
            <a:off x="5545082" y="2179070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B5F8B49-EE8F-7E4D-F838-80F26D786501}"/>
              </a:ext>
            </a:extLst>
          </p:cNvPr>
          <p:cNvCxnSpPr>
            <a:cxnSpLocks/>
          </p:cNvCxnSpPr>
          <p:nvPr/>
        </p:nvCxnSpPr>
        <p:spPr>
          <a:xfrm flipV="1">
            <a:off x="6267717" y="2185355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056B84C-5F22-EC2F-3028-A1A30A70CF31}"/>
              </a:ext>
            </a:extLst>
          </p:cNvPr>
          <p:cNvCxnSpPr>
            <a:cxnSpLocks/>
          </p:cNvCxnSpPr>
          <p:nvPr/>
        </p:nvCxnSpPr>
        <p:spPr>
          <a:xfrm flipV="1">
            <a:off x="6981435" y="2179070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66667FC-9CB8-F9C4-1193-9643C1560FCE}"/>
              </a:ext>
            </a:extLst>
          </p:cNvPr>
          <p:cNvCxnSpPr>
            <a:cxnSpLocks/>
          </p:cNvCxnSpPr>
          <p:nvPr/>
        </p:nvCxnSpPr>
        <p:spPr>
          <a:xfrm flipV="1">
            <a:off x="7704070" y="2173267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54F99E0-03EA-E12C-AE97-B73A72D4B6CD}"/>
              </a:ext>
            </a:extLst>
          </p:cNvPr>
          <p:cNvCxnSpPr>
            <a:cxnSpLocks/>
          </p:cNvCxnSpPr>
          <p:nvPr/>
        </p:nvCxnSpPr>
        <p:spPr>
          <a:xfrm flipV="1">
            <a:off x="8417788" y="2166982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1C42815-7205-B952-7240-EA3D27AC888F}"/>
              </a:ext>
            </a:extLst>
          </p:cNvPr>
          <p:cNvCxnSpPr>
            <a:cxnSpLocks/>
          </p:cNvCxnSpPr>
          <p:nvPr/>
        </p:nvCxnSpPr>
        <p:spPr>
          <a:xfrm flipV="1">
            <a:off x="9144229" y="216772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3424A3F-7EB6-6F4F-3B82-6283F24919A6}"/>
              </a:ext>
            </a:extLst>
          </p:cNvPr>
          <p:cNvCxnSpPr>
            <a:cxnSpLocks/>
          </p:cNvCxnSpPr>
          <p:nvPr/>
        </p:nvCxnSpPr>
        <p:spPr>
          <a:xfrm flipV="1">
            <a:off x="9857947" y="2161436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9B99DC1-916A-6299-6D54-8504DA85294F}"/>
              </a:ext>
            </a:extLst>
          </p:cNvPr>
          <p:cNvCxnSpPr>
            <a:cxnSpLocks/>
          </p:cNvCxnSpPr>
          <p:nvPr/>
        </p:nvCxnSpPr>
        <p:spPr>
          <a:xfrm flipV="1">
            <a:off x="10580582" y="216772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719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37E1-37BB-C3DA-F23B-72571D84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AF02-7522-BD57-454A-2C4FA4EF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use the output?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D4232-78E5-A05E-15B5-A8DA24E01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Decoder-only models</a:t>
            </a:r>
          </a:p>
        </p:txBody>
      </p:sp>
    </p:spTree>
    <p:extLst>
      <p:ext uri="{BB962C8B-B14F-4D97-AF65-F5344CB8AC3E}">
        <p14:creationId xmlns:p14="http://schemas.microsoft.com/office/powerpoint/2010/main" val="436265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3D5B-C8A0-76DA-707D-C7CF9889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1931A-5386-EE82-0B36-C9263A88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823" y="529090"/>
            <a:ext cx="11242159" cy="867381"/>
          </a:xfrm>
        </p:spPr>
        <p:txBody>
          <a:bodyPr>
            <a:normAutofit/>
          </a:bodyPr>
          <a:lstStyle/>
          <a:p>
            <a:r>
              <a:rPr lang="en-US" dirty="0"/>
              <a:t>Now we can generate text!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53FD2C0-73EE-5299-8822-C38D8914C202}"/>
              </a:ext>
            </a:extLst>
          </p:cNvPr>
          <p:cNvSpPr/>
          <p:nvPr/>
        </p:nvSpPr>
        <p:spPr>
          <a:xfrm rot="16200000">
            <a:off x="4534680" y="1448045"/>
            <a:ext cx="350344" cy="6228391"/>
          </a:xfrm>
          <a:prstGeom prst="leftBrace">
            <a:avLst>
              <a:gd name="adj1" fmla="val 8333"/>
              <a:gd name="adj2" fmla="val 2456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952CF-F6EE-118E-7FD5-525FD374E2E9}"/>
              </a:ext>
            </a:extLst>
          </p:cNvPr>
          <p:cNvSpPr txBox="1"/>
          <p:nvPr/>
        </p:nvSpPr>
        <p:spPr>
          <a:xfrm>
            <a:off x="2947796" y="4786587"/>
            <a:ext cx="3524107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conversation history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665E9-ADB9-B688-BDEE-64A5938FBCF9}"/>
              </a:ext>
            </a:extLst>
          </p:cNvPr>
          <p:cNvSpPr txBox="1"/>
          <p:nvPr/>
        </p:nvSpPr>
        <p:spPr>
          <a:xfrm>
            <a:off x="9259748" y="3654743"/>
            <a:ext cx="2535307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next word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F5511-0827-8322-A6E9-40A8A871C2A7}"/>
              </a:ext>
            </a:extLst>
          </p:cNvPr>
          <p:cNvSpPr txBox="1"/>
          <p:nvPr/>
        </p:nvSpPr>
        <p:spPr>
          <a:xfrm>
            <a:off x="4360825" y="5974262"/>
            <a:ext cx="3579121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“next-token prediction”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2BCD5A5-CAE9-A72D-8B02-A9E943B0C694}"/>
              </a:ext>
            </a:extLst>
          </p:cNvPr>
          <p:cNvGraphicFramePr>
            <a:graphicFrameLocks noGrp="1"/>
          </p:cNvGraphicFramePr>
          <p:nvPr/>
        </p:nvGraphicFramePr>
        <p:xfrm>
          <a:off x="9103371" y="2897748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D7152E-DC43-6356-7FD3-81709886A7D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7824045" y="3251675"/>
            <a:ext cx="12793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F18EA68-19EA-D9AD-1124-FA0F3952A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088"/>
          <a:stretch>
            <a:fillRect/>
          </a:stretch>
        </p:blipFill>
        <p:spPr>
          <a:xfrm>
            <a:off x="1595655" y="2295036"/>
            <a:ext cx="6228389" cy="19132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59BDC1A-749B-C361-4481-66D441947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326" y="2437240"/>
            <a:ext cx="697029" cy="69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123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BC7C-F900-1931-501F-DAA0E9F6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Given a pre-trained model, we can…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92AB9-E4BB-EC1C-5AD5-7712A0FE5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supervised fine-tuning (SFT) on a particular corpus</a:t>
            </a:r>
          </a:p>
          <a:p>
            <a:pPr lvl="1"/>
            <a:r>
              <a:rPr lang="en-US" dirty="0"/>
              <a:t>Uses the usual next-token prediction objective</a:t>
            </a:r>
          </a:p>
          <a:p>
            <a:pPr lvl="1"/>
            <a:endParaRPr lang="en-US" dirty="0"/>
          </a:p>
          <a:p>
            <a:r>
              <a:rPr lang="en-US" dirty="0"/>
              <a:t>Align the model with preferences (RLHF) [next slide]</a:t>
            </a:r>
          </a:p>
          <a:p>
            <a:endParaRPr lang="en-US" dirty="0"/>
          </a:p>
          <a:p>
            <a:r>
              <a:rPr lang="en-US" dirty="0"/>
              <a:t>Additional emerging fine-tuning paradigms</a:t>
            </a:r>
          </a:p>
          <a:p>
            <a:pPr lvl="1"/>
            <a:r>
              <a:rPr lang="en-US" dirty="0"/>
              <a:t>e.g. fine-tune to optimize performance on a given rubric</a:t>
            </a:r>
          </a:p>
          <a:p>
            <a:pPr lvl="1"/>
            <a:endParaRPr lang="en-US" dirty="0"/>
          </a:p>
          <a:p>
            <a:r>
              <a:rPr lang="en-US" dirty="0"/>
              <a:t>This is just a preview and mostly beyond our scope</a:t>
            </a:r>
          </a:p>
        </p:txBody>
      </p:sp>
    </p:spTree>
    <p:extLst>
      <p:ext uri="{BB962C8B-B14F-4D97-AF65-F5344CB8AC3E}">
        <p14:creationId xmlns:p14="http://schemas.microsoft.com/office/powerpoint/2010/main" val="3258179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24BD-E320-0662-278C-6176F142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43E1-FA1E-E1BE-A5B5-50CCF912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010"/>
            <a:ext cx="12192000" cy="86738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They’re then fine-tuned to match our preferences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908C31-3066-97F8-2E92-8FEA13E0D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1602" y="1222219"/>
            <a:ext cx="5622199" cy="479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0EF25E-860A-299F-423A-A90128FAC65D}"/>
              </a:ext>
            </a:extLst>
          </p:cNvPr>
          <p:cNvSpPr txBox="1"/>
          <p:nvPr/>
        </p:nvSpPr>
        <p:spPr>
          <a:xfrm>
            <a:off x="5731602" y="6035506"/>
            <a:ext cx="5993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Illustrating Reinforcement Learning from Human Feedback (RLHF)</a:t>
            </a:r>
          </a:p>
          <a:p>
            <a:r>
              <a:rPr lang="en-US" sz="1600" dirty="0"/>
              <a:t>https://</a:t>
            </a:r>
            <a:r>
              <a:rPr lang="en-US" sz="1600" dirty="0" err="1"/>
              <a:t>huggingface.co</a:t>
            </a:r>
            <a:r>
              <a:rPr lang="en-US" sz="1600" dirty="0"/>
              <a:t>/blog/</a:t>
            </a:r>
            <a:r>
              <a:rPr lang="en-US" sz="1600" dirty="0" err="1"/>
              <a:t>rlhf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97B5DF-BDCD-96B7-843B-4A8A456F002D}"/>
              </a:ext>
            </a:extLst>
          </p:cNvPr>
          <p:cNvSpPr txBox="1"/>
          <p:nvPr/>
        </p:nvSpPr>
        <p:spPr>
          <a:xfrm>
            <a:off x="838200" y="1564243"/>
            <a:ext cx="38383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</a:t>
            </a:r>
            <a:r>
              <a:rPr lang="en-US" sz="2400" dirty="0"/>
              <a:t>: Train an auxiliary preference model (via human feedback) to assign scores to LLM-generated text that are consistent with our preferences</a:t>
            </a:r>
          </a:p>
          <a:p>
            <a:endParaRPr lang="en-US" sz="2400" dirty="0"/>
          </a:p>
          <a:p>
            <a:r>
              <a:rPr lang="en-US" sz="2400" b="1" dirty="0"/>
              <a:t>Step 2</a:t>
            </a:r>
            <a:r>
              <a:rPr lang="en-US" sz="2400" dirty="0"/>
              <a:t>: Fine-tune the initial LLM (via reinforcement learning) to achieve better scores, implying better alignment with our preferences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9778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AB66-ADE8-9D98-3330-BB9B8197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maternal health SMS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91C73-04FD-AC2A-2615-FBDA5F408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81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5A9C0F-C73E-5044-BA14-46B00A07B4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1506" y="1282896"/>
            <a:ext cx="4793511" cy="2550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D5F0AE-E388-7445-B1D8-1105038B331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607" y="1452172"/>
            <a:ext cx="4027007" cy="26819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D48AE61-F0ED-384B-9E2C-BD7F3C5A231F}"/>
              </a:ext>
            </a:extLst>
          </p:cNvPr>
          <p:cNvSpPr/>
          <p:nvPr/>
        </p:nvSpPr>
        <p:spPr>
          <a:xfrm>
            <a:off x="9670488" y="3795606"/>
            <a:ext cx="23766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www.praekelt.org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486770" y="5187240"/>
            <a:ext cx="9218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How can we use an LLM to solve this problem?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7E80F5-613B-C741-B35C-653641E4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82" y="139658"/>
            <a:ext cx="12006217" cy="737167"/>
          </a:xfrm>
        </p:spPr>
        <p:txBody>
          <a:bodyPr>
            <a:normAutofit/>
          </a:bodyPr>
          <a:lstStyle/>
          <a:p>
            <a:r>
              <a:rPr lang="en-US" dirty="0"/>
              <a:t>Case Study: Triaging incoming SMS messages</a:t>
            </a:r>
          </a:p>
        </p:txBody>
      </p:sp>
    </p:spTree>
    <p:extLst>
      <p:ext uri="{BB962C8B-B14F-4D97-AF65-F5344CB8AC3E}">
        <p14:creationId xmlns:p14="http://schemas.microsoft.com/office/powerpoint/2010/main" val="2634832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794BE-FE5F-59D4-466D-427BA53A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BD22CE-23EF-2965-02DD-9E54D0678B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1506" y="1282896"/>
            <a:ext cx="4793511" cy="2550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FE2AED-8817-2727-2CD9-8B2211F678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607" y="1452172"/>
            <a:ext cx="4027007" cy="26819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705D93-5D11-1607-DB43-494194F76A5C}"/>
              </a:ext>
            </a:extLst>
          </p:cNvPr>
          <p:cNvSpPr/>
          <p:nvPr/>
        </p:nvSpPr>
        <p:spPr>
          <a:xfrm>
            <a:off x="9670488" y="3795606"/>
            <a:ext cx="23766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www.praekelt.org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E1A92-2AFF-E4F6-F4B0-537D49B219F4}"/>
              </a:ext>
            </a:extLst>
          </p:cNvPr>
          <p:cNvSpPr txBox="1"/>
          <p:nvPr/>
        </p:nvSpPr>
        <p:spPr>
          <a:xfrm>
            <a:off x="1486770" y="5187240"/>
            <a:ext cx="92184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How can we use an LLM to solve this problem?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1319CA-8C65-507B-60D1-108427B1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82" y="139658"/>
            <a:ext cx="12006217" cy="737167"/>
          </a:xfrm>
        </p:spPr>
        <p:txBody>
          <a:bodyPr>
            <a:normAutofit/>
          </a:bodyPr>
          <a:lstStyle/>
          <a:p>
            <a:r>
              <a:rPr lang="en-US" dirty="0"/>
              <a:t>Case Study: Finding instances of mistreatment</a:t>
            </a:r>
          </a:p>
        </p:txBody>
      </p:sp>
    </p:spTree>
    <p:extLst>
      <p:ext uri="{BB962C8B-B14F-4D97-AF65-F5344CB8AC3E}">
        <p14:creationId xmlns:p14="http://schemas.microsoft.com/office/powerpoint/2010/main" val="3251475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5264E-C2C5-FABA-2E54-63BB67A1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the “context window”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D23C-3080-DB23-D369-DA39B60DE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are often limited by the “context window” of a given model, defined as the maximum number of tokens it can process in a single forward pass</a:t>
            </a:r>
          </a:p>
          <a:p>
            <a:endParaRPr lang="en-US" dirty="0"/>
          </a:p>
          <a:p>
            <a:r>
              <a:rPr lang="en-US" dirty="0"/>
              <a:t>Sometimes are documents are too long to fit</a:t>
            </a:r>
          </a:p>
          <a:p>
            <a:endParaRPr lang="en-US" dirty="0"/>
          </a:p>
          <a:p>
            <a:r>
              <a:rPr lang="en-US" dirty="0"/>
              <a:t>There are models with extremely long context windows, but they often have difficulty retaining information in the middle of a given document</a:t>
            </a:r>
          </a:p>
          <a:p>
            <a:endParaRPr lang="en-US" dirty="0"/>
          </a:p>
          <a:p>
            <a:r>
              <a:rPr lang="en-US" dirty="0"/>
              <a:t>Active area of research</a:t>
            </a:r>
          </a:p>
        </p:txBody>
      </p:sp>
    </p:spTree>
    <p:extLst>
      <p:ext uri="{BB962C8B-B14F-4D97-AF65-F5344CB8AC3E}">
        <p14:creationId xmlns:p14="http://schemas.microsoft.com/office/powerpoint/2010/main" val="2715863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2948-873D-6E70-121E-675E6E0B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 the EHR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CABB7-2E5B-A6C7-74C4-F62AC7135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foundation model for EHR data</a:t>
            </a:r>
          </a:p>
        </p:txBody>
      </p:sp>
    </p:spTree>
    <p:extLst>
      <p:ext uri="{BB962C8B-B14F-4D97-AF65-F5344CB8AC3E}">
        <p14:creationId xmlns:p14="http://schemas.microsoft.com/office/powerpoint/2010/main" val="2955625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17A5-9744-F348-6A6E-2B78D8FE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structured EHR data:</a:t>
            </a:r>
            <a:br>
              <a:rPr lang="en-US" dirty="0"/>
            </a:br>
            <a:r>
              <a:rPr lang="en-US" sz="3200" dirty="0"/>
              <a:t>the “language” of the EHR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0FE0-89F6-B346-5236-0194DD8DB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9055"/>
            <a:ext cx="10515600" cy="41879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story about the progression of diabetes…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(“E11.65”, “E11.42”, “I10”, “N18.3”)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E11.65</a:t>
            </a:r>
            <a:r>
              <a:rPr lang="en-US" dirty="0"/>
              <a:t> — Type 2 diabetes mellitus with hyperglycemia </a:t>
            </a:r>
          </a:p>
          <a:p>
            <a:r>
              <a:rPr lang="en-US" b="1" dirty="0"/>
              <a:t>E11.42</a:t>
            </a:r>
            <a:r>
              <a:rPr lang="en-US" dirty="0"/>
              <a:t> — Type 2 diabetes mellitus with diabetic polyneuropathy </a:t>
            </a:r>
          </a:p>
          <a:p>
            <a:r>
              <a:rPr lang="en-US" b="1" dirty="0"/>
              <a:t>I10</a:t>
            </a:r>
            <a:r>
              <a:rPr lang="en-US" dirty="0"/>
              <a:t> — Essential (primary) hypertension </a:t>
            </a:r>
          </a:p>
          <a:p>
            <a:r>
              <a:rPr lang="en-US" b="1" dirty="0"/>
              <a:t>N18.3</a:t>
            </a:r>
            <a:r>
              <a:rPr lang="en-US" dirty="0"/>
              <a:t> — Chronic kidney disease, stage 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64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E837-E066-C122-D730-1CA30AE0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39C67-C758-6592-E5EC-3BC7C854D3B7}"/>
              </a:ext>
            </a:extLst>
          </p:cNvPr>
          <p:cNvSpPr txBox="1"/>
          <p:nvPr/>
        </p:nvSpPr>
        <p:spPr>
          <a:xfrm>
            <a:off x="6096000" y="6262042"/>
            <a:ext cx="6099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Li, Y., Rao, S., Solares, J.R.A.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BEHRT: Transformer for Electronic Health Records.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Sci Rep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</a:rPr>
              <a:t>10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, 7155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/10.1038/s41598-020-62922-y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19371-F8A6-C067-C6C4-B1540940BD75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5ECCAF-E262-76B4-7BBD-FC49BA27FD07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B8AC8C-5637-4AB4-1410-0AE7287A7B83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93C1B2-1683-CC67-2998-D0F414707CAD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0A676E-11CC-5627-A8B0-B0269A76EA03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4E9DC2-621B-5DA9-AE82-D75CA9641E1A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76C503-5729-59DF-B1BA-2D988783E1AF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51F560-ACF7-820F-6909-7EE152B6275C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A09137-E01C-AAD7-0835-433CB4125B14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92F6CD-FC57-FE4D-D0D4-960C4D7D6D9E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7A2360-A8A4-897C-CC79-D1454DF95864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8E52A6-9A74-C656-02AA-DBF8ED5FC1D1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8E52A6-9A74-C656-02AA-DBF8ED5FC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F89BA2-0FD4-083F-8B88-0D95FD47F3FA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F89BA2-0FD4-083F-8B88-0D95FD47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A663DB-2274-0383-AB01-EC1A3F071C3C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A663DB-2274-0383-AB01-EC1A3F071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EA3ADF-1459-A24D-1635-888EDADE73C4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EA3ADF-1459-A24D-1635-888EDADE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755525-4BA0-7F74-962A-EF2C132F2D8D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755525-4BA0-7F74-962A-EF2C132F2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47CD48-9242-65D3-A981-673254AA42B1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47CD48-9242-65D3-A981-673254AA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DA5F0BF-A375-E542-FD01-BD6876B5FEAA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DA5F0BF-A375-E542-FD01-BD6876B5F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3B278E-B1EE-40F4-2F61-A78E282939F8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3B278E-B1EE-40F4-2F61-A78E28293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3A63078-427C-EB35-6F7A-70C26B413423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3A63078-427C-EB35-6F7A-70C26B413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397F2B0-8884-008A-C65F-BC78E636D432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C9F085-2F6D-CC85-8B39-47F5507325F7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D925136-F14D-0389-8DB5-38E61DC1B3A5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DDACC4D-0601-BA88-A2B0-F95930ED4558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94A323B-D544-7475-F91C-B1390968813B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09FF8ED-5BCF-30E8-397A-80F800C69740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D0002B-CDF9-9096-39EE-594C49F4DD98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B0CDDF0-8C2D-963F-48C6-99561E9FF6E9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2060614-E8F8-4FB2-F04B-3F24CC2B6CD0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A1B7D7-AA60-338A-EDBB-2779593C9AA5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5B42C0-A417-D10D-85A7-9A15262BD617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24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E121-F91C-2820-2003-D16B9141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13E6-FE59-0DB8-FA89-D510FF6C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D9848-973D-4026-CBC9-799FFE3B4B99}"/>
              </a:ext>
            </a:extLst>
          </p:cNvPr>
          <p:cNvSpPr txBox="1"/>
          <p:nvPr/>
        </p:nvSpPr>
        <p:spPr>
          <a:xfrm>
            <a:off x="6096000" y="6262042"/>
            <a:ext cx="6099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Li, Y., Rao, S., Solares, J.R.A.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BEHRT: Transformer for Electronic Health Records.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Sci Rep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</a:rPr>
              <a:t>10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, 7155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/10.1038/s41598-020-62922-y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202F2-2D83-5E07-AB43-2D12682A0B06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4840E0-DFDC-4BE2-994E-2F4C7DEE74E7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EF19BF-B4DA-B387-17E0-40AC2AEFE895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2A519E-0475-6C89-9D33-3E8D45683AA0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4D9152-9AA5-E0E7-39A6-F33FFFC0653E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5F5E20-CD92-315D-A6F2-32C19BF698DF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90492E-A5D5-EB7B-85A1-3AD5C2ACC99A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CB5911-A15A-E0DF-F8D8-C2C7C598A797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77FC67-99CF-BCF0-A69A-786FFE2E9871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3D70C9-1763-93BD-E01C-B0C08F15A486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2C66C3-3A39-AB08-69A8-A951FB8288E6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A91A5-4B00-ADA9-FDBA-E536D66C667B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A91A5-4B00-ADA9-FDBA-E536D66C6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4A77E3-F989-81AD-31CE-C0CACAB919D4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4A77E3-F989-81AD-31CE-C0CACAB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69DB26-4733-4008-426E-C22A0E35BF6B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69DB26-4733-4008-426E-C22A0E35B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A7A4F-9D00-6E4C-A76E-29785F27CDF0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A7A4F-9D00-6E4C-A76E-29785F27C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E1A3EA-5665-5196-99AE-BEC67989B8B5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E1A3EA-5665-5196-99AE-BEC67989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B61AA6-E8C9-0198-54C8-F1B25FE17D31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B61AA6-E8C9-0198-54C8-F1B25FE1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3104C5-AC11-B5E3-F85B-EEFC40CED192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3104C5-AC11-B5E3-F85B-EEFC40CED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08423F-DA9D-591D-7835-0135460B6751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08423F-DA9D-591D-7835-0135460B6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B5412F-B3D2-ABE9-BE7E-A1A2A1E33496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B5412F-B3D2-ABE9-BE7E-A1A2A1E33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76414B11-0029-6378-41EB-CC295D852962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4C55A9-A631-D80F-19D9-5216009C0DC6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BC68928-CC4F-5BC9-C858-C30111975446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3256CFC-1C70-C298-634F-33B407C9D9DF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CC84200-1102-499B-4622-E398EAABF5A9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FC1798-4F1D-75DA-9FAC-44BE329EB395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A984EC9-7D22-201F-000F-AA21984C3447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EBE855-9F3E-ABC7-1D3F-D95773E96520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3EC1013-54EE-164B-797A-08E4ED800BB6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78CDD02-8EBC-3FA2-1038-D87C12785AAF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AFCD23-2792-BA27-9196-AECBF6A42A24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8C4902-199E-77A5-BD3D-D6638257EB1C}"/>
              </a:ext>
            </a:extLst>
          </p:cNvPr>
          <p:cNvSpPr txBox="1"/>
          <p:nvPr/>
        </p:nvSpPr>
        <p:spPr>
          <a:xfrm>
            <a:off x="1338606" y="1671317"/>
            <a:ext cx="578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Unique consideration 1</a:t>
            </a:r>
            <a:r>
              <a:rPr lang="en-US" dirty="0"/>
              <a:t>: we have </a:t>
            </a:r>
            <a:r>
              <a:rPr lang="en-US" b="1" dirty="0"/>
              <a:t>position</a:t>
            </a:r>
            <a:r>
              <a:rPr lang="en-US" dirty="0"/>
              <a:t>, </a:t>
            </a:r>
            <a:r>
              <a:rPr lang="en-US" b="1" dirty="0"/>
              <a:t>age</a:t>
            </a:r>
            <a:r>
              <a:rPr lang="en-US" dirty="0"/>
              <a:t>, and </a:t>
            </a:r>
            <a:r>
              <a:rPr lang="en-US" b="1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9335311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1834-0635-862C-D590-94A9E7B3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1DB3-5244-4250-0206-351FEF72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D2C41-0F33-DEC0-5D53-16F44A1218D3}"/>
              </a:ext>
            </a:extLst>
          </p:cNvPr>
          <p:cNvSpPr txBox="1"/>
          <p:nvPr/>
        </p:nvSpPr>
        <p:spPr>
          <a:xfrm>
            <a:off x="6096000" y="6262042"/>
            <a:ext cx="6099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Li, Y., Rao, S., Solares, J.R.A.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BEHRT: Transformer for Electronic Health Records.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Sci Rep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</a:rPr>
              <a:t>10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, 7155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/10.1038/s41598-020-62922-y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14351-3673-2AE1-5ADA-82EE818E47A1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2E6F49-9189-288C-5086-D3E8497FD125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25CFE6-1C9B-785A-DBFE-5DD2C2EA30BE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D80DF7-0642-F83B-FF2C-42A95D0AB535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BCCB60-96A2-E2F4-3D3B-3D4F401B51DD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0EBA1-D44E-8E2F-DE43-9D796AE84143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D9C9C3-70ED-8938-BC6B-C0ABAF7B89DD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4F05B7-9E41-068B-865D-3073FF538154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C277B2-36BB-1805-FBFC-67B8A709443E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D6BB80-01AE-5BC6-5438-65E16760516B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498F35-F1AB-2108-0819-B1C73802F16E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E9B5EE-DCB5-81B2-48A0-BBC409740A51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E9B5EE-DCB5-81B2-48A0-BBC409740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0B10CB-BBA3-3022-1199-8EFD7802940E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0B10CB-BBA3-3022-1199-8EFD78029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682126-64EC-9505-4775-E4EE02F7BBF1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682126-64EC-9505-4775-E4EE02F7B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3C010A-8925-6AA5-B197-90A8FB5042EC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3C010A-8925-6AA5-B197-90A8FB50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33E0D0-4527-94AD-F09E-76B02CE488CC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33E0D0-4527-94AD-F09E-76B02CE48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0DDF15-53E0-27B8-439D-D708FAA1D6B6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0DDF15-53E0-27B8-439D-D708FAA1D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A622A8-E43F-D564-F4FB-CBFE1E1C154B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A622A8-E43F-D564-F4FB-CBFE1E1C1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8E7671-C816-CE23-32B4-329FC2607061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8E7671-C816-CE23-32B4-329FC2607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AE7051-1A9F-C72C-D3AC-541B1EF710C5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AE7051-1A9F-C72C-D3AC-541B1EF71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55059BE-D395-962F-8854-486280B3F19E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1DDD2F-B49C-8BFB-3780-62EA7A30FC41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CAF2CD-F8F5-A058-EBDB-AB33E8BA3434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7F5933-45B9-49B9-DD54-A0252BD48336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B9E656D-F13D-7BFC-54FB-D1A231CF775C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7820A44-5FF9-56F7-B76E-C44B3A37E2A3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7FA4279-6F81-4D98-6DA6-15666E836F98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040B36-7E4C-97F1-C46C-528DB8F1E06C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F2AACA-9267-62C7-F734-E9394E5EE756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07B9E23-9F1B-2F07-BBE9-A16E69821C6E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BC3CEA-57B1-6DF6-CF5F-D28930347998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3D5B9BC-B779-EE00-14E2-2B047E396A08}"/>
              </a:ext>
            </a:extLst>
          </p:cNvPr>
          <p:cNvSpPr txBox="1"/>
          <p:nvPr/>
        </p:nvSpPr>
        <p:spPr>
          <a:xfrm>
            <a:off x="1338606" y="1671317"/>
            <a:ext cx="787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Unique consideration 2</a:t>
            </a:r>
            <a:r>
              <a:rPr lang="en-US" dirty="0"/>
              <a:t>: some tokens have associated values (e.g., labs, vitals)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2111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731B-66B1-CB96-637A-F5C753CD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E0DF-B6F5-9BEB-4EA5-ADDC6163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E4AA4-A99D-E678-8544-F6FB4FF682FB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8F4ECB5-C845-6A43-539D-D509E3C84FD8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7F8289-BF41-29C1-3144-F8650156BF72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086A8D-7552-3E12-A5AD-1D210D374E06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A7D128-0720-87F9-C6D1-57DCBC239BB1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CFDF11-2078-C727-1678-76FBB1A5269E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DB7526-72C6-8304-16CE-947FFAC404D5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232584-EE8F-897F-1D3C-D26E923DBEBE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7F511B-2E0E-A9BD-9FF3-6B466A3231C7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9755B1-9888-FBDF-A66F-DD71BD53DD7D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6FA675-A676-EEB5-A203-5D0B97D43E02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2A8F18-FD4D-F03B-2486-0720985F5FE3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2A8F18-FD4D-F03B-2486-0720985F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8556B2-5D4F-F63E-9A64-3304E63DC337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8556B2-5D4F-F63E-9A64-3304E63DC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DB5A4E-349C-862B-341F-9ACC9A0CA73D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DB5A4E-349C-862B-341F-9ACC9A0CA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DA4514F-D9DC-E984-9AD2-D69B9BA5EDA8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DA4514F-D9DC-E984-9AD2-D69B9BA5E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B4F04D-F251-6786-CC73-A21F61473C8B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B4F04D-F251-6786-CC73-A21F61473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7AE64-077D-E0B9-15B0-5BFA37F4F6A2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7AE64-077D-E0B9-15B0-5BFA37F4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D5CEEA-B555-22A5-82C9-881589ECABC8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D5CEEA-B555-22A5-82C9-881589EC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D58159-C729-D933-4C3B-FDE83779EA74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D58159-C729-D933-4C3B-FDE83779E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E674B8-69C6-9910-3230-1DCB125A9B8E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E674B8-69C6-9910-3230-1DCB125A9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A7D7738F-1E75-AAD6-E3C3-72DB038F9B24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D41DDC-8019-CD96-88FC-6ECC8FDF7069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77E2B4-66AC-8407-6895-732885D54C3A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C5FF77-85C9-4A6C-8D32-CF13F19A765B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F47D76-507F-3BA1-65E1-2EEF0F8A5FE8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D31909-C66B-BA9D-773F-D9CDFE76CB58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E66AF5-1B8B-79FC-75C3-5EF4D878C971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528CB2-7BE3-D313-F049-FEA9DB4174B7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723D0C9-3F0F-D510-CD7D-083A81C5D061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FA70301-9B5E-3036-762B-AB8C44602708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539C3E7-A94C-8051-8E53-782F9E0D174C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F846E1-16FD-CEC0-A9DE-8DA02AFD9C52}"/>
              </a:ext>
            </a:extLst>
          </p:cNvPr>
          <p:cNvSpPr txBox="1"/>
          <p:nvPr/>
        </p:nvSpPr>
        <p:spPr>
          <a:xfrm>
            <a:off x="1281993" y="1532247"/>
            <a:ext cx="7945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Unique consideration 2</a:t>
            </a:r>
            <a:r>
              <a:rPr lang="en-US" dirty="0"/>
              <a:t>: some tokens have associated values (e.g., labs, vitals)</a:t>
            </a:r>
          </a:p>
          <a:p>
            <a:endParaRPr lang="en-US" b="1" dirty="0"/>
          </a:p>
          <a:p>
            <a:r>
              <a:rPr lang="en-US" b="1" dirty="0"/>
              <a:t>One approach to this is shown below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62C71-5121-0C12-85B6-FA3759E244DF}"/>
              </a:ext>
            </a:extLst>
          </p:cNvPr>
          <p:cNvSpPr txBox="1"/>
          <p:nvPr/>
        </p:nvSpPr>
        <p:spPr>
          <a:xfrm>
            <a:off x="6757054" y="5589356"/>
            <a:ext cx="869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LAB ID</a:t>
            </a:r>
          </a:p>
          <a:p>
            <a:pPr algn="ctr"/>
            <a:r>
              <a:rPr lang="en-US" b="1" dirty="0"/>
              <a:t>token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23A3D-2D77-65B6-191B-F558789B2145}"/>
              </a:ext>
            </a:extLst>
          </p:cNvPr>
          <p:cNvSpPr txBox="1"/>
          <p:nvPr/>
        </p:nvSpPr>
        <p:spPr>
          <a:xfrm>
            <a:off x="7616698" y="5589356"/>
            <a:ext cx="1007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result</a:t>
            </a:r>
          </a:p>
          <a:p>
            <a:pPr algn="ctr"/>
            <a:r>
              <a:rPr lang="en-US" b="1" dirty="0"/>
              <a:t>quartile</a:t>
            </a:r>
          </a:p>
          <a:p>
            <a:pPr algn="ctr"/>
            <a:r>
              <a:rPr lang="en-US" b="1" dirty="0"/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2211913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48A5-EC69-46D2-E21D-30F54CA5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diagnosis risk from structured EHRs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F105B-ADB7-A5C4-474F-C82979C03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we wish to predict which children are most likely to be diagnosed with asthma based on EHRs from early life</a:t>
            </a:r>
          </a:p>
          <a:p>
            <a:endParaRPr lang="en-US" dirty="0"/>
          </a:p>
          <a:p>
            <a:r>
              <a:rPr lang="en-US" dirty="0"/>
              <a:t>How would we do this without a transformer-based foundation model?</a:t>
            </a:r>
          </a:p>
          <a:p>
            <a:endParaRPr lang="en-US" dirty="0"/>
          </a:p>
          <a:p>
            <a:r>
              <a:rPr lang="en-US" dirty="0"/>
              <a:t>How would we do this with a transformer-based foundation model?</a:t>
            </a:r>
          </a:p>
          <a:p>
            <a:endParaRPr lang="en-US" dirty="0"/>
          </a:p>
          <a:p>
            <a:r>
              <a:rPr lang="en-US" dirty="0"/>
              <a:t>What are the advantages of the latter approach?</a:t>
            </a:r>
          </a:p>
        </p:txBody>
      </p:sp>
    </p:spTree>
    <p:extLst>
      <p:ext uri="{BB962C8B-B14F-4D97-AF65-F5344CB8AC3E}">
        <p14:creationId xmlns:p14="http://schemas.microsoft.com/office/powerpoint/2010/main" val="2523604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2FC2-5CF3-BD45-BAED-89722F37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current directions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0D5F3-CFC0-D7E2-5607-A667EE47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(optional content)</a:t>
            </a:r>
          </a:p>
        </p:txBody>
      </p:sp>
    </p:spTree>
    <p:extLst>
      <p:ext uri="{BB962C8B-B14F-4D97-AF65-F5344CB8AC3E}">
        <p14:creationId xmlns:p14="http://schemas.microsoft.com/office/powerpoint/2010/main" val="34400700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D113-C35E-46A2-CBB6-13782160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Recall: are all tasks special cases of text generation?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AEDE3-343A-975E-CD12-FC7778CCD8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316" y="1440749"/>
            <a:ext cx="7873369" cy="54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36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FBB9-F87B-5A19-FB76-72C7E168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CC2E-1EE9-C538-717F-D51135DF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Generative LLMs enable “zero-shot” prediction:</a:t>
            </a:r>
            <a:br>
              <a:rPr lang="en-US" sz="3600" dirty="0"/>
            </a:br>
            <a:r>
              <a:rPr lang="en-US" sz="2000" dirty="0"/>
              <a:t>i.e. prediction without task-specific training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994C0-CB5F-C25F-446C-35C0179FBA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316" y="1440749"/>
            <a:ext cx="7873369" cy="54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522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7193-0C4D-D54F-17ED-0D5CB7DD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still need predictive AI?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5EEAB-75C4-A4D7-B484-0B8F4E8B6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task-specific models?</a:t>
            </a:r>
          </a:p>
        </p:txBody>
      </p:sp>
    </p:spTree>
    <p:extLst>
      <p:ext uri="{BB962C8B-B14F-4D97-AF65-F5344CB8AC3E}">
        <p14:creationId xmlns:p14="http://schemas.microsoft.com/office/powerpoint/2010/main" val="355964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861B132-5A80-4F26-B05B-B03B027B1F9A}"/>
              </a:ext>
            </a:extLst>
          </p:cNvPr>
          <p:cNvSpPr txBox="1">
            <a:spLocks/>
          </p:cNvSpPr>
          <p:nvPr/>
        </p:nvSpPr>
        <p:spPr>
          <a:xfrm>
            <a:off x="537904" y="274639"/>
            <a:ext cx="10972800" cy="11430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Lato Regular" charset="0"/>
                <a:ea typeface="+mj-ea"/>
                <a:cs typeface="+mj-cs"/>
              </a:defRPr>
            </a:lvl1pPr>
          </a:lstStyle>
          <a:p>
            <a:endParaRPr lang="en-US" sz="32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E9D253-A74A-9C4F-9FFE-3E91395E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dirty="0"/>
              <a:t>Often predictive and generative models are complementary.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DC748-D2C5-5844-8205-BDDC87302464}"/>
              </a:ext>
            </a:extLst>
          </p:cNvPr>
          <p:cNvSpPr txBox="1"/>
          <p:nvPr/>
        </p:nvSpPr>
        <p:spPr>
          <a:xfrm>
            <a:off x="5422233" y="646496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BFB6B-820A-37EA-F8B0-714D13947A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8365" y="2088007"/>
            <a:ext cx="4027007" cy="2681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5B9CB-89F2-7B61-030E-0309E9D5664A}"/>
              </a:ext>
            </a:extLst>
          </p:cNvPr>
          <p:cNvSpPr txBox="1"/>
          <p:nvPr/>
        </p:nvSpPr>
        <p:spPr>
          <a:xfrm>
            <a:off x="838201" y="1940921"/>
            <a:ext cx="4457807" cy="3785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Maternal health response system</a:t>
            </a:r>
            <a:r>
              <a:rPr lang="en-US" sz="2400" dirty="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Speech to text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Translation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Identification of key concepts and topics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Triage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Generation of template and/or complete responses in specific cases (generative)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2140D-F658-F518-7A4F-CFFD40142D5E}"/>
              </a:ext>
            </a:extLst>
          </p:cNvPr>
          <p:cNvSpPr txBox="1"/>
          <p:nvPr/>
        </p:nvSpPr>
        <p:spPr>
          <a:xfrm>
            <a:off x="838201" y="5638252"/>
            <a:ext cx="10236201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i="1" dirty="0"/>
              <a:t>It is much easier to evaluate the performance of predictive models, and in turn to know when and how much to trust them.</a:t>
            </a:r>
          </a:p>
        </p:txBody>
      </p:sp>
    </p:spTree>
    <p:extLst>
      <p:ext uri="{BB962C8B-B14F-4D97-AF65-F5344CB8AC3E}">
        <p14:creationId xmlns:p14="http://schemas.microsoft.com/office/powerpoint/2010/main" val="33456204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62AA-5528-5939-D554-B0B18C0C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some cases, however, generative models have superseded predictive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23C06-B318-4180-129A-D13DE33C0C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7600" y="2683933"/>
            <a:ext cx="6553200" cy="327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45B87-803B-73CF-304D-8CBA61C94D03}"/>
              </a:ext>
            </a:extLst>
          </p:cNvPr>
          <p:cNvSpPr txBox="1"/>
          <p:nvPr/>
        </p:nvSpPr>
        <p:spPr>
          <a:xfrm>
            <a:off x="711200" y="2116296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“Translation” of discharge notes into plain language using GPT4 substantially improves patients’ ability to comprehend them.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F0903-D96D-23E8-BEB5-A6F278B872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1680" y="4511675"/>
            <a:ext cx="1161387" cy="1557867"/>
          </a:xfrm>
          <a:prstGeom prst="rect">
            <a:avLst/>
          </a:prstGeom>
        </p:spPr>
      </p:pic>
      <p:pic>
        <p:nvPicPr>
          <p:cNvPr id="2050" name="Picture 2" descr="Anivarya Kumar | Trent Center for Bioethics, Humanities &amp; History of  Medicine">
            <a:extLst>
              <a:ext uri="{FF2B5EF4-FFF2-40B4-BE49-F238E27FC236}">
                <a16:creationId xmlns:a16="http://schemas.microsoft.com/office/drawing/2014/main" id="{93800175-D763-6669-2C93-F8D525B56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6453" y="4511675"/>
            <a:ext cx="1161387" cy="155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5260A-6BD7-1F61-CE5E-7074EE8BBFC3}"/>
              </a:ext>
            </a:extLst>
          </p:cNvPr>
          <p:cNvSpPr txBox="1"/>
          <p:nvPr/>
        </p:nvSpPr>
        <p:spPr>
          <a:xfrm>
            <a:off x="796955" y="6162788"/>
            <a:ext cx="1394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Anivarya</a:t>
            </a:r>
            <a:r>
              <a:rPr lang="en-US" sz="1400" dirty="0"/>
              <a:t> Kumar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18CE1-CD0A-4E51-46D8-4F824247A4B5}"/>
              </a:ext>
            </a:extLst>
          </p:cNvPr>
          <p:cNvSpPr txBox="1"/>
          <p:nvPr/>
        </p:nvSpPr>
        <p:spPr>
          <a:xfrm>
            <a:off x="2580576" y="6170308"/>
            <a:ext cx="1270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Isabella Wang</a:t>
            </a:r>
          </a:p>
        </p:txBody>
      </p:sp>
    </p:spTree>
    <p:extLst>
      <p:ext uri="{BB962C8B-B14F-4D97-AF65-F5344CB8AC3E}">
        <p14:creationId xmlns:p14="http://schemas.microsoft.com/office/powerpoint/2010/main" val="25555776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2440-B83D-188B-3B7B-C225E269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specific info from documents: predictive or generative?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9CB68C24-32A8-6033-81C6-4BFF85437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048935"/>
            <a:ext cx="4815792" cy="28972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A879E6-7F06-6B60-FAD9-3A0ED136F118}"/>
              </a:ext>
            </a:extLst>
          </p:cNvPr>
          <p:cNvGraphicFramePr>
            <a:graphicFrameLocks noGrp="1"/>
          </p:cNvGraphicFramePr>
          <p:nvPr/>
        </p:nvGraphicFramePr>
        <p:xfrm>
          <a:off x="6096001" y="2048935"/>
          <a:ext cx="5435431" cy="236644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435431">
                  <a:extLst>
                    <a:ext uri="{9D8B030D-6E8A-4147-A177-3AD203B41FA5}">
                      <a16:colId xmlns:a16="http://schemas.microsoft.com/office/drawing/2014/main" val="3950672317"/>
                    </a:ext>
                  </a:extLst>
                </a:gridCol>
              </a:tblGrid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needed to determine scheduling needs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589736975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ICD-10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898899989"/>
                  </a:ext>
                </a:extLst>
              </a:tr>
              <a:tr h="2623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Stage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868141245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Age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3940548945"/>
                  </a:ext>
                </a:extLst>
              </a:tr>
              <a:tr h="2683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Date of Dx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4241941698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Hormone Receptors and molecular biomarkers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683349164"/>
                  </a:ext>
                </a:extLst>
              </a:tr>
              <a:tr h="31778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History of Treatment (med, surg, rad)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4189573858"/>
                  </a:ext>
                </a:extLst>
              </a:tr>
              <a:tr h="5123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Undiagnosed patients only: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Review of symptoms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8480084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D23DE7-4028-E0B6-48CF-C90ECD3A51FA}"/>
              </a:ext>
            </a:extLst>
          </p:cNvPr>
          <p:cNvSpPr txBox="1"/>
          <p:nvPr/>
        </p:nvSpPr>
        <p:spPr>
          <a:xfrm>
            <a:off x="838200" y="5304424"/>
            <a:ext cx="7128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While a predictive approach might be more trustworthy in principle, generative models can perform many tasks “zero-shot”, i.e. without task-specific training.</a:t>
            </a:r>
          </a:p>
        </p:txBody>
      </p:sp>
      <p:pic>
        <p:nvPicPr>
          <p:cNvPr id="1026" name="Picture 2" descr="DIHI logo_news">
            <a:extLst>
              <a:ext uri="{FF2B5EF4-FFF2-40B4-BE49-F238E27FC236}">
                <a16:creationId xmlns:a16="http://schemas.microsoft.com/office/drawing/2014/main" id="{49985DF7-8A4D-AB3D-262F-847302BA6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57297" y="4692840"/>
            <a:ext cx="1474135" cy="151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A99B1B-35E2-FBAD-E9B9-EA38F3D29271}"/>
              </a:ext>
            </a:extLst>
          </p:cNvPr>
          <p:cNvSpPr txBox="1"/>
          <p:nvPr/>
        </p:nvSpPr>
        <p:spPr>
          <a:xfrm>
            <a:off x="8813715" y="6330345"/>
            <a:ext cx="32796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/>
              <a:t>DIHI ‘24, led by Emily </a:t>
            </a:r>
            <a:r>
              <a:rPr lang="en-US" sz="1867" dirty="0" err="1"/>
              <a:t>Norboge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0755163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D694-A072-0700-218E-07288FA1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directions: RAG vs long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DE7B-2372-B71E-DDF3-D666C33C0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Suppose we wish to answer questions or extract information from a large collection of documents (e.g., all clinical notes for a given patient)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we use an LLM to do this?</a:t>
            </a:r>
          </a:p>
          <a:p>
            <a:pPr>
              <a:buFontTx/>
              <a:buChar char="-"/>
            </a:pPr>
            <a:r>
              <a:rPr lang="en-US" dirty="0"/>
              <a:t>Option 1: </a:t>
            </a:r>
            <a:r>
              <a:rPr lang="en-US" i="1" dirty="0"/>
              <a:t>very</a:t>
            </a:r>
            <a:r>
              <a:rPr lang="en-US" dirty="0"/>
              <a:t> long context window</a:t>
            </a:r>
          </a:p>
          <a:p>
            <a:pPr>
              <a:buFontTx/>
              <a:buChar char="-"/>
            </a:pPr>
            <a:r>
              <a:rPr lang="en-US" dirty="0"/>
              <a:t>Option 2: retrieval augmented generation (RAG)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Currently, RAG is commonly used because it is effective and scalable, and it (partly) addresses LLM pitfalls, including hallucinations.</a:t>
            </a:r>
          </a:p>
        </p:txBody>
      </p:sp>
    </p:spTree>
    <p:extLst>
      <p:ext uri="{BB962C8B-B14F-4D97-AF65-F5344CB8AC3E}">
        <p14:creationId xmlns:p14="http://schemas.microsoft.com/office/powerpoint/2010/main" val="19148467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6C9F-6BFF-2438-1A26-8677F60D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directions: agentic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59647-3680-0D50-849D-75065D4EBCD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1335031"/>
            <a:ext cx="10363200" cy="3703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DA0345-26B6-9AC1-922E-6C467AFCCA01}"/>
              </a:ext>
            </a:extLst>
          </p:cNvPr>
          <p:cNvSpPr txBox="1"/>
          <p:nvPr/>
        </p:nvSpPr>
        <p:spPr>
          <a:xfrm>
            <a:off x="6754185" y="6415931"/>
            <a:ext cx="5680914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dirty="0"/>
              <a:t>Choi, Palumbo, et al.; submitted to </a:t>
            </a:r>
            <a:r>
              <a:rPr lang="en-US" sz="1467" i="1" dirty="0"/>
              <a:t>Machine Learning for Healthcare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B93B4-DAA3-D09C-8EE7-0929953DE5AC}"/>
              </a:ext>
            </a:extLst>
          </p:cNvPr>
          <p:cNvSpPr txBox="1"/>
          <p:nvPr/>
        </p:nvSpPr>
        <p:spPr>
          <a:xfrm>
            <a:off x="914400" y="5324501"/>
            <a:ext cx="6132749" cy="124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u="sng" dirty="0"/>
              <a:t>Multi-LLM-agent systems including</a:t>
            </a:r>
            <a:r>
              <a:rPr lang="en-US" sz="1867" dirty="0"/>
              <a:t>:</a:t>
            </a:r>
          </a:p>
          <a:p>
            <a:pPr marL="380990" indent="-380990">
              <a:buFontTx/>
              <a:buChar char="-"/>
            </a:pPr>
            <a:r>
              <a:rPr lang="en-US" sz="1867" dirty="0"/>
              <a:t>An orchestrator agent</a:t>
            </a:r>
          </a:p>
          <a:p>
            <a:pPr marL="380990" indent="-380990">
              <a:buFontTx/>
              <a:buChar char="-"/>
            </a:pPr>
            <a:r>
              <a:rPr lang="en-US" sz="1867" dirty="0"/>
              <a:t>Task-specific agents (e.g. </a:t>
            </a:r>
            <a:r>
              <a:rPr lang="en-US" sz="1867" dirty="0" err="1"/>
              <a:t>DocChat</a:t>
            </a:r>
            <a:r>
              <a:rPr lang="en-US" sz="1867" dirty="0"/>
              <a:t>, </a:t>
            </a:r>
            <a:r>
              <a:rPr lang="en-US" sz="1867" dirty="0" err="1"/>
              <a:t>SQLchat</a:t>
            </a:r>
            <a:endParaRPr lang="en-US" sz="1867" dirty="0"/>
          </a:p>
          <a:p>
            <a:pPr marL="380990" indent="-380990">
              <a:buFontTx/>
              <a:buChar char="-"/>
            </a:pPr>
            <a:r>
              <a:rPr lang="en-US" sz="1867" dirty="0"/>
              <a:t>Critic agents</a:t>
            </a:r>
          </a:p>
        </p:txBody>
      </p:sp>
    </p:spTree>
    <p:extLst>
      <p:ext uri="{BB962C8B-B14F-4D97-AF65-F5344CB8AC3E}">
        <p14:creationId xmlns:p14="http://schemas.microsoft.com/office/powerpoint/2010/main" val="26682206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AA21-D45C-A58E-C2D9-0EB4D1D58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directions: evaluation of generative models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0E9FDF-5609-18C3-5497-82431609A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4691" y="1960023"/>
            <a:ext cx="6882859" cy="387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BABE78-3B6D-99B5-2D14-AB974FF6C022}"/>
              </a:ext>
            </a:extLst>
          </p:cNvPr>
          <p:cNvSpPr txBox="1"/>
          <p:nvPr/>
        </p:nvSpPr>
        <p:spPr>
          <a:xfrm>
            <a:off x="674451" y="1960023"/>
            <a:ext cx="3519252" cy="4031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u="sng" dirty="0"/>
              <a:t>Open questions include</a:t>
            </a:r>
            <a:r>
              <a:rPr lang="en-US" sz="2133" dirty="0"/>
              <a:t>:</a:t>
            </a:r>
          </a:p>
          <a:p>
            <a:endParaRPr lang="en-US" sz="2133" dirty="0"/>
          </a:p>
          <a:p>
            <a:pPr marL="380990" indent="-380990">
              <a:buFontTx/>
              <a:buChar char="-"/>
            </a:pPr>
            <a:r>
              <a:rPr lang="en-US" sz="2133" dirty="0"/>
              <a:t>Can we trust models to evaluate other models?</a:t>
            </a:r>
          </a:p>
          <a:p>
            <a:pPr marL="380990" indent="-380990">
              <a:buFontTx/>
              <a:buChar char="-"/>
            </a:pPr>
            <a:endParaRPr lang="en-US" sz="2133" dirty="0"/>
          </a:p>
          <a:p>
            <a:pPr marL="380990" indent="-380990">
              <a:buFontTx/>
              <a:buChar char="-"/>
            </a:pPr>
            <a:r>
              <a:rPr lang="en-US" sz="2133" dirty="0"/>
              <a:t>How can models </a:t>
            </a:r>
            <a:r>
              <a:rPr lang="en-US" sz="2133" i="1" dirty="0"/>
              <a:t>learn when to defer </a:t>
            </a:r>
            <a:r>
              <a:rPr lang="en-US" sz="2133" dirty="0"/>
              <a:t>to human experts?</a:t>
            </a:r>
          </a:p>
          <a:p>
            <a:pPr marL="380990" indent="-380990">
              <a:buFontTx/>
              <a:buChar char="-"/>
            </a:pPr>
            <a:endParaRPr lang="en-US" sz="2133" dirty="0"/>
          </a:p>
          <a:p>
            <a:pPr marL="380990" indent="-380990">
              <a:buFontTx/>
              <a:buChar char="-"/>
            </a:pPr>
            <a:r>
              <a:rPr lang="en-US" sz="2133" dirty="0"/>
              <a:t>How can we identify LLM biases? (more on this in PIONEER sessions)</a:t>
            </a:r>
          </a:p>
        </p:txBody>
      </p:sp>
    </p:spTree>
    <p:extLst>
      <p:ext uri="{BB962C8B-B14F-4D97-AF65-F5344CB8AC3E}">
        <p14:creationId xmlns:p14="http://schemas.microsoft.com/office/powerpoint/2010/main" val="363918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3894</Words>
  <Application>Microsoft Macintosh PowerPoint</Application>
  <PresentationFormat>Widescreen</PresentationFormat>
  <Paragraphs>816</Paragraphs>
  <Slides>54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Transformer architectures for text and medical records</vt:lpstr>
      <vt:lpstr>Recall: Transformer Encoder</vt:lpstr>
      <vt:lpstr>Recall: Transformer Encoder</vt:lpstr>
      <vt:lpstr>Recall: Transformer Encoder</vt:lpstr>
      <vt:lpstr>Recall: Transformer Encoder</vt:lpstr>
      <vt:lpstr>Recall: Transformer Encoder</vt:lpstr>
      <vt:lpstr>Recall: Transformer Encoder</vt:lpstr>
      <vt:lpstr>Training process</vt:lpstr>
      <vt:lpstr>Training encoder-only architectures: Masked language modeling (MLM)</vt:lpstr>
      <vt:lpstr>Training encoder-only architectures: Masked language modeling (MLM)</vt:lpstr>
      <vt:lpstr>Training encoder-only architectures: Masked language modeling (MLM)</vt:lpstr>
      <vt:lpstr>Training encoder-only architectures: Masked language modeling (MLM)</vt:lpstr>
      <vt:lpstr>Special tokens</vt:lpstr>
      <vt:lpstr>How do we use the output?</vt:lpstr>
      <vt:lpstr>Encoder gives a sequence of representations</vt:lpstr>
      <vt:lpstr>Encoder gives a sequence of representations</vt:lpstr>
      <vt:lpstr>Options for document-level prediction</vt:lpstr>
      <vt:lpstr>Options for sentence-level prediction</vt:lpstr>
      <vt:lpstr>Options for sentence-level prediction</vt:lpstr>
      <vt:lpstr>Options for sentence-level prediction</vt:lpstr>
      <vt:lpstr>Options for sentence-level prediction</vt:lpstr>
      <vt:lpstr>Options for sentence-level prediction</vt:lpstr>
      <vt:lpstr>Massive Text Embedding Benchmark (MTEB) leaderboard</vt:lpstr>
      <vt:lpstr>Training process</vt:lpstr>
      <vt:lpstr>Training decoder-only architectures: Next token prediction (NTP)</vt:lpstr>
      <vt:lpstr>Training decoder-only architectures: Next token prediction (NTP)</vt:lpstr>
      <vt:lpstr>Training decoder-only architectures: Next token prediction (NTP)</vt:lpstr>
      <vt:lpstr>Training decoder-only architectures: Next token prediction (NTP)</vt:lpstr>
      <vt:lpstr>Training decoder-only architectures: Next token prediction (NTP)</vt:lpstr>
      <vt:lpstr>How do we use the output?</vt:lpstr>
      <vt:lpstr>Now we can generate text!</vt:lpstr>
      <vt:lpstr>Given a pre-trained model, we can…</vt:lpstr>
      <vt:lpstr>They’re then fine-tuned to match our preferences</vt:lpstr>
      <vt:lpstr>Case study: maternal health SMS</vt:lpstr>
      <vt:lpstr>Case Study: Triaging incoming SMS messages</vt:lpstr>
      <vt:lpstr>Case Study: Finding instances of mistreatment</vt:lpstr>
      <vt:lpstr>Notes on the “context window”</vt:lpstr>
      <vt:lpstr>Moving to the EHR</vt:lpstr>
      <vt:lpstr>Models for structured EHR data: the “language” of the EHR</vt:lpstr>
      <vt:lpstr>Transformers for Electronic Health Records</vt:lpstr>
      <vt:lpstr>Transformers for Electronic Health Records</vt:lpstr>
      <vt:lpstr>Transformers for Electronic Health Records</vt:lpstr>
      <vt:lpstr>Transformers for Electronic Health Records</vt:lpstr>
      <vt:lpstr>Predict diagnosis risk from structured EHRs</vt:lpstr>
      <vt:lpstr>Some current directions</vt:lpstr>
      <vt:lpstr>Recall: are all tasks special cases of text generation?</vt:lpstr>
      <vt:lpstr>Generative LLMs enable “zero-shot” prediction: i.e. prediction without task-specific training</vt:lpstr>
      <vt:lpstr>Do we still need predictive AI?</vt:lpstr>
      <vt:lpstr>Often predictive and generative models are complementary.</vt:lpstr>
      <vt:lpstr>In some cases, however, generative models have superseded predictive models.</vt:lpstr>
      <vt:lpstr>Extracting specific info from documents: predictive or generative?</vt:lpstr>
      <vt:lpstr>Current directions: RAG vs long context</vt:lpstr>
      <vt:lpstr>Current directions: agentic AI</vt:lpstr>
      <vt:lpstr>Current directions: evaluation of generative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Engelhard, M.D., Ph.D.</dc:creator>
  <cp:lastModifiedBy>Matthew Engelhard, M.D., Ph.D.</cp:lastModifiedBy>
  <cp:revision>7</cp:revision>
  <dcterms:created xsi:type="dcterms:W3CDTF">2026-03-18T17:28:24Z</dcterms:created>
  <dcterms:modified xsi:type="dcterms:W3CDTF">2026-04-06T22:23:43Z</dcterms:modified>
</cp:coreProperties>
</file>