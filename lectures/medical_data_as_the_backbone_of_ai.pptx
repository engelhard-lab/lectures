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889" r:id="rId3"/>
    <p:sldId id="914" r:id="rId4"/>
    <p:sldId id="875" r:id="rId5"/>
    <p:sldId id="891" r:id="rId6"/>
    <p:sldId id="876" r:id="rId7"/>
    <p:sldId id="886" r:id="rId8"/>
    <p:sldId id="878" r:id="rId9"/>
    <p:sldId id="893" r:id="rId10"/>
    <p:sldId id="892" r:id="rId11"/>
    <p:sldId id="895" r:id="rId12"/>
    <p:sldId id="896" r:id="rId13"/>
    <p:sldId id="881" r:id="rId14"/>
    <p:sldId id="897" r:id="rId15"/>
    <p:sldId id="879" r:id="rId16"/>
    <p:sldId id="562" r:id="rId17"/>
    <p:sldId id="899" r:id="rId18"/>
    <p:sldId id="904" r:id="rId19"/>
    <p:sldId id="894" r:id="rId20"/>
    <p:sldId id="2147477930" r:id="rId21"/>
    <p:sldId id="2147477985" r:id="rId22"/>
    <p:sldId id="2147477987" r:id="rId23"/>
    <p:sldId id="887" r:id="rId24"/>
    <p:sldId id="2147477943" r:id="rId25"/>
    <p:sldId id="2147477986" r:id="rId26"/>
    <p:sldId id="2147477944" r:id="rId27"/>
    <p:sldId id="2147477945" r:id="rId28"/>
    <p:sldId id="2147477947" r:id="rId29"/>
    <p:sldId id="2147477988" r:id="rId30"/>
    <p:sldId id="916" r:id="rId31"/>
    <p:sldId id="2147477980" r:id="rId32"/>
    <p:sldId id="2147477989" r:id="rId33"/>
    <p:sldId id="2147477990" r:id="rId34"/>
    <p:sldId id="625" r:id="rId35"/>
    <p:sldId id="2147477981" r:id="rId36"/>
    <p:sldId id="2147477975" r:id="rId37"/>
    <p:sldId id="2147477961" r:id="rId38"/>
    <p:sldId id="2147477969" r:id="rId39"/>
    <p:sldId id="2147477977" r:id="rId40"/>
    <p:sldId id="2147477948" r:id="rId41"/>
    <p:sldId id="938" r:id="rId42"/>
    <p:sldId id="2147477951" r:id="rId43"/>
    <p:sldId id="2147477953" r:id="rId44"/>
    <p:sldId id="2147477954" r:id="rId45"/>
    <p:sldId id="2147477960" r:id="rId46"/>
    <p:sldId id="2147477982" r:id="rId47"/>
    <p:sldId id="2147477965" r:id="rId48"/>
    <p:sldId id="2147477991" r:id="rId49"/>
    <p:sldId id="2147477992" r:id="rId50"/>
    <p:sldId id="2147477993" r:id="rId51"/>
    <p:sldId id="2147477966" r:id="rId52"/>
    <p:sldId id="268"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80"/>
    <p:restoredTop sz="73906"/>
  </p:normalViewPr>
  <p:slideViewPr>
    <p:cSldViewPr snapToGrid="0" snapToObjects="1">
      <p:cViewPr varScale="1">
        <p:scale>
          <a:sx n="127" d="100"/>
          <a:sy n="127" d="100"/>
        </p:scale>
        <p:origin x="7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CE97CA-A0FA-2A41-A60F-6D8F4B1B4F6D}" type="datetimeFigureOut">
              <a:rPr lang="en-US" smtClean="0"/>
              <a:t>6/13/26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87938A-5C4B-C644-A452-8D4D784107A7}" type="slidenum">
              <a:rPr lang="en-US" smtClean="0"/>
              <a:t>‹#›</a:t>
            </a:fld>
            <a:endParaRPr lang="en-US"/>
          </a:p>
        </p:txBody>
      </p:sp>
    </p:spTree>
    <p:extLst>
      <p:ext uri="{BB962C8B-B14F-4D97-AF65-F5344CB8AC3E}">
        <p14:creationId xmlns:p14="http://schemas.microsoft.com/office/powerpoint/2010/main" val="1499365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Quick intro</a:t>
            </a:r>
          </a:p>
          <a:p>
            <a:endParaRPr lang="en-US" dirty="0"/>
          </a:p>
          <a:p>
            <a:r>
              <a:rPr lang="en-US" dirty="0"/>
              <a:t>Today will be a short crash course on</a:t>
            </a:r>
          </a:p>
          <a:p>
            <a:endParaRPr lang="en-US" dirty="0"/>
          </a:p>
        </p:txBody>
      </p:sp>
      <p:sp>
        <p:nvSpPr>
          <p:cNvPr id="4" name="Slide Number Placeholder 3"/>
          <p:cNvSpPr>
            <a:spLocks noGrp="1"/>
          </p:cNvSpPr>
          <p:nvPr>
            <p:ph type="sldNum" sz="quarter" idx="5"/>
          </p:nvPr>
        </p:nvSpPr>
        <p:spPr/>
        <p:txBody>
          <a:bodyPr/>
          <a:lstStyle/>
          <a:p>
            <a:fld id="{FA87938A-5C4B-C644-A452-8D4D784107A7}" type="slidenum">
              <a:rPr lang="en-US" smtClean="0"/>
              <a:t>1</a:t>
            </a:fld>
            <a:endParaRPr lang="en-US"/>
          </a:p>
        </p:txBody>
      </p:sp>
    </p:spTree>
    <p:extLst>
      <p:ext uri="{BB962C8B-B14F-4D97-AF65-F5344CB8AC3E}">
        <p14:creationId xmlns:p14="http://schemas.microsoft.com/office/powerpoint/2010/main" val="4243482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half of this lecture will focus on the data themselves</a:t>
            </a:r>
          </a:p>
          <a:p>
            <a:r>
              <a:rPr lang="en-US" dirty="0"/>
              <a:t>We’ll be thinking about what kinds of data we might find in the electronic health record, or EHR for a given patient</a:t>
            </a:r>
          </a:p>
          <a:p>
            <a:r>
              <a:rPr lang="en-US" dirty="0"/>
              <a:t>And why it might be there, recognizing that EHRs are designed for use in routine care</a:t>
            </a:r>
          </a:p>
          <a:p>
            <a:r>
              <a:rPr lang="en-US" dirty="0"/>
              <a:t>To document what happens, support clinical decision-making, and support billing</a:t>
            </a:r>
          </a:p>
          <a:p>
            <a:endParaRPr lang="en-US" dirty="0"/>
          </a:p>
          <a:p>
            <a:r>
              <a:rPr lang="en-US" dirty="0"/>
              <a:t>Then, the second half will focus on these data as raw material for AI development and how that works</a:t>
            </a:r>
          </a:p>
          <a:p>
            <a:r>
              <a:rPr lang="en-US" dirty="0"/>
              <a:t>We’ll think about ways to use data to develop systems that range from very specific</a:t>
            </a:r>
          </a:p>
          <a:p>
            <a:r>
              <a:rPr lang="en-US" dirty="0"/>
              <a:t>-- Focused on one type of data, and one prediction task --</a:t>
            </a:r>
          </a:p>
          <a:p>
            <a:r>
              <a:rPr lang="en-US" dirty="0"/>
              <a:t>To building systems that understand medical data broadly speaking, </a:t>
            </a:r>
          </a:p>
          <a:p>
            <a:r>
              <a:rPr lang="en-US" dirty="0"/>
              <a:t>and can support a range of data types and tasks</a:t>
            </a:r>
          </a:p>
          <a:p>
            <a:endParaRPr lang="en-US" dirty="0"/>
          </a:p>
          <a:p>
            <a:r>
              <a:rPr lang="en-US" dirty="0"/>
              <a:t>By the end, you should have a sense of what we might find in the EHR</a:t>
            </a:r>
          </a:p>
          <a:p>
            <a:r>
              <a:rPr lang="en-US" dirty="0"/>
              <a:t>Why a range of modalities are important and complement one another to enhance prediction and understanding</a:t>
            </a:r>
          </a:p>
          <a:p>
            <a:r>
              <a:rPr lang="en-US" dirty="0"/>
              <a:t>And an initial, intuitive sense of how they are developed</a:t>
            </a:r>
          </a:p>
          <a:p>
            <a:r>
              <a:rPr lang="en-US" dirty="0"/>
              <a:t>And trends taking place in model development, including from task specific to task-agnostic and multi-modal</a:t>
            </a:r>
          </a:p>
        </p:txBody>
      </p:sp>
      <p:sp>
        <p:nvSpPr>
          <p:cNvPr id="4" name="Slide Number Placeholder 3"/>
          <p:cNvSpPr>
            <a:spLocks noGrp="1"/>
          </p:cNvSpPr>
          <p:nvPr>
            <p:ph type="sldNum" sz="quarter" idx="5"/>
          </p:nvPr>
        </p:nvSpPr>
        <p:spPr/>
        <p:txBody>
          <a:bodyPr/>
          <a:lstStyle/>
          <a:p>
            <a:fld id="{FA87938A-5C4B-C644-A452-8D4D784107A7}" type="slidenum">
              <a:rPr lang="en-US" smtClean="0"/>
              <a:t>2</a:t>
            </a:fld>
            <a:endParaRPr lang="en-US"/>
          </a:p>
        </p:txBody>
      </p:sp>
    </p:spTree>
    <p:extLst>
      <p:ext uri="{BB962C8B-B14F-4D97-AF65-F5344CB8AC3E}">
        <p14:creationId xmlns:p14="http://schemas.microsoft.com/office/powerpoint/2010/main" val="2504557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 moving into our first part, </a:t>
            </a:r>
          </a:p>
          <a:p>
            <a:r>
              <a:rPr lang="en-US" dirty="0"/>
              <a:t>let’s think about what we might find in the EHR, and why</a:t>
            </a:r>
          </a:p>
          <a:p>
            <a:endParaRPr lang="en-US" dirty="0"/>
          </a:p>
          <a:p>
            <a:r>
              <a:rPr lang="en-US" dirty="0"/>
              <a:t>Now, not all medical data is found in the EHR, of course</a:t>
            </a:r>
          </a:p>
          <a:p>
            <a:r>
              <a:rPr lang="en-US" dirty="0"/>
              <a:t>But it does a pretty good job reflecting the range of data we might see</a:t>
            </a:r>
          </a:p>
          <a:p>
            <a:endParaRPr lang="en-US" dirty="0"/>
          </a:p>
          <a:p>
            <a:r>
              <a:rPr lang="en-US" dirty="0"/>
              <a:t>Admittedly limited to a particular clinical setting</a:t>
            </a:r>
          </a:p>
          <a:p>
            <a:r>
              <a:rPr lang="en-US" dirty="0"/>
              <a:t>Often a large academic medical center</a:t>
            </a:r>
          </a:p>
          <a:p>
            <a:endParaRPr lang="en-US" dirty="0"/>
          </a:p>
        </p:txBody>
      </p:sp>
      <p:sp>
        <p:nvSpPr>
          <p:cNvPr id="4" name="Slide Number Placeholder 3"/>
          <p:cNvSpPr>
            <a:spLocks noGrp="1"/>
          </p:cNvSpPr>
          <p:nvPr>
            <p:ph type="sldNum" sz="quarter" idx="5"/>
          </p:nvPr>
        </p:nvSpPr>
        <p:spPr/>
        <p:txBody>
          <a:bodyPr/>
          <a:lstStyle/>
          <a:p>
            <a:fld id="{FA87938A-5C4B-C644-A452-8D4D784107A7}" type="slidenum">
              <a:rPr lang="en-US" smtClean="0"/>
              <a:t>3</a:t>
            </a:fld>
            <a:endParaRPr lang="en-US"/>
          </a:p>
        </p:txBody>
      </p:sp>
    </p:spTree>
    <p:extLst>
      <p:ext uri="{BB962C8B-B14F-4D97-AF65-F5344CB8AC3E}">
        <p14:creationId xmlns:p14="http://schemas.microsoft.com/office/powerpoint/2010/main" val="28949207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begin our tour of EHR data, let’s start with the structured data</a:t>
            </a:r>
          </a:p>
          <a:p>
            <a:endParaRPr lang="en-US" dirty="0"/>
          </a:p>
          <a:p>
            <a:r>
              <a:rPr lang="en-US" dirty="0"/>
              <a:t>These are [READ DEFINITION]…</a:t>
            </a:r>
          </a:p>
          <a:p>
            <a:endParaRPr lang="en-US" dirty="0"/>
          </a:p>
          <a:p>
            <a:r>
              <a:rPr lang="en-US" dirty="0"/>
              <a:t>They’re data are usually stored in a table, maybe as part of an overarching data model, or in a spreadsheet, say as a csv file</a:t>
            </a:r>
          </a:p>
          <a:p>
            <a:r>
              <a:rPr lang="en-US" dirty="0"/>
              <a:t>they're comprised of columns of distinct variables, which are usually going to be numeric or categorical, and you might have some text fields here and there </a:t>
            </a:r>
          </a:p>
          <a:p>
            <a:endParaRPr lang="en-US" dirty="0"/>
          </a:p>
          <a:p>
            <a:r>
              <a:rPr lang="en-US" dirty="0"/>
              <a:t>if somebody said they're we're going to hand you a dataset from their clinical study, this is what you'd expect to get</a:t>
            </a:r>
          </a:p>
          <a:p>
            <a:r>
              <a:rPr lang="en-US" dirty="0"/>
              <a:t>and in the EHR, this is all the stuff you'd pull out of a system like DEDUCE here at duke -- a table of demographics, a table of diagnoses, and so on</a:t>
            </a:r>
          </a:p>
        </p:txBody>
      </p:sp>
      <p:sp>
        <p:nvSpPr>
          <p:cNvPr id="4" name="Slide Number Placeholder 3"/>
          <p:cNvSpPr>
            <a:spLocks noGrp="1"/>
          </p:cNvSpPr>
          <p:nvPr>
            <p:ph type="sldNum" sz="quarter" idx="5"/>
          </p:nvPr>
        </p:nvSpPr>
        <p:spPr/>
        <p:txBody>
          <a:bodyPr/>
          <a:lstStyle/>
          <a:p>
            <a:fld id="{FA87938A-5C4B-C644-A452-8D4D784107A7}" type="slidenum">
              <a:rPr lang="en-US" smtClean="0"/>
              <a:t>4</a:t>
            </a:fld>
            <a:endParaRPr lang="en-US"/>
          </a:p>
        </p:txBody>
      </p:sp>
    </p:spTree>
    <p:extLst>
      <p:ext uri="{BB962C8B-B14F-4D97-AF65-F5344CB8AC3E}">
        <p14:creationId xmlns:p14="http://schemas.microsoft.com/office/powerpoint/2010/main" val="30281260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from Duke's clinical research </a:t>
            </a:r>
            <a:r>
              <a:rPr lang="en-US" dirty="0" err="1"/>
              <a:t>datamart</a:t>
            </a:r>
            <a:endParaRPr lang="en-US" dirty="0"/>
          </a:p>
          <a:p>
            <a:endParaRPr lang="en-US" dirty="0"/>
          </a:p>
          <a:p>
            <a:r>
              <a:rPr lang="en-US" dirty="0"/>
              <a:t>we have rows of identifiers, some of which can be used to link this table to other tables, including the patient id</a:t>
            </a:r>
          </a:p>
          <a:p>
            <a:endParaRPr lang="en-US" dirty="0"/>
          </a:p>
          <a:p>
            <a:r>
              <a:rPr lang="en-US" dirty="0"/>
              <a:t>this is a table of diagnoses, so the key column is the column of diagnosis codes</a:t>
            </a:r>
          </a:p>
          <a:p>
            <a:r>
              <a:rPr lang="en-US" dirty="0"/>
              <a:t>and then we have additional columns of supporting details, including the date and time, and so on</a:t>
            </a:r>
          </a:p>
          <a:p>
            <a:endParaRPr lang="en-US" dirty="0"/>
          </a:p>
          <a:p>
            <a:r>
              <a:rPr lang="en-US" dirty="0"/>
              <a:t>importantly, associated with this table we have a key, or dictionary, which explains what we're seeing in each of the columns</a:t>
            </a:r>
          </a:p>
        </p:txBody>
      </p:sp>
      <p:sp>
        <p:nvSpPr>
          <p:cNvPr id="4" name="Slide Number Placeholder 3"/>
          <p:cNvSpPr>
            <a:spLocks noGrp="1"/>
          </p:cNvSpPr>
          <p:nvPr>
            <p:ph type="sldNum" sz="quarter" idx="5"/>
          </p:nvPr>
        </p:nvSpPr>
        <p:spPr/>
        <p:txBody>
          <a:bodyPr/>
          <a:lstStyle/>
          <a:p>
            <a:fld id="{FA87938A-5C4B-C644-A452-8D4D784107A7}" type="slidenum">
              <a:rPr lang="en-US" smtClean="0"/>
              <a:t>5</a:t>
            </a:fld>
            <a:endParaRPr lang="en-US"/>
          </a:p>
        </p:txBody>
      </p:sp>
    </p:spTree>
    <p:extLst>
      <p:ext uri="{BB962C8B-B14F-4D97-AF65-F5344CB8AC3E}">
        <p14:creationId xmlns:p14="http://schemas.microsoft.com/office/powerpoint/2010/main" val="1816880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when thinking about the EHR, we break things down into (1) structured data, and (2) unstructured data</a:t>
            </a:r>
          </a:p>
          <a:p>
            <a:r>
              <a:rPr lang="en-US" dirty="0"/>
              <a:t>By which we mean everything else:</a:t>
            </a:r>
          </a:p>
          <a:p>
            <a:endParaRPr lang="en-US" dirty="0"/>
          </a:p>
          <a:p>
            <a:r>
              <a:rPr lang="en-US" dirty="0"/>
              <a:t>Unstructured data are defined simply as data that are NOT structured data</a:t>
            </a:r>
          </a:p>
          <a:p>
            <a:r>
              <a:rPr lang="en-US" dirty="0"/>
              <a:t>i.e. everything that does not fit cleanly into tabular format</a:t>
            </a:r>
          </a:p>
          <a:p>
            <a:endParaRPr lang="en-US" dirty="0"/>
          </a:p>
          <a:p>
            <a:r>
              <a:rPr lang="en-US" dirty="0"/>
              <a:t>these are your clinical notes </a:t>
            </a:r>
          </a:p>
          <a:p>
            <a:r>
              <a:rPr lang="en-US" dirty="0"/>
              <a:t>your images, (think radiology, pathology, ophthalmology)</a:t>
            </a:r>
          </a:p>
          <a:p>
            <a:r>
              <a:rPr lang="en-US" dirty="0"/>
              <a:t>your electrophysiologic studies -- electrocardiograms, electroencephalograms, </a:t>
            </a:r>
            <a:r>
              <a:rPr lang="en-US" dirty="0" err="1"/>
              <a:t>electromyelograms</a:t>
            </a:r>
            <a:r>
              <a:rPr lang="en-US" dirty="0"/>
              <a:t>, </a:t>
            </a:r>
            <a:r>
              <a:rPr lang="en-US" dirty="0" err="1"/>
              <a:t>electrowhateverograms</a:t>
            </a:r>
            <a:endParaRPr lang="en-US" dirty="0"/>
          </a:p>
          <a:p>
            <a:r>
              <a:rPr lang="en-US" dirty="0"/>
              <a:t>it includes digital health data -- we're seeing more and more efforts to incorporate this stuff in the EHR</a:t>
            </a:r>
          </a:p>
          <a:p>
            <a:r>
              <a:rPr lang="en-US" dirty="0"/>
              <a:t>it might even include audio data</a:t>
            </a:r>
          </a:p>
          <a:p>
            <a:endParaRPr lang="en-US" dirty="0"/>
          </a:p>
          <a:p>
            <a:r>
              <a:rPr lang="en-US" dirty="0"/>
              <a:t>the list is always growing</a:t>
            </a:r>
          </a:p>
          <a:p>
            <a:endParaRPr lang="en-US" dirty="0"/>
          </a:p>
          <a:p>
            <a:r>
              <a:rPr lang="en-US" dirty="0"/>
              <a:t>NOT organized into specific, </a:t>
            </a:r>
            <a:r>
              <a:rPr lang="en-US" dirty="0" err="1"/>
              <a:t>queryable</a:t>
            </a:r>
            <a:r>
              <a:rPr lang="en-US" dirty="0"/>
              <a:t> fields as part of an overarching model</a:t>
            </a:r>
          </a:p>
          <a:p>
            <a:r>
              <a:rPr lang="en-US" dirty="0"/>
              <a:t>and they do NOT fit neatly into a csv file -- instead, they tend to be stored in specific, specialized formats</a:t>
            </a:r>
          </a:p>
          <a:p>
            <a:endParaRPr lang="en-US" dirty="0"/>
          </a:p>
          <a:p>
            <a:r>
              <a:rPr lang="en-US" dirty="0"/>
              <a:t>for images you've got your </a:t>
            </a:r>
            <a:r>
              <a:rPr lang="en-US" dirty="0" err="1"/>
              <a:t>pngs</a:t>
            </a:r>
            <a:r>
              <a:rPr lang="en-US" dirty="0"/>
              <a:t> and jpegs, but you've also got your DICOM files, for example</a:t>
            </a:r>
          </a:p>
          <a:p>
            <a:r>
              <a:rPr lang="en-US" dirty="0"/>
              <a:t>there's a huge variety here -- far too big to cover in a single lecture</a:t>
            </a:r>
          </a:p>
          <a:p>
            <a:endParaRPr lang="en-US" dirty="0"/>
          </a:p>
          <a:p>
            <a:r>
              <a:rPr lang="en-US" dirty="0"/>
              <a:t>and so we're going to be talking about some general principles and focusing mostly on the most common modalities, which are images and text</a:t>
            </a:r>
          </a:p>
        </p:txBody>
      </p:sp>
      <p:sp>
        <p:nvSpPr>
          <p:cNvPr id="4" name="Slide Number Placeholder 3"/>
          <p:cNvSpPr>
            <a:spLocks noGrp="1"/>
          </p:cNvSpPr>
          <p:nvPr>
            <p:ph type="sldNum" sz="quarter" idx="5"/>
          </p:nvPr>
        </p:nvSpPr>
        <p:spPr/>
        <p:txBody>
          <a:bodyPr/>
          <a:lstStyle/>
          <a:p>
            <a:fld id="{FA87938A-5C4B-C644-A452-8D4D784107A7}" type="slidenum">
              <a:rPr lang="en-US" smtClean="0"/>
              <a:t>6</a:t>
            </a:fld>
            <a:endParaRPr lang="en-US"/>
          </a:p>
        </p:txBody>
      </p:sp>
    </p:spTree>
    <p:extLst>
      <p:ext uri="{BB962C8B-B14F-4D97-AF65-F5344CB8AC3E}">
        <p14:creationId xmlns:p14="http://schemas.microsoft.com/office/powerpoint/2010/main" val="2400549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will focus on how we use all these different modalities, taken together</a:t>
            </a:r>
          </a:p>
          <a:p>
            <a:r>
              <a:rPr lang="en-US" dirty="0"/>
              <a:t>But first, let’s think about why</a:t>
            </a:r>
          </a:p>
          <a:p>
            <a:r>
              <a:rPr lang="en-US" dirty="0"/>
              <a:t>What’s in the structured data, and what’s missing</a:t>
            </a:r>
          </a:p>
        </p:txBody>
      </p:sp>
      <p:sp>
        <p:nvSpPr>
          <p:cNvPr id="4" name="Slide Number Placeholder 3"/>
          <p:cNvSpPr>
            <a:spLocks noGrp="1"/>
          </p:cNvSpPr>
          <p:nvPr>
            <p:ph type="sldNum" sz="quarter" idx="5"/>
          </p:nvPr>
        </p:nvSpPr>
        <p:spPr/>
        <p:txBody>
          <a:bodyPr/>
          <a:lstStyle/>
          <a:p>
            <a:fld id="{FA87938A-5C4B-C644-A452-8D4D784107A7}" type="slidenum">
              <a:rPr lang="en-US" smtClean="0"/>
              <a:t>7</a:t>
            </a:fld>
            <a:endParaRPr lang="en-US"/>
          </a:p>
        </p:txBody>
      </p:sp>
    </p:spTree>
    <p:extLst>
      <p:ext uri="{BB962C8B-B14F-4D97-AF65-F5344CB8AC3E}">
        <p14:creationId xmlns:p14="http://schemas.microsoft.com/office/powerpoint/2010/main" val="1944693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do that, let’s consider a simplified case to think about what data, both structured and unstructured, will be generated</a:t>
            </a:r>
          </a:p>
          <a:p>
            <a:endParaRPr lang="en-US" dirty="0"/>
          </a:p>
          <a:p>
            <a:r>
              <a:rPr lang="en-US" dirty="0"/>
              <a:t>Suppose we have a patient that goes to urgent care – they’re transferred to the emergency department because the providers at urgent care suspect a PE, or pulmonary embolism</a:t>
            </a:r>
          </a:p>
          <a:p>
            <a:r>
              <a:rPr lang="en-US" dirty="0"/>
              <a:t>This is a blood that forms usually in the veins in your leg, then dislodges and travels through the right heart and into the lungs, where it can go no further, so it gets stuck, blocking blood flow, damaging tissue, and so on – not good</a:t>
            </a:r>
          </a:p>
          <a:p>
            <a:endParaRPr lang="en-US" dirty="0"/>
          </a:p>
          <a:p>
            <a:r>
              <a:rPr lang="en-US" dirty="0"/>
              <a:t>So they transfer this person to the emergency department, where a bunch of things happen, not necessarily in the particular order I’m showing here</a:t>
            </a:r>
          </a:p>
          <a:p>
            <a:endParaRPr lang="en-US" dirty="0"/>
          </a:p>
          <a:p>
            <a:r>
              <a:rPr lang="en-US" dirty="0"/>
              <a:t>1, a provider is going to document the patient’s story, including all the details believed to be relevant to the current situation</a:t>
            </a:r>
          </a:p>
          <a:p>
            <a:r>
              <a:rPr lang="en-US" dirty="0"/>
              <a:t>This is going to include the patient’s broader medical history – other medical conditions, their medications, any allergies</a:t>
            </a:r>
          </a:p>
          <a:p>
            <a:r>
              <a:rPr lang="en-US" dirty="0"/>
              <a:t>As well as their social history and family history – what conditions do family members have</a:t>
            </a:r>
          </a:p>
          <a:p>
            <a:endParaRPr lang="en-US" dirty="0"/>
          </a:p>
          <a:p>
            <a:r>
              <a:rPr lang="en-US" dirty="0"/>
              <a:t>The provider will do a physical examination at some point, again with emphasis on the current situation, and they’ll do a review of systems – this is a head to toe review of patient covering all the different organ systems</a:t>
            </a:r>
          </a:p>
          <a:p>
            <a:endParaRPr lang="en-US" dirty="0"/>
          </a:p>
          <a:p>
            <a:r>
              <a:rPr lang="en-US" dirty="0"/>
              <a:t>They’re also going to get some lab results – in this case, they’ll get a basic metabolic panel, which is a very common, standard set of labs </a:t>
            </a:r>
            <a:r>
              <a:rPr lang="en-US" sz="1200" b="0" i="0" u="none" strike="noStrike" kern="1200" dirty="0">
                <a:solidFill>
                  <a:schemeClr val="tx1"/>
                </a:solidFill>
                <a:effectLst/>
                <a:latin typeface="+mn-lt"/>
                <a:ea typeface="+mn-ea"/>
                <a:cs typeface="+mn-cs"/>
              </a:rPr>
              <a:t>that summarizes your fluid and electrolyte status, kidney function, and blood sugar levels</a:t>
            </a:r>
          </a:p>
          <a:p>
            <a:r>
              <a:rPr lang="en-US" sz="1200" b="0" i="0" u="none" strike="noStrike" kern="1200" dirty="0">
                <a:solidFill>
                  <a:schemeClr val="tx1"/>
                </a:solidFill>
                <a:effectLst/>
                <a:latin typeface="+mn-lt"/>
                <a:ea typeface="+mn-ea"/>
                <a:cs typeface="+mn-cs"/>
              </a:rPr>
              <a:t>And they also get a complete blood count, which gives information about the cells in your blood – both white cells and red cells</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They’ll also get a CT scan of the lungs, which along with the labs will help them determine whether it’s really a pulmonary embolism versus something else, pinpoint the location, see the extent of the damage, and so on</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And this is a pretty serious issue, so this patient needs to be hospitalized – the emergency department is going to go ahead and admit them to the hospital</a:t>
            </a:r>
            <a:endParaRPr lang="en-US" dirty="0"/>
          </a:p>
        </p:txBody>
      </p:sp>
      <p:sp>
        <p:nvSpPr>
          <p:cNvPr id="4" name="Slide Number Placeholder 3"/>
          <p:cNvSpPr>
            <a:spLocks noGrp="1"/>
          </p:cNvSpPr>
          <p:nvPr>
            <p:ph type="sldNum" sz="quarter" idx="5"/>
          </p:nvPr>
        </p:nvSpPr>
        <p:spPr/>
        <p:txBody>
          <a:bodyPr/>
          <a:lstStyle/>
          <a:p>
            <a:fld id="{FA87938A-5C4B-C644-A452-8D4D784107A7}" type="slidenum">
              <a:rPr lang="en-US" smtClean="0"/>
              <a:t>8</a:t>
            </a:fld>
            <a:endParaRPr lang="en-US"/>
          </a:p>
        </p:txBody>
      </p:sp>
    </p:spTree>
    <p:extLst>
      <p:ext uri="{BB962C8B-B14F-4D97-AF65-F5344CB8AC3E}">
        <p14:creationId xmlns:p14="http://schemas.microsoft.com/office/powerpoint/2010/main" val="1553289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which parts of this story are going to make it into the structured data?</a:t>
            </a:r>
          </a:p>
          <a:p>
            <a:endParaRPr lang="en-US" dirty="0"/>
          </a:p>
          <a:p>
            <a:r>
              <a:rPr lang="en-US" dirty="0"/>
              <a:t>Well, we’ll see who the patient is -- their age, sex, race</a:t>
            </a:r>
          </a:p>
          <a:p>
            <a:r>
              <a:rPr lang="en-US" dirty="0"/>
              <a:t>We’ll see that they came to the emergency department, and that they were admitted from the ED</a:t>
            </a:r>
          </a:p>
          <a:p>
            <a:endParaRPr lang="en-US" dirty="0"/>
          </a:p>
          <a:p>
            <a:r>
              <a:rPr lang="en-US" dirty="0"/>
              <a:t>We’ll see diagnosis codes, so we SHOULD end up seeing codes related to pulmonary embolism, supposing that ends up being the issue</a:t>
            </a:r>
          </a:p>
          <a:p>
            <a:r>
              <a:rPr lang="en-US" dirty="0"/>
              <a:t>And we’ll see procedure codes – we’ll see that they got a CT, for example</a:t>
            </a:r>
          </a:p>
          <a:p>
            <a:endParaRPr lang="en-US" dirty="0"/>
          </a:p>
          <a:p>
            <a:r>
              <a:rPr lang="en-US" dirty="0"/>
              <a:t>We’ll even see the details of those labs – the exact electrolyte values, their white cell count, and so on</a:t>
            </a:r>
          </a:p>
          <a:p>
            <a:endParaRPr lang="en-US" dirty="0"/>
          </a:p>
          <a:p>
            <a:r>
              <a:rPr lang="en-US" dirty="0"/>
              <a:t>So, that’s a lot of information. But it is really a comprehensive summary of the encounter?</a:t>
            </a:r>
          </a:p>
          <a:p>
            <a:r>
              <a:rPr lang="en-US" dirty="0"/>
              <a:t>Let’s thing about what we WON’T see.</a:t>
            </a:r>
          </a:p>
        </p:txBody>
      </p:sp>
      <p:sp>
        <p:nvSpPr>
          <p:cNvPr id="4" name="Slide Number Placeholder 3"/>
          <p:cNvSpPr>
            <a:spLocks noGrp="1"/>
          </p:cNvSpPr>
          <p:nvPr>
            <p:ph type="sldNum" sz="quarter" idx="5"/>
          </p:nvPr>
        </p:nvSpPr>
        <p:spPr/>
        <p:txBody>
          <a:bodyPr/>
          <a:lstStyle/>
          <a:p>
            <a:fld id="{FA87938A-5C4B-C644-A452-8D4D784107A7}" type="slidenum">
              <a:rPr lang="en-US" smtClean="0"/>
              <a:t>9</a:t>
            </a:fld>
            <a:endParaRPr lang="en-US"/>
          </a:p>
        </p:txBody>
      </p:sp>
    </p:spTree>
    <p:extLst>
      <p:ext uri="{BB962C8B-B14F-4D97-AF65-F5344CB8AC3E}">
        <p14:creationId xmlns:p14="http://schemas.microsoft.com/office/powerpoint/2010/main" val="1433392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do that, let’s start by looking at patient’s story, as documented by a provider</a:t>
            </a:r>
          </a:p>
          <a:p>
            <a:endParaRPr lang="en-US" dirty="0"/>
          </a:p>
          <a:p>
            <a:r>
              <a:rPr lang="en-US" dirty="0"/>
              <a:t>This example I’m showing you is publicly available on the internet, written by a UNC medical student</a:t>
            </a:r>
          </a:p>
          <a:p>
            <a:r>
              <a:rPr lang="en-US" dirty="0"/>
              <a:t>as an example of how to write a history and physical, which is a detailed note covering all the elements I mentioned a moment ago</a:t>
            </a:r>
          </a:p>
          <a:p>
            <a:endParaRPr lang="en-US" dirty="0"/>
          </a:p>
          <a:p>
            <a:r>
              <a:rPr lang="en-US" dirty="0"/>
              <a:t>It’s also one of the note types required as part of the FHIR standard.</a:t>
            </a:r>
          </a:p>
          <a:p>
            <a:endParaRPr lang="en-US" dirty="0"/>
          </a:p>
          <a:p>
            <a:r>
              <a:rPr lang="en-US" dirty="0"/>
              <a:t>Now, if you read through this note, what you’ll find is that it’s very information dense.</a:t>
            </a:r>
          </a:p>
          <a:p>
            <a:r>
              <a:rPr lang="en-US" dirty="0"/>
              <a:t>There’s a ton of detailed information here, and all of it is potentially very important</a:t>
            </a:r>
          </a:p>
          <a:p>
            <a:endParaRPr lang="en-US" dirty="0"/>
          </a:p>
          <a:p>
            <a:r>
              <a:rPr lang="en-US" dirty="0"/>
              <a:t>We get his pain level and a description of the nature of the pain</a:t>
            </a:r>
          </a:p>
          <a:p>
            <a:r>
              <a:rPr lang="en-US" dirty="0"/>
              <a:t>We get subjective elements of his experience – a ”rattling” in his chest</a:t>
            </a:r>
          </a:p>
          <a:p>
            <a:endParaRPr lang="en-US" dirty="0"/>
          </a:p>
          <a:p>
            <a:r>
              <a:rPr lang="en-US" dirty="0"/>
              <a:t>We see that he had pneumonia about two months ago – this context may be very important to understand</a:t>
            </a:r>
          </a:p>
          <a:p>
            <a:endParaRPr lang="en-US" dirty="0"/>
          </a:p>
          <a:p>
            <a:r>
              <a:rPr lang="en-US" dirty="0"/>
              <a:t>Some of this makes it into structured fields, but more of it doesn’t</a:t>
            </a:r>
          </a:p>
        </p:txBody>
      </p:sp>
      <p:sp>
        <p:nvSpPr>
          <p:cNvPr id="4" name="Slide Number Placeholder 3"/>
          <p:cNvSpPr>
            <a:spLocks noGrp="1"/>
          </p:cNvSpPr>
          <p:nvPr>
            <p:ph type="sldNum" sz="quarter" idx="5"/>
          </p:nvPr>
        </p:nvSpPr>
        <p:spPr/>
        <p:txBody>
          <a:bodyPr/>
          <a:lstStyle/>
          <a:p>
            <a:fld id="{FA87938A-5C4B-C644-A452-8D4D784107A7}" type="slidenum">
              <a:rPr lang="en-US" smtClean="0"/>
              <a:t>10</a:t>
            </a:fld>
            <a:endParaRPr lang="en-US"/>
          </a:p>
        </p:txBody>
      </p:sp>
    </p:spTree>
    <p:extLst>
      <p:ext uri="{BB962C8B-B14F-4D97-AF65-F5344CB8AC3E}">
        <p14:creationId xmlns:p14="http://schemas.microsoft.com/office/powerpoint/2010/main" val="4011287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on, we see all those different elements I mentioned</a:t>
            </a:r>
          </a:p>
          <a:p>
            <a:r>
              <a:rPr lang="en-US" dirty="0"/>
              <a:t>His past medical history, medications, review of systems</a:t>
            </a:r>
          </a:p>
        </p:txBody>
      </p:sp>
      <p:sp>
        <p:nvSpPr>
          <p:cNvPr id="4" name="Slide Number Placeholder 3"/>
          <p:cNvSpPr>
            <a:spLocks noGrp="1"/>
          </p:cNvSpPr>
          <p:nvPr>
            <p:ph type="sldNum" sz="quarter" idx="5"/>
          </p:nvPr>
        </p:nvSpPr>
        <p:spPr/>
        <p:txBody>
          <a:bodyPr/>
          <a:lstStyle/>
          <a:p>
            <a:fld id="{FA87938A-5C4B-C644-A452-8D4D784107A7}" type="slidenum">
              <a:rPr lang="en-US" smtClean="0"/>
              <a:t>11</a:t>
            </a:fld>
            <a:endParaRPr lang="en-US"/>
          </a:p>
        </p:txBody>
      </p:sp>
    </p:spTree>
    <p:extLst>
      <p:ext uri="{BB962C8B-B14F-4D97-AF65-F5344CB8AC3E}">
        <p14:creationId xmlns:p14="http://schemas.microsoft.com/office/powerpoint/2010/main" val="1260909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 get to the assessment and plan --</a:t>
            </a:r>
          </a:p>
          <a:p>
            <a:r>
              <a:rPr lang="en-US" dirty="0"/>
              <a:t>This is the providers putting all the pieces together, summarizing the situation, and plotting next steps</a:t>
            </a:r>
          </a:p>
          <a:p>
            <a:endParaRPr lang="en-US" dirty="0"/>
          </a:p>
          <a:p>
            <a:r>
              <a:rPr lang="en-US" dirty="0"/>
              <a:t>The structured data will tell us a little bit about what they ended up doing, but it won’t really tell us why.</a:t>
            </a:r>
          </a:p>
          <a:p>
            <a:r>
              <a:rPr lang="en-US" dirty="0"/>
              <a:t>Here we get quite a bit of insight into the details of their thought process at the time.</a:t>
            </a:r>
          </a:p>
          <a:p>
            <a:endParaRPr lang="en-US" dirty="0"/>
          </a:p>
          <a:p>
            <a:r>
              <a:rPr lang="en-US" dirty="0"/>
              <a:t>This is not something you’ll find in a csv file</a:t>
            </a:r>
          </a:p>
        </p:txBody>
      </p:sp>
      <p:sp>
        <p:nvSpPr>
          <p:cNvPr id="4" name="Slide Number Placeholder 3"/>
          <p:cNvSpPr>
            <a:spLocks noGrp="1"/>
          </p:cNvSpPr>
          <p:nvPr>
            <p:ph type="sldNum" sz="quarter" idx="5"/>
          </p:nvPr>
        </p:nvSpPr>
        <p:spPr/>
        <p:txBody>
          <a:bodyPr/>
          <a:lstStyle/>
          <a:p>
            <a:fld id="{FA87938A-5C4B-C644-A452-8D4D784107A7}" type="slidenum">
              <a:rPr lang="en-US" smtClean="0"/>
              <a:t>12</a:t>
            </a:fld>
            <a:endParaRPr lang="en-US"/>
          </a:p>
        </p:txBody>
      </p:sp>
    </p:spTree>
    <p:extLst>
      <p:ext uri="{BB962C8B-B14F-4D97-AF65-F5344CB8AC3E}">
        <p14:creationId xmlns:p14="http://schemas.microsoft.com/office/powerpoint/2010/main" val="26270387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might think – well, this is interesting, and maybe it was very important at the time, but is it really important for the kinds of things that I want to do with the data.</a:t>
            </a:r>
          </a:p>
          <a:p>
            <a:endParaRPr lang="en-US" dirty="0"/>
          </a:p>
          <a:p>
            <a:r>
              <a:rPr lang="en-US" dirty="0"/>
              <a:t>And of course it depends on what you’re doing, exactly, but in general the answer it YES – it matters more than you might think</a:t>
            </a:r>
          </a:p>
          <a:p>
            <a:endParaRPr lang="en-US" dirty="0"/>
          </a:p>
          <a:p>
            <a:r>
              <a:rPr lang="en-US" dirty="0"/>
              <a:t>Here’s the key finding of a recent JAMIA paper focused on identifying cardiovascular diseases and procedures from EHR data</a:t>
            </a:r>
          </a:p>
          <a:p>
            <a:r>
              <a:rPr lang="en-US" dirty="0"/>
              <a:t>Each of these concepts was identified by chart review by clinical expert annotators</a:t>
            </a:r>
          </a:p>
          <a:p>
            <a:endParaRPr lang="en-US" dirty="0"/>
          </a:p>
          <a:p>
            <a:r>
              <a:rPr lang="en-US" dirty="0"/>
              <a:t>And then they train models to identify those concepts based on</a:t>
            </a:r>
          </a:p>
          <a:p>
            <a:r>
              <a:rPr lang="en-US" dirty="0"/>
              <a:t>(a) structured data – this is “EHR-S”</a:t>
            </a:r>
          </a:p>
          <a:p>
            <a:r>
              <a:rPr lang="en-US" dirty="0"/>
              <a:t>And (b) clinical notes – this is “EHR-U”</a:t>
            </a:r>
          </a:p>
          <a:p>
            <a:endParaRPr lang="en-US" dirty="0"/>
          </a:p>
          <a:p>
            <a:r>
              <a:rPr lang="en-US" dirty="0"/>
              <a:t>Their findings tell a pretty consistent and compelling story</a:t>
            </a:r>
          </a:p>
          <a:p>
            <a:endParaRPr lang="en-US" dirty="0"/>
          </a:p>
          <a:p>
            <a:r>
              <a:rPr lang="en-US" dirty="0"/>
              <a:t>Both approaches do pretty well in terms of precision – also known as positive predictive value – in other words, both models are usually right when they tell you they’ve identified one of these concepts</a:t>
            </a:r>
          </a:p>
          <a:p>
            <a:r>
              <a:rPr lang="en-US" dirty="0"/>
              <a:t>However, the recall – aka the sensitivity – is FAR better for the unstructured models</a:t>
            </a:r>
          </a:p>
          <a:p>
            <a:endParaRPr lang="en-US" dirty="0"/>
          </a:p>
          <a:p>
            <a:r>
              <a:rPr lang="en-US" dirty="0"/>
              <a:t>Very often, the structured data models miss it</a:t>
            </a:r>
          </a:p>
          <a:p>
            <a:r>
              <a:rPr lang="en-US" dirty="0"/>
              <a:t>And if you look through the details, they do a good job building these models</a:t>
            </a:r>
          </a:p>
          <a:p>
            <a:r>
              <a:rPr lang="en-US" dirty="0"/>
              <a:t>The issue is not the models themselves – it’s that the structured data very often doesn’t contain the relevant information. It’s only found in the notes.</a:t>
            </a:r>
          </a:p>
        </p:txBody>
      </p:sp>
      <p:sp>
        <p:nvSpPr>
          <p:cNvPr id="4" name="Slide Number Placeholder 3"/>
          <p:cNvSpPr>
            <a:spLocks noGrp="1"/>
          </p:cNvSpPr>
          <p:nvPr>
            <p:ph type="sldNum" sz="quarter" idx="5"/>
          </p:nvPr>
        </p:nvSpPr>
        <p:spPr/>
        <p:txBody>
          <a:bodyPr/>
          <a:lstStyle/>
          <a:p>
            <a:fld id="{FA87938A-5C4B-C644-A452-8D4D784107A7}" type="slidenum">
              <a:rPr lang="en-US" smtClean="0"/>
              <a:t>13</a:t>
            </a:fld>
            <a:endParaRPr lang="en-US"/>
          </a:p>
        </p:txBody>
      </p:sp>
    </p:spTree>
    <p:extLst>
      <p:ext uri="{BB962C8B-B14F-4D97-AF65-F5344CB8AC3E}">
        <p14:creationId xmlns:p14="http://schemas.microsoft.com/office/powerpoint/2010/main" val="3117910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so hopefully I’ve convinced you that the notes matter</a:t>
            </a:r>
          </a:p>
          <a:p>
            <a:r>
              <a:rPr lang="en-US" dirty="0"/>
              <a:t>What about images?</a:t>
            </a:r>
          </a:p>
          <a:p>
            <a:endParaRPr lang="en-US" dirty="0"/>
          </a:p>
          <a:p>
            <a:r>
              <a:rPr lang="en-US" dirty="0"/>
              <a:t>Going back to our case, we know this patient also had a CT scan</a:t>
            </a:r>
          </a:p>
        </p:txBody>
      </p:sp>
      <p:sp>
        <p:nvSpPr>
          <p:cNvPr id="4" name="Slide Number Placeholder 3"/>
          <p:cNvSpPr>
            <a:spLocks noGrp="1"/>
          </p:cNvSpPr>
          <p:nvPr>
            <p:ph type="sldNum" sz="quarter" idx="5"/>
          </p:nvPr>
        </p:nvSpPr>
        <p:spPr/>
        <p:txBody>
          <a:bodyPr/>
          <a:lstStyle/>
          <a:p>
            <a:fld id="{FA87938A-5C4B-C644-A452-8D4D784107A7}" type="slidenum">
              <a:rPr lang="en-US" smtClean="0"/>
              <a:t>14</a:t>
            </a:fld>
            <a:endParaRPr lang="en-US"/>
          </a:p>
        </p:txBody>
      </p:sp>
    </p:spTree>
    <p:extLst>
      <p:ext uri="{BB962C8B-B14F-4D97-AF65-F5344CB8AC3E}">
        <p14:creationId xmlns:p14="http://schemas.microsoft.com/office/powerpoint/2010/main" val="3944349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CT slice – this is coming from a really useful site called </a:t>
            </a:r>
            <a:r>
              <a:rPr lang="en-US" dirty="0" err="1"/>
              <a:t>radiopedia</a:t>
            </a:r>
            <a:r>
              <a:rPr lang="en-US" dirty="0"/>
              <a:t> – that shows a large blood clot sitting over the first branching of the main pulmonary artery</a:t>
            </a:r>
          </a:p>
          <a:p>
            <a:r>
              <a:rPr lang="en-US" dirty="0"/>
              <a:t>Reading a CT is a little beyond the current scope, but here we’re looking at a slice of a patient who’s lying down, with their feet coming out toward you, if you could see them</a:t>
            </a:r>
          </a:p>
          <a:p>
            <a:r>
              <a:rPr lang="en-US" dirty="0"/>
              <a:t>And the dark areas on either side of the center are lung tissue</a:t>
            </a:r>
          </a:p>
          <a:p>
            <a:endParaRPr lang="en-US" dirty="0"/>
          </a:p>
          <a:p>
            <a:r>
              <a:rPr lang="en-US" dirty="0"/>
              <a:t>So again, think about all the information that’s contained in this image</a:t>
            </a:r>
          </a:p>
          <a:p>
            <a:r>
              <a:rPr lang="en-US" dirty="0"/>
              <a:t>Which might be a bit difficult if you’re not a radiologist</a:t>
            </a:r>
          </a:p>
          <a:p>
            <a:endParaRPr lang="en-US" dirty="0"/>
          </a:p>
          <a:p>
            <a:r>
              <a:rPr lang="en-US" dirty="0"/>
              <a:t>But it shouldn’t be too hard to convince yourself that there’s a ton information here about the physical characteristics of the blood clot, the surrounding vessels and tissue, and this patient’s anatomy</a:t>
            </a:r>
          </a:p>
          <a:p>
            <a:r>
              <a:rPr lang="en-US" dirty="0"/>
              <a:t>1000 words wouldn’t be nearly enough to describe it all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little to none of this information makes it into structured fields</a:t>
            </a:r>
          </a:p>
          <a:p>
            <a:r>
              <a:rPr lang="en-US" dirty="0"/>
              <a:t>The structured data tells us that the CT scan happened, and what was done as a result – that’s about it.</a:t>
            </a:r>
          </a:p>
          <a:p>
            <a:endParaRPr lang="en-US" dirty="0"/>
          </a:p>
          <a:p>
            <a:r>
              <a:rPr lang="en-US" dirty="0"/>
              <a:t>Now, on top of the scan itself, there will be a note with the radiologist’s description of the image and their interpretation</a:t>
            </a:r>
          </a:p>
          <a:p>
            <a:r>
              <a:rPr lang="en-US" dirty="0"/>
              <a:t>So, if we use that note, we get part of the way there – we get information about this scan, as interpreted by the radiologist, that is not found in structured fields</a:t>
            </a:r>
          </a:p>
          <a:p>
            <a:endParaRPr lang="en-US" dirty="0"/>
          </a:p>
          <a:p>
            <a:r>
              <a:rPr lang="en-US" dirty="0"/>
              <a:t>Even so, the original scan of course contains more information than the radiologist’s note – at the end of the day, both are very valuable</a:t>
            </a:r>
          </a:p>
        </p:txBody>
      </p:sp>
      <p:sp>
        <p:nvSpPr>
          <p:cNvPr id="4" name="Slide Number Placeholder 3"/>
          <p:cNvSpPr>
            <a:spLocks noGrp="1"/>
          </p:cNvSpPr>
          <p:nvPr>
            <p:ph type="sldNum" sz="quarter" idx="5"/>
          </p:nvPr>
        </p:nvSpPr>
        <p:spPr/>
        <p:txBody>
          <a:bodyPr/>
          <a:lstStyle/>
          <a:p>
            <a:fld id="{FA87938A-5C4B-C644-A452-8D4D784107A7}" type="slidenum">
              <a:rPr lang="en-US" smtClean="0"/>
              <a:t>15</a:t>
            </a:fld>
            <a:endParaRPr lang="en-US"/>
          </a:p>
        </p:txBody>
      </p:sp>
    </p:spTree>
    <p:extLst>
      <p:ext uri="{BB962C8B-B14F-4D97-AF65-F5344CB8AC3E}">
        <p14:creationId xmlns:p14="http://schemas.microsoft.com/office/powerpoint/2010/main" val="38840253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dirty="0"/>
              <a:t>But as before, we don’t really need to speculate about the value of information in images, or our ability to extract this information</a:t>
            </a:r>
          </a:p>
          <a:p>
            <a:pPr marL="171450" indent="-171450">
              <a:buFontTx/>
              <a:buChar char="-"/>
            </a:pPr>
            <a:endParaRPr lang="en-US" baseline="0" dirty="0"/>
          </a:p>
          <a:p>
            <a:pPr marL="171450" indent="-171450">
              <a:buFontTx/>
              <a:buChar char="-"/>
            </a:pPr>
            <a:r>
              <a:rPr lang="en-US" baseline="0" dirty="0"/>
              <a:t>Over the last few years, we’ve seen quite a few results showing that deep neural networks, if given a sufficiently large dataset to learn from -- are capable of analyzing medical images as well as – or in some cases, better than – trained specialists</a:t>
            </a:r>
          </a:p>
          <a:p>
            <a:pPr marL="171450" indent="-171450">
              <a:buFontTx/>
              <a:buChar char="-"/>
            </a:pPr>
            <a:endParaRPr lang="en-US" baseline="0" dirty="0"/>
          </a:p>
          <a:p>
            <a:pPr marL="171450" indent="-171450">
              <a:buFontTx/>
              <a:buChar char="-"/>
            </a:pPr>
            <a:r>
              <a:rPr lang="en-US" baseline="0" dirty="0"/>
              <a:t>Here we see the performance of a model that takes a fundoscopic image – that is, an image of the back of the eye – and predicts whether the patient has referrable diabetic retinopathy.</a:t>
            </a:r>
          </a:p>
          <a:p>
            <a:pPr marL="171450" indent="-171450">
              <a:buFontTx/>
              <a:buChar char="-"/>
            </a:pPr>
            <a:r>
              <a:rPr lang="en-US" baseline="0" dirty="0"/>
              <a:t>In this case, we see that the sensitivity and specificity of the model are on par with retina specialists</a:t>
            </a:r>
          </a:p>
          <a:p>
            <a:pPr marL="171450" indent="-171450">
              <a:buFontTx/>
              <a:buChar char="-"/>
            </a:pPr>
            <a:endParaRPr lang="en-US" baseline="0" dirty="0"/>
          </a:p>
          <a:p>
            <a:pPr marL="171450" indent="-171450">
              <a:buFontTx/>
              <a:buChar char="-"/>
            </a:pPr>
            <a:r>
              <a:rPr lang="en-US" baseline="0" dirty="0"/>
              <a:t>And similar findings have been observed in dermatology – a deep neural network was able to identify malignant skin lesions as well as trained dermatologists – as well as in pathology, radiology, </a:t>
            </a:r>
            <a:r>
              <a:rPr lang="en-US" baseline="0" dirty="0" err="1"/>
              <a:t>etc</a:t>
            </a:r>
            <a:endParaRPr lang="en-US" baseline="0" dirty="0"/>
          </a:p>
          <a:p>
            <a:pPr marL="171450" indent="-171450">
              <a:buFontTx/>
              <a:buChar char="-"/>
            </a:pPr>
            <a:r>
              <a:rPr lang="en-US" baseline="0" dirty="0"/>
              <a:t>These results hold only for very specific scenarios and again, they also require large amounts of training data</a:t>
            </a:r>
          </a:p>
          <a:p>
            <a:pPr marL="171450" indent="-171450">
              <a:buFontTx/>
              <a:buChar char="-"/>
            </a:pPr>
            <a:endParaRPr lang="en-US" baseline="0" dirty="0"/>
          </a:p>
          <a:p>
            <a:pPr marL="171450" indent="-171450">
              <a:buFontTx/>
              <a:buChar char="-"/>
            </a:pPr>
            <a:r>
              <a:rPr lang="en-US" baseline="0" dirty="0"/>
              <a:t>Nevertheless, it’s very clear that there’s information in these images that you wouldn’t get from going over a patient’s previous medical history and other information previously captured in structured fields</a:t>
            </a:r>
          </a:p>
        </p:txBody>
      </p:sp>
      <p:sp>
        <p:nvSpPr>
          <p:cNvPr id="4" name="Slide Number Placeholder 3"/>
          <p:cNvSpPr>
            <a:spLocks noGrp="1"/>
          </p:cNvSpPr>
          <p:nvPr>
            <p:ph type="sldNum" sz="quarter" idx="10"/>
          </p:nvPr>
        </p:nvSpPr>
        <p:spPr/>
        <p:txBody>
          <a:bodyPr/>
          <a:lstStyle/>
          <a:p>
            <a:fld id="{0175F3A6-6971-5D47-A3A5-1EDC47BAF5FB}" type="slidenum">
              <a:rPr lang="en-US" smtClean="0"/>
              <a:t>16</a:t>
            </a:fld>
            <a:endParaRPr lang="en-US"/>
          </a:p>
        </p:txBody>
      </p:sp>
    </p:spTree>
    <p:extLst>
      <p:ext uri="{BB962C8B-B14F-4D97-AF65-F5344CB8AC3E}">
        <p14:creationId xmlns:p14="http://schemas.microsoft.com/office/powerpoint/2010/main" val="17964652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going back to our snapshot once more, we do see that this patient had an EKG – an electrocardiogram</a:t>
            </a:r>
          </a:p>
          <a:p>
            <a:endParaRPr lang="en-US" dirty="0"/>
          </a:p>
        </p:txBody>
      </p:sp>
      <p:sp>
        <p:nvSpPr>
          <p:cNvPr id="4" name="Slide Number Placeholder 3"/>
          <p:cNvSpPr>
            <a:spLocks noGrp="1"/>
          </p:cNvSpPr>
          <p:nvPr>
            <p:ph type="sldNum" sz="quarter" idx="5"/>
          </p:nvPr>
        </p:nvSpPr>
        <p:spPr/>
        <p:txBody>
          <a:bodyPr/>
          <a:lstStyle/>
          <a:p>
            <a:fld id="{FA87938A-5C4B-C644-A452-8D4D784107A7}" type="slidenum">
              <a:rPr lang="en-US" smtClean="0"/>
              <a:t>17</a:t>
            </a:fld>
            <a:endParaRPr lang="en-US"/>
          </a:p>
        </p:txBody>
      </p:sp>
    </p:spTree>
    <p:extLst>
      <p:ext uri="{BB962C8B-B14F-4D97-AF65-F5344CB8AC3E}">
        <p14:creationId xmlns:p14="http://schemas.microsoft.com/office/powerpoint/2010/main" val="8016118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focus less on electrophysiologic studies today, but suffice to say that an analogous argument holds for these data as well</a:t>
            </a:r>
          </a:p>
          <a:p>
            <a:r>
              <a:rPr lang="en-US" dirty="0"/>
              <a:t>Each of these studies generates a multi-dimensional physiologic time series that contains much more information than the resulting report</a:t>
            </a:r>
          </a:p>
          <a:p>
            <a:endParaRPr lang="en-US" dirty="0"/>
          </a:p>
          <a:p>
            <a:r>
              <a:rPr lang="en-US" dirty="0"/>
              <a:t>And in each case, the value of these data across a range of prediction tasks has been demonstrated in the biomedical literature. In fact, models for these data are fairly similar to the models that are used for image processing</a:t>
            </a:r>
          </a:p>
          <a:p>
            <a:r>
              <a:rPr lang="en-US" dirty="0"/>
              <a:t>I’m focusing even less on digital </a:t>
            </a:r>
            <a:r>
              <a:rPr lang="en-US" dirty="0" err="1"/>
              <a:t>heatlh</a:t>
            </a:r>
            <a:r>
              <a:rPr lang="en-US" dirty="0"/>
              <a:t> data in this lecture – that is, data captured by wearable devices and pertaining to the wearer’s physiology</a:t>
            </a:r>
          </a:p>
          <a:p>
            <a:r>
              <a:rPr lang="en-US" dirty="0"/>
              <a:t>But the same arguments hold for digital </a:t>
            </a:r>
            <a:r>
              <a:rPr lang="en-US" dirty="0" err="1"/>
              <a:t>heatlh</a:t>
            </a:r>
            <a:r>
              <a:rPr lang="en-US" dirty="0"/>
              <a:t> data, too, and we anticipate seeing these data integrated in EHR systems in the near future</a:t>
            </a:r>
          </a:p>
        </p:txBody>
      </p:sp>
      <p:sp>
        <p:nvSpPr>
          <p:cNvPr id="4" name="Slide Number Placeholder 3"/>
          <p:cNvSpPr>
            <a:spLocks noGrp="1"/>
          </p:cNvSpPr>
          <p:nvPr>
            <p:ph type="sldNum" sz="quarter" idx="5"/>
          </p:nvPr>
        </p:nvSpPr>
        <p:spPr/>
        <p:txBody>
          <a:bodyPr/>
          <a:lstStyle/>
          <a:p>
            <a:fld id="{FA87938A-5C4B-C644-A452-8D4D784107A7}" type="slidenum">
              <a:rPr lang="en-US" smtClean="0"/>
              <a:t>18</a:t>
            </a:fld>
            <a:endParaRPr lang="en-US"/>
          </a:p>
        </p:txBody>
      </p:sp>
    </p:spTree>
    <p:extLst>
      <p:ext uri="{BB962C8B-B14F-4D97-AF65-F5344CB8AC3E}">
        <p14:creationId xmlns:p14="http://schemas.microsoft.com/office/powerpoint/2010/main" val="9282394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moving on to HOW we can use unstructured data, let’s take a last, quick, 10000 ft view of why this is a good idea</a:t>
            </a:r>
          </a:p>
          <a:p>
            <a:endParaRPr lang="en-US" dirty="0"/>
          </a:p>
          <a:p>
            <a:r>
              <a:rPr lang="en-US" dirty="0"/>
              <a:t>The first reason, and the one I’ve emphasized most here, is that these data contain information that’s not found in structured fields, yet is useful for a wide variety of analyses and prediction tasks</a:t>
            </a:r>
          </a:p>
          <a:p>
            <a:r>
              <a:rPr lang="en-US" dirty="0"/>
              <a:t>Now, the importance of that data compared to the structured data depends on the task, and knowing whether and when different data elements are likely to be important really depends on clinical knowledge</a:t>
            </a:r>
          </a:p>
          <a:p>
            <a:endParaRPr lang="en-US" dirty="0"/>
          </a:p>
          <a:p>
            <a:r>
              <a:rPr lang="en-US" dirty="0"/>
              <a:t>As a rule of thumb, it’s good to assume that these data MIGHT be important</a:t>
            </a:r>
          </a:p>
          <a:p>
            <a:r>
              <a:rPr lang="en-US" dirty="0"/>
              <a:t>So, when both structured and unstructured data are available, it often make sense to first build a simple model that uses structured data only</a:t>
            </a:r>
          </a:p>
          <a:p>
            <a:r>
              <a:rPr lang="en-US" dirty="0"/>
              <a:t>then see whether you get an improvement from adding an unstructured data modality that you hypothesize may be relevant. We’ll take a look at how to do that in just a moment.</a:t>
            </a:r>
          </a:p>
          <a:p>
            <a:endParaRPr lang="en-US" dirty="0"/>
          </a:p>
          <a:p>
            <a:r>
              <a:rPr lang="en-US" dirty="0"/>
              <a:t>But there are a couple other reasons we might use unstructured data</a:t>
            </a:r>
          </a:p>
          <a:p>
            <a:endParaRPr lang="en-US" dirty="0"/>
          </a:p>
          <a:p>
            <a:r>
              <a:rPr lang="en-US" dirty="0"/>
              <a:t>Reason 2 is that although we might be accessing the data through an EHR system initially, it might be possible to obtain similar data outside of an HER setting as well</a:t>
            </a:r>
          </a:p>
          <a:p>
            <a:r>
              <a:rPr lang="en-US" dirty="0"/>
              <a:t>If we find we can predict malignancy from images of skin lesions available in the HER, for example, we might ultimately aim to adapt and deploy the resulting model in a smartphone app</a:t>
            </a:r>
          </a:p>
          <a:p>
            <a:endParaRPr lang="en-US" dirty="0"/>
          </a:p>
          <a:p>
            <a:r>
              <a:rPr lang="en-US" dirty="0"/>
              <a:t>Finally, a third reason is that in some cases, we want to use unstructured, raw data exactly BECAUSE it has not been interpreted by a provider</a:t>
            </a:r>
          </a:p>
          <a:p>
            <a:r>
              <a:rPr lang="en-US" dirty="0"/>
              <a:t>Most structured data elements are affected by provider decision-making – if the provider things the patient has a PE, they’ll order different labs than if they think the patient had a heart attack</a:t>
            </a:r>
          </a:p>
          <a:p>
            <a:r>
              <a:rPr lang="en-US" dirty="0"/>
              <a:t>In most cases, this is helpful -- we want to take advantage of this information</a:t>
            </a:r>
          </a:p>
          <a:p>
            <a:r>
              <a:rPr lang="en-US" dirty="0"/>
              <a:t>But in other cases – prediction of referable diabetic retinopathy, going back to our earlier example – our goal is just the opposite – we want to see whether an algorithm can identify the condition WITHOUT the retina specialist’s interpretation</a:t>
            </a:r>
          </a:p>
          <a:p>
            <a:r>
              <a:rPr lang="en-US" dirty="0"/>
              <a:t>If that’s the case, we need to avoid structured elements that reflect provider decisions – and instead work only from that fundoscopic image</a:t>
            </a:r>
          </a:p>
        </p:txBody>
      </p:sp>
      <p:sp>
        <p:nvSpPr>
          <p:cNvPr id="4" name="Slide Number Placeholder 3"/>
          <p:cNvSpPr>
            <a:spLocks noGrp="1"/>
          </p:cNvSpPr>
          <p:nvPr>
            <p:ph type="sldNum" sz="quarter" idx="5"/>
          </p:nvPr>
        </p:nvSpPr>
        <p:spPr/>
        <p:txBody>
          <a:bodyPr/>
          <a:lstStyle/>
          <a:p>
            <a:fld id="{FA87938A-5C4B-C644-A452-8D4D784107A7}" type="slidenum">
              <a:rPr lang="en-US" smtClean="0"/>
              <a:t>19</a:t>
            </a:fld>
            <a:endParaRPr lang="en-US"/>
          </a:p>
        </p:txBody>
      </p:sp>
    </p:spTree>
    <p:extLst>
      <p:ext uri="{BB962C8B-B14F-4D97-AF65-F5344CB8AC3E}">
        <p14:creationId xmlns:p14="http://schemas.microsoft.com/office/powerpoint/2010/main" val="42903252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multi-modal data?</a:t>
            </a:r>
          </a:p>
          <a:p>
            <a:endParaRPr lang="en-US" dirty="0"/>
          </a:p>
          <a:p>
            <a:r>
              <a:rPr lang="en-US" dirty="0"/>
              <a:t>In some cases, there’s overlap between them</a:t>
            </a:r>
          </a:p>
          <a:p>
            <a:r>
              <a:rPr lang="en-US" dirty="0"/>
              <a:t>But in many cases, each modality contains distinct information</a:t>
            </a:r>
          </a:p>
          <a:p>
            <a:r>
              <a:rPr lang="en-US" dirty="0"/>
              <a:t>That may be important to decision-making</a:t>
            </a:r>
          </a:p>
          <a:p>
            <a:endParaRPr lang="en-US" dirty="0"/>
          </a:p>
          <a:p>
            <a:r>
              <a:rPr lang="en-US" dirty="0"/>
              <a:t>So ideally we’d like to have methods that consider all modalities together</a:t>
            </a:r>
          </a:p>
          <a:p>
            <a:r>
              <a:rPr lang="en-US" dirty="0"/>
              <a:t>And synthesize it</a:t>
            </a:r>
          </a:p>
          <a:p>
            <a:r>
              <a:rPr lang="en-US" dirty="0"/>
              <a:t>Including by retaining information about what’s shared between modalities, and what’s distinct</a:t>
            </a:r>
          </a:p>
          <a:p>
            <a:endParaRPr lang="en-US" dirty="0"/>
          </a:p>
        </p:txBody>
      </p:sp>
      <p:sp>
        <p:nvSpPr>
          <p:cNvPr id="4" name="Slide Number Placeholder 3"/>
          <p:cNvSpPr>
            <a:spLocks noGrp="1"/>
          </p:cNvSpPr>
          <p:nvPr>
            <p:ph type="sldNum" sz="quarter" idx="5"/>
          </p:nvPr>
        </p:nvSpPr>
        <p:spPr/>
        <p:txBody>
          <a:bodyPr/>
          <a:lstStyle/>
          <a:p>
            <a:fld id="{FA87938A-5C4B-C644-A452-8D4D784107A7}" type="slidenum">
              <a:rPr lang="en-US" smtClean="0"/>
              <a:t>20</a:t>
            </a:fld>
            <a:endParaRPr lang="en-US"/>
          </a:p>
        </p:txBody>
      </p:sp>
    </p:spTree>
    <p:extLst>
      <p:ext uri="{BB962C8B-B14F-4D97-AF65-F5344CB8AC3E}">
        <p14:creationId xmlns:p14="http://schemas.microsoft.com/office/powerpoint/2010/main" val="33756228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EHR, and in real life, data are collected over time, in sequence</a:t>
            </a:r>
          </a:p>
          <a:p>
            <a:r>
              <a:rPr lang="en-US" dirty="0"/>
              <a:t>We might see a lab test (diagnostic reasoning)</a:t>
            </a:r>
          </a:p>
          <a:p>
            <a:r>
              <a:rPr lang="en-US" dirty="0"/>
              <a:t>Followed by a dx code (making a dx, or billing)</a:t>
            </a:r>
          </a:p>
          <a:p>
            <a:r>
              <a:rPr lang="en-US" dirty="0"/>
              <a:t>Followed by a medication indicating a decision about treatment</a:t>
            </a:r>
          </a:p>
          <a:p>
            <a:endParaRPr lang="en-US" dirty="0"/>
          </a:p>
          <a:p>
            <a:r>
              <a:rPr lang="en-US" dirty="0"/>
              <a:t>If we focus on structured data only, this is ALL we’ll see</a:t>
            </a:r>
          </a:p>
        </p:txBody>
      </p:sp>
      <p:sp>
        <p:nvSpPr>
          <p:cNvPr id="4" name="Slide Number Placeholder 3"/>
          <p:cNvSpPr>
            <a:spLocks noGrp="1"/>
          </p:cNvSpPr>
          <p:nvPr>
            <p:ph type="sldNum" sz="quarter" idx="5"/>
          </p:nvPr>
        </p:nvSpPr>
        <p:spPr/>
        <p:txBody>
          <a:bodyPr/>
          <a:lstStyle/>
          <a:p>
            <a:fld id="{FA87938A-5C4B-C644-A452-8D4D784107A7}" type="slidenum">
              <a:rPr lang="en-US" smtClean="0"/>
              <a:t>21</a:t>
            </a:fld>
            <a:endParaRPr lang="en-US"/>
          </a:p>
        </p:txBody>
      </p:sp>
    </p:spTree>
    <p:extLst>
      <p:ext uri="{BB962C8B-B14F-4D97-AF65-F5344CB8AC3E}">
        <p14:creationId xmlns:p14="http://schemas.microsoft.com/office/powerpoint/2010/main" val="24373801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adding the unstructured data to this timeline</a:t>
            </a:r>
          </a:p>
          <a:p>
            <a:r>
              <a:rPr lang="en-US" dirty="0"/>
              <a:t>A much richer picture emerges</a:t>
            </a:r>
          </a:p>
          <a:p>
            <a:endParaRPr lang="en-US" dirty="0"/>
          </a:p>
          <a:p>
            <a:r>
              <a:rPr lang="en-US" dirty="0"/>
              <a:t>We see not just what providers did, but have much more evidence as to why</a:t>
            </a:r>
          </a:p>
          <a:p>
            <a:r>
              <a:rPr lang="en-US" dirty="0"/>
              <a:t>Both from the raw findings, e.g. images</a:t>
            </a:r>
          </a:p>
          <a:p>
            <a:r>
              <a:rPr lang="en-US" dirty="0"/>
              <a:t>And in notes, which often describe the rationale</a:t>
            </a:r>
          </a:p>
          <a:p>
            <a:endParaRPr lang="en-US" dirty="0"/>
          </a:p>
          <a:p>
            <a:r>
              <a:rPr lang="en-US" dirty="0"/>
              <a:t>It’s this kind of rich, multi-modal timeline that we want our AI methods</a:t>
            </a:r>
          </a:p>
          <a:p>
            <a:r>
              <a:rPr lang="en-US" dirty="0"/>
              <a:t>To be able to make sense of</a:t>
            </a:r>
          </a:p>
        </p:txBody>
      </p:sp>
      <p:sp>
        <p:nvSpPr>
          <p:cNvPr id="4" name="Slide Number Placeholder 3"/>
          <p:cNvSpPr>
            <a:spLocks noGrp="1"/>
          </p:cNvSpPr>
          <p:nvPr>
            <p:ph type="sldNum" sz="quarter" idx="5"/>
          </p:nvPr>
        </p:nvSpPr>
        <p:spPr/>
        <p:txBody>
          <a:bodyPr/>
          <a:lstStyle/>
          <a:p>
            <a:fld id="{FA87938A-5C4B-C644-A452-8D4D784107A7}" type="slidenum">
              <a:rPr lang="en-US" smtClean="0"/>
              <a:t>22</a:t>
            </a:fld>
            <a:endParaRPr lang="en-US"/>
          </a:p>
        </p:txBody>
      </p:sp>
    </p:spTree>
    <p:extLst>
      <p:ext uri="{BB962C8B-B14F-4D97-AF65-F5344CB8AC3E}">
        <p14:creationId xmlns:p14="http://schemas.microsoft.com/office/powerpoint/2010/main" val="5722579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let’s think about how we can do that</a:t>
            </a:r>
          </a:p>
          <a:p>
            <a:endParaRPr lang="en-US" dirty="0"/>
          </a:p>
          <a:p>
            <a:r>
              <a:rPr lang="en-US" dirty="0"/>
              <a:t>And as previously mentioned, we’ll move from systems that are more special purpose</a:t>
            </a:r>
          </a:p>
          <a:p>
            <a:r>
              <a:rPr lang="en-US" dirty="0"/>
              <a:t>Meaning they solve one prediction task based on one type of data (one modality)</a:t>
            </a:r>
          </a:p>
          <a:p>
            <a:r>
              <a:rPr lang="en-US" dirty="0"/>
              <a:t>To systems that are increasingly general</a:t>
            </a:r>
          </a:p>
          <a:p>
            <a:endParaRPr lang="en-US" dirty="0"/>
          </a:p>
          <a:p>
            <a:r>
              <a:rPr lang="en-US" dirty="0"/>
              <a:t>Let’s begin with with models that focus on one prediction task from one type of data</a:t>
            </a:r>
          </a:p>
          <a:p>
            <a:r>
              <a:rPr lang="en-US" dirty="0"/>
              <a:t>“task-specific, single-modality”</a:t>
            </a:r>
          </a:p>
        </p:txBody>
      </p:sp>
      <p:sp>
        <p:nvSpPr>
          <p:cNvPr id="4" name="Slide Number Placeholder 3"/>
          <p:cNvSpPr>
            <a:spLocks noGrp="1"/>
          </p:cNvSpPr>
          <p:nvPr>
            <p:ph type="sldNum" sz="quarter" idx="5"/>
          </p:nvPr>
        </p:nvSpPr>
        <p:spPr/>
        <p:txBody>
          <a:bodyPr/>
          <a:lstStyle/>
          <a:p>
            <a:fld id="{FA87938A-5C4B-C644-A452-8D4D784107A7}" type="slidenum">
              <a:rPr lang="en-US" smtClean="0"/>
              <a:t>23</a:t>
            </a:fld>
            <a:endParaRPr lang="en-US"/>
          </a:p>
        </p:txBody>
      </p:sp>
    </p:spTree>
    <p:extLst>
      <p:ext uri="{BB962C8B-B14F-4D97-AF65-F5344CB8AC3E}">
        <p14:creationId xmlns:p14="http://schemas.microsoft.com/office/powerpoint/2010/main" val="16690921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your typical prediction models</a:t>
            </a:r>
          </a:p>
          <a:p>
            <a:endParaRPr lang="en-US" dirty="0"/>
          </a:p>
          <a:p>
            <a:r>
              <a:rPr lang="en-US" dirty="0"/>
              <a:t>We might [APACHE EXAMPLE]</a:t>
            </a:r>
          </a:p>
          <a:p>
            <a:r>
              <a:rPr lang="en-US" dirty="0"/>
              <a:t>This also works for structured data [group codes or events in a given window]</a:t>
            </a:r>
          </a:p>
        </p:txBody>
      </p:sp>
      <p:sp>
        <p:nvSpPr>
          <p:cNvPr id="4" name="Slide Number Placeholder 3"/>
          <p:cNvSpPr>
            <a:spLocks noGrp="1"/>
          </p:cNvSpPr>
          <p:nvPr>
            <p:ph type="sldNum" sz="quarter" idx="5"/>
          </p:nvPr>
        </p:nvSpPr>
        <p:spPr/>
        <p:txBody>
          <a:bodyPr/>
          <a:lstStyle/>
          <a:p>
            <a:fld id="{9FCDE58F-843A-8447-AF7F-7BD31329CDC1}" type="slidenum">
              <a:rPr lang="en-US" smtClean="0"/>
              <a:t>24</a:t>
            </a:fld>
            <a:endParaRPr lang="en-US"/>
          </a:p>
        </p:txBody>
      </p:sp>
    </p:spTree>
    <p:extLst>
      <p:ext uri="{BB962C8B-B14F-4D97-AF65-F5344CB8AC3E}">
        <p14:creationId xmlns:p14="http://schemas.microsoft.com/office/powerpoint/2010/main" val="1490911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CEA0C-9E4C-3D66-226E-23E68D7DA8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79A80-B7AC-406C-AD7C-7C7EB9A9BB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2A546-55F6-F29D-F30C-892AF83CFA39}"/>
              </a:ext>
            </a:extLst>
          </p:cNvPr>
          <p:cNvSpPr>
            <a:spLocks noGrp="1"/>
          </p:cNvSpPr>
          <p:nvPr>
            <p:ph type="body" idx="1"/>
          </p:nvPr>
        </p:nvSpPr>
        <p:spPr/>
        <p:txBody>
          <a:bodyPr/>
          <a:lstStyle/>
          <a:p>
            <a:r>
              <a:rPr lang="en-US" dirty="0"/>
              <a:t>But once we move outside of tabular data toward complex modalities</a:t>
            </a:r>
          </a:p>
          <a:p>
            <a:r>
              <a:rPr lang="en-US" dirty="0"/>
              <a:t>We need a way of extracting a limited number of salient features from these modalities</a:t>
            </a:r>
          </a:p>
          <a:p>
            <a:endParaRPr lang="en-US" dirty="0"/>
          </a:p>
          <a:p>
            <a:r>
              <a:rPr lang="en-US" dirty="0"/>
              <a:t>And to do that, we can think about the notion of an encoder</a:t>
            </a:r>
          </a:p>
          <a:p>
            <a:r>
              <a:rPr lang="en-US" dirty="0"/>
              <a:t>Without worrying at this stage about how we obtain it, suffice to say that our encoder</a:t>
            </a:r>
          </a:p>
          <a:p>
            <a:r>
              <a:rPr lang="en-US" dirty="0"/>
              <a:t>Is going to take a particular complex input modality as input</a:t>
            </a:r>
          </a:p>
          <a:p>
            <a:r>
              <a:rPr lang="en-US" dirty="0"/>
              <a:t>And produce a vector representation as output</a:t>
            </a:r>
          </a:p>
          <a:p>
            <a:endParaRPr lang="en-US" dirty="0"/>
          </a:p>
          <a:p>
            <a:r>
              <a:rPr lang="en-US" dirty="0"/>
              <a:t>This representation contains salient features that are useful for a specific prediction task</a:t>
            </a:r>
          </a:p>
        </p:txBody>
      </p:sp>
      <p:sp>
        <p:nvSpPr>
          <p:cNvPr id="4" name="Slide Number Placeholder 3">
            <a:extLst>
              <a:ext uri="{FF2B5EF4-FFF2-40B4-BE49-F238E27FC236}">
                <a16:creationId xmlns:a16="http://schemas.microsoft.com/office/drawing/2014/main" id="{338212C6-1E64-6926-4CDA-CF9C4171CC24}"/>
              </a:ext>
            </a:extLst>
          </p:cNvPr>
          <p:cNvSpPr>
            <a:spLocks noGrp="1"/>
          </p:cNvSpPr>
          <p:nvPr>
            <p:ph type="sldNum" sz="quarter" idx="5"/>
          </p:nvPr>
        </p:nvSpPr>
        <p:spPr/>
        <p:txBody>
          <a:bodyPr/>
          <a:lstStyle/>
          <a:p>
            <a:fld id="{9FCDE58F-843A-8447-AF7F-7BD31329CDC1}" type="slidenum">
              <a:rPr lang="en-US" smtClean="0"/>
              <a:t>25</a:t>
            </a:fld>
            <a:endParaRPr lang="en-US"/>
          </a:p>
        </p:txBody>
      </p:sp>
    </p:spTree>
    <p:extLst>
      <p:ext uri="{BB962C8B-B14F-4D97-AF65-F5344CB8AC3E}">
        <p14:creationId xmlns:p14="http://schemas.microsoft.com/office/powerpoint/2010/main" val="10046981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think about a few specific examples</a:t>
            </a:r>
          </a:p>
          <a:p>
            <a:endParaRPr lang="en-US" dirty="0"/>
          </a:p>
          <a:p>
            <a:r>
              <a:rPr lang="en-US" dirty="0"/>
              <a:t>Now, imagine that instead of clinical variables, we instead had a fundoscopic image for each study participant.</a:t>
            </a:r>
          </a:p>
          <a:p>
            <a:endParaRPr lang="en-US" dirty="0"/>
          </a:p>
          <a:p>
            <a:r>
              <a:rPr lang="en-US" dirty="0"/>
              <a:t>Applying logistic regression directly to the pixels in the image isn’t going to work here.</a:t>
            </a:r>
          </a:p>
          <a:p>
            <a:r>
              <a:rPr lang="en-US" dirty="0"/>
              <a:t>Instead, we can apply an encoder – in this case, a convolutional neural network – to each image.</a:t>
            </a:r>
          </a:p>
          <a:p>
            <a:endParaRPr lang="en-US" dirty="0"/>
          </a:p>
          <a:p>
            <a:r>
              <a:rPr lang="en-US" dirty="0"/>
              <a:t>This will give us a feature vector that describes the degree to which 1000 or so complex patterns – patterns that are known to be important for other prediction tasks – are present in the image</a:t>
            </a:r>
          </a:p>
          <a:p>
            <a:r>
              <a:rPr lang="en-US" dirty="0"/>
              <a:t>We can then use logistic regression or a one-hidden-layer neural network to predict the probability of heart attack from these feature vectors</a:t>
            </a:r>
          </a:p>
          <a:p>
            <a:endParaRPr lang="en-US" dirty="0"/>
          </a:p>
          <a:p>
            <a:r>
              <a:rPr lang="en-US" dirty="0"/>
              <a:t>And depending on how big our dataset is, we may or may not have enough data to improve this encoder</a:t>
            </a:r>
          </a:p>
          <a:p>
            <a:r>
              <a:rPr lang="en-US" dirty="0"/>
              <a:t>Such that the features it extracts are optimal for the prediction task at hand</a:t>
            </a:r>
          </a:p>
        </p:txBody>
      </p:sp>
      <p:sp>
        <p:nvSpPr>
          <p:cNvPr id="4" name="Slide Number Placeholder 3"/>
          <p:cNvSpPr>
            <a:spLocks noGrp="1"/>
          </p:cNvSpPr>
          <p:nvPr>
            <p:ph type="sldNum" sz="quarter" idx="5"/>
          </p:nvPr>
        </p:nvSpPr>
        <p:spPr/>
        <p:txBody>
          <a:bodyPr/>
          <a:lstStyle/>
          <a:p>
            <a:fld id="{9FCDE58F-843A-8447-AF7F-7BD31329CDC1}" type="slidenum">
              <a:rPr lang="en-US" smtClean="0"/>
              <a:t>26</a:t>
            </a:fld>
            <a:endParaRPr lang="en-US"/>
          </a:p>
        </p:txBody>
      </p:sp>
    </p:spTree>
    <p:extLst>
      <p:ext uri="{BB962C8B-B14F-4D97-AF65-F5344CB8AC3E}">
        <p14:creationId xmlns:p14="http://schemas.microsoft.com/office/powerpoint/2010/main" val="22596823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this brief lecture we’re of course not going to think about exactly how each of these encoders works</a:t>
            </a:r>
          </a:p>
          <a:p>
            <a:endParaRPr lang="en-US" dirty="0"/>
          </a:p>
          <a:p>
            <a:r>
              <a:rPr lang="en-US" dirty="0"/>
              <a:t>But what’s important is that we have a process</a:t>
            </a:r>
          </a:p>
          <a:p>
            <a:r>
              <a:rPr lang="en-US" dirty="0"/>
              <a:t>Optimized for a particular type of data</a:t>
            </a:r>
          </a:p>
          <a:p>
            <a:r>
              <a:rPr lang="en-US" dirty="0"/>
              <a:t>by which that data type, in this case a text document, can be encoded as a feature vector</a:t>
            </a:r>
          </a:p>
          <a:p>
            <a:endParaRPr lang="en-US" dirty="0"/>
          </a:p>
          <a:p>
            <a:r>
              <a:rPr lang="en-US" dirty="0"/>
              <a:t>In our image processing example, the elements of this feature vector corresponded to high level motifs, or patterns, that might be present in the images</a:t>
            </a:r>
          </a:p>
          <a:p>
            <a:r>
              <a:rPr lang="en-US" dirty="0"/>
              <a:t>This time, the elements of this feature vector might correspond to counts of words in a document</a:t>
            </a:r>
          </a:p>
          <a:p>
            <a:r>
              <a:rPr lang="en-US" dirty="0"/>
              <a:t>Or they might correspond to high level semantic motifs</a:t>
            </a:r>
          </a:p>
          <a:p>
            <a:endParaRPr lang="en-US" dirty="0"/>
          </a:p>
          <a:p>
            <a:r>
              <a:rPr lang="en-US" dirty="0"/>
              <a:t>In both cases, at the end of the day we have a feature vector that we can use to predict an outcome of interest via logistic regression</a:t>
            </a:r>
          </a:p>
        </p:txBody>
      </p:sp>
      <p:sp>
        <p:nvSpPr>
          <p:cNvPr id="4" name="Slide Number Placeholder 3"/>
          <p:cNvSpPr>
            <a:spLocks noGrp="1"/>
          </p:cNvSpPr>
          <p:nvPr>
            <p:ph type="sldNum" sz="quarter" idx="5"/>
          </p:nvPr>
        </p:nvSpPr>
        <p:spPr/>
        <p:txBody>
          <a:bodyPr/>
          <a:lstStyle/>
          <a:p>
            <a:fld id="{9FCDE58F-843A-8447-AF7F-7BD31329CDC1}" type="slidenum">
              <a:rPr lang="en-US" smtClean="0"/>
              <a:t>27</a:t>
            </a:fld>
            <a:endParaRPr lang="en-US"/>
          </a:p>
        </p:txBody>
      </p:sp>
    </p:spTree>
    <p:extLst>
      <p:ext uri="{BB962C8B-B14F-4D97-AF65-F5344CB8AC3E}">
        <p14:creationId xmlns:p14="http://schemas.microsoft.com/office/powerpoint/2010/main" val="29166957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F6E48-7810-C35B-274C-33068CFF1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0FDCE8-34BE-8AAD-2185-70E92157F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7C38DF-DDA9-FB5E-2733-6472F08CA5FC}"/>
              </a:ext>
            </a:extLst>
          </p:cNvPr>
          <p:cNvSpPr>
            <a:spLocks noGrp="1"/>
          </p:cNvSpPr>
          <p:nvPr>
            <p:ph type="body" idx="1"/>
          </p:nvPr>
        </p:nvSpPr>
        <p:spPr/>
        <p:txBody>
          <a:bodyPr/>
          <a:lstStyle/>
          <a:p>
            <a:r>
              <a:rPr lang="en-US" dirty="0"/>
              <a:t>This is the important, general principle to understand</a:t>
            </a:r>
          </a:p>
          <a:p>
            <a:endParaRPr lang="en-US" dirty="0"/>
          </a:p>
          <a:p>
            <a:r>
              <a:rPr lang="en-US" dirty="0"/>
              <a:t>The details of the encoder are going to be modality-specific and potentially complex</a:t>
            </a:r>
          </a:p>
          <a:p>
            <a:endParaRPr lang="en-US" dirty="0"/>
          </a:p>
          <a:p>
            <a:r>
              <a:rPr lang="en-US" dirty="0"/>
              <a:t>But, the general rule when working with unstructured data is that you’ll need to identify and use encoders appropriate for each modality</a:t>
            </a:r>
          </a:p>
          <a:p>
            <a:endParaRPr lang="en-US" dirty="0"/>
          </a:p>
          <a:p>
            <a:r>
              <a:rPr lang="en-US" dirty="0"/>
              <a:t>If you’re working with EEG data, you’ll need an encoder designed for EEG data</a:t>
            </a:r>
          </a:p>
          <a:p>
            <a:r>
              <a:rPr lang="en-US" dirty="0"/>
              <a:t>If you’re working with digital health data, you’ll need an encoder designed for digital health data</a:t>
            </a:r>
          </a:p>
          <a:p>
            <a:endParaRPr lang="en-US" dirty="0"/>
          </a:p>
          <a:p>
            <a:r>
              <a:rPr lang="en-US" dirty="0"/>
              <a:t>Currently, many of the most effective encoders are neural network based, but this is not necessarily or always the case</a:t>
            </a:r>
          </a:p>
        </p:txBody>
      </p:sp>
      <p:sp>
        <p:nvSpPr>
          <p:cNvPr id="4" name="Slide Number Placeholder 3">
            <a:extLst>
              <a:ext uri="{FF2B5EF4-FFF2-40B4-BE49-F238E27FC236}">
                <a16:creationId xmlns:a16="http://schemas.microsoft.com/office/drawing/2014/main" id="{DFE58D99-F0A1-C83F-355D-8045F89E87F9}"/>
              </a:ext>
            </a:extLst>
          </p:cNvPr>
          <p:cNvSpPr>
            <a:spLocks noGrp="1"/>
          </p:cNvSpPr>
          <p:nvPr>
            <p:ph type="sldNum" sz="quarter" idx="5"/>
          </p:nvPr>
        </p:nvSpPr>
        <p:spPr/>
        <p:txBody>
          <a:bodyPr/>
          <a:lstStyle/>
          <a:p>
            <a:fld id="{9FCDE58F-843A-8447-AF7F-7BD31329CDC1}" type="slidenum">
              <a:rPr lang="en-US" smtClean="0"/>
              <a:t>28</a:t>
            </a:fld>
            <a:endParaRPr lang="en-US"/>
          </a:p>
        </p:txBody>
      </p:sp>
    </p:spTree>
    <p:extLst>
      <p:ext uri="{BB962C8B-B14F-4D97-AF65-F5344CB8AC3E}">
        <p14:creationId xmlns:p14="http://schemas.microsoft.com/office/powerpoint/2010/main" val="6776956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50770-93C3-51BE-1A91-4E1175542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3E983-9E9F-2F85-004B-9E5EAC4D2D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9C3468-0CCE-28CD-5E37-21F020E031D5}"/>
              </a:ext>
            </a:extLst>
          </p:cNvPr>
          <p:cNvSpPr>
            <a:spLocks noGrp="1"/>
          </p:cNvSpPr>
          <p:nvPr>
            <p:ph type="body" idx="1"/>
          </p:nvPr>
        </p:nvSpPr>
        <p:spPr/>
        <p:txBody>
          <a:bodyPr/>
          <a:lstStyle/>
          <a:p>
            <a:r>
              <a:rPr lang="en-US" dirty="0"/>
              <a:t>Now, importantly, in the one modality, one prediction task paradigm</a:t>
            </a:r>
          </a:p>
          <a:p>
            <a:r>
              <a:rPr lang="en-US" dirty="0"/>
              <a:t>These encoders will be developed on a single prediction task</a:t>
            </a:r>
          </a:p>
          <a:p>
            <a:endParaRPr lang="en-US" dirty="0"/>
          </a:p>
          <a:p>
            <a:r>
              <a:rPr lang="en-US" dirty="0"/>
              <a:t>But training them requires quite a bit of data</a:t>
            </a:r>
          </a:p>
          <a:p>
            <a:r>
              <a:rPr lang="en-US" dirty="0"/>
              <a:t>So it will be a prediction task with often millions of examples…</a:t>
            </a:r>
          </a:p>
        </p:txBody>
      </p:sp>
      <p:sp>
        <p:nvSpPr>
          <p:cNvPr id="4" name="Slide Number Placeholder 3">
            <a:extLst>
              <a:ext uri="{FF2B5EF4-FFF2-40B4-BE49-F238E27FC236}">
                <a16:creationId xmlns:a16="http://schemas.microsoft.com/office/drawing/2014/main" id="{81FEA363-C0C0-8138-8BD9-944965E33345}"/>
              </a:ext>
            </a:extLst>
          </p:cNvPr>
          <p:cNvSpPr>
            <a:spLocks noGrp="1"/>
          </p:cNvSpPr>
          <p:nvPr>
            <p:ph type="sldNum" sz="quarter" idx="5"/>
          </p:nvPr>
        </p:nvSpPr>
        <p:spPr/>
        <p:txBody>
          <a:bodyPr/>
          <a:lstStyle/>
          <a:p>
            <a:fld id="{9FCDE58F-843A-8447-AF7F-7BD31329CDC1}" type="slidenum">
              <a:rPr lang="en-US" smtClean="0"/>
              <a:t>29</a:t>
            </a:fld>
            <a:endParaRPr lang="en-US"/>
          </a:p>
        </p:txBody>
      </p:sp>
    </p:spTree>
    <p:extLst>
      <p:ext uri="{BB962C8B-B14F-4D97-AF65-F5344CB8AC3E}">
        <p14:creationId xmlns:p14="http://schemas.microsoft.com/office/powerpoint/2010/main" val="15247511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often don’t have as much data as we might like – enough to train these encoders</a:t>
            </a:r>
          </a:p>
          <a:p>
            <a:r>
              <a:rPr lang="en-US" dirty="0"/>
              <a:t>But it turns out that for a given modality, often the important features are largely conserved between different prediction tasks</a:t>
            </a:r>
          </a:p>
          <a:p>
            <a:endParaRPr lang="en-US" dirty="0"/>
          </a:p>
          <a:p>
            <a:r>
              <a:rPr lang="en-US" dirty="0"/>
              <a:t>At the very least, it turns out that it doesn’t hurt to start with [PRETRAINED MODEL]</a:t>
            </a:r>
          </a:p>
          <a:p>
            <a:endParaRPr lang="en-US" dirty="0"/>
          </a:p>
          <a:p>
            <a:r>
              <a:rPr lang="en-US" dirty="0"/>
              <a:t>So again, the more traditional paradigm is that we train for individual tasks – which often requires a lot of labels</a:t>
            </a:r>
          </a:p>
          <a:p>
            <a:r>
              <a:rPr lang="en-US" dirty="0"/>
              <a:t>And then </a:t>
            </a:r>
          </a:p>
        </p:txBody>
      </p:sp>
      <p:sp>
        <p:nvSpPr>
          <p:cNvPr id="4" name="Slide Number Placeholder 3"/>
          <p:cNvSpPr>
            <a:spLocks noGrp="1"/>
          </p:cNvSpPr>
          <p:nvPr>
            <p:ph type="sldNum" sz="quarter" idx="5"/>
          </p:nvPr>
        </p:nvSpPr>
        <p:spPr/>
        <p:txBody>
          <a:bodyPr/>
          <a:lstStyle/>
          <a:p>
            <a:fld id="{FA87938A-5C4B-C644-A452-8D4D784107A7}" type="slidenum">
              <a:rPr lang="en-US" smtClean="0"/>
              <a:t>30</a:t>
            </a:fld>
            <a:endParaRPr lang="en-US"/>
          </a:p>
        </p:txBody>
      </p:sp>
    </p:spTree>
    <p:extLst>
      <p:ext uri="{BB962C8B-B14F-4D97-AF65-F5344CB8AC3E}">
        <p14:creationId xmlns:p14="http://schemas.microsoft.com/office/powerpoint/2010/main" val="38298556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91C97-0FCC-0247-D5F0-5DB97E656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3E861-8FD8-35CE-F37A-9B38DBDA3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EE58A7-81DF-ED4E-CE92-A989235D78CF}"/>
              </a:ext>
            </a:extLst>
          </p:cNvPr>
          <p:cNvSpPr>
            <a:spLocks noGrp="1"/>
          </p:cNvSpPr>
          <p:nvPr>
            <p:ph type="body" idx="1"/>
          </p:nvPr>
        </p:nvSpPr>
        <p:spPr/>
        <p:txBody>
          <a:bodyPr/>
          <a:lstStyle/>
          <a:p>
            <a:r>
              <a:rPr lang="en-US" dirty="0"/>
              <a:t>Move toward situations where we’re still focused on one type of data</a:t>
            </a:r>
          </a:p>
          <a:p>
            <a:r>
              <a:rPr lang="en-US" dirty="0"/>
              <a:t>But we try to learn in a way that is more general…</a:t>
            </a:r>
          </a:p>
        </p:txBody>
      </p:sp>
      <p:sp>
        <p:nvSpPr>
          <p:cNvPr id="4" name="Slide Number Placeholder 3">
            <a:extLst>
              <a:ext uri="{FF2B5EF4-FFF2-40B4-BE49-F238E27FC236}">
                <a16:creationId xmlns:a16="http://schemas.microsoft.com/office/drawing/2014/main" id="{19E0B409-068F-BFC2-8CCF-BEDB80ABE806}"/>
              </a:ext>
            </a:extLst>
          </p:cNvPr>
          <p:cNvSpPr>
            <a:spLocks noGrp="1"/>
          </p:cNvSpPr>
          <p:nvPr>
            <p:ph type="sldNum" sz="quarter" idx="5"/>
          </p:nvPr>
        </p:nvSpPr>
        <p:spPr/>
        <p:txBody>
          <a:bodyPr/>
          <a:lstStyle/>
          <a:p>
            <a:fld id="{FA87938A-5C4B-C644-A452-8D4D784107A7}" type="slidenum">
              <a:rPr lang="en-US" smtClean="0"/>
              <a:t>31</a:t>
            </a:fld>
            <a:endParaRPr lang="en-US"/>
          </a:p>
        </p:txBody>
      </p:sp>
    </p:spTree>
    <p:extLst>
      <p:ext uri="{BB962C8B-B14F-4D97-AF65-F5344CB8AC3E}">
        <p14:creationId xmlns:p14="http://schemas.microsoft.com/office/powerpoint/2010/main" val="20825462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here is called “self-supervision” – the idea that we learn to extract features that predict labels</a:t>
            </a:r>
          </a:p>
          <a:p>
            <a:r>
              <a:rPr lang="en-US" dirty="0"/>
              <a:t>That are in fact derived from the data themselves</a:t>
            </a:r>
          </a:p>
          <a:p>
            <a:endParaRPr lang="en-US" dirty="0"/>
          </a:p>
          <a:p>
            <a:r>
              <a:rPr lang="en-US" dirty="0"/>
              <a:t>In short, we build a model that’s able to predict what’s missing, or what might come next</a:t>
            </a:r>
          </a:p>
          <a:p>
            <a:endParaRPr lang="en-US" dirty="0"/>
          </a:p>
          <a:p>
            <a:r>
              <a:rPr lang="en-US" dirty="0"/>
              <a:t>And it turns out that being able to do this… [UNDERSTANDING, MANY TASKS]</a:t>
            </a:r>
          </a:p>
          <a:p>
            <a:endParaRPr lang="en-US" dirty="0"/>
          </a:p>
          <a:p>
            <a:r>
              <a:rPr lang="en-US" dirty="0"/>
              <a:t>I think from this example you can convince yourself that to be able to solve the prediction task I’ve given</a:t>
            </a:r>
          </a:p>
          <a:p>
            <a:r>
              <a:rPr lang="en-US" dirty="0"/>
              <a:t>You might have to have an understanding of what fundoscopic images look like,, and how they fit together</a:t>
            </a:r>
          </a:p>
        </p:txBody>
      </p:sp>
      <p:sp>
        <p:nvSpPr>
          <p:cNvPr id="4" name="Slide Number Placeholder 3"/>
          <p:cNvSpPr>
            <a:spLocks noGrp="1"/>
          </p:cNvSpPr>
          <p:nvPr>
            <p:ph type="sldNum" sz="quarter" idx="5"/>
          </p:nvPr>
        </p:nvSpPr>
        <p:spPr/>
        <p:txBody>
          <a:bodyPr/>
          <a:lstStyle/>
          <a:p>
            <a:fld id="{FA87938A-5C4B-C644-A452-8D4D784107A7}" type="slidenum">
              <a:rPr lang="en-US" smtClean="0"/>
              <a:t>32</a:t>
            </a:fld>
            <a:endParaRPr lang="en-US"/>
          </a:p>
        </p:txBody>
      </p:sp>
    </p:spTree>
    <p:extLst>
      <p:ext uri="{BB962C8B-B14F-4D97-AF65-F5344CB8AC3E}">
        <p14:creationId xmlns:p14="http://schemas.microsoft.com/office/powerpoint/2010/main" val="5013510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we would make this kind of prediction…</a:t>
            </a:r>
          </a:p>
        </p:txBody>
      </p:sp>
      <p:sp>
        <p:nvSpPr>
          <p:cNvPr id="4" name="Slide Number Placeholder 3"/>
          <p:cNvSpPr>
            <a:spLocks noGrp="1"/>
          </p:cNvSpPr>
          <p:nvPr>
            <p:ph type="sldNum" sz="quarter" idx="5"/>
          </p:nvPr>
        </p:nvSpPr>
        <p:spPr/>
        <p:txBody>
          <a:bodyPr/>
          <a:lstStyle/>
          <a:p>
            <a:fld id="{FA87938A-5C4B-C644-A452-8D4D784107A7}" type="slidenum">
              <a:rPr lang="en-US" smtClean="0"/>
              <a:t>33</a:t>
            </a:fld>
            <a:endParaRPr lang="en-US"/>
          </a:p>
        </p:txBody>
      </p:sp>
    </p:spTree>
    <p:extLst>
      <p:ext uri="{BB962C8B-B14F-4D97-AF65-F5344CB8AC3E}">
        <p14:creationId xmlns:p14="http://schemas.microsoft.com/office/powerpoint/2010/main" val="16920676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NLP case…</a:t>
            </a:r>
          </a:p>
          <a:p>
            <a:endParaRPr lang="en-US" dirty="0"/>
          </a:p>
          <a:p>
            <a:r>
              <a:rPr lang="en-US" dirty="0"/>
              <a:t>And we can do the same thing with structured EHR data…</a:t>
            </a:r>
          </a:p>
        </p:txBody>
      </p:sp>
      <p:sp>
        <p:nvSpPr>
          <p:cNvPr id="4" name="Slide Number Placeholder 3"/>
          <p:cNvSpPr>
            <a:spLocks noGrp="1"/>
          </p:cNvSpPr>
          <p:nvPr>
            <p:ph type="sldNum" sz="quarter" idx="5"/>
          </p:nvPr>
        </p:nvSpPr>
        <p:spPr/>
        <p:txBody>
          <a:bodyPr/>
          <a:lstStyle/>
          <a:p>
            <a:fld id="{804DC545-69E3-4444-9E5C-E4AA65E82846}" type="slidenum">
              <a:rPr lang="en-US" smtClean="0"/>
              <a:t>34</a:t>
            </a:fld>
            <a:endParaRPr lang="en-US"/>
          </a:p>
        </p:txBody>
      </p:sp>
    </p:spTree>
    <p:extLst>
      <p:ext uri="{BB962C8B-B14F-4D97-AF65-F5344CB8AC3E}">
        <p14:creationId xmlns:p14="http://schemas.microsoft.com/office/powerpoint/2010/main" val="4640207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A2DC6-23BA-EB91-8BD4-89C081F0FE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9EF0F3-B8DE-CA58-E1BA-A9896FD7E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8B008-219D-226D-CF9E-48ABFBD5468C}"/>
              </a:ext>
            </a:extLst>
          </p:cNvPr>
          <p:cNvSpPr>
            <a:spLocks noGrp="1"/>
          </p:cNvSpPr>
          <p:nvPr>
            <p:ph type="body" idx="1"/>
          </p:nvPr>
        </p:nvSpPr>
        <p:spPr/>
        <p:txBody>
          <a:bodyPr/>
          <a:lstStyle/>
          <a:p>
            <a:r>
              <a:rPr lang="en-US" dirty="0"/>
              <a:t>So we’ve thought about how we learn representations that aren’t tied to a particular task</a:t>
            </a:r>
          </a:p>
          <a:p>
            <a:r>
              <a:rPr lang="en-US" dirty="0"/>
              <a:t>But rather reflect a general understanding of a given modality</a:t>
            </a:r>
          </a:p>
          <a:p>
            <a:r>
              <a:rPr lang="en-US" dirty="0"/>
              <a:t>That turns out to useful for many tasks</a:t>
            </a:r>
          </a:p>
          <a:p>
            <a:endParaRPr lang="en-US" dirty="0"/>
          </a:p>
          <a:p>
            <a:r>
              <a:rPr lang="en-US" dirty="0"/>
              <a:t>But now, how do we solve the other problem – how do we put information from many modalities together</a:t>
            </a:r>
          </a:p>
        </p:txBody>
      </p:sp>
      <p:sp>
        <p:nvSpPr>
          <p:cNvPr id="4" name="Slide Number Placeholder 3">
            <a:extLst>
              <a:ext uri="{FF2B5EF4-FFF2-40B4-BE49-F238E27FC236}">
                <a16:creationId xmlns:a16="http://schemas.microsoft.com/office/drawing/2014/main" id="{CFFF22A6-2396-C1C1-F5DF-33DB9181A869}"/>
              </a:ext>
            </a:extLst>
          </p:cNvPr>
          <p:cNvSpPr>
            <a:spLocks noGrp="1"/>
          </p:cNvSpPr>
          <p:nvPr>
            <p:ph type="sldNum" sz="quarter" idx="5"/>
          </p:nvPr>
        </p:nvSpPr>
        <p:spPr/>
        <p:txBody>
          <a:bodyPr/>
          <a:lstStyle/>
          <a:p>
            <a:fld id="{FA87938A-5C4B-C644-A452-8D4D784107A7}" type="slidenum">
              <a:rPr lang="en-US" smtClean="0"/>
              <a:t>35</a:t>
            </a:fld>
            <a:endParaRPr lang="en-US"/>
          </a:p>
        </p:txBody>
      </p:sp>
    </p:spTree>
    <p:extLst>
      <p:ext uri="{BB962C8B-B14F-4D97-AF65-F5344CB8AC3E}">
        <p14:creationId xmlns:p14="http://schemas.microsoft.com/office/powerpoint/2010/main" val="13324873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the simplest way, which sometimes does work well</a:t>
            </a:r>
          </a:p>
          <a:p>
            <a:r>
              <a:rPr lang="en-US" dirty="0"/>
              <a:t>Is to simply build models for each of the modalities you care about…</a:t>
            </a:r>
          </a:p>
        </p:txBody>
      </p:sp>
      <p:sp>
        <p:nvSpPr>
          <p:cNvPr id="4" name="Slide Number Placeholder 3"/>
          <p:cNvSpPr>
            <a:spLocks noGrp="1"/>
          </p:cNvSpPr>
          <p:nvPr>
            <p:ph type="sldNum" sz="quarter" idx="5"/>
          </p:nvPr>
        </p:nvSpPr>
        <p:spPr/>
        <p:txBody>
          <a:bodyPr/>
          <a:lstStyle/>
          <a:p>
            <a:fld id="{9FCDE58F-843A-8447-AF7F-7BD31329CDC1}" type="slidenum">
              <a:rPr lang="en-US" smtClean="0"/>
              <a:t>36</a:t>
            </a:fld>
            <a:endParaRPr lang="en-US"/>
          </a:p>
        </p:txBody>
      </p:sp>
    </p:spTree>
    <p:extLst>
      <p:ext uri="{BB962C8B-B14F-4D97-AF65-F5344CB8AC3E}">
        <p14:creationId xmlns:p14="http://schemas.microsoft.com/office/powerpoint/2010/main" val="38378095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F5302-7842-2C98-91C2-373E671AB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7E56C9-5DBF-B271-6B9A-C28396D0B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6E8489-8014-743D-CA00-6423E85D3F2C}"/>
              </a:ext>
            </a:extLst>
          </p:cNvPr>
          <p:cNvSpPr>
            <a:spLocks noGrp="1"/>
          </p:cNvSpPr>
          <p:nvPr>
            <p:ph type="body" idx="1"/>
          </p:nvPr>
        </p:nvSpPr>
        <p:spPr/>
        <p:txBody>
          <a:bodyPr/>
          <a:lstStyle/>
          <a:p>
            <a:r>
              <a:rPr lang="en-US" dirty="0"/>
              <a:t>And then put their predictions together at the very end</a:t>
            </a:r>
          </a:p>
          <a:p>
            <a:endParaRPr lang="en-US" dirty="0"/>
          </a:p>
          <a:p>
            <a:r>
              <a:rPr lang="en-US" dirty="0"/>
              <a:t>What’s gained here: </a:t>
            </a:r>
            <a:r>
              <a:rPr lang="en-US" dirty="0" err="1"/>
              <a:t>simplicit</a:t>
            </a:r>
            <a:endParaRPr lang="en-US" dirty="0"/>
          </a:p>
          <a:p>
            <a:r>
              <a:rPr lang="en-US" dirty="0"/>
              <a:t>What’s lost? Interactions between modalities</a:t>
            </a:r>
          </a:p>
        </p:txBody>
      </p:sp>
      <p:sp>
        <p:nvSpPr>
          <p:cNvPr id="4" name="Slide Number Placeholder 3">
            <a:extLst>
              <a:ext uri="{FF2B5EF4-FFF2-40B4-BE49-F238E27FC236}">
                <a16:creationId xmlns:a16="http://schemas.microsoft.com/office/drawing/2014/main" id="{DCA362BC-C4B6-F38E-9A79-BAC018921B95}"/>
              </a:ext>
            </a:extLst>
          </p:cNvPr>
          <p:cNvSpPr>
            <a:spLocks noGrp="1"/>
          </p:cNvSpPr>
          <p:nvPr>
            <p:ph type="sldNum" sz="quarter" idx="5"/>
          </p:nvPr>
        </p:nvSpPr>
        <p:spPr/>
        <p:txBody>
          <a:bodyPr/>
          <a:lstStyle/>
          <a:p>
            <a:fld id="{9FCDE58F-843A-8447-AF7F-7BD31329CDC1}" type="slidenum">
              <a:rPr lang="en-US" smtClean="0"/>
              <a:t>37</a:t>
            </a:fld>
            <a:endParaRPr lang="en-US"/>
          </a:p>
        </p:txBody>
      </p:sp>
    </p:spTree>
    <p:extLst>
      <p:ext uri="{BB962C8B-B14F-4D97-AF65-F5344CB8AC3E}">
        <p14:creationId xmlns:p14="http://schemas.microsoft.com/office/powerpoint/2010/main" val="14075515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07E3A-89AA-26CC-69D2-D3064022E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3B7E4D-F95D-CBF8-0C5C-5EBE7DDC0E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3C416-E1BB-5782-EBE6-71070C385C9A}"/>
              </a:ext>
            </a:extLst>
          </p:cNvPr>
          <p:cNvSpPr>
            <a:spLocks noGrp="1"/>
          </p:cNvSpPr>
          <p:nvPr>
            <p:ph type="body" idx="1"/>
          </p:nvPr>
        </p:nvSpPr>
        <p:spPr/>
        <p:txBody>
          <a:bodyPr/>
          <a:lstStyle/>
          <a:p>
            <a:r>
              <a:rPr lang="en-US" dirty="0"/>
              <a:t>But this is commonly done – it’s called late fusion</a:t>
            </a:r>
          </a:p>
          <a:p>
            <a:r>
              <a:rPr lang="en-US" dirty="0"/>
              <a:t>And the question is how exactly we aggregate</a:t>
            </a:r>
          </a:p>
        </p:txBody>
      </p:sp>
      <p:sp>
        <p:nvSpPr>
          <p:cNvPr id="4" name="Slide Number Placeholder 3">
            <a:extLst>
              <a:ext uri="{FF2B5EF4-FFF2-40B4-BE49-F238E27FC236}">
                <a16:creationId xmlns:a16="http://schemas.microsoft.com/office/drawing/2014/main" id="{6BCEE0EF-DF20-C980-CE35-9232D1CB40E6}"/>
              </a:ext>
            </a:extLst>
          </p:cNvPr>
          <p:cNvSpPr>
            <a:spLocks noGrp="1"/>
          </p:cNvSpPr>
          <p:nvPr>
            <p:ph type="sldNum" sz="quarter" idx="5"/>
          </p:nvPr>
        </p:nvSpPr>
        <p:spPr/>
        <p:txBody>
          <a:bodyPr/>
          <a:lstStyle/>
          <a:p>
            <a:fld id="{9FCDE58F-843A-8447-AF7F-7BD31329CDC1}" type="slidenum">
              <a:rPr lang="en-US" smtClean="0"/>
              <a:t>38</a:t>
            </a:fld>
            <a:endParaRPr lang="en-US"/>
          </a:p>
        </p:txBody>
      </p:sp>
    </p:spTree>
    <p:extLst>
      <p:ext uri="{BB962C8B-B14F-4D97-AF65-F5344CB8AC3E}">
        <p14:creationId xmlns:p14="http://schemas.microsoft.com/office/powerpoint/2010/main" val="37175967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what if we want to make predictions from all three types of data, together?</a:t>
            </a:r>
          </a:p>
          <a:p>
            <a:endParaRPr lang="en-US" dirty="0"/>
          </a:p>
          <a:p>
            <a:r>
              <a:rPr lang="en-US" dirty="0"/>
              <a:t>As this diagram suggests, we can approach this by simply concatenating – in other words stacking – all of our feature vectors together. We can combine our clinical variables with our extracted image features and extracted NLP features.</a:t>
            </a:r>
          </a:p>
          <a:p>
            <a:endParaRPr lang="en-US" dirty="0"/>
          </a:p>
          <a:p>
            <a:r>
              <a:rPr lang="en-US" dirty="0"/>
              <a:t>Of course, this is the obvious thing to do once you understand the concept of an encoder, but having effective encoders for some of these data types – notably image data – is still a fairly recent development</a:t>
            </a:r>
          </a:p>
        </p:txBody>
      </p:sp>
      <p:sp>
        <p:nvSpPr>
          <p:cNvPr id="4" name="Slide Number Placeholder 3"/>
          <p:cNvSpPr>
            <a:spLocks noGrp="1"/>
          </p:cNvSpPr>
          <p:nvPr>
            <p:ph type="sldNum" sz="quarter" idx="5"/>
          </p:nvPr>
        </p:nvSpPr>
        <p:spPr/>
        <p:txBody>
          <a:bodyPr/>
          <a:lstStyle/>
          <a:p>
            <a:fld id="{9FCDE58F-843A-8447-AF7F-7BD31329CDC1}" type="slidenum">
              <a:rPr lang="en-US" smtClean="0"/>
              <a:t>39</a:t>
            </a:fld>
            <a:endParaRPr lang="en-US"/>
          </a:p>
        </p:txBody>
      </p:sp>
    </p:spTree>
    <p:extLst>
      <p:ext uri="{BB962C8B-B14F-4D97-AF65-F5344CB8AC3E}">
        <p14:creationId xmlns:p14="http://schemas.microsoft.com/office/powerpoint/2010/main" val="37496826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49BC3-E883-D769-4EA5-AFF33F24E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1E485B-E2B4-9EE1-90A3-62BAD194E5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D1D0D-C7E9-9E91-82B0-862F27F9D7CA}"/>
              </a:ext>
            </a:extLst>
          </p:cNvPr>
          <p:cNvSpPr>
            <a:spLocks noGrp="1"/>
          </p:cNvSpPr>
          <p:nvPr>
            <p:ph type="body" idx="1"/>
          </p:nvPr>
        </p:nvSpPr>
        <p:spPr/>
        <p:txBody>
          <a:bodyPr/>
          <a:lstStyle/>
          <a:p>
            <a:r>
              <a:rPr lang="en-US" dirty="0"/>
              <a:t>But what if we want to make predictions from all three types of data, together?</a:t>
            </a:r>
          </a:p>
          <a:p>
            <a:endParaRPr lang="en-US" dirty="0"/>
          </a:p>
          <a:p>
            <a:r>
              <a:rPr lang="en-US" dirty="0"/>
              <a:t>As this diagram suggests, we can approach this by simply concatenating – in other words stacking – all of our feature vectors together. We can combine our clinical variables with our extracted image features and extracted NLP features.</a:t>
            </a:r>
          </a:p>
          <a:p>
            <a:endParaRPr lang="en-US" dirty="0"/>
          </a:p>
          <a:p>
            <a:r>
              <a:rPr lang="en-US" dirty="0"/>
              <a:t>Of course, this is the obvious thing to do once you understand the concept of an encoder, but having effective encoders for some of these data types – notably image data – is still a fairly recent development</a:t>
            </a:r>
          </a:p>
        </p:txBody>
      </p:sp>
      <p:sp>
        <p:nvSpPr>
          <p:cNvPr id="4" name="Slide Number Placeholder 3">
            <a:extLst>
              <a:ext uri="{FF2B5EF4-FFF2-40B4-BE49-F238E27FC236}">
                <a16:creationId xmlns:a16="http://schemas.microsoft.com/office/drawing/2014/main" id="{2A7E38CD-0888-0D20-D240-032C4DB2C830}"/>
              </a:ext>
            </a:extLst>
          </p:cNvPr>
          <p:cNvSpPr>
            <a:spLocks noGrp="1"/>
          </p:cNvSpPr>
          <p:nvPr>
            <p:ph type="sldNum" sz="quarter" idx="5"/>
          </p:nvPr>
        </p:nvSpPr>
        <p:spPr/>
        <p:txBody>
          <a:bodyPr/>
          <a:lstStyle/>
          <a:p>
            <a:fld id="{9FCDE58F-843A-8447-AF7F-7BD31329CDC1}" type="slidenum">
              <a:rPr lang="en-US" smtClean="0"/>
              <a:t>40</a:t>
            </a:fld>
            <a:endParaRPr lang="en-US"/>
          </a:p>
        </p:txBody>
      </p:sp>
    </p:spTree>
    <p:extLst>
      <p:ext uri="{BB962C8B-B14F-4D97-AF65-F5344CB8AC3E}">
        <p14:creationId xmlns:p14="http://schemas.microsoft.com/office/powerpoint/2010/main" val="13722537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learn representations that are sufficient to allow us to determine</a:t>
            </a:r>
          </a:p>
          <a:p>
            <a:r>
              <a:rPr lang="en-US" dirty="0"/>
              <a:t>Which picture corresponds with which text description</a:t>
            </a:r>
          </a:p>
          <a:p>
            <a:endParaRPr lang="en-US" dirty="0"/>
          </a:p>
          <a:p>
            <a:r>
              <a:rPr lang="en-US" dirty="0"/>
              <a:t>It’s actually a very simple but powerful idea</a:t>
            </a:r>
          </a:p>
          <a:p>
            <a:r>
              <a:rPr lang="en-US" dirty="0"/>
              <a:t>And this would work for any pair of modalities</a:t>
            </a:r>
          </a:p>
          <a:p>
            <a:endParaRPr lang="en-US" dirty="0"/>
          </a:p>
          <a:p>
            <a:r>
              <a:rPr lang="en-US" dirty="0"/>
              <a:t>Determine which EEG corresponds to which MRI, for example</a:t>
            </a:r>
          </a:p>
          <a:p>
            <a:endParaRPr lang="en-US" dirty="0"/>
          </a:p>
        </p:txBody>
      </p:sp>
      <p:sp>
        <p:nvSpPr>
          <p:cNvPr id="4" name="Slide Number Placeholder 3"/>
          <p:cNvSpPr>
            <a:spLocks noGrp="1"/>
          </p:cNvSpPr>
          <p:nvPr>
            <p:ph type="sldNum" sz="quarter" idx="5"/>
          </p:nvPr>
        </p:nvSpPr>
        <p:spPr/>
        <p:txBody>
          <a:bodyPr/>
          <a:lstStyle/>
          <a:p>
            <a:fld id="{FA87938A-5C4B-C644-A452-8D4D784107A7}" type="slidenum">
              <a:rPr lang="en-US" smtClean="0"/>
              <a:t>41</a:t>
            </a:fld>
            <a:endParaRPr lang="en-US"/>
          </a:p>
        </p:txBody>
      </p:sp>
    </p:spTree>
    <p:extLst>
      <p:ext uri="{BB962C8B-B14F-4D97-AF65-F5344CB8AC3E}">
        <p14:creationId xmlns:p14="http://schemas.microsoft.com/office/powerpoint/2010/main" val="2723087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91D4E-7AE4-672F-8D02-9E87BB162D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5EB331-54DA-C869-CEAF-B034C13F77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A10FE-D880-5CE7-ADC0-AE110E52DD36}"/>
              </a:ext>
            </a:extLst>
          </p:cNvPr>
          <p:cNvSpPr>
            <a:spLocks noGrp="1"/>
          </p:cNvSpPr>
          <p:nvPr>
            <p:ph type="body" idx="1"/>
          </p:nvPr>
        </p:nvSpPr>
        <p:spPr/>
        <p:txBody>
          <a:bodyPr/>
          <a:lstStyle/>
          <a:p>
            <a:r>
              <a:rPr lang="en-US" dirty="0"/>
              <a:t>But what if we want to make predictions from all three types of data, together?</a:t>
            </a:r>
          </a:p>
          <a:p>
            <a:endParaRPr lang="en-US" dirty="0"/>
          </a:p>
          <a:p>
            <a:r>
              <a:rPr lang="en-US" dirty="0"/>
              <a:t>As this diagram suggests, we can approach this by simply concatenating – in other words stacking – all of our feature vectors together. We can combine our clinical variables with our extracted image features and extracted NLP features.</a:t>
            </a:r>
          </a:p>
          <a:p>
            <a:endParaRPr lang="en-US" dirty="0"/>
          </a:p>
          <a:p>
            <a:r>
              <a:rPr lang="en-US" dirty="0"/>
              <a:t>Of course, this is the obvious thing to do once you understand the concept of an encoder, but having effective encoders for some of these data types – notably image data – is still a fairly recent development</a:t>
            </a:r>
          </a:p>
        </p:txBody>
      </p:sp>
      <p:sp>
        <p:nvSpPr>
          <p:cNvPr id="4" name="Slide Number Placeholder 3">
            <a:extLst>
              <a:ext uri="{FF2B5EF4-FFF2-40B4-BE49-F238E27FC236}">
                <a16:creationId xmlns:a16="http://schemas.microsoft.com/office/drawing/2014/main" id="{D65D2321-89E1-0165-C85B-0B5A10CD118A}"/>
              </a:ext>
            </a:extLst>
          </p:cNvPr>
          <p:cNvSpPr>
            <a:spLocks noGrp="1"/>
          </p:cNvSpPr>
          <p:nvPr>
            <p:ph type="sldNum" sz="quarter" idx="5"/>
          </p:nvPr>
        </p:nvSpPr>
        <p:spPr/>
        <p:txBody>
          <a:bodyPr/>
          <a:lstStyle/>
          <a:p>
            <a:fld id="{9FCDE58F-843A-8447-AF7F-7BD31329CDC1}" type="slidenum">
              <a:rPr lang="en-US" smtClean="0"/>
              <a:t>42</a:t>
            </a:fld>
            <a:endParaRPr lang="en-US"/>
          </a:p>
        </p:txBody>
      </p:sp>
    </p:spTree>
    <p:extLst>
      <p:ext uri="{BB962C8B-B14F-4D97-AF65-F5344CB8AC3E}">
        <p14:creationId xmlns:p14="http://schemas.microsoft.com/office/powerpoint/2010/main" val="12701178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79150-F068-3EC2-EB2F-5C77A2D244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EC804-7594-8788-DCC1-C67B9B51E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0F328D-24AD-C7E9-1B04-A0CD5DBA3117}"/>
              </a:ext>
            </a:extLst>
          </p:cNvPr>
          <p:cNvSpPr>
            <a:spLocks noGrp="1"/>
          </p:cNvSpPr>
          <p:nvPr>
            <p:ph type="body" idx="1"/>
          </p:nvPr>
        </p:nvSpPr>
        <p:spPr/>
        <p:txBody>
          <a:bodyPr/>
          <a:lstStyle/>
          <a:p>
            <a:r>
              <a:rPr lang="en-US" dirty="0"/>
              <a:t>But what if we want to make predictions from all three types of data, together?</a:t>
            </a:r>
          </a:p>
          <a:p>
            <a:endParaRPr lang="en-US" dirty="0"/>
          </a:p>
          <a:p>
            <a:r>
              <a:rPr lang="en-US" dirty="0"/>
              <a:t>As this diagram suggests, we can approach this by simply concatenating – in other words stacking – all of our feature vectors together. We can combine our clinical variables with our extracted image features and extracted NLP features.</a:t>
            </a:r>
          </a:p>
          <a:p>
            <a:endParaRPr lang="en-US" dirty="0"/>
          </a:p>
          <a:p>
            <a:r>
              <a:rPr lang="en-US" dirty="0"/>
              <a:t>Of course, this is the obvious thing to do once you understand the concept of an encoder, but having effective encoders for some of these data types – notably image data – is still a fairly recent development</a:t>
            </a:r>
          </a:p>
        </p:txBody>
      </p:sp>
      <p:sp>
        <p:nvSpPr>
          <p:cNvPr id="4" name="Slide Number Placeholder 3">
            <a:extLst>
              <a:ext uri="{FF2B5EF4-FFF2-40B4-BE49-F238E27FC236}">
                <a16:creationId xmlns:a16="http://schemas.microsoft.com/office/drawing/2014/main" id="{4BBE0F07-A596-7219-10BA-9A743833AE12}"/>
              </a:ext>
            </a:extLst>
          </p:cNvPr>
          <p:cNvSpPr>
            <a:spLocks noGrp="1"/>
          </p:cNvSpPr>
          <p:nvPr>
            <p:ph type="sldNum" sz="quarter" idx="5"/>
          </p:nvPr>
        </p:nvSpPr>
        <p:spPr/>
        <p:txBody>
          <a:bodyPr/>
          <a:lstStyle/>
          <a:p>
            <a:fld id="{9FCDE58F-843A-8447-AF7F-7BD31329CDC1}" type="slidenum">
              <a:rPr lang="en-US" smtClean="0"/>
              <a:t>43</a:t>
            </a:fld>
            <a:endParaRPr lang="en-US"/>
          </a:p>
        </p:txBody>
      </p:sp>
    </p:spTree>
    <p:extLst>
      <p:ext uri="{BB962C8B-B14F-4D97-AF65-F5344CB8AC3E}">
        <p14:creationId xmlns:p14="http://schemas.microsoft.com/office/powerpoint/2010/main" val="39283444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52B4B-407E-AF9B-D1E1-D022426FB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20F10D-6528-82D7-D43A-BD499625DE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04C1C0-B511-ECD4-64B9-49224AA84A5B}"/>
              </a:ext>
            </a:extLst>
          </p:cNvPr>
          <p:cNvSpPr>
            <a:spLocks noGrp="1"/>
          </p:cNvSpPr>
          <p:nvPr>
            <p:ph type="body" idx="1"/>
          </p:nvPr>
        </p:nvSpPr>
        <p:spPr/>
        <p:txBody>
          <a:bodyPr/>
          <a:lstStyle/>
          <a:p>
            <a:r>
              <a:rPr lang="en-US" dirty="0"/>
              <a:t>But what if we want to make predictions from all three types of data, together?</a:t>
            </a:r>
          </a:p>
          <a:p>
            <a:endParaRPr lang="en-US" dirty="0"/>
          </a:p>
          <a:p>
            <a:r>
              <a:rPr lang="en-US" dirty="0"/>
              <a:t>As this diagram suggests, we can approach this by simply concatenating – in other words stacking – all of our feature vectors together. We can combine our clinical variables with our extracted image features and extracted NLP features.</a:t>
            </a:r>
          </a:p>
          <a:p>
            <a:endParaRPr lang="en-US" dirty="0"/>
          </a:p>
          <a:p>
            <a:r>
              <a:rPr lang="en-US" dirty="0"/>
              <a:t>Of course, this is the obvious thing to do once you understand the concept of an encoder, but having effective encoders for some of these data types – notably image data – is still a fairly recent development</a:t>
            </a:r>
          </a:p>
        </p:txBody>
      </p:sp>
      <p:sp>
        <p:nvSpPr>
          <p:cNvPr id="4" name="Slide Number Placeholder 3">
            <a:extLst>
              <a:ext uri="{FF2B5EF4-FFF2-40B4-BE49-F238E27FC236}">
                <a16:creationId xmlns:a16="http://schemas.microsoft.com/office/drawing/2014/main" id="{849AAB69-419D-0FD7-B314-F082D7789132}"/>
              </a:ext>
            </a:extLst>
          </p:cNvPr>
          <p:cNvSpPr>
            <a:spLocks noGrp="1"/>
          </p:cNvSpPr>
          <p:nvPr>
            <p:ph type="sldNum" sz="quarter" idx="5"/>
          </p:nvPr>
        </p:nvSpPr>
        <p:spPr/>
        <p:txBody>
          <a:bodyPr/>
          <a:lstStyle/>
          <a:p>
            <a:fld id="{9FCDE58F-843A-8447-AF7F-7BD31329CDC1}" type="slidenum">
              <a:rPr lang="en-US" smtClean="0"/>
              <a:t>44</a:t>
            </a:fld>
            <a:endParaRPr lang="en-US"/>
          </a:p>
        </p:txBody>
      </p:sp>
    </p:spTree>
    <p:extLst>
      <p:ext uri="{BB962C8B-B14F-4D97-AF65-F5344CB8AC3E}">
        <p14:creationId xmlns:p14="http://schemas.microsoft.com/office/powerpoint/2010/main" val="20134281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98E2C-B677-A446-AB17-7238E74366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D809F3-641A-EB42-B15A-27830D7D0A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15DEC1-1903-1253-9517-848000AE8DBE}"/>
              </a:ext>
            </a:extLst>
          </p:cNvPr>
          <p:cNvSpPr>
            <a:spLocks noGrp="1"/>
          </p:cNvSpPr>
          <p:nvPr>
            <p:ph type="body" idx="1"/>
          </p:nvPr>
        </p:nvSpPr>
        <p:spPr/>
        <p:txBody>
          <a:bodyPr/>
          <a:lstStyle/>
          <a:p>
            <a:r>
              <a:rPr lang="en-US" dirty="0"/>
              <a:t>But what if we want to make predictions from all three types of data, together?</a:t>
            </a:r>
          </a:p>
          <a:p>
            <a:endParaRPr lang="en-US" dirty="0"/>
          </a:p>
          <a:p>
            <a:r>
              <a:rPr lang="en-US" dirty="0"/>
              <a:t>As this diagram suggests, we can approach this by simply concatenating – in other words stacking – all of our feature vectors together. We can combine our clinical variables with our extracted image features and extracted NLP features.</a:t>
            </a:r>
          </a:p>
          <a:p>
            <a:endParaRPr lang="en-US" dirty="0"/>
          </a:p>
          <a:p>
            <a:r>
              <a:rPr lang="en-US" dirty="0"/>
              <a:t>Of course, this is the obvious thing to do once you understand the concept of an encoder, but having effective encoders for some of these data types – notably image data – is still a fairly recent development</a:t>
            </a:r>
          </a:p>
        </p:txBody>
      </p:sp>
      <p:sp>
        <p:nvSpPr>
          <p:cNvPr id="4" name="Slide Number Placeholder 3">
            <a:extLst>
              <a:ext uri="{FF2B5EF4-FFF2-40B4-BE49-F238E27FC236}">
                <a16:creationId xmlns:a16="http://schemas.microsoft.com/office/drawing/2014/main" id="{FD400E28-B11E-D58C-00AA-28BF750B41B8}"/>
              </a:ext>
            </a:extLst>
          </p:cNvPr>
          <p:cNvSpPr>
            <a:spLocks noGrp="1"/>
          </p:cNvSpPr>
          <p:nvPr>
            <p:ph type="sldNum" sz="quarter" idx="5"/>
          </p:nvPr>
        </p:nvSpPr>
        <p:spPr/>
        <p:txBody>
          <a:bodyPr/>
          <a:lstStyle/>
          <a:p>
            <a:fld id="{9FCDE58F-843A-8447-AF7F-7BD31329CDC1}" type="slidenum">
              <a:rPr lang="en-US" smtClean="0"/>
              <a:t>45</a:t>
            </a:fld>
            <a:endParaRPr lang="en-US"/>
          </a:p>
        </p:txBody>
      </p:sp>
    </p:spTree>
    <p:extLst>
      <p:ext uri="{BB962C8B-B14F-4D97-AF65-F5344CB8AC3E}">
        <p14:creationId xmlns:p14="http://schemas.microsoft.com/office/powerpoint/2010/main" val="1471179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5BEA9-8D6F-6A51-F363-D69B4D7711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6C014-DDFC-77DE-98CB-C75575F7C4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628EF9-5F1C-C5C0-7745-D50E47FFD3D1}"/>
              </a:ext>
            </a:extLst>
          </p:cNvPr>
          <p:cNvSpPr>
            <a:spLocks noGrp="1"/>
          </p:cNvSpPr>
          <p:nvPr>
            <p:ph type="body" idx="1"/>
          </p:nvPr>
        </p:nvSpPr>
        <p:spPr/>
        <p:txBody>
          <a:bodyPr/>
          <a:lstStyle/>
          <a:p>
            <a:r>
              <a:rPr lang="en-US" dirty="0"/>
              <a:t>Now, I’m really past my time here</a:t>
            </a:r>
          </a:p>
          <a:p>
            <a:r>
              <a:rPr lang="en-US" dirty="0"/>
              <a:t>But this last part I think I can keep short and sweet</a:t>
            </a:r>
          </a:p>
          <a:p>
            <a:endParaRPr lang="en-US" dirty="0"/>
          </a:p>
          <a:p>
            <a:r>
              <a:rPr lang="en-US" dirty="0"/>
              <a:t>Right now, there’s quite a bit of work to combine the best aspects of both</a:t>
            </a:r>
          </a:p>
          <a:p>
            <a:r>
              <a:rPr lang="en-US" dirty="0"/>
              <a:t>In other words, to build models that have a general understanding of medical data, across many different modalities</a:t>
            </a:r>
          </a:p>
        </p:txBody>
      </p:sp>
      <p:sp>
        <p:nvSpPr>
          <p:cNvPr id="4" name="Slide Number Placeholder 3">
            <a:extLst>
              <a:ext uri="{FF2B5EF4-FFF2-40B4-BE49-F238E27FC236}">
                <a16:creationId xmlns:a16="http://schemas.microsoft.com/office/drawing/2014/main" id="{0D025580-B6AA-DCE8-EB84-297578DE45E0}"/>
              </a:ext>
            </a:extLst>
          </p:cNvPr>
          <p:cNvSpPr>
            <a:spLocks noGrp="1"/>
          </p:cNvSpPr>
          <p:nvPr>
            <p:ph type="sldNum" sz="quarter" idx="5"/>
          </p:nvPr>
        </p:nvSpPr>
        <p:spPr/>
        <p:txBody>
          <a:bodyPr/>
          <a:lstStyle/>
          <a:p>
            <a:fld id="{FA87938A-5C4B-C644-A452-8D4D784107A7}" type="slidenum">
              <a:rPr lang="en-US" smtClean="0"/>
              <a:t>46</a:t>
            </a:fld>
            <a:endParaRPr lang="en-US"/>
          </a:p>
        </p:txBody>
      </p:sp>
    </p:spTree>
    <p:extLst>
      <p:ext uri="{BB962C8B-B14F-4D97-AF65-F5344CB8AC3E}">
        <p14:creationId xmlns:p14="http://schemas.microsoft.com/office/powerpoint/2010/main" val="24584201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collaborators</a:t>
            </a:r>
          </a:p>
          <a:p>
            <a:r>
              <a:rPr lang="en-US" dirty="0"/>
              <a:t>Thanks to the DCABD for the opportunity to present</a:t>
            </a:r>
          </a:p>
          <a:p>
            <a:endParaRPr lang="en-US" dirty="0"/>
          </a:p>
          <a:p>
            <a:r>
              <a:rPr lang="en-US" dirty="0"/>
              <a:t>Thanks very much for listening, and please don’t hesitate to get in touch!</a:t>
            </a:r>
          </a:p>
        </p:txBody>
      </p:sp>
      <p:sp>
        <p:nvSpPr>
          <p:cNvPr id="4" name="Slide Number Placeholder 3"/>
          <p:cNvSpPr>
            <a:spLocks noGrp="1"/>
          </p:cNvSpPr>
          <p:nvPr>
            <p:ph type="sldNum" sz="quarter" idx="5"/>
          </p:nvPr>
        </p:nvSpPr>
        <p:spPr/>
        <p:txBody>
          <a:bodyPr/>
          <a:lstStyle/>
          <a:p>
            <a:fld id="{8178DA42-D216-C84B-AF9B-602188272C41}" type="slidenum">
              <a:rPr lang="en-US" smtClean="0"/>
              <a:t>52</a:t>
            </a:fld>
            <a:endParaRPr lang="en-US"/>
          </a:p>
        </p:txBody>
      </p:sp>
    </p:spTree>
    <p:extLst>
      <p:ext uri="{BB962C8B-B14F-4D97-AF65-F5344CB8AC3E}">
        <p14:creationId xmlns:p14="http://schemas.microsoft.com/office/powerpoint/2010/main" val="2869032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4FD54-9C7C-C145-BBC2-DF6B9D7903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BC1545-3F00-764D-A01E-6F33B9AEB8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4A1274-D7DC-B142-8FB7-A98CA1D774EE}"/>
              </a:ext>
            </a:extLst>
          </p:cNvPr>
          <p:cNvSpPr>
            <a:spLocks noGrp="1"/>
          </p:cNvSpPr>
          <p:nvPr>
            <p:ph type="dt" sz="half" idx="10"/>
          </p:nvPr>
        </p:nvSpPr>
        <p:spPr/>
        <p:txBody>
          <a:bodyPr/>
          <a:lstStyle/>
          <a:p>
            <a:fld id="{14BEF16A-8AC4-A849-AEC8-80BCDB7517BA}" type="datetimeFigureOut">
              <a:rPr lang="en-US" smtClean="0"/>
              <a:t>6/13/26</a:t>
            </a:fld>
            <a:endParaRPr lang="en-US"/>
          </a:p>
        </p:txBody>
      </p:sp>
      <p:sp>
        <p:nvSpPr>
          <p:cNvPr id="5" name="Footer Placeholder 4">
            <a:extLst>
              <a:ext uri="{FF2B5EF4-FFF2-40B4-BE49-F238E27FC236}">
                <a16:creationId xmlns:a16="http://schemas.microsoft.com/office/drawing/2014/main" id="{AEC72DE7-92EB-AC4A-953C-9002FDC509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40FC0-4434-B549-A851-8B1679079155}"/>
              </a:ext>
            </a:extLst>
          </p:cNvPr>
          <p:cNvSpPr>
            <a:spLocks noGrp="1"/>
          </p:cNvSpPr>
          <p:nvPr>
            <p:ph type="sldNum" sz="quarter" idx="12"/>
          </p:nvPr>
        </p:nvSpPr>
        <p:spPr/>
        <p:txBody>
          <a:bodyPr/>
          <a:lstStyle/>
          <a:p>
            <a:fld id="{A3B43024-2C75-3240-AA2F-3AC83BF0955F}" type="slidenum">
              <a:rPr lang="en-US" smtClean="0"/>
              <a:t>‹#›</a:t>
            </a:fld>
            <a:endParaRPr lang="en-US"/>
          </a:p>
        </p:txBody>
      </p:sp>
    </p:spTree>
    <p:extLst>
      <p:ext uri="{BB962C8B-B14F-4D97-AF65-F5344CB8AC3E}">
        <p14:creationId xmlns:p14="http://schemas.microsoft.com/office/powerpoint/2010/main" val="2482460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12C9C-9030-7943-964A-082DE4A251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5F2121-19CB-484D-807C-AA2DB97C6B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CC4262-14A1-1944-924E-A5A99729FD19}"/>
              </a:ext>
            </a:extLst>
          </p:cNvPr>
          <p:cNvSpPr>
            <a:spLocks noGrp="1"/>
          </p:cNvSpPr>
          <p:nvPr>
            <p:ph type="dt" sz="half" idx="10"/>
          </p:nvPr>
        </p:nvSpPr>
        <p:spPr/>
        <p:txBody>
          <a:bodyPr/>
          <a:lstStyle/>
          <a:p>
            <a:fld id="{14BEF16A-8AC4-A849-AEC8-80BCDB7517BA}" type="datetimeFigureOut">
              <a:rPr lang="en-US" smtClean="0"/>
              <a:t>6/13/26</a:t>
            </a:fld>
            <a:endParaRPr lang="en-US"/>
          </a:p>
        </p:txBody>
      </p:sp>
      <p:sp>
        <p:nvSpPr>
          <p:cNvPr id="5" name="Footer Placeholder 4">
            <a:extLst>
              <a:ext uri="{FF2B5EF4-FFF2-40B4-BE49-F238E27FC236}">
                <a16:creationId xmlns:a16="http://schemas.microsoft.com/office/drawing/2014/main" id="{69474FBF-4553-E246-AACF-434CBCAABF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000B3E-EE03-684C-98AD-6DAF6E1EB811}"/>
              </a:ext>
            </a:extLst>
          </p:cNvPr>
          <p:cNvSpPr>
            <a:spLocks noGrp="1"/>
          </p:cNvSpPr>
          <p:nvPr>
            <p:ph type="sldNum" sz="quarter" idx="12"/>
          </p:nvPr>
        </p:nvSpPr>
        <p:spPr/>
        <p:txBody>
          <a:bodyPr/>
          <a:lstStyle/>
          <a:p>
            <a:fld id="{A3B43024-2C75-3240-AA2F-3AC83BF0955F}" type="slidenum">
              <a:rPr lang="en-US" smtClean="0"/>
              <a:t>‹#›</a:t>
            </a:fld>
            <a:endParaRPr lang="en-US"/>
          </a:p>
        </p:txBody>
      </p:sp>
    </p:spTree>
    <p:extLst>
      <p:ext uri="{BB962C8B-B14F-4D97-AF65-F5344CB8AC3E}">
        <p14:creationId xmlns:p14="http://schemas.microsoft.com/office/powerpoint/2010/main" val="951196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48F6A-0CF1-4C4E-A110-DCBD51D690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86EEBC-8B28-9849-9078-BD417FF59E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78CD2A-584B-AF4E-A334-58E7B98AA727}"/>
              </a:ext>
            </a:extLst>
          </p:cNvPr>
          <p:cNvSpPr>
            <a:spLocks noGrp="1"/>
          </p:cNvSpPr>
          <p:nvPr>
            <p:ph type="dt" sz="half" idx="10"/>
          </p:nvPr>
        </p:nvSpPr>
        <p:spPr/>
        <p:txBody>
          <a:bodyPr/>
          <a:lstStyle/>
          <a:p>
            <a:fld id="{14BEF16A-8AC4-A849-AEC8-80BCDB7517BA}" type="datetimeFigureOut">
              <a:rPr lang="en-US" smtClean="0"/>
              <a:t>6/13/26</a:t>
            </a:fld>
            <a:endParaRPr lang="en-US"/>
          </a:p>
        </p:txBody>
      </p:sp>
      <p:sp>
        <p:nvSpPr>
          <p:cNvPr id="5" name="Footer Placeholder 4">
            <a:extLst>
              <a:ext uri="{FF2B5EF4-FFF2-40B4-BE49-F238E27FC236}">
                <a16:creationId xmlns:a16="http://schemas.microsoft.com/office/drawing/2014/main" id="{C8A0E611-7F2B-D64A-9FA2-810C61ACDF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97BBBA-76A3-4B4F-84FC-DE1E42F95553}"/>
              </a:ext>
            </a:extLst>
          </p:cNvPr>
          <p:cNvSpPr>
            <a:spLocks noGrp="1"/>
          </p:cNvSpPr>
          <p:nvPr>
            <p:ph type="sldNum" sz="quarter" idx="12"/>
          </p:nvPr>
        </p:nvSpPr>
        <p:spPr/>
        <p:txBody>
          <a:bodyPr/>
          <a:lstStyle/>
          <a:p>
            <a:fld id="{A3B43024-2C75-3240-AA2F-3AC83BF0955F}" type="slidenum">
              <a:rPr lang="en-US" smtClean="0"/>
              <a:t>‹#›</a:t>
            </a:fld>
            <a:endParaRPr lang="en-US"/>
          </a:p>
        </p:txBody>
      </p:sp>
    </p:spTree>
    <p:extLst>
      <p:ext uri="{BB962C8B-B14F-4D97-AF65-F5344CB8AC3E}">
        <p14:creationId xmlns:p14="http://schemas.microsoft.com/office/powerpoint/2010/main" val="2735304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2164D-02C5-8044-9025-0E60AFD4FA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482C88-882E-C64B-92A7-86C5447FFF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8179FE-F9CC-754B-B81C-3C7DBE6B70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147F2B-AA37-F644-A0E0-C46446991E01}"/>
              </a:ext>
            </a:extLst>
          </p:cNvPr>
          <p:cNvSpPr>
            <a:spLocks noGrp="1"/>
          </p:cNvSpPr>
          <p:nvPr>
            <p:ph type="dt" sz="half" idx="10"/>
          </p:nvPr>
        </p:nvSpPr>
        <p:spPr/>
        <p:txBody>
          <a:bodyPr/>
          <a:lstStyle/>
          <a:p>
            <a:fld id="{14BEF16A-8AC4-A849-AEC8-80BCDB7517BA}" type="datetimeFigureOut">
              <a:rPr lang="en-US" smtClean="0"/>
              <a:t>6/13/26</a:t>
            </a:fld>
            <a:endParaRPr lang="en-US"/>
          </a:p>
        </p:txBody>
      </p:sp>
      <p:sp>
        <p:nvSpPr>
          <p:cNvPr id="6" name="Footer Placeholder 5">
            <a:extLst>
              <a:ext uri="{FF2B5EF4-FFF2-40B4-BE49-F238E27FC236}">
                <a16:creationId xmlns:a16="http://schemas.microsoft.com/office/drawing/2014/main" id="{2F5BE8E1-2604-8D4A-88DE-7C28D264FE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99E9AA-4371-1241-B627-477DE2E8BDDB}"/>
              </a:ext>
            </a:extLst>
          </p:cNvPr>
          <p:cNvSpPr>
            <a:spLocks noGrp="1"/>
          </p:cNvSpPr>
          <p:nvPr>
            <p:ph type="sldNum" sz="quarter" idx="12"/>
          </p:nvPr>
        </p:nvSpPr>
        <p:spPr/>
        <p:txBody>
          <a:bodyPr/>
          <a:lstStyle/>
          <a:p>
            <a:fld id="{A3B43024-2C75-3240-AA2F-3AC83BF0955F}" type="slidenum">
              <a:rPr lang="en-US" smtClean="0"/>
              <a:t>‹#›</a:t>
            </a:fld>
            <a:endParaRPr lang="en-US"/>
          </a:p>
        </p:txBody>
      </p:sp>
    </p:spTree>
    <p:extLst>
      <p:ext uri="{BB962C8B-B14F-4D97-AF65-F5344CB8AC3E}">
        <p14:creationId xmlns:p14="http://schemas.microsoft.com/office/powerpoint/2010/main" val="2332436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3F9A2-B429-A84D-907B-9131904CE7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D82B90-3E53-8D43-8BE9-A1C1623187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2525E6-5AFB-CF48-B238-7EF52F3066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5FCEEF-415C-E440-9348-2A8A7CAD43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FF516E-C2B4-334E-BFC2-CA83C6093E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771BA3-81CD-7B46-8155-E4159A29CDCC}"/>
              </a:ext>
            </a:extLst>
          </p:cNvPr>
          <p:cNvSpPr>
            <a:spLocks noGrp="1"/>
          </p:cNvSpPr>
          <p:nvPr>
            <p:ph type="dt" sz="half" idx="10"/>
          </p:nvPr>
        </p:nvSpPr>
        <p:spPr/>
        <p:txBody>
          <a:bodyPr/>
          <a:lstStyle/>
          <a:p>
            <a:fld id="{14BEF16A-8AC4-A849-AEC8-80BCDB7517BA}" type="datetimeFigureOut">
              <a:rPr lang="en-US" smtClean="0"/>
              <a:t>6/13/26</a:t>
            </a:fld>
            <a:endParaRPr lang="en-US"/>
          </a:p>
        </p:txBody>
      </p:sp>
      <p:sp>
        <p:nvSpPr>
          <p:cNvPr id="8" name="Footer Placeholder 7">
            <a:extLst>
              <a:ext uri="{FF2B5EF4-FFF2-40B4-BE49-F238E27FC236}">
                <a16:creationId xmlns:a16="http://schemas.microsoft.com/office/drawing/2014/main" id="{5275FB49-376C-684B-8236-67508ED6DB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6EDC1C-3D64-7F48-92B2-3FDAF3E446CB}"/>
              </a:ext>
            </a:extLst>
          </p:cNvPr>
          <p:cNvSpPr>
            <a:spLocks noGrp="1"/>
          </p:cNvSpPr>
          <p:nvPr>
            <p:ph type="sldNum" sz="quarter" idx="12"/>
          </p:nvPr>
        </p:nvSpPr>
        <p:spPr/>
        <p:txBody>
          <a:bodyPr/>
          <a:lstStyle/>
          <a:p>
            <a:fld id="{A3B43024-2C75-3240-AA2F-3AC83BF0955F}" type="slidenum">
              <a:rPr lang="en-US" smtClean="0"/>
              <a:t>‹#›</a:t>
            </a:fld>
            <a:endParaRPr lang="en-US"/>
          </a:p>
        </p:txBody>
      </p:sp>
    </p:spTree>
    <p:extLst>
      <p:ext uri="{BB962C8B-B14F-4D97-AF65-F5344CB8AC3E}">
        <p14:creationId xmlns:p14="http://schemas.microsoft.com/office/powerpoint/2010/main" val="486126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A3871-40D3-F349-B1F1-670C23C4A3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CE0AD7-D059-1849-9720-8E06DF91FAF1}"/>
              </a:ext>
            </a:extLst>
          </p:cNvPr>
          <p:cNvSpPr>
            <a:spLocks noGrp="1"/>
          </p:cNvSpPr>
          <p:nvPr>
            <p:ph type="dt" sz="half" idx="10"/>
          </p:nvPr>
        </p:nvSpPr>
        <p:spPr/>
        <p:txBody>
          <a:bodyPr/>
          <a:lstStyle/>
          <a:p>
            <a:fld id="{14BEF16A-8AC4-A849-AEC8-80BCDB7517BA}" type="datetimeFigureOut">
              <a:rPr lang="en-US" smtClean="0"/>
              <a:t>6/13/26</a:t>
            </a:fld>
            <a:endParaRPr lang="en-US"/>
          </a:p>
        </p:txBody>
      </p:sp>
      <p:sp>
        <p:nvSpPr>
          <p:cNvPr id="4" name="Footer Placeholder 3">
            <a:extLst>
              <a:ext uri="{FF2B5EF4-FFF2-40B4-BE49-F238E27FC236}">
                <a16:creationId xmlns:a16="http://schemas.microsoft.com/office/drawing/2014/main" id="{FB7D0BEF-9114-E442-98CF-5B68DD242B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DFBAEA-63C5-444C-B9F4-6424EDA7AFFC}"/>
              </a:ext>
            </a:extLst>
          </p:cNvPr>
          <p:cNvSpPr>
            <a:spLocks noGrp="1"/>
          </p:cNvSpPr>
          <p:nvPr>
            <p:ph type="sldNum" sz="quarter" idx="12"/>
          </p:nvPr>
        </p:nvSpPr>
        <p:spPr/>
        <p:txBody>
          <a:bodyPr/>
          <a:lstStyle/>
          <a:p>
            <a:fld id="{A3B43024-2C75-3240-AA2F-3AC83BF0955F}" type="slidenum">
              <a:rPr lang="en-US" smtClean="0"/>
              <a:t>‹#›</a:t>
            </a:fld>
            <a:endParaRPr lang="en-US"/>
          </a:p>
        </p:txBody>
      </p:sp>
    </p:spTree>
    <p:extLst>
      <p:ext uri="{BB962C8B-B14F-4D97-AF65-F5344CB8AC3E}">
        <p14:creationId xmlns:p14="http://schemas.microsoft.com/office/powerpoint/2010/main" val="511562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B35A2-4571-9449-8D98-CABDE7B9A711}"/>
              </a:ext>
            </a:extLst>
          </p:cNvPr>
          <p:cNvSpPr>
            <a:spLocks noGrp="1"/>
          </p:cNvSpPr>
          <p:nvPr>
            <p:ph type="dt" sz="half" idx="10"/>
          </p:nvPr>
        </p:nvSpPr>
        <p:spPr/>
        <p:txBody>
          <a:bodyPr/>
          <a:lstStyle/>
          <a:p>
            <a:fld id="{14BEF16A-8AC4-A849-AEC8-80BCDB7517BA}" type="datetimeFigureOut">
              <a:rPr lang="en-US" smtClean="0"/>
              <a:t>6/13/26</a:t>
            </a:fld>
            <a:endParaRPr lang="en-US"/>
          </a:p>
        </p:txBody>
      </p:sp>
      <p:sp>
        <p:nvSpPr>
          <p:cNvPr id="3" name="Footer Placeholder 2">
            <a:extLst>
              <a:ext uri="{FF2B5EF4-FFF2-40B4-BE49-F238E27FC236}">
                <a16:creationId xmlns:a16="http://schemas.microsoft.com/office/drawing/2014/main" id="{28997809-5F33-D94B-A81D-0A32270B5CC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E62002-1AAF-4E48-A6DA-7D4057CDC059}"/>
              </a:ext>
            </a:extLst>
          </p:cNvPr>
          <p:cNvSpPr>
            <a:spLocks noGrp="1"/>
          </p:cNvSpPr>
          <p:nvPr>
            <p:ph type="sldNum" sz="quarter" idx="12"/>
          </p:nvPr>
        </p:nvSpPr>
        <p:spPr/>
        <p:txBody>
          <a:bodyPr/>
          <a:lstStyle/>
          <a:p>
            <a:fld id="{A3B43024-2C75-3240-AA2F-3AC83BF0955F}" type="slidenum">
              <a:rPr lang="en-US" smtClean="0"/>
              <a:t>‹#›</a:t>
            </a:fld>
            <a:endParaRPr lang="en-US"/>
          </a:p>
        </p:txBody>
      </p:sp>
    </p:spTree>
    <p:extLst>
      <p:ext uri="{BB962C8B-B14F-4D97-AF65-F5344CB8AC3E}">
        <p14:creationId xmlns:p14="http://schemas.microsoft.com/office/powerpoint/2010/main" val="3592855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46223-0265-8240-8D8F-FC7479E87C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82DF0C-A808-E24C-8F87-127321E250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5529C1-1CFE-2142-BAF2-D1D4DB6F45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A73E1D-E29B-064C-AEF7-1D05FADD0878}"/>
              </a:ext>
            </a:extLst>
          </p:cNvPr>
          <p:cNvSpPr>
            <a:spLocks noGrp="1"/>
          </p:cNvSpPr>
          <p:nvPr>
            <p:ph type="dt" sz="half" idx="10"/>
          </p:nvPr>
        </p:nvSpPr>
        <p:spPr/>
        <p:txBody>
          <a:bodyPr/>
          <a:lstStyle/>
          <a:p>
            <a:fld id="{14BEF16A-8AC4-A849-AEC8-80BCDB7517BA}" type="datetimeFigureOut">
              <a:rPr lang="en-US" smtClean="0"/>
              <a:t>6/13/26</a:t>
            </a:fld>
            <a:endParaRPr lang="en-US"/>
          </a:p>
        </p:txBody>
      </p:sp>
      <p:sp>
        <p:nvSpPr>
          <p:cNvPr id="6" name="Footer Placeholder 5">
            <a:extLst>
              <a:ext uri="{FF2B5EF4-FFF2-40B4-BE49-F238E27FC236}">
                <a16:creationId xmlns:a16="http://schemas.microsoft.com/office/drawing/2014/main" id="{860330C8-F079-A34C-9326-993A481CCB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897257-07F0-674E-B9FE-98A4C026897E}"/>
              </a:ext>
            </a:extLst>
          </p:cNvPr>
          <p:cNvSpPr>
            <a:spLocks noGrp="1"/>
          </p:cNvSpPr>
          <p:nvPr>
            <p:ph type="sldNum" sz="quarter" idx="12"/>
          </p:nvPr>
        </p:nvSpPr>
        <p:spPr/>
        <p:txBody>
          <a:bodyPr/>
          <a:lstStyle/>
          <a:p>
            <a:fld id="{A3B43024-2C75-3240-AA2F-3AC83BF0955F}" type="slidenum">
              <a:rPr lang="en-US" smtClean="0"/>
              <a:t>‹#›</a:t>
            </a:fld>
            <a:endParaRPr lang="en-US"/>
          </a:p>
        </p:txBody>
      </p:sp>
    </p:spTree>
    <p:extLst>
      <p:ext uri="{BB962C8B-B14F-4D97-AF65-F5344CB8AC3E}">
        <p14:creationId xmlns:p14="http://schemas.microsoft.com/office/powerpoint/2010/main" val="3802615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FF0A8-F3AF-9842-80CF-76CBC39630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6E8847B-0AE6-6348-803F-D2BB0D1166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D2E116-5556-E14A-9EA5-41227333CF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D76642-D543-8842-8FEC-4F892D12B9A3}"/>
              </a:ext>
            </a:extLst>
          </p:cNvPr>
          <p:cNvSpPr>
            <a:spLocks noGrp="1"/>
          </p:cNvSpPr>
          <p:nvPr>
            <p:ph type="dt" sz="half" idx="10"/>
          </p:nvPr>
        </p:nvSpPr>
        <p:spPr/>
        <p:txBody>
          <a:bodyPr/>
          <a:lstStyle/>
          <a:p>
            <a:fld id="{14BEF16A-8AC4-A849-AEC8-80BCDB7517BA}" type="datetimeFigureOut">
              <a:rPr lang="en-US" smtClean="0"/>
              <a:t>6/13/26</a:t>
            </a:fld>
            <a:endParaRPr lang="en-US"/>
          </a:p>
        </p:txBody>
      </p:sp>
      <p:sp>
        <p:nvSpPr>
          <p:cNvPr id="6" name="Footer Placeholder 5">
            <a:extLst>
              <a:ext uri="{FF2B5EF4-FFF2-40B4-BE49-F238E27FC236}">
                <a16:creationId xmlns:a16="http://schemas.microsoft.com/office/drawing/2014/main" id="{8FE833A6-1051-8C4E-ABBC-4E101B2108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A12389-3618-A24A-9636-331B231123F2}"/>
              </a:ext>
            </a:extLst>
          </p:cNvPr>
          <p:cNvSpPr>
            <a:spLocks noGrp="1"/>
          </p:cNvSpPr>
          <p:nvPr>
            <p:ph type="sldNum" sz="quarter" idx="12"/>
          </p:nvPr>
        </p:nvSpPr>
        <p:spPr/>
        <p:txBody>
          <a:bodyPr/>
          <a:lstStyle/>
          <a:p>
            <a:fld id="{A3B43024-2C75-3240-AA2F-3AC83BF0955F}" type="slidenum">
              <a:rPr lang="en-US" smtClean="0"/>
              <a:t>‹#›</a:t>
            </a:fld>
            <a:endParaRPr lang="en-US"/>
          </a:p>
        </p:txBody>
      </p:sp>
    </p:spTree>
    <p:extLst>
      <p:ext uri="{BB962C8B-B14F-4D97-AF65-F5344CB8AC3E}">
        <p14:creationId xmlns:p14="http://schemas.microsoft.com/office/powerpoint/2010/main" val="1038395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82935-723F-304D-8AC0-3C56D1D159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B1E697-2778-BB45-9087-556AADDF49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3B5CAA-6751-DB4B-A8B9-CAEE90407B65}"/>
              </a:ext>
            </a:extLst>
          </p:cNvPr>
          <p:cNvSpPr>
            <a:spLocks noGrp="1"/>
          </p:cNvSpPr>
          <p:nvPr>
            <p:ph type="dt" sz="half" idx="10"/>
          </p:nvPr>
        </p:nvSpPr>
        <p:spPr/>
        <p:txBody>
          <a:bodyPr/>
          <a:lstStyle/>
          <a:p>
            <a:fld id="{14BEF16A-8AC4-A849-AEC8-80BCDB7517BA}" type="datetimeFigureOut">
              <a:rPr lang="en-US" smtClean="0"/>
              <a:t>6/13/26</a:t>
            </a:fld>
            <a:endParaRPr lang="en-US"/>
          </a:p>
        </p:txBody>
      </p:sp>
      <p:sp>
        <p:nvSpPr>
          <p:cNvPr id="5" name="Footer Placeholder 4">
            <a:extLst>
              <a:ext uri="{FF2B5EF4-FFF2-40B4-BE49-F238E27FC236}">
                <a16:creationId xmlns:a16="http://schemas.microsoft.com/office/drawing/2014/main" id="{4F6A3E71-AA55-D845-B436-DBC4209EEA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A532FA-E06A-644E-A8AD-8DD9AC088230}"/>
              </a:ext>
            </a:extLst>
          </p:cNvPr>
          <p:cNvSpPr>
            <a:spLocks noGrp="1"/>
          </p:cNvSpPr>
          <p:nvPr>
            <p:ph type="sldNum" sz="quarter" idx="12"/>
          </p:nvPr>
        </p:nvSpPr>
        <p:spPr/>
        <p:txBody>
          <a:bodyPr/>
          <a:lstStyle/>
          <a:p>
            <a:fld id="{A3B43024-2C75-3240-AA2F-3AC83BF0955F}" type="slidenum">
              <a:rPr lang="en-US" smtClean="0"/>
              <a:t>‹#›</a:t>
            </a:fld>
            <a:endParaRPr lang="en-US"/>
          </a:p>
        </p:txBody>
      </p:sp>
    </p:spTree>
    <p:extLst>
      <p:ext uri="{BB962C8B-B14F-4D97-AF65-F5344CB8AC3E}">
        <p14:creationId xmlns:p14="http://schemas.microsoft.com/office/powerpoint/2010/main" val="182188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6B6785-4294-6B4E-9F66-8CCEF877BD6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EF0DB4-2C3B-D742-BE65-4EF7A56E68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E7BE5C-FAD6-5C45-972B-F1BE8983CDF8}"/>
              </a:ext>
            </a:extLst>
          </p:cNvPr>
          <p:cNvSpPr>
            <a:spLocks noGrp="1"/>
          </p:cNvSpPr>
          <p:nvPr>
            <p:ph type="dt" sz="half" idx="10"/>
          </p:nvPr>
        </p:nvSpPr>
        <p:spPr/>
        <p:txBody>
          <a:bodyPr/>
          <a:lstStyle/>
          <a:p>
            <a:fld id="{14BEF16A-8AC4-A849-AEC8-80BCDB7517BA}" type="datetimeFigureOut">
              <a:rPr lang="en-US" smtClean="0"/>
              <a:t>6/13/26</a:t>
            </a:fld>
            <a:endParaRPr lang="en-US"/>
          </a:p>
        </p:txBody>
      </p:sp>
      <p:sp>
        <p:nvSpPr>
          <p:cNvPr id="5" name="Footer Placeholder 4">
            <a:extLst>
              <a:ext uri="{FF2B5EF4-FFF2-40B4-BE49-F238E27FC236}">
                <a16:creationId xmlns:a16="http://schemas.microsoft.com/office/drawing/2014/main" id="{56AECCE1-9469-FA45-B966-E1BE4E6F7E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3C07C3-CD8A-7640-8462-B5A7AEEBFB5F}"/>
              </a:ext>
            </a:extLst>
          </p:cNvPr>
          <p:cNvSpPr>
            <a:spLocks noGrp="1"/>
          </p:cNvSpPr>
          <p:nvPr>
            <p:ph type="sldNum" sz="quarter" idx="12"/>
          </p:nvPr>
        </p:nvSpPr>
        <p:spPr/>
        <p:txBody>
          <a:bodyPr/>
          <a:lstStyle/>
          <a:p>
            <a:fld id="{A3B43024-2C75-3240-AA2F-3AC83BF0955F}" type="slidenum">
              <a:rPr lang="en-US" smtClean="0"/>
              <a:t>‹#›</a:t>
            </a:fld>
            <a:endParaRPr lang="en-US"/>
          </a:p>
        </p:txBody>
      </p:sp>
    </p:spTree>
    <p:extLst>
      <p:ext uri="{BB962C8B-B14F-4D97-AF65-F5344CB8AC3E}">
        <p14:creationId xmlns:p14="http://schemas.microsoft.com/office/powerpoint/2010/main" val="1329456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3A2B3C-F494-6742-8823-ACF870B723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C7E90E-B0B3-7F45-B8A3-79FA7FBCEF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023ED5-6BC3-7C4D-AB1D-2243486DCE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BEF16A-8AC4-A849-AEC8-80BCDB7517BA}" type="datetimeFigureOut">
              <a:rPr lang="en-US" smtClean="0"/>
              <a:t>6/13/26</a:t>
            </a:fld>
            <a:endParaRPr lang="en-US"/>
          </a:p>
        </p:txBody>
      </p:sp>
      <p:sp>
        <p:nvSpPr>
          <p:cNvPr id="5" name="Footer Placeholder 4">
            <a:extLst>
              <a:ext uri="{FF2B5EF4-FFF2-40B4-BE49-F238E27FC236}">
                <a16:creationId xmlns:a16="http://schemas.microsoft.com/office/drawing/2014/main" id="{7F95DA33-CFB3-0D41-B6E7-9153FD6388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27CFB7-3A26-EB4B-93F9-6E9B2C5A12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B43024-2C75-3240-AA2F-3AC83BF0955F}" type="slidenum">
              <a:rPr lang="en-US" smtClean="0"/>
              <a:t>‹#›</a:t>
            </a:fld>
            <a:endParaRPr lang="en-US"/>
          </a:p>
        </p:txBody>
      </p:sp>
    </p:spTree>
    <p:extLst>
      <p:ext uri="{BB962C8B-B14F-4D97-AF65-F5344CB8AC3E}">
        <p14:creationId xmlns:p14="http://schemas.microsoft.com/office/powerpoint/2010/main" val="8097800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loinc.org/11506-3.html" TargetMode="External"/><Relationship Id="rId3" Type="http://schemas.openxmlformats.org/officeDocument/2006/relationships/image" Target="../media/image2.emf"/><Relationship Id="rId7" Type="http://schemas.openxmlformats.org/officeDocument/2006/relationships/hyperlink" Target="https://loinc.org/28570-0.ht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loinc.org/34117-2.html" TargetMode="External"/><Relationship Id="rId11" Type="http://schemas.openxmlformats.org/officeDocument/2006/relationships/hyperlink" Target="https://loinc.org/11526-1.html" TargetMode="External"/><Relationship Id="rId5" Type="http://schemas.openxmlformats.org/officeDocument/2006/relationships/hyperlink" Target="https://loinc.org/18842-5.html" TargetMode="External"/><Relationship Id="rId10" Type="http://schemas.openxmlformats.org/officeDocument/2006/relationships/hyperlink" Target="https://loinc.org/11502-2.html" TargetMode="External"/><Relationship Id="rId4" Type="http://schemas.openxmlformats.org/officeDocument/2006/relationships/hyperlink" Target="https://loinc.org/11488-4.html" TargetMode="External"/><Relationship Id="rId9" Type="http://schemas.openxmlformats.org/officeDocument/2006/relationships/hyperlink" Target="https://loinc.org/18748-4.html"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loinc.org/18748-4.html" TargetMode="External"/><Relationship Id="rId3" Type="http://schemas.openxmlformats.org/officeDocument/2006/relationships/hyperlink" Target="https://loinc.org/11488-4.html" TargetMode="External"/><Relationship Id="rId7" Type="http://schemas.openxmlformats.org/officeDocument/2006/relationships/hyperlink" Target="https://loinc.org/11506-3.html" TargetMode="External"/><Relationship Id="rId12" Type="http://schemas.openxmlformats.org/officeDocument/2006/relationships/image" Target="../media/image4.e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loinc.org/28570-0.html" TargetMode="External"/><Relationship Id="rId11" Type="http://schemas.openxmlformats.org/officeDocument/2006/relationships/image" Target="../media/image3.emf"/><Relationship Id="rId5" Type="http://schemas.openxmlformats.org/officeDocument/2006/relationships/hyperlink" Target="https://loinc.org/34117-2.html" TargetMode="External"/><Relationship Id="rId10" Type="http://schemas.openxmlformats.org/officeDocument/2006/relationships/hyperlink" Target="https://loinc.org/11526-1.html" TargetMode="External"/><Relationship Id="rId4" Type="http://schemas.openxmlformats.org/officeDocument/2006/relationships/hyperlink" Target="https://loinc.org/18842-5.html" TargetMode="External"/><Relationship Id="rId9" Type="http://schemas.openxmlformats.org/officeDocument/2006/relationships/hyperlink" Target="https://loinc.org/11502-2.html"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loinc.org/18748-4.html" TargetMode="External"/><Relationship Id="rId3" Type="http://schemas.openxmlformats.org/officeDocument/2006/relationships/hyperlink" Target="https://loinc.org/11488-4.html" TargetMode="External"/><Relationship Id="rId7" Type="http://schemas.openxmlformats.org/officeDocument/2006/relationships/hyperlink" Target="https://loinc.org/11506-3.ht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loinc.org/28570-0.html" TargetMode="External"/><Relationship Id="rId11" Type="http://schemas.openxmlformats.org/officeDocument/2006/relationships/image" Target="../media/image5.emf"/><Relationship Id="rId5" Type="http://schemas.openxmlformats.org/officeDocument/2006/relationships/hyperlink" Target="https://loinc.org/34117-2.html" TargetMode="External"/><Relationship Id="rId10" Type="http://schemas.openxmlformats.org/officeDocument/2006/relationships/hyperlink" Target="https://loinc.org/11526-1.html" TargetMode="External"/><Relationship Id="rId4" Type="http://schemas.openxmlformats.org/officeDocument/2006/relationships/hyperlink" Target="https://loinc.org/18842-5.html" TargetMode="External"/><Relationship Id="rId9" Type="http://schemas.openxmlformats.org/officeDocument/2006/relationships/hyperlink" Target="https://loinc.org/11502-2.htm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2.emf"/></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18.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png"/><Relationship Id="rId7"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microsoft.com/office/2007/relationships/hdphoto" Target="../media/hdphoto2.wdp"/><Relationship Id="rId11" Type="http://schemas.microsoft.com/office/2007/relationships/hdphoto" Target="../media/hdphoto4.wdp"/><Relationship Id="rId5" Type="http://schemas.openxmlformats.org/officeDocument/2006/relationships/image" Target="../media/image18.png"/><Relationship Id="rId10" Type="http://schemas.openxmlformats.org/officeDocument/2006/relationships/image" Target="../media/image21.png"/><Relationship Id="rId4" Type="http://schemas.microsoft.com/office/2007/relationships/hdphoto" Target="../media/hdphoto3.wdp"/><Relationship Id="rId9" Type="http://schemas.openxmlformats.org/officeDocument/2006/relationships/image" Target="../media/image2.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jpeg"/></Relationships>
</file>

<file path=ppt/slides/_rels/slide3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9.emf"/><Relationship Id="rId5" Type="http://schemas.openxmlformats.org/officeDocument/2006/relationships/image" Target="../media/image28.jpeg"/><Relationship Id="rId4" Type="http://schemas.openxmlformats.org/officeDocument/2006/relationships/image" Target="../media/image27.jpeg"/></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3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3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3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4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4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4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4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2.emf"/><Relationship Id="rId3" Type="http://schemas.microsoft.com/office/2007/relationships/hdphoto" Target="../media/hdphoto5.wdp"/><Relationship Id="rId7"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9.jpeg"/><Relationship Id="rId5" Type="http://schemas.microsoft.com/office/2007/relationships/hdphoto" Target="../media/hdphoto2.wdp"/><Relationship Id="rId10" Type="http://schemas.microsoft.com/office/2007/relationships/hdphoto" Target="../media/hdphoto4.wdp"/><Relationship Id="rId4" Type="http://schemas.openxmlformats.org/officeDocument/2006/relationships/image" Target="../media/image18.png"/><Relationship Id="rId9" Type="http://schemas.openxmlformats.org/officeDocument/2006/relationships/image" Target="../media/image21.png"/></Relationships>
</file>

<file path=ppt/slides/_rels/slide49.xml.rels><?xml version="1.0" encoding="UTF-8" standalone="yes"?>
<Relationships xmlns="http://schemas.openxmlformats.org/package/2006/relationships"><Relationship Id="rId8" Type="http://schemas.openxmlformats.org/officeDocument/2006/relationships/image" Target="../media/image2.emf"/><Relationship Id="rId3" Type="http://schemas.microsoft.com/office/2007/relationships/hdphoto" Target="../media/hdphoto6.wdp"/><Relationship Id="rId7" Type="http://schemas.openxmlformats.org/officeDocument/2006/relationships/image" Target="../media/image20.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19.jpeg"/><Relationship Id="rId5" Type="http://schemas.microsoft.com/office/2007/relationships/hdphoto" Target="../media/hdphoto7.wdp"/><Relationship Id="rId10" Type="http://schemas.microsoft.com/office/2007/relationships/hdphoto" Target="../media/hdphoto8.wdp"/><Relationship Id="rId4" Type="http://schemas.openxmlformats.org/officeDocument/2006/relationships/image" Target="../media/image38.png"/><Relationship Id="rId9" Type="http://schemas.openxmlformats.org/officeDocument/2006/relationships/image" Target="../media/image39.png"/></Relationships>
</file>

<file path=ppt/slides/_rels/slide50.xml.rels><?xml version="1.0" encoding="UTF-8" standalone="yes"?>
<Relationships xmlns="http://schemas.openxmlformats.org/package/2006/relationships"><Relationship Id="rId8" Type="http://schemas.openxmlformats.org/officeDocument/2006/relationships/image" Target="../media/image2.emf"/><Relationship Id="rId3" Type="http://schemas.microsoft.com/office/2007/relationships/hdphoto" Target="../media/hdphoto9.wdp"/><Relationship Id="rId7" Type="http://schemas.openxmlformats.org/officeDocument/2006/relationships/image" Target="../media/image20.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19.jpeg"/><Relationship Id="rId5" Type="http://schemas.microsoft.com/office/2007/relationships/hdphoto" Target="../media/hdphoto7.wdp"/><Relationship Id="rId10" Type="http://schemas.microsoft.com/office/2007/relationships/hdphoto" Target="../media/hdphoto8.wdp"/><Relationship Id="rId4" Type="http://schemas.openxmlformats.org/officeDocument/2006/relationships/image" Target="../media/image38.png"/><Relationship Id="rId9" Type="http://schemas.openxmlformats.org/officeDocument/2006/relationships/image" Target="../media/image3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mailto:m.Engelhard@duke.edu" TargetMode="External"/><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DD45D-9F0A-FA4E-B09F-2E3309804C67}"/>
              </a:ext>
            </a:extLst>
          </p:cNvPr>
          <p:cNvSpPr>
            <a:spLocks noGrp="1"/>
          </p:cNvSpPr>
          <p:nvPr>
            <p:ph type="ctrTitle"/>
          </p:nvPr>
        </p:nvSpPr>
        <p:spPr/>
        <p:txBody>
          <a:bodyPr>
            <a:normAutofit/>
          </a:bodyPr>
          <a:lstStyle/>
          <a:p>
            <a:r>
              <a:rPr lang="en-US" dirty="0"/>
              <a:t>Medical Data as the Backbone of AI</a:t>
            </a:r>
          </a:p>
        </p:txBody>
      </p:sp>
      <p:sp>
        <p:nvSpPr>
          <p:cNvPr id="3" name="Subtitle 2">
            <a:extLst>
              <a:ext uri="{FF2B5EF4-FFF2-40B4-BE49-F238E27FC236}">
                <a16:creationId xmlns:a16="http://schemas.microsoft.com/office/drawing/2014/main" id="{CDB99CA8-5CD7-F84D-9183-77AEFA08FA78}"/>
              </a:ext>
            </a:extLst>
          </p:cNvPr>
          <p:cNvSpPr>
            <a:spLocks noGrp="1"/>
          </p:cNvSpPr>
          <p:nvPr>
            <p:ph type="subTitle" idx="1"/>
          </p:nvPr>
        </p:nvSpPr>
        <p:spPr>
          <a:xfrm>
            <a:off x="1524000" y="3671709"/>
            <a:ext cx="9144000" cy="1655762"/>
          </a:xfrm>
        </p:spPr>
        <p:txBody>
          <a:bodyPr>
            <a:normAutofit fontScale="77500" lnSpcReduction="20000"/>
          </a:bodyPr>
          <a:lstStyle/>
          <a:p>
            <a:endParaRPr lang="en-US" dirty="0"/>
          </a:p>
          <a:p>
            <a:endParaRPr lang="en-US" dirty="0"/>
          </a:p>
          <a:p>
            <a:r>
              <a:rPr lang="en-US" dirty="0"/>
              <a:t>Matt Engelhard</a:t>
            </a:r>
          </a:p>
          <a:p>
            <a:r>
              <a:rPr lang="en-US" dirty="0"/>
              <a:t>Duke Biostatistics &amp; Bioinformatics</a:t>
            </a:r>
          </a:p>
          <a:p>
            <a:r>
              <a:rPr lang="en-US" dirty="0"/>
              <a:t>June 11, 2026</a:t>
            </a:r>
          </a:p>
        </p:txBody>
      </p:sp>
    </p:spTree>
    <p:extLst>
      <p:ext uri="{BB962C8B-B14F-4D97-AF65-F5344CB8AC3E}">
        <p14:creationId xmlns:p14="http://schemas.microsoft.com/office/powerpoint/2010/main" val="139237388"/>
      </p:ext>
    </p:extLst>
  </p:cSld>
  <p:clrMapOvr>
    <a:masterClrMapping/>
  </p:clrMapOvr>
  <mc:AlternateContent xmlns:mc="http://schemas.openxmlformats.org/markup-compatibility/2006" xmlns:p14="http://schemas.microsoft.com/office/powerpoint/2010/main">
    <mc:Choice Requires="p14">
      <p:transition spd="slow" p14:dur="2000" advTm="31160"/>
    </mc:Choice>
    <mc:Fallback xmlns="">
      <p:transition spd="slow" advTm="3116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5B14-0132-9047-9170-243E2B9FBCAB}"/>
              </a:ext>
            </a:extLst>
          </p:cNvPr>
          <p:cNvSpPr>
            <a:spLocks noGrp="1"/>
          </p:cNvSpPr>
          <p:nvPr>
            <p:ph type="title"/>
          </p:nvPr>
        </p:nvSpPr>
        <p:spPr/>
        <p:txBody>
          <a:bodyPr/>
          <a:lstStyle/>
          <a:p>
            <a:r>
              <a:rPr lang="en-US" dirty="0"/>
              <a:t>Lecture Outline</a:t>
            </a:r>
          </a:p>
        </p:txBody>
      </p:sp>
      <p:sp>
        <p:nvSpPr>
          <p:cNvPr id="3" name="Content Placeholder 2">
            <a:extLst>
              <a:ext uri="{FF2B5EF4-FFF2-40B4-BE49-F238E27FC236}">
                <a16:creationId xmlns:a16="http://schemas.microsoft.com/office/drawing/2014/main" id="{91131797-D256-4B48-A9DA-70A0B717EB64}"/>
              </a:ext>
            </a:extLst>
          </p:cNvPr>
          <p:cNvSpPr>
            <a:spLocks noGrp="1"/>
          </p:cNvSpPr>
          <p:nvPr>
            <p:ph idx="1"/>
          </p:nvPr>
        </p:nvSpPr>
        <p:spPr>
          <a:xfrm>
            <a:off x="838200" y="1825625"/>
            <a:ext cx="10744200" cy="4667250"/>
          </a:xfrm>
        </p:spPr>
        <p:txBody>
          <a:bodyPr>
            <a:normAutofit fontScale="92500"/>
          </a:bodyPr>
          <a:lstStyle/>
          <a:p>
            <a:r>
              <a:rPr lang="en-US" dirty="0"/>
              <a:t>What types of data are in electronic health records (EHRs), and why?</a:t>
            </a:r>
          </a:p>
          <a:p>
            <a:pPr lvl="1"/>
            <a:endParaRPr lang="en-US" dirty="0"/>
          </a:p>
          <a:p>
            <a:pPr lvl="1"/>
            <a:r>
              <a:rPr lang="en-US" dirty="0"/>
              <a:t>The importance of considering </a:t>
            </a:r>
            <a:r>
              <a:rPr lang="en-US" b="1" dirty="0"/>
              <a:t>multiple data types</a:t>
            </a:r>
          </a:p>
          <a:p>
            <a:pPr lvl="1"/>
            <a:r>
              <a:rPr lang="en-US" dirty="0"/>
              <a:t>Similarities and differences between EHRs and </a:t>
            </a:r>
            <a:r>
              <a:rPr lang="en-US" b="1" dirty="0"/>
              <a:t>other sources of medical data</a:t>
            </a:r>
          </a:p>
          <a:p>
            <a:pPr lvl="1"/>
            <a:endParaRPr lang="en-US" dirty="0"/>
          </a:p>
          <a:p>
            <a:r>
              <a:rPr lang="en-US" dirty="0"/>
              <a:t>Medical data as raw material for AI systems</a:t>
            </a:r>
          </a:p>
          <a:p>
            <a:pPr lvl="1"/>
            <a:endParaRPr lang="en-US" dirty="0"/>
          </a:p>
          <a:p>
            <a:pPr lvl="1"/>
            <a:r>
              <a:rPr lang="en-US" b="1" dirty="0"/>
              <a:t>One</a:t>
            </a:r>
            <a:r>
              <a:rPr lang="en-US" dirty="0"/>
              <a:t> prediction task, </a:t>
            </a:r>
            <a:r>
              <a:rPr lang="en-US" b="1" dirty="0"/>
              <a:t>one</a:t>
            </a:r>
            <a:r>
              <a:rPr lang="en-US" dirty="0"/>
              <a:t> type of input data		(task-</a:t>
            </a:r>
            <a:r>
              <a:rPr lang="en-US" b="1" dirty="0"/>
              <a:t>specific</a:t>
            </a:r>
            <a:r>
              <a:rPr lang="en-US" dirty="0"/>
              <a:t>, </a:t>
            </a:r>
            <a:r>
              <a:rPr lang="en-US" b="1" dirty="0" err="1"/>
              <a:t>uni</a:t>
            </a:r>
            <a:r>
              <a:rPr lang="en-US" dirty="0"/>
              <a:t>-modal)</a:t>
            </a:r>
          </a:p>
          <a:p>
            <a:pPr lvl="1"/>
            <a:r>
              <a:rPr lang="en-US" b="1" u="sng" dirty="0"/>
              <a:t>Any</a:t>
            </a:r>
            <a:r>
              <a:rPr lang="en-US" dirty="0"/>
              <a:t> prediction task, </a:t>
            </a:r>
            <a:r>
              <a:rPr lang="en-US" b="1" dirty="0"/>
              <a:t>one</a:t>
            </a:r>
            <a:r>
              <a:rPr lang="en-US" dirty="0"/>
              <a:t> type of input data		(task-</a:t>
            </a:r>
            <a:r>
              <a:rPr lang="en-US" b="1" u="sng" dirty="0"/>
              <a:t>agnostic</a:t>
            </a:r>
            <a:r>
              <a:rPr lang="en-US" dirty="0"/>
              <a:t>, </a:t>
            </a:r>
            <a:r>
              <a:rPr lang="en-US" b="1" dirty="0" err="1"/>
              <a:t>uni</a:t>
            </a:r>
            <a:r>
              <a:rPr lang="en-US" dirty="0"/>
              <a:t>-modal)</a:t>
            </a:r>
          </a:p>
          <a:p>
            <a:pPr lvl="1"/>
            <a:r>
              <a:rPr lang="en-US" b="1" dirty="0"/>
              <a:t>One</a:t>
            </a:r>
            <a:r>
              <a:rPr lang="en-US" dirty="0"/>
              <a:t> prediction task, </a:t>
            </a:r>
            <a:r>
              <a:rPr lang="en-US" b="1" u="sng" dirty="0"/>
              <a:t>multiple</a:t>
            </a:r>
            <a:r>
              <a:rPr lang="en-US" dirty="0"/>
              <a:t> types of input data		(task-</a:t>
            </a:r>
            <a:r>
              <a:rPr lang="en-US" b="1" dirty="0"/>
              <a:t>specific</a:t>
            </a:r>
            <a:r>
              <a:rPr lang="en-US" dirty="0"/>
              <a:t>, </a:t>
            </a:r>
            <a:r>
              <a:rPr lang="en-US" b="1" u="sng" dirty="0"/>
              <a:t>multi</a:t>
            </a:r>
            <a:r>
              <a:rPr lang="en-US" dirty="0"/>
              <a:t>-modal)</a:t>
            </a:r>
          </a:p>
          <a:p>
            <a:pPr lvl="1"/>
            <a:r>
              <a:rPr lang="en-US" b="1" u="sng" dirty="0"/>
              <a:t>Any</a:t>
            </a:r>
            <a:r>
              <a:rPr lang="en-US" dirty="0"/>
              <a:t> prediction task, </a:t>
            </a:r>
            <a:r>
              <a:rPr lang="en-US" b="1" u="sng" dirty="0"/>
              <a:t>multiple</a:t>
            </a:r>
            <a:r>
              <a:rPr lang="en-US" dirty="0"/>
              <a:t> types of input data		(task-</a:t>
            </a:r>
            <a:r>
              <a:rPr lang="en-US" b="1" u="sng" dirty="0"/>
              <a:t>agnostic</a:t>
            </a:r>
            <a:r>
              <a:rPr lang="en-US" dirty="0"/>
              <a:t>, </a:t>
            </a:r>
            <a:r>
              <a:rPr lang="en-US" b="1" u="sng" dirty="0"/>
              <a:t>multi</a:t>
            </a:r>
            <a:r>
              <a:rPr lang="en-US" dirty="0"/>
              <a:t>-modal)</a:t>
            </a:r>
          </a:p>
          <a:p>
            <a:pPr lvl="1"/>
            <a:endParaRPr lang="en-US" dirty="0"/>
          </a:p>
        </p:txBody>
      </p:sp>
    </p:spTree>
    <p:extLst>
      <p:ext uri="{BB962C8B-B14F-4D97-AF65-F5344CB8AC3E}">
        <p14:creationId xmlns:p14="http://schemas.microsoft.com/office/powerpoint/2010/main" val="1339145347"/>
      </p:ext>
    </p:extLst>
  </p:cSld>
  <p:clrMapOvr>
    <a:masterClrMapping/>
  </p:clrMapOvr>
  <mc:AlternateContent xmlns:mc="http://schemas.openxmlformats.org/markup-compatibility/2006" xmlns:p14="http://schemas.microsoft.com/office/powerpoint/2010/main">
    <mc:Choice Requires="p14">
      <p:transition spd="slow" p14:dur="2000" advTm="47058"/>
    </mc:Choice>
    <mc:Fallback xmlns="">
      <p:transition spd="slow" advTm="4705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F8BEA-74E4-9F43-24DA-399358B7A821}"/>
              </a:ext>
            </a:extLst>
          </p:cNvPr>
          <p:cNvSpPr>
            <a:spLocks noGrp="1"/>
          </p:cNvSpPr>
          <p:nvPr>
            <p:ph type="title"/>
          </p:nvPr>
        </p:nvSpPr>
        <p:spPr/>
        <p:txBody>
          <a:bodyPr/>
          <a:lstStyle/>
          <a:p>
            <a:r>
              <a:rPr lang="en-US" dirty="0"/>
              <a:t>The Electronic Health Record</a:t>
            </a:r>
          </a:p>
        </p:txBody>
      </p:sp>
      <p:sp>
        <p:nvSpPr>
          <p:cNvPr id="3" name="Text Placeholder 2">
            <a:extLst>
              <a:ext uri="{FF2B5EF4-FFF2-40B4-BE49-F238E27FC236}">
                <a16:creationId xmlns:a16="http://schemas.microsoft.com/office/drawing/2014/main" id="{E37AFD19-651C-7AA8-36E2-C5EA1EA6E801}"/>
              </a:ext>
            </a:extLst>
          </p:cNvPr>
          <p:cNvSpPr>
            <a:spLocks noGrp="1"/>
          </p:cNvSpPr>
          <p:nvPr>
            <p:ph type="body" idx="1"/>
          </p:nvPr>
        </p:nvSpPr>
        <p:spPr/>
        <p:txBody>
          <a:bodyPr/>
          <a:lstStyle/>
          <a:p>
            <a:r>
              <a:rPr lang="en-US" dirty="0"/>
              <a:t>One stop shop for most varieties of medical data</a:t>
            </a:r>
          </a:p>
        </p:txBody>
      </p:sp>
    </p:spTree>
    <p:extLst>
      <p:ext uri="{BB962C8B-B14F-4D97-AF65-F5344CB8AC3E}">
        <p14:creationId xmlns:p14="http://schemas.microsoft.com/office/powerpoint/2010/main" val="3178487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71108-8108-684B-B1CB-485544586870}"/>
              </a:ext>
            </a:extLst>
          </p:cNvPr>
          <p:cNvSpPr>
            <a:spLocks noGrp="1"/>
          </p:cNvSpPr>
          <p:nvPr>
            <p:ph type="title"/>
          </p:nvPr>
        </p:nvSpPr>
        <p:spPr/>
        <p:txBody>
          <a:bodyPr/>
          <a:lstStyle/>
          <a:p>
            <a:r>
              <a:rPr lang="en-US" dirty="0"/>
              <a:t>Structured Data</a:t>
            </a:r>
          </a:p>
        </p:txBody>
      </p:sp>
      <p:sp>
        <p:nvSpPr>
          <p:cNvPr id="3" name="Content Placeholder 2">
            <a:extLst>
              <a:ext uri="{FF2B5EF4-FFF2-40B4-BE49-F238E27FC236}">
                <a16:creationId xmlns:a16="http://schemas.microsoft.com/office/drawing/2014/main" id="{99ED91CE-103E-E941-9D95-75197E5BEE5F}"/>
              </a:ext>
            </a:extLst>
          </p:cNvPr>
          <p:cNvSpPr>
            <a:spLocks noGrp="1"/>
          </p:cNvSpPr>
          <p:nvPr>
            <p:ph idx="1"/>
          </p:nvPr>
        </p:nvSpPr>
        <p:spPr/>
        <p:txBody>
          <a:bodyPr/>
          <a:lstStyle/>
          <a:p>
            <a:pPr marL="0" indent="0">
              <a:buNone/>
            </a:pPr>
            <a:r>
              <a:rPr lang="en-US" i="1" dirty="0"/>
              <a:t>Definition</a:t>
            </a:r>
            <a:r>
              <a:rPr lang="en-US" dirty="0"/>
              <a:t>: data organized into specific, </a:t>
            </a:r>
            <a:r>
              <a:rPr lang="en-US" dirty="0" err="1"/>
              <a:t>queryable</a:t>
            </a:r>
            <a:r>
              <a:rPr lang="en-US" dirty="0"/>
              <a:t> fields as part of an overarching model, with each field having a defined purpose.</a:t>
            </a:r>
          </a:p>
          <a:p>
            <a:pPr marL="0" indent="0">
              <a:buNone/>
            </a:pPr>
            <a:endParaRPr lang="en-US" dirty="0"/>
          </a:p>
          <a:p>
            <a:r>
              <a:rPr lang="en-US" dirty="0"/>
              <a:t>typically stored in tabular (i.e. table, spreadsheet) format</a:t>
            </a:r>
          </a:p>
          <a:p>
            <a:r>
              <a:rPr lang="en-US" dirty="0"/>
              <a:t>numeric variables, categorical variables and/or short free text</a:t>
            </a:r>
          </a:p>
          <a:p>
            <a:pPr marL="0" indent="0">
              <a:buNone/>
            </a:pPr>
            <a:endParaRPr lang="en-US" dirty="0"/>
          </a:p>
          <a:p>
            <a:pPr marL="0" indent="0">
              <a:buNone/>
            </a:pPr>
            <a:r>
              <a:rPr lang="en-US" i="1" dirty="0"/>
              <a:t>Examples</a:t>
            </a:r>
            <a:r>
              <a:rPr lang="en-US" dirty="0"/>
              <a:t>: demographics, diagnoses, procedures, labs, meds, vitals</a:t>
            </a:r>
          </a:p>
        </p:txBody>
      </p:sp>
    </p:spTree>
    <p:extLst>
      <p:ext uri="{BB962C8B-B14F-4D97-AF65-F5344CB8AC3E}">
        <p14:creationId xmlns:p14="http://schemas.microsoft.com/office/powerpoint/2010/main" val="4184007842"/>
      </p:ext>
    </p:extLst>
  </p:cSld>
  <p:clrMapOvr>
    <a:masterClrMapping/>
  </p:clrMapOvr>
  <mc:AlternateContent xmlns:mc="http://schemas.openxmlformats.org/markup-compatibility/2006" xmlns:p14="http://schemas.microsoft.com/office/powerpoint/2010/main">
    <mc:Choice Requires="p14">
      <p:transition spd="slow" p14:dur="2000" advTm="52156"/>
    </mc:Choice>
    <mc:Fallback xmlns="">
      <p:transition spd="slow" advTm="5215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797BC-2B0F-7B4A-A0F0-09120EA2FC8F}"/>
              </a:ext>
            </a:extLst>
          </p:cNvPr>
          <p:cNvSpPr>
            <a:spLocks noGrp="1"/>
          </p:cNvSpPr>
          <p:nvPr>
            <p:ph type="title"/>
          </p:nvPr>
        </p:nvSpPr>
        <p:spPr>
          <a:xfrm>
            <a:off x="610688" y="283094"/>
            <a:ext cx="10970623" cy="793115"/>
          </a:xfrm>
        </p:spPr>
        <p:txBody>
          <a:bodyPr>
            <a:normAutofit fontScale="90000"/>
          </a:bodyPr>
          <a:lstStyle/>
          <a:p>
            <a:r>
              <a:rPr lang="en-US" dirty="0"/>
              <a:t>An example of structured EHR data (</a:t>
            </a:r>
            <a:r>
              <a:rPr lang="en-US" dirty="0" err="1"/>
              <a:t>PCORnet</a:t>
            </a:r>
            <a:r>
              <a:rPr lang="en-US" dirty="0"/>
              <a:t> CDM)</a:t>
            </a:r>
          </a:p>
        </p:txBody>
      </p:sp>
      <p:pic>
        <p:nvPicPr>
          <p:cNvPr id="4" name="Picture 3">
            <a:extLst>
              <a:ext uri="{FF2B5EF4-FFF2-40B4-BE49-F238E27FC236}">
                <a16:creationId xmlns:a16="http://schemas.microsoft.com/office/drawing/2014/main" id="{D13BB077-F810-D74B-B049-4F440949E2D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3518" y="1158240"/>
            <a:ext cx="12004964" cy="2106698"/>
          </a:xfrm>
          <a:prstGeom prst="rect">
            <a:avLst/>
          </a:prstGeom>
          <a:ln>
            <a:solidFill>
              <a:schemeClr val="tx1"/>
            </a:solidFill>
          </a:ln>
        </p:spPr>
      </p:pic>
      <p:graphicFrame>
        <p:nvGraphicFramePr>
          <p:cNvPr id="5" name="Table 4">
            <a:extLst>
              <a:ext uri="{FF2B5EF4-FFF2-40B4-BE49-F238E27FC236}">
                <a16:creationId xmlns:a16="http://schemas.microsoft.com/office/drawing/2014/main" id="{008B139E-A7E2-314F-8622-FA8B39DEDBAD}"/>
              </a:ext>
            </a:extLst>
          </p:cNvPr>
          <p:cNvGraphicFramePr>
            <a:graphicFrameLocks noGrp="1"/>
          </p:cNvGraphicFramePr>
          <p:nvPr>
            <p:extLst>
              <p:ext uri="{D42A27DB-BD31-4B8C-83A1-F6EECF244321}">
                <p14:modId xmlns:p14="http://schemas.microsoft.com/office/powerpoint/2010/main" val="2731232463"/>
              </p:ext>
            </p:extLst>
          </p:nvPr>
        </p:nvGraphicFramePr>
        <p:xfrm>
          <a:off x="2584860" y="3429000"/>
          <a:ext cx="7022280" cy="4606874"/>
        </p:xfrm>
        <a:graphic>
          <a:graphicData uri="http://schemas.openxmlformats.org/drawingml/2006/table">
            <a:tbl>
              <a:tblPr/>
              <a:tblGrid>
                <a:gridCol w="1031506">
                  <a:extLst>
                    <a:ext uri="{9D8B030D-6E8A-4147-A177-3AD203B41FA5}">
                      <a16:colId xmlns:a16="http://schemas.microsoft.com/office/drawing/2014/main" val="3540784887"/>
                    </a:ext>
                  </a:extLst>
                </a:gridCol>
                <a:gridCol w="5990774">
                  <a:extLst>
                    <a:ext uri="{9D8B030D-6E8A-4147-A177-3AD203B41FA5}">
                      <a16:colId xmlns:a16="http://schemas.microsoft.com/office/drawing/2014/main" val="793277010"/>
                    </a:ext>
                  </a:extLst>
                </a:gridCol>
              </a:tblGrid>
              <a:tr h="315456">
                <a:tc>
                  <a:txBody>
                    <a:bodyPr/>
                    <a:lstStyle/>
                    <a:p>
                      <a:pPr algn="l" fontAlgn="ctr"/>
                      <a:r>
                        <a:rPr lang="en-US" sz="1200" b="1">
                          <a:effectLst/>
                          <a:latin typeface="inherit"/>
                        </a:rPr>
                        <a:t>COLUMN</a:t>
                      </a:r>
                    </a:p>
                  </a:txBody>
                  <a:tcPr marL="20326" marR="81303" marT="40652" marB="40652"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D9EDF7"/>
                    </a:solidFill>
                  </a:tcPr>
                </a:tc>
                <a:tc>
                  <a:txBody>
                    <a:bodyPr/>
                    <a:lstStyle/>
                    <a:p>
                      <a:pPr algn="l" fontAlgn="ctr"/>
                      <a:r>
                        <a:rPr lang="en-US" sz="1200" b="1" dirty="0">
                          <a:effectLst/>
                          <a:latin typeface="inherit"/>
                        </a:rPr>
                        <a:t>DEFINITION</a:t>
                      </a:r>
                    </a:p>
                  </a:txBody>
                  <a:tcPr marL="20326" marR="81303" marT="40652" marB="40652"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D9EDF7"/>
                    </a:solidFill>
                  </a:tcPr>
                </a:tc>
                <a:extLst>
                  <a:ext uri="{0D108BD9-81ED-4DB2-BD59-A6C34878D82A}">
                    <a16:rowId xmlns:a16="http://schemas.microsoft.com/office/drawing/2014/main" val="3749709961"/>
                  </a:ext>
                </a:extLst>
              </a:tr>
              <a:tr h="274804">
                <a:tc>
                  <a:txBody>
                    <a:bodyPr/>
                    <a:lstStyle/>
                    <a:p>
                      <a:pPr algn="l" fontAlgn="t"/>
                      <a:r>
                        <a:rPr lang="en-US" sz="1200">
                          <a:effectLst/>
                          <a:latin typeface="inherit"/>
                        </a:rPr>
                        <a:t>DIAGNOSISID:</a:t>
                      </a:r>
                    </a:p>
                  </a:txBody>
                  <a:tcPr marL="20326" marR="20326" marT="20326" marB="20326">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a:effectLst/>
                          <a:latin typeface="inherit"/>
                        </a:rPr>
                        <a:t>An arbitrary identifier for each record. Not currently useful for linkage across tables.</a:t>
                      </a:r>
                    </a:p>
                  </a:txBody>
                  <a:tcPr marL="20326" marR="20326" marT="20326" marB="20326">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045449251"/>
                  </a:ext>
                </a:extLst>
              </a:tr>
              <a:tr h="391881">
                <a:tc>
                  <a:txBody>
                    <a:bodyPr/>
                    <a:lstStyle/>
                    <a:p>
                      <a:pPr algn="l" fontAlgn="t"/>
                      <a:r>
                        <a:rPr lang="en-US" sz="1200">
                          <a:effectLst/>
                          <a:latin typeface="inherit"/>
                        </a:rPr>
                        <a:t>ENCOUNTERID:</a:t>
                      </a:r>
                    </a:p>
                  </a:txBody>
                  <a:tcPr marL="20326" marR="20326" marT="20326" marB="20326">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inherit"/>
                        </a:rPr>
                        <a:t>The ENCOUNTERID (encounter ID) is an arbitrary identifier for a specific encounter that can be used to link information across tables in the model.</a:t>
                      </a:r>
                    </a:p>
                  </a:txBody>
                  <a:tcPr marL="20326" marR="20326" marT="20326" marB="20326">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817046843"/>
                  </a:ext>
                </a:extLst>
              </a:tr>
              <a:tr h="626033">
                <a:tc>
                  <a:txBody>
                    <a:bodyPr/>
                    <a:lstStyle/>
                    <a:p>
                      <a:pPr algn="l" fontAlgn="t"/>
                      <a:r>
                        <a:rPr lang="en-US" sz="1200">
                          <a:effectLst/>
                          <a:latin typeface="inherit"/>
                        </a:rPr>
                        <a:t>PATID:</a:t>
                      </a:r>
                    </a:p>
                  </a:txBody>
                  <a:tcPr marL="20326" marR="20326" marT="20326" marB="20326">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a:effectLst/>
                          <a:latin typeface="inherit"/>
                        </a:rPr>
                        <a:t>The PATID (patient identifier) is an arbitrary, person-level identifier used to link information across tables within the data model. There is a table within the CRDM that allows an investigator with an appropriate IRB protocol to link PATID to MRN.</a:t>
                      </a:r>
                    </a:p>
                  </a:txBody>
                  <a:tcPr marL="20326" marR="20326" marT="20326" marB="20326">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19432620"/>
                  </a:ext>
                </a:extLst>
              </a:tr>
              <a:tr h="743110">
                <a:tc>
                  <a:txBody>
                    <a:bodyPr/>
                    <a:lstStyle/>
                    <a:p>
                      <a:pPr algn="l" fontAlgn="t"/>
                      <a:r>
                        <a:rPr lang="en-US" sz="1200">
                          <a:effectLst/>
                          <a:latin typeface="inherit"/>
                        </a:rPr>
                        <a:t>ENC_TYPE:</a:t>
                      </a:r>
                    </a:p>
                  </a:txBody>
                  <a:tcPr marL="20326" marR="20326" marT="20326" marB="20326">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inherit"/>
                        </a:rPr>
                        <a:t>Encounter type indicates the setting in which the encounter took place (the same data are provided in the encounter table: AV=Ambulatory Visit, ED=Emergency Department, EI=Emergency Department Admit to Inpatient Hospital Stay, IP=Inpatient Hospital Stay, OS=Observation Stay, NI=No information, UN=Unknown, OT=Other</a:t>
                      </a:r>
                    </a:p>
                  </a:txBody>
                  <a:tcPr marL="20326" marR="20326" marT="20326" marB="20326">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4050141263"/>
                  </a:ext>
                </a:extLst>
              </a:tr>
              <a:tr h="274804">
                <a:tc>
                  <a:txBody>
                    <a:bodyPr/>
                    <a:lstStyle/>
                    <a:p>
                      <a:pPr algn="l" fontAlgn="t"/>
                      <a:r>
                        <a:rPr lang="en-US" sz="1200">
                          <a:effectLst/>
                          <a:latin typeface="inherit"/>
                        </a:rPr>
                        <a:t>ADMIT_DATE:</a:t>
                      </a:r>
                    </a:p>
                  </a:txBody>
                  <a:tcPr marL="20326" marR="20326" marT="20326" marB="20326">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a:effectLst/>
                          <a:latin typeface="inherit"/>
                        </a:rPr>
                        <a:t>The date on which the encounter began (also included in the encounter table).</a:t>
                      </a:r>
                    </a:p>
                  </a:txBody>
                  <a:tcPr marL="20326" marR="20326" marT="20326" marB="20326">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87764221"/>
                  </a:ext>
                </a:extLst>
              </a:tr>
              <a:tr h="274804">
                <a:tc>
                  <a:txBody>
                    <a:bodyPr/>
                    <a:lstStyle/>
                    <a:p>
                      <a:pPr algn="l" fontAlgn="t"/>
                      <a:r>
                        <a:rPr lang="en-US" sz="1200">
                          <a:effectLst/>
                          <a:latin typeface="inherit"/>
                        </a:rPr>
                        <a:t>PROVIDERID:</a:t>
                      </a:r>
                    </a:p>
                  </a:txBody>
                  <a:tcPr marL="20326" marR="20326" marT="20326" marB="20326">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inherit"/>
                        </a:rPr>
                        <a:t>Unique identifier for a provider ? can be used to link an encounter to the provider table.</a:t>
                      </a:r>
                    </a:p>
                  </a:txBody>
                  <a:tcPr marL="20326" marR="20326" marT="20326" marB="20326">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323285643"/>
                  </a:ext>
                </a:extLst>
              </a:tr>
              <a:tr h="157728">
                <a:tc>
                  <a:txBody>
                    <a:bodyPr/>
                    <a:lstStyle/>
                    <a:p>
                      <a:pPr algn="l" fontAlgn="t"/>
                      <a:r>
                        <a:rPr lang="en-US" sz="1200">
                          <a:effectLst/>
                          <a:latin typeface="inherit"/>
                        </a:rPr>
                        <a:t>DX:</a:t>
                      </a:r>
                    </a:p>
                  </a:txBody>
                  <a:tcPr marL="20326" marR="20326" marT="20326" marB="20326">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a:effectLst/>
                          <a:latin typeface="inherit"/>
                        </a:rPr>
                        <a:t>The diagnosis code; uses either ICD-9 or ICD-10</a:t>
                      </a:r>
                    </a:p>
                  </a:txBody>
                  <a:tcPr marL="20326" marR="20326" marT="20326" marB="20326">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943604207"/>
                  </a:ext>
                </a:extLst>
              </a:tr>
              <a:tr h="274804">
                <a:tc>
                  <a:txBody>
                    <a:bodyPr/>
                    <a:lstStyle/>
                    <a:p>
                      <a:pPr algn="l" fontAlgn="t"/>
                      <a:r>
                        <a:rPr lang="en-US" sz="1200">
                          <a:effectLst/>
                          <a:latin typeface="inherit"/>
                        </a:rPr>
                        <a:t>DX_TYPE:</a:t>
                      </a:r>
                    </a:p>
                  </a:txBody>
                  <a:tcPr marL="20326" marR="20326" marT="20326" marB="20326">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inherit"/>
                        </a:rPr>
                        <a:t>09=ICD-9-CM, 10=ICD-10-CM, 11=ICD-11-CM, SM=SNOMED CT, NI=No information, UN=Unknown, OT=Other</a:t>
                      </a:r>
                    </a:p>
                  </a:txBody>
                  <a:tcPr marL="20326" marR="20326" marT="20326" marB="20326">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413175896"/>
                  </a:ext>
                </a:extLst>
              </a:tr>
              <a:tr h="391881">
                <a:tc>
                  <a:txBody>
                    <a:bodyPr/>
                    <a:lstStyle/>
                    <a:p>
                      <a:pPr algn="l" fontAlgn="t"/>
                      <a:r>
                        <a:rPr lang="en-US" sz="1200">
                          <a:effectLst/>
                          <a:latin typeface="inherit"/>
                        </a:rPr>
                        <a:t>DX_SOURCE:</a:t>
                      </a:r>
                    </a:p>
                  </a:txBody>
                  <a:tcPr marL="20326" marR="20326" marT="20326" marB="20326">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a:effectLst/>
                          <a:latin typeface="inherit"/>
                        </a:rPr>
                        <a:t>The approximate period within the encounter when the diagnosis was made for the patient; diagnoses are always ?Final Diagnosis (FI)?, from the billing codes. </a:t>
                      </a:r>
                    </a:p>
                  </a:txBody>
                  <a:tcPr marL="20326" marR="20326" marT="20326" marB="20326">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242086771"/>
                  </a:ext>
                </a:extLst>
              </a:tr>
              <a:tr h="626033">
                <a:tc>
                  <a:txBody>
                    <a:bodyPr/>
                    <a:lstStyle/>
                    <a:p>
                      <a:pPr algn="l" fontAlgn="t"/>
                      <a:r>
                        <a:rPr lang="en-US" sz="1200">
                          <a:effectLst/>
                          <a:latin typeface="inherit"/>
                        </a:rPr>
                        <a:t>DX_ORIGIN:</a:t>
                      </a:r>
                    </a:p>
                  </a:txBody>
                  <a:tcPr marL="20326" marR="20326" marT="20326" marB="20326">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t"/>
                      <a:r>
                        <a:rPr lang="en-US" sz="1200" dirty="0">
                          <a:effectLst/>
                          <a:latin typeface="inherit"/>
                        </a:rPr>
                        <a:t>The source of the diagnosis information. ?Billing (BI)? is always the source in this data model. In 2021 OD, other diagnosis types where added that are admission and </a:t>
                      </a:r>
                      <a:r>
                        <a:rPr lang="en-US" sz="1200" dirty="0" err="1">
                          <a:effectLst/>
                          <a:latin typeface="inherit"/>
                        </a:rPr>
                        <a:t>encounter_diagnosis</a:t>
                      </a:r>
                      <a:r>
                        <a:rPr lang="en-US" sz="1200" dirty="0">
                          <a:effectLst/>
                          <a:latin typeface="inherit"/>
                        </a:rPr>
                        <a:t>. Billing diagnosis are still the main diagnosis to use for research projects.</a:t>
                      </a:r>
                    </a:p>
                  </a:txBody>
                  <a:tcPr marL="20326" marR="20326" marT="20326" marB="20326">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1179586423"/>
                  </a:ext>
                </a:extLst>
              </a:tr>
            </a:tbl>
          </a:graphicData>
        </a:graphic>
      </p:graphicFrame>
    </p:spTree>
    <p:extLst>
      <p:ext uri="{BB962C8B-B14F-4D97-AF65-F5344CB8AC3E}">
        <p14:creationId xmlns:p14="http://schemas.microsoft.com/office/powerpoint/2010/main" val="1034176086"/>
      </p:ext>
    </p:extLst>
  </p:cSld>
  <p:clrMapOvr>
    <a:masterClrMapping/>
  </p:clrMapOvr>
  <mc:AlternateContent xmlns:mc="http://schemas.openxmlformats.org/markup-compatibility/2006" xmlns:p14="http://schemas.microsoft.com/office/powerpoint/2010/main">
    <mc:Choice Requires="p14">
      <p:transition spd="slow" p14:dur="2000" advTm="31086"/>
    </mc:Choice>
    <mc:Fallback xmlns="">
      <p:transition spd="slow" advTm="3108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DC2E-FB0C-8F49-ABF5-4C597C02258E}"/>
              </a:ext>
            </a:extLst>
          </p:cNvPr>
          <p:cNvSpPr>
            <a:spLocks noGrp="1"/>
          </p:cNvSpPr>
          <p:nvPr>
            <p:ph type="title"/>
          </p:nvPr>
        </p:nvSpPr>
        <p:spPr/>
        <p:txBody>
          <a:bodyPr/>
          <a:lstStyle/>
          <a:p>
            <a:r>
              <a:rPr lang="en-US" dirty="0"/>
              <a:t>Unstructured Data (i.e., everything else)</a:t>
            </a:r>
          </a:p>
        </p:txBody>
      </p:sp>
      <p:sp>
        <p:nvSpPr>
          <p:cNvPr id="3" name="Content Placeholder 2">
            <a:extLst>
              <a:ext uri="{FF2B5EF4-FFF2-40B4-BE49-F238E27FC236}">
                <a16:creationId xmlns:a16="http://schemas.microsoft.com/office/drawing/2014/main" id="{93FE3023-BB85-E042-AA61-E574B68313BE}"/>
              </a:ext>
            </a:extLst>
          </p:cNvPr>
          <p:cNvSpPr>
            <a:spLocks noGrp="1"/>
          </p:cNvSpPr>
          <p:nvPr>
            <p:ph idx="1"/>
          </p:nvPr>
        </p:nvSpPr>
        <p:spPr/>
        <p:txBody>
          <a:bodyPr>
            <a:normAutofit lnSpcReduction="10000"/>
          </a:bodyPr>
          <a:lstStyle/>
          <a:p>
            <a:pPr marL="0" indent="0">
              <a:buNone/>
            </a:pPr>
            <a:r>
              <a:rPr lang="en-US" i="1" dirty="0"/>
              <a:t>Definition</a:t>
            </a:r>
            <a:r>
              <a:rPr lang="en-US" dirty="0"/>
              <a:t>: data that is NOT structured data</a:t>
            </a:r>
          </a:p>
          <a:p>
            <a:pPr marL="0" indent="0">
              <a:buNone/>
            </a:pPr>
            <a:endParaRPr lang="en-US" dirty="0"/>
          </a:p>
          <a:p>
            <a:r>
              <a:rPr lang="en-US" dirty="0"/>
              <a:t>not natural to organize in tabular format</a:t>
            </a:r>
          </a:p>
          <a:p>
            <a:r>
              <a:rPr lang="en-US" dirty="0"/>
              <a:t>typically stored in a modality-specific format</a:t>
            </a:r>
          </a:p>
          <a:p>
            <a:pPr marL="0" indent="0">
              <a:buNone/>
            </a:pPr>
            <a:endParaRPr lang="en-US" dirty="0"/>
          </a:p>
          <a:p>
            <a:pPr marL="0" indent="0">
              <a:buNone/>
            </a:pPr>
            <a:r>
              <a:rPr lang="en-US" i="1" dirty="0"/>
              <a:t>Examples</a:t>
            </a:r>
            <a:r>
              <a:rPr lang="en-US" dirty="0"/>
              <a:t>:</a:t>
            </a:r>
          </a:p>
          <a:p>
            <a:r>
              <a:rPr lang="en-US" dirty="0"/>
              <a:t>clinical notes</a:t>
            </a:r>
          </a:p>
          <a:p>
            <a:r>
              <a:rPr lang="en-US" dirty="0"/>
              <a:t>imaging (e.g. radiology, ophthalmology, ultrasound, pathology)</a:t>
            </a:r>
          </a:p>
          <a:p>
            <a:r>
              <a:rPr lang="en-US" dirty="0"/>
              <a:t>physiologic time series (e.g. electrophysiologic studies, digital health)</a:t>
            </a:r>
          </a:p>
        </p:txBody>
      </p:sp>
    </p:spTree>
    <p:extLst>
      <p:ext uri="{BB962C8B-B14F-4D97-AF65-F5344CB8AC3E}">
        <p14:creationId xmlns:p14="http://schemas.microsoft.com/office/powerpoint/2010/main" val="3151415851"/>
      </p:ext>
    </p:extLst>
  </p:cSld>
  <p:clrMapOvr>
    <a:masterClrMapping/>
  </p:clrMapOvr>
  <mc:AlternateContent xmlns:mc="http://schemas.openxmlformats.org/markup-compatibility/2006" xmlns:p14="http://schemas.microsoft.com/office/powerpoint/2010/main">
    <mc:Choice Requires="p14">
      <p:transition spd="slow" p14:dur="2000" advTm="76640"/>
    </mc:Choice>
    <mc:Fallback xmlns="">
      <p:transition spd="slow" advTm="7664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F2F0B-D400-0843-8342-3714B414BA30}"/>
              </a:ext>
            </a:extLst>
          </p:cNvPr>
          <p:cNvSpPr>
            <a:spLocks noGrp="1"/>
          </p:cNvSpPr>
          <p:nvPr>
            <p:ph type="title"/>
          </p:nvPr>
        </p:nvSpPr>
        <p:spPr/>
        <p:txBody>
          <a:bodyPr/>
          <a:lstStyle/>
          <a:p>
            <a:r>
              <a:rPr lang="en-US" dirty="0"/>
              <a:t>Is structured data enough?</a:t>
            </a:r>
          </a:p>
        </p:txBody>
      </p:sp>
      <p:sp>
        <p:nvSpPr>
          <p:cNvPr id="3" name="Text Placeholder 2">
            <a:extLst>
              <a:ext uri="{FF2B5EF4-FFF2-40B4-BE49-F238E27FC236}">
                <a16:creationId xmlns:a16="http://schemas.microsoft.com/office/drawing/2014/main" id="{C425C9A9-E884-F04C-BC69-3CFACC251D5D}"/>
              </a:ext>
            </a:extLst>
          </p:cNvPr>
          <p:cNvSpPr>
            <a:spLocks noGrp="1"/>
          </p:cNvSpPr>
          <p:nvPr>
            <p:ph type="body" idx="1"/>
          </p:nvPr>
        </p:nvSpPr>
        <p:spPr/>
        <p:txBody>
          <a:bodyPr/>
          <a:lstStyle/>
          <a:p>
            <a:r>
              <a:rPr lang="en-US" dirty="0"/>
              <a:t>What’s contained in structured fields, and what’s missing?</a:t>
            </a:r>
          </a:p>
        </p:txBody>
      </p:sp>
    </p:spTree>
    <p:extLst>
      <p:ext uri="{BB962C8B-B14F-4D97-AF65-F5344CB8AC3E}">
        <p14:creationId xmlns:p14="http://schemas.microsoft.com/office/powerpoint/2010/main" val="2520685610"/>
      </p:ext>
    </p:extLst>
  </p:cSld>
  <p:clrMapOvr>
    <a:masterClrMapping/>
  </p:clrMapOvr>
  <mc:AlternateContent xmlns:mc="http://schemas.openxmlformats.org/markup-compatibility/2006" xmlns:p14="http://schemas.microsoft.com/office/powerpoint/2010/main">
    <mc:Choice Requires="p14">
      <p:transition spd="slow" p14:dur="2000" advTm="18382"/>
    </mc:Choice>
    <mc:Fallback xmlns="">
      <p:transition spd="slow" advTm="1838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D81F3-7E4F-0243-8459-79C328C913D6}"/>
              </a:ext>
            </a:extLst>
          </p:cNvPr>
          <p:cNvSpPr>
            <a:spLocks noGrp="1"/>
          </p:cNvSpPr>
          <p:nvPr>
            <p:ph type="title"/>
          </p:nvPr>
        </p:nvSpPr>
        <p:spPr/>
        <p:txBody>
          <a:bodyPr/>
          <a:lstStyle/>
          <a:p>
            <a:r>
              <a:rPr lang="en-US" dirty="0"/>
              <a:t>A patient presents with shortness of breath…</a:t>
            </a:r>
          </a:p>
        </p:txBody>
      </p:sp>
      <p:sp>
        <p:nvSpPr>
          <p:cNvPr id="3" name="Content Placeholder 2">
            <a:extLst>
              <a:ext uri="{FF2B5EF4-FFF2-40B4-BE49-F238E27FC236}">
                <a16:creationId xmlns:a16="http://schemas.microsoft.com/office/drawing/2014/main" id="{B92E46B9-4B97-FC46-AF92-3A164EA55D23}"/>
              </a:ext>
            </a:extLst>
          </p:cNvPr>
          <p:cNvSpPr>
            <a:spLocks noGrp="1"/>
          </p:cNvSpPr>
          <p:nvPr>
            <p:ph idx="1"/>
          </p:nvPr>
        </p:nvSpPr>
        <p:spPr/>
        <p:txBody>
          <a:bodyPr>
            <a:normAutofit lnSpcReduction="10000"/>
          </a:bodyPr>
          <a:lstStyle/>
          <a:p>
            <a:r>
              <a:rPr lang="en-US" dirty="0"/>
              <a:t>Presents to urgent care and is transferred to the ED</a:t>
            </a:r>
          </a:p>
          <a:p>
            <a:endParaRPr lang="en-US" dirty="0"/>
          </a:p>
          <a:p>
            <a:r>
              <a:rPr lang="en-US" dirty="0"/>
              <a:t>Evaluated in the ED</a:t>
            </a:r>
          </a:p>
          <a:p>
            <a:pPr lvl="1"/>
            <a:r>
              <a:rPr lang="en-US" dirty="0"/>
              <a:t>History of present illness</a:t>
            </a:r>
          </a:p>
          <a:p>
            <a:pPr lvl="1"/>
            <a:r>
              <a:rPr lang="en-US" dirty="0"/>
              <a:t>Review of medical history (including meds and allergies) + social and family hx</a:t>
            </a:r>
          </a:p>
          <a:p>
            <a:pPr lvl="1"/>
            <a:r>
              <a:rPr lang="en-US" dirty="0"/>
              <a:t>Physical exam and review of systems</a:t>
            </a:r>
          </a:p>
          <a:p>
            <a:pPr lvl="1"/>
            <a:r>
              <a:rPr lang="en-US" u="sng" dirty="0"/>
              <a:t>Lab results</a:t>
            </a:r>
            <a:r>
              <a:rPr lang="en-US" dirty="0"/>
              <a:t>: BMP and CBC</a:t>
            </a:r>
          </a:p>
          <a:p>
            <a:pPr lvl="1"/>
            <a:r>
              <a:rPr lang="en-US" u="sng" dirty="0"/>
              <a:t>Imaging &amp; other studies</a:t>
            </a:r>
            <a:r>
              <a:rPr lang="en-US" dirty="0"/>
              <a:t>: CT and EKG</a:t>
            </a:r>
          </a:p>
          <a:p>
            <a:pPr lvl="1"/>
            <a:endParaRPr lang="en-US" dirty="0"/>
          </a:p>
          <a:p>
            <a:r>
              <a:rPr lang="en-US" dirty="0"/>
              <a:t>Admitted to the hospital</a:t>
            </a:r>
          </a:p>
          <a:p>
            <a:endParaRPr lang="en-US" dirty="0"/>
          </a:p>
        </p:txBody>
      </p:sp>
    </p:spTree>
    <p:extLst>
      <p:ext uri="{BB962C8B-B14F-4D97-AF65-F5344CB8AC3E}">
        <p14:creationId xmlns:p14="http://schemas.microsoft.com/office/powerpoint/2010/main" val="4131874962"/>
      </p:ext>
    </p:extLst>
  </p:cSld>
  <p:clrMapOvr>
    <a:masterClrMapping/>
  </p:clrMapOvr>
  <mc:AlternateContent xmlns:mc="http://schemas.openxmlformats.org/markup-compatibility/2006" xmlns:p14="http://schemas.microsoft.com/office/powerpoint/2010/main">
    <mc:Choice Requires="p14">
      <p:transition spd="slow" p14:dur="2000" advTm="120942"/>
    </mc:Choice>
    <mc:Fallback xmlns="">
      <p:transition spd="slow" advTm="12094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63950-B144-A74A-9DB3-545D6E33DD46}"/>
              </a:ext>
            </a:extLst>
          </p:cNvPr>
          <p:cNvSpPr>
            <a:spLocks noGrp="1"/>
          </p:cNvSpPr>
          <p:nvPr>
            <p:ph type="title"/>
          </p:nvPr>
        </p:nvSpPr>
        <p:spPr/>
        <p:txBody>
          <a:bodyPr/>
          <a:lstStyle/>
          <a:p>
            <a:r>
              <a:rPr lang="en-US" dirty="0"/>
              <a:t>What will we find in the structured data?</a:t>
            </a:r>
          </a:p>
        </p:txBody>
      </p:sp>
      <p:sp>
        <p:nvSpPr>
          <p:cNvPr id="3" name="Content Placeholder 2">
            <a:extLst>
              <a:ext uri="{FF2B5EF4-FFF2-40B4-BE49-F238E27FC236}">
                <a16:creationId xmlns:a16="http://schemas.microsoft.com/office/drawing/2014/main" id="{3FF826EF-54F8-934E-BB1C-B4E684ABA6C1}"/>
              </a:ext>
            </a:extLst>
          </p:cNvPr>
          <p:cNvSpPr>
            <a:spLocks noGrp="1"/>
          </p:cNvSpPr>
          <p:nvPr>
            <p:ph idx="1"/>
          </p:nvPr>
        </p:nvSpPr>
        <p:spPr/>
        <p:txBody>
          <a:bodyPr/>
          <a:lstStyle/>
          <a:p>
            <a:r>
              <a:rPr lang="en-US" dirty="0"/>
              <a:t>Encounter details (ED admission)</a:t>
            </a:r>
          </a:p>
          <a:p>
            <a:r>
              <a:rPr lang="en-US" dirty="0"/>
              <a:t>Labs (BMP, CBC)</a:t>
            </a:r>
          </a:p>
          <a:p>
            <a:r>
              <a:rPr lang="en-US" dirty="0"/>
              <a:t>Vital signs</a:t>
            </a:r>
          </a:p>
          <a:p>
            <a:r>
              <a:rPr lang="en-US" dirty="0"/>
              <a:t>Procedure codes (CT)</a:t>
            </a:r>
          </a:p>
          <a:p>
            <a:r>
              <a:rPr lang="en-US" dirty="0"/>
              <a:t>Diagnosis codes (PE)</a:t>
            </a:r>
          </a:p>
          <a:p>
            <a:endParaRPr lang="en-US" dirty="0"/>
          </a:p>
          <a:p>
            <a:endParaRPr lang="en-US" dirty="0"/>
          </a:p>
          <a:p>
            <a:r>
              <a:rPr lang="en-US" dirty="0"/>
              <a:t>…what </a:t>
            </a:r>
            <a:r>
              <a:rPr lang="en-US" i="1" dirty="0"/>
              <a:t>won’t</a:t>
            </a:r>
            <a:r>
              <a:rPr lang="en-US" dirty="0"/>
              <a:t> we find?</a:t>
            </a:r>
          </a:p>
        </p:txBody>
      </p:sp>
    </p:spTree>
    <p:extLst>
      <p:ext uri="{BB962C8B-B14F-4D97-AF65-F5344CB8AC3E}">
        <p14:creationId xmlns:p14="http://schemas.microsoft.com/office/powerpoint/2010/main" val="1794435784"/>
      </p:ext>
    </p:extLst>
  </p:cSld>
  <p:clrMapOvr>
    <a:masterClrMapping/>
  </p:clrMapOvr>
  <mc:AlternateContent xmlns:mc="http://schemas.openxmlformats.org/markup-compatibility/2006" xmlns:p14="http://schemas.microsoft.com/office/powerpoint/2010/main">
    <mc:Choice Requires="p14">
      <p:transition spd="slow" p14:dur="2000" advTm="53289"/>
    </mc:Choice>
    <mc:Fallback xmlns="">
      <p:transition spd="slow" advTm="5328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52029E-FC5D-4E4C-9C20-4BEF7DBD04E3}"/>
              </a:ext>
            </a:extLst>
          </p:cNvPr>
          <p:cNvPicPr>
            <a:picLocks noChangeAspect="1"/>
          </p:cNvPicPr>
          <p:nvPr/>
        </p:nvPicPr>
        <p:blipFill rotWithShape="1">
          <a:blip r:embed="rId3"/>
          <a:srcRect l="11976" t="10928" r="11177"/>
          <a:stretch/>
        </p:blipFill>
        <p:spPr>
          <a:xfrm>
            <a:off x="5190186" y="373487"/>
            <a:ext cx="6581103" cy="9871656"/>
          </a:xfrm>
          <a:prstGeom prst="rect">
            <a:avLst/>
          </a:prstGeom>
          <a:ln>
            <a:solidFill>
              <a:schemeClr val="tx1"/>
            </a:solidFill>
          </a:ln>
        </p:spPr>
      </p:pic>
      <p:sp>
        <p:nvSpPr>
          <p:cNvPr id="6" name="Title 1">
            <a:extLst>
              <a:ext uri="{FF2B5EF4-FFF2-40B4-BE49-F238E27FC236}">
                <a16:creationId xmlns:a16="http://schemas.microsoft.com/office/drawing/2014/main" id="{3660DA80-C53B-0542-8A08-251DA8A31DF5}"/>
              </a:ext>
            </a:extLst>
          </p:cNvPr>
          <p:cNvSpPr>
            <a:spLocks noGrp="1"/>
          </p:cNvSpPr>
          <p:nvPr>
            <p:ph type="title"/>
          </p:nvPr>
        </p:nvSpPr>
        <p:spPr>
          <a:xfrm>
            <a:off x="838200" y="365125"/>
            <a:ext cx="10515600" cy="1325563"/>
          </a:xfrm>
        </p:spPr>
        <p:txBody>
          <a:bodyPr>
            <a:normAutofit/>
          </a:bodyPr>
          <a:lstStyle/>
          <a:p>
            <a:r>
              <a:rPr lang="en-US" dirty="0"/>
              <a:t>The H&amp;P</a:t>
            </a:r>
          </a:p>
        </p:txBody>
      </p:sp>
      <p:sp>
        <p:nvSpPr>
          <p:cNvPr id="7" name="Rectangle 6">
            <a:extLst>
              <a:ext uri="{FF2B5EF4-FFF2-40B4-BE49-F238E27FC236}">
                <a16:creationId xmlns:a16="http://schemas.microsoft.com/office/drawing/2014/main" id="{4F64F63A-58CA-0441-9A7D-CA2B8E9BD133}"/>
              </a:ext>
            </a:extLst>
          </p:cNvPr>
          <p:cNvSpPr/>
          <p:nvPr/>
        </p:nvSpPr>
        <p:spPr>
          <a:xfrm>
            <a:off x="420711" y="4078208"/>
            <a:ext cx="4151288" cy="2462213"/>
          </a:xfrm>
          <a:prstGeom prst="rect">
            <a:avLst/>
          </a:prstGeom>
        </p:spPr>
        <p:txBody>
          <a:bodyPr wrap="square">
            <a:spAutoFit/>
          </a:bodyPr>
          <a:lstStyle/>
          <a:p>
            <a:r>
              <a:rPr lang="en-US" sz="1400" dirty="0">
                <a:solidFill>
                  <a:srgbClr val="333333"/>
                </a:solidFill>
                <a:latin typeface="verdana" panose="020B0604030504040204" pitchFamily="34" charset="0"/>
              </a:rPr>
              <a:t>FHIR systems </a:t>
            </a:r>
            <a:r>
              <a:rPr lang="en-US" sz="1400" b="1" dirty="0">
                <a:solidFill>
                  <a:srgbClr val="333333"/>
                </a:solidFill>
                <a:latin typeface="verdana" panose="020B0604030504040204" pitchFamily="34" charset="0"/>
              </a:rPr>
              <a:t>SHALL</a:t>
            </a:r>
            <a:r>
              <a:rPr lang="en-US" sz="1400" dirty="0">
                <a:solidFill>
                  <a:srgbClr val="333333"/>
                </a:solidFill>
                <a:latin typeface="verdana" panose="020B0604030504040204" pitchFamily="34" charset="0"/>
              </a:rPr>
              <a:t> support, at </a:t>
            </a:r>
            <a:r>
              <a:rPr lang="en-US" sz="1400" i="1" dirty="0">
                <a:solidFill>
                  <a:srgbClr val="333333"/>
                </a:solidFill>
                <a:latin typeface="verdana" panose="020B0604030504040204" pitchFamily="34" charset="0"/>
              </a:rPr>
              <a:t>minimum</a:t>
            </a:r>
            <a:r>
              <a:rPr lang="en-US" sz="1400" dirty="0">
                <a:solidFill>
                  <a:srgbClr val="333333"/>
                </a:solidFill>
                <a:latin typeface="verdana" panose="020B0604030504040204" pitchFamily="34" charset="0"/>
              </a:rPr>
              <a:t>, these eight “Common Clinical Notes”:</a:t>
            </a:r>
          </a:p>
          <a:p>
            <a:endParaRPr lang="en-US" sz="1400" dirty="0">
              <a:solidFill>
                <a:srgbClr val="333333"/>
              </a:solidFill>
              <a:latin typeface="verdana" panose="020B0604030504040204" pitchFamily="34" charset="0"/>
            </a:endParaRPr>
          </a:p>
          <a:p>
            <a:pPr>
              <a:buFont typeface="+mj-lt"/>
              <a:buAutoNum type="arabicPeriod"/>
            </a:pPr>
            <a:r>
              <a:rPr lang="en-US" sz="1400" dirty="0">
                <a:latin typeface="verdana" panose="020B0604030504040204" pitchFamily="34" charset="0"/>
                <a:hlinkClick r:id="rId4">
                  <a:extLst>
                    <a:ext uri="{A12FA001-AC4F-418D-AE19-62706E023703}">
                      <ahyp:hlinkClr xmlns:ahyp="http://schemas.microsoft.com/office/drawing/2018/hyperlinkcolor" val="tx"/>
                    </a:ext>
                  </a:extLst>
                </a:hlinkClick>
              </a:rPr>
              <a:t>Consultation Note (11488-4)</a:t>
            </a:r>
            <a:endParaRPr lang="en-US" sz="1400" dirty="0">
              <a:latin typeface="verdana" panose="020B0604030504040204" pitchFamily="34" charset="0"/>
            </a:endParaRPr>
          </a:p>
          <a:p>
            <a:pPr>
              <a:buFont typeface="+mj-lt"/>
              <a:buAutoNum type="arabicPeriod"/>
            </a:pPr>
            <a:r>
              <a:rPr lang="en-US" sz="1400" dirty="0">
                <a:latin typeface="verdana" panose="020B0604030504040204" pitchFamily="34" charset="0"/>
                <a:hlinkClick r:id="rId5">
                  <a:extLst>
                    <a:ext uri="{A12FA001-AC4F-418D-AE19-62706E023703}">
                      <ahyp:hlinkClr xmlns:ahyp="http://schemas.microsoft.com/office/drawing/2018/hyperlinkcolor" val="tx"/>
                    </a:ext>
                  </a:extLst>
                </a:hlinkClick>
              </a:rPr>
              <a:t>Discharge Summary (18842-5)</a:t>
            </a:r>
            <a:endParaRPr lang="en-US" sz="1400" dirty="0">
              <a:latin typeface="verdana" panose="020B0604030504040204" pitchFamily="34" charset="0"/>
            </a:endParaRPr>
          </a:p>
          <a:p>
            <a:pPr>
              <a:buFont typeface="+mj-lt"/>
              <a:buAutoNum type="arabicPeriod"/>
            </a:pPr>
            <a:r>
              <a:rPr lang="en-US" sz="1400" dirty="0">
                <a:highlight>
                  <a:srgbClr val="FFFF00"/>
                </a:highlight>
                <a:latin typeface="verdana" panose="020B0604030504040204" pitchFamily="34" charset="0"/>
                <a:hlinkClick r:id="rId6">
                  <a:extLst>
                    <a:ext uri="{A12FA001-AC4F-418D-AE19-62706E023703}">
                      <ahyp:hlinkClr xmlns:ahyp="http://schemas.microsoft.com/office/drawing/2018/hyperlinkcolor" val="tx"/>
                    </a:ext>
                  </a:extLst>
                </a:hlinkClick>
              </a:rPr>
              <a:t>History &amp; Physical Note (34117-2)</a:t>
            </a:r>
            <a:endParaRPr lang="en-US" sz="1400" dirty="0">
              <a:highlight>
                <a:srgbClr val="FFFF00"/>
              </a:highlight>
              <a:latin typeface="verdana" panose="020B0604030504040204" pitchFamily="34" charset="0"/>
            </a:endParaRPr>
          </a:p>
          <a:p>
            <a:pPr>
              <a:buFont typeface="+mj-lt"/>
              <a:buAutoNum type="arabicPeriod"/>
            </a:pPr>
            <a:r>
              <a:rPr lang="en-US" sz="1400" dirty="0">
                <a:latin typeface="verdana" panose="020B0604030504040204" pitchFamily="34" charset="0"/>
                <a:hlinkClick r:id="rId7">
                  <a:extLst>
                    <a:ext uri="{A12FA001-AC4F-418D-AE19-62706E023703}">
                      <ahyp:hlinkClr xmlns:ahyp="http://schemas.microsoft.com/office/drawing/2018/hyperlinkcolor" val="tx"/>
                    </a:ext>
                  </a:extLst>
                </a:hlinkClick>
              </a:rPr>
              <a:t>Procedures Note (28570-0)</a:t>
            </a:r>
            <a:endParaRPr lang="en-US" sz="1400" dirty="0">
              <a:latin typeface="verdana" panose="020B0604030504040204" pitchFamily="34" charset="0"/>
            </a:endParaRPr>
          </a:p>
          <a:p>
            <a:pPr>
              <a:buFont typeface="+mj-lt"/>
              <a:buAutoNum type="arabicPeriod"/>
            </a:pPr>
            <a:r>
              <a:rPr lang="en-US" sz="1400" dirty="0">
                <a:latin typeface="verdana" panose="020B0604030504040204" pitchFamily="34" charset="0"/>
                <a:hlinkClick r:id="rId8">
                  <a:extLst>
                    <a:ext uri="{A12FA001-AC4F-418D-AE19-62706E023703}">
                      <ahyp:hlinkClr xmlns:ahyp="http://schemas.microsoft.com/office/drawing/2018/hyperlinkcolor" val="tx"/>
                    </a:ext>
                  </a:extLst>
                </a:hlinkClick>
              </a:rPr>
              <a:t>Progress Note (11506-3)</a:t>
            </a:r>
            <a:endParaRPr lang="en-US" sz="1400" dirty="0">
              <a:latin typeface="verdana" panose="020B0604030504040204" pitchFamily="34" charset="0"/>
            </a:endParaRPr>
          </a:p>
          <a:p>
            <a:pPr>
              <a:buFont typeface="+mj-lt"/>
              <a:buAutoNum type="arabicPeriod"/>
            </a:pPr>
            <a:r>
              <a:rPr lang="en-US" sz="1400" dirty="0">
                <a:latin typeface="verdana" panose="020B0604030504040204" pitchFamily="34" charset="0"/>
                <a:hlinkClick r:id="rId9">
                  <a:extLst>
                    <a:ext uri="{A12FA001-AC4F-418D-AE19-62706E023703}">
                      <ahyp:hlinkClr xmlns:ahyp="http://schemas.microsoft.com/office/drawing/2018/hyperlinkcolor" val="tx"/>
                    </a:ext>
                  </a:extLst>
                </a:hlinkClick>
              </a:rPr>
              <a:t>Imaging Narrative (18748-4)</a:t>
            </a:r>
            <a:endParaRPr lang="en-US" sz="1400" dirty="0">
              <a:latin typeface="verdana" panose="020B0604030504040204" pitchFamily="34" charset="0"/>
            </a:endParaRPr>
          </a:p>
          <a:p>
            <a:pPr>
              <a:buFont typeface="+mj-lt"/>
              <a:buAutoNum type="arabicPeriod"/>
            </a:pPr>
            <a:r>
              <a:rPr lang="en-US" sz="1400" dirty="0">
                <a:latin typeface="verdana" panose="020B0604030504040204" pitchFamily="34" charset="0"/>
                <a:hlinkClick r:id="rId10">
                  <a:extLst>
                    <a:ext uri="{A12FA001-AC4F-418D-AE19-62706E023703}">
                      <ahyp:hlinkClr xmlns:ahyp="http://schemas.microsoft.com/office/drawing/2018/hyperlinkcolor" val="tx"/>
                    </a:ext>
                  </a:extLst>
                </a:hlinkClick>
              </a:rPr>
              <a:t>Laboratory Report Narrative (11502-2)</a:t>
            </a:r>
            <a:endParaRPr lang="en-US" sz="1400" dirty="0">
              <a:latin typeface="verdana" panose="020B0604030504040204" pitchFamily="34" charset="0"/>
            </a:endParaRPr>
          </a:p>
          <a:p>
            <a:pPr>
              <a:buFont typeface="+mj-lt"/>
              <a:buAutoNum type="arabicPeriod"/>
            </a:pPr>
            <a:r>
              <a:rPr lang="en-US" sz="1400" dirty="0">
                <a:latin typeface="verdana" panose="020B0604030504040204" pitchFamily="34" charset="0"/>
                <a:hlinkClick r:id="rId11">
                  <a:extLst>
                    <a:ext uri="{A12FA001-AC4F-418D-AE19-62706E023703}">
                      <ahyp:hlinkClr xmlns:ahyp="http://schemas.microsoft.com/office/drawing/2018/hyperlinkcolor" val="tx"/>
                    </a:ext>
                  </a:extLst>
                </a:hlinkClick>
              </a:rPr>
              <a:t>Pathology Report Narrative (11526-1)</a:t>
            </a:r>
            <a:endParaRPr lang="en-US" sz="1400" b="0" i="0" strike="noStrike" dirty="0">
              <a:effectLst/>
              <a:latin typeface="verdana" panose="020B0604030504040204" pitchFamily="34" charset="0"/>
            </a:endParaRPr>
          </a:p>
        </p:txBody>
      </p:sp>
      <p:sp>
        <p:nvSpPr>
          <p:cNvPr id="8" name="Rectangle 7">
            <a:extLst>
              <a:ext uri="{FF2B5EF4-FFF2-40B4-BE49-F238E27FC236}">
                <a16:creationId xmlns:a16="http://schemas.microsoft.com/office/drawing/2014/main" id="{9892FAA4-4F81-B549-8072-4AD661F6B6C9}"/>
              </a:ext>
            </a:extLst>
          </p:cNvPr>
          <p:cNvSpPr/>
          <p:nvPr/>
        </p:nvSpPr>
        <p:spPr>
          <a:xfrm>
            <a:off x="838200" y="1707122"/>
            <a:ext cx="3733799" cy="830997"/>
          </a:xfrm>
          <a:prstGeom prst="rect">
            <a:avLst/>
          </a:prstGeom>
        </p:spPr>
        <p:txBody>
          <a:bodyPr wrap="square">
            <a:spAutoFit/>
          </a:bodyPr>
          <a:lstStyle/>
          <a:p>
            <a:r>
              <a:rPr lang="en-US" sz="1200" dirty="0"/>
              <a:t>written by a UNC student and publicly available:</a:t>
            </a:r>
          </a:p>
          <a:p>
            <a:endParaRPr lang="en-US" sz="1200" dirty="0"/>
          </a:p>
          <a:p>
            <a:r>
              <a:rPr lang="en-US" sz="1200" dirty="0"/>
              <a:t>https://</a:t>
            </a:r>
            <a:r>
              <a:rPr lang="en-US" sz="1200" dirty="0" err="1"/>
              <a:t>www.med.unc.edu</a:t>
            </a:r>
            <a:r>
              <a:rPr lang="en-US" sz="1200" dirty="0"/>
              <a:t>/</a:t>
            </a:r>
            <a:r>
              <a:rPr lang="en-US" sz="1200" dirty="0" err="1"/>
              <a:t>medclerk</a:t>
            </a:r>
            <a:r>
              <a:rPr lang="en-US" sz="1200" dirty="0"/>
              <a:t>/education/grading/history-and-physical-examination-h-p-examples/</a:t>
            </a:r>
          </a:p>
        </p:txBody>
      </p:sp>
    </p:spTree>
    <p:extLst>
      <p:ext uri="{BB962C8B-B14F-4D97-AF65-F5344CB8AC3E}">
        <p14:creationId xmlns:p14="http://schemas.microsoft.com/office/powerpoint/2010/main" val="301344397"/>
      </p:ext>
    </p:extLst>
  </p:cSld>
  <p:clrMapOvr>
    <a:masterClrMapping/>
  </p:clrMapOvr>
  <mc:AlternateContent xmlns:mc="http://schemas.openxmlformats.org/markup-compatibility/2006" xmlns:p14="http://schemas.microsoft.com/office/powerpoint/2010/main">
    <mc:Choice Requires="p14">
      <p:transition spd="slow" p14:dur="2000" advTm="57359"/>
    </mc:Choice>
    <mc:Fallback xmlns="">
      <p:transition spd="slow" advTm="5735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660DA80-C53B-0542-8A08-251DA8A31DF5}"/>
              </a:ext>
            </a:extLst>
          </p:cNvPr>
          <p:cNvSpPr>
            <a:spLocks noGrp="1"/>
          </p:cNvSpPr>
          <p:nvPr>
            <p:ph type="title"/>
          </p:nvPr>
        </p:nvSpPr>
        <p:spPr>
          <a:xfrm>
            <a:off x="838200" y="365125"/>
            <a:ext cx="10515600" cy="1325563"/>
          </a:xfrm>
        </p:spPr>
        <p:txBody>
          <a:bodyPr>
            <a:normAutofit/>
          </a:bodyPr>
          <a:lstStyle/>
          <a:p>
            <a:r>
              <a:rPr lang="en-US" dirty="0"/>
              <a:t>The H&amp;P</a:t>
            </a:r>
          </a:p>
        </p:txBody>
      </p:sp>
      <p:sp>
        <p:nvSpPr>
          <p:cNvPr id="7" name="Rectangle 6">
            <a:extLst>
              <a:ext uri="{FF2B5EF4-FFF2-40B4-BE49-F238E27FC236}">
                <a16:creationId xmlns:a16="http://schemas.microsoft.com/office/drawing/2014/main" id="{4F64F63A-58CA-0441-9A7D-CA2B8E9BD133}"/>
              </a:ext>
            </a:extLst>
          </p:cNvPr>
          <p:cNvSpPr/>
          <p:nvPr/>
        </p:nvSpPr>
        <p:spPr>
          <a:xfrm>
            <a:off x="420711" y="4078208"/>
            <a:ext cx="4151288" cy="2462213"/>
          </a:xfrm>
          <a:prstGeom prst="rect">
            <a:avLst/>
          </a:prstGeom>
        </p:spPr>
        <p:txBody>
          <a:bodyPr wrap="square">
            <a:spAutoFit/>
          </a:bodyPr>
          <a:lstStyle/>
          <a:p>
            <a:r>
              <a:rPr lang="en-US" sz="1400" dirty="0">
                <a:solidFill>
                  <a:srgbClr val="333333"/>
                </a:solidFill>
                <a:latin typeface="verdana" panose="020B0604030504040204" pitchFamily="34" charset="0"/>
              </a:rPr>
              <a:t>FHIR systems </a:t>
            </a:r>
            <a:r>
              <a:rPr lang="en-US" sz="1400" b="1" dirty="0">
                <a:solidFill>
                  <a:srgbClr val="333333"/>
                </a:solidFill>
                <a:latin typeface="verdana" panose="020B0604030504040204" pitchFamily="34" charset="0"/>
              </a:rPr>
              <a:t>SHALL</a:t>
            </a:r>
            <a:r>
              <a:rPr lang="en-US" sz="1400" dirty="0">
                <a:solidFill>
                  <a:srgbClr val="333333"/>
                </a:solidFill>
                <a:latin typeface="verdana" panose="020B0604030504040204" pitchFamily="34" charset="0"/>
              </a:rPr>
              <a:t> support, at </a:t>
            </a:r>
            <a:r>
              <a:rPr lang="en-US" sz="1400" i="1" dirty="0">
                <a:solidFill>
                  <a:srgbClr val="333333"/>
                </a:solidFill>
                <a:latin typeface="verdana" panose="020B0604030504040204" pitchFamily="34" charset="0"/>
              </a:rPr>
              <a:t>minimum</a:t>
            </a:r>
            <a:r>
              <a:rPr lang="en-US" sz="1400" dirty="0">
                <a:solidFill>
                  <a:srgbClr val="333333"/>
                </a:solidFill>
                <a:latin typeface="verdana" panose="020B0604030504040204" pitchFamily="34" charset="0"/>
              </a:rPr>
              <a:t>, these eight “Common Clinical Notes”:</a:t>
            </a:r>
          </a:p>
          <a:p>
            <a:endParaRPr lang="en-US" sz="1400" dirty="0">
              <a:solidFill>
                <a:srgbClr val="333333"/>
              </a:solidFill>
              <a:latin typeface="verdana" panose="020B0604030504040204" pitchFamily="34" charset="0"/>
            </a:endParaRPr>
          </a:p>
          <a:p>
            <a:pPr>
              <a:buFont typeface="+mj-lt"/>
              <a:buAutoNum type="arabicPeriod"/>
            </a:pPr>
            <a:r>
              <a:rPr lang="en-US" sz="1400" dirty="0">
                <a:latin typeface="verdana" panose="020B0604030504040204" pitchFamily="34" charset="0"/>
                <a:hlinkClick r:id="rId3">
                  <a:extLst>
                    <a:ext uri="{A12FA001-AC4F-418D-AE19-62706E023703}">
                      <ahyp:hlinkClr xmlns:ahyp="http://schemas.microsoft.com/office/drawing/2018/hyperlinkcolor" val="tx"/>
                    </a:ext>
                  </a:extLst>
                </a:hlinkClick>
              </a:rPr>
              <a:t>Consultation Note (11488-4)</a:t>
            </a:r>
            <a:endParaRPr lang="en-US" sz="1400" dirty="0">
              <a:latin typeface="verdana" panose="020B0604030504040204" pitchFamily="34" charset="0"/>
            </a:endParaRPr>
          </a:p>
          <a:p>
            <a:pPr>
              <a:buFont typeface="+mj-lt"/>
              <a:buAutoNum type="arabicPeriod"/>
            </a:pPr>
            <a:r>
              <a:rPr lang="en-US" sz="1400" dirty="0">
                <a:latin typeface="verdana" panose="020B0604030504040204" pitchFamily="34" charset="0"/>
                <a:hlinkClick r:id="rId4">
                  <a:extLst>
                    <a:ext uri="{A12FA001-AC4F-418D-AE19-62706E023703}">
                      <ahyp:hlinkClr xmlns:ahyp="http://schemas.microsoft.com/office/drawing/2018/hyperlinkcolor" val="tx"/>
                    </a:ext>
                  </a:extLst>
                </a:hlinkClick>
              </a:rPr>
              <a:t>Discharge Summary (18842-5)</a:t>
            </a:r>
            <a:endParaRPr lang="en-US" sz="1400" dirty="0">
              <a:latin typeface="verdana" panose="020B0604030504040204" pitchFamily="34" charset="0"/>
            </a:endParaRPr>
          </a:p>
          <a:p>
            <a:pPr>
              <a:buFont typeface="+mj-lt"/>
              <a:buAutoNum type="arabicPeriod"/>
            </a:pPr>
            <a:r>
              <a:rPr lang="en-US" sz="1400" dirty="0">
                <a:highlight>
                  <a:srgbClr val="FFFF00"/>
                </a:highlight>
                <a:latin typeface="verdana" panose="020B0604030504040204" pitchFamily="34" charset="0"/>
                <a:hlinkClick r:id="rId5">
                  <a:extLst>
                    <a:ext uri="{A12FA001-AC4F-418D-AE19-62706E023703}">
                      <ahyp:hlinkClr xmlns:ahyp="http://schemas.microsoft.com/office/drawing/2018/hyperlinkcolor" val="tx"/>
                    </a:ext>
                  </a:extLst>
                </a:hlinkClick>
              </a:rPr>
              <a:t>History &amp; Physical Note (34117-2)</a:t>
            </a:r>
            <a:endParaRPr lang="en-US" sz="1400" dirty="0">
              <a:highlight>
                <a:srgbClr val="FFFF00"/>
              </a:highlight>
              <a:latin typeface="verdana" panose="020B0604030504040204" pitchFamily="34" charset="0"/>
            </a:endParaRPr>
          </a:p>
          <a:p>
            <a:pPr>
              <a:buFont typeface="+mj-lt"/>
              <a:buAutoNum type="arabicPeriod"/>
            </a:pPr>
            <a:r>
              <a:rPr lang="en-US" sz="1400" dirty="0">
                <a:latin typeface="verdana" panose="020B0604030504040204" pitchFamily="34" charset="0"/>
                <a:hlinkClick r:id="rId6">
                  <a:extLst>
                    <a:ext uri="{A12FA001-AC4F-418D-AE19-62706E023703}">
                      <ahyp:hlinkClr xmlns:ahyp="http://schemas.microsoft.com/office/drawing/2018/hyperlinkcolor" val="tx"/>
                    </a:ext>
                  </a:extLst>
                </a:hlinkClick>
              </a:rPr>
              <a:t>Procedures Note (28570-0)</a:t>
            </a:r>
            <a:endParaRPr lang="en-US" sz="1400" dirty="0">
              <a:latin typeface="verdana" panose="020B0604030504040204" pitchFamily="34" charset="0"/>
            </a:endParaRPr>
          </a:p>
          <a:p>
            <a:pPr>
              <a:buFont typeface="+mj-lt"/>
              <a:buAutoNum type="arabicPeriod"/>
            </a:pPr>
            <a:r>
              <a:rPr lang="en-US" sz="1400" dirty="0">
                <a:latin typeface="verdana" panose="020B0604030504040204" pitchFamily="34" charset="0"/>
                <a:hlinkClick r:id="rId7">
                  <a:extLst>
                    <a:ext uri="{A12FA001-AC4F-418D-AE19-62706E023703}">
                      <ahyp:hlinkClr xmlns:ahyp="http://schemas.microsoft.com/office/drawing/2018/hyperlinkcolor" val="tx"/>
                    </a:ext>
                  </a:extLst>
                </a:hlinkClick>
              </a:rPr>
              <a:t>Progress Note (11506-3)</a:t>
            </a:r>
            <a:endParaRPr lang="en-US" sz="1400" dirty="0">
              <a:latin typeface="verdana" panose="020B0604030504040204" pitchFamily="34" charset="0"/>
            </a:endParaRPr>
          </a:p>
          <a:p>
            <a:pPr>
              <a:buFont typeface="+mj-lt"/>
              <a:buAutoNum type="arabicPeriod"/>
            </a:pPr>
            <a:r>
              <a:rPr lang="en-US" sz="1400" dirty="0">
                <a:latin typeface="verdana" panose="020B0604030504040204" pitchFamily="34" charset="0"/>
                <a:hlinkClick r:id="rId8">
                  <a:extLst>
                    <a:ext uri="{A12FA001-AC4F-418D-AE19-62706E023703}">
                      <ahyp:hlinkClr xmlns:ahyp="http://schemas.microsoft.com/office/drawing/2018/hyperlinkcolor" val="tx"/>
                    </a:ext>
                  </a:extLst>
                </a:hlinkClick>
              </a:rPr>
              <a:t>Imaging Narrative (18748-4)</a:t>
            </a:r>
            <a:endParaRPr lang="en-US" sz="1400" dirty="0">
              <a:latin typeface="verdana" panose="020B0604030504040204" pitchFamily="34" charset="0"/>
            </a:endParaRPr>
          </a:p>
          <a:p>
            <a:pPr>
              <a:buFont typeface="+mj-lt"/>
              <a:buAutoNum type="arabicPeriod"/>
            </a:pPr>
            <a:r>
              <a:rPr lang="en-US" sz="1400" dirty="0">
                <a:latin typeface="verdana" panose="020B0604030504040204" pitchFamily="34" charset="0"/>
                <a:hlinkClick r:id="rId9">
                  <a:extLst>
                    <a:ext uri="{A12FA001-AC4F-418D-AE19-62706E023703}">
                      <ahyp:hlinkClr xmlns:ahyp="http://schemas.microsoft.com/office/drawing/2018/hyperlinkcolor" val="tx"/>
                    </a:ext>
                  </a:extLst>
                </a:hlinkClick>
              </a:rPr>
              <a:t>Laboratory Report Narrative (11502-2)</a:t>
            </a:r>
            <a:endParaRPr lang="en-US" sz="1400" dirty="0">
              <a:latin typeface="verdana" panose="020B0604030504040204" pitchFamily="34" charset="0"/>
            </a:endParaRPr>
          </a:p>
          <a:p>
            <a:pPr>
              <a:buFont typeface="+mj-lt"/>
              <a:buAutoNum type="arabicPeriod"/>
            </a:pPr>
            <a:r>
              <a:rPr lang="en-US" sz="1400" dirty="0">
                <a:latin typeface="verdana" panose="020B0604030504040204" pitchFamily="34" charset="0"/>
                <a:hlinkClick r:id="rId10">
                  <a:extLst>
                    <a:ext uri="{A12FA001-AC4F-418D-AE19-62706E023703}">
                      <ahyp:hlinkClr xmlns:ahyp="http://schemas.microsoft.com/office/drawing/2018/hyperlinkcolor" val="tx"/>
                    </a:ext>
                  </a:extLst>
                </a:hlinkClick>
              </a:rPr>
              <a:t>Pathology Report Narrative (11526-1)</a:t>
            </a:r>
            <a:endParaRPr lang="en-US" sz="1400" b="0" i="0" strike="noStrike" dirty="0">
              <a:effectLst/>
              <a:latin typeface="verdana" panose="020B0604030504040204" pitchFamily="34" charset="0"/>
            </a:endParaRPr>
          </a:p>
        </p:txBody>
      </p:sp>
      <p:sp>
        <p:nvSpPr>
          <p:cNvPr id="8" name="Rectangle 7">
            <a:extLst>
              <a:ext uri="{FF2B5EF4-FFF2-40B4-BE49-F238E27FC236}">
                <a16:creationId xmlns:a16="http://schemas.microsoft.com/office/drawing/2014/main" id="{9892FAA4-4F81-B549-8072-4AD661F6B6C9}"/>
              </a:ext>
            </a:extLst>
          </p:cNvPr>
          <p:cNvSpPr/>
          <p:nvPr/>
        </p:nvSpPr>
        <p:spPr>
          <a:xfrm>
            <a:off x="838200" y="1707122"/>
            <a:ext cx="3733799" cy="830997"/>
          </a:xfrm>
          <a:prstGeom prst="rect">
            <a:avLst/>
          </a:prstGeom>
        </p:spPr>
        <p:txBody>
          <a:bodyPr wrap="square">
            <a:spAutoFit/>
          </a:bodyPr>
          <a:lstStyle/>
          <a:p>
            <a:r>
              <a:rPr lang="en-US" sz="1200" dirty="0"/>
              <a:t>written by a UNC student and publicly available:</a:t>
            </a:r>
          </a:p>
          <a:p>
            <a:endParaRPr lang="en-US" sz="1200" dirty="0"/>
          </a:p>
          <a:p>
            <a:r>
              <a:rPr lang="en-US" sz="1200" dirty="0"/>
              <a:t>https://</a:t>
            </a:r>
            <a:r>
              <a:rPr lang="en-US" sz="1200" dirty="0" err="1"/>
              <a:t>www.med.unc.edu</a:t>
            </a:r>
            <a:r>
              <a:rPr lang="en-US" sz="1200" dirty="0"/>
              <a:t>/</a:t>
            </a:r>
            <a:r>
              <a:rPr lang="en-US" sz="1200" dirty="0" err="1"/>
              <a:t>medclerk</a:t>
            </a:r>
            <a:r>
              <a:rPr lang="en-US" sz="1200" dirty="0"/>
              <a:t>/education/grading/history-and-physical-examination-h-p-examples/</a:t>
            </a:r>
          </a:p>
        </p:txBody>
      </p:sp>
      <p:pic>
        <p:nvPicPr>
          <p:cNvPr id="2" name="Picture 1">
            <a:extLst>
              <a:ext uri="{FF2B5EF4-FFF2-40B4-BE49-F238E27FC236}">
                <a16:creationId xmlns:a16="http://schemas.microsoft.com/office/drawing/2014/main" id="{F9F0F4FC-D645-154D-A008-0101B4CB90B7}"/>
              </a:ext>
            </a:extLst>
          </p:cNvPr>
          <p:cNvPicPr>
            <a:picLocks noChangeAspect="1"/>
          </p:cNvPicPr>
          <p:nvPr/>
        </p:nvPicPr>
        <p:blipFill rotWithShape="1">
          <a:blip r:embed="rId11"/>
          <a:srcRect t="69654" b="13302"/>
          <a:stretch/>
        </p:blipFill>
        <p:spPr>
          <a:xfrm>
            <a:off x="4279382" y="491947"/>
            <a:ext cx="8090540" cy="1784598"/>
          </a:xfrm>
          <a:prstGeom prst="rect">
            <a:avLst/>
          </a:prstGeom>
        </p:spPr>
      </p:pic>
      <p:pic>
        <p:nvPicPr>
          <p:cNvPr id="3" name="Picture 2">
            <a:extLst>
              <a:ext uri="{FF2B5EF4-FFF2-40B4-BE49-F238E27FC236}">
                <a16:creationId xmlns:a16="http://schemas.microsoft.com/office/drawing/2014/main" id="{F14B0BF3-6092-2E4A-8387-91696E529462}"/>
              </a:ext>
            </a:extLst>
          </p:cNvPr>
          <p:cNvPicPr>
            <a:picLocks noChangeAspect="1"/>
          </p:cNvPicPr>
          <p:nvPr/>
        </p:nvPicPr>
        <p:blipFill rotWithShape="1">
          <a:blip r:embed="rId12"/>
          <a:srcRect t="11573"/>
          <a:stretch/>
        </p:blipFill>
        <p:spPr>
          <a:xfrm>
            <a:off x="4279382" y="2299670"/>
            <a:ext cx="8090540" cy="9258345"/>
          </a:xfrm>
          <a:prstGeom prst="rect">
            <a:avLst/>
          </a:prstGeom>
        </p:spPr>
      </p:pic>
      <p:sp>
        <p:nvSpPr>
          <p:cNvPr id="9" name="Rectangle 8">
            <a:extLst>
              <a:ext uri="{FF2B5EF4-FFF2-40B4-BE49-F238E27FC236}">
                <a16:creationId xmlns:a16="http://schemas.microsoft.com/office/drawing/2014/main" id="{FC6E2B1F-DB15-FE4F-A4E4-00CE4DC5976C}"/>
              </a:ext>
            </a:extLst>
          </p:cNvPr>
          <p:cNvSpPr/>
          <p:nvPr/>
        </p:nvSpPr>
        <p:spPr>
          <a:xfrm>
            <a:off x="5190186" y="-96788"/>
            <a:ext cx="6581103" cy="7487403"/>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192364589"/>
      </p:ext>
    </p:extLst>
  </p:cSld>
  <p:clrMapOvr>
    <a:masterClrMapping/>
  </p:clrMapOvr>
  <mc:AlternateContent xmlns:mc="http://schemas.openxmlformats.org/markup-compatibility/2006" xmlns:p14="http://schemas.microsoft.com/office/powerpoint/2010/main">
    <mc:Choice Requires="p14">
      <p:transition spd="slow" p14:dur="2000" advTm="13347"/>
    </mc:Choice>
    <mc:Fallback xmlns="">
      <p:transition spd="slow" advTm="1334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660DA80-C53B-0542-8A08-251DA8A31DF5}"/>
              </a:ext>
            </a:extLst>
          </p:cNvPr>
          <p:cNvSpPr>
            <a:spLocks noGrp="1"/>
          </p:cNvSpPr>
          <p:nvPr>
            <p:ph type="title"/>
          </p:nvPr>
        </p:nvSpPr>
        <p:spPr>
          <a:xfrm>
            <a:off x="838200" y="365125"/>
            <a:ext cx="10515600" cy="1325563"/>
          </a:xfrm>
        </p:spPr>
        <p:txBody>
          <a:bodyPr>
            <a:normAutofit/>
          </a:bodyPr>
          <a:lstStyle/>
          <a:p>
            <a:r>
              <a:rPr lang="en-US" dirty="0"/>
              <a:t>The H&amp;P</a:t>
            </a:r>
          </a:p>
        </p:txBody>
      </p:sp>
      <p:sp>
        <p:nvSpPr>
          <p:cNvPr id="7" name="Rectangle 6">
            <a:extLst>
              <a:ext uri="{FF2B5EF4-FFF2-40B4-BE49-F238E27FC236}">
                <a16:creationId xmlns:a16="http://schemas.microsoft.com/office/drawing/2014/main" id="{4F64F63A-58CA-0441-9A7D-CA2B8E9BD133}"/>
              </a:ext>
            </a:extLst>
          </p:cNvPr>
          <p:cNvSpPr/>
          <p:nvPr/>
        </p:nvSpPr>
        <p:spPr>
          <a:xfrm>
            <a:off x="420711" y="4078208"/>
            <a:ext cx="4151288" cy="2462213"/>
          </a:xfrm>
          <a:prstGeom prst="rect">
            <a:avLst/>
          </a:prstGeom>
        </p:spPr>
        <p:txBody>
          <a:bodyPr wrap="square">
            <a:spAutoFit/>
          </a:bodyPr>
          <a:lstStyle/>
          <a:p>
            <a:r>
              <a:rPr lang="en-US" sz="1400" dirty="0">
                <a:solidFill>
                  <a:srgbClr val="333333"/>
                </a:solidFill>
                <a:latin typeface="verdana" panose="020B0604030504040204" pitchFamily="34" charset="0"/>
              </a:rPr>
              <a:t>FHIR systems </a:t>
            </a:r>
            <a:r>
              <a:rPr lang="en-US" sz="1400" b="1" dirty="0">
                <a:solidFill>
                  <a:srgbClr val="333333"/>
                </a:solidFill>
                <a:latin typeface="verdana" panose="020B0604030504040204" pitchFamily="34" charset="0"/>
              </a:rPr>
              <a:t>SHALL</a:t>
            </a:r>
            <a:r>
              <a:rPr lang="en-US" sz="1400" dirty="0">
                <a:solidFill>
                  <a:srgbClr val="333333"/>
                </a:solidFill>
                <a:latin typeface="verdana" panose="020B0604030504040204" pitchFamily="34" charset="0"/>
              </a:rPr>
              <a:t> support, at </a:t>
            </a:r>
            <a:r>
              <a:rPr lang="en-US" sz="1400" i="1" dirty="0">
                <a:solidFill>
                  <a:srgbClr val="333333"/>
                </a:solidFill>
                <a:latin typeface="verdana" panose="020B0604030504040204" pitchFamily="34" charset="0"/>
              </a:rPr>
              <a:t>minimum</a:t>
            </a:r>
            <a:r>
              <a:rPr lang="en-US" sz="1400" dirty="0">
                <a:solidFill>
                  <a:srgbClr val="333333"/>
                </a:solidFill>
                <a:latin typeface="verdana" panose="020B0604030504040204" pitchFamily="34" charset="0"/>
              </a:rPr>
              <a:t>, these eight “Common Clinical Notes”:</a:t>
            </a:r>
          </a:p>
          <a:p>
            <a:endParaRPr lang="en-US" sz="1400" dirty="0">
              <a:solidFill>
                <a:srgbClr val="333333"/>
              </a:solidFill>
              <a:latin typeface="verdana" panose="020B0604030504040204" pitchFamily="34" charset="0"/>
            </a:endParaRPr>
          </a:p>
          <a:p>
            <a:pPr>
              <a:buFont typeface="+mj-lt"/>
              <a:buAutoNum type="arabicPeriod"/>
            </a:pPr>
            <a:r>
              <a:rPr lang="en-US" sz="1400" dirty="0">
                <a:latin typeface="verdana" panose="020B0604030504040204" pitchFamily="34" charset="0"/>
                <a:hlinkClick r:id="rId3">
                  <a:extLst>
                    <a:ext uri="{A12FA001-AC4F-418D-AE19-62706E023703}">
                      <ahyp:hlinkClr xmlns:ahyp="http://schemas.microsoft.com/office/drawing/2018/hyperlinkcolor" val="tx"/>
                    </a:ext>
                  </a:extLst>
                </a:hlinkClick>
              </a:rPr>
              <a:t>Consultation Note (11488-4)</a:t>
            </a:r>
            <a:endParaRPr lang="en-US" sz="1400" dirty="0">
              <a:latin typeface="verdana" panose="020B0604030504040204" pitchFamily="34" charset="0"/>
            </a:endParaRPr>
          </a:p>
          <a:p>
            <a:pPr>
              <a:buFont typeface="+mj-lt"/>
              <a:buAutoNum type="arabicPeriod"/>
            </a:pPr>
            <a:r>
              <a:rPr lang="en-US" sz="1400" dirty="0">
                <a:latin typeface="verdana" panose="020B0604030504040204" pitchFamily="34" charset="0"/>
                <a:hlinkClick r:id="rId4">
                  <a:extLst>
                    <a:ext uri="{A12FA001-AC4F-418D-AE19-62706E023703}">
                      <ahyp:hlinkClr xmlns:ahyp="http://schemas.microsoft.com/office/drawing/2018/hyperlinkcolor" val="tx"/>
                    </a:ext>
                  </a:extLst>
                </a:hlinkClick>
              </a:rPr>
              <a:t>Discharge Summary (18842-5)</a:t>
            </a:r>
            <a:endParaRPr lang="en-US" sz="1400" dirty="0">
              <a:latin typeface="verdana" panose="020B0604030504040204" pitchFamily="34" charset="0"/>
            </a:endParaRPr>
          </a:p>
          <a:p>
            <a:pPr>
              <a:buFont typeface="+mj-lt"/>
              <a:buAutoNum type="arabicPeriod"/>
            </a:pPr>
            <a:r>
              <a:rPr lang="en-US" sz="1400" dirty="0">
                <a:highlight>
                  <a:srgbClr val="FFFF00"/>
                </a:highlight>
                <a:latin typeface="verdana" panose="020B0604030504040204" pitchFamily="34" charset="0"/>
                <a:hlinkClick r:id="rId5">
                  <a:extLst>
                    <a:ext uri="{A12FA001-AC4F-418D-AE19-62706E023703}">
                      <ahyp:hlinkClr xmlns:ahyp="http://schemas.microsoft.com/office/drawing/2018/hyperlinkcolor" val="tx"/>
                    </a:ext>
                  </a:extLst>
                </a:hlinkClick>
              </a:rPr>
              <a:t>History &amp; Physical Note (34117-2)</a:t>
            </a:r>
            <a:endParaRPr lang="en-US" sz="1400" dirty="0">
              <a:highlight>
                <a:srgbClr val="FFFF00"/>
              </a:highlight>
              <a:latin typeface="verdana" panose="020B0604030504040204" pitchFamily="34" charset="0"/>
            </a:endParaRPr>
          </a:p>
          <a:p>
            <a:pPr>
              <a:buFont typeface="+mj-lt"/>
              <a:buAutoNum type="arabicPeriod"/>
            </a:pPr>
            <a:r>
              <a:rPr lang="en-US" sz="1400" dirty="0">
                <a:latin typeface="verdana" panose="020B0604030504040204" pitchFamily="34" charset="0"/>
                <a:hlinkClick r:id="rId6">
                  <a:extLst>
                    <a:ext uri="{A12FA001-AC4F-418D-AE19-62706E023703}">
                      <ahyp:hlinkClr xmlns:ahyp="http://schemas.microsoft.com/office/drawing/2018/hyperlinkcolor" val="tx"/>
                    </a:ext>
                  </a:extLst>
                </a:hlinkClick>
              </a:rPr>
              <a:t>Procedures Note (28570-0)</a:t>
            </a:r>
            <a:endParaRPr lang="en-US" sz="1400" dirty="0">
              <a:latin typeface="verdana" panose="020B0604030504040204" pitchFamily="34" charset="0"/>
            </a:endParaRPr>
          </a:p>
          <a:p>
            <a:pPr>
              <a:buFont typeface="+mj-lt"/>
              <a:buAutoNum type="arabicPeriod"/>
            </a:pPr>
            <a:r>
              <a:rPr lang="en-US" sz="1400" dirty="0">
                <a:latin typeface="verdana" panose="020B0604030504040204" pitchFamily="34" charset="0"/>
                <a:hlinkClick r:id="rId7">
                  <a:extLst>
                    <a:ext uri="{A12FA001-AC4F-418D-AE19-62706E023703}">
                      <ahyp:hlinkClr xmlns:ahyp="http://schemas.microsoft.com/office/drawing/2018/hyperlinkcolor" val="tx"/>
                    </a:ext>
                  </a:extLst>
                </a:hlinkClick>
              </a:rPr>
              <a:t>Progress Note (11506-3)</a:t>
            </a:r>
            <a:endParaRPr lang="en-US" sz="1400" dirty="0">
              <a:latin typeface="verdana" panose="020B0604030504040204" pitchFamily="34" charset="0"/>
            </a:endParaRPr>
          </a:p>
          <a:p>
            <a:pPr>
              <a:buFont typeface="+mj-lt"/>
              <a:buAutoNum type="arabicPeriod"/>
            </a:pPr>
            <a:r>
              <a:rPr lang="en-US" sz="1400" dirty="0">
                <a:latin typeface="verdana" panose="020B0604030504040204" pitchFamily="34" charset="0"/>
                <a:hlinkClick r:id="rId8">
                  <a:extLst>
                    <a:ext uri="{A12FA001-AC4F-418D-AE19-62706E023703}">
                      <ahyp:hlinkClr xmlns:ahyp="http://schemas.microsoft.com/office/drawing/2018/hyperlinkcolor" val="tx"/>
                    </a:ext>
                  </a:extLst>
                </a:hlinkClick>
              </a:rPr>
              <a:t>Imaging Narrative (18748-4)</a:t>
            </a:r>
            <a:endParaRPr lang="en-US" sz="1400" dirty="0">
              <a:latin typeface="verdana" panose="020B0604030504040204" pitchFamily="34" charset="0"/>
            </a:endParaRPr>
          </a:p>
          <a:p>
            <a:pPr>
              <a:buFont typeface="+mj-lt"/>
              <a:buAutoNum type="arabicPeriod"/>
            </a:pPr>
            <a:r>
              <a:rPr lang="en-US" sz="1400" dirty="0">
                <a:latin typeface="verdana" panose="020B0604030504040204" pitchFamily="34" charset="0"/>
                <a:hlinkClick r:id="rId9">
                  <a:extLst>
                    <a:ext uri="{A12FA001-AC4F-418D-AE19-62706E023703}">
                      <ahyp:hlinkClr xmlns:ahyp="http://schemas.microsoft.com/office/drawing/2018/hyperlinkcolor" val="tx"/>
                    </a:ext>
                  </a:extLst>
                </a:hlinkClick>
              </a:rPr>
              <a:t>Laboratory Report Narrative (11502-2)</a:t>
            </a:r>
            <a:endParaRPr lang="en-US" sz="1400" dirty="0">
              <a:latin typeface="verdana" panose="020B0604030504040204" pitchFamily="34" charset="0"/>
            </a:endParaRPr>
          </a:p>
          <a:p>
            <a:pPr>
              <a:buFont typeface="+mj-lt"/>
              <a:buAutoNum type="arabicPeriod"/>
            </a:pPr>
            <a:r>
              <a:rPr lang="en-US" sz="1400" dirty="0">
                <a:latin typeface="verdana" panose="020B0604030504040204" pitchFamily="34" charset="0"/>
                <a:hlinkClick r:id="rId10">
                  <a:extLst>
                    <a:ext uri="{A12FA001-AC4F-418D-AE19-62706E023703}">
                      <ahyp:hlinkClr xmlns:ahyp="http://schemas.microsoft.com/office/drawing/2018/hyperlinkcolor" val="tx"/>
                    </a:ext>
                  </a:extLst>
                </a:hlinkClick>
              </a:rPr>
              <a:t>Pathology Report Narrative (11526-1)</a:t>
            </a:r>
            <a:endParaRPr lang="en-US" sz="1400" b="0" i="0" strike="noStrike" dirty="0">
              <a:effectLst/>
              <a:latin typeface="verdana" panose="020B0604030504040204" pitchFamily="34" charset="0"/>
            </a:endParaRPr>
          </a:p>
        </p:txBody>
      </p:sp>
      <p:sp>
        <p:nvSpPr>
          <p:cNvPr id="8" name="Rectangle 7">
            <a:extLst>
              <a:ext uri="{FF2B5EF4-FFF2-40B4-BE49-F238E27FC236}">
                <a16:creationId xmlns:a16="http://schemas.microsoft.com/office/drawing/2014/main" id="{9892FAA4-4F81-B549-8072-4AD661F6B6C9}"/>
              </a:ext>
            </a:extLst>
          </p:cNvPr>
          <p:cNvSpPr/>
          <p:nvPr/>
        </p:nvSpPr>
        <p:spPr>
          <a:xfrm>
            <a:off x="838200" y="1707122"/>
            <a:ext cx="3733799" cy="830997"/>
          </a:xfrm>
          <a:prstGeom prst="rect">
            <a:avLst/>
          </a:prstGeom>
        </p:spPr>
        <p:txBody>
          <a:bodyPr wrap="square">
            <a:spAutoFit/>
          </a:bodyPr>
          <a:lstStyle/>
          <a:p>
            <a:r>
              <a:rPr lang="en-US" sz="1200" dirty="0"/>
              <a:t>written by a UNC student and publicly available:</a:t>
            </a:r>
          </a:p>
          <a:p>
            <a:endParaRPr lang="en-US" sz="1200" dirty="0"/>
          </a:p>
          <a:p>
            <a:r>
              <a:rPr lang="en-US" sz="1200" dirty="0"/>
              <a:t>https://</a:t>
            </a:r>
            <a:r>
              <a:rPr lang="en-US" sz="1200" dirty="0" err="1"/>
              <a:t>www.med.unc.edu</a:t>
            </a:r>
            <a:r>
              <a:rPr lang="en-US" sz="1200" dirty="0"/>
              <a:t>/</a:t>
            </a:r>
            <a:r>
              <a:rPr lang="en-US" sz="1200" dirty="0" err="1"/>
              <a:t>medclerk</a:t>
            </a:r>
            <a:r>
              <a:rPr lang="en-US" sz="1200" dirty="0"/>
              <a:t>/education/grading/history-and-physical-examination-h-p-examples/</a:t>
            </a:r>
          </a:p>
        </p:txBody>
      </p:sp>
      <p:pic>
        <p:nvPicPr>
          <p:cNvPr id="4" name="Picture 3">
            <a:extLst>
              <a:ext uri="{FF2B5EF4-FFF2-40B4-BE49-F238E27FC236}">
                <a16:creationId xmlns:a16="http://schemas.microsoft.com/office/drawing/2014/main" id="{36953209-B713-B44B-A821-78E7A04A0218}"/>
              </a:ext>
            </a:extLst>
          </p:cNvPr>
          <p:cNvPicPr>
            <a:picLocks noChangeAspect="1"/>
          </p:cNvPicPr>
          <p:nvPr/>
        </p:nvPicPr>
        <p:blipFill rotWithShape="1">
          <a:blip r:embed="rId11"/>
          <a:srcRect t="11074"/>
          <a:stretch/>
        </p:blipFill>
        <p:spPr>
          <a:xfrm>
            <a:off x="4184753" y="84939"/>
            <a:ext cx="8173788" cy="9406460"/>
          </a:xfrm>
          <a:prstGeom prst="rect">
            <a:avLst/>
          </a:prstGeom>
        </p:spPr>
      </p:pic>
      <p:sp>
        <p:nvSpPr>
          <p:cNvPr id="9" name="Rectangle 8">
            <a:extLst>
              <a:ext uri="{FF2B5EF4-FFF2-40B4-BE49-F238E27FC236}">
                <a16:creationId xmlns:a16="http://schemas.microsoft.com/office/drawing/2014/main" id="{D2DF6E56-684D-9D40-A269-E5AFB62140C3}"/>
              </a:ext>
            </a:extLst>
          </p:cNvPr>
          <p:cNvSpPr/>
          <p:nvPr/>
        </p:nvSpPr>
        <p:spPr>
          <a:xfrm>
            <a:off x="5190186" y="-96788"/>
            <a:ext cx="6581103" cy="7487403"/>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831524637"/>
      </p:ext>
    </p:extLst>
  </p:cSld>
  <p:clrMapOvr>
    <a:masterClrMapping/>
  </p:clrMapOvr>
  <mc:AlternateContent xmlns:mc="http://schemas.openxmlformats.org/markup-compatibility/2006" xmlns:p14="http://schemas.microsoft.com/office/powerpoint/2010/main">
    <mc:Choice Requires="p14">
      <p:transition spd="slow" p14:dur="2000" advTm="23993"/>
    </mc:Choice>
    <mc:Fallback xmlns="">
      <p:transition spd="slow" advTm="2399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A5650E-D03F-4C4B-BC74-1688B5209B47}"/>
              </a:ext>
            </a:extLst>
          </p:cNvPr>
          <p:cNvPicPr>
            <a:picLocks noChangeAspect="1"/>
          </p:cNvPicPr>
          <p:nvPr/>
        </p:nvPicPr>
        <p:blipFill rotWithShape="1">
          <a:blip r:embed="rId3"/>
          <a:srcRect l="7106" t="5333" r="8248" b="70311"/>
          <a:stretch/>
        </p:blipFill>
        <p:spPr>
          <a:xfrm>
            <a:off x="5486400" y="121920"/>
            <a:ext cx="6562344" cy="2481671"/>
          </a:xfrm>
          <a:prstGeom prst="rect">
            <a:avLst/>
          </a:prstGeom>
          <a:ln>
            <a:solidFill>
              <a:schemeClr val="tx1"/>
            </a:solidFill>
          </a:ln>
        </p:spPr>
      </p:pic>
      <p:sp>
        <p:nvSpPr>
          <p:cNvPr id="7" name="Title 1">
            <a:extLst>
              <a:ext uri="{FF2B5EF4-FFF2-40B4-BE49-F238E27FC236}">
                <a16:creationId xmlns:a16="http://schemas.microsoft.com/office/drawing/2014/main" id="{CB833CE4-E42C-B849-A3E6-D30F660548D2}"/>
              </a:ext>
            </a:extLst>
          </p:cNvPr>
          <p:cNvSpPr>
            <a:spLocks noGrp="1"/>
          </p:cNvSpPr>
          <p:nvPr>
            <p:ph type="title"/>
          </p:nvPr>
        </p:nvSpPr>
        <p:spPr>
          <a:xfrm>
            <a:off x="399288" y="411461"/>
            <a:ext cx="5087112" cy="1902587"/>
          </a:xfrm>
        </p:spPr>
        <p:txBody>
          <a:bodyPr>
            <a:normAutofit/>
          </a:bodyPr>
          <a:lstStyle/>
          <a:p>
            <a:r>
              <a:rPr lang="en-US" dirty="0"/>
              <a:t>Notes are a rich source of info</a:t>
            </a:r>
          </a:p>
        </p:txBody>
      </p:sp>
      <p:pic>
        <p:nvPicPr>
          <p:cNvPr id="8" name="Picture 7">
            <a:extLst>
              <a:ext uri="{FF2B5EF4-FFF2-40B4-BE49-F238E27FC236}">
                <a16:creationId xmlns:a16="http://schemas.microsoft.com/office/drawing/2014/main" id="{B52C8493-527D-2145-8762-E61E61043D87}"/>
              </a:ext>
            </a:extLst>
          </p:cNvPr>
          <p:cNvPicPr>
            <a:picLocks noChangeAspect="1"/>
          </p:cNvPicPr>
          <p:nvPr/>
        </p:nvPicPr>
        <p:blipFill rotWithShape="1">
          <a:blip r:embed="rId4"/>
          <a:srcRect l="7549" t="6577" r="7510" b="68889"/>
          <a:stretch/>
        </p:blipFill>
        <p:spPr>
          <a:xfrm>
            <a:off x="819539" y="2730155"/>
            <a:ext cx="10552922" cy="4005925"/>
          </a:xfrm>
          <a:prstGeom prst="rect">
            <a:avLst/>
          </a:prstGeom>
        </p:spPr>
      </p:pic>
    </p:spTree>
    <p:extLst>
      <p:ext uri="{BB962C8B-B14F-4D97-AF65-F5344CB8AC3E}">
        <p14:creationId xmlns:p14="http://schemas.microsoft.com/office/powerpoint/2010/main" val="936913299"/>
      </p:ext>
    </p:extLst>
  </p:cSld>
  <p:clrMapOvr>
    <a:masterClrMapping/>
  </p:clrMapOvr>
  <mc:AlternateContent xmlns:mc="http://schemas.openxmlformats.org/markup-compatibility/2006" xmlns:p14="http://schemas.microsoft.com/office/powerpoint/2010/main">
    <mc:Choice Requires="p14">
      <p:transition spd="slow" p14:dur="2000" advTm="95022"/>
    </mc:Choice>
    <mc:Fallback xmlns="">
      <p:transition spd="slow" advTm="9502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D81F3-7E4F-0243-8459-79C328C913D6}"/>
              </a:ext>
            </a:extLst>
          </p:cNvPr>
          <p:cNvSpPr>
            <a:spLocks noGrp="1"/>
          </p:cNvSpPr>
          <p:nvPr>
            <p:ph type="title"/>
          </p:nvPr>
        </p:nvSpPr>
        <p:spPr/>
        <p:txBody>
          <a:bodyPr/>
          <a:lstStyle/>
          <a:p>
            <a:r>
              <a:rPr lang="en-US" dirty="0"/>
              <a:t>A patient presents with shortness of breath…</a:t>
            </a:r>
          </a:p>
        </p:txBody>
      </p:sp>
      <p:sp>
        <p:nvSpPr>
          <p:cNvPr id="3" name="Content Placeholder 2">
            <a:extLst>
              <a:ext uri="{FF2B5EF4-FFF2-40B4-BE49-F238E27FC236}">
                <a16:creationId xmlns:a16="http://schemas.microsoft.com/office/drawing/2014/main" id="{B92E46B9-4B97-FC46-AF92-3A164EA55D23}"/>
              </a:ext>
            </a:extLst>
          </p:cNvPr>
          <p:cNvSpPr>
            <a:spLocks noGrp="1"/>
          </p:cNvSpPr>
          <p:nvPr>
            <p:ph idx="1"/>
          </p:nvPr>
        </p:nvSpPr>
        <p:spPr/>
        <p:txBody>
          <a:bodyPr>
            <a:normAutofit lnSpcReduction="10000"/>
          </a:bodyPr>
          <a:lstStyle/>
          <a:p>
            <a:r>
              <a:rPr lang="en-US" dirty="0"/>
              <a:t>Presents to urgent care and is transferred to the ED</a:t>
            </a:r>
          </a:p>
          <a:p>
            <a:endParaRPr lang="en-US" dirty="0"/>
          </a:p>
          <a:p>
            <a:r>
              <a:rPr lang="en-US" dirty="0"/>
              <a:t>Evaluated in the ED</a:t>
            </a:r>
          </a:p>
          <a:p>
            <a:pPr lvl="1"/>
            <a:r>
              <a:rPr lang="en-US" dirty="0"/>
              <a:t>History of present illness</a:t>
            </a:r>
          </a:p>
          <a:p>
            <a:pPr lvl="1"/>
            <a:r>
              <a:rPr lang="en-US" dirty="0"/>
              <a:t>Review of medical history (including meds and allergies) + social and family hx</a:t>
            </a:r>
          </a:p>
          <a:p>
            <a:pPr lvl="1"/>
            <a:r>
              <a:rPr lang="en-US" dirty="0"/>
              <a:t>Physical exam and review of systems</a:t>
            </a:r>
          </a:p>
          <a:p>
            <a:pPr lvl="1"/>
            <a:r>
              <a:rPr lang="en-US" u="sng" dirty="0"/>
              <a:t>Lab results</a:t>
            </a:r>
            <a:r>
              <a:rPr lang="en-US" dirty="0"/>
              <a:t>: BMP and CBC</a:t>
            </a:r>
          </a:p>
          <a:p>
            <a:pPr lvl="1"/>
            <a:r>
              <a:rPr lang="en-US" u="sng" dirty="0"/>
              <a:t>Imaging &amp; other studies</a:t>
            </a:r>
            <a:r>
              <a:rPr lang="en-US" dirty="0"/>
              <a:t>: CT and EKG</a:t>
            </a:r>
          </a:p>
          <a:p>
            <a:pPr lvl="1"/>
            <a:endParaRPr lang="en-US" dirty="0"/>
          </a:p>
          <a:p>
            <a:r>
              <a:rPr lang="en-US" dirty="0"/>
              <a:t>Admitted to the hospital</a:t>
            </a:r>
          </a:p>
          <a:p>
            <a:endParaRPr lang="en-US" dirty="0"/>
          </a:p>
        </p:txBody>
      </p:sp>
    </p:spTree>
    <p:extLst>
      <p:ext uri="{BB962C8B-B14F-4D97-AF65-F5344CB8AC3E}">
        <p14:creationId xmlns:p14="http://schemas.microsoft.com/office/powerpoint/2010/main" val="759382792"/>
      </p:ext>
    </p:extLst>
  </p:cSld>
  <p:clrMapOvr>
    <a:masterClrMapping/>
  </p:clrMapOvr>
  <mc:AlternateContent xmlns:mc="http://schemas.openxmlformats.org/markup-compatibility/2006" xmlns:p14="http://schemas.microsoft.com/office/powerpoint/2010/main">
    <mc:Choice Requires="p14">
      <p:transition spd="slow" p14:dur="2000" advTm="10081"/>
    </mc:Choice>
    <mc:Fallback xmlns="">
      <p:transition spd="slow" advTm="1008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464BD-AC78-CE48-8D93-700071197614}"/>
              </a:ext>
            </a:extLst>
          </p:cNvPr>
          <p:cNvSpPr>
            <a:spLocks noGrp="1"/>
          </p:cNvSpPr>
          <p:nvPr>
            <p:ph type="title"/>
          </p:nvPr>
        </p:nvSpPr>
        <p:spPr/>
        <p:txBody>
          <a:bodyPr/>
          <a:lstStyle/>
          <a:p>
            <a:r>
              <a:rPr lang="en-US" dirty="0"/>
              <a:t>Imaging</a:t>
            </a:r>
          </a:p>
        </p:txBody>
      </p:sp>
      <p:sp>
        <p:nvSpPr>
          <p:cNvPr id="3" name="Content Placeholder 2">
            <a:extLst>
              <a:ext uri="{FF2B5EF4-FFF2-40B4-BE49-F238E27FC236}">
                <a16:creationId xmlns:a16="http://schemas.microsoft.com/office/drawing/2014/main" id="{FBE00D6D-00DF-AA4E-B8D7-096E36E6B790}"/>
              </a:ext>
            </a:extLst>
          </p:cNvPr>
          <p:cNvSpPr>
            <a:spLocks noGrp="1"/>
          </p:cNvSpPr>
          <p:nvPr>
            <p:ph idx="1"/>
          </p:nvPr>
        </p:nvSpPr>
        <p:spPr>
          <a:xfrm>
            <a:off x="838199" y="1825625"/>
            <a:ext cx="4474029" cy="4351338"/>
          </a:xfrm>
        </p:spPr>
        <p:txBody>
          <a:bodyPr/>
          <a:lstStyle/>
          <a:p>
            <a:r>
              <a:rPr lang="en-US" dirty="0"/>
              <a:t>A CT is worth a thousand words</a:t>
            </a:r>
          </a:p>
          <a:p>
            <a:pPr marL="0" indent="0">
              <a:buNone/>
            </a:pPr>
            <a:endParaRPr lang="en-US" dirty="0"/>
          </a:p>
          <a:p>
            <a:r>
              <a:rPr lang="en-US" dirty="0"/>
              <a:t>Radiologist’s interpretation (e.g. radiology report):</a:t>
            </a:r>
          </a:p>
          <a:p>
            <a:endParaRPr lang="en-US" dirty="0"/>
          </a:p>
          <a:p>
            <a:pPr lvl="1"/>
            <a:r>
              <a:rPr lang="en-US" dirty="0"/>
              <a:t>Distills known, salient info</a:t>
            </a:r>
          </a:p>
          <a:p>
            <a:pPr lvl="1"/>
            <a:r>
              <a:rPr lang="en-US" dirty="0"/>
              <a:t>But can miss relevant signal</a:t>
            </a:r>
          </a:p>
          <a:p>
            <a:endParaRPr lang="en-US" dirty="0"/>
          </a:p>
        </p:txBody>
      </p:sp>
      <p:pic>
        <p:nvPicPr>
          <p:cNvPr id="4" name="Picture 3">
            <a:extLst>
              <a:ext uri="{FF2B5EF4-FFF2-40B4-BE49-F238E27FC236}">
                <a16:creationId xmlns:a16="http://schemas.microsoft.com/office/drawing/2014/main" id="{B11B819F-D729-3A4F-A731-825BC26A61DB}"/>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360159" y="1473585"/>
            <a:ext cx="5323141" cy="3405052"/>
          </a:xfrm>
          <a:prstGeom prst="rect">
            <a:avLst/>
          </a:prstGeom>
        </p:spPr>
      </p:pic>
      <p:sp>
        <p:nvSpPr>
          <p:cNvPr id="5" name="Rectangle 4">
            <a:extLst>
              <a:ext uri="{FF2B5EF4-FFF2-40B4-BE49-F238E27FC236}">
                <a16:creationId xmlns:a16="http://schemas.microsoft.com/office/drawing/2014/main" id="{F9F3BD41-69C4-AA4E-86C9-EAB980FE3E3E}"/>
              </a:ext>
            </a:extLst>
          </p:cNvPr>
          <p:cNvSpPr/>
          <p:nvPr/>
        </p:nvSpPr>
        <p:spPr>
          <a:xfrm>
            <a:off x="6360160" y="5006850"/>
            <a:ext cx="5323141" cy="461665"/>
          </a:xfrm>
          <a:prstGeom prst="rect">
            <a:avLst/>
          </a:prstGeom>
        </p:spPr>
        <p:txBody>
          <a:bodyPr wrap="square">
            <a:spAutoFit/>
          </a:bodyPr>
          <a:lstStyle/>
          <a:p>
            <a:r>
              <a:rPr lang="en-US" sz="1200" dirty="0">
                <a:solidFill>
                  <a:srgbClr val="3D3D3D"/>
                </a:solidFill>
                <a:latin typeface="Open Sans" panose="020B0606030504020204" pitchFamily="34" charset="0"/>
              </a:rPr>
              <a:t>Large non-occlusive pulmonary embolus draped over the bifurcation of the main pulmonary artery; a saddle pulmonary embolus.</a:t>
            </a:r>
            <a:endParaRPr lang="en-US" sz="1200" dirty="0"/>
          </a:p>
        </p:txBody>
      </p:sp>
      <p:sp>
        <p:nvSpPr>
          <p:cNvPr id="6" name="Rectangle 5">
            <a:extLst>
              <a:ext uri="{FF2B5EF4-FFF2-40B4-BE49-F238E27FC236}">
                <a16:creationId xmlns:a16="http://schemas.microsoft.com/office/drawing/2014/main" id="{ED1AC1B6-5DA2-FA4D-A325-72A94773EC5E}"/>
              </a:ext>
            </a:extLst>
          </p:cNvPr>
          <p:cNvSpPr/>
          <p:nvPr/>
        </p:nvSpPr>
        <p:spPr>
          <a:xfrm>
            <a:off x="6640065" y="5596728"/>
            <a:ext cx="4763330" cy="276999"/>
          </a:xfrm>
          <a:prstGeom prst="rect">
            <a:avLst/>
          </a:prstGeom>
        </p:spPr>
        <p:txBody>
          <a:bodyPr wrap="square">
            <a:spAutoFit/>
          </a:bodyPr>
          <a:lstStyle/>
          <a:p>
            <a:pPr algn="ctr"/>
            <a:r>
              <a:rPr lang="en-US" sz="1200" dirty="0"/>
              <a:t>https://</a:t>
            </a:r>
            <a:r>
              <a:rPr lang="en-US" sz="1200" dirty="0" err="1"/>
              <a:t>radiopaedia.org</a:t>
            </a:r>
            <a:r>
              <a:rPr lang="en-US" sz="1200" dirty="0"/>
              <a:t>/cases/pulmonary-embolism-saddle-1?lang=us</a:t>
            </a:r>
          </a:p>
        </p:txBody>
      </p:sp>
    </p:spTree>
    <p:extLst>
      <p:ext uri="{BB962C8B-B14F-4D97-AF65-F5344CB8AC3E}">
        <p14:creationId xmlns:p14="http://schemas.microsoft.com/office/powerpoint/2010/main" val="1172222523"/>
      </p:ext>
    </p:extLst>
  </p:cSld>
  <p:clrMapOvr>
    <a:masterClrMapping/>
  </p:clrMapOvr>
  <mc:AlternateContent xmlns:mc="http://schemas.openxmlformats.org/markup-compatibility/2006" xmlns:p14="http://schemas.microsoft.com/office/powerpoint/2010/main">
    <mc:Choice Requires="p14">
      <p:transition spd="slow" p14:dur="2000" advTm="89957"/>
    </mc:Choice>
    <mc:Fallback xmlns="">
      <p:transition spd="slow" advTm="89957"/>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DF44001-C088-4041-891F-354DADA19D2A}"/>
              </a:ext>
            </a:extLst>
          </p:cNvPr>
          <p:cNvSpPr txBox="1">
            <a:spLocks/>
          </p:cNvSpPr>
          <p:nvPr/>
        </p:nvSpPr>
        <p:spPr>
          <a:xfrm>
            <a:off x="0" y="223124"/>
            <a:ext cx="6259132" cy="1143000"/>
          </a:xfrm>
          <a:prstGeom prst="rect">
            <a:avLst/>
          </a:prstGeom>
        </p:spPr>
        <p:txBody>
          <a:bodyPr/>
          <a:lstStyle>
            <a:lvl1pPr algn="ctr" defTabSz="609585" rtl="0" eaLnBrk="1" latinLnBrk="0" hangingPunct="1">
              <a:spcBef>
                <a:spcPct val="0"/>
              </a:spcBef>
              <a:buNone/>
              <a:defRPr sz="5867" kern="1200">
                <a:solidFill>
                  <a:srgbClr val="001A57"/>
                </a:solidFill>
                <a:latin typeface="Helvetica"/>
                <a:ea typeface="+mj-ea"/>
                <a:cs typeface="+mj-cs"/>
              </a:defRPr>
            </a:lvl1pPr>
          </a:lstStyle>
          <a:p>
            <a:r>
              <a:rPr lang="en-US" sz="4800" dirty="0">
                <a:solidFill>
                  <a:schemeClr val="tx1"/>
                </a:solidFill>
                <a:latin typeface="+mj-lt"/>
              </a:rPr>
              <a:t>Computer vision vs clinical experts</a:t>
            </a:r>
          </a:p>
        </p:txBody>
      </p:sp>
      <p:pic>
        <p:nvPicPr>
          <p:cNvPr id="7" name="Picture 13" descr="Cover">
            <a:extLst>
              <a:ext uri="{FF2B5EF4-FFF2-40B4-BE49-F238E27FC236}">
                <a16:creationId xmlns:a16="http://schemas.microsoft.com/office/drawing/2014/main" id="{4C6CD659-3901-B24E-87A1-7C34E248E513}"/>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6079141" y="198004"/>
            <a:ext cx="5737955" cy="556892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5" descr="D:\kuloth\2016\Mar\10-03-2016\nrdp_issue\slides_img\nrdp.2016.12-f4.jpg">
            <a:extLst>
              <a:ext uri="{FF2B5EF4-FFF2-40B4-BE49-F238E27FC236}">
                <a16:creationId xmlns:a16="http://schemas.microsoft.com/office/drawing/2014/main" id="{0914C58D-ED14-5841-8CA6-B586414242C3}"/>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83882" y="1990602"/>
            <a:ext cx="4640606" cy="3823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15">
            <a:extLst>
              <a:ext uri="{FF2B5EF4-FFF2-40B4-BE49-F238E27FC236}">
                <a16:creationId xmlns:a16="http://schemas.microsoft.com/office/drawing/2014/main" id="{40BAA407-EC9D-304C-820F-FE2A1AA6BBCF}"/>
              </a:ext>
            </a:extLst>
          </p:cNvPr>
          <p:cNvSpPr txBox="1">
            <a:spLocks noChangeArrowheads="1"/>
          </p:cNvSpPr>
          <p:nvPr/>
        </p:nvSpPr>
        <p:spPr bwMode="auto">
          <a:xfrm>
            <a:off x="1017549" y="5986698"/>
            <a:ext cx="37732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900" dirty="0">
                <a:latin typeface="Arial" panose="020B0604020202020204" pitchFamily="34" charset="0"/>
                <a:cs typeface="Arial" panose="020B0604020202020204" pitchFamily="34" charset="0"/>
              </a:rPr>
              <a:t>Wong, T. Y. </a:t>
            </a:r>
            <a:r>
              <a:rPr lang="en-US" altLang="en-US" sz="900" i="1" dirty="0">
                <a:latin typeface="Arial" panose="020B0604020202020204" pitchFamily="34" charset="0"/>
                <a:cs typeface="Arial" panose="020B0604020202020204" pitchFamily="34" charset="0"/>
              </a:rPr>
              <a:t>et al. </a:t>
            </a:r>
            <a:r>
              <a:rPr lang="en-GB" altLang="en-US" sz="900" dirty="0">
                <a:latin typeface="Arial" panose="020B0604020202020204" pitchFamily="34" charset="0"/>
                <a:cs typeface="Arial" panose="020B0604020202020204" pitchFamily="34" charset="0"/>
              </a:rPr>
              <a:t>(2016) </a:t>
            </a:r>
            <a:r>
              <a:rPr lang="en-US" altLang="en-US" sz="900" dirty="0">
                <a:latin typeface="Arial" panose="020B0604020202020204" pitchFamily="34" charset="0"/>
                <a:cs typeface="Arial" panose="020B0604020202020204" pitchFamily="34" charset="0"/>
              </a:rPr>
              <a:t>Diabetic retinopathy </a:t>
            </a:r>
          </a:p>
          <a:p>
            <a:pPr algn="ctr" eaLnBrk="1" hangingPunct="1"/>
            <a:r>
              <a:rPr lang="en-US" altLang="en-US" sz="900" i="1" dirty="0">
                <a:latin typeface="Arial" panose="020B0604020202020204" pitchFamily="34" charset="0"/>
                <a:cs typeface="Arial" panose="020B0604020202020204" pitchFamily="34" charset="0"/>
              </a:rPr>
              <a:t>Nat. Rev. Dis. Primers </a:t>
            </a:r>
            <a:r>
              <a:rPr lang="en-US" altLang="en-US" sz="900" dirty="0">
                <a:latin typeface="Arial" panose="020B0604020202020204" pitchFamily="34" charset="0"/>
                <a:cs typeface="Arial" panose="020B0604020202020204" pitchFamily="34" charset="0"/>
              </a:rPr>
              <a:t>doi:10.1038/nrdp.2016.12</a:t>
            </a:r>
          </a:p>
        </p:txBody>
      </p:sp>
      <p:sp>
        <p:nvSpPr>
          <p:cNvPr id="3" name="Rectangle 2"/>
          <p:cNvSpPr/>
          <p:nvPr/>
        </p:nvSpPr>
        <p:spPr>
          <a:xfrm>
            <a:off x="5783240" y="6088215"/>
            <a:ext cx="6096000" cy="338554"/>
          </a:xfrm>
          <a:prstGeom prst="rect">
            <a:avLst/>
          </a:prstGeom>
        </p:spPr>
        <p:txBody>
          <a:bodyPr>
            <a:spAutoFit/>
          </a:bodyPr>
          <a:lstStyle/>
          <a:p>
            <a:r>
              <a:rPr lang="en-US" sz="800" dirty="0" err="1">
                <a:solidFill>
                  <a:srgbClr val="333333"/>
                </a:solidFill>
                <a:latin typeface="Guardian TextSans Web"/>
              </a:rPr>
              <a:t>Gulshan</a:t>
            </a:r>
            <a:r>
              <a:rPr lang="en-US" sz="800" dirty="0">
                <a:solidFill>
                  <a:srgbClr val="333333"/>
                </a:solidFill>
                <a:latin typeface="Guardian TextSans Web"/>
              </a:rPr>
              <a:t> V, Peng L, Coram M, et al. Development and Validation of a Deep Learning Algorithm for Detection of Diabetic Retinopathy in Retinal Fundus Photographs. </a:t>
            </a:r>
            <a:r>
              <a:rPr lang="en-US" sz="800" i="1" dirty="0">
                <a:solidFill>
                  <a:srgbClr val="333333"/>
                </a:solidFill>
                <a:latin typeface="Guardian TextSans Web"/>
              </a:rPr>
              <a:t>JAMA.</a:t>
            </a:r>
            <a:r>
              <a:rPr lang="en-US" sz="800" dirty="0">
                <a:solidFill>
                  <a:srgbClr val="333333"/>
                </a:solidFill>
                <a:latin typeface="Guardian TextSans Web"/>
              </a:rPr>
              <a:t> 2016;316(22):2402–2410. doi:10.1001/jama.2016.17216</a:t>
            </a:r>
            <a:endParaRPr lang="en-US" sz="800" dirty="0"/>
          </a:p>
        </p:txBody>
      </p:sp>
      <p:sp>
        <p:nvSpPr>
          <p:cNvPr id="4" name="TextBox 3"/>
          <p:cNvSpPr txBox="1"/>
          <p:nvPr/>
        </p:nvSpPr>
        <p:spPr>
          <a:xfrm>
            <a:off x="9038679" y="3111254"/>
            <a:ext cx="1563782" cy="919834"/>
          </a:xfrm>
          <a:prstGeom prst="rect">
            <a:avLst/>
          </a:prstGeom>
          <a:noFill/>
        </p:spPr>
        <p:txBody>
          <a:bodyPr wrap="square" rtlCol="0">
            <a:spAutoFit/>
          </a:bodyPr>
          <a:lstStyle/>
          <a:p>
            <a:r>
              <a:rPr lang="en-US" b="1" i="1" dirty="0"/>
              <a:t>colored dots are expert performance</a:t>
            </a:r>
          </a:p>
        </p:txBody>
      </p:sp>
    </p:spTree>
    <p:extLst>
      <p:ext uri="{BB962C8B-B14F-4D97-AF65-F5344CB8AC3E}">
        <p14:creationId xmlns:p14="http://schemas.microsoft.com/office/powerpoint/2010/main" val="3280095451"/>
      </p:ext>
    </p:extLst>
  </p:cSld>
  <p:clrMapOvr>
    <a:masterClrMapping/>
  </p:clrMapOvr>
  <mc:AlternateContent xmlns:mc="http://schemas.openxmlformats.org/markup-compatibility/2006" xmlns:p14="http://schemas.microsoft.com/office/powerpoint/2010/main">
    <mc:Choice Requires="p14">
      <p:transition spd="slow" p14:dur="2000" advTm="71258"/>
    </mc:Choice>
    <mc:Fallback xmlns="">
      <p:transition spd="slow" advTm="71258"/>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D81F3-7E4F-0243-8459-79C328C913D6}"/>
              </a:ext>
            </a:extLst>
          </p:cNvPr>
          <p:cNvSpPr>
            <a:spLocks noGrp="1"/>
          </p:cNvSpPr>
          <p:nvPr>
            <p:ph type="title"/>
          </p:nvPr>
        </p:nvSpPr>
        <p:spPr/>
        <p:txBody>
          <a:bodyPr/>
          <a:lstStyle/>
          <a:p>
            <a:r>
              <a:rPr lang="en-US" dirty="0"/>
              <a:t>A patient presents with shortness of breath…</a:t>
            </a:r>
          </a:p>
        </p:txBody>
      </p:sp>
      <p:sp>
        <p:nvSpPr>
          <p:cNvPr id="3" name="Content Placeholder 2">
            <a:extLst>
              <a:ext uri="{FF2B5EF4-FFF2-40B4-BE49-F238E27FC236}">
                <a16:creationId xmlns:a16="http://schemas.microsoft.com/office/drawing/2014/main" id="{B92E46B9-4B97-FC46-AF92-3A164EA55D23}"/>
              </a:ext>
            </a:extLst>
          </p:cNvPr>
          <p:cNvSpPr>
            <a:spLocks noGrp="1"/>
          </p:cNvSpPr>
          <p:nvPr>
            <p:ph idx="1"/>
          </p:nvPr>
        </p:nvSpPr>
        <p:spPr/>
        <p:txBody>
          <a:bodyPr>
            <a:normAutofit lnSpcReduction="10000"/>
          </a:bodyPr>
          <a:lstStyle/>
          <a:p>
            <a:r>
              <a:rPr lang="en-US" dirty="0"/>
              <a:t>Presents to urgent care and is transferred to the ED</a:t>
            </a:r>
          </a:p>
          <a:p>
            <a:endParaRPr lang="en-US" dirty="0"/>
          </a:p>
          <a:p>
            <a:r>
              <a:rPr lang="en-US" dirty="0"/>
              <a:t>Evaluated in the ED</a:t>
            </a:r>
          </a:p>
          <a:p>
            <a:pPr lvl="1"/>
            <a:r>
              <a:rPr lang="en-US" dirty="0"/>
              <a:t>History of present illness</a:t>
            </a:r>
          </a:p>
          <a:p>
            <a:pPr lvl="1"/>
            <a:r>
              <a:rPr lang="en-US" dirty="0"/>
              <a:t>Review of medical history (including meds and allergies) + social and family hx</a:t>
            </a:r>
          </a:p>
          <a:p>
            <a:pPr lvl="1"/>
            <a:r>
              <a:rPr lang="en-US" dirty="0"/>
              <a:t>Physical exam and review of systems</a:t>
            </a:r>
          </a:p>
          <a:p>
            <a:pPr lvl="1"/>
            <a:r>
              <a:rPr lang="en-US" u="sng" dirty="0"/>
              <a:t>Lab results</a:t>
            </a:r>
            <a:r>
              <a:rPr lang="en-US" dirty="0"/>
              <a:t>: BMP and CBC</a:t>
            </a:r>
          </a:p>
          <a:p>
            <a:pPr lvl="1"/>
            <a:r>
              <a:rPr lang="en-US" u="sng" dirty="0"/>
              <a:t>Imaging &amp; other studies</a:t>
            </a:r>
            <a:r>
              <a:rPr lang="en-US" dirty="0"/>
              <a:t>: CT and EKG</a:t>
            </a:r>
          </a:p>
          <a:p>
            <a:pPr lvl="1"/>
            <a:endParaRPr lang="en-US" dirty="0"/>
          </a:p>
          <a:p>
            <a:r>
              <a:rPr lang="en-US" dirty="0"/>
              <a:t>Admitted to the hospital</a:t>
            </a:r>
          </a:p>
          <a:p>
            <a:endParaRPr lang="en-US" dirty="0"/>
          </a:p>
        </p:txBody>
      </p:sp>
    </p:spTree>
    <p:extLst>
      <p:ext uri="{BB962C8B-B14F-4D97-AF65-F5344CB8AC3E}">
        <p14:creationId xmlns:p14="http://schemas.microsoft.com/office/powerpoint/2010/main" val="1232368998"/>
      </p:ext>
    </p:extLst>
  </p:cSld>
  <p:clrMapOvr>
    <a:masterClrMapping/>
  </p:clrMapOvr>
  <mc:AlternateContent xmlns:mc="http://schemas.openxmlformats.org/markup-compatibility/2006" xmlns:p14="http://schemas.microsoft.com/office/powerpoint/2010/main">
    <mc:Choice Requires="p14">
      <p:transition spd="slow" p14:dur="2000" advTm="9742"/>
    </mc:Choice>
    <mc:Fallback xmlns="">
      <p:transition spd="slow" advTm="9742"/>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BC571-2202-2144-8359-C5145CA1DD21}"/>
              </a:ext>
            </a:extLst>
          </p:cNvPr>
          <p:cNvSpPr>
            <a:spLocks noGrp="1"/>
          </p:cNvSpPr>
          <p:nvPr>
            <p:ph type="title"/>
          </p:nvPr>
        </p:nvSpPr>
        <p:spPr/>
        <p:txBody>
          <a:bodyPr/>
          <a:lstStyle/>
          <a:p>
            <a:r>
              <a:rPr lang="en-US" dirty="0"/>
              <a:t>Electrophysiology</a:t>
            </a:r>
          </a:p>
        </p:txBody>
      </p:sp>
      <p:pic>
        <p:nvPicPr>
          <p:cNvPr id="1028" name="Picture 4">
            <a:extLst>
              <a:ext uri="{FF2B5EF4-FFF2-40B4-BE49-F238E27FC236}">
                <a16:creationId xmlns:a16="http://schemas.microsoft.com/office/drawing/2014/main" id="{70539CA1-C65D-1140-9427-229BE7C1E7C0}"/>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593948" y="164008"/>
            <a:ext cx="5391864" cy="310417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A278054-454D-3149-8F34-862EAD66CE49}"/>
              </a:ext>
            </a:extLst>
          </p:cNvPr>
          <p:cNvSpPr txBox="1"/>
          <p:nvPr/>
        </p:nvSpPr>
        <p:spPr>
          <a:xfrm>
            <a:off x="11431878" y="3268181"/>
            <a:ext cx="553934" cy="369332"/>
          </a:xfrm>
          <a:prstGeom prst="rect">
            <a:avLst/>
          </a:prstGeom>
          <a:noFill/>
        </p:spPr>
        <p:txBody>
          <a:bodyPr wrap="none" rtlCol="0">
            <a:spAutoFit/>
          </a:bodyPr>
          <a:lstStyle/>
          <a:p>
            <a:r>
              <a:rPr lang="en-US" dirty="0"/>
              <a:t>EKG</a:t>
            </a:r>
          </a:p>
        </p:txBody>
      </p:sp>
      <p:sp>
        <p:nvSpPr>
          <p:cNvPr id="5" name="TextBox 4">
            <a:extLst>
              <a:ext uri="{FF2B5EF4-FFF2-40B4-BE49-F238E27FC236}">
                <a16:creationId xmlns:a16="http://schemas.microsoft.com/office/drawing/2014/main" id="{4211735C-47E7-A440-AE61-5E330F9093DF}"/>
              </a:ext>
            </a:extLst>
          </p:cNvPr>
          <p:cNvSpPr txBox="1"/>
          <p:nvPr/>
        </p:nvSpPr>
        <p:spPr>
          <a:xfrm>
            <a:off x="2482602" y="6325674"/>
            <a:ext cx="552267" cy="369332"/>
          </a:xfrm>
          <a:prstGeom prst="rect">
            <a:avLst/>
          </a:prstGeom>
          <a:noFill/>
        </p:spPr>
        <p:txBody>
          <a:bodyPr wrap="none" rtlCol="0">
            <a:spAutoFit/>
          </a:bodyPr>
          <a:lstStyle/>
          <a:p>
            <a:r>
              <a:rPr lang="en-US" dirty="0"/>
              <a:t>EEG</a:t>
            </a:r>
          </a:p>
        </p:txBody>
      </p:sp>
      <p:pic>
        <p:nvPicPr>
          <p:cNvPr id="1030" name="Picture 6">
            <a:extLst>
              <a:ext uri="{FF2B5EF4-FFF2-40B4-BE49-F238E27FC236}">
                <a16:creationId xmlns:a16="http://schemas.microsoft.com/office/drawing/2014/main" id="{830A19FA-41C5-4E4B-9346-AAB7BD75839D}"/>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474613" y="3469298"/>
            <a:ext cx="4814648" cy="322469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DD45F77A-18AF-1340-81BD-48E81DB7735D}"/>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553720" y="2398932"/>
            <a:ext cx="4410033" cy="392674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D0A0571-85CA-0C40-91A1-6C6B10532879}"/>
              </a:ext>
            </a:extLst>
          </p:cNvPr>
          <p:cNvSpPr txBox="1"/>
          <p:nvPr/>
        </p:nvSpPr>
        <p:spPr>
          <a:xfrm>
            <a:off x="10289261" y="6308209"/>
            <a:ext cx="639919" cy="369332"/>
          </a:xfrm>
          <a:prstGeom prst="rect">
            <a:avLst/>
          </a:prstGeom>
          <a:noFill/>
        </p:spPr>
        <p:txBody>
          <a:bodyPr wrap="none" rtlCol="0">
            <a:spAutoFit/>
          </a:bodyPr>
          <a:lstStyle/>
          <a:p>
            <a:r>
              <a:rPr lang="en-US" dirty="0"/>
              <a:t>EMG</a:t>
            </a:r>
          </a:p>
        </p:txBody>
      </p:sp>
    </p:spTree>
    <p:extLst>
      <p:ext uri="{BB962C8B-B14F-4D97-AF65-F5344CB8AC3E}">
        <p14:creationId xmlns:p14="http://schemas.microsoft.com/office/powerpoint/2010/main" val="3717516880"/>
      </p:ext>
    </p:extLst>
  </p:cSld>
  <p:clrMapOvr>
    <a:masterClrMapping/>
  </p:clrMapOvr>
  <mc:AlternateContent xmlns:mc="http://schemas.openxmlformats.org/markup-compatibility/2006" xmlns:p14="http://schemas.microsoft.com/office/powerpoint/2010/main">
    <mc:Choice Requires="p14">
      <p:transition spd="slow" p14:dur="2000" advTm="44870"/>
    </mc:Choice>
    <mc:Fallback xmlns="">
      <p:transition spd="slow" advTm="4487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CFEB7-2188-0547-8343-298474342C4E}"/>
              </a:ext>
            </a:extLst>
          </p:cNvPr>
          <p:cNvSpPr>
            <a:spLocks noGrp="1"/>
          </p:cNvSpPr>
          <p:nvPr>
            <p:ph type="title"/>
          </p:nvPr>
        </p:nvSpPr>
        <p:spPr/>
        <p:txBody>
          <a:bodyPr/>
          <a:lstStyle/>
          <a:p>
            <a:r>
              <a:rPr lang="en-US" dirty="0"/>
              <a:t>Why use unstructured data?</a:t>
            </a:r>
          </a:p>
        </p:txBody>
      </p:sp>
      <p:sp>
        <p:nvSpPr>
          <p:cNvPr id="3" name="Content Placeholder 2">
            <a:extLst>
              <a:ext uri="{FF2B5EF4-FFF2-40B4-BE49-F238E27FC236}">
                <a16:creationId xmlns:a16="http://schemas.microsoft.com/office/drawing/2014/main" id="{68A9E436-6002-DB43-A0FC-40B990773918}"/>
              </a:ext>
            </a:extLst>
          </p:cNvPr>
          <p:cNvSpPr>
            <a:spLocks noGrp="1"/>
          </p:cNvSpPr>
          <p:nvPr>
            <p:ph idx="1"/>
          </p:nvPr>
        </p:nvSpPr>
        <p:spPr>
          <a:xfrm>
            <a:off x="838200" y="1825625"/>
            <a:ext cx="10941424" cy="4351338"/>
          </a:xfrm>
        </p:spPr>
        <p:txBody>
          <a:bodyPr>
            <a:normAutofit/>
          </a:bodyPr>
          <a:lstStyle/>
          <a:p>
            <a:r>
              <a:rPr lang="en-US" u="sng" dirty="0"/>
              <a:t>Reason 1</a:t>
            </a:r>
            <a:r>
              <a:rPr lang="en-US" dirty="0"/>
              <a:t>: it contains information not found in structured fields</a:t>
            </a:r>
          </a:p>
          <a:p>
            <a:pPr lvl="1"/>
            <a:r>
              <a:rPr lang="en-US" dirty="0" err="1"/>
              <a:t>clinial</a:t>
            </a:r>
            <a:r>
              <a:rPr lang="en-US" dirty="0"/>
              <a:t>/domain knowledge helps gauge whether/when this info will be useful</a:t>
            </a:r>
          </a:p>
          <a:p>
            <a:pPr lvl="1"/>
            <a:r>
              <a:rPr lang="en-US" i="1" dirty="0"/>
              <a:t>example</a:t>
            </a:r>
            <a:r>
              <a:rPr lang="en-US" dirty="0"/>
              <a:t>: use radiological images when predicting COPD prognosis</a:t>
            </a:r>
          </a:p>
          <a:p>
            <a:endParaRPr lang="en-US" dirty="0"/>
          </a:p>
          <a:p>
            <a:r>
              <a:rPr lang="en-US" u="sng" dirty="0"/>
              <a:t>Reason 2</a:t>
            </a:r>
            <a:r>
              <a:rPr lang="en-US" dirty="0"/>
              <a:t>: it can be more accessible, no expert interpretation needed</a:t>
            </a:r>
          </a:p>
          <a:p>
            <a:pPr lvl="1"/>
            <a:r>
              <a:rPr lang="en-US" i="1" dirty="0"/>
              <a:t>example</a:t>
            </a:r>
            <a:r>
              <a:rPr lang="en-US" dirty="0"/>
              <a:t>: predict malignancy from smartphone images of skin lesions</a:t>
            </a:r>
          </a:p>
          <a:p>
            <a:endParaRPr lang="en-US" u="sng" dirty="0"/>
          </a:p>
          <a:p>
            <a:r>
              <a:rPr lang="en-US" u="sng" dirty="0"/>
              <a:t>Reason 3</a:t>
            </a:r>
            <a:r>
              <a:rPr lang="en-US" dirty="0"/>
              <a:t>: it is unaffected (or less affected) by provider decision-making</a:t>
            </a:r>
          </a:p>
          <a:p>
            <a:pPr lvl="1"/>
            <a:r>
              <a:rPr lang="en-US" i="1" dirty="0"/>
              <a:t>example</a:t>
            </a:r>
            <a:r>
              <a:rPr lang="en-US" dirty="0"/>
              <a:t>: predict need for surgery from imaging of small bowel obstruction</a:t>
            </a:r>
          </a:p>
        </p:txBody>
      </p:sp>
    </p:spTree>
    <p:extLst>
      <p:ext uri="{BB962C8B-B14F-4D97-AF65-F5344CB8AC3E}">
        <p14:creationId xmlns:p14="http://schemas.microsoft.com/office/powerpoint/2010/main" val="941504091"/>
      </p:ext>
    </p:extLst>
  </p:cSld>
  <p:clrMapOvr>
    <a:masterClrMapping/>
  </p:clrMapOvr>
  <mc:AlternateContent xmlns:mc="http://schemas.openxmlformats.org/markup-compatibility/2006" xmlns:p14="http://schemas.microsoft.com/office/powerpoint/2010/main">
    <mc:Choice Requires="p14">
      <p:transition spd="slow" p14:dur="2000" advTm="134601"/>
    </mc:Choice>
    <mc:Fallback xmlns="">
      <p:transition spd="slow" advTm="13460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07CBC-7A50-6A52-9C0E-C5F7D3854081}"/>
              </a:ext>
            </a:extLst>
          </p:cNvPr>
          <p:cNvSpPr>
            <a:spLocks noGrp="1"/>
          </p:cNvSpPr>
          <p:nvPr>
            <p:ph type="title"/>
          </p:nvPr>
        </p:nvSpPr>
        <p:spPr/>
        <p:txBody>
          <a:bodyPr/>
          <a:lstStyle/>
          <a:p>
            <a:r>
              <a:rPr lang="en-US" dirty="0"/>
              <a:t>Why might we need many modalities?</a:t>
            </a:r>
          </a:p>
        </p:txBody>
      </p:sp>
      <p:pic>
        <p:nvPicPr>
          <p:cNvPr id="4" name="Picture 3">
            <a:extLst>
              <a:ext uri="{FF2B5EF4-FFF2-40B4-BE49-F238E27FC236}">
                <a16:creationId xmlns:a16="http://schemas.microsoft.com/office/drawing/2014/main" id="{A4882DDE-EFBE-EBC1-8D45-A523E6687F8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28751" y="1719815"/>
            <a:ext cx="7553688" cy="1325563"/>
          </a:xfrm>
          <a:prstGeom prst="rect">
            <a:avLst/>
          </a:prstGeom>
          <a:ln>
            <a:solidFill>
              <a:schemeClr val="tx1"/>
            </a:solidFill>
          </a:ln>
        </p:spPr>
      </p:pic>
      <p:pic>
        <p:nvPicPr>
          <p:cNvPr id="5" name="Picture 4">
            <a:extLst>
              <a:ext uri="{FF2B5EF4-FFF2-40B4-BE49-F238E27FC236}">
                <a16:creationId xmlns:a16="http://schemas.microsoft.com/office/drawing/2014/main" id="{F12A7445-1FE8-D2FC-ADD2-7DCE14EEF974}"/>
              </a:ext>
            </a:extLst>
          </p:cNvPr>
          <p:cNvPicPr>
            <a:picLocks noChangeAspect="1"/>
          </p:cNvPicPr>
          <p:nvPr/>
        </p:nvPicPr>
        <p:blipFill rotWithShape="1">
          <a:blip r:embed="rId4"/>
          <a:srcRect l="11976" t="10928" r="11177"/>
          <a:stretch/>
        </p:blipFill>
        <p:spPr>
          <a:xfrm>
            <a:off x="838200" y="4767521"/>
            <a:ext cx="6581103" cy="9871656"/>
          </a:xfrm>
          <a:prstGeom prst="rect">
            <a:avLst/>
          </a:prstGeom>
          <a:ln>
            <a:solidFill>
              <a:schemeClr val="tx1"/>
            </a:solidFill>
          </a:ln>
        </p:spPr>
      </p:pic>
      <p:pic>
        <p:nvPicPr>
          <p:cNvPr id="6" name="Picture 5">
            <a:extLst>
              <a:ext uri="{FF2B5EF4-FFF2-40B4-BE49-F238E27FC236}">
                <a16:creationId xmlns:a16="http://schemas.microsoft.com/office/drawing/2014/main" id="{FB91536F-8DE6-F60D-FED7-6D73937D037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38200" y="1690688"/>
            <a:ext cx="2709380" cy="2709380"/>
          </a:xfrm>
          <a:prstGeom prst="rect">
            <a:avLst/>
          </a:prstGeom>
        </p:spPr>
      </p:pic>
      <p:pic>
        <p:nvPicPr>
          <p:cNvPr id="7" name="Picture 4">
            <a:extLst>
              <a:ext uri="{FF2B5EF4-FFF2-40B4-BE49-F238E27FC236}">
                <a16:creationId xmlns:a16="http://schemas.microsoft.com/office/drawing/2014/main" id="{AD4FC6F8-152C-5D24-80C0-228C901584FF}"/>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8002450" y="3708210"/>
            <a:ext cx="3679989" cy="211862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F35C90A-1EAE-EB21-167C-F15277D0B9CF}"/>
              </a:ext>
            </a:extLst>
          </p:cNvPr>
          <p:cNvSpPr txBox="1"/>
          <p:nvPr/>
        </p:nvSpPr>
        <p:spPr>
          <a:xfrm>
            <a:off x="4128751" y="3043499"/>
            <a:ext cx="2219197" cy="369332"/>
          </a:xfrm>
          <a:prstGeom prst="rect">
            <a:avLst/>
          </a:prstGeom>
          <a:noFill/>
        </p:spPr>
        <p:txBody>
          <a:bodyPr wrap="none" rtlCol="0">
            <a:spAutoFit/>
          </a:bodyPr>
          <a:lstStyle/>
          <a:p>
            <a:r>
              <a:rPr lang="en-US" dirty="0"/>
              <a:t>Structured EHR data</a:t>
            </a:r>
          </a:p>
        </p:txBody>
      </p:sp>
      <p:sp>
        <p:nvSpPr>
          <p:cNvPr id="10" name="TextBox 9">
            <a:extLst>
              <a:ext uri="{FF2B5EF4-FFF2-40B4-BE49-F238E27FC236}">
                <a16:creationId xmlns:a16="http://schemas.microsoft.com/office/drawing/2014/main" id="{BCDECF6F-4B7F-AD4A-11AA-D521643E6EA4}"/>
              </a:ext>
            </a:extLst>
          </p:cNvPr>
          <p:cNvSpPr txBox="1"/>
          <p:nvPr/>
        </p:nvSpPr>
        <p:spPr>
          <a:xfrm>
            <a:off x="3592436" y="4029797"/>
            <a:ext cx="970137" cy="369332"/>
          </a:xfrm>
          <a:prstGeom prst="rect">
            <a:avLst/>
          </a:prstGeom>
          <a:noFill/>
        </p:spPr>
        <p:txBody>
          <a:bodyPr wrap="none" rtlCol="0">
            <a:spAutoFit/>
          </a:bodyPr>
          <a:lstStyle/>
          <a:p>
            <a:r>
              <a:rPr lang="en-US" dirty="0"/>
              <a:t>Imaging</a:t>
            </a:r>
          </a:p>
        </p:txBody>
      </p:sp>
      <p:sp>
        <p:nvSpPr>
          <p:cNvPr id="12" name="TextBox 11">
            <a:extLst>
              <a:ext uri="{FF2B5EF4-FFF2-40B4-BE49-F238E27FC236}">
                <a16:creationId xmlns:a16="http://schemas.microsoft.com/office/drawing/2014/main" id="{52F3237D-97DC-B382-EDDD-0B8202FDDB23}"/>
              </a:ext>
            </a:extLst>
          </p:cNvPr>
          <p:cNvSpPr txBox="1"/>
          <p:nvPr/>
        </p:nvSpPr>
        <p:spPr>
          <a:xfrm>
            <a:off x="5868173" y="4398189"/>
            <a:ext cx="1551130" cy="369332"/>
          </a:xfrm>
          <a:prstGeom prst="rect">
            <a:avLst/>
          </a:prstGeom>
          <a:noFill/>
        </p:spPr>
        <p:txBody>
          <a:bodyPr wrap="none" rtlCol="0">
            <a:spAutoFit/>
          </a:bodyPr>
          <a:lstStyle/>
          <a:p>
            <a:r>
              <a:rPr lang="en-US" dirty="0"/>
              <a:t>Clinical notes</a:t>
            </a:r>
          </a:p>
        </p:txBody>
      </p:sp>
      <p:sp>
        <p:nvSpPr>
          <p:cNvPr id="14" name="TextBox 13">
            <a:extLst>
              <a:ext uri="{FF2B5EF4-FFF2-40B4-BE49-F238E27FC236}">
                <a16:creationId xmlns:a16="http://schemas.microsoft.com/office/drawing/2014/main" id="{89EADE59-EB84-11C9-3708-A13473EA3E99}"/>
              </a:ext>
            </a:extLst>
          </p:cNvPr>
          <p:cNvSpPr txBox="1"/>
          <p:nvPr/>
        </p:nvSpPr>
        <p:spPr>
          <a:xfrm>
            <a:off x="7869179" y="5927472"/>
            <a:ext cx="3946530" cy="369332"/>
          </a:xfrm>
          <a:prstGeom prst="rect">
            <a:avLst/>
          </a:prstGeom>
          <a:noFill/>
        </p:spPr>
        <p:txBody>
          <a:bodyPr wrap="none" rtlCol="0">
            <a:spAutoFit/>
          </a:bodyPr>
          <a:lstStyle/>
          <a:p>
            <a:r>
              <a:rPr lang="en-US" dirty="0"/>
              <a:t>EKG and other physiologic time-series</a:t>
            </a:r>
          </a:p>
        </p:txBody>
      </p:sp>
    </p:spTree>
    <p:extLst>
      <p:ext uri="{BB962C8B-B14F-4D97-AF65-F5344CB8AC3E}">
        <p14:creationId xmlns:p14="http://schemas.microsoft.com/office/powerpoint/2010/main" val="2791533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FEDAD-96D8-9097-7174-A0AB9AE4B011}"/>
              </a:ext>
            </a:extLst>
          </p:cNvPr>
          <p:cNvSpPr>
            <a:spLocks noGrp="1"/>
          </p:cNvSpPr>
          <p:nvPr>
            <p:ph type="title"/>
          </p:nvPr>
        </p:nvSpPr>
        <p:spPr/>
        <p:txBody>
          <a:bodyPr/>
          <a:lstStyle/>
          <a:p>
            <a:r>
              <a:rPr lang="en-US" dirty="0"/>
              <a:t>A patient timeline of </a:t>
            </a:r>
            <a:r>
              <a:rPr lang="en-US" u="sng" dirty="0"/>
              <a:t>structured</a:t>
            </a:r>
            <a:r>
              <a:rPr lang="en-US" dirty="0"/>
              <a:t> data</a:t>
            </a:r>
          </a:p>
        </p:txBody>
      </p:sp>
      <p:pic>
        <p:nvPicPr>
          <p:cNvPr id="1026" name="Picture 2" descr="Blood Test Tube Clipart: Over 731 Royalty-Free Licensable ...">
            <a:extLst>
              <a:ext uri="{FF2B5EF4-FFF2-40B4-BE49-F238E27FC236}">
                <a16:creationId xmlns:a16="http://schemas.microsoft.com/office/drawing/2014/main" id="{A7D5F790-A4B5-EB53-EF7C-53F4FBEAF1A6}"/>
              </a:ext>
            </a:extLst>
          </p:cNvPr>
          <p:cNvPicPr>
            <a:picLocks noChangeAspect="1" noChangeArrowheads="1"/>
          </p:cNvPicPr>
          <p:nvPr/>
        </p:nvPicPr>
        <p:blipFill>
          <a:blip r:embed="rId3" cstate="screen">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261477" y="5014603"/>
            <a:ext cx="1507850" cy="15078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Vector Medical Chart Icon 420591 Vector Art at Vecteezy">
            <a:extLst>
              <a:ext uri="{FF2B5EF4-FFF2-40B4-BE49-F238E27FC236}">
                <a16:creationId xmlns:a16="http://schemas.microsoft.com/office/drawing/2014/main" id="{2EAD7C18-E6D9-441B-3528-7B1FA5F1FF80}"/>
              </a:ext>
            </a:extLst>
          </p:cNvPr>
          <p:cNvPicPr>
            <a:picLocks noChangeAspect="1" noChangeArrowheads="1"/>
          </p:cNvPicPr>
          <p:nvPr/>
        </p:nvPicPr>
        <p:blipFill>
          <a:blip r:embed="rId5" cstate="screen">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a:ext>
            </a:extLst>
          </a:blip>
          <a:srcRect/>
          <a:stretch>
            <a:fillRect/>
          </a:stretch>
        </p:blipFill>
        <p:spPr bwMode="auto">
          <a:xfrm>
            <a:off x="4290971" y="5014604"/>
            <a:ext cx="1507850" cy="15078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1,700+ Black And White Pill Stock Illustrations, Royalty-Free Vector  Graphics &amp; Clip Art - iStock">
            <a:extLst>
              <a:ext uri="{FF2B5EF4-FFF2-40B4-BE49-F238E27FC236}">
                <a16:creationId xmlns:a16="http://schemas.microsoft.com/office/drawing/2014/main" id="{A64326DE-75A6-008A-25EA-3DA135CA23A3}"/>
              </a:ext>
            </a:extLst>
          </p:cNvPr>
          <p:cNvPicPr>
            <a:picLocks noChangeAspect="1" noChangeArrowheads="1"/>
          </p:cNvPicPr>
          <p:nvPr/>
        </p:nvPicPr>
        <p:blipFill>
          <a:blip r:embed="rId7" cstate="screen">
            <a:duotone>
              <a:schemeClr val="accent3">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296159" y="5014604"/>
            <a:ext cx="1507850" cy="1507850"/>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a:extLst>
              <a:ext uri="{FF2B5EF4-FFF2-40B4-BE49-F238E27FC236}">
                <a16:creationId xmlns:a16="http://schemas.microsoft.com/office/drawing/2014/main" id="{45046B12-F091-414F-4BDD-F0CF7986B046}"/>
              </a:ext>
            </a:extLst>
          </p:cNvPr>
          <p:cNvSpPr/>
          <p:nvPr/>
        </p:nvSpPr>
        <p:spPr>
          <a:xfrm>
            <a:off x="838200" y="3873147"/>
            <a:ext cx="10515599" cy="84473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DC78F8C3-78B2-9273-B8DE-48CBC70E5029}"/>
              </a:ext>
            </a:extLst>
          </p:cNvPr>
          <p:cNvCxnSpPr>
            <a:cxnSpLocks/>
            <a:stCxn id="1026" idx="0"/>
          </p:cNvCxnSpPr>
          <p:nvPr/>
        </p:nvCxnSpPr>
        <p:spPr>
          <a:xfrm flipV="1">
            <a:off x="2015402" y="4493633"/>
            <a:ext cx="0" cy="52097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45DABB81-4F05-B97B-B5A7-AEC45FA259FD}"/>
              </a:ext>
            </a:extLst>
          </p:cNvPr>
          <p:cNvCxnSpPr>
            <a:cxnSpLocks/>
            <a:stCxn id="1032" idx="0"/>
          </p:cNvCxnSpPr>
          <p:nvPr/>
        </p:nvCxnSpPr>
        <p:spPr>
          <a:xfrm flipH="1" flipV="1">
            <a:off x="5041631" y="4493633"/>
            <a:ext cx="3265"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6BF127DB-FEBD-C2EB-8BC0-700D2EBC2ECA}"/>
              </a:ext>
            </a:extLst>
          </p:cNvPr>
          <p:cNvCxnSpPr>
            <a:cxnSpLocks/>
            <a:stCxn id="1034" idx="0"/>
          </p:cNvCxnSpPr>
          <p:nvPr/>
        </p:nvCxnSpPr>
        <p:spPr>
          <a:xfrm flipV="1">
            <a:off x="8050084" y="4493633"/>
            <a:ext cx="0"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419AF171-EA22-0D4F-F6C2-9A8C63D58BA8}"/>
              </a:ext>
            </a:extLst>
          </p:cNvPr>
          <p:cNvSpPr txBox="1"/>
          <p:nvPr/>
        </p:nvSpPr>
        <p:spPr>
          <a:xfrm>
            <a:off x="4249747" y="6337787"/>
            <a:ext cx="1583767" cy="369332"/>
          </a:xfrm>
          <a:prstGeom prst="rect">
            <a:avLst/>
          </a:prstGeom>
          <a:noFill/>
        </p:spPr>
        <p:txBody>
          <a:bodyPr wrap="none" rtlCol="0">
            <a:spAutoFit/>
          </a:bodyPr>
          <a:lstStyle/>
          <a:p>
            <a:r>
              <a:rPr lang="en-US" dirty="0"/>
              <a:t>Diagnosis code</a:t>
            </a:r>
          </a:p>
        </p:txBody>
      </p:sp>
      <p:sp>
        <p:nvSpPr>
          <p:cNvPr id="16" name="TextBox 15">
            <a:extLst>
              <a:ext uri="{FF2B5EF4-FFF2-40B4-BE49-F238E27FC236}">
                <a16:creationId xmlns:a16="http://schemas.microsoft.com/office/drawing/2014/main" id="{136BBC1F-9552-F4AF-05C0-A4A49B197515}"/>
              </a:ext>
            </a:extLst>
          </p:cNvPr>
          <p:cNvSpPr txBox="1"/>
          <p:nvPr/>
        </p:nvSpPr>
        <p:spPr>
          <a:xfrm>
            <a:off x="7425169" y="6337787"/>
            <a:ext cx="1249829" cy="369332"/>
          </a:xfrm>
          <a:prstGeom prst="rect">
            <a:avLst/>
          </a:prstGeom>
          <a:noFill/>
        </p:spPr>
        <p:txBody>
          <a:bodyPr wrap="none" rtlCol="0">
            <a:spAutoFit/>
          </a:bodyPr>
          <a:lstStyle/>
          <a:p>
            <a:r>
              <a:rPr lang="en-US" dirty="0"/>
              <a:t>Medication</a:t>
            </a:r>
          </a:p>
        </p:txBody>
      </p:sp>
      <p:sp>
        <p:nvSpPr>
          <p:cNvPr id="24" name="TextBox 23">
            <a:extLst>
              <a:ext uri="{FF2B5EF4-FFF2-40B4-BE49-F238E27FC236}">
                <a16:creationId xmlns:a16="http://schemas.microsoft.com/office/drawing/2014/main" id="{34008F70-18CB-E304-51C7-8FE4DC9D6DB2}"/>
              </a:ext>
            </a:extLst>
          </p:cNvPr>
          <p:cNvSpPr txBox="1"/>
          <p:nvPr/>
        </p:nvSpPr>
        <p:spPr>
          <a:xfrm>
            <a:off x="1554506" y="6337787"/>
            <a:ext cx="921791" cy="369332"/>
          </a:xfrm>
          <a:prstGeom prst="rect">
            <a:avLst/>
          </a:prstGeom>
          <a:noFill/>
        </p:spPr>
        <p:txBody>
          <a:bodyPr wrap="none" rtlCol="0">
            <a:spAutoFit/>
          </a:bodyPr>
          <a:lstStyle/>
          <a:p>
            <a:r>
              <a:rPr lang="en-US" dirty="0"/>
              <a:t>Lab test</a:t>
            </a:r>
          </a:p>
        </p:txBody>
      </p:sp>
    </p:spTree>
    <p:extLst>
      <p:ext uri="{BB962C8B-B14F-4D97-AF65-F5344CB8AC3E}">
        <p14:creationId xmlns:p14="http://schemas.microsoft.com/office/powerpoint/2010/main" val="1671926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41F11-44C8-B94B-D5DA-189031F11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B3986E-51D8-E060-E8DB-A1698B4DC42D}"/>
              </a:ext>
            </a:extLst>
          </p:cNvPr>
          <p:cNvSpPr>
            <a:spLocks noGrp="1"/>
          </p:cNvSpPr>
          <p:nvPr>
            <p:ph type="title"/>
          </p:nvPr>
        </p:nvSpPr>
        <p:spPr/>
        <p:txBody>
          <a:bodyPr/>
          <a:lstStyle/>
          <a:p>
            <a:r>
              <a:rPr lang="en-US" dirty="0"/>
              <a:t>A patient timeline of </a:t>
            </a:r>
            <a:r>
              <a:rPr lang="en-US" u="sng" dirty="0"/>
              <a:t>multi-modal</a:t>
            </a:r>
            <a:r>
              <a:rPr lang="en-US" dirty="0"/>
              <a:t> data</a:t>
            </a:r>
          </a:p>
        </p:txBody>
      </p:sp>
      <p:pic>
        <p:nvPicPr>
          <p:cNvPr id="1026" name="Picture 2" descr="Blood Test Tube Clipart: Over 731 Royalty-Free Licensable ...">
            <a:extLst>
              <a:ext uri="{FF2B5EF4-FFF2-40B4-BE49-F238E27FC236}">
                <a16:creationId xmlns:a16="http://schemas.microsoft.com/office/drawing/2014/main" id="{7A456C3B-D967-96E7-D4B6-8A03ADE129B1}"/>
              </a:ext>
            </a:extLst>
          </p:cNvPr>
          <p:cNvPicPr>
            <a:picLocks noChangeAspect="1" noChangeArrowheads="1"/>
          </p:cNvPicPr>
          <p:nvPr/>
        </p:nvPicPr>
        <p:blipFill>
          <a:blip r:embed="rId3" cstate="screen">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261477" y="5014603"/>
            <a:ext cx="1507850" cy="15078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Vector Medical Chart Icon 420591 Vector Art at Vecteezy">
            <a:extLst>
              <a:ext uri="{FF2B5EF4-FFF2-40B4-BE49-F238E27FC236}">
                <a16:creationId xmlns:a16="http://schemas.microsoft.com/office/drawing/2014/main" id="{1C61AFBC-304F-B3E4-C6E0-6BE1E4CC27B7}"/>
              </a:ext>
            </a:extLst>
          </p:cNvPr>
          <p:cNvPicPr>
            <a:picLocks noChangeAspect="1" noChangeArrowheads="1"/>
          </p:cNvPicPr>
          <p:nvPr/>
        </p:nvPicPr>
        <p:blipFill>
          <a:blip r:embed="rId5" cstate="screen">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a:ext>
            </a:extLst>
          </a:blip>
          <a:srcRect/>
          <a:stretch>
            <a:fillRect/>
          </a:stretch>
        </p:blipFill>
        <p:spPr bwMode="auto">
          <a:xfrm>
            <a:off x="4290971" y="5014604"/>
            <a:ext cx="1507850" cy="15078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1,700+ Black And White Pill Stock Illustrations, Royalty-Free Vector  Graphics &amp; Clip Art - iStock">
            <a:extLst>
              <a:ext uri="{FF2B5EF4-FFF2-40B4-BE49-F238E27FC236}">
                <a16:creationId xmlns:a16="http://schemas.microsoft.com/office/drawing/2014/main" id="{FFCB5312-EDF5-FBEA-97CD-882C270F2383}"/>
              </a:ext>
            </a:extLst>
          </p:cNvPr>
          <p:cNvPicPr>
            <a:picLocks noChangeAspect="1" noChangeArrowheads="1"/>
          </p:cNvPicPr>
          <p:nvPr/>
        </p:nvPicPr>
        <p:blipFill>
          <a:blip r:embed="rId7" cstate="screen">
            <a:duotone>
              <a:schemeClr val="accent3">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296159" y="5014604"/>
            <a:ext cx="1507850" cy="1507850"/>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a:extLst>
              <a:ext uri="{FF2B5EF4-FFF2-40B4-BE49-F238E27FC236}">
                <a16:creationId xmlns:a16="http://schemas.microsoft.com/office/drawing/2014/main" id="{EF2ABC71-7977-9089-AED4-343EB934DB96}"/>
              </a:ext>
            </a:extLst>
          </p:cNvPr>
          <p:cNvSpPr/>
          <p:nvPr/>
        </p:nvSpPr>
        <p:spPr>
          <a:xfrm>
            <a:off x="838200" y="3873147"/>
            <a:ext cx="10515599" cy="84473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7EF7AFDD-1E62-76E5-7CC0-8ED4FF513CE9}"/>
              </a:ext>
            </a:extLst>
          </p:cNvPr>
          <p:cNvCxnSpPr>
            <a:cxnSpLocks/>
            <a:stCxn id="1026" idx="0"/>
          </p:cNvCxnSpPr>
          <p:nvPr/>
        </p:nvCxnSpPr>
        <p:spPr>
          <a:xfrm flipV="1">
            <a:off x="2015402" y="4493633"/>
            <a:ext cx="0" cy="52097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585495BE-DF2D-7C2D-CD3A-6215E0C4BB04}"/>
              </a:ext>
            </a:extLst>
          </p:cNvPr>
          <p:cNvCxnSpPr>
            <a:cxnSpLocks/>
            <a:stCxn id="1032" idx="0"/>
          </p:cNvCxnSpPr>
          <p:nvPr/>
        </p:nvCxnSpPr>
        <p:spPr>
          <a:xfrm flipH="1" flipV="1">
            <a:off x="5041631" y="4493633"/>
            <a:ext cx="3265"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FAC483A7-14B9-4B9B-A09F-F0116D5B01E1}"/>
              </a:ext>
            </a:extLst>
          </p:cNvPr>
          <p:cNvCxnSpPr>
            <a:cxnSpLocks/>
            <a:stCxn id="1034" idx="0"/>
          </p:cNvCxnSpPr>
          <p:nvPr/>
        </p:nvCxnSpPr>
        <p:spPr>
          <a:xfrm flipV="1">
            <a:off x="8050084" y="4493633"/>
            <a:ext cx="0"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7A55E213-0DF7-37B7-06D0-647BA9FB56AB}"/>
              </a:ext>
            </a:extLst>
          </p:cNvPr>
          <p:cNvSpPr txBox="1"/>
          <p:nvPr/>
        </p:nvSpPr>
        <p:spPr>
          <a:xfrm>
            <a:off x="6151475" y="1591641"/>
            <a:ext cx="645433" cy="369332"/>
          </a:xfrm>
          <a:prstGeom prst="rect">
            <a:avLst/>
          </a:prstGeom>
          <a:noFill/>
        </p:spPr>
        <p:txBody>
          <a:bodyPr wrap="none" rtlCol="0">
            <a:spAutoFit/>
          </a:bodyPr>
          <a:lstStyle/>
          <a:p>
            <a:r>
              <a:rPr lang="en-US" dirty="0"/>
              <a:t>Note</a:t>
            </a:r>
          </a:p>
        </p:txBody>
      </p:sp>
      <p:sp>
        <p:nvSpPr>
          <p:cNvPr id="15" name="TextBox 14">
            <a:extLst>
              <a:ext uri="{FF2B5EF4-FFF2-40B4-BE49-F238E27FC236}">
                <a16:creationId xmlns:a16="http://schemas.microsoft.com/office/drawing/2014/main" id="{DB32B947-0755-B796-A9DD-F81DCFA538C3}"/>
              </a:ext>
            </a:extLst>
          </p:cNvPr>
          <p:cNvSpPr txBox="1"/>
          <p:nvPr/>
        </p:nvSpPr>
        <p:spPr>
          <a:xfrm>
            <a:off x="4249747" y="6337787"/>
            <a:ext cx="1583767" cy="369332"/>
          </a:xfrm>
          <a:prstGeom prst="rect">
            <a:avLst/>
          </a:prstGeom>
          <a:noFill/>
        </p:spPr>
        <p:txBody>
          <a:bodyPr wrap="none" rtlCol="0">
            <a:spAutoFit/>
          </a:bodyPr>
          <a:lstStyle/>
          <a:p>
            <a:r>
              <a:rPr lang="en-US" dirty="0"/>
              <a:t>Diagnosis code</a:t>
            </a:r>
          </a:p>
        </p:txBody>
      </p:sp>
      <p:sp>
        <p:nvSpPr>
          <p:cNvPr id="16" name="TextBox 15">
            <a:extLst>
              <a:ext uri="{FF2B5EF4-FFF2-40B4-BE49-F238E27FC236}">
                <a16:creationId xmlns:a16="http://schemas.microsoft.com/office/drawing/2014/main" id="{0032989A-9F95-2200-CC90-E867739A4CEE}"/>
              </a:ext>
            </a:extLst>
          </p:cNvPr>
          <p:cNvSpPr txBox="1"/>
          <p:nvPr/>
        </p:nvSpPr>
        <p:spPr>
          <a:xfrm>
            <a:off x="7425169" y="6337787"/>
            <a:ext cx="1249829" cy="369332"/>
          </a:xfrm>
          <a:prstGeom prst="rect">
            <a:avLst/>
          </a:prstGeom>
          <a:noFill/>
        </p:spPr>
        <p:txBody>
          <a:bodyPr wrap="none" rtlCol="0">
            <a:spAutoFit/>
          </a:bodyPr>
          <a:lstStyle/>
          <a:p>
            <a:r>
              <a:rPr lang="en-US" dirty="0"/>
              <a:t>Medication</a:t>
            </a:r>
          </a:p>
        </p:txBody>
      </p:sp>
      <p:cxnSp>
        <p:nvCxnSpPr>
          <p:cNvPr id="17" name="Straight Arrow Connector 16">
            <a:extLst>
              <a:ext uri="{FF2B5EF4-FFF2-40B4-BE49-F238E27FC236}">
                <a16:creationId xmlns:a16="http://schemas.microsoft.com/office/drawing/2014/main" id="{FE79F693-BFED-30DB-24CF-9496D0E040D7}"/>
              </a:ext>
            </a:extLst>
          </p:cNvPr>
          <p:cNvCxnSpPr>
            <a:cxnSpLocks/>
          </p:cNvCxnSpPr>
          <p:nvPr/>
        </p:nvCxnSpPr>
        <p:spPr>
          <a:xfrm>
            <a:off x="3447964" y="3576421"/>
            <a:ext cx="0" cy="52097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236DCC91-4B6B-DB65-713E-1726E6769EEE}"/>
              </a:ext>
            </a:extLst>
          </p:cNvPr>
          <p:cNvCxnSpPr>
            <a:cxnSpLocks/>
          </p:cNvCxnSpPr>
          <p:nvPr/>
        </p:nvCxnSpPr>
        <p:spPr>
          <a:xfrm flipH="1">
            <a:off x="6474193" y="3576421"/>
            <a:ext cx="3265"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CC0222A2-DB55-D253-E4E5-99209772C85C}"/>
              </a:ext>
            </a:extLst>
          </p:cNvPr>
          <p:cNvCxnSpPr>
            <a:cxnSpLocks/>
          </p:cNvCxnSpPr>
          <p:nvPr/>
        </p:nvCxnSpPr>
        <p:spPr>
          <a:xfrm>
            <a:off x="9482646" y="3576421"/>
            <a:ext cx="0"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0" name="Picture 19">
            <a:extLst>
              <a:ext uri="{FF2B5EF4-FFF2-40B4-BE49-F238E27FC236}">
                <a16:creationId xmlns:a16="http://schemas.microsoft.com/office/drawing/2014/main" id="{504C1841-3541-97DB-CF82-005F27943800}"/>
              </a:ext>
            </a:extLst>
          </p:cNvPr>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a:xfrm>
            <a:off x="2217060" y="1960973"/>
            <a:ext cx="2461808" cy="1507850"/>
          </a:xfrm>
          <a:prstGeom prst="rect">
            <a:avLst/>
          </a:prstGeom>
        </p:spPr>
      </p:pic>
      <p:pic>
        <p:nvPicPr>
          <p:cNvPr id="22" name="Picture 21">
            <a:extLst>
              <a:ext uri="{FF2B5EF4-FFF2-40B4-BE49-F238E27FC236}">
                <a16:creationId xmlns:a16="http://schemas.microsoft.com/office/drawing/2014/main" id="{0BA41D2A-C644-1C36-B5F1-494022687758}"/>
              </a:ext>
            </a:extLst>
          </p:cNvPr>
          <p:cNvPicPr>
            <a:picLocks noChangeAspect="1"/>
          </p:cNvPicPr>
          <p:nvPr/>
        </p:nvPicPr>
        <p:blipFill rotWithShape="1">
          <a:blip r:embed="rId9"/>
          <a:srcRect l="11976" t="10927" r="11177" b="12059"/>
          <a:stretch/>
        </p:blipFill>
        <p:spPr>
          <a:xfrm>
            <a:off x="5892872" y="1960973"/>
            <a:ext cx="1162641" cy="1507850"/>
          </a:xfrm>
          <a:prstGeom prst="rect">
            <a:avLst/>
          </a:prstGeom>
          <a:ln>
            <a:solidFill>
              <a:schemeClr val="tx1"/>
            </a:solidFill>
          </a:ln>
        </p:spPr>
      </p:pic>
      <p:pic>
        <p:nvPicPr>
          <p:cNvPr id="23" name="Picture 4">
            <a:extLst>
              <a:ext uri="{FF2B5EF4-FFF2-40B4-BE49-F238E27FC236}">
                <a16:creationId xmlns:a16="http://schemas.microsoft.com/office/drawing/2014/main" id="{432BED28-402E-44C9-141A-D1011570D08F}"/>
              </a:ext>
            </a:extLst>
          </p:cNvPr>
          <p:cNvPicPr>
            <a:picLocks noChangeAspect="1" noChangeArrowheads="1"/>
          </p:cNvPicPr>
          <p:nvPr/>
        </p:nvPicPr>
        <p:blipFill>
          <a:blip r:embed="rId10" cstate="screen">
            <a:extLst>
              <a:ext uri="{BEBA8EAE-BF5A-486C-A8C5-ECC9F3942E4B}">
                <a14:imgProps xmlns:a14="http://schemas.microsoft.com/office/drawing/2010/main">
                  <a14:imgLayer r:embed="rId11">
                    <a14:imgEffect>
                      <a14:saturation sat="0"/>
                    </a14:imgEffect>
                  </a14:imgLayer>
                </a14:imgProps>
              </a:ext>
              <a:ext uri="{28A0092B-C50C-407E-A947-70E740481C1C}">
                <a14:useLocalDpi xmlns:a14="http://schemas.microsoft.com/office/drawing/2010/main"/>
              </a:ext>
            </a:extLst>
          </a:blip>
          <a:srcRect/>
          <a:stretch>
            <a:fillRect/>
          </a:stretch>
        </p:blipFill>
        <p:spPr bwMode="auto">
          <a:xfrm>
            <a:off x="8173099" y="1960973"/>
            <a:ext cx="2619094" cy="15078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1CBAF596-59FB-AEA5-DA6E-5AD6CEA1C465}"/>
              </a:ext>
            </a:extLst>
          </p:cNvPr>
          <p:cNvSpPr txBox="1"/>
          <p:nvPr/>
        </p:nvSpPr>
        <p:spPr>
          <a:xfrm>
            <a:off x="1554506" y="6337787"/>
            <a:ext cx="921791" cy="369332"/>
          </a:xfrm>
          <a:prstGeom prst="rect">
            <a:avLst/>
          </a:prstGeom>
          <a:noFill/>
        </p:spPr>
        <p:txBody>
          <a:bodyPr wrap="none" rtlCol="0">
            <a:spAutoFit/>
          </a:bodyPr>
          <a:lstStyle/>
          <a:p>
            <a:r>
              <a:rPr lang="en-US" dirty="0"/>
              <a:t>Lab test</a:t>
            </a:r>
          </a:p>
        </p:txBody>
      </p:sp>
      <p:sp>
        <p:nvSpPr>
          <p:cNvPr id="25" name="TextBox 24">
            <a:extLst>
              <a:ext uri="{FF2B5EF4-FFF2-40B4-BE49-F238E27FC236}">
                <a16:creationId xmlns:a16="http://schemas.microsoft.com/office/drawing/2014/main" id="{EB018246-09E6-E603-AFA1-5C5FFED4B6B4}"/>
              </a:ext>
            </a:extLst>
          </p:cNvPr>
          <p:cNvSpPr txBox="1"/>
          <p:nvPr/>
        </p:nvSpPr>
        <p:spPr>
          <a:xfrm>
            <a:off x="2982932" y="1587180"/>
            <a:ext cx="930063" cy="369332"/>
          </a:xfrm>
          <a:prstGeom prst="rect">
            <a:avLst/>
          </a:prstGeom>
          <a:noFill/>
        </p:spPr>
        <p:txBody>
          <a:bodyPr wrap="none" rtlCol="0">
            <a:spAutoFit/>
          </a:bodyPr>
          <a:lstStyle/>
          <a:p>
            <a:r>
              <a:rPr lang="en-US" dirty="0"/>
              <a:t>Imaging</a:t>
            </a:r>
          </a:p>
        </p:txBody>
      </p:sp>
      <p:sp>
        <p:nvSpPr>
          <p:cNvPr id="26" name="TextBox 25">
            <a:extLst>
              <a:ext uri="{FF2B5EF4-FFF2-40B4-BE49-F238E27FC236}">
                <a16:creationId xmlns:a16="http://schemas.microsoft.com/office/drawing/2014/main" id="{597A8903-7353-DF02-FA99-2AEA67A99C9B}"/>
              </a:ext>
            </a:extLst>
          </p:cNvPr>
          <p:cNvSpPr txBox="1"/>
          <p:nvPr/>
        </p:nvSpPr>
        <p:spPr>
          <a:xfrm>
            <a:off x="8566626" y="1587180"/>
            <a:ext cx="1832040" cy="369332"/>
          </a:xfrm>
          <a:prstGeom prst="rect">
            <a:avLst/>
          </a:prstGeom>
          <a:noFill/>
        </p:spPr>
        <p:txBody>
          <a:bodyPr wrap="none" rtlCol="0">
            <a:spAutoFit/>
          </a:bodyPr>
          <a:lstStyle/>
          <a:p>
            <a:r>
              <a:rPr lang="en-US" dirty="0"/>
              <a:t>Electrophysiology</a:t>
            </a:r>
          </a:p>
        </p:txBody>
      </p:sp>
    </p:spTree>
    <p:extLst>
      <p:ext uri="{BB962C8B-B14F-4D97-AF65-F5344CB8AC3E}">
        <p14:creationId xmlns:p14="http://schemas.microsoft.com/office/powerpoint/2010/main" val="448391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F2F0B-D400-0843-8342-3714B414BA30}"/>
              </a:ext>
            </a:extLst>
          </p:cNvPr>
          <p:cNvSpPr>
            <a:spLocks noGrp="1"/>
          </p:cNvSpPr>
          <p:nvPr>
            <p:ph type="title"/>
          </p:nvPr>
        </p:nvSpPr>
        <p:spPr/>
        <p:txBody>
          <a:bodyPr/>
          <a:lstStyle/>
          <a:p>
            <a:r>
              <a:rPr lang="en-US" dirty="0"/>
              <a:t>Task-specific, single-modality AI</a:t>
            </a:r>
          </a:p>
        </p:txBody>
      </p:sp>
      <p:sp>
        <p:nvSpPr>
          <p:cNvPr id="3" name="Text Placeholder 2">
            <a:extLst>
              <a:ext uri="{FF2B5EF4-FFF2-40B4-BE49-F238E27FC236}">
                <a16:creationId xmlns:a16="http://schemas.microsoft.com/office/drawing/2014/main" id="{C425C9A9-E884-F04C-BC69-3CFACC251D5D}"/>
              </a:ext>
            </a:extLst>
          </p:cNvPr>
          <p:cNvSpPr>
            <a:spLocks noGrp="1"/>
          </p:cNvSpPr>
          <p:nvPr>
            <p:ph type="body" idx="1"/>
          </p:nvPr>
        </p:nvSpPr>
        <p:spPr/>
        <p:txBody>
          <a:bodyPr/>
          <a:lstStyle/>
          <a:p>
            <a:r>
              <a:rPr lang="en-US" dirty="0"/>
              <a:t>Image processing</a:t>
            </a:r>
          </a:p>
          <a:p>
            <a:r>
              <a:rPr lang="en-US" dirty="0"/>
              <a:t>Natural language processing</a:t>
            </a:r>
          </a:p>
          <a:p>
            <a:r>
              <a:rPr lang="en-US" dirty="0"/>
              <a:t>Structured data processing</a:t>
            </a:r>
          </a:p>
        </p:txBody>
      </p:sp>
    </p:spTree>
    <p:extLst>
      <p:ext uri="{BB962C8B-B14F-4D97-AF65-F5344CB8AC3E}">
        <p14:creationId xmlns:p14="http://schemas.microsoft.com/office/powerpoint/2010/main" val="721913259"/>
      </p:ext>
    </p:extLst>
  </p:cSld>
  <p:clrMapOvr>
    <a:masterClrMapping/>
  </p:clrMapOvr>
  <mc:AlternateContent xmlns:mc="http://schemas.openxmlformats.org/markup-compatibility/2006" xmlns:p14="http://schemas.microsoft.com/office/powerpoint/2010/main">
    <mc:Choice Requires="p14">
      <p:transition spd="slow" p14:dur="2000" advTm="13618"/>
    </mc:Choice>
    <mc:Fallback xmlns="">
      <p:transition spd="slow" advTm="13618"/>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1FAC8BA-4E0B-8546-91E3-DB4FD3DE1834}"/>
              </a:ext>
            </a:extLst>
          </p:cNvPr>
          <p:cNvSpPr>
            <a:spLocks noGrp="1"/>
          </p:cNvSpPr>
          <p:nvPr>
            <p:ph type="title"/>
          </p:nvPr>
        </p:nvSpPr>
        <p:spPr>
          <a:xfrm>
            <a:off x="0" y="365125"/>
            <a:ext cx="12192000" cy="1325563"/>
          </a:xfrm>
        </p:spPr>
        <p:txBody>
          <a:bodyPr/>
          <a:lstStyle/>
          <a:p>
            <a:pPr algn="ctr"/>
            <a:r>
              <a:rPr lang="en-US" dirty="0"/>
              <a:t>A typical prediction model</a:t>
            </a:r>
          </a:p>
        </p:txBody>
      </p:sp>
      <p:graphicFrame>
        <p:nvGraphicFramePr>
          <p:cNvPr id="12" name="Table 13">
            <a:extLst>
              <a:ext uri="{FF2B5EF4-FFF2-40B4-BE49-F238E27FC236}">
                <a16:creationId xmlns:a16="http://schemas.microsoft.com/office/drawing/2014/main" id="{66DE0EB4-5271-E145-8A0D-9F253C4AA1EA}"/>
              </a:ext>
            </a:extLst>
          </p:cNvPr>
          <p:cNvGraphicFramePr>
            <a:graphicFrameLocks noGrp="1"/>
          </p:cNvGraphicFramePr>
          <p:nvPr/>
        </p:nvGraphicFramePr>
        <p:xfrm>
          <a:off x="8060928" y="2417293"/>
          <a:ext cx="442976" cy="2613072"/>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8723533"/>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729035"/>
                  </a:ext>
                </a:extLst>
              </a:tr>
            </a:tbl>
          </a:graphicData>
        </a:graphic>
      </p:graphicFrame>
      <p:sp>
        <p:nvSpPr>
          <p:cNvPr id="30" name="TextBox 29">
            <a:extLst>
              <a:ext uri="{FF2B5EF4-FFF2-40B4-BE49-F238E27FC236}">
                <a16:creationId xmlns:a16="http://schemas.microsoft.com/office/drawing/2014/main" id="{7D47EF31-DD2B-2242-BB8A-C5F5B01D1AAB}"/>
              </a:ext>
            </a:extLst>
          </p:cNvPr>
          <p:cNvSpPr txBox="1"/>
          <p:nvPr/>
        </p:nvSpPr>
        <p:spPr>
          <a:xfrm>
            <a:off x="9962970" y="4284731"/>
            <a:ext cx="1354410" cy="522772"/>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label</a:t>
            </a:r>
          </a:p>
        </p:txBody>
      </p:sp>
      <p:graphicFrame>
        <p:nvGraphicFramePr>
          <p:cNvPr id="31" name="Table 30">
            <a:extLst>
              <a:ext uri="{FF2B5EF4-FFF2-40B4-BE49-F238E27FC236}">
                <a16:creationId xmlns:a16="http://schemas.microsoft.com/office/drawing/2014/main" id="{118C239F-A05F-DF4A-834B-75B7272EF7B6}"/>
              </a:ext>
            </a:extLst>
          </p:cNvPr>
          <p:cNvGraphicFramePr>
            <a:graphicFrameLocks noGrp="1"/>
          </p:cNvGraphicFramePr>
          <p:nvPr/>
        </p:nvGraphicFramePr>
        <p:xfrm>
          <a:off x="9563657" y="3369902"/>
          <a:ext cx="1535116" cy="707853"/>
        </p:xfrm>
        <a:graphic>
          <a:graphicData uri="http://schemas.openxmlformats.org/drawingml/2006/table">
            <a:tbl>
              <a:tblPr firstRow="1" bandRow="1">
                <a:tableStyleId>{5C22544A-7EE6-4342-B048-85BDC9FD1C3A}</a:tableStyleId>
              </a:tblPr>
              <a:tblGrid>
                <a:gridCol w="1535116">
                  <a:extLst>
                    <a:ext uri="{9D8B030D-6E8A-4147-A177-3AD203B41FA5}">
                      <a16:colId xmlns:a16="http://schemas.microsoft.com/office/drawing/2014/main" val="4002730172"/>
                    </a:ext>
                  </a:extLst>
                </a:gridCol>
              </a:tblGrid>
              <a:tr h="707853">
                <a:tc>
                  <a:txBody>
                    <a:bodyPr/>
                    <a:lstStyle/>
                    <a:p>
                      <a:pPr algn="ctr"/>
                      <a:r>
                        <a:rPr lang="en-US" dirty="0">
                          <a:solidFill>
                            <a:schemeClr val="tx1"/>
                          </a:solidFill>
                        </a:rPr>
                        <a:t>outcome</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32" name="Straight Arrow Connector 31">
            <a:extLst>
              <a:ext uri="{FF2B5EF4-FFF2-40B4-BE49-F238E27FC236}">
                <a16:creationId xmlns:a16="http://schemas.microsoft.com/office/drawing/2014/main" id="{AE1D92D3-E56B-A746-824F-E5BE7353B5A0}"/>
              </a:ext>
            </a:extLst>
          </p:cNvPr>
          <p:cNvCxnSpPr>
            <a:cxnSpLocks/>
          </p:cNvCxnSpPr>
          <p:nvPr/>
        </p:nvCxnSpPr>
        <p:spPr>
          <a:xfrm flipV="1">
            <a:off x="8711860" y="3723829"/>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TextBox 34">
            <a:extLst>
              <a:ext uri="{FF2B5EF4-FFF2-40B4-BE49-F238E27FC236}">
                <a16:creationId xmlns:a16="http://schemas.microsoft.com/office/drawing/2014/main" id="{4D512111-B34C-D745-96B1-4A83D0CAAA5D}"/>
              </a:ext>
            </a:extLst>
          </p:cNvPr>
          <p:cNvSpPr txBox="1"/>
          <p:nvPr/>
        </p:nvSpPr>
        <p:spPr>
          <a:xfrm>
            <a:off x="6086914" y="5117376"/>
            <a:ext cx="4521105" cy="953210"/>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vector of clinical variables </a:t>
            </a:r>
          </a:p>
          <a:p>
            <a:pPr algn="ctr"/>
            <a:r>
              <a:rPr lang="en-US" sz="2797" dirty="0">
                <a:latin typeface="Times New Roman" panose="02020603050405020304" pitchFamily="18" charset="0"/>
                <a:cs typeface="Times New Roman" panose="02020603050405020304" pitchFamily="18" charset="0"/>
              </a:rPr>
              <a:t>(e.g. age, sex, BP, HR)</a:t>
            </a:r>
          </a:p>
        </p:txBody>
      </p:sp>
      <p:sp>
        <p:nvSpPr>
          <p:cNvPr id="14" name="TextBox 13">
            <a:extLst>
              <a:ext uri="{FF2B5EF4-FFF2-40B4-BE49-F238E27FC236}">
                <a16:creationId xmlns:a16="http://schemas.microsoft.com/office/drawing/2014/main" id="{CF9161F2-26BD-1945-9980-E1F4BC9A93EE}"/>
              </a:ext>
            </a:extLst>
          </p:cNvPr>
          <p:cNvSpPr txBox="1"/>
          <p:nvPr/>
        </p:nvSpPr>
        <p:spPr>
          <a:xfrm>
            <a:off x="8378970" y="3728835"/>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spTree>
    <p:extLst>
      <p:ext uri="{BB962C8B-B14F-4D97-AF65-F5344CB8AC3E}">
        <p14:creationId xmlns:p14="http://schemas.microsoft.com/office/powerpoint/2010/main" val="48392761"/>
      </p:ext>
    </p:extLst>
  </p:cSld>
  <p:clrMapOvr>
    <a:masterClrMapping/>
  </p:clrMapOvr>
  <mc:AlternateContent xmlns:mc="http://schemas.openxmlformats.org/markup-compatibility/2006" xmlns:p14="http://schemas.microsoft.com/office/powerpoint/2010/main">
    <mc:Choice Requires="p14">
      <p:transition spd="slow" p14:dur="2000" advTm="32948"/>
    </mc:Choice>
    <mc:Fallback xmlns="">
      <p:transition spd="slow" advTm="32948"/>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20DC1-9C68-6AD4-1CE7-0AD938CB224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CA50A014-BEEC-8F34-3D3F-73162CAF54A2}"/>
              </a:ext>
            </a:extLst>
          </p:cNvPr>
          <p:cNvSpPr>
            <a:spLocks noGrp="1"/>
          </p:cNvSpPr>
          <p:nvPr>
            <p:ph type="title"/>
          </p:nvPr>
        </p:nvSpPr>
        <p:spPr>
          <a:xfrm>
            <a:off x="0" y="365125"/>
            <a:ext cx="12192000" cy="1325563"/>
          </a:xfrm>
        </p:spPr>
        <p:txBody>
          <a:bodyPr/>
          <a:lstStyle/>
          <a:p>
            <a:pPr algn="ctr"/>
            <a:r>
              <a:rPr lang="en-US" dirty="0"/>
              <a:t>Learning </a:t>
            </a:r>
            <a:r>
              <a:rPr lang="en-US" i="1" dirty="0"/>
              <a:t>representations</a:t>
            </a:r>
            <a:r>
              <a:rPr lang="en-US" dirty="0"/>
              <a:t> of complex medical data</a:t>
            </a:r>
          </a:p>
        </p:txBody>
      </p:sp>
      <p:graphicFrame>
        <p:nvGraphicFramePr>
          <p:cNvPr id="12" name="Table 13">
            <a:extLst>
              <a:ext uri="{FF2B5EF4-FFF2-40B4-BE49-F238E27FC236}">
                <a16:creationId xmlns:a16="http://schemas.microsoft.com/office/drawing/2014/main" id="{5DE6497A-34D1-9B39-5CCA-2B9F475B9C09}"/>
              </a:ext>
            </a:extLst>
          </p:cNvPr>
          <p:cNvGraphicFramePr>
            <a:graphicFrameLocks noGrp="1"/>
          </p:cNvGraphicFramePr>
          <p:nvPr/>
        </p:nvGraphicFramePr>
        <p:xfrm>
          <a:off x="8060928" y="2417293"/>
          <a:ext cx="442976" cy="2613072"/>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8723533"/>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729035"/>
                  </a:ext>
                </a:extLst>
              </a:tr>
            </a:tbl>
          </a:graphicData>
        </a:graphic>
      </p:graphicFrame>
      <p:sp>
        <p:nvSpPr>
          <p:cNvPr id="30" name="TextBox 29">
            <a:extLst>
              <a:ext uri="{FF2B5EF4-FFF2-40B4-BE49-F238E27FC236}">
                <a16:creationId xmlns:a16="http://schemas.microsoft.com/office/drawing/2014/main" id="{D5CE0F45-B53E-2E53-B63C-0509C0C80E9E}"/>
              </a:ext>
            </a:extLst>
          </p:cNvPr>
          <p:cNvSpPr txBox="1"/>
          <p:nvPr/>
        </p:nvSpPr>
        <p:spPr>
          <a:xfrm>
            <a:off x="9962970" y="4284731"/>
            <a:ext cx="1354410" cy="522772"/>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label</a:t>
            </a:r>
          </a:p>
        </p:txBody>
      </p:sp>
      <p:graphicFrame>
        <p:nvGraphicFramePr>
          <p:cNvPr id="31" name="Table 30">
            <a:extLst>
              <a:ext uri="{FF2B5EF4-FFF2-40B4-BE49-F238E27FC236}">
                <a16:creationId xmlns:a16="http://schemas.microsoft.com/office/drawing/2014/main" id="{FF82D79C-DBA4-B432-4B40-2BA741139F58}"/>
              </a:ext>
            </a:extLst>
          </p:cNvPr>
          <p:cNvGraphicFramePr>
            <a:graphicFrameLocks noGrp="1"/>
          </p:cNvGraphicFramePr>
          <p:nvPr/>
        </p:nvGraphicFramePr>
        <p:xfrm>
          <a:off x="9563657" y="3369902"/>
          <a:ext cx="1535116" cy="707853"/>
        </p:xfrm>
        <a:graphic>
          <a:graphicData uri="http://schemas.openxmlformats.org/drawingml/2006/table">
            <a:tbl>
              <a:tblPr firstRow="1" bandRow="1">
                <a:tableStyleId>{5C22544A-7EE6-4342-B048-85BDC9FD1C3A}</a:tableStyleId>
              </a:tblPr>
              <a:tblGrid>
                <a:gridCol w="1535116">
                  <a:extLst>
                    <a:ext uri="{9D8B030D-6E8A-4147-A177-3AD203B41FA5}">
                      <a16:colId xmlns:a16="http://schemas.microsoft.com/office/drawing/2014/main" val="4002730172"/>
                    </a:ext>
                  </a:extLst>
                </a:gridCol>
              </a:tblGrid>
              <a:tr h="707853">
                <a:tc>
                  <a:txBody>
                    <a:bodyPr/>
                    <a:lstStyle/>
                    <a:p>
                      <a:pPr algn="ctr"/>
                      <a:r>
                        <a:rPr lang="en-US" dirty="0">
                          <a:solidFill>
                            <a:schemeClr val="tx1"/>
                          </a:solidFill>
                        </a:rPr>
                        <a:t>outcome</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32" name="Straight Arrow Connector 31">
            <a:extLst>
              <a:ext uri="{FF2B5EF4-FFF2-40B4-BE49-F238E27FC236}">
                <a16:creationId xmlns:a16="http://schemas.microsoft.com/office/drawing/2014/main" id="{A7818895-2C6A-1F40-E23D-640F00E49767}"/>
              </a:ext>
            </a:extLst>
          </p:cNvPr>
          <p:cNvCxnSpPr>
            <a:cxnSpLocks/>
          </p:cNvCxnSpPr>
          <p:nvPr/>
        </p:nvCxnSpPr>
        <p:spPr>
          <a:xfrm flipV="1">
            <a:off x="8711860" y="3723829"/>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5654A091-C1A3-71E7-A212-5D98AA8EE93C}"/>
              </a:ext>
            </a:extLst>
          </p:cNvPr>
          <p:cNvSpPr txBox="1"/>
          <p:nvPr/>
        </p:nvSpPr>
        <p:spPr>
          <a:xfrm>
            <a:off x="8378970" y="3728835"/>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sp>
        <p:nvSpPr>
          <p:cNvPr id="2" name="TextBox 1">
            <a:extLst>
              <a:ext uri="{FF2B5EF4-FFF2-40B4-BE49-F238E27FC236}">
                <a16:creationId xmlns:a16="http://schemas.microsoft.com/office/drawing/2014/main" id="{3A476832-835C-4FA9-D737-6780BF6A2846}"/>
              </a:ext>
            </a:extLst>
          </p:cNvPr>
          <p:cNvSpPr txBox="1"/>
          <p:nvPr/>
        </p:nvSpPr>
        <p:spPr>
          <a:xfrm>
            <a:off x="1546873" y="4855990"/>
            <a:ext cx="1729425" cy="522772"/>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input data</a:t>
            </a:r>
          </a:p>
        </p:txBody>
      </p:sp>
      <p:cxnSp>
        <p:nvCxnSpPr>
          <p:cNvPr id="3" name="Straight Arrow Connector 2">
            <a:extLst>
              <a:ext uri="{FF2B5EF4-FFF2-40B4-BE49-F238E27FC236}">
                <a16:creationId xmlns:a16="http://schemas.microsoft.com/office/drawing/2014/main" id="{5BC4CB41-647A-132E-3903-C86648DE9933}"/>
              </a:ext>
            </a:extLst>
          </p:cNvPr>
          <p:cNvCxnSpPr>
            <a:cxnSpLocks/>
          </p:cNvCxnSpPr>
          <p:nvPr/>
        </p:nvCxnSpPr>
        <p:spPr>
          <a:xfrm>
            <a:off x="3720764" y="3706373"/>
            <a:ext cx="41139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 name="Straight Arrow Connector 3">
            <a:extLst>
              <a:ext uri="{FF2B5EF4-FFF2-40B4-BE49-F238E27FC236}">
                <a16:creationId xmlns:a16="http://schemas.microsoft.com/office/drawing/2014/main" id="{D5AD8DD0-1EFF-51C5-7D30-F1053300278B}"/>
              </a:ext>
            </a:extLst>
          </p:cNvPr>
          <p:cNvCxnSpPr>
            <a:cxnSpLocks/>
          </p:cNvCxnSpPr>
          <p:nvPr/>
        </p:nvCxnSpPr>
        <p:spPr>
          <a:xfrm>
            <a:off x="7040697" y="3706373"/>
            <a:ext cx="8185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aphicFrame>
        <p:nvGraphicFramePr>
          <p:cNvPr id="5" name="Table 13">
            <a:extLst>
              <a:ext uri="{FF2B5EF4-FFF2-40B4-BE49-F238E27FC236}">
                <a16:creationId xmlns:a16="http://schemas.microsoft.com/office/drawing/2014/main" id="{9685CFE2-D621-0CDF-FB55-F525F8608EA9}"/>
              </a:ext>
            </a:extLst>
          </p:cNvPr>
          <p:cNvGraphicFramePr>
            <a:graphicFrameLocks noGrp="1"/>
          </p:cNvGraphicFramePr>
          <p:nvPr/>
        </p:nvGraphicFramePr>
        <p:xfrm>
          <a:off x="8060928" y="2417293"/>
          <a:ext cx="442976" cy="2613072"/>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8723533"/>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729035"/>
                  </a:ext>
                </a:extLst>
              </a:tr>
            </a:tbl>
          </a:graphicData>
        </a:graphic>
      </p:graphicFrame>
      <p:cxnSp>
        <p:nvCxnSpPr>
          <p:cNvPr id="6" name="Straight Arrow Connector 5">
            <a:extLst>
              <a:ext uri="{FF2B5EF4-FFF2-40B4-BE49-F238E27FC236}">
                <a16:creationId xmlns:a16="http://schemas.microsoft.com/office/drawing/2014/main" id="{2A9C50EC-9FCC-8254-3545-9974FA8AA780}"/>
              </a:ext>
            </a:extLst>
          </p:cNvPr>
          <p:cNvCxnSpPr>
            <a:cxnSpLocks/>
          </p:cNvCxnSpPr>
          <p:nvPr/>
        </p:nvCxnSpPr>
        <p:spPr>
          <a:xfrm flipV="1">
            <a:off x="8711860" y="3723829"/>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3D76D047-8691-8C56-2C25-0F465EC2302F}"/>
              </a:ext>
            </a:extLst>
          </p:cNvPr>
          <p:cNvSpPr txBox="1"/>
          <p:nvPr/>
        </p:nvSpPr>
        <p:spPr>
          <a:xfrm>
            <a:off x="8378970" y="3728835"/>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mc:AlternateContent xmlns:mc="http://schemas.openxmlformats.org/markup-compatibility/2006" xmlns:a14="http://schemas.microsoft.com/office/drawing/2010/main">
        <mc:Choice Requires="a14">
          <p:sp>
            <p:nvSpPr>
              <p:cNvPr id="8" name="Rounded Rectangle 7">
                <a:extLst>
                  <a:ext uri="{FF2B5EF4-FFF2-40B4-BE49-F238E27FC236}">
                    <a16:creationId xmlns:a16="http://schemas.microsoft.com/office/drawing/2014/main" id="{E13F3176-0959-6243-AF37-D11D34E92947}"/>
                  </a:ext>
                </a:extLst>
              </p:cNvPr>
              <p:cNvSpPr/>
              <p:nvPr/>
            </p:nvSpPr>
            <p:spPr>
              <a:xfrm>
                <a:off x="1263683" y="2631258"/>
                <a:ext cx="2295807" cy="2150230"/>
              </a:xfrm>
              <a:prstGeom prst="roundRect">
                <a:avLst>
                  <a:gd name="adj" fmla="val 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Unstructured data</a:t>
                </a:r>
              </a:p>
              <a:p>
                <a:pPr algn="ctr"/>
                <a:r>
                  <a:rPr lang="en-US" dirty="0"/>
                  <a:t>for patient </a:t>
                </a:r>
                <a14:m>
                  <m:oMath xmlns:m="http://schemas.openxmlformats.org/officeDocument/2006/math">
                    <m:r>
                      <a:rPr lang="en-US" i="1" dirty="0" smtClean="0">
                        <a:latin typeface="Cambria Math" panose="02040503050406030204" pitchFamily="18" charset="0"/>
                      </a:rPr>
                      <m:t>𝑖</m:t>
                    </m:r>
                  </m:oMath>
                </a14:m>
                <a:endParaRPr lang="en-US" dirty="0"/>
              </a:p>
            </p:txBody>
          </p:sp>
        </mc:Choice>
        <mc:Fallback xmlns="">
          <p:sp>
            <p:nvSpPr>
              <p:cNvPr id="8" name="Rounded Rectangle 7">
                <a:extLst>
                  <a:ext uri="{FF2B5EF4-FFF2-40B4-BE49-F238E27FC236}">
                    <a16:creationId xmlns:a16="http://schemas.microsoft.com/office/drawing/2014/main" id="{E13F3176-0959-6243-AF37-D11D34E92947}"/>
                  </a:ext>
                </a:extLst>
              </p:cNvPr>
              <p:cNvSpPr>
                <a:spLocks noRot="1" noChangeAspect="1" noMove="1" noResize="1" noEditPoints="1" noAdjustHandles="1" noChangeArrowheads="1" noChangeShapeType="1" noTextEdit="1"/>
              </p:cNvSpPr>
              <p:nvPr/>
            </p:nvSpPr>
            <p:spPr>
              <a:xfrm>
                <a:off x="1263683" y="2631258"/>
                <a:ext cx="2295807" cy="2150230"/>
              </a:xfrm>
              <a:prstGeom prst="roundRect">
                <a:avLst>
                  <a:gd name="adj" fmla="val 0"/>
                </a:avLst>
              </a:prstGeom>
              <a:blipFill>
                <a:blip r:embed="rId3"/>
                <a:stretch>
                  <a:fillRect/>
                </a:stretch>
              </a:blipFill>
            </p:spPr>
            <p:txBody>
              <a:bodyPr/>
              <a:lstStyle/>
              <a:p>
                <a:r>
                  <a:rPr lang="en-US">
                    <a:noFill/>
                  </a:rPr>
                  <a:t> </a:t>
                </a:r>
              </a:p>
            </p:txBody>
          </p:sp>
        </mc:Fallback>
      </mc:AlternateContent>
      <p:sp>
        <p:nvSpPr>
          <p:cNvPr id="9" name="Rounded Rectangle 8">
            <a:extLst>
              <a:ext uri="{FF2B5EF4-FFF2-40B4-BE49-F238E27FC236}">
                <a16:creationId xmlns:a16="http://schemas.microsoft.com/office/drawing/2014/main" id="{9A9BAB83-CEA9-05BB-78E0-15A9A52F2FC6}"/>
              </a:ext>
            </a:extLst>
          </p:cNvPr>
          <p:cNvSpPr/>
          <p:nvPr/>
        </p:nvSpPr>
        <p:spPr>
          <a:xfrm>
            <a:off x="4333880" y="3229722"/>
            <a:ext cx="2440599" cy="94140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Modality-Specific</a:t>
            </a:r>
          </a:p>
          <a:p>
            <a:pPr algn="ctr"/>
            <a:r>
              <a:rPr lang="en-US" dirty="0"/>
              <a:t>Encoder</a:t>
            </a:r>
          </a:p>
        </p:txBody>
      </p:sp>
      <p:sp>
        <p:nvSpPr>
          <p:cNvPr id="10" name="TextBox 9">
            <a:extLst>
              <a:ext uri="{FF2B5EF4-FFF2-40B4-BE49-F238E27FC236}">
                <a16:creationId xmlns:a16="http://schemas.microsoft.com/office/drawing/2014/main" id="{1685F6BB-DF43-4885-A261-5AF8B7E6FFCB}"/>
              </a:ext>
            </a:extLst>
          </p:cNvPr>
          <p:cNvSpPr txBox="1"/>
          <p:nvPr/>
        </p:nvSpPr>
        <p:spPr>
          <a:xfrm>
            <a:off x="5205817" y="5117376"/>
            <a:ext cx="6153197" cy="1568763"/>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vector of features</a:t>
            </a:r>
          </a:p>
          <a:p>
            <a:pPr algn="ctr"/>
            <a:r>
              <a:rPr lang="en-US" sz="2797" dirty="0">
                <a:latin typeface="Times New Roman" panose="02020603050405020304" pitchFamily="18" charset="0"/>
                <a:cs typeface="Times New Roman" panose="02020603050405020304" pitchFamily="18" charset="0"/>
              </a:rPr>
              <a:t>that concisely </a:t>
            </a:r>
            <a:r>
              <a:rPr lang="en-US" sz="2797" i="1" dirty="0">
                <a:latin typeface="Times New Roman" panose="02020603050405020304" pitchFamily="18" charset="0"/>
                <a:cs typeface="Times New Roman" panose="02020603050405020304" pitchFamily="18" charset="0"/>
              </a:rPr>
              <a:t>represent</a:t>
            </a:r>
            <a:r>
              <a:rPr lang="en-US" sz="2797" dirty="0">
                <a:latin typeface="Times New Roman" panose="02020603050405020304" pitchFamily="18" charset="0"/>
                <a:cs typeface="Times New Roman" panose="02020603050405020304" pitchFamily="18" charset="0"/>
              </a:rPr>
              <a:t> the input</a:t>
            </a:r>
          </a:p>
          <a:p>
            <a:pPr algn="ctr"/>
            <a:endParaRPr lang="en-US" sz="2000"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“learned feature extraction”</a:t>
            </a:r>
          </a:p>
        </p:txBody>
      </p:sp>
    </p:spTree>
    <p:extLst>
      <p:ext uri="{BB962C8B-B14F-4D97-AF65-F5344CB8AC3E}">
        <p14:creationId xmlns:p14="http://schemas.microsoft.com/office/powerpoint/2010/main" val="914434945"/>
      </p:ext>
    </p:extLst>
  </p:cSld>
  <p:clrMapOvr>
    <a:masterClrMapping/>
  </p:clrMapOvr>
  <mc:AlternateContent xmlns:mc="http://schemas.openxmlformats.org/markup-compatibility/2006" xmlns:p14="http://schemas.microsoft.com/office/powerpoint/2010/main">
    <mc:Choice Requires="p14">
      <p:transition spd="slow" p14:dur="2000" advTm="32948"/>
    </mc:Choice>
    <mc:Fallback xmlns="">
      <p:transition spd="slow" advTm="32948"/>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0F8ED1D-42C3-9141-AE77-27407422E154}"/>
              </a:ext>
            </a:extLst>
          </p:cNvPr>
          <p:cNvSpPr txBox="1"/>
          <p:nvPr/>
        </p:nvSpPr>
        <p:spPr>
          <a:xfrm>
            <a:off x="1720404" y="5277331"/>
            <a:ext cx="1729425" cy="522772"/>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image</a:t>
            </a:r>
          </a:p>
        </p:txBody>
      </p:sp>
      <p:cxnSp>
        <p:nvCxnSpPr>
          <p:cNvPr id="16" name="Straight Arrow Connector 15">
            <a:extLst>
              <a:ext uri="{FF2B5EF4-FFF2-40B4-BE49-F238E27FC236}">
                <a16:creationId xmlns:a16="http://schemas.microsoft.com/office/drawing/2014/main" id="{2004C370-95FF-1047-B986-B06FCDF88F5F}"/>
              </a:ext>
            </a:extLst>
          </p:cNvPr>
          <p:cNvCxnSpPr>
            <a:cxnSpLocks/>
          </p:cNvCxnSpPr>
          <p:nvPr/>
        </p:nvCxnSpPr>
        <p:spPr>
          <a:xfrm>
            <a:off x="4172616" y="3706373"/>
            <a:ext cx="87243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F32B0503-A697-0A47-A3DA-5DB2A3779506}"/>
              </a:ext>
            </a:extLst>
          </p:cNvPr>
          <p:cNvCxnSpPr>
            <a:cxnSpLocks/>
          </p:cNvCxnSpPr>
          <p:nvPr/>
        </p:nvCxnSpPr>
        <p:spPr>
          <a:xfrm>
            <a:off x="6774479" y="3706373"/>
            <a:ext cx="107849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6" name="Rectangle 25">
            <a:extLst>
              <a:ext uri="{FF2B5EF4-FFF2-40B4-BE49-F238E27FC236}">
                <a16:creationId xmlns:a16="http://schemas.microsoft.com/office/drawing/2014/main" id="{C8318157-3D08-CA40-95C1-7D7B363C163A}"/>
              </a:ext>
            </a:extLst>
          </p:cNvPr>
          <p:cNvSpPr/>
          <p:nvPr/>
        </p:nvSpPr>
        <p:spPr>
          <a:xfrm>
            <a:off x="998953" y="2102733"/>
            <a:ext cx="3175002" cy="324219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28" name="Picture 27" descr="Cover">
            <a:extLst>
              <a:ext uri="{FF2B5EF4-FFF2-40B4-BE49-F238E27FC236}">
                <a16:creationId xmlns:a16="http://schemas.microsoft.com/office/drawing/2014/main" id="{ED9D5C98-47B5-7C42-A5BD-6A3014F64B1D}"/>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1052072" y="2199873"/>
            <a:ext cx="3027413" cy="30011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Table 13">
            <a:extLst>
              <a:ext uri="{FF2B5EF4-FFF2-40B4-BE49-F238E27FC236}">
                <a16:creationId xmlns:a16="http://schemas.microsoft.com/office/drawing/2014/main" id="{66DE0EB4-5271-E145-8A0D-9F253C4AA1EA}"/>
              </a:ext>
            </a:extLst>
          </p:cNvPr>
          <p:cNvGraphicFramePr>
            <a:graphicFrameLocks noGrp="1"/>
          </p:cNvGraphicFramePr>
          <p:nvPr/>
        </p:nvGraphicFramePr>
        <p:xfrm>
          <a:off x="8060928" y="2417293"/>
          <a:ext cx="442976" cy="2613072"/>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8723533"/>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729035"/>
                  </a:ext>
                </a:extLst>
              </a:tr>
            </a:tbl>
          </a:graphicData>
        </a:graphic>
      </p:graphicFrame>
      <p:sp>
        <p:nvSpPr>
          <p:cNvPr id="30" name="TextBox 29">
            <a:extLst>
              <a:ext uri="{FF2B5EF4-FFF2-40B4-BE49-F238E27FC236}">
                <a16:creationId xmlns:a16="http://schemas.microsoft.com/office/drawing/2014/main" id="{7D47EF31-DD2B-2242-BB8A-C5F5B01D1AAB}"/>
              </a:ext>
            </a:extLst>
          </p:cNvPr>
          <p:cNvSpPr txBox="1"/>
          <p:nvPr/>
        </p:nvSpPr>
        <p:spPr>
          <a:xfrm>
            <a:off x="9962970" y="4284731"/>
            <a:ext cx="1354410" cy="522772"/>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label</a:t>
            </a:r>
          </a:p>
        </p:txBody>
      </p:sp>
      <p:graphicFrame>
        <p:nvGraphicFramePr>
          <p:cNvPr id="31" name="Table 30">
            <a:extLst>
              <a:ext uri="{FF2B5EF4-FFF2-40B4-BE49-F238E27FC236}">
                <a16:creationId xmlns:a16="http://schemas.microsoft.com/office/drawing/2014/main" id="{118C239F-A05F-DF4A-834B-75B7272EF7B6}"/>
              </a:ext>
            </a:extLst>
          </p:cNvPr>
          <p:cNvGraphicFramePr>
            <a:graphicFrameLocks noGrp="1"/>
          </p:cNvGraphicFramePr>
          <p:nvPr/>
        </p:nvGraphicFramePr>
        <p:xfrm>
          <a:off x="9563657" y="3369902"/>
          <a:ext cx="1535116" cy="707853"/>
        </p:xfrm>
        <a:graphic>
          <a:graphicData uri="http://schemas.openxmlformats.org/drawingml/2006/table">
            <a:tbl>
              <a:tblPr firstRow="1" bandRow="1">
                <a:tableStyleId>{5C22544A-7EE6-4342-B048-85BDC9FD1C3A}</a:tableStyleId>
              </a:tblPr>
              <a:tblGrid>
                <a:gridCol w="1535116">
                  <a:extLst>
                    <a:ext uri="{9D8B030D-6E8A-4147-A177-3AD203B41FA5}">
                      <a16:colId xmlns:a16="http://schemas.microsoft.com/office/drawing/2014/main" val="4002730172"/>
                    </a:ext>
                  </a:extLst>
                </a:gridCol>
              </a:tblGrid>
              <a:tr h="707853">
                <a:tc>
                  <a:txBody>
                    <a:bodyPr/>
                    <a:lstStyle/>
                    <a:p>
                      <a:pPr algn="ctr"/>
                      <a:r>
                        <a:rPr lang="en-US" dirty="0">
                          <a:solidFill>
                            <a:schemeClr val="tx1"/>
                          </a:solidFill>
                        </a:rPr>
                        <a:t>outcome</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32" name="Straight Arrow Connector 31">
            <a:extLst>
              <a:ext uri="{FF2B5EF4-FFF2-40B4-BE49-F238E27FC236}">
                <a16:creationId xmlns:a16="http://schemas.microsoft.com/office/drawing/2014/main" id="{AE1D92D3-E56B-A746-824F-E5BE7353B5A0}"/>
              </a:ext>
            </a:extLst>
          </p:cNvPr>
          <p:cNvCxnSpPr>
            <a:cxnSpLocks/>
          </p:cNvCxnSpPr>
          <p:nvPr/>
        </p:nvCxnSpPr>
        <p:spPr>
          <a:xfrm flipV="1">
            <a:off x="8711860" y="3723829"/>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TextBox 34">
            <a:extLst>
              <a:ext uri="{FF2B5EF4-FFF2-40B4-BE49-F238E27FC236}">
                <a16:creationId xmlns:a16="http://schemas.microsoft.com/office/drawing/2014/main" id="{4D512111-B34C-D745-96B1-4A83D0CAAA5D}"/>
              </a:ext>
            </a:extLst>
          </p:cNvPr>
          <p:cNvSpPr txBox="1"/>
          <p:nvPr/>
        </p:nvSpPr>
        <p:spPr>
          <a:xfrm>
            <a:off x="6086914" y="5117376"/>
            <a:ext cx="4521105" cy="953210"/>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vector of features </a:t>
            </a:r>
          </a:p>
          <a:p>
            <a:pPr algn="ctr"/>
            <a:r>
              <a:rPr lang="en-US" sz="2797" dirty="0">
                <a:latin typeface="Times New Roman" panose="02020603050405020304" pitchFamily="18" charset="0"/>
                <a:cs typeface="Times New Roman" panose="02020603050405020304" pitchFamily="18" charset="0"/>
              </a:rPr>
              <a:t>(indicating high-level motifs)</a:t>
            </a:r>
          </a:p>
        </p:txBody>
      </p:sp>
      <p:sp>
        <p:nvSpPr>
          <p:cNvPr id="14" name="TextBox 13">
            <a:extLst>
              <a:ext uri="{FF2B5EF4-FFF2-40B4-BE49-F238E27FC236}">
                <a16:creationId xmlns:a16="http://schemas.microsoft.com/office/drawing/2014/main" id="{ADB07BE4-C006-D347-A2C3-BD834F0C57A5}"/>
              </a:ext>
            </a:extLst>
          </p:cNvPr>
          <p:cNvSpPr txBox="1"/>
          <p:nvPr/>
        </p:nvSpPr>
        <p:spPr>
          <a:xfrm>
            <a:off x="8378970" y="3728835"/>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sp>
        <p:nvSpPr>
          <p:cNvPr id="15" name="Rounded Rectangle 14">
            <a:extLst>
              <a:ext uri="{FF2B5EF4-FFF2-40B4-BE49-F238E27FC236}">
                <a16:creationId xmlns:a16="http://schemas.microsoft.com/office/drawing/2014/main" id="{45431BE6-6553-FA42-BE8A-2BE53F94DFFE}"/>
              </a:ext>
            </a:extLst>
          </p:cNvPr>
          <p:cNvSpPr/>
          <p:nvPr/>
        </p:nvSpPr>
        <p:spPr>
          <a:xfrm>
            <a:off x="5045054" y="3229722"/>
            <a:ext cx="1729425" cy="941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CNN</a:t>
            </a:r>
          </a:p>
          <a:p>
            <a:pPr algn="ctr"/>
            <a:r>
              <a:rPr lang="en-US" dirty="0"/>
              <a:t>Encoder</a:t>
            </a:r>
          </a:p>
        </p:txBody>
      </p:sp>
      <p:sp>
        <p:nvSpPr>
          <p:cNvPr id="4" name="Title 1">
            <a:extLst>
              <a:ext uri="{FF2B5EF4-FFF2-40B4-BE49-F238E27FC236}">
                <a16:creationId xmlns:a16="http://schemas.microsoft.com/office/drawing/2014/main" id="{5611EC9F-24CD-BFFC-FF8C-92E8066423E3}"/>
              </a:ext>
            </a:extLst>
          </p:cNvPr>
          <p:cNvSpPr>
            <a:spLocks noGrp="1"/>
          </p:cNvSpPr>
          <p:nvPr>
            <p:ph type="title"/>
          </p:nvPr>
        </p:nvSpPr>
        <p:spPr>
          <a:xfrm>
            <a:off x="0" y="365125"/>
            <a:ext cx="12192000" cy="1325563"/>
          </a:xfrm>
        </p:spPr>
        <p:txBody>
          <a:bodyPr/>
          <a:lstStyle/>
          <a:p>
            <a:pPr algn="ctr"/>
            <a:r>
              <a:rPr lang="en-US" dirty="0"/>
              <a:t>Learning </a:t>
            </a:r>
            <a:r>
              <a:rPr lang="en-US" i="1" dirty="0"/>
              <a:t>representations</a:t>
            </a:r>
            <a:r>
              <a:rPr lang="en-US" dirty="0"/>
              <a:t> of images</a:t>
            </a:r>
          </a:p>
        </p:txBody>
      </p:sp>
    </p:spTree>
    <p:extLst>
      <p:ext uri="{BB962C8B-B14F-4D97-AF65-F5344CB8AC3E}">
        <p14:creationId xmlns:p14="http://schemas.microsoft.com/office/powerpoint/2010/main" val="2442474777"/>
      </p:ext>
    </p:extLst>
  </p:cSld>
  <p:clrMapOvr>
    <a:masterClrMapping/>
  </p:clrMapOvr>
  <mc:AlternateContent xmlns:mc="http://schemas.openxmlformats.org/markup-compatibility/2006" xmlns:p14="http://schemas.microsoft.com/office/powerpoint/2010/main">
    <mc:Choice Requires="p14">
      <p:transition spd="slow" p14:dur="2000" advTm="76998"/>
    </mc:Choice>
    <mc:Fallback xmlns="">
      <p:transition spd="slow" advTm="76998"/>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0F8ED1D-42C3-9141-AE77-27407422E154}"/>
              </a:ext>
            </a:extLst>
          </p:cNvPr>
          <p:cNvSpPr txBox="1"/>
          <p:nvPr/>
        </p:nvSpPr>
        <p:spPr>
          <a:xfrm>
            <a:off x="1725121" y="5566642"/>
            <a:ext cx="1729425" cy="522772"/>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document</a:t>
            </a:r>
          </a:p>
        </p:txBody>
      </p:sp>
      <p:cxnSp>
        <p:nvCxnSpPr>
          <p:cNvPr id="16" name="Straight Arrow Connector 15">
            <a:extLst>
              <a:ext uri="{FF2B5EF4-FFF2-40B4-BE49-F238E27FC236}">
                <a16:creationId xmlns:a16="http://schemas.microsoft.com/office/drawing/2014/main" id="{2004C370-95FF-1047-B986-B06FCDF88F5F}"/>
              </a:ext>
            </a:extLst>
          </p:cNvPr>
          <p:cNvCxnSpPr>
            <a:cxnSpLocks/>
          </p:cNvCxnSpPr>
          <p:nvPr/>
        </p:nvCxnSpPr>
        <p:spPr>
          <a:xfrm>
            <a:off x="4172616" y="3706373"/>
            <a:ext cx="87243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F32B0503-A697-0A47-A3DA-5DB2A3779506}"/>
              </a:ext>
            </a:extLst>
          </p:cNvPr>
          <p:cNvCxnSpPr>
            <a:cxnSpLocks/>
          </p:cNvCxnSpPr>
          <p:nvPr/>
        </p:nvCxnSpPr>
        <p:spPr>
          <a:xfrm>
            <a:off x="6774479" y="3706373"/>
            <a:ext cx="107849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aphicFrame>
        <p:nvGraphicFramePr>
          <p:cNvPr id="12" name="Table 13">
            <a:extLst>
              <a:ext uri="{FF2B5EF4-FFF2-40B4-BE49-F238E27FC236}">
                <a16:creationId xmlns:a16="http://schemas.microsoft.com/office/drawing/2014/main" id="{66DE0EB4-5271-E145-8A0D-9F253C4AA1EA}"/>
              </a:ext>
            </a:extLst>
          </p:cNvPr>
          <p:cNvGraphicFramePr>
            <a:graphicFrameLocks noGrp="1"/>
          </p:cNvGraphicFramePr>
          <p:nvPr/>
        </p:nvGraphicFramePr>
        <p:xfrm>
          <a:off x="8060928" y="2417293"/>
          <a:ext cx="442976" cy="2613072"/>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8723533"/>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729035"/>
                  </a:ext>
                </a:extLst>
              </a:tr>
            </a:tbl>
          </a:graphicData>
        </a:graphic>
      </p:graphicFrame>
      <p:sp>
        <p:nvSpPr>
          <p:cNvPr id="30" name="TextBox 29">
            <a:extLst>
              <a:ext uri="{FF2B5EF4-FFF2-40B4-BE49-F238E27FC236}">
                <a16:creationId xmlns:a16="http://schemas.microsoft.com/office/drawing/2014/main" id="{7D47EF31-DD2B-2242-BB8A-C5F5B01D1AAB}"/>
              </a:ext>
            </a:extLst>
          </p:cNvPr>
          <p:cNvSpPr txBox="1"/>
          <p:nvPr/>
        </p:nvSpPr>
        <p:spPr>
          <a:xfrm>
            <a:off x="9962970" y="4284731"/>
            <a:ext cx="1354410" cy="522772"/>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label</a:t>
            </a:r>
          </a:p>
        </p:txBody>
      </p:sp>
      <p:graphicFrame>
        <p:nvGraphicFramePr>
          <p:cNvPr id="31" name="Table 30">
            <a:extLst>
              <a:ext uri="{FF2B5EF4-FFF2-40B4-BE49-F238E27FC236}">
                <a16:creationId xmlns:a16="http://schemas.microsoft.com/office/drawing/2014/main" id="{118C239F-A05F-DF4A-834B-75B7272EF7B6}"/>
              </a:ext>
            </a:extLst>
          </p:cNvPr>
          <p:cNvGraphicFramePr>
            <a:graphicFrameLocks noGrp="1"/>
          </p:cNvGraphicFramePr>
          <p:nvPr/>
        </p:nvGraphicFramePr>
        <p:xfrm>
          <a:off x="9563657" y="3369902"/>
          <a:ext cx="1535116" cy="707853"/>
        </p:xfrm>
        <a:graphic>
          <a:graphicData uri="http://schemas.openxmlformats.org/drawingml/2006/table">
            <a:tbl>
              <a:tblPr firstRow="1" bandRow="1">
                <a:tableStyleId>{5C22544A-7EE6-4342-B048-85BDC9FD1C3A}</a:tableStyleId>
              </a:tblPr>
              <a:tblGrid>
                <a:gridCol w="1535116">
                  <a:extLst>
                    <a:ext uri="{9D8B030D-6E8A-4147-A177-3AD203B41FA5}">
                      <a16:colId xmlns:a16="http://schemas.microsoft.com/office/drawing/2014/main" val="4002730172"/>
                    </a:ext>
                  </a:extLst>
                </a:gridCol>
              </a:tblGrid>
              <a:tr h="707853">
                <a:tc>
                  <a:txBody>
                    <a:bodyPr/>
                    <a:lstStyle/>
                    <a:p>
                      <a:pPr algn="ctr"/>
                      <a:r>
                        <a:rPr lang="en-US" dirty="0">
                          <a:solidFill>
                            <a:schemeClr val="tx1"/>
                          </a:solidFill>
                        </a:rPr>
                        <a:t>pulmonary embolism</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32" name="Straight Arrow Connector 31">
            <a:extLst>
              <a:ext uri="{FF2B5EF4-FFF2-40B4-BE49-F238E27FC236}">
                <a16:creationId xmlns:a16="http://schemas.microsoft.com/office/drawing/2014/main" id="{AE1D92D3-E56B-A746-824F-E5BE7353B5A0}"/>
              </a:ext>
            </a:extLst>
          </p:cNvPr>
          <p:cNvCxnSpPr>
            <a:cxnSpLocks/>
          </p:cNvCxnSpPr>
          <p:nvPr/>
        </p:nvCxnSpPr>
        <p:spPr>
          <a:xfrm flipV="1">
            <a:off x="8711860" y="3723829"/>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TextBox 34">
            <a:extLst>
              <a:ext uri="{FF2B5EF4-FFF2-40B4-BE49-F238E27FC236}">
                <a16:creationId xmlns:a16="http://schemas.microsoft.com/office/drawing/2014/main" id="{4D512111-B34C-D745-96B1-4A83D0CAAA5D}"/>
              </a:ext>
            </a:extLst>
          </p:cNvPr>
          <p:cNvSpPr txBox="1"/>
          <p:nvPr/>
        </p:nvSpPr>
        <p:spPr>
          <a:xfrm>
            <a:off x="5458812" y="5109226"/>
            <a:ext cx="5647207" cy="1383649"/>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vector of features </a:t>
            </a:r>
          </a:p>
          <a:p>
            <a:pPr algn="ctr"/>
            <a:r>
              <a:rPr lang="en-US" sz="2797" dirty="0">
                <a:latin typeface="Times New Roman" panose="02020603050405020304" pitchFamily="18" charset="0"/>
                <a:cs typeface="Times New Roman" panose="02020603050405020304" pitchFamily="18" charset="0"/>
              </a:rPr>
              <a:t>(old: indicating word counts)</a:t>
            </a:r>
          </a:p>
          <a:p>
            <a:pPr algn="ctr"/>
            <a:r>
              <a:rPr lang="en-US" sz="2797" dirty="0">
                <a:latin typeface="Times New Roman" panose="02020603050405020304" pitchFamily="18" charset="0"/>
                <a:cs typeface="Times New Roman" panose="02020603050405020304" pitchFamily="18" charset="0"/>
              </a:rPr>
              <a:t>(new: indicating semantic features)</a:t>
            </a:r>
          </a:p>
        </p:txBody>
      </p:sp>
      <p:sp>
        <p:nvSpPr>
          <p:cNvPr id="14" name="TextBox 13">
            <a:extLst>
              <a:ext uri="{FF2B5EF4-FFF2-40B4-BE49-F238E27FC236}">
                <a16:creationId xmlns:a16="http://schemas.microsoft.com/office/drawing/2014/main" id="{ADB07BE4-C006-D347-A2C3-BD834F0C57A5}"/>
              </a:ext>
            </a:extLst>
          </p:cNvPr>
          <p:cNvSpPr txBox="1"/>
          <p:nvPr/>
        </p:nvSpPr>
        <p:spPr>
          <a:xfrm>
            <a:off x="8378970" y="3728835"/>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pic>
        <p:nvPicPr>
          <p:cNvPr id="15" name="Picture 14">
            <a:extLst>
              <a:ext uri="{FF2B5EF4-FFF2-40B4-BE49-F238E27FC236}">
                <a16:creationId xmlns:a16="http://schemas.microsoft.com/office/drawing/2014/main" id="{8B1173DC-64A2-004E-8A9D-D35675648E48}"/>
              </a:ext>
            </a:extLst>
          </p:cNvPr>
          <p:cNvPicPr>
            <a:picLocks noChangeAspect="1"/>
          </p:cNvPicPr>
          <p:nvPr/>
        </p:nvPicPr>
        <p:blipFill rotWithShape="1">
          <a:blip r:embed="rId3"/>
          <a:srcRect l="11976" t="10927" r="11177" b="12059"/>
          <a:stretch/>
        </p:blipFill>
        <p:spPr>
          <a:xfrm>
            <a:off x="1194367" y="1896565"/>
            <a:ext cx="2790934" cy="3619615"/>
          </a:xfrm>
          <a:prstGeom prst="rect">
            <a:avLst/>
          </a:prstGeom>
          <a:ln>
            <a:solidFill>
              <a:schemeClr val="tx1"/>
            </a:solidFill>
          </a:ln>
        </p:spPr>
      </p:pic>
      <p:sp>
        <p:nvSpPr>
          <p:cNvPr id="18" name="Rounded Rectangle 17">
            <a:extLst>
              <a:ext uri="{FF2B5EF4-FFF2-40B4-BE49-F238E27FC236}">
                <a16:creationId xmlns:a16="http://schemas.microsoft.com/office/drawing/2014/main" id="{749F2FB6-3F78-DD43-9479-942F29CA0DD3}"/>
              </a:ext>
            </a:extLst>
          </p:cNvPr>
          <p:cNvSpPr/>
          <p:nvPr/>
        </p:nvSpPr>
        <p:spPr>
          <a:xfrm>
            <a:off x="5045054" y="3229722"/>
            <a:ext cx="1729425" cy="94140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NLP</a:t>
            </a:r>
          </a:p>
          <a:p>
            <a:pPr algn="ctr"/>
            <a:r>
              <a:rPr lang="en-US" dirty="0"/>
              <a:t>Encoder</a:t>
            </a:r>
          </a:p>
        </p:txBody>
      </p:sp>
      <p:sp>
        <p:nvSpPr>
          <p:cNvPr id="4" name="Title 1">
            <a:extLst>
              <a:ext uri="{FF2B5EF4-FFF2-40B4-BE49-F238E27FC236}">
                <a16:creationId xmlns:a16="http://schemas.microsoft.com/office/drawing/2014/main" id="{405E88B8-2A37-4C58-E29D-B19072737449}"/>
              </a:ext>
            </a:extLst>
          </p:cNvPr>
          <p:cNvSpPr>
            <a:spLocks noGrp="1"/>
          </p:cNvSpPr>
          <p:nvPr>
            <p:ph type="title"/>
          </p:nvPr>
        </p:nvSpPr>
        <p:spPr>
          <a:xfrm>
            <a:off x="0" y="365125"/>
            <a:ext cx="12192000" cy="1325563"/>
          </a:xfrm>
        </p:spPr>
        <p:txBody>
          <a:bodyPr/>
          <a:lstStyle/>
          <a:p>
            <a:pPr algn="ctr"/>
            <a:r>
              <a:rPr lang="en-US" dirty="0"/>
              <a:t>Learning </a:t>
            </a:r>
            <a:r>
              <a:rPr lang="en-US" i="1" dirty="0"/>
              <a:t>representations</a:t>
            </a:r>
            <a:r>
              <a:rPr lang="en-US" dirty="0"/>
              <a:t> of clinical notes</a:t>
            </a:r>
          </a:p>
        </p:txBody>
      </p:sp>
    </p:spTree>
    <p:extLst>
      <p:ext uri="{BB962C8B-B14F-4D97-AF65-F5344CB8AC3E}">
        <p14:creationId xmlns:p14="http://schemas.microsoft.com/office/powerpoint/2010/main" val="1490231652"/>
      </p:ext>
    </p:extLst>
  </p:cSld>
  <p:clrMapOvr>
    <a:masterClrMapping/>
  </p:clrMapOvr>
  <mc:AlternateContent xmlns:mc="http://schemas.openxmlformats.org/markup-compatibility/2006" xmlns:p14="http://schemas.microsoft.com/office/powerpoint/2010/main">
    <mc:Choice Requires="p14">
      <p:transition spd="slow" p14:dur="2000" advTm="36504"/>
    </mc:Choice>
    <mc:Fallback xmlns="">
      <p:transition spd="slow" advTm="36504"/>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C8970-23FD-52C4-3570-471D51BA5A04}"/>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1E13E98-4983-442B-2045-372B6E8FE7F0}"/>
              </a:ext>
            </a:extLst>
          </p:cNvPr>
          <p:cNvSpPr txBox="1"/>
          <p:nvPr/>
        </p:nvSpPr>
        <p:spPr>
          <a:xfrm>
            <a:off x="1393360" y="4507593"/>
            <a:ext cx="1729425" cy="522772"/>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EKG</a:t>
            </a:r>
          </a:p>
        </p:txBody>
      </p:sp>
      <p:cxnSp>
        <p:nvCxnSpPr>
          <p:cNvPr id="16" name="Straight Arrow Connector 15">
            <a:extLst>
              <a:ext uri="{FF2B5EF4-FFF2-40B4-BE49-F238E27FC236}">
                <a16:creationId xmlns:a16="http://schemas.microsoft.com/office/drawing/2014/main" id="{8B4B04EF-320B-A18C-8426-B0925DEAC405}"/>
              </a:ext>
            </a:extLst>
          </p:cNvPr>
          <p:cNvCxnSpPr>
            <a:cxnSpLocks/>
          </p:cNvCxnSpPr>
          <p:nvPr/>
        </p:nvCxnSpPr>
        <p:spPr>
          <a:xfrm>
            <a:off x="3720764" y="3706373"/>
            <a:ext cx="41139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7CF43D43-6A7D-4BDF-3829-9F54E20505F3}"/>
              </a:ext>
            </a:extLst>
          </p:cNvPr>
          <p:cNvCxnSpPr>
            <a:cxnSpLocks/>
          </p:cNvCxnSpPr>
          <p:nvPr/>
        </p:nvCxnSpPr>
        <p:spPr>
          <a:xfrm>
            <a:off x="7040697" y="3706373"/>
            <a:ext cx="8185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 name="Title 1">
            <a:extLst>
              <a:ext uri="{FF2B5EF4-FFF2-40B4-BE49-F238E27FC236}">
                <a16:creationId xmlns:a16="http://schemas.microsoft.com/office/drawing/2014/main" id="{A35F0A86-744E-6BDA-FF8B-C8F790122923}"/>
              </a:ext>
            </a:extLst>
          </p:cNvPr>
          <p:cNvSpPr>
            <a:spLocks noGrp="1"/>
          </p:cNvSpPr>
          <p:nvPr>
            <p:ph type="title"/>
          </p:nvPr>
        </p:nvSpPr>
        <p:spPr>
          <a:xfrm>
            <a:off x="0" y="365125"/>
            <a:ext cx="12192000" cy="1325563"/>
          </a:xfrm>
        </p:spPr>
        <p:txBody>
          <a:bodyPr/>
          <a:lstStyle/>
          <a:p>
            <a:pPr algn="ctr"/>
            <a:r>
              <a:rPr lang="en-US" dirty="0"/>
              <a:t>Learning </a:t>
            </a:r>
            <a:r>
              <a:rPr lang="en-US" i="1" dirty="0"/>
              <a:t>representations</a:t>
            </a:r>
            <a:r>
              <a:rPr lang="en-US" dirty="0"/>
              <a:t> of other modalities</a:t>
            </a:r>
            <a:endParaRPr lang="en-US" u="sng" dirty="0"/>
          </a:p>
        </p:txBody>
      </p:sp>
      <p:graphicFrame>
        <p:nvGraphicFramePr>
          <p:cNvPr id="12" name="Table 13">
            <a:extLst>
              <a:ext uri="{FF2B5EF4-FFF2-40B4-BE49-F238E27FC236}">
                <a16:creationId xmlns:a16="http://schemas.microsoft.com/office/drawing/2014/main" id="{8F223974-420D-463E-941B-434BBDB4C2D0}"/>
              </a:ext>
            </a:extLst>
          </p:cNvPr>
          <p:cNvGraphicFramePr>
            <a:graphicFrameLocks noGrp="1"/>
          </p:cNvGraphicFramePr>
          <p:nvPr/>
        </p:nvGraphicFramePr>
        <p:xfrm>
          <a:off x="8060928" y="2417293"/>
          <a:ext cx="442976" cy="2613072"/>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8723533"/>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729035"/>
                  </a:ext>
                </a:extLst>
              </a:tr>
            </a:tbl>
          </a:graphicData>
        </a:graphic>
      </p:graphicFrame>
      <p:sp>
        <p:nvSpPr>
          <p:cNvPr id="30" name="TextBox 29">
            <a:extLst>
              <a:ext uri="{FF2B5EF4-FFF2-40B4-BE49-F238E27FC236}">
                <a16:creationId xmlns:a16="http://schemas.microsoft.com/office/drawing/2014/main" id="{12AC13DD-E180-C2E6-85BE-9843E223766B}"/>
              </a:ext>
            </a:extLst>
          </p:cNvPr>
          <p:cNvSpPr txBox="1"/>
          <p:nvPr/>
        </p:nvSpPr>
        <p:spPr>
          <a:xfrm>
            <a:off x="9962970" y="4284731"/>
            <a:ext cx="1354410" cy="522772"/>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label</a:t>
            </a:r>
          </a:p>
        </p:txBody>
      </p:sp>
      <p:graphicFrame>
        <p:nvGraphicFramePr>
          <p:cNvPr id="31" name="Table 30">
            <a:extLst>
              <a:ext uri="{FF2B5EF4-FFF2-40B4-BE49-F238E27FC236}">
                <a16:creationId xmlns:a16="http://schemas.microsoft.com/office/drawing/2014/main" id="{5FB00C6D-D41D-B4E7-81BE-5B82A95A557E}"/>
              </a:ext>
            </a:extLst>
          </p:cNvPr>
          <p:cNvGraphicFramePr>
            <a:graphicFrameLocks noGrp="1"/>
          </p:cNvGraphicFramePr>
          <p:nvPr/>
        </p:nvGraphicFramePr>
        <p:xfrm>
          <a:off x="9563657" y="3369902"/>
          <a:ext cx="1535116" cy="707853"/>
        </p:xfrm>
        <a:graphic>
          <a:graphicData uri="http://schemas.openxmlformats.org/drawingml/2006/table">
            <a:tbl>
              <a:tblPr firstRow="1" bandRow="1">
                <a:tableStyleId>{5C22544A-7EE6-4342-B048-85BDC9FD1C3A}</a:tableStyleId>
              </a:tblPr>
              <a:tblGrid>
                <a:gridCol w="1535116">
                  <a:extLst>
                    <a:ext uri="{9D8B030D-6E8A-4147-A177-3AD203B41FA5}">
                      <a16:colId xmlns:a16="http://schemas.microsoft.com/office/drawing/2014/main" val="4002730172"/>
                    </a:ext>
                  </a:extLst>
                </a:gridCol>
              </a:tblGrid>
              <a:tr h="707853">
                <a:tc>
                  <a:txBody>
                    <a:bodyPr/>
                    <a:lstStyle/>
                    <a:p>
                      <a:pPr algn="ctr"/>
                      <a:r>
                        <a:rPr lang="en-US" dirty="0">
                          <a:solidFill>
                            <a:schemeClr val="tx1"/>
                          </a:solidFill>
                        </a:rPr>
                        <a:t>outcome</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32" name="Straight Arrow Connector 31">
            <a:extLst>
              <a:ext uri="{FF2B5EF4-FFF2-40B4-BE49-F238E27FC236}">
                <a16:creationId xmlns:a16="http://schemas.microsoft.com/office/drawing/2014/main" id="{7DD4EAF4-78F4-2B9B-684A-95C383EDCAE9}"/>
              </a:ext>
            </a:extLst>
          </p:cNvPr>
          <p:cNvCxnSpPr>
            <a:cxnSpLocks/>
          </p:cNvCxnSpPr>
          <p:nvPr/>
        </p:nvCxnSpPr>
        <p:spPr>
          <a:xfrm flipV="1">
            <a:off x="8711860" y="3723829"/>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TextBox 34">
            <a:extLst>
              <a:ext uri="{FF2B5EF4-FFF2-40B4-BE49-F238E27FC236}">
                <a16:creationId xmlns:a16="http://schemas.microsoft.com/office/drawing/2014/main" id="{36BB45E9-9F4E-4E50-432E-8470D676FEFB}"/>
              </a:ext>
            </a:extLst>
          </p:cNvPr>
          <p:cNvSpPr txBox="1"/>
          <p:nvPr/>
        </p:nvSpPr>
        <p:spPr>
          <a:xfrm>
            <a:off x="6086914" y="5117376"/>
            <a:ext cx="4521105" cy="522772"/>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vector of features</a:t>
            </a:r>
          </a:p>
        </p:txBody>
      </p:sp>
      <p:sp>
        <p:nvSpPr>
          <p:cNvPr id="14" name="TextBox 13">
            <a:extLst>
              <a:ext uri="{FF2B5EF4-FFF2-40B4-BE49-F238E27FC236}">
                <a16:creationId xmlns:a16="http://schemas.microsoft.com/office/drawing/2014/main" id="{573931BA-18F1-30D6-4091-6E41CCD68CF1}"/>
              </a:ext>
            </a:extLst>
          </p:cNvPr>
          <p:cNvSpPr txBox="1"/>
          <p:nvPr/>
        </p:nvSpPr>
        <p:spPr>
          <a:xfrm>
            <a:off x="8378970" y="3728835"/>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sp>
        <p:nvSpPr>
          <p:cNvPr id="20" name="Rounded Rectangle 19">
            <a:extLst>
              <a:ext uri="{FF2B5EF4-FFF2-40B4-BE49-F238E27FC236}">
                <a16:creationId xmlns:a16="http://schemas.microsoft.com/office/drawing/2014/main" id="{8558DB6D-0895-D00D-1615-11C6F091FB27}"/>
              </a:ext>
            </a:extLst>
          </p:cNvPr>
          <p:cNvSpPr/>
          <p:nvPr/>
        </p:nvSpPr>
        <p:spPr>
          <a:xfrm>
            <a:off x="4333880" y="3229722"/>
            <a:ext cx="2440599" cy="94140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Modality-Specific</a:t>
            </a:r>
          </a:p>
          <a:p>
            <a:pPr algn="ctr"/>
            <a:r>
              <a:rPr lang="en-US" dirty="0"/>
              <a:t>Encoder</a:t>
            </a:r>
          </a:p>
        </p:txBody>
      </p:sp>
      <p:pic>
        <p:nvPicPr>
          <p:cNvPr id="2" name="Picture 4">
            <a:extLst>
              <a:ext uri="{FF2B5EF4-FFF2-40B4-BE49-F238E27FC236}">
                <a16:creationId xmlns:a16="http://schemas.microsoft.com/office/drawing/2014/main" id="{87A0DE4D-DDE0-370B-F2B2-61E53B7F067B}"/>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56657" y="2951182"/>
            <a:ext cx="2602833" cy="149848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5810943"/>
      </p:ext>
    </p:extLst>
  </p:cSld>
  <p:clrMapOvr>
    <a:masterClrMapping/>
  </p:clrMapOvr>
  <mc:AlternateContent xmlns:mc="http://schemas.openxmlformats.org/markup-compatibility/2006" xmlns:p14="http://schemas.microsoft.com/office/powerpoint/2010/main">
    <mc:Choice Requires="p14">
      <p:transition spd="slow" p14:dur="2000" advTm="31940"/>
    </mc:Choice>
    <mc:Fallback xmlns="">
      <p:transition spd="slow" advTm="3194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F9E2A-78A5-F2BC-AA73-999D9FB9BFFA}"/>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7DEC95D5-CA93-38E0-742E-3943A4525765}"/>
              </a:ext>
            </a:extLst>
          </p:cNvPr>
          <p:cNvSpPr>
            <a:spLocks noGrp="1"/>
          </p:cNvSpPr>
          <p:nvPr>
            <p:ph type="title"/>
          </p:nvPr>
        </p:nvSpPr>
        <p:spPr>
          <a:xfrm>
            <a:off x="0" y="365125"/>
            <a:ext cx="12192000" cy="1325563"/>
          </a:xfrm>
        </p:spPr>
        <p:txBody>
          <a:bodyPr/>
          <a:lstStyle/>
          <a:p>
            <a:pPr algn="ctr"/>
            <a:r>
              <a:rPr lang="en-US" dirty="0"/>
              <a:t>Learning </a:t>
            </a:r>
            <a:r>
              <a:rPr lang="en-US" i="1" dirty="0"/>
              <a:t>representations</a:t>
            </a:r>
            <a:r>
              <a:rPr lang="en-US" dirty="0"/>
              <a:t> of complex medical data</a:t>
            </a:r>
          </a:p>
        </p:txBody>
      </p:sp>
      <p:graphicFrame>
        <p:nvGraphicFramePr>
          <p:cNvPr id="12" name="Table 13">
            <a:extLst>
              <a:ext uri="{FF2B5EF4-FFF2-40B4-BE49-F238E27FC236}">
                <a16:creationId xmlns:a16="http://schemas.microsoft.com/office/drawing/2014/main" id="{010B9882-03D8-27A7-5986-40BED34F90CB}"/>
              </a:ext>
            </a:extLst>
          </p:cNvPr>
          <p:cNvGraphicFramePr>
            <a:graphicFrameLocks noGrp="1"/>
          </p:cNvGraphicFramePr>
          <p:nvPr/>
        </p:nvGraphicFramePr>
        <p:xfrm>
          <a:off x="8060928" y="2417293"/>
          <a:ext cx="442976" cy="2613072"/>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8723533"/>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729035"/>
                  </a:ext>
                </a:extLst>
              </a:tr>
            </a:tbl>
          </a:graphicData>
        </a:graphic>
      </p:graphicFrame>
      <p:sp>
        <p:nvSpPr>
          <p:cNvPr id="30" name="TextBox 29">
            <a:extLst>
              <a:ext uri="{FF2B5EF4-FFF2-40B4-BE49-F238E27FC236}">
                <a16:creationId xmlns:a16="http://schemas.microsoft.com/office/drawing/2014/main" id="{3EB861E7-7B33-E8BA-6990-921F8F9AE3DF}"/>
              </a:ext>
            </a:extLst>
          </p:cNvPr>
          <p:cNvSpPr txBox="1"/>
          <p:nvPr/>
        </p:nvSpPr>
        <p:spPr>
          <a:xfrm>
            <a:off x="9962970" y="4284731"/>
            <a:ext cx="1354410" cy="522772"/>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label</a:t>
            </a:r>
          </a:p>
        </p:txBody>
      </p:sp>
      <p:graphicFrame>
        <p:nvGraphicFramePr>
          <p:cNvPr id="31" name="Table 30">
            <a:extLst>
              <a:ext uri="{FF2B5EF4-FFF2-40B4-BE49-F238E27FC236}">
                <a16:creationId xmlns:a16="http://schemas.microsoft.com/office/drawing/2014/main" id="{701B7713-791D-07C7-7E17-7F6B58C7F6A0}"/>
              </a:ext>
            </a:extLst>
          </p:cNvPr>
          <p:cNvGraphicFramePr>
            <a:graphicFrameLocks noGrp="1"/>
          </p:cNvGraphicFramePr>
          <p:nvPr/>
        </p:nvGraphicFramePr>
        <p:xfrm>
          <a:off x="9563657" y="3369902"/>
          <a:ext cx="1535116" cy="707853"/>
        </p:xfrm>
        <a:graphic>
          <a:graphicData uri="http://schemas.openxmlformats.org/drawingml/2006/table">
            <a:tbl>
              <a:tblPr firstRow="1" bandRow="1">
                <a:tableStyleId>{5C22544A-7EE6-4342-B048-85BDC9FD1C3A}</a:tableStyleId>
              </a:tblPr>
              <a:tblGrid>
                <a:gridCol w="1535116">
                  <a:extLst>
                    <a:ext uri="{9D8B030D-6E8A-4147-A177-3AD203B41FA5}">
                      <a16:colId xmlns:a16="http://schemas.microsoft.com/office/drawing/2014/main" val="4002730172"/>
                    </a:ext>
                  </a:extLst>
                </a:gridCol>
              </a:tblGrid>
              <a:tr h="707853">
                <a:tc>
                  <a:txBody>
                    <a:bodyPr/>
                    <a:lstStyle/>
                    <a:p>
                      <a:pPr algn="ctr"/>
                      <a:r>
                        <a:rPr lang="en-US" dirty="0">
                          <a:solidFill>
                            <a:schemeClr val="tx1"/>
                          </a:solidFill>
                        </a:rPr>
                        <a:t>outcome</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32" name="Straight Arrow Connector 31">
            <a:extLst>
              <a:ext uri="{FF2B5EF4-FFF2-40B4-BE49-F238E27FC236}">
                <a16:creationId xmlns:a16="http://schemas.microsoft.com/office/drawing/2014/main" id="{7AB65A8D-2A60-40B7-29F9-387E2C937B67}"/>
              </a:ext>
            </a:extLst>
          </p:cNvPr>
          <p:cNvCxnSpPr>
            <a:cxnSpLocks/>
          </p:cNvCxnSpPr>
          <p:nvPr/>
        </p:nvCxnSpPr>
        <p:spPr>
          <a:xfrm flipV="1">
            <a:off x="8711860" y="3723829"/>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06673B74-2A2E-C25E-74FC-31E838E20F54}"/>
              </a:ext>
            </a:extLst>
          </p:cNvPr>
          <p:cNvSpPr txBox="1"/>
          <p:nvPr/>
        </p:nvSpPr>
        <p:spPr>
          <a:xfrm>
            <a:off x="8378970" y="3728835"/>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sp>
        <p:nvSpPr>
          <p:cNvPr id="2" name="TextBox 1">
            <a:extLst>
              <a:ext uri="{FF2B5EF4-FFF2-40B4-BE49-F238E27FC236}">
                <a16:creationId xmlns:a16="http://schemas.microsoft.com/office/drawing/2014/main" id="{5402A020-5D95-7ACF-E50E-7EB67F291304}"/>
              </a:ext>
            </a:extLst>
          </p:cNvPr>
          <p:cNvSpPr txBox="1"/>
          <p:nvPr/>
        </p:nvSpPr>
        <p:spPr>
          <a:xfrm>
            <a:off x="1546873" y="4855990"/>
            <a:ext cx="1729425" cy="522772"/>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input data</a:t>
            </a:r>
          </a:p>
        </p:txBody>
      </p:sp>
      <p:cxnSp>
        <p:nvCxnSpPr>
          <p:cNvPr id="3" name="Straight Arrow Connector 2">
            <a:extLst>
              <a:ext uri="{FF2B5EF4-FFF2-40B4-BE49-F238E27FC236}">
                <a16:creationId xmlns:a16="http://schemas.microsoft.com/office/drawing/2014/main" id="{1B9179E6-8FC3-0761-4FF7-43A4BAD17E5E}"/>
              </a:ext>
            </a:extLst>
          </p:cNvPr>
          <p:cNvCxnSpPr>
            <a:cxnSpLocks/>
          </p:cNvCxnSpPr>
          <p:nvPr/>
        </p:nvCxnSpPr>
        <p:spPr>
          <a:xfrm>
            <a:off x="3720764" y="3706373"/>
            <a:ext cx="41139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 name="Straight Arrow Connector 3">
            <a:extLst>
              <a:ext uri="{FF2B5EF4-FFF2-40B4-BE49-F238E27FC236}">
                <a16:creationId xmlns:a16="http://schemas.microsoft.com/office/drawing/2014/main" id="{670594FB-4F98-432C-4270-04CD10C38922}"/>
              </a:ext>
            </a:extLst>
          </p:cNvPr>
          <p:cNvCxnSpPr>
            <a:cxnSpLocks/>
          </p:cNvCxnSpPr>
          <p:nvPr/>
        </p:nvCxnSpPr>
        <p:spPr>
          <a:xfrm>
            <a:off x="7040697" y="3706373"/>
            <a:ext cx="8185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aphicFrame>
        <p:nvGraphicFramePr>
          <p:cNvPr id="5" name="Table 13">
            <a:extLst>
              <a:ext uri="{FF2B5EF4-FFF2-40B4-BE49-F238E27FC236}">
                <a16:creationId xmlns:a16="http://schemas.microsoft.com/office/drawing/2014/main" id="{9181E27C-6082-2B26-5B0D-F2AA4853AEC6}"/>
              </a:ext>
            </a:extLst>
          </p:cNvPr>
          <p:cNvGraphicFramePr>
            <a:graphicFrameLocks noGrp="1"/>
          </p:cNvGraphicFramePr>
          <p:nvPr/>
        </p:nvGraphicFramePr>
        <p:xfrm>
          <a:off x="8060928" y="2417293"/>
          <a:ext cx="442976" cy="2613072"/>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8723533"/>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729035"/>
                  </a:ext>
                </a:extLst>
              </a:tr>
            </a:tbl>
          </a:graphicData>
        </a:graphic>
      </p:graphicFrame>
      <p:cxnSp>
        <p:nvCxnSpPr>
          <p:cNvPr id="6" name="Straight Arrow Connector 5">
            <a:extLst>
              <a:ext uri="{FF2B5EF4-FFF2-40B4-BE49-F238E27FC236}">
                <a16:creationId xmlns:a16="http://schemas.microsoft.com/office/drawing/2014/main" id="{F6CF796A-5ACB-D712-FDDF-F44F6BA07BA5}"/>
              </a:ext>
            </a:extLst>
          </p:cNvPr>
          <p:cNvCxnSpPr>
            <a:cxnSpLocks/>
          </p:cNvCxnSpPr>
          <p:nvPr/>
        </p:nvCxnSpPr>
        <p:spPr>
          <a:xfrm flipV="1">
            <a:off x="8711860" y="3723829"/>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CB57F554-756A-E6F2-FF52-7FB6D7B102F6}"/>
              </a:ext>
            </a:extLst>
          </p:cNvPr>
          <p:cNvSpPr txBox="1"/>
          <p:nvPr/>
        </p:nvSpPr>
        <p:spPr>
          <a:xfrm>
            <a:off x="8378970" y="3728835"/>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mc:AlternateContent xmlns:mc="http://schemas.openxmlformats.org/markup-compatibility/2006" xmlns:a14="http://schemas.microsoft.com/office/drawing/2010/main">
        <mc:Choice Requires="a14">
          <p:sp>
            <p:nvSpPr>
              <p:cNvPr id="8" name="Rounded Rectangle 7">
                <a:extLst>
                  <a:ext uri="{FF2B5EF4-FFF2-40B4-BE49-F238E27FC236}">
                    <a16:creationId xmlns:a16="http://schemas.microsoft.com/office/drawing/2014/main" id="{C9AFF791-C4A5-413E-ADC2-2551AE458EF6}"/>
                  </a:ext>
                </a:extLst>
              </p:cNvPr>
              <p:cNvSpPr/>
              <p:nvPr/>
            </p:nvSpPr>
            <p:spPr>
              <a:xfrm>
                <a:off x="1263683" y="2631258"/>
                <a:ext cx="2295807" cy="2150230"/>
              </a:xfrm>
              <a:prstGeom prst="roundRect">
                <a:avLst>
                  <a:gd name="adj" fmla="val 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Unstructured data</a:t>
                </a:r>
              </a:p>
              <a:p>
                <a:pPr algn="ctr"/>
                <a:r>
                  <a:rPr lang="en-US" dirty="0"/>
                  <a:t>for patient </a:t>
                </a:r>
                <a14:m>
                  <m:oMath xmlns:m="http://schemas.openxmlformats.org/officeDocument/2006/math">
                    <m:r>
                      <a:rPr lang="en-US" i="1" dirty="0" smtClean="0">
                        <a:latin typeface="Cambria Math" panose="02040503050406030204" pitchFamily="18" charset="0"/>
                      </a:rPr>
                      <m:t>𝑖</m:t>
                    </m:r>
                  </m:oMath>
                </a14:m>
                <a:endParaRPr lang="en-US" dirty="0"/>
              </a:p>
            </p:txBody>
          </p:sp>
        </mc:Choice>
        <mc:Fallback xmlns="">
          <p:sp>
            <p:nvSpPr>
              <p:cNvPr id="8" name="Rounded Rectangle 7">
                <a:extLst>
                  <a:ext uri="{FF2B5EF4-FFF2-40B4-BE49-F238E27FC236}">
                    <a16:creationId xmlns:a16="http://schemas.microsoft.com/office/drawing/2014/main" id="{C9AFF791-C4A5-413E-ADC2-2551AE458EF6}"/>
                  </a:ext>
                </a:extLst>
              </p:cNvPr>
              <p:cNvSpPr>
                <a:spLocks noRot="1" noChangeAspect="1" noMove="1" noResize="1" noEditPoints="1" noAdjustHandles="1" noChangeArrowheads="1" noChangeShapeType="1" noTextEdit="1"/>
              </p:cNvSpPr>
              <p:nvPr/>
            </p:nvSpPr>
            <p:spPr>
              <a:xfrm>
                <a:off x="1263683" y="2631258"/>
                <a:ext cx="2295807" cy="2150230"/>
              </a:xfrm>
              <a:prstGeom prst="roundRect">
                <a:avLst>
                  <a:gd name="adj" fmla="val 0"/>
                </a:avLst>
              </a:prstGeom>
              <a:blipFill>
                <a:blip r:embed="rId3"/>
                <a:stretch>
                  <a:fillRect/>
                </a:stretch>
              </a:blipFill>
            </p:spPr>
            <p:txBody>
              <a:bodyPr/>
              <a:lstStyle/>
              <a:p>
                <a:r>
                  <a:rPr lang="en-US">
                    <a:noFill/>
                  </a:rPr>
                  <a:t> </a:t>
                </a:r>
              </a:p>
            </p:txBody>
          </p:sp>
        </mc:Fallback>
      </mc:AlternateContent>
      <p:sp>
        <p:nvSpPr>
          <p:cNvPr id="9" name="Rounded Rectangle 8">
            <a:extLst>
              <a:ext uri="{FF2B5EF4-FFF2-40B4-BE49-F238E27FC236}">
                <a16:creationId xmlns:a16="http://schemas.microsoft.com/office/drawing/2014/main" id="{E5D4D55C-8117-4D3C-01F0-D3C8F068D018}"/>
              </a:ext>
            </a:extLst>
          </p:cNvPr>
          <p:cNvSpPr/>
          <p:nvPr/>
        </p:nvSpPr>
        <p:spPr>
          <a:xfrm>
            <a:off x="4333880" y="3229722"/>
            <a:ext cx="2440599" cy="94140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Modality-Specific</a:t>
            </a:r>
          </a:p>
          <a:p>
            <a:pPr algn="ctr"/>
            <a:r>
              <a:rPr lang="en-US" dirty="0"/>
              <a:t>Encoder</a:t>
            </a:r>
          </a:p>
        </p:txBody>
      </p:sp>
      <p:sp>
        <p:nvSpPr>
          <p:cNvPr id="10" name="TextBox 9">
            <a:extLst>
              <a:ext uri="{FF2B5EF4-FFF2-40B4-BE49-F238E27FC236}">
                <a16:creationId xmlns:a16="http://schemas.microsoft.com/office/drawing/2014/main" id="{FD0EC4B0-79D6-FF59-1C1C-99228CF1359D}"/>
              </a:ext>
            </a:extLst>
          </p:cNvPr>
          <p:cNvSpPr txBox="1"/>
          <p:nvPr/>
        </p:nvSpPr>
        <p:spPr>
          <a:xfrm>
            <a:off x="5205817" y="5117376"/>
            <a:ext cx="6153197" cy="1568763"/>
          </a:xfrm>
          <a:prstGeom prst="rect">
            <a:avLst/>
          </a:prstGeom>
          <a:noFill/>
        </p:spPr>
        <p:txBody>
          <a:bodyPr wrap="square" rtlCol="0">
            <a:spAutoFit/>
          </a:bodyPr>
          <a:lstStyle/>
          <a:p>
            <a:pPr algn="ctr"/>
            <a:r>
              <a:rPr lang="en-US" sz="2797" dirty="0">
                <a:latin typeface="Times New Roman" panose="02020603050405020304" pitchFamily="18" charset="0"/>
                <a:cs typeface="Times New Roman" panose="02020603050405020304" pitchFamily="18" charset="0"/>
              </a:rPr>
              <a:t>vector of features</a:t>
            </a:r>
          </a:p>
          <a:p>
            <a:pPr algn="ctr"/>
            <a:r>
              <a:rPr lang="en-US" sz="2797" dirty="0">
                <a:latin typeface="Times New Roman" panose="02020603050405020304" pitchFamily="18" charset="0"/>
                <a:cs typeface="Times New Roman" panose="02020603050405020304" pitchFamily="18" charset="0"/>
              </a:rPr>
              <a:t>that concisely </a:t>
            </a:r>
            <a:r>
              <a:rPr lang="en-US" sz="2797" i="1" dirty="0">
                <a:latin typeface="Times New Roman" panose="02020603050405020304" pitchFamily="18" charset="0"/>
                <a:cs typeface="Times New Roman" panose="02020603050405020304" pitchFamily="18" charset="0"/>
              </a:rPr>
              <a:t>represent</a:t>
            </a:r>
            <a:r>
              <a:rPr lang="en-US" sz="2797" dirty="0">
                <a:latin typeface="Times New Roman" panose="02020603050405020304" pitchFamily="18" charset="0"/>
                <a:cs typeface="Times New Roman" panose="02020603050405020304" pitchFamily="18" charset="0"/>
              </a:rPr>
              <a:t> the input</a:t>
            </a:r>
          </a:p>
          <a:p>
            <a:pPr algn="ctr"/>
            <a:endParaRPr lang="en-US" sz="2000"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“learned feature extraction”</a:t>
            </a:r>
          </a:p>
        </p:txBody>
      </p:sp>
    </p:spTree>
    <p:extLst>
      <p:ext uri="{BB962C8B-B14F-4D97-AF65-F5344CB8AC3E}">
        <p14:creationId xmlns:p14="http://schemas.microsoft.com/office/powerpoint/2010/main" val="2546743795"/>
      </p:ext>
    </p:extLst>
  </p:cSld>
  <p:clrMapOvr>
    <a:masterClrMapping/>
  </p:clrMapOvr>
  <mc:AlternateContent xmlns:mc="http://schemas.openxmlformats.org/markup-compatibility/2006" xmlns:p14="http://schemas.microsoft.com/office/powerpoint/2010/main">
    <mc:Choice Requires="p14">
      <p:transition spd="slow" p14:dur="2000" advTm="32948"/>
    </mc:Choice>
    <mc:Fallback xmlns="">
      <p:transition spd="slow" advTm="32948"/>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F7413-100E-FC4C-82FF-EFB9B4D0DDC8}"/>
              </a:ext>
            </a:extLst>
          </p:cNvPr>
          <p:cNvSpPr>
            <a:spLocks noGrp="1"/>
          </p:cNvSpPr>
          <p:nvPr>
            <p:ph type="title"/>
          </p:nvPr>
        </p:nvSpPr>
        <p:spPr/>
        <p:txBody>
          <a:bodyPr/>
          <a:lstStyle/>
          <a:p>
            <a:r>
              <a:rPr lang="en-US" dirty="0"/>
              <a:t>Transfer learning:</a:t>
            </a:r>
            <a:br>
              <a:rPr lang="en-US" dirty="0"/>
            </a:br>
            <a:r>
              <a:rPr lang="en-US" dirty="0"/>
              <a:t>Train on one task, fine-tune on another</a:t>
            </a:r>
          </a:p>
        </p:txBody>
      </p:sp>
      <p:sp>
        <p:nvSpPr>
          <p:cNvPr id="3" name="Content Placeholder 2">
            <a:extLst>
              <a:ext uri="{FF2B5EF4-FFF2-40B4-BE49-F238E27FC236}">
                <a16:creationId xmlns:a16="http://schemas.microsoft.com/office/drawing/2014/main" id="{60E342C0-A4E3-9176-A6CC-8F21FEDEDE70}"/>
              </a:ext>
            </a:extLst>
          </p:cNvPr>
          <p:cNvSpPr>
            <a:spLocks noGrp="1"/>
          </p:cNvSpPr>
          <p:nvPr>
            <p:ph idx="1"/>
          </p:nvPr>
        </p:nvSpPr>
        <p:spPr>
          <a:xfrm>
            <a:off x="838200" y="5564775"/>
            <a:ext cx="10515600" cy="928099"/>
          </a:xfrm>
        </p:spPr>
        <p:txBody>
          <a:bodyPr>
            <a:normAutofit fontScale="92500" lnSpcReduction="10000"/>
          </a:bodyPr>
          <a:lstStyle/>
          <a:p>
            <a:pPr marL="0" indent="0">
              <a:buNone/>
            </a:pPr>
            <a:r>
              <a:rPr lang="en-US" dirty="0"/>
              <a:t>The model remains task-specific, but can be adapted to new tasks ad hoc</a:t>
            </a:r>
          </a:p>
          <a:p>
            <a:pPr marL="0" indent="0">
              <a:buNone/>
            </a:pPr>
            <a:r>
              <a:rPr lang="en-US" dirty="0"/>
              <a:t>This tends to be helpful, because some features are important to many tasks</a:t>
            </a:r>
          </a:p>
        </p:txBody>
      </p:sp>
      <p:cxnSp>
        <p:nvCxnSpPr>
          <p:cNvPr id="5" name="Straight Arrow Connector 4">
            <a:extLst>
              <a:ext uri="{FF2B5EF4-FFF2-40B4-BE49-F238E27FC236}">
                <a16:creationId xmlns:a16="http://schemas.microsoft.com/office/drawing/2014/main" id="{BD93E62F-4D9F-9138-B1D4-D88C85FF331F}"/>
              </a:ext>
            </a:extLst>
          </p:cNvPr>
          <p:cNvCxnSpPr>
            <a:cxnSpLocks/>
          </p:cNvCxnSpPr>
          <p:nvPr/>
        </p:nvCxnSpPr>
        <p:spPr>
          <a:xfrm>
            <a:off x="4323969" y="4567068"/>
            <a:ext cx="87243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 name="Straight Arrow Connector 5">
            <a:extLst>
              <a:ext uri="{FF2B5EF4-FFF2-40B4-BE49-F238E27FC236}">
                <a16:creationId xmlns:a16="http://schemas.microsoft.com/office/drawing/2014/main" id="{D0C765D5-B790-C3A1-E9B3-12E786E372CF}"/>
              </a:ext>
            </a:extLst>
          </p:cNvPr>
          <p:cNvCxnSpPr>
            <a:cxnSpLocks/>
          </p:cNvCxnSpPr>
          <p:nvPr/>
        </p:nvCxnSpPr>
        <p:spPr>
          <a:xfrm>
            <a:off x="7135194" y="4527057"/>
            <a:ext cx="107849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aphicFrame>
        <p:nvGraphicFramePr>
          <p:cNvPr id="9" name="Table 13">
            <a:extLst>
              <a:ext uri="{FF2B5EF4-FFF2-40B4-BE49-F238E27FC236}">
                <a16:creationId xmlns:a16="http://schemas.microsoft.com/office/drawing/2014/main" id="{8944AD4A-A402-2396-60BC-DFC9D51D8EFB}"/>
              </a:ext>
            </a:extLst>
          </p:cNvPr>
          <p:cNvGraphicFramePr>
            <a:graphicFrameLocks noGrp="1"/>
          </p:cNvGraphicFramePr>
          <p:nvPr>
            <p:extLst>
              <p:ext uri="{D42A27DB-BD31-4B8C-83A1-F6EECF244321}">
                <p14:modId xmlns:p14="http://schemas.microsoft.com/office/powerpoint/2010/main" val="3696531838"/>
              </p:ext>
            </p:extLst>
          </p:nvPr>
        </p:nvGraphicFramePr>
        <p:xfrm>
          <a:off x="8370853" y="3676929"/>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8723533"/>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729035"/>
                  </a:ext>
                </a:extLst>
              </a:tr>
            </a:tbl>
          </a:graphicData>
        </a:graphic>
      </p:graphicFrame>
      <p:graphicFrame>
        <p:nvGraphicFramePr>
          <p:cNvPr id="11" name="Table 10">
            <a:extLst>
              <a:ext uri="{FF2B5EF4-FFF2-40B4-BE49-F238E27FC236}">
                <a16:creationId xmlns:a16="http://schemas.microsoft.com/office/drawing/2014/main" id="{9F7EAEFC-9D9F-DF28-F670-264E21EBA25B}"/>
              </a:ext>
            </a:extLst>
          </p:cNvPr>
          <p:cNvGraphicFramePr>
            <a:graphicFrameLocks noGrp="1"/>
          </p:cNvGraphicFramePr>
          <p:nvPr>
            <p:extLst>
              <p:ext uri="{D42A27DB-BD31-4B8C-83A1-F6EECF244321}">
                <p14:modId xmlns:p14="http://schemas.microsoft.com/office/powerpoint/2010/main" val="4004446514"/>
              </p:ext>
            </p:extLst>
          </p:nvPr>
        </p:nvGraphicFramePr>
        <p:xfrm>
          <a:off x="9818684" y="4166820"/>
          <a:ext cx="1535116" cy="707853"/>
        </p:xfrm>
        <a:graphic>
          <a:graphicData uri="http://schemas.openxmlformats.org/drawingml/2006/table">
            <a:tbl>
              <a:tblPr firstRow="1" bandRow="1">
                <a:tableStyleId>{5C22544A-7EE6-4342-B048-85BDC9FD1C3A}</a:tableStyleId>
              </a:tblPr>
              <a:tblGrid>
                <a:gridCol w="1535116">
                  <a:extLst>
                    <a:ext uri="{9D8B030D-6E8A-4147-A177-3AD203B41FA5}">
                      <a16:colId xmlns:a16="http://schemas.microsoft.com/office/drawing/2014/main" val="4002730172"/>
                    </a:ext>
                  </a:extLst>
                </a:gridCol>
              </a:tblGrid>
              <a:tr h="707853">
                <a:tc>
                  <a:txBody>
                    <a:bodyPr/>
                    <a:lstStyle/>
                    <a:p>
                      <a:pPr algn="ctr"/>
                      <a:r>
                        <a:rPr lang="en-US" dirty="0">
                          <a:solidFill>
                            <a:schemeClr val="tx1"/>
                          </a:solidFill>
                        </a:rPr>
                        <a:t>retinopathy?</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2" name="Straight Arrow Connector 11">
            <a:extLst>
              <a:ext uri="{FF2B5EF4-FFF2-40B4-BE49-F238E27FC236}">
                <a16:creationId xmlns:a16="http://schemas.microsoft.com/office/drawing/2014/main" id="{060C48C8-94EE-1FCF-E58F-8A480263FC23}"/>
              </a:ext>
            </a:extLst>
          </p:cNvPr>
          <p:cNvCxnSpPr>
            <a:cxnSpLocks/>
          </p:cNvCxnSpPr>
          <p:nvPr/>
        </p:nvCxnSpPr>
        <p:spPr>
          <a:xfrm flipV="1">
            <a:off x="8970995" y="4527057"/>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E302022F-6023-8439-011F-7A83AE672E8A}"/>
              </a:ext>
            </a:extLst>
          </p:cNvPr>
          <p:cNvSpPr txBox="1"/>
          <p:nvPr/>
        </p:nvSpPr>
        <p:spPr>
          <a:xfrm>
            <a:off x="8638105" y="4609061"/>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sp>
        <p:nvSpPr>
          <p:cNvPr id="15" name="Rounded Rectangle 14">
            <a:extLst>
              <a:ext uri="{FF2B5EF4-FFF2-40B4-BE49-F238E27FC236}">
                <a16:creationId xmlns:a16="http://schemas.microsoft.com/office/drawing/2014/main" id="{66A06320-FD7C-D289-7454-2F52CC0A8FCC}"/>
              </a:ext>
            </a:extLst>
          </p:cNvPr>
          <p:cNvSpPr/>
          <p:nvPr/>
        </p:nvSpPr>
        <p:spPr>
          <a:xfrm>
            <a:off x="5316473" y="4096363"/>
            <a:ext cx="1729425" cy="941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CNN</a:t>
            </a:r>
          </a:p>
          <a:p>
            <a:pPr algn="ctr"/>
            <a:r>
              <a:rPr lang="en-US" dirty="0"/>
              <a:t>Encoder</a:t>
            </a:r>
          </a:p>
        </p:txBody>
      </p:sp>
      <p:pic>
        <p:nvPicPr>
          <p:cNvPr id="18" name="Picture 17">
            <a:extLst>
              <a:ext uri="{FF2B5EF4-FFF2-40B4-BE49-F238E27FC236}">
                <a16:creationId xmlns:a16="http://schemas.microsoft.com/office/drawing/2014/main" id="{9256E17E-B6A4-B48C-9C9B-43656CF98AF5}"/>
              </a:ext>
            </a:extLst>
          </p:cNvPr>
          <p:cNvPicPr>
            <a:picLocks noChangeAspect="1"/>
          </p:cNvPicPr>
          <p:nvPr/>
        </p:nvPicPr>
        <p:blipFill>
          <a:blip r:embed="rId3"/>
          <a:stretch>
            <a:fillRect/>
          </a:stretch>
        </p:blipFill>
        <p:spPr>
          <a:xfrm>
            <a:off x="2629755" y="3780172"/>
            <a:ext cx="1537048" cy="1573790"/>
          </a:xfrm>
          <a:prstGeom prst="rect">
            <a:avLst/>
          </a:prstGeom>
        </p:spPr>
      </p:pic>
      <p:cxnSp>
        <p:nvCxnSpPr>
          <p:cNvPr id="19" name="Straight Arrow Connector 18">
            <a:extLst>
              <a:ext uri="{FF2B5EF4-FFF2-40B4-BE49-F238E27FC236}">
                <a16:creationId xmlns:a16="http://schemas.microsoft.com/office/drawing/2014/main" id="{AA38B2CD-FDD3-28EC-660C-D3F16C9E9ABF}"/>
              </a:ext>
            </a:extLst>
          </p:cNvPr>
          <p:cNvCxnSpPr>
            <a:cxnSpLocks/>
          </p:cNvCxnSpPr>
          <p:nvPr/>
        </p:nvCxnSpPr>
        <p:spPr>
          <a:xfrm>
            <a:off x="2495314" y="2752121"/>
            <a:ext cx="87243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6C3791B1-D7E5-2DAB-C427-60D0E49616B2}"/>
              </a:ext>
            </a:extLst>
          </p:cNvPr>
          <p:cNvCxnSpPr>
            <a:cxnSpLocks/>
          </p:cNvCxnSpPr>
          <p:nvPr/>
        </p:nvCxnSpPr>
        <p:spPr>
          <a:xfrm>
            <a:off x="5306539" y="2712110"/>
            <a:ext cx="107849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aphicFrame>
        <p:nvGraphicFramePr>
          <p:cNvPr id="21" name="Table 13">
            <a:extLst>
              <a:ext uri="{FF2B5EF4-FFF2-40B4-BE49-F238E27FC236}">
                <a16:creationId xmlns:a16="http://schemas.microsoft.com/office/drawing/2014/main" id="{65C5CD6C-D7B1-2067-7361-F57F888E5BAC}"/>
              </a:ext>
            </a:extLst>
          </p:cNvPr>
          <p:cNvGraphicFramePr>
            <a:graphicFrameLocks noGrp="1"/>
          </p:cNvGraphicFramePr>
          <p:nvPr>
            <p:extLst>
              <p:ext uri="{D42A27DB-BD31-4B8C-83A1-F6EECF244321}">
                <p14:modId xmlns:p14="http://schemas.microsoft.com/office/powerpoint/2010/main" val="2592157654"/>
              </p:ext>
            </p:extLst>
          </p:nvPr>
        </p:nvGraphicFramePr>
        <p:xfrm>
          <a:off x="6542198" y="1861982"/>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8723533"/>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729035"/>
                  </a:ext>
                </a:extLst>
              </a:tr>
            </a:tbl>
          </a:graphicData>
        </a:graphic>
      </p:graphicFrame>
      <p:graphicFrame>
        <p:nvGraphicFramePr>
          <p:cNvPr id="22" name="Table 21">
            <a:extLst>
              <a:ext uri="{FF2B5EF4-FFF2-40B4-BE49-F238E27FC236}">
                <a16:creationId xmlns:a16="http://schemas.microsoft.com/office/drawing/2014/main" id="{6F0D47C3-E34A-CEC6-3DD8-81B62F038C4D}"/>
              </a:ext>
            </a:extLst>
          </p:cNvPr>
          <p:cNvGraphicFramePr>
            <a:graphicFrameLocks noGrp="1"/>
          </p:cNvGraphicFramePr>
          <p:nvPr>
            <p:extLst>
              <p:ext uri="{D42A27DB-BD31-4B8C-83A1-F6EECF244321}">
                <p14:modId xmlns:p14="http://schemas.microsoft.com/office/powerpoint/2010/main" val="1702482394"/>
              </p:ext>
            </p:extLst>
          </p:nvPr>
        </p:nvGraphicFramePr>
        <p:xfrm>
          <a:off x="7990029" y="2351873"/>
          <a:ext cx="1535116" cy="707853"/>
        </p:xfrm>
        <a:graphic>
          <a:graphicData uri="http://schemas.openxmlformats.org/drawingml/2006/table">
            <a:tbl>
              <a:tblPr firstRow="1" bandRow="1">
                <a:tableStyleId>{5C22544A-7EE6-4342-B048-85BDC9FD1C3A}</a:tableStyleId>
              </a:tblPr>
              <a:tblGrid>
                <a:gridCol w="1535116">
                  <a:extLst>
                    <a:ext uri="{9D8B030D-6E8A-4147-A177-3AD203B41FA5}">
                      <a16:colId xmlns:a16="http://schemas.microsoft.com/office/drawing/2014/main" val="4002730172"/>
                    </a:ext>
                  </a:extLst>
                </a:gridCol>
              </a:tblGrid>
              <a:tr h="707853">
                <a:tc>
                  <a:txBody>
                    <a:bodyPr/>
                    <a:lstStyle/>
                    <a:p>
                      <a:pPr algn="ctr"/>
                      <a:r>
                        <a:rPr lang="en-US" dirty="0">
                          <a:solidFill>
                            <a:schemeClr val="tx1"/>
                          </a:solidFill>
                        </a:rPr>
                        <a:t>dog?</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23" name="Straight Arrow Connector 22">
            <a:extLst>
              <a:ext uri="{FF2B5EF4-FFF2-40B4-BE49-F238E27FC236}">
                <a16:creationId xmlns:a16="http://schemas.microsoft.com/office/drawing/2014/main" id="{0A111319-87FF-3337-CA2C-08974F05318A}"/>
              </a:ext>
            </a:extLst>
          </p:cNvPr>
          <p:cNvCxnSpPr>
            <a:cxnSpLocks/>
          </p:cNvCxnSpPr>
          <p:nvPr/>
        </p:nvCxnSpPr>
        <p:spPr>
          <a:xfrm flipV="1">
            <a:off x="7142340" y="2712110"/>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8FF4555F-6035-AE0F-5AA0-9C7A822C31B9}"/>
              </a:ext>
            </a:extLst>
          </p:cNvPr>
          <p:cNvSpPr txBox="1"/>
          <p:nvPr/>
        </p:nvSpPr>
        <p:spPr>
          <a:xfrm>
            <a:off x="6809450" y="2794114"/>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sp>
        <p:nvSpPr>
          <p:cNvPr id="25" name="Rounded Rectangle 24">
            <a:extLst>
              <a:ext uri="{FF2B5EF4-FFF2-40B4-BE49-F238E27FC236}">
                <a16:creationId xmlns:a16="http://schemas.microsoft.com/office/drawing/2014/main" id="{3FCFD452-B7D1-5FEE-CD34-D6E8CB511149}"/>
              </a:ext>
            </a:extLst>
          </p:cNvPr>
          <p:cNvSpPr/>
          <p:nvPr/>
        </p:nvSpPr>
        <p:spPr>
          <a:xfrm>
            <a:off x="3487818" y="2281416"/>
            <a:ext cx="1729425" cy="941409"/>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CNN</a:t>
            </a:r>
          </a:p>
          <a:p>
            <a:pPr algn="ctr"/>
            <a:r>
              <a:rPr lang="en-US" dirty="0"/>
              <a:t>Encoder</a:t>
            </a:r>
          </a:p>
        </p:txBody>
      </p:sp>
      <p:cxnSp>
        <p:nvCxnSpPr>
          <p:cNvPr id="28" name="Straight Arrow Connector 27">
            <a:extLst>
              <a:ext uri="{FF2B5EF4-FFF2-40B4-BE49-F238E27FC236}">
                <a16:creationId xmlns:a16="http://schemas.microsoft.com/office/drawing/2014/main" id="{BCB443B9-F78D-F075-FB45-B41459A98C00}"/>
              </a:ext>
            </a:extLst>
          </p:cNvPr>
          <p:cNvCxnSpPr>
            <a:cxnSpLocks/>
          </p:cNvCxnSpPr>
          <p:nvPr/>
        </p:nvCxnSpPr>
        <p:spPr>
          <a:xfrm>
            <a:off x="5085596" y="3301626"/>
            <a:ext cx="381263" cy="737399"/>
          </a:xfrm>
          <a:prstGeom prst="straightConnector1">
            <a:avLst/>
          </a:prstGeom>
          <a:ln w="19050"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36" name="Picture 35">
            <a:extLst>
              <a:ext uri="{FF2B5EF4-FFF2-40B4-BE49-F238E27FC236}">
                <a16:creationId xmlns:a16="http://schemas.microsoft.com/office/drawing/2014/main" id="{B792A52B-AA93-4935-B428-E67CEAF9D02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38200" y="2005114"/>
            <a:ext cx="1537048" cy="1494011"/>
          </a:xfrm>
          <a:prstGeom prst="rect">
            <a:avLst/>
          </a:prstGeom>
          <a:ln>
            <a:solidFill>
              <a:schemeClr val="tx1"/>
            </a:solidFill>
          </a:ln>
        </p:spPr>
      </p:pic>
      <p:sp>
        <p:nvSpPr>
          <p:cNvPr id="37" name="TextBox 36">
            <a:extLst>
              <a:ext uri="{FF2B5EF4-FFF2-40B4-BE49-F238E27FC236}">
                <a16:creationId xmlns:a16="http://schemas.microsoft.com/office/drawing/2014/main" id="{C0B6A6E3-B045-05C5-CC39-277E6F228807}"/>
              </a:ext>
            </a:extLst>
          </p:cNvPr>
          <p:cNvSpPr txBox="1"/>
          <p:nvPr/>
        </p:nvSpPr>
        <p:spPr>
          <a:xfrm>
            <a:off x="4842254" y="3397487"/>
            <a:ext cx="200706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update weights </a:t>
            </a:r>
          </a:p>
          <a:p>
            <a:pPr algn="ctr"/>
            <a:r>
              <a:rPr lang="en-US" sz="1200" dirty="0">
                <a:latin typeface="Times New Roman" panose="02020603050405020304" pitchFamily="18" charset="0"/>
                <a:cs typeface="Times New Roman" panose="02020603050405020304" pitchFamily="18" charset="0"/>
              </a:rPr>
              <a:t>for new task</a:t>
            </a:r>
          </a:p>
        </p:txBody>
      </p:sp>
    </p:spTree>
    <p:extLst>
      <p:ext uri="{BB962C8B-B14F-4D97-AF65-F5344CB8AC3E}">
        <p14:creationId xmlns:p14="http://schemas.microsoft.com/office/powerpoint/2010/main" val="28429284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DD5B3-4CC8-EEF6-B354-9139E13505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C661F-D135-0856-685D-99AEAFE8084D}"/>
              </a:ext>
            </a:extLst>
          </p:cNvPr>
          <p:cNvSpPr>
            <a:spLocks noGrp="1"/>
          </p:cNvSpPr>
          <p:nvPr>
            <p:ph type="title"/>
          </p:nvPr>
        </p:nvSpPr>
        <p:spPr>
          <a:xfrm>
            <a:off x="831849" y="1709738"/>
            <a:ext cx="10619921" cy="2852737"/>
          </a:xfrm>
        </p:spPr>
        <p:txBody>
          <a:bodyPr/>
          <a:lstStyle/>
          <a:p>
            <a:r>
              <a:rPr lang="en-US" dirty="0"/>
              <a:t>Task-agnostic, single-modality AI</a:t>
            </a:r>
          </a:p>
        </p:txBody>
      </p:sp>
      <p:sp>
        <p:nvSpPr>
          <p:cNvPr id="3" name="Text Placeholder 2">
            <a:extLst>
              <a:ext uri="{FF2B5EF4-FFF2-40B4-BE49-F238E27FC236}">
                <a16:creationId xmlns:a16="http://schemas.microsoft.com/office/drawing/2014/main" id="{337CEC3C-B16D-6ECD-715F-666DAFAD556A}"/>
              </a:ext>
            </a:extLst>
          </p:cNvPr>
          <p:cNvSpPr>
            <a:spLocks noGrp="1"/>
          </p:cNvSpPr>
          <p:nvPr>
            <p:ph type="body" idx="1"/>
          </p:nvPr>
        </p:nvSpPr>
        <p:spPr/>
        <p:txBody>
          <a:bodyPr/>
          <a:lstStyle/>
          <a:p>
            <a:r>
              <a:rPr lang="en-US" dirty="0"/>
              <a:t>Image processing</a:t>
            </a:r>
          </a:p>
          <a:p>
            <a:r>
              <a:rPr lang="en-US" dirty="0"/>
              <a:t>Natural language processing</a:t>
            </a:r>
          </a:p>
          <a:p>
            <a:r>
              <a:rPr lang="en-US" dirty="0"/>
              <a:t>Structured data processing</a:t>
            </a:r>
          </a:p>
        </p:txBody>
      </p:sp>
    </p:spTree>
    <p:extLst>
      <p:ext uri="{BB962C8B-B14F-4D97-AF65-F5344CB8AC3E}">
        <p14:creationId xmlns:p14="http://schemas.microsoft.com/office/powerpoint/2010/main" val="3653457339"/>
      </p:ext>
    </p:extLst>
  </p:cSld>
  <p:clrMapOvr>
    <a:masterClrMapping/>
  </p:clrMapOvr>
  <mc:AlternateContent xmlns:mc="http://schemas.openxmlformats.org/markup-compatibility/2006" xmlns:p14="http://schemas.microsoft.com/office/powerpoint/2010/main">
    <mc:Choice Requires="p14">
      <p:transition spd="slow" p14:dur="2000" advTm="13618"/>
    </mc:Choice>
    <mc:Fallback xmlns="">
      <p:transition spd="slow" advTm="13618"/>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727A2-4A7B-0D9A-6202-CD56057E0BAB}"/>
              </a:ext>
            </a:extLst>
          </p:cNvPr>
          <p:cNvSpPr>
            <a:spLocks noGrp="1"/>
          </p:cNvSpPr>
          <p:nvPr>
            <p:ph type="title"/>
          </p:nvPr>
        </p:nvSpPr>
        <p:spPr/>
        <p:txBody>
          <a:bodyPr/>
          <a:lstStyle/>
          <a:p>
            <a:r>
              <a:rPr lang="en-US" dirty="0"/>
              <a:t>Self-supervision: predict the missing </a:t>
            </a:r>
            <a:r>
              <a:rPr lang="en-US" i="1" dirty="0"/>
              <a:t>patch</a:t>
            </a:r>
          </a:p>
        </p:txBody>
      </p:sp>
      <p:sp>
        <p:nvSpPr>
          <p:cNvPr id="3" name="Content Placeholder 2">
            <a:extLst>
              <a:ext uri="{FF2B5EF4-FFF2-40B4-BE49-F238E27FC236}">
                <a16:creationId xmlns:a16="http://schemas.microsoft.com/office/drawing/2014/main" id="{43CD0833-9347-685B-0CF8-3ED62B271D05}"/>
              </a:ext>
            </a:extLst>
          </p:cNvPr>
          <p:cNvSpPr>
            <a:spLocks noGrp="1"/>
          </p:cNvSpPr>
          <p:nvPr>
            <p:ph idx="1"/>
          </p:nvPr>
        </p:nvSpPr>
        <p:spPr>
          <a:xfrm>
            <a:off x="838200" y="5243331"/>
            <a:ext cx="10515600" cy="933631"/>
          </a:xfrm>
        </p:spPr>
        <p:txBody>
          <a:bodyPr/>
          <a:lstStyle/>
          <a:p>
            <a:pPr marL="0" indent="0">
              <a:buNone/>
            </a:pPr>
            <a:r>
              <a:rPr lang="en-US" dirty="0"/>
              <a:t>Filling in the blank – or identifying the correct completion – requires an understanding of fundoscopic images</a:t>
            </a:r>
          </a:p>
        </p:txBody>
      </p:sp>
      <p:pic>
        <p:nvPicPr>
          <p:cNvPr id="4" name="Picture 3">
            <a:extLst>
              <a:ext uri="{FF2B5EF4-FFF2-40B4-BE49-F238E27FC236}">
                <a16:creationId xmlns:a16="http://schemas.microsoft.com/office/drawing/2014/main" id="{C15AA961-B7AA-7B3B-E782-1A07DDEEEBE0}"/>
              </a:ext>
            </a:extLst>
          </p:cNvPr>
          <p:cNvPicPr>
            <a:picLocks noChangeAspect="1"/>
          </p:cNvPicPr>
          <p:nvPr/>
        </p:nvPicPr>
        <p:blipFill>
          <a:blip r:embed="rId3"/>
          <a:stretch>
            <a:fillRect/>
          </a:stretch>
        </p:blipFill>
        <p:spPr>
          <a:xfrm>
            <a:off x="1645906" y="1833726"/>
            <a:ext cx="2834383" cy="2902136"/>
          </a:xfrm>
          <a:prstGeom prst="rect">
            <a:avLst/>
          </a:prstGeom>
        </p:spPr>
      </p:pic>
      <p:sp>
        <p:nvSpPr>
          <p:cNvPr id="5" name="Rectangle 4">
            <a:extLst>
              <a:ext uri="{FF2B5EF4-FFF2-40B4-BE49-F238E27FC236}">
                <a16:creationId xmlns:a16="http://schemas.microsoft.com/office/drawing/2014/main" id="{1FAC45E6-A780-0271-F72E-ADB608676D69}"/>
              </a:ext>
            </a:extLst>
          </p:cNvPr>
          <p:cNvSpPr/>
          <p:nvPr/>
        </p:nvSpPr>
        <p:spPr>
          <a:xfrm>
            <a:off x="3252486" y="2870522"/>
            <a:ext cx="891251" cy="8796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B5C4B75-BE2E-72C7-A637-DB25C86F4250}"/>
              </a:ext>
            </a:extLst>
          </p:cNvPr>
          <p:cNvPicPr>
            <a:picLocks noChangeAspect="1"/>
          </p:cNvPicPr>
          <p:nvPr/>
        </p:nvPicPr>
        <p:blipFill>
          <a:blip r:embed="rId3"/>
          <a:srcRect l="56682" t="35726" r="11874" b="33963"/>
          <a:stretch>
            <a:fillRect/>
          </a:stretch>
        </p:blipFill>
        <p:spPr>
          <a:xfrm>
            <a:off x="5784190" y="2850961"/>
            <a:ext cx="891251" cy="879675"/>
          </a:xfrm>
          <a:prstGeom prst="rect">
            <a:avLst/>
          </a:prstGeom>
        </p:spPr>
      </p:pic>
      <p:pic>
        <p:nvPicPr>
          <p:cNvPr id="3074" name="Picture 2">
            <a:extLst>
              <a:ext uri="{FF2B5EF4-FFF2-40B4-BE49-F238E27FC236}">
                <a16:creationId xmlns:a16="http://schemas.microsoft.com/office/drawing/2014/main" id="{2FD16960-052D-64A3-EAF8-BAEF30B456E1}"/>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a:fillRect/>
          </a:stretch>
        </p:blipFill>
        <p:spPr bwMode="auto">
          <a:xfrm flipH="1">
            <a:off x="5784190" y="1833726"/>
            <a:ext cx="891250" cy="8796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318F53B0-5A55-9FDE-EA67-D788E067650F}"/>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a:fillRect/>
          </a:stretch>
        </p:blipFill>
        <p:spPr bwMode="auto">
          <a:xfrm>
            <a:off x="5784190" y="3856187"/>
            <a:ext cx="891251" cy="879675"/>
          </a:xfrm>
          <a:prstGeom prst="rect">
            <a:avLst/>
          </a:prstGeom>
          <a:noFill/>
          <a:extLst>
            <a:ext uri="{909E8E84-426E-40DD-AFC4-6F175D3DCCD1}">
              <a14:hiddenFill xmlns:a14="http://schemas.microsoft.com/office/drawing/2010/main">
                <a:solidFill>
                  <a:srgbClr val="FFFFFF"/>
                </a:solidFill>
              </a14:hiddenFill>
            </a:ext>
          </a:extLst>
        </p:spPr>
      </p:pic>
      <p:sp>
        <p:nvSpPr>
          <p:cNvPr id="8" name="Right Brace 7">
            <a:extLst>
              <a:ext uri="{FF2B5EF4-FFF2-40B4-BE49-F238E27FC236}">
                <a16:creationId xmlns:a16="http://schemas.microsoft.com/office/drawing/2014/main" id="{EA339234-3C57-B631-EA8C-94331EAB13BC}"/>
              </a:ext>
            </a:extLst>
          </p:cNvPr>
          <p:cNvSpPr/>
          <p:nvPr/>
        </p:nvSpPr>
        <p:spPr>
          <a:xfrm>
            <a:off x="6936058" y="1833726"/>
            <a:ext cx="485723" cy="2902136"/>
          </a:xfrm>
          <a:prstGeom prst="rightBrace">
            <a:avLst/>
          </a:prstGeom>
          <a:ln w="3810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842CA802-6BCA-3836-7D80-C466D3D1196E}"/>
              </a:ext>
            </a:extLst>
          </p:cNvPr>
          <p:cNvSpPr txBox="1">
            <a:spLocks/>
          </p:cNvSpPr>
          <p:nvPr/>
        </p:nvSpPr>
        <p:spPr>
          <a:xfrm>
            <a:off x="7682398" y="3085772"/>
            <a:ext cx="3601844" cy="44917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Which is correct?</a:t>
            </a:r>
          </a:p>
        </p:txBody>
      </p:sp>
    </p:spTree>
    <p:extLst>
      <p:ext uri="{BB962C8B-B14F-4D97-AF65-F5344CB8AC3E}">
        <p14:creationId xmlns:p14="http://schemas.microsoft.com/office/powerpoint/2010/main" val="526277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4927A-513F-ED78-BEDD-A2424F30F3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93048-E818-3B19-4233-CBABF5CD8A29}"/>
              </a:ext>
            </a:extLst>
          </p:cNvPr>
          <p:cNvSpPr>
            <a:spLocks noGrp="1"/>
          </p:cNvSpPr>
          <p:nvPr>
            <p:ph type="title"/>
          </p:nvPr>
        </p:nvSpPr>
        <p:spPr/>
        <p:txBody>
          <a:bodyPr/>
          <a:lstStyle/>
          <a:p>
            <a:r>
              <a:rPr lang="en-US" dirty="0"/>
              <a:t>Self-supervision: predict the missing </a:t>
            </a:r>
            <a:r>
              <a:rPr lang="en-US" i="1" dirty="0"/>
              <a:t>patch</a:t>
            </a:r>
          </a:p>
        </p:txBody>
      </p:sp>
      <p:sp>
        <p:nvSpPr>
          <p:cNvPr id="3" name="Content Placeholder 2">
            <a:extLst>
              <a:ext uri="{FF2B5EF4-FFF2-40B4-BE49-F238E27FC236}">
                <a16:creationId xmlns:a16="http://schemas.microsoft.com/office/drawing/2014/main" id="{24B66A92-88CE-0EA3-8DD8-1A03D0890F4C}"/>
              </a:ext>
            </a:extLst>
          </p:cNvPr>
          <p:cNvSpPr>
            <a:spLocks noGrp="1"/>
          </p:cNvSpPr>
          <p:nvPr>
            <p:ph idx="1"/>
          </p:nvPr>
        </p:nvSpPr>
        <p:spPr>
          <a:xfrm>
            <a:off x="838200" y="5243331"/>
            <a:ext cx="10515600" cy="933631"/>
          </a:xfrm>
        </p:spPr>
        <p:txBody>
          <a:bodyPr>
            <a:normAutofit/>
          </a:bodyPr>
          <a:lstStyle/>
          <a:p>
            <a:pPr marL="0" indent="0">
              <a:buNone/>
            </a:pPr>
            <a:r>
              <a:rPr lang="en-US" dirty="0"/>
              <a:t>Filling in the blank – or identifying the correct completion – requires an understanding of fundoscopic images </a:t>
            </a:r>
            <a:r>
              <a:rPr lang="en-US" i="1" dirty="0"/>
              <a:t>helpful for many prediction tasks</a:t>
            </a:r>
          </a:p>
        </p:txBody>
      </p:sp>
      <p:pic>
        <p:nvPicPr>
          <p:cNvPr id="4" name="Picture 3">
            <a:extLst>
              <a:ext uri="{FF2B5EF4-FFF2-40B4-BE49-F238E27FC236}">
                <a16:creationId xmlns:a16="http://schemas.microsoft.com/office/drawing/2014/main" id="{70823498-D323-D438-B44D-F4F2E69C829A}"/>
              </a:ext>
            </a:extLst>
          </p:cNvPr>
          <p:cNvPicPr>
            <a:picLocks noChangeAspect="1"/>
          </p:cNvPicPr>
          <p:nvPr/>
        </p:nvPicPr>
        <p:blipFill>
          <a:blip r:embed="rId3"/>
          <a:stretch>
            <a:fillRect/>
          </a:stretch>
        </p:blipFill>
        <p:spPr>
          <a:xfrm>
            <a:off x="1645906" y="1833726"/>
            <a:ext cx="2834383" cy="2902136"/>
          </a:xfrm>
          <a:prstGeom prst="rect">
            <a:avLst/>
          </a:prstGeom>
        </p:spPr>
      </p:pic>
      <p:sp>
        <p:nvSpPr>
          <p:cNvPr id="5" name="Rectangle 4">
            <a:extLst>
              <a:ext uri="{FF2B5EF4-FFF2-40B4-BE49-F238E27FC236}">
                <a16:creationId xmlns:a16="http://schemas.microsoft.com/office/drawing/2014/main" id="{EB37A1F5-A3DF-C9C6-486A-1E7901C3B392}"/>
              </a:ext>
            </a:extLst>
          </p:cNvPr>
          <p:cNvSpPr/>
          <p:nvPr/>
        </p:nvSpPr>
        <p:spPr>
          <a:xfrm>
            <a:off x="3252486" y="2870522"/>
            <a:ext cx="891251" cy="8796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10F87BE-D0FE-FDD9-FC7A-AA3F9740ED7B}"/>
              </a:ext>
            </a:extLst>
          </p:cNvPr>
          <p:cNvPicPr>
            <a:picLocks noChangeAspect="1"/>
          </p:cNvPicPr>
          <p:nvPr/>
        </p:nvPicPr>
        <p:blipFill>
          <a:blip r:embed="rId3"/>
          <a:srcRect l="56682" t="35726" r="11874" b="33963"/>
          <a:stretch>
            <a:fillRect/>
          </a:stretch>
        </p:blipFill>
        <p:spPr>
          <a:xfrm>
            <a:off x="10155465" y="2850961"/>
            <a:ext cx="891251" cy="879675"/>
          </a:xfrm>
          <a:prstGeom prst="rect">
            <a:avLst/>
          </a:prstGeom>
        </p:spPr>
      </p:pic>
      <p:pic>
        <p:nvPicPr>
          <p:cNvPr id="3074" name="Picture 2">
            <a:extLst>
              <a:ext uri="{FF2B5EF4-FFF2-40B4-BE49-F238E27FC236}">
                <a16:creationId xmlns:a16="http://schemas.microsoft.com/office/drawing/2014/main" id="{5F5251A4-1BBE-7691-3ED1-477F75B9C826}"/>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a:fillRect/>
          </a:stretch>
        </p:blipFill>
        <p:spPr bwMode="auto">
          <a:xfrm flipH="1">
            <a:off x="10155465" y="1833726"/>
            <a:ext cx="891250" cy="8796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AEF92348-3855-1EF9-C586-690C0C87EFF6}"/>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a:fillRect/>
          </a:stretch>
        </p:blipFill>
        <p:spPr bwMode="auto">
          <a:xfrm>
            <a:off x="10155465" y="3856187"/>
            <a:ext cx="891251" cy="87967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662BE3C1-BF11-5FCC-E68F-6B078EB61E31}"/>
              </a:ext>
            </a:extLst>
          </p:cNvPr>
          <p:cNvCxnSpPr>
            <a:cxnSpLocks/>
          </p:cNvCxnSpPr>
          <p:nvPr/>
        </p:nvCxnSpPr>
        <p:spPr>
          <a:xfrm>
            <a:off x="4560849" y="3310358"/>
            <a:ext cx="58456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E1D9D762-8FD8-1B70-8469-6FBB6308E21B}"/>
              </a:ext>
            </a:extLst>
          </p:cNvPr>
          <p:cNvCxnSpPr>
            <a:cxnSpLocks/>
          </p:cNvCxnSpPr>
          <p:nvPr/>
        </p:nvCxnSpPr>
        <p:spPr>
          <a:xfrm>
            <a:off x="6473396" y="3310358"/>
            <a:ext cx="65223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aphicFrame>
        <p:nvGraphicFramePr>
          <p:cNvPr id="11" name="Table 13">
            <a:extLst>
              <a:ext uri="{FF2B5EF4-FFF2-40B4-BE49-F238E27FC236}">
                <a16:creationId xmlns:a16="http://schemas.microsoft.com/office/drawing/2014/main" id="{DDF9F1B6-C048-1C65-0FD3-C660DFA75D66}"/>
              </a:ext>
            </a:extLst>
          </p:cNvPr>
          <p:cNvGraphicFramePr>
            <a:graphicFrameLocks noGrp="1"/>
          </p:cNvGraphicFramePr>
          <p:nvPr>
            <p:extLst>
              <p:ext uri="{D42A27DB-BD31-4B8C-83A1-F6EECF244321}">
                <p14:modId xmlns:p14="http://schemas.microsoft.com/office/powerpoint/2010/main" val="1829702375"/>
              </p:ext>
            </p:extLst>
          </p:nvPr>
        </p:nvGraphicFramePr>
        <p:xfrm>
          <a:off x="7270484" y="2003822"/>
          <a:ext cx="442976" cy="2613072"/>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8723533"/>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729035"/>
                  </a:ext>
                </a:extLst>
              </a:tr>
            </a:tbl>
          </a:graphicData>
        </a:graphic>
      </p:graphicFrame>
      <p:sp>
        <p:nvSpPr>
          <p:cNvPr id="12" name="Rounded Rectangle 11">
            <a:extLst>
              <a:ext uri="{FF2B5EF4-FFF2-40B4-BE49-F238E27FC236}">
                <a16:creationId xmlns:a16="http://schemas.microsoft.com/office/drawing/2014/main" id="{DC2FD257-655C-7942-FD8C-049CFADAD24B}"/>
              </a:ext>
            </a:extLst>
          </p:cNvPr>
          <p:cNvSpPr/>
          <p:nvPr/>
        </p:nvSpPr>
        <p:spPr>
          <a:xfrm>
            <a:off x="5253010" y="2839654"/>
            <a:ext cx="1136639" cy="941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CNN</a:t>
            </a:r>
          </a:p>
          <a:p>
            <a:pPr algn="ctr"/>
            <a:r>
              <a:rPr lang="en-US" dirty="0"/>
              <a:t>Encoder</a:t>
            </a:r>
          </a:p>
        </p:txBody>
      </p:sp>
      <p:pic>
        <p:nvPicPr>
          <p:cNvPr id="16" name="Picture 15">
            <a:extLst>
              <a:ext uri="{FF2B5EF4-FFF2-40B4-BE49-F238E27FC236}">
                <a16:creationId xmlns:a16="http://schemas.microsoft.com/office/drawing/2014/main" id="{CB389983-7922-3C42-BA42-EB0775AA00E2}"/>
              </a:ext>
            </a:extLst>
          </p:cNvPr>
          <p:cNvPicPr>
            <a:picLocks noChangeAspect="1"/>
          </p:cNvPicPr>
          <p:nvPr/>
        </p:nvPicPr>
        <p:blipFill>
          <a:blip r:embed="rId6"/>
          <a:stretch>
            <a:fillRect/>
          </a:stretch>
        </p:blipFill>
        <p:spPr>
          <a:xfrm>
            <a:off x="9321234" y="1833726"/>
            <a:ext cx="160710" cy="879675"/>
          </a:xfrm>
          <a:prstGeom prst="rect">
            <a:avLst/>
          </a:prstGeom>
        </p:spPr>
      </p:pic>
      <p:pic>
        <p:nvPicPr>
          <p:cNvPr id="17" name="Picture 16">
            <a:extLst>
              <a:ext uri="{FF2B5EF4-FFF2-40B4-BE49-F238E27FC236}">
                <a16:creationId xmlns:a16="http://schemas.microsoft.com/office/drawing/2014/main" id="{89F1708E-0454-39D6-F8E5-A052CD84F87F}"/>
              </a:ext>
            </a:extLst>
          </p:cNvPr>
          <p:cNvPicPr>
            <a:picLocks noChangeAspect="1"/>
          </p:cNvPicPr>
          <p:nvPr/>
        </p:nvPicPr>
        <p:blipFill>
          <a:blip r:embed="rId6"/>
          <a:stretch>
            <a:fillRect/>
          </a:stretch>
        </p:blipFill>
        <p:spPr>
          <a:xfrm>
            <a:off x="9321234" y="2855497"/>
            <a:ext cx="160710" cy="879675"/>
          </a:xfrm>
          <a:prstGeom prst="rect">
            <a:avLst/>
          </a:prstGeom>
        </p:spPr>
      </p:pic>
      <p:pic>
        <p:nvPicPr>
          <p:cNvPr id="18" name="Picture 17">
            <a:extLst>
              <a:ext uri="{FF2B5EF4-FFF2-40B4-BE49-F238E27FC236}">
                <a16:creationId xmlns:a16="http://schemas.microsoft.com/office/drawing/2014/main" id="{B11E0C6E-EA54-979E-3F65-C1D6A544A8E1}"/>
              </a:ext>
            </a:extLst>
          </p:cNvPr>
          <p:cNvPicPr>
            <a:picLocks noChangeAspect="1"/>
          </p:cNvPicPr>
          <p:nvPr/>
        </p:nvPicPr>
        <p:blipFill>
          <a:blip r:embed="rId6"/>
          <a:stretch>
            <a:fillRect/>
          </a:stretch>
        </p:blipFill>
        <p:spPr>
          <a:xfrm>
            <a:off x="9321234" y="3877268"/>
            <a:ext cx="160710" cy="879675"/>
          </a:xfrm>
          <a:prstGeom prst="rect">
            <a:avLst/>
          </a:prstGeom>
        </p:spPr>
      </p:pic>
      <p:cxnSp>
        <p:nvCxnSpPr>
          <p:cNvPr id="21" name="Straight Arrow Connector 20">
            <a:extLst>
              <a:ext uri="{FF2B5EF4-FFF2-40B4-BE49-F238E27FC236}">
                <a16:creationId xmlns:a16="http://schemas.microsoft.com/office/drawing/2014/main" id="{69B5A798-710F-E9A7-A03C-81FD60555C49}"/>
              </a:ext>
            </a:extLst>
          </p:cNvPr>
          <p:cNvCxnSpPr>
            <a:cxnSpLocks/>
          </p:cNvCxnSpPr>
          <p:nvPr/>
        </p:nvCxnSpPr>
        <p:spPr>
          <a:xfrm flipH="1">
            <a:off x="9567746" y="4296024"/>
            <a:ext cx="47950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9D1A8602-51C2-464B-99F9-ECB9AA721594}"/>
              </a:ext>
            </a:extLst>
          </p:cNvPr>
          <p:cNvCxnSpPr>
            <a:cxnSpLocks/>
          </p:cNvCxnSpPr>
          <p:nvPr/>
        </p:nvCxnSpPr>
        <p:spPr>
          <a:xfrm flipH="1">
            <a:off x="9567745" y="3310358"/>
            <a:ext cx="47950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533EE5EC-2718-29FE-88EF-67C636CB711E}"/>
              </a:ext>
            </a:extLst>
          </p:cNvPr>
          <p:cNvCxnSpPr>
            <a:cxnSpLocks/>
          </p:cNvCxnSpPr>
          <p:nvPr/>
        </p:nvCxnSpPr>
        <p:spPr>
          <a:xfrm flipH="1">
            <a:off x="9567745" y="2257782"/>
            <a:ext cx="47950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05EA2085-7955-A4A6-2BA6-CFD99265C3DA}"/>
              </a:ext>
            </a:extLst>
          </p:cNvPr>
          <p:cNvCxnSpPr/>
          <p:nvPr/>
        </p:nvCxnSpPr>
        <p:spPr>
          <a:xfrm flipV="1">
            <a:off x="7950820" y="2273563"/>
            <a:ext cx="1170878" cy="72611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Connector 28">
            <a:extLst>
              <a:ext uri="{FF2B5EF4-FFF2-40B4-BE49-F238E27FC236}">
                <a16:creationId xmlns:a16="http://schemas.microsoft.com/office/drawing/2014/main" id="{99984A5A-790E-9512-9C36-BADB02017EE7}"/>
              </a:ext>
            </a:extLst>
          </p:cNvPr>
          <p:cNvCxnSpPr>
            <a:cxnSpLocks/>
          </p:cNvCxnSpPr>
          <p:nvPr/>
        </p:nvCxnSpPr>
        <p:spPr>
          <a:xfrm>
            <a:off x="7988131" y="3329612"/>
            <a:ext cx="1065012"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0" name="Straight Connector 29">
            <a:extLst>
              <a:ext uri="{FF2B5EF4-FFF2-40B4-BE49-F238E27FC236}">
                <a16:creationId xmlns:a16="http://schemas.microsoft.com/office/drawing/2014/main" id="{DF455118-2841-EDA1-FDD5-A08CA190B6F1}"/>
              </a:ext>
            </a:extLst>
          </p:cNvPr>
          <p:cNvCxnSpPr>
            <a:cxnSpLocks/>
          </p:cNvCxnSpPr>
          <p:nvPr/>
        </p:nvCxnSpPr>
        <p:spPr>
          <a:xfrm>
            <a:off x="7931908" y="3659547"/>
            <a:ext cx="1236926" cy="65755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3" name="TextBox 32">
            <a:extLst>
              <a:ext uri="{FF2B5EF4-FFF2-40B4-BE49-F238E27FC236}">
                <a16:creationId xmlns:a16="http://schemas.microsoft.com/office/drawing/2014/main" id="{B6A98200-C1A2-DC1F-1EA9-24032A15504C}"/>
              </a:ext>
            </a:extLst>
          </p:cNvPr>
          <p:cNvSpPr txBox="1"/>
          <p:nvPr/>
        </p:nvSpPr>
        <p:spPr>
          <a:xfrm>
            <a:off x="8042240" y="2987192"/>
            <a:ext cx="1042273" cy="646331"/>
          </a:xfrm>
          <a:prstGeom prst="rect">
            <a:avLst/>
          </a:prstGeom>
          <a:noFill/>
        </p:spPr>
        <p:txBody>
          <a:bodyPr wrap="none" rtlCol="0">
            <a:spAutoFit/>
          </a:bodyPr>
          <a:lstStyle/>
          <a:p>
            <a:r>
              <a:rPr lang="en-US" dirty="0"/>
              <a:t>assess</a:t>
            </a:r>
          </a:p>
          <a:p>
            <a:r>
              <a:rPr lang="en-US" dirty="0"/>
              <a:t>similarity</a:t>
            </a:r>
          </a:p>
        </p:txBody>
      </p:sp>
    </p:spTree>
    <p:extLst>
      <p:ext uri="{BB962C8B-B14F-4D97-AF65-F5344CB8AC3E}">
        <p14:creationId xmlns:p14="http://schemas.microsoft.com/office/powerpoint/2010/main" val="9755351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34A63-8FD9-C21E-CD3C-B45A2D70C3B6}"/>
              </a:ext>
            </a:extLst>
          </p:cNvPr>
          <p:cNvSpPr>
            <a:spLocks noGrp="1"/>
          </p:cNvSpPr>
          <p:nvPr>
            <p:ph type="title"/>
          </p:nvPr>
        </p:nvSpPr>
        <p:spPr>
          <a:xfrm>
            <a:off x="838200" y="365126"/>
            <a:ext cx="10515600" cy="799282"/>
          </a:xfrm>
        </p:spPr>
        <p:txBody>
          <a:bodyPr>
            <a:normAutofit fontScale="90000"/>
          </a:bodyPr>
          <a:lstStyle/>
          <a:p>
            <a:r>
              <a:rPr lang="en-US" dirty="0"/>
              <a:t>Self-supervision: predict the next </a:t>
            </a:r>
            <a:r>
              <a:rPr lang="en-US" i="1" dirty="0"/>
              <a:t>word</a:t>
            </a:r>
            <a:r>
              <a:rPr lang="en-US" dirty="0"/>
              <a:t> or </a:t>
            </a:r>
            <a:r>
              <a:rPr lang="en-US" i="1" dirty="0"/>
              <a:t>event</a:t>
            </a:r>
          </a:p>
        </p:txBody>
      </p:sp>
      <p:sp>
        <p:nvSpPr>
          <p:cNvPr id="5" name="Left Brace 4">
            <a:extLst>
              <a:ext uri="{FF2B5EF4-FFF2-40B4-BE49-F238E27FC236}">
                <a16:creationId xmlns:a16="http://schemas.microsoft.com/office/drawing/2014/main" id="{8A568960-EECE-6A43-175C-7D9DE7AE1545}"/>
              </a:ext>
            </a:extLst>
          </p:cNvPr>
          <p:cNvSpPr/>
          <p:nvPr/>
        </p:nvSpPr>
        <p:spPr>
          <a:xfrm rot="16200000">
            <a:off x="5744815" y="987034"/>
            <a:ext cx="350344" cy="4671292"/>
          </a:xfrm>
          <a:prstGeom prst="leftBrace">
            <a:avLst>
              <a:gd name="adj1" fmla="val 8333"/>
              <a:gd name="adj2" fmla="val 2456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797" dirty="0"/>
          </a:p>
        </p:txBody>
      </p:sp>
      <p:sp>
        <p:nvSpPr>
          <p:cNvPr id="6" name="TextBox 5">
            <a:extLst>
              <a:ext uri="{FF2B5EF4-FFF2-40B4-BE49-F238E27FC236}">
                <a16:creationId xmlns:a16="http://schemas.microsoft.com/office/drawing/2014/main" id="{AF1E3496-EFD8-32E1-9C20-97E255D9CBF2}"/>
              </a:ext>
            </a:extLst>
          </p:cNvPr>
          <p:cNvSpPr txBox="1"/>
          <p:nvPr/>
        </p:nvSpPr>
        <p:spPr>
          <a:xfrm>
            <a:off x="4547838" y="3510632"/>
            <a:ext cx="3524106" cy="522772"/>
          </a:xfrm>
          <a:prstGeom prst="rect">
            <a:avLst/>
          </a:prstGeom>
          <a:noFill/>
        </p:spPr>
        <p:txBody>
          <a:bodyPr wrap="square" rtlCol="0">
            <a:spAutoFit/>
          </a:bodyPr>
          <a:lstStyle/>
          <a:p>
            <a:r>
              <a:rPr lang="en-US" sz="2797" i="1" dirty="0">
                <a:latin typeface="Times New Roman" panose="02020603050405020304" pitchFamily="18" charset="0"/>
                <a:cs typeface="Times New Roman" panose="02020603050405020304" pitchFamily="18" charset="0"/>
              </a:rPr>
              <a:t>x</a:t>
            </a:r>
            <a:r>
              <a:rPr lang="en-US" sz="2797" dirty="0">
                <a:latin typeface="Times New Roman" panose="02020603050405020304" pitchFamily="18" charset="0"/>
                <a:cs typeface="Times New Roman" panose="02020603050405020304" pitchFamily="18" charset="0"/>
              </a:rPr>
              <a:t>, conversation history</a:t>
            </a:r>
          </a:p>
        </p:txBody>
      </p:sp>
      <p:sp>
        <p:nvSpPr>
          <p:cNvPr id="7" name="TextBox 6">
            <a:extLst>
              <a:ext uri="{FF2B5EF4-FFF2-40B4-BE49-F238E27FC236}">
                <a16:creationId xmlns:a16="http://schemas.microsoft.com/office/drawing/2014/main" id="{13CB3C25-9FE2-D7D8-0811-A401B3C11D50}"/>
              </a:ext>
            </a:extLst>
          </p:cNvPr>
          <p:cNvSpPr txBox="1"/>
          <p:nvPr/>
        </p:nvSpPr>
        <p:spPr>
          <a:xfrm>
            <a:off x="9296889" y="2696156"/>
            <a:ext cx="2162045" cy="522772"/>
          </a:xfrm>
          <a:prstGeom prst="rect">
            <a:avLst/>
          </a:prstGeom>
          <a:noFill/>
        </p:spPr>
        <p:txBody>
          <a:bodyPr wrap="square" rtlCol="0">
            <a:spAutoFit/>
          </a:bodyPr>
          <a:lstStyle/>
          <a:p>
            <a:r>
              <a:rPr lang="en-US" sz="2797" i="1" dirty="0">
                <a:latin typeface="Times New Roman" panose="02020603050405020304" pitchFamily="18" charset="0"/>
                <a:cs typeface="Times New Roman" panose="02020603050405020304" pitchFamily="18" charset="0"/>
              </a:rPr>
              <a:t>y</a:t>
            </a:r>
            <a:r>
              <a:rPr lang="en-US" sz="2797" dirty="0">
                <a:latin typeface="Times New Roman" panose="02020603050405020304" pitchFamily="18" charset="0"/>
                <a:cs typeface="Times New Roman" panose="02020603050405020304" pitchFamily="18" charset="0"/>
              </a:rPr>
              <a:t>, next word</a:t>
            </a:r>
          </a:p>
        </p:txBody>
      </p:sp>
      <p:graphicFrame>
        <p:nvGraphicFramePr>
          <p:cNvPr id="8" name="Table 7">
            <a:extLst>
              <a:ext uri="{FF2B5EF4-FFF2-40B4-BE49-F238E27FC236}">
                <a16:creationId xmlns:a16="http://schemas.microsoft.com/office/drawing/2014/main" id="{E2E1580D-2F4C-D639-194B-514F0EA28E0F}"/>
              </a:ext>
            </a:extLst>
          </p:cNvPr>
          <p:cNvGraphicFramePr>
            <a:graphicFrameLocks noGrp="1"/>
          </p:cNvGraphicFramePr>
          <p:nvPr/>
        </p:nvGraphicFramePr>
        <p:xfrm>
          <a:off x="9120271" y="1988303"/>
          <a:ext cx="723031"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tblGrid>
              <a:tr h="7078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9" name="Straight Arrow Connector 8">
            <a:extLst>
              <a:ext uri="{FF2B5EF4-FFF2-40B4-BE49-F238E27FC236}">
                <a16:creationId xmlns:a16="http://schemas.microsoft.com/office/drawing/2014/main" id="{243B2ACD-94FF-120D-3078-3D6F98A1A8EA}"/>
              </a:ext>
            </a:extLst>
          </p:cNvPr>
          <p:cNvCxnSpPr>
            <a:cxnSpLocks/>
            <a:endCxn id="8" idx="1"/>
          </p:cNvCxnSpPr>
          <p:nvPr/>
        </p:nvCxnSpPr>
        <p:spPr>
          <a:xfrm>
            <a:off x="8255634" y="2342229"/>
            <a:ext cx="86463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Left Brace 13">
            <a:extLst>
              <a:ext uri="{FF2B5EF4-FFF2-40B4-BE49-F238E27FC236}">
                <a16:creationId xmlns:a16="http://schemas.microsoft.com/office/drawing/2014/main" id="{5AA9705D-A4AB-AA8E-09C8-7EC39E6A9A64}"/>
              </a:ext>
            </a:extLst>
          </p:cNvPr>
          <p:cNvSpPr/>
          <p:nvPr/>
        </p:nvSpPr>
        <p:spPr>
          <a:xfrm rot="16200000">
            <a:off x="6089301" y="4217324"/>
            <a:ext cx="350344" cy="3238291"/>
          </a:xfrm>
          <a:prstGeom prst="leftBrace">
            <a:avLst>
              <a:gd name="adj1" fmla="val 8333"/>
              <a:gd name="adj2" fmla="val 2456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797" dirty="0"/>
          </a:p>
        </p:txBody>
      </p:sp>
      <p:sp>
        <p:nvSpPr>
          <p:cNvPr id="15" name="TextBox 14">
            <a:extLst>
              <a:ext uri="{FF2B5EF4-FFF2-40B4-BE49-F238E27FC236}">
                <a16:creationId xmlns:a16="http://schemas.microsoft.com/office/drawing/2014/main" id="{C1AACD68-00E6-9F4B-FDC1-7414A509C3D3}"/>
              </a:ext>
            </a:extLst>
          </p:cNvPr>
          <p:cNvSpPr txBox="1"/>
          <p:nvPr/>
        </p:nvSpPr>
        <p:spPr>
          <a:xfrm>
            <a:off x="5283263" y="6002424"/>
            <a:ext cx="3524106" cy="522772"/>
          </a:xfrm>
          <a:prstGeom prst="rect">
            <a:avLst/>
          </a:prstGeom>
          <a:noFill/>
        </p:spPr>
        <p:txBody>
          <a:bodyPr wrap="square" rtlCol="0">
            <a:spAutoFit/>
          </a:bodyPr>
          <a:lstStyle/>
          <a:p>
            <a:r>
              <a:rPr lang="en-US" sz="2797" i="1" dirty="0">
                <a:latin typeface="Times New Roman" panose="02020603050405020304" pitchFamily="18" charset="0"/>
                <a:cs typeface="Times New Roman" panose="02020603050405020304" pitchFamily="18" charset="0"/>
              </a:rPr>
              <a:t>x</a:t>
            </a:r>
            <a:r>
              <a:rPr lang="en-US" sz="2797" dirty="0">
                <a:latin typeface="Times New Roman" panose="02020603050405020304" pitchFamily="18" charset="0"/>
                <a:cs typeface="Times New Roman" panose="02020603050405020304" pitchFamily="18" charset="0"/>
              </a:rPr>
              <a:t>, EHR event history</a:t>
            </a:r>
          </a:p>
        </p:txBody>
      </p:sp>
      <p:sp>
        <p:nvSpPr>
          <p:cNvPr id="16" name="TextBox 15">
            <a:extLst>
              <a:ext uri="{FF2B5EF4-FFF2-40B4-BE49-F238E27FC236}">
                <a16:creationId xmlns:a16="http://schemas.microsoft.com/office/drawing/2014/main" id="{F201E0A1-C78D-FA32-4FE4-7AE9F7E2C2CB}"/>
              </a:ext>
            </a:extLst>
          </p:cNvPr>
          <p:cNvSpPr txBox="1"/>
          <p:nvPr/>
        </p:nvSpPr>
        <p:spPr>
          <a:xfrm>
            <a:off x="9296889" y="5372752"/>
            <a:ext cx="2162045" cy="522772"/>
          </a:xfrm>
          <a:prstGeom prst="rect">
            <a:avLst/>
          </a:prstGeom>
          <a:noFill/>
        </p:spPr>
        <p:txBody>
          <a:bodyPr wrap="square" rtlCol="0">
            <a:spAutoFit/>
          </a:bodyPr>
          <a:lstStyle/>
          <a:p>
            <a:r>
              <a:rPr lang="en-US" sz="2797" i="1" dirty="0">
                <a:latin typeface="Times New Roman" panose="02020603050405020304" pitchFamily="18" charset="0"/>
                <a:cs typeface="Times New Roman" panose="02020603050405020304" pitchFamily="18" charset="0"/>
              </a:rPr>
              <a:t>y</a:t>
            </a:r>
            <a:r>
              <a:rPr lang="en-US" sz="2797" dirty="0">
                <a:latin typeface="Times New Roman" panose="02020603050405020304" pitchFamily="18" charset="0"/>
                <a:cs typeface="Times New Roman" panose="02020603050405020304" pitchFamily="18" charset="0"/>
              </a:rPr>
              <a:t>, next event</a:t>
            </a:r>
          </a:p>
        </p:txBody>
      </p:sp>
      <p:graphicFrame>
        <p:nvGraphicFramePr>
          <p:cNvPr id="17" name="Table 16">
            <a:extLst>
              <a:ext uri="{FF2B5EF4-FFF2-40B4-BE49-F238E27FC236}">
                <a16:creationId xmlns:a16="http://schemas.microsoft.com/office/drawing/2014/main" id="{FD3A3004-A7A7-76D4-4FB2-10EE3893EB68}"/>
              </a:ext>
            </a:extLst>
          </p:cNvPr>
          <p:cNvGraphicFramePr>
            <a:graphicFrameLocks noGrp="1"/>
          </p:cNvGraphicFramePr>
          <p:nvPr/>
        </p:nvGraphicFramePr>
        <p:xfrm>
          <a:off x="9120271" y="4664899"/>
          <a:ext cx="723031"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tblGrid>
              <a:tr h="7078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8" name="Straight Arrow Connector 17">
            <a:extLst>
              <a:ext uri="{FF2B5EF4-FFF2-40B4-BE49-F238E27FC236}">
                <a16:creationId xmlns:a16="http://schemas.microsoft.com/office/drawing/2014/main" id="{ED57E532-A849-4743-E43C-5EBA9E27742E}"/>
              </a:ext>
            </a:extLst>
          </p:cNvPr>
          <p:cNvCxnSpPr>
            <a:cxnSpLocks/>
            <a:stCxn id="3076" idx="3"/>
            <a:endCxn id="17" idx="1"/>
          </p:cNvCxnSpPr>
          <p:nvPr/>
        </p:nvCxnSpPr>
        <p:spPr>
          <a:xfrm>
            <a:off x="7883617" y="5018825"/>
            <a:ext cx="123665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3076" name="Picture 4" descr="Generated image">
            <a:extLst>
              <a:ext uri="{FF2B5EF4-FFF2-40B4-BE49-F238E27FC236}">
                <a16:creationId xmlns:a16="http://schemas.microsoft.com/office/drawing/2014/main" id="{909066AB-878E-79BC-84D8-7FB596A25F29}"/>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a:fillRect/>
          </a:stretch>
        </p:blipFill>
        <p:spPr bwMode="auto">
          <a:xfrm>
            <a:off x="4645327" y="4335295"/>
            <a:ext cx="3238290" cy="1367059"/>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B97B0A7C-508C-B4DF-1A16-20D810687329}"/>
              </a:ext>
            </a:extLst>
          </p:cNvPr>
          <p:cNvSpPr txBox="1"/>
          <p:nvPr/>
        </p:nvSpPr>
        <p:spPr>
          <a:xfrm>
            <a:off x="606973" y="1863872"/>
            <a:ext cx="2321720" cy="3416320"/>
          </a:xfrm>
          <a:prstGeom prst="rect">
            <a:avLst/>
          </a:prstGeom>
          <a:noFill/>
        </p:spPr>
        <p:txBody>
          <a:bodyPr wrap="square" rtlCol="0">
            <a:spAutoFit/>
          </a:bodyPr>
          <a:lstStyle/>
          <a:p>
            <a:r>
              <a:rPr lang="en-US" b="1" dirty="0"/>
              <a:t>EHR Foundation models</a:t>
            </a:r>
          </a:p>
          <a:p>
            <a:endParaRPr lang="en-US" dirty="0"/>
          </a:p>
          <a:p>
            <a:r>
              <a:rPr lang="en-US" u="sng" dirty="0"/>
              <a:t>Intuition</a:t>
            </a:r>
            <a:r>
              <a:rPr lang="en-US" dirty="0"/>
              <a:t>:</a:t>
            </a:r>
          </a:p>
          <a:p>
            <a:endParaRPr lang="en-US" dirty="0"/>
          </a:p>
          <a:p>
            <a:r>
              <a:rPr lang="en-US" dirty="0"/>
              <a:t>Learn representations sufficient to predict the next (or missing) EHR event; these can then be adapted for specific prediction tasks.</a:t>
            </a:r>
          </a:p>
        </p:txBody>
      </p:sp>
      <p:pic>
        <p:nvPicPr>
          <p:cNvPr id="3" name="Picture 2">
            <a:extLst>
              <a:ext uri="{FF2B5EF4-FFF2-40B4-BE49-F238E27FC236}">
                <a16:creationId xmlns:a16="http://schemas.microsoft.com/office/drawing/2014/main" id="{57A75DB4-BDD2-112C-15B5-B5D3DF0B6D68}"/>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3584341" y="1687179"/>
            <a:ext cx="4671292" cy="1434958"/>
          </a:xfrm>
          <a:prstGeom prst="rect">
            <a:avLst/>
          </a:prstGeom>
          <a:ln>
            <a:solidFill>
              <a:schemeClr val="tx1"/>
            </a:solidFill>
          </a:ln>
        </p:spPr>
      </p:pic>
      <p:pic>
        <p:nvPicPr>
          <p:cNvPr id="11" name="Picture 2">
            <a:extLst>
              <a:ext uri="{FF2B5EF4-FFF2-40B4-BE49-F238E27FC236}">
                <a16:creationId xmlns:a16="http://schemas.microsoft.com/office/drawing/2014/main" id="{218B819B-7C49-683A-7EC5-04D694A354C0}"/>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677094" y="1793832"/>
            <a:ext cx="522772" cy="522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48607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335D6-2B66-674B-BDA2-7C707103DF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61C0A-443C-EFFB-E3BF-3BC04E19F10A}"/>
              </a:ext>
            </a:extLst>
          </p:cNvPr>
          <p:cNvSpPr>
            <a:spLocks noGrp="1"/>
          </p:cNvSpPr>
          <p:nvPr>
            <p:ph type="title"/>
          </p:nvPr>
        </p:nvSpPr>
        <p:spPr/>
        <p:txBody>
          <a:bodyPr/>
          <a:lstStyle/>
          <a:p>
            <a:r>
              <a:rPr lang="en-US" dirty="0"/>
              <a:t>Task-specific, multi-modality AI</a:t>
            </a:r>
          </a:p>
        </p:txBody>
      </p:sp>
      <p:sp>
        <p:nvSpPr>
          <p:cNvPr id="3" name="Text Placeholder 2">
            <a:extLst>
              <a:ext uri="{FF2B5EF4-FFF2-40B4-BE49-F238E27FC236}">
                <a16:creationId xmlns:a16="http://schemas.microsoft.com/office/drawing/2014/main" id="{3F4CCEFF-F7B6-074B-EED7-DF4AFA3E30B7}"/>
              </a:ext>
            </a:extLst>
          </p:cNvPr>
          <p:cNvSpPr>
            <a:spLocks noGrp="1"/>
          </p:cNvSpPr>
          <p:nvPr>
            <p:ph type="body" idx="1"/>
          </p:nvPr>
        </p:nvSpPr>
        <p:spPr/>
        <p:txBody>
          <a:bodyPr/>
          <a:lstStyle/>
          <a:p>
            <a:r>
              <a:rPr lang="en-US" dirty="0"/>
              <a:t>Image processing</a:t>
            </a:r>
          </a:p>
          <a:p>
            <a:r>
              <a:rPr lang="en-US" dirty="0"/>
              <a:t>Natural language processing</a:t>
            </a:r>
          </a:p>
          <a:p>
            <a:r>
              <a:rPr lang="en-US" dirty="0"/>
              <a:t>Structured data processing</a:t>
            </a:r>
          </a:p>
        </p:txBody>
      </p:sp>
    </p:spTree>
    <p:extLst>
      <p:ext uri="{BB962C8B-B14F-4D97-AF65-F5344CB8AC3E}">
        <p14:creationId xmlns:p14="http://schemas.microsoft.com/office/powerpoint/2010/main" val="3899585638"/>
      </p:ext>
    </p:extLst>
  </p:cSld>
  <p:clrMapOvr>
    <a:masterClrMapping/>
  </p:clrMapOvr>
  <mc:AlternateContent xmlns:mc="http://schemas.openxmlformats.org/markup-compatibility/2006" xmlns:p14="http://schemas.microsoft.com/office/powerpoint/2010/main">
    <mc:Choice Requires="p14">
      <p:transition spd="slow" p14:dur="2000" advTm="13618"/>
    </mc:Choice>
    <mc:Fallback xmlns="">
      <p:transition spd="slow" advTm="13618"/>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3">
            <a:extLst>
              <a:ext uri="{FF2B5EF4-FFF2-40B4-BE49-F238E27FC236}">
                <a16:creationId xmlns:a16="http://schemas.microsoft.com/office/drawing/2014/main" id="{66DE0EB4-5271-E145-8A0D-9F253C4AA1EA}"/>
              </a:ext>
            </a:extLst>
          </p:cNvPr>
          <p:cNvGraphicFramePr>
            <a:graphicFrameLocks noGrp="1"/>
          </p:cNvGraphicFramePr>
          <p:nvPr/>
        </p:nvGraphicFramePr>
        <p:xfrm>
          <a:off x="7941122" y="260953"/>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cxnSp>
        <p:nvCxnSpPr>
          <p:cNvPr id="32" name="Straight Arrow Connector 31">
            <a:extLst>
              <a:ext uri="{FF2B5EF4-FFF2-40B4-BE49-F238E27FC236}">
                <a16:creationId xmlns:a16="http://schemas.microsoft.com/office/drawing/2014/main" id="{AE1D92D3-E56B-A746-824F-E5BE7353B5A0}"/>
              </a:ext>
            </a:extLst>
          </p:cNvPr>
          <p:cNvCxnSpPr>
            <a:cxnSpLocks/>
          </p:cNvCxnSpPr>
          <p:nvPr/>
        </p:nvCxnSpPr>
        <p:spPr>
          <a:xfrm flipV="1">
            <a:off x="8592055" y="1131977"/>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TextBox 34">
            <a:extLst>
              <a:ext uri="{FF2B5EF4-FFF2-40B4-BE49-F238E27FC236}">
                <a16:creationId xmlns:a16="http://schemas.microsoft.com/office/drawing/2014/main" id="{4D512111-B34C-D745-96B1-4A83D0CAAA5D}"/>
              </a:ext>
            </a:extLst>
          </p:cNvPr>
          <p:cNvSpPr txBox="1"/>
          <p:nvPr/>
        </p:nvSpPr>
        <p:spPr>
          <a:xfrm>
            <a:off x="7461657" y="2027034"/>
            <a:ext cx="1401905"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clinical variables</a:t>
            </a:r>
          </a:p>
        </p:txBody>
      </p:sp>
      <p:sp>
        <p:nvSpPr>
          <p:cNvPr id="14" name="TextBox 13">
            <a:extLst>
              <a:ext uri="{FF2B5EF4-FFF2-40B4-BE49-F238E27FC236}">
                <a16:creationId xmlns:a16="http://schemas.microsoft.com/office/drawing/2014/main" id="{CF9161F2-26BD-1945-9980-E1F4BC9A93EE}"/>
              </a:ext>
            </a:extLst>
          </p:cNvPr>
          <p:cNvSpPr txBox="1"/>
          <p:nvPr/>
        </p:nvSpPr>
        <p:spPr>
          <a:xfrm>
            <a:off x="8259165" y="1136983"/>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graphicFrame>
        <p:nvGraphicFramePr>
          <p:cNvPr id="9" name="Table 13">
            <a:extLst>
              <a:ext uri="{FF2B5EF4-FFF2-40B4-BE49-F238E27FC236}">
                <a16:creationId xmlns:a16="http://schemas.microsoft.com/office/drawing/2014/main" id="{746AD1A7-A8CE-B04A-AC5B-3670F8BE0D26}"/>
              </a:ext>
            </a:extLst>
          </p:cNvPr>
          <p:cNvGraphicFramePr>
            <a:graphicFrameLocks noGrp="1"/>
          </p:cNvGraphicFramePr>
          <p:nvPr/>
        </p:nvGraphicFramePr>
        <p:xfrm>
          <a:off x="7941122" y="2474678"/>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graphicFrame>
        <p:nvGraphicFramePr>
          <p:cNvPr id="10" name="Table 9">
            <a:extLst>
              <a:ext uri="{FF2B5EF4-FFF2-40B4-BE49-F238E27FC236}">
                <a16:creationId xmlns:a16="http://schemas.microsoft.com/office/drawing/2014/main" id="{8F9F3082-9CCF-E74D-9FAE-329BF39FBD14}"/>
              </a:ext>
            </a:extLst>
          </p:cNvPr>
          <p:cNvGraphicFramePr>
            <a:graphicFrameLocks noGrp="1"/>
          </p:cNvGraphicFramePr>
          <p:nvPr/>
        </p:nvGraphicFramePr>
        <p:xfrm>
          <a:off x="9458467" y="3089220"/>
          <a:ext cx="2343891" cy="522772"/>
        </p:xfrm>
        <a:graphic>
          <a:graphicData uri="http://schemas.openxmlformats.org/drawingml/2006/table">
            <a:tbl>
              <a:tblPr firstRow="1" bandRow="1">
                <a:tableStyleId>{5C22544A-7EE6-4342-B048-85BDC9FD1C3A}</a:tableStyleId>
              </a:tblPr>
              <a:tblGrid>
                <a:gridCol w="2343891">
                  <a:extLst>
                    <a:ext uri="{9D8B030D-6E8A-4147-A177-3AD203B41FA5}">
                      <a16:colId xmlns:a16="http://schemas.microsoft.com/office/drawing/2014/main" val="4002730172"/>
                    </a:ext>
                  </a:extLst>
                </a:gridCol>
              </a:tblGrid>
              <a:tr h="522772">
                <a:tc>
                  <a:txBody>
                    <a:bodyPr/>
                    <a:lstStyle/>
                    <a:p>
                      <a:pPr algn="ctr"/>
                      <a:r>
                        <a:rPr lang="en-US" dirty="0">
                          <a:solidFill>
                            <a:schemeClr val="tx1"/>
                          </a:solidFill>
                        </a:rPr>
                        <a:t>P(outcome | data)</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1" name="Straight Arrow Connector 10">
            <a:extLst>
              <a:ext uri="{FF2B5EF4-FFF2-40B4-BE49-F238E27FC236}">
                <a16:creationId xmlns:a16="http://schemas.microsoft.com/office/drawing/2014/main" id="{67F4FB97-E33B-AA44-94E1-17E5647B4662}"/>
              </a:ext>
            </a:extLst>
          </p:cNvPr>
          <p:cNvCxnSpPr>
            <a:cxnSpLocks/>
          </p:cNvCxnSpPr>
          <p:nvPr/>
        </p:nvCxnSpPr>
        <p:spPr>
          <a:xfrm flipV="1">
            <a:off x="8592055" y="3345702"/>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5426209E-433A-4D44-800F-BE31B016EC5C}"/>
              </a:ext>
            </a:extLst>
          </p:cNvPr>
          <p:cNvSpPr txBox="1"/>
          <p:nvPr/>
        </p:nvSpPr>
        <p:spPr>
          <a:xfrm>
            <a:off x="7461657" y="4240759"/>
            <a:ext cx="1401905" cy="307777"/>
          </a:xfrm>
          <a:prstGeom prst="rect">
            <a:avLst/>
          </a:prstGeom>
          <a:noFill/>
        </p:spPr>
        <p:txBody>
          <a:bodyPr wrap="square" rtlCol="0">
            <a:spAutoFit/>
          </a:bodyPr>
          <a:lstStyle/>
          <a:p>
            <a:pPr algn="ctr"/>
            <a:r>
              <a:rPr lang="en-US" sz="1400" dirty="0">
                <a:solidFill>
                  <a:schemeClr val="accent1"/>
                </a:solidFill>
                <a:latin typeface="Times New Roman" panose="02020603050405020304" pitchFamily="18" charset="0"/>
                <a:cs typeface="Times New Roman" panose="02020603050405020304" pitchFamily="18" charset="0"/>
              </a:rPr>
              <a:t>image features</a:t>
            </a:r>
          </a:p>
        </p:txBody>
      </p:sp>
      <p:sp>
        <p:nvSpPr>
          <p:cNvPr id="15" name="TextBox 14">
            <a:extLst>
              <a:ext uri="{FF2B5EF4-FFF2-40B4-BE49-F238E27FC236}">
                <a16:creationId xmlns:a16="http://schemas.microsoft.com/office/drawing/2014/main" id="{A068B05A-3B90-0B48-BA3D-E339296AD7AA}"/>
              </a:ext>
            </a:extLst>
          </p:cNvPr>
          <p:cNvSpPr txBox="1"/>
          <p:nvPr/>
        </p:nvSpPr>
        <p:spPr>
          <a:xfrm>
            <a:off x="8259165" y="3350708"/>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graphicFrame>
        <p:nvGraphicFramePr>
          <p:cNvPr id="16" name="Table 13">
            <a:extLst>
              <a:ext uri="{FF2B5EF4-FFF2-40B4-BE49-F238E27FC236}">
                <a16:creationId xmlns:a16="http://schemas.microsoft.com/office/drawing/2014/main" id="{AB988508-78BB-F84A-851B-C1F7A549B78E}"/>
              </a:ext>
            </a:extLst>
          </p:cNvPr>
          <p:cNvGraphicFramePr>
            <a:graphicFrameLocks noGrp="1"/>
          </p:cNvGraphicFramePr>
          <p:nvPr/>
        </p:nvGraphicFramePr>
        <p:xfrm>
          <a:off x="7925670" y="4622622"/>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cxnSp>
        <p:nvCxnSpPr>
          <p:cNvPr id="18" name="Straight Arrow Connector 17">
            <a:extLst>
              <a:ext uri="{FF2B5EF4-FFF2-40B4-BE49-F238E27FC236}">
                <a16:creationId xmlns:a16="http://schemas.microsoft.com/office/drawing/2014/main" id="{C5BC25AC-EB6E-3641-818D-4F75C7054429}"/>
              </a:ext>
            </a:extLst>
          </p:cNvPr>
          <p:cNvCxnSpPr>
            <a:cxnSpLocks/>
          </p:cNvCxnSpPr>
          <p:nvPr/>
        </p:nvCxnSpPr>
        <p:spPr>
          <a:xfrm flipV="1">
            <a:off x="8576603" y="5493646"/>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0" name="TextBox 19">
            <a:extLst>
              <a:ext uri="{FF2B5EF4-FFF2-40B4-BE49-F238E27FC236}">
                <a16:creationId xmlns:a16="http://schemas.microsoft.com/office/drawing/2014/main" id="{DB0E48F9-4EF4-1E44-818A-008E9B5007DE}"/>
              </a:ext>
            </a:extLst>
          </p:cNvPr>
          <p:cNvSpPr txBox="1"/>
          <p:nvPr/>
        </p:nvSpPr>
        <p:spPr>
          <a:xfrm>
            <a:off x="7373613" y="6364670"/>
            <a:ext cx="1577991" cy="307777"/>
          </a:xfrm>
          <a:prstGeom prst="rect">
            <a:avLst/>
          </a:prstGeom>
          <a:noFill/>
        </p:spPr>
        <p:txBody>
          <a:bodyPr wrap="square" rtlCol="0">
            <a:spAutoFit/>
          </a:bodyPr>
          <a:lstStyle/>
          <a:p>
            <a:pPr algn="ctr"/>
            <a:r>
              <a:rPr lang="en-US" sz="1400" dirty="0">
                <a:solidFill>
                  <a:schemeClr val="accent2"/>
                </a:solidFill>
                <a:latin typeface="Times New Roman" panose="02020603050405020304" pitchFamily="18" charset="0"/>
                <a:cs typeface="Times New Roman" panose="02020603050405020304" pitchFamily="18" charset="0"/>
              </a:rPr>
              <a:t>document features</a:t>
            </a:r>
          </a:p>
        </p:txBody>
      </p:sp>
      <p:sp>
        <p:nvSpPr>
          <p:cNvPr id="21" name="TextBox 20">
            <a:extLst>
              <a:ext uri="{FF2B5EF4-FFF2-40B4-BE49-F238E27FC236}">
                <a16:creationId xmlns:a16="http://schemas.microsoft.com/office/drawing/2014/main" id="{A26D16C9-1DB4-AB4E-81AF-B726618D7396}"/>
              </a:ext>
            </a:extLst>
          </p:cNvPr>
          <p:cNvSpPr txBox="1"/>
          <p:nvPr/>
        </p:nvSpPr>
        <p:spPr>
          <a:xfrm>
            <a:off x="8243713" y="5498652"/>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cxnSp>
        <p:nvCxnSpPr>
          <p:cNvPr id="23" name="Straight Arrow Connector 22">
            <a:extLst>
              <a:ext uri="{FF2B5EF4-FFF2-40B4-BE49-F238E27FC236}">
                <a16:creationId xmlns:a16="http://schemas.microsoft.com/office/drawing/2014/main" id="{C99D15D1-E5B8-8A4A-B14D-A552AF8EC658}"/>
              </a:ext>
            </a:extLst>
          </p:cNvPr>
          <p:cNvCxnSpPr>
            <a:cxnSpLocks/>
            <a:stCxn id="24" idx="3"/>
            <a:endCxn id="25" idx="1"/>
          </p:cNvCxnSpPr>
          <p:nvPr/>
        </p:nvCxnSpPr>
        <p:spPr>
          <a:xfrm>
            <a:off x="3769961" y="5516180"/>
            <a:ext cx="135191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4" name="Picture 23">
            <a:extLst>
              <a:ext uri="{FF2B5EF4-FFF2-40B4-BE49-F238E27FC236}">
                <a16:creationId xmlns:a16="http://schemas.microsoft.com/office/drawing/2014/main" id="{5A12126E-7EBD-954C-8299-8B118E3FC411}"/>
              </a:ext>
            </a:extLst>
          </p:cNvPr>
          <p:cNvPicPr>
            <a:picLocks noChangeAspect="1"/>
          </p:cNvPicPr>
          <p:nvPr/>
        </p:nvPicPr>
        <p:blipFill rotWithShape="1">
          <a:blip r:embed="rId3"/>
          <a:srcRect l="11976" t="10927" r="11177" b="12059"/>
          <a:stretch/>
        </p:blipFill>
        <p:spPr>
          <a:xfrm>
            <a:off x="2342322" y="4590414"/>
            <a:ext cx="1427639" cy="1851532"/>
          </a:xfrm>
          <a:prstGeom prst="rect">
            <a:avLst/>
          </a:prstGeom>
          <a:ln>
            <a:solidFill>
              <a:schemeClr val="tx1"/>
            </a:solidFill>
          </a:ln>
        </p:spPr>
      </p:pic>
      <p:sp>
        <p:nvSpPr>
          <p:cNvPr id="25" name="Rounded Rectangle 24">
            <a:extLst>
              <a:ext uri="{FF2B5EF4-FFF2-40B4-BE49-F238E27FC236}">
                <a16:creationId xmlns:a16="http://schemas.microsoft.com/office/drawing/2014/main" id="{4C309093-0E21-4D4F-BE06-75B99E7D29B9}"/>
              </a:ext>
            </a:extLst>
          </p:cNvPr>
          <p:cNvSpPr/>
          <p:nvPr/>
        </p:nvSpPr>
        <p:spPr>
          <a:xfrm>
            <a:off x="5121875" y="5045475"/>
            <a:ext cx="1729425" cy="94140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NLP</a:t>
            </a:r>
          </a:p>
          <a:p>
            <a:pPr algn="ctr"/>
            <a:r>
              <a:rPr lang="en-US" dirty="0"/>
              <a:t>Encoder</a:t>
            </a:r>
          </a:p>
        </p:txBody>
      </p:sp>
      <p:cxnSp>
        <p:nvCxnSpPr>
          <p:cNvPr id="26" name="Straight Arrow Connector 25">
            <a:extLst>
              <a:ext uri="{FF2B5EF4-FFF2-40B4-BE49-F238E27FC236}">
                <a16:creationId xmlns:a16="http://schemas.microsoft.com/office/drawing/2014/main" id="{7F45BFD6-0CBF-9842-A1F5-3BE048C3FCEA}"/>
              </a:ext>
            </a:extLst>
          </p:cNvPr>
          <p:cNvCxnSpPr>
            <a:cxnSpLocks/>
          </p:cNvCxnSpPr>
          <p:nvPr/>
        </p:nvCxnSpPr>
        <p:spPr>
          <a:xfrm>
            <a:off x="6964439" y="5493646"/>
            <a:ext cx="87243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DCBB8291-5B14-B047-BE26-91988F66D549}"/>
              </a:ext>
            </a:extLst>
          </p:cNvPr>
          <p:cNvSpPr txBox="1"/>
          <p:nvPr/>
        </p:nvSpPr>
        <p:spPr>
          <a:xfrm>
            <a:off x="2578663" y="6464323"/>
            <a:ext cx="954956" cy="307777"/>
          </a:xfrm>
          <a:prstGeom prst="rect">
            <a:avLst/>
          </a:prstGeom>
          <a:noFill/>
        </p:spPr>
        <p:txBody>
          <a:bodyPr wrap="square" rtlCol="0">
            <a:spAutoFit/>
          </a:bodyPr>
          <a:lstStyle/>
          <a:p>
            <a:pPr algn="ctr"/>
            <a:r>
              <a:rPr lang="en-US" sz="1400" dirty="0">
                <a:solidFill>
                  <a:schemeClr val="accent2"/>
                </a:solidFill>
                <a:latin typeface="Times New Roman" panose="02020603050405020304" pitchFamily="18" charset="0"/>
                <a:cs typeface="Times New Roman" panose="02020603050405020304" pitchFamily="18" charset="0"/>
              </a:rPr>
              <a:t>document</a:t>
            </a:r>
          </a:p>
        </p:txBody>
      </p:sp>
      <p:cxnSp>
        <p:nvCxnSpPr>
          <p:cNvPr id="29" name="Straight Arrow Connector 28">
            <a:extLst>
              <a:ext uri="{FF2B5EF4-FFF2-40B4-BE49-F238E27FC236}">
                <a16:creationId xmlns:a16="http://schemas.microsoft.com/office/drawing/2014/main" id="{47E107A1-9D4E-C944-9AC7-C01A699C0805}"/>
              </a:ext>
            </a:extLst>
          </p:cNvPr>
          <p:cNvCxnSpPr>
            <a:cxnSpLocks/>
            <a:stCxn id="6" idx="3"/>
          </p:cNvCxnSpPr>
          <p:nvPr/>
        </p:nvCxnSpPr>
        <p:spPr>
          <a:xfrm>
            <a:off x="3769961" y="3345702"/>
            <a:ext cx="13519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a:extLst>
              <a:ext uri="{FF2B5EF4-FFF2-40B4-BE49-F238E27FC236}">
                <a16:creationId xmlns:a16="http://schemas.microsoft.com/office/drawing/2014/main" id="{8D45898F-E116-994B-9529-1300831A2303}"/>
              </a:ext>
            </a:extLst>
          </p:cNvPr>
          <p:cNvCxnSpPr>
            <a:cxnSpLocks/>
          </p:cNvCxnSpPr>
          <p:nvPr/>
        </p:nvCxnSpPr>
        <p:spPr>
          <a:xfrm>
            <a:off x="6964439" y="3345702"/>
            <a:ext cx="87243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7" name="Rounded Rectangle 36">
            <a:extLst>
              <a:ext uri="{FF2B5EF4-FFF2-40B4-BE49-F238E27FC236}">
                <a16:creationId xmlns:a16="http://schemas.microsoft.com/office/drawing/2014/main" id="{148725C9-17B3-D84E-A6DC-ECCF2CD51CE5}"/>
              </a:ext>
            </a:extLst>
          </p:cNvPr>
          <p:cNvSpPr/>
          <p:nvPr/>
        </p:nvSpPr>
        <p:spPr>
          <a:xfrm>
            <a:off x="5121874" y="2901070"/>
            <a:ext cx="1729425" cy="941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CNN</a:t>
            </a:r>
          </a:p>
          <a:p>
            <a:pPr algn="ctr"/>
            <a:r>
              <a:rPr lang="en-US" dirty="0"/>
              <a:t>Encoder</a:t>
            </a:r>
          </a:p>
        </p:txBody>
      </p:sp>
      <p:pic>
        <p:nvPicPr>
          <p:cNvPr id="6" name="Picture 5">
            <a:extLst>
              <a:ext uri="{FF2B5EF4-FFF2-40B4-BE49-F238E27FC236}">
                <a16:creationId xmlns:a16="http://schemas.microsoft.com/office/drawing/2014/main" id="{202900C6-26A5-4F44-BA06-071D9E41C079}"/>
              </a:ext>
            </a:extLst>
          </p:cNvPr>
          <p:cNvPicPr>
            <a:picLocks noChangeAspect="1"/>
          </p:cNvPicPr>
          <p:nvPr/>
        </p:nvPicPr>
        <p:blipFill>
          <a:blip r:embed="rId4"/>
          <a:stretch>
            <a:fillRect/>
          </a:stretch>
        </p:blipFill>
        <p:spPr>
          <a:xfrm>
            <a:off x="2342322" y="2614819"/>
            <a:ext cx="1427639" cy="1461765"/>
          </a:xfrm>
          <a:prstGeom prst="rect">
            <a:avLst/>
          </a:prstGeom>
        </p:spPr>
      </p:pic>
      <p:sp>
        <p:nvSpPr>
          <p:cNvPr id="40" name="TextBox 39">
            <a:extLst>
              <a:ext uri="{FF2B5EF4-FFF2-40B4-BE49-F238E27FC236}">
                <a16:creationId xmlns:a16="http://schemas.microsoft.com/office/drawing/2014/main" id="{DB9491BB-25CA-834B-A7FF-4828D4B79ECA}"/>
              </a:ext>
            </a:extLst>
          </p:cNvPr>
          <p:cNvSpPr txBox="1"/>
          <p:nvPr/>
        </p:nvSpPr>
        <p:spPr>
          <a:xfrm>
            <a:off x="2355188" y="4086870"/>
            <a:ext cx="1401905" cy="307777"/>
          </a:xfrm>
          <a:prstGeom prst="rect">
            <a:avLst/>
          </a:prstGeom>
          <a:noFill/>
        </p:spPr>
        <p:txBody>
          <a:bodyPr wrap="square" rtlCol="0">
            <a:spAutoFit/>
          </a:bodyPr>
          <a:lstStyle/>
          <a:p>
            <a:pPr algn="ctr"/>
            <a:r>
              <a:rPr lang="en-US" sz="1400" dirty="0">
                <a:solidFill>
                  <a:schemeClr val="accent1"/>
                </a:solidFill>
                <a:latin typeface="Times New Roman" panose="02020603050405020304" pitchFamily="18" charset="0"/>
                <a:cs typeface="Times New Roman" panose="02020603050405020304" pitchFamily="18" charset="0"/>
              </a:rPr>
              <a:t>image</a:t>
            </a:r>
          </a:p>
        </p:txBody>
      </p:sp>
      <p:sp>
        <p:nvSpPr>
          <p:cNvPr id="42" name="Title 1">
            <a:extLst>
              <a:ext uri="{FF2B5EF4-FFF2-40B4-BE49-F238E27FC236}">
                <a16:creationId xmlns:a16="http://schemas.microsoft.com/office/drawing/2014/main" id="{48855032-C654-1F4A-8DAB-F5374D2A0EE3}"/>
              </a:ext>
            </a:extLst>
          </p:cNvPr>
          <p:cNvSpPr>
            <a:spLocks noGrp="1"/>
          </p:cNvSpPr>
          <p:nvPr>
            <p:ph type="title"/>
          </p:nvPr>
        </p:nvSpPr>
        <p:spPr>
          <a:xfrm>
            <a:off x="-2072187" y="-26405"/>
            <a:ext cx="12192000" cy="1325563"/>
          </a:xfrm>
        </p:spPr>
        <p:txBody>
          <a:bodyPr/>
          <a:lstStyle/>
          <a:p>
            <a:pPr algn="ctr"/>
            <a:r>
              <a:rPr lang="en-US" dirty="0"/>
              <a:t>Separate Prediction Models</a:t>
            </a:r>
          </a:p>
        </p:txBody>
      </p:sp>
      <p:graphicFrame>
        <p:nvGraphicFramePr>
          <p:cNvPr id="2" name="Table 1">
            <a:extLst>
              <a:ext uri="{FF2B5EF4-FFF2-40B4-BE49-F238E27FC236}">
                <a16:creationId xmlns:a16="http://schemas.microsoft.com/office/drawing/2014/main" id="{394F2BF3-FD1D-AF21-C126-42B7A91338EB}"/>
              </a:ext>
            </a:extLst>
          </p:cNvPr>
          <p:cNvGraphicFramePr>
            <a:graphicFrameLocks noGrp="1"/>
          </p:cNvGraphicFramePr>
          <p:nvPr/>
        </p:nvGraphicFramePr>
        <p:xfrm>
          <a:off x="9458467" y="5238937"/>
          <a:ext cx="2343891" cy="522772"/>
        </p:xfrm>
        <a:graphic>
          <a:graphicData uri="http://schemas.openxmlformats.org/drawingml/2006/table">
            <a:tbl>
              <a:tblPr firstRow="1" bandRow="1">
                <a:tableStyleId>{5C22544A-7EE6-4342-B048-85BDC9FD1C3A}</a:tableStyleId>
              </a:tblPr>
              <a:tblGrid>
                <a:gridCol w="2343891">
                  <a:extLst>
                    <a:ext uri="{9D8B030D-6E8A-4147-A177-3AD203B41FA5}">
                      <a16:colId xmlns:a16="http://schemas.microsoft.com/office/drawing/2014/main" val="4002730172"/>
                    </a:ext>
                  </a:extLst>
                </a:gridCol>
              </a:tblGrid>
              <a:tr h="522772">
                <a:tc>
                  <a:txBody>
                    <a:bodyPr/>
                    <a:lstStyle/>
                    <a:p>
                      <a:pPr algn="ctr"/>
                      <a:r>
                        <a:rPr lang="en-US" dirty="0">
                          <a:solidFill>
                            <a:schemeClr val="tx1"/>
                          </a:solidFill>
                        </a:rPr>
                        <a:t>P(outcome | data)</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graphicFrame>
        <p:nvGraphicFramePr>
          <p:cNvPr id="3" name="Table 2">
            <a:extLst>
              <a:ext uri="{FF2B5EF4-FFF2-40B4-BE49-F238E27FC236}">
                <a16:creationId xmlns:a16="http://schemas.microsoft.com/office/drawing/2014/main" id="{6E56D288-D739-F17A-51CE-CFD04D516903}"/>
              </a:ext>
            </a:extLst>
          </p:cNvPr>
          <p:cNvGraphicFramePr>
            <a:graphicFrameLocks noGrp="1"/>
          </p:cNvGraphicFramePr>
          <p:nvPr/>
        </p:nvGraphicFramePr>
        <p:xfrm>
          <a:off x="9458467" y="873825"/>
          <a:ext cx="2343891" cy="522772"/>
        </p:xfrm>
        <a:graphic>
          <a:graphicData uri="http://schemas.openxmlformats.org/drawingml/2006/table">
            <a:tbl>
              <a:tblPr firstRow="1" bandRow="1">
                <a:tableStyleId>{5C22544A-7EE6-4342-B048-85BDC9FD1C3A}</a:tableStyleId>
              </a:tblPr>
              <a:tblGrid>
                <a:gridCol w="2343891">
                  <a:extLst>
                    <a:ext uri="{9D8B030D-6E8A-4147-A177-3AD203B41FA5}">
                      <a16:colId xmlns:a16="http://schemas.microsoft.com/office/drawing/2014/main" val="4002730172"/>
                    </a:ext>
                  </a:extLst>
                </a:gridCol>
              </a:tblGrid>
              <a:tr h="522772">
                <a:tc>
                  <a:txBody>
                    <a:bodyPr/>
                    <a:lstStyle/>
                    <a:p>
                      <a:pPr algn="ctr"/>
                      <a:r>
                        <a:rPr lang="en-US" dirty="0">
                          <a:solidFill>
                            <a:schemeClr val="tx1"/>
                          </a:solidFill>
                        </a:rPr>
                        <a:t>P(outcome | data)</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Tree>
    <p:extLst>
      <p:ext uri="{BB962C8B-B14F-4D97-AF65-F5344CB8AC3E}">
        <p14:creationId xmlns:p14="http://schemas.microsoft.com/office/powerpoint/2010/main" val="2655601343"/>
      </p:ext>
    </p:extLst>
  </p:cSld>
  <p:clrMapOvr>
    <a:masterClrMapping/>
  </p:clrMapOvr>
  <mc:AlternateContent xmlns:mc="http://schemas.openxmlformats.org/markup-compatibility/2006" xmlns:p14="http://schemas.microsoft.com/office/powerpoint/2010/main">
    <mc:Choice Requires="p14">
      <p:transition spd="slow" p14:dur="2000" advTm="48479"/>
    </mc:Choice>
    <mc:Fallback xmlns="">
      <p:transition spd="slow" advTm="48479"/>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333BA-3537-984C-3499-086BB2606872}"/>
            </a:ext>
          </a:extLst>
        </p:cNvPr>
        <p:cNvGrpSpPr/>
        <p:nvPr/>
      </p:nvGrpSpPr>
      <p:grpSpPr>
        <a:xfrm>
          <a:off x="0" y="0"/>
          <a:ext cx="0" cy="0"/>
          <a:chOff x="0" y="0"/>
          <a:chExt cx="0" cy="0"/>
        </a:xfrm>
      </p:grpSpPr>
      <p:graphicFrame>
        <p:nvGraphicFramePr>
          <p:cNvPr id="12" name="Table 13">
            <a:extLst>
              <a:ext uri="{FF2B5EF4-FFF2-40B4-BE49-F238E27FC236}">
                <a16:creationId xmlns:a16="http://schemas.microsoft.com/office/drawing/2014/main" id="{B6F20DAE-2CC0-913D-D166-4E584640FD9D}"/>
              </a:ext>
            </a:extLst>
          </p:cNvPr>
          <p:cNvGraphicFramePr>
            <a:graphicFrameLocks noGrp="1"/>
          </p:cNvGraphicFramePr>
          <p:nvPr/>
        </p:nvGraphicFramePr>
        <p:xfrm>
          <a:off x="4924546" y="260953"/>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cxnSp>
        <p:nvCxnSpPr>
          <p:cNvPr id="32" name="Straight Arrow Connector 31">
            <a:extLst>
              <a:ext uri="{FF2B5EF4-FFF2-40B4-BE49-F238E27FC236}">
                <a16:creationId xmlns:a16="http://schemas.microsoft.com/office/drawing/2014/main" id="{CEB88F8E-8595-2D8B-F95E-8C843F9F99E3}"/>
              </a:ext>
            </a:extLst>
          </p:cNvPr>
          <p:cNvCxnSpPr>
            <a:cxnSpLocks/>
          </p:cNvCxnSpPr>
          <p:nvPr/>
        </p:nvCxnSpPr>
        <p:spPr>
          <a:xfrm flipV="1">
            <a:off x="5575479" y="1131977"/>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TextBox 34">
            <a:extLst>
              <a:ext uri="{FF2B5EF4-FFF2-40B4-BE49-F238E27FC236}">
                <a16:creationId xmlns:a16="http://schemas.microsoft.com/office/drawing/2014/main" id="{B5AA8506-78A1-7E2A-2D19-2AF19E318C86}"/>
              </a:ext>
            </a:extLst>
          </p:cNvPr>
          <p:cNvSpPr txBox="1"/>
          <p:nvPr/>
        </p:nvSpPr>
        <p:spPr>
          <a:xfrm>
            <a:off x="4445081" y="2027034"/>
            <a:ext cx="1401905"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clinical variables</a:t>
            </a:r>
          </a:p>
        </p:txBody>
      </p:sp>
      <p:sp>
        <p:nvSpPr>
          <p:cNvPr id="14" name="TextBox 13">
            <a:extLst>
              <a:ext uri="{FF2B5EF4-FFF2-40B4-BE49-F238E27FC236}">
                <a16:creationId xmlns:a16="http://schemas.microsoft.com/office/drawing/2014/main" id="{821990AF-AF15-50FC-07A3-ED06221BCA44}"/>
              </a:ext>
            </a:extLst>
          </p:cNvPr>
          <p:cNvSpPr txBox="1"/>
          <p:nvPr/>
        </p:nvSpPr>
        <p:spPr>
          <a:xfrm>
            <a:off x="5242589" y="1136983"/>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graphicFrame>
        <p:nvGraphicFramePr>
          <p:cNvPr id="9" name="Table 13">
            <a:extLst>
              <a:ext uri="{FF2B5EF4-FFF2-40B4-BE49-F238E27FC236}">
                <a16:creationId xmlns:a16="http://schemas.microsoft.com/office/drawing/2014/main" id="{D5D4F9A1-868D-A8AA-6B30-7E0405B87F44}"/>
              </a:ext>
            </a:extLst>
          </p:cNvPr>
          <p:cNvGraphicFramePr>
            <a:graphicFrameLocks noGrp="1"/>
          </p:cNvGraphicFramePr>
          <p:nvPr/>
        </p:nvGraphicFramePr>
        <p:xfrm>
          <a:off x="4924546" y="2474678"/>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graphicFrame>
        <p:nvGraphicFramePr>
          <p:cNvPr id="10" name="Table 9">
            <a:extLst>
              <a:ext uri="{FF2B5EF4-FFF2-40B4-BE49-F238E27FC236}">
                <a16:creationId xmlns:a16="http://schemas.microsoft.com/office/drawing/2014/main" id="{93B1C01F-309C-BBBA-959D-7F524C430BC8}"/>
              </a:ext>
            </a:extLst>
          </p:cNvPr>
          <p:cNvGraphicFramePr>
            <a:graphicFrameLocks noGrp="1"/>
          </p:cNvGraphicFramePr>
          <p:nvPr/>
        </p:nvGraphicFramePr>
        <p:xfrm>
          <a:off x="6441891" y="3089220"/>
          <a:ext cx="2343891" cy="522772"/>
        </p:xfrm>
        <a:graphic>
          <a:graphicData uri="http://schemas.openxmlformats.org/drawingml/2006/table">
            <a:tbl>
              <a:tblPr firstRow="1" bandRow="1">
                <a:tableStyleId>{5C22544A-7EE6-4342-B048-85BDC9FD1C3A}</a:tableStyleId>
              </a:tblPr>
              <a:tblGrid>
                <a:gridCol w="2343891">
                  <a:extLst>
                    <a:ext uri="{9D8B030D-6E8A-4147-A177-3AD203B41FA5}">
                      <a16:colId xmlns:a16="http://schemas.microsoft.com/office/drawing/2014/main" val="4002730172"/>
                    </a:ext>
                  </a:extLst>
                </a:gridCol>
              </a:tblGrid>
              <a:tr h="522772">
                <a:tc>
                  <a:txBody>
                    <a:bodyPr/>
                    <a:lstStyle/>
                    <a:p>
                      <a:pPr algn="ctr"/>
                      <a:r>
                        <a:rPr lang="en-US" dirty="0">
                          <a:solidFill>
                            <a:schemeClr val="tx1"/>
                          </a:solidFill>
                        </a:rPr>
                        <a:t>P(outcome | data)</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1" name="Straight Arrow Connector 10">
            <a:extLst>
              <a:ext uri="{FF2B5EF4-FFF2-40B4-BE49-F238E27FC236}">
                <a16:creationId xmlns:a16="http://schemas.microsoft.com/office/drawing/2014/main" id="{BCE0A288-3247-63E0-57BA-32A7CB520ED9}"/>
              </a:ext>
            </a:extLst>
          </p:cNvPr>
          <p:cNvCxnSpPr>
            <a:cxnSpLocks/>
          </p:cNvCxnSpPr>
          <p:nvPr/>
        </p:nvCxnSpPr>
        <p:spPr>
          <a:xfrm flipV="1">
            <a:off x="5575479" y="3345702"/>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E4060DEC-C238-8FBD-52DD-9863AA95D13B}"/>
              </a:ext>
            </a:extLst>
          </p:cNvPr>
          <p:cNvSpPr txBox="1"/>
          <p:nvPr/>
        </p:nvSpPr>
        <p:spPr>
          <a:xfrm>
            <a:off x="4445081" y="4240759"/>
            <a:ext cx="1401905" cy="307777"/>
          </a:xfrm>
          <a:prstGeom prst="rect">
            <a:avLst/>
          </a:prstGeom>
          <a:noFill/>
        </p:spPr>
        <p:txBody>
          <a:bodyPr wrap="square" rtlCol="0">
            <a:spAutoFit/>
          </a:bodyPr>
          <a:lstStyle/>
          <a:p>
            <a:pPr algn="ctr"/>
            <a:r>
              <a:rPr lang="en-US" sz="1400" dirty="0">
                <a:solidFill>
                  <a:schemeClr val="accent1"/>
                </a:solidFill>
                <a:latin typeface="Times New Roman" panose="02020603050405020304" pitchFamily="18" charset="0"/>
                <a:cs typeface="Times New Roman" panose="02020603050405020304" pitchFamily="18" charset="0"/>
              </a:rPr>
              <a:t>image features</a:t>
            </a:r>
          </a:p>
        </p:txBody>
      </p:sp>
      <p:sp>
        <p:nvSpPr>
          <p:cNvPr id="15" name="TextBox 14">
            <a:extLst>
              <a:ext uri="{FF2B5EF4-FFF2-40B4-BE49-F238E27FC236}">
                <a16:creationId xmlns:a16="http://schemas.microsoft.com/office/drawing/2014/main" id="{10DB2621-D181-DEF1-AE0F-C8375466E1A0}"/>
              </a:ext>
            </a:extLst>
          </p:cNvPr>
          <p:cNvSpPr txBox="1"/>
          <p:nvPr/>
        </p:nvSpPr>
        <p:spPr>
          <a:xfrm>
            <a:off x="5242589" y="3350708"/>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graphicFrame>
        <p:nvGraphicFramePr>
          <p:cNvPr id="16" name="Table 13">
            <a:extLst>
              <a:ext uri="{FF2B5EF4-FFF2-40B4-BE49-F238E27FC236}">
                <a16:creationId xmlns:a16="http://schemas.microsoft.com/office/drawing/2014/main" id="{595A633E-DD00-8498-9A55-2317A9F97073}"/>
              </a:ext>
            </a:extLst>
          </p:cNvPr>
          <p:cNvGraphicFramePr>
            <a:graphicFrameLocks noGrp="1"/>
          </p:cNvGraphicFramePr>
          <p:nvPr/>
        </p:nvGraphicFramePr>
        <p:xfrm>
          <a:off x="4909094" y="4622622"/>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cxnSp>
        <p:nvCxnSpPr>
          <p:cNvPr id="18" name="Straight Arrow Connector 17">
            <a:extLst>
              <a:ext uri="{FF2B5EF4-FFF2-40B4-BE49-F238E27FC236}">
                <a16:creationId xmlns:a16="http://schemas.microsoft.com/office/drawing/2014/main" id="{6D828A71-CDB5-4846-7C0C-AA3FCB25B2B2}"/>
              </a:ext>
            </a:extLst>
          </p:cNvPr>
          <p:cNvCxnSpPr>
            <a:cxnSpLocks/>
          </p:cNvCxnSpPr>
          <p:nvPr/>
        </p:nvCxnSpPr>
        <p:spPr>
          <a:xfrm flipV="1">
            <a:off x="5560027" y="5493646"/>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0" name="TextBox 19">
            <a:extLst>
              <a:ext uri="{FF2B5EF4-FFF2-40B4-BE49-F238E27FC236}">
                <a16:creationId xmlns:a16="http://schemas.microsoft.com/office/drawing/2014/main" id="{B1DD1481-CB05-01EF-227F-383F6A679260}"/>
              </a:ext>
            </a:extLst>
          </p:cNvPr>
          <p:cNvSpPr txBox="1"/>
          <p:nvPr/>
        </p:nvSpPr>
        <p:spPr>
          <a:xfrm>
            <a:off x="4357037" y="6364670"/>
            <a:ext cx="1577991" cy="307777"/>
          </a:xfrm>
          <a:prstGeom prst="rect">
            <a:avLst/>
          </a:prstGeom>
          <a:noFill/>
        </p:spPr>
        <p:txBody>
          <a:bodyPr wrap="square" rtlCol="0">
            <a:spAutoFit/>
          </a:bodyPr>
          <a:lstStyle/>
          <a:p>
            <a:pPr algn="ctr"/>
            <a:r>
              <a:rPr lang="en-US" sz="1400" dirty="0">
                <a:solidFill>
                  <a:schemeClr val="accent2"/>
                </a:solidFill>
                <a:latin typeface="Times New Roman" panose="02020603050405020304" pitchFamily="18" charset="0"/>
                <a:cs typeface="Times New Roman" panose="02020603050405020304" pitchFamily="18" charset="0"/>
              </a:rPr>
              <a:t>document features</a:t>
            </a:r>
          </a:p>
        </p:txBody>
      </p:sp>
      <p:sp>
        <p:nvSpPr>
          <p:cNvPr id="21" name="TextBox 20">
            <a:extLst>
              <a:ext uri="{FF2B5EF4-FFF2-40B4-BE49-F238E27FC236}">
                <a16:creationId xmlns:a16="http://schemas.microsoft.com/office/drawing/2014/main" id="{21F8EA0E-C0DE-0B5F-EF31-E3D0203E5471}"/>
              </a:ext>
            </a:extLst>
          </p:cNvPr>
          <p:cNvSpPr txBox="1"/>
          <p:nvPr/>
        </p:nvSpPr>
        <p:spPr>
          <a:xfrm>
            <a:off x="5227137" y="5498652"/>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cxnSp>
        <p:nvCxnSpPr>
          <p:cNvPr id="23" name="Straight Arrow Connector 22">
            <a:extLst>
              <a:ext uri="{FF2B5EF4-FFF2-40B4-BE49-F238E27FC236}">
                <a16:creationId xmlns:a16="http://schemas.microsoft.com/office/drawing/2014/main" id="{F89EF0B7-7E50-EE3F-9DB1-A4CE57175A90}"/>
              </a:ext>
            </a:extLst>
          </p:cNvPr>
          <p:cNvCxnSpPr>
            <a:cxnSpLocks/>
            <a:stCxn id="24" idx="3"/>
            <a:endCxn id="25" idx="1"/>
          </p:cNvCxnSpPr>
          <p:nvPr/>
        </p:nvCxnSpPr>
        <p:spPr>
          <a:xfrm>
            <a:off x="753385" y="5516180"/>
            <a:ext cx="135191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4" name="Picture 23">
            <a:extLst>
              <a:ext uri="{FF2B5EF4-FFF2-40B4-BE49-F238E27FC236}">
                <a16:creationId xmlns:a16="http://schemas.microsoft.com/office/drawing/2014/main" id="{93D22926-3D4D-80CE-4E8F-72E7ACFFFABA}"/>
              </a:ext>
            </a:extLst>
          </p:cNvPr>
          <p:cNvPicPr>
            <a:picLocks noChangeAspect="1"/>
          </p:cNvPicPr>
          <p:nvPr/>
        </p:nvPicPr>
        <p:blipFill rotWithShape="1">
          <a:blip r:embed="rId3"/>
          <a:srcRect l="11976" t="10927" r="11177" b="12059"/>
          <a:stretch/>
        </p:blipFill>
        <p:spPr>
          <a:xfrm>
            <a:off x="-674254" y="4590414"/>
            <a:ext cx="1427639" cy="1851532"/>
          </a:xfrm>
          <a:prstGeom prst="rect">
            <a:avLst/>
          </a:prstGeom>
          <a:ln>
            <a:solidFill>
              <a:schemeClr val="tx1"/>
            </a:solidFill>
          </a:ln>
        </p:spPr>
      </p:pic>
      <p:sp>
        <p:nvSpPr>
          <p:cNvPr id="25" name="Rounded Rectangle 24">
            <a:extLst>
              <a:ext uri="{FF2B5EF4-FFF2-40B4-BE49-F238E27FC236}">
                <a16:creationId xmlns:a16="http://schemas.microsoft.com/office/drawing/2014/main" id="{D67BDF14-D2CB-B2F9-844B-42EBE69C74EB}"/>
              </a:ext>
            </a:extLst>
          </p:cNvPr>
          <p:cNvSpPr/>
          <p:nvPr/>
        </p:nvSpPr>
        <p:spPr>
          <a:xfrm>
            <a:off x="2105299" y="5045475"/>
            <a:ext cx="1729425" cy="94140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NLP</a:t>
            </a:r>
          </a:p>
          <a:p>
            <a:pPr algn="ctr"/>
            <a:r>
              <a:rPr lang="en-US" dirty="0"/>
              <a:t>Encoder</a:t>
            </a:r>
          </a:p>
        </p:txBody>
      </p:sp>
      <p:cxnSp>
        <p:nvCxnSpPr>
          <p:cNvPr id="26" name="Straight Arrow Connector 25">
            <a:extLst>
              <a:ext uri="{FF2B5EF4-FFF2-40B4-BE49-F238E27FC236}">
                <a16:creationId xmlns:a16="http://schemas.microsoft.com/office/drawing/2014/main" id="{D1A82E6A-5051-34A3-E05B-AE1E56D20175}"/>
              </a:ext>
            </a:extLst>
          </p:cNvPr>
          <p:cNvCxnSpPr>
            <a:cxnSpLocks/>
          </p:cNvCxnSpPr>
          <p:nvPr/>
        </p:nvCxnSpPr>
        <p:spPr>
          <a:xfrm>
            <a:off x="3947863" y="5493646"/>
            <a:ext cx="87243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7CE49FA7-003C-8D21-7004-3D4546FB894F}"/>
              </a:ext>
            </a:extLst>
          </p:cNvPr>
          <p:cNvSpPr txBox="1"/>
          <p:nvPr/>
        </p:nvSpPr>
        <p:spPr>
          <a:xfrm>
            <a:off x="-437913" y="6464323"/>
            <a:ext cx="954956" cy="307777"/>
          </a:xfrm>
          <a:prstGeom prst="rect">
            <a:avLst/>
          </a:prstGeom>
          <a:noFill/>
        </p:spPr>
        <p:txBody>
          <a:bodyPr wrap="square" rtlCol="0">
            <a:spAutoFit/>
          </a:bodyPr>
          <a:lstStyle/>
          <a:p>
            <a:pPr algn="ctr"/>
            <a:r>
              <a:rPr lang="en-US" sz="1400" dirty="0">
                <a:solidFill>
                  <a:schemeClr val="accent2"/>
                </a:solidFill>
                <a:latin typeface="Times New Roman" panose="02020603050405020304" pitchFamily="18" charset="0"/>
                <a:cs typeface="Times New Roman" panose="02020603050405020304" pitchFamily="18" charset="0"/>
              </a:rPr>
              <a:t>document</a:t>
            </a:r>
          </a:p>
        </p:txBody>
      </p:sp>
      <p:cxnSp>
        <p:nvCxnSpPr>
          <p:cNvPr id="29" name="Straight Arrow Connector 28">
            <a:extLst>
              <a:ext uri="{FF2B5EF4-FFF2-40B4-BE49-F238E27FC236}">
                <a16:creationId xmlns:a16="http://schemas.microsoft.com/office/drawing/2014/main" id="{8544559E-ACDE-C7CE-8ED9-0022EF24A002}"/>
              </a:ext>
            </a:extLst>
          </p:cNvPr>
          <p:cNvCxnSpPr>
            <a:cxnSpLocks/>
            <a:stCxn id="6" idx="3"/>
          </p:cNvCxnSpPr>
          <p:nvPr/>
        </p:nvCxnSpPr>
        <p:spPr>
          <a:xfrm>
            <a:off x="753385" y="3345702"/>
            <a:ext cx="13519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a:extLst>
              <a:ext uri="{FF2B5EF4-FFF2-40B4-BE49-F238E27FC236}">
                <a16:creationId xmlns:a16="http://schemas.microsoft.com/office/drawing/2014/main" id="{18AA4D16-16D6-79FD-234C-9CCC4479FE00}"/>
              </a:ext>
            </a:extLst>
          </p:cNvPr>
          <p:cNvCxnSpPr>
            <a:cxnSpLocks/>
          </p:cNvCxnSpPr>
          <p:nvPr/>
        </p:nvCxnSpPr>
        <p:spPr>
          <a:xfrm>
            <a:off x="3947863" y="3345702"/>
            <a:ext cx="87243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7" name="Rounded Rectangle 36">
            <a:extLst>
              <a:ext uri="{FF2B5EF4-FFF2-40B4-BE49-F238E27FC236}">
                <a16:creationId xmlns:a16="http://schemas.microsoft.com/office/drawing/2014/main" id="{78D12D13-533E-9AD9-CBE3-8F041C3803C1}"/>
              </a:ext>
            </a:extLst>
          </p:cNvPr>
          <p:cNvSpPr/>
          <p:nvPr/>
        </p:nvSpPr>
        <p:spPr>
          <a:xfrm>
            <a:off x="2105298" y="2901070"/>
            <a:ext cx="1729425" cy="941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CNN</a:t>
            </a:r>
          </a:p>
          <a:p>
            <a:pPr algn="ctr"/>
            <a:r>
              <a:rPr lang="en-US" dirty="0"/>
              <a:t>Encoder</a:t>
            </a:r>
          </a:p>
        </p:txBody>
      </p:sp>
      <p:pic>
        <p:nvPicPr>
          <p:cNvPr id="6" name="Picture 5">
            <a:extLst>
              <a:ext uri="{FF2B5EF4-FFF2-40B4-BE49-F238E27FC236}">
                <a16:creationId xmlns:a16="http://schemas.microsoft.com/office/drawing/2014/main" id="{FF3024E2-0E4A-DF2F-1A69-436A5D9711C3}"/>
              </a:ext>
            </a:extLst>
          </p:cNvPr>
          <p:cNvPicPr>
            <a:picLocks noChangeAspect="1"/>
          </p:cNvPicPr>
          <p:nvPr/>
        </p:nvPicPr>
        <p:blipFill>
          <a:blip r:embed="rId4"/>
          <a:stretch>
            <a:fillRect/>
          </a:stretch>
        </p:blipFill>
        <p:spPr>
          <a:xfrm>
            <a:off x="-674254" y="2614819"/>
            <a:ext cx="1427639" cy="1461765"/>
          </a:xfrm>
          <a:prstGeom prst="rect">
            <a:avLst/>
          </a:prstGeom>
        </p:spPr>
      </p:pic>
      <p:sp>
        <p:nvSpPr>
          <p:cNvPr id="40" name="TextBox 39">
            <a:extLst>
              <a:ext uri="{FF2B5EF4-FFF2-40B4-BE49-F238E27FC236}">
                <a16:creationId xmlns:a16="http://schemas.microsoft.com/office/drawing/2014/main" id="{444E6E7C-C119-958E-C545-9FB24BE66D60}"/>
              </a:ext>
            </a:extLst>
          </p:cNvPr>
          <p:cNvSpPr txBox="1"/>
          <p:nvPr/>
        </p:nvSpPr>
        <p:spPr>
          <a:xfrm>
            <a:off x="-661388" y="4086870"/>
            <a:ext cx="1401905" cy="307777"/>
          </a:xfrm>
          <a:prstGeom prst="rect">
            <a:avLst/>
          </a:prstGeom>
          <a:noFill/>
        </p:spPr>
        <p:txBody>
          <a:bodyPr wrap="square" rtlCol="0">
            <a:spAutoFit/>
          </a:bodyPr>
          <a:lstStyle/>
          <a:p>
            <a:pPr algn="ctr"/>
            <a:r>
              <a:rPr lang="en-US" sz="1400" dirty="0">
                <a:solidFill>
                  <a:schemeClr val="accent1"/>
                </a:solidFill>
                <a:latin typeface="Times New Roman" panose="02020603050405020304" pitchFamily="18" charset="0"/>
                <a:cs typeface="Times New Roman" panose="02020603050405020304" pitchFamily="18" charset="0"/>
              </a:rPr>
              <a:t>image</a:t>
            </a:r>
          </a:p>
        </p:txBody>
      </p:sp>
      <p:sp>
        <p:nvSpPr>
          <p:cNvPr id="42" name="Title 1">
            <a:extLst>
              <a:ext uri="{FF2B5EF4-FFF2-40B4-BE49-F238E27FC236}">
                <a16:creationId xmlns:a16="http://schemas.microsoft.com/office/drawing/2014/main" id="{B2F0DE7D-4AAF-8534-1E7D-7A9A242800E5}"/>
              </a:ext>
            </a:extLst>
          </p:cNvPr>
          <p:cNvSpPr>
            <a:spLocks noGrp="1"/>
          </p:cNvSpPr>
          <p:nvPr>
            <p:ph type="title"/>
          </p:nvPr>
        </p:nvSpPr>
        <p:spPr>
          <a:xfrm>
            <a:off x="517043" y="481191"/>
            <a:ext cx="5512969" cy="1325563"/>
          </a:xfrm>
        </p:spPr>
        <p:txBody>
          <a:bodyPr/>
          <a:lstStyle/>
          <a:p>
            <a:r>
              <a:rPr lang="en-US" b="1" dirty="0"/>
              <a:t>Late</a:t>
            </a:r>
            <a:r>
              <a:rPr lang="en-US" dirty="0"/>
              <a:t> fusion</a:t>
            </a:r>
          </a:p>
        </p:txBody>
      </p:sp>
      <p:graphicFrame>
        <p:nvGraphicFramePr>
          <p:cNvPr id="2" name="Table 1">
            <a:extLst>
              <a:ext uri="{FF2B5EF4-FFF2-40B4-BE49-F238E27FC236}">
                <a16:creationId xmlns:a16="http://schemas.microsoft.com/office/drawing/2014/main" id="{47B27284-3C53-E399-A5B3-1B6935F60BE6}"/>
              </a:ext>
            </a:extLst>
          </p:cNvPr>
          <p:cNvGraphicFramePr>
            <a:graphicFrameLocks noGrp="1"/>
          </p:cNvGraphicFramePr>
          <p:nvPr/>
        </p:nvGraphicFramePr>
        <p:xfrm>
          <a:off x="6441891" y="5238937"/>
          <a:ext cx="2343891" cy="522772"/>
        </p:xfrm>
        <a:graphic>
          <a:graphicData uri="http://schemas.openxmlformats.org/drawingml/2006/table">
            <a:tbl>
              <a:tblPr firstRow="1" bandRow="1">
                <a:tableStyleId>{5C22544A-7EE6-4342-B048-85BDC9FD1C3A}</a:tableStyleId>
              </a:tblPr>
              <a:tblGrid>
                <a:gridCol w="2343891">
                  <a:extLst>
                    <a:ext uri="{9D8B030D-6E8A-4147-A177-3AD203B41FA5}">
                      <a16:colId xmlns:a16="http://schemas.microsoft.com/office/drawing/2014/main" val="4002730172"/>
                    </a:ext>
                  </a:extLst>
                </a:gridCol>
              </a:tblGrid>
              <a:tr h="522772">
                <a:tc>
                  <a:txBody>
                    <a:bodyPr/>
                    <a:lstStyle/>
                    <a:p>
                      <a:pPr algn="ctr"/>
                      <a:r>
                        <a:rPr lang="en-US" dirty="0">
                          <a:solidFill>
                            <a:schemeClr val="tx1"/>
                          </a:solidFill>
                        </a:rPr>
                        <a:t>P(outcome | data)</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graphicFrame>
        <p:nvGraphicFramePr>
          <p:cNvPr id="3" name="Table 2">
            <a:extLst>
              <a:ext uri="{FF2B5EF4-FFF2-40B4-BE49-F238E27FC236}">
                <a16:creationId xmlns:a16="http://schemas.microsoft.com/office/drawing/2014/main" id="{6B20C8F0-548C-4F1B-32DF-54FD5D9FEB48}"/>
              </a:ext>
            </a:extLst>
          </p:cNvPr>
          <p:cNvGraphicFramePr>
            <a:graphicFrameLocks noGrp="1"/>
          </p:cNvGraphicFramePr>
          <p:nvPr/>
        </p:nvGraphicFramePr>
        <p:xfrm>
          <a:off x="6441891" y="873825"/>
          <a:ext cx="2343891" cy="522772"/>
        </p:xfrm>
        <a:graphic>
          <a:graphicData uri="http://schemas.openxmlformats.org/drawingml/2006/table">
            <a:tbl>
              <a:tblPr firstRow="1" bandRow="1">
                <a:tableStyleId>{5C22544A-7EE6-4342-B048-85BDC9FD1C3A}</a:tableStyleId>
              </a:tblPr>
              <a:tblGrid>
                <a:gridCol w="2343891">
                  <a:extLst>
                    <a:ext uri="{9D8B030D-6E8A-4147-A177-3AD203B41FA5}">
                      <a16:colId xmlns:a16="http://schemas.microsoft.com/office/drawing/2014/main" val="4002730172"/>
                    </a:ext>
                  </a:extLst>
                </a:gridCol>
              </a:tblGrid>
              <a:tr h="522772">
                <a:tc>
                  <a:txBody>
                    <a:bodyPr/>
                    <a:lstStyle/>
                    <a:p>
                      <a:pPr algn="ctr"/>
                      <a:r>
                        <a:rPr lang="en-US" dirty="0">
                          <a:solidFill>
                            <a:schemeClr val="tx1"/>
                          </a:solidFill>
                        </a:rPr>
                        <a:t>P(outcome | data)</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
        <p:nvSpPr>
          <p:cNvPr id="4" name="Left Brace 3">
            <a:extLst>
              <a:ext uri="{FF2B5EF4-FFF2-40B4-BE49-F238E27FC236}">
                <a16:creationId xmlns:a16="http://schemas.microsoft.com/office/drawing/2014/main" id="{EA30288C-7807-DF41-14CC-9586B85B12B3}"/>
              </a:ext>
            </a:extLst>
          </p:cNvPr>
          <p:cNvSpPr/>
          <p:nvPr/>
        </p:nvSpPr>
        <p:spPr>
          <a:xfrm rot="10800000">
            <a:off x="8961671" y="873825"/>
            <a:ext cx="329938" cy="4887884"/>
          </a:xfrm>
          <a:prstGeom prst="leftBrace">
            <a:avLst>
              <a:gd name="adj1" fmla="val 8333"/>
              <a:gd name="adj2" fmla="val 82208"/>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92AE8143-1A9D-A3AA-6996-5B911A1C8B24}"/>
              </a:ext>
            </a:extLst>
          </p:cNvPr>
          <p:cNvSpPr txBox="1"/>
          <p:nvPr/>
        </p:nvSpPr>
        <p:spPr>
          <a:xfrm>
            <a:off x="9291608" y="1546636"/>
            <a:ext cx="2595591" cy="369332"/>
          </a:xfrm>
          <a:prstGeom prst="rect">
            <a:avLst/>
          </a:prstGeom>
          <a:noFill/>
        </p:spPr>
        <p:txBody>
          <a:bodyPr wrap="square" rtlCol="0">
            <a:spAutoFit/>
          </a:bodyPr>
          <a:lstStyle/>
          <a:p>
            <a:r>
              <a:rPr lang="en-US" dirty="0"/>
              <a:t>aggregate predictions</a:t>
            </a:r>
          </a:p>
        </p:txBody>
      </p:sp>
    </p:spTree>
    <p:extLst>
      <p:ext uri="{BB962C8B-B14F-4D97-AF65-F5344CB8AC3E}">
        <p14:creationId xmlns:p14="http://schemas.microsoft.com/office/powerpoint/2010/main" val="1541353963"/>
      </p:ext>
    </p:extLst>
  </p:cSld>
  <p:clrMapOvr>
    <a:masterClrMapping/>
  </p:clrMapOvr>
  <mc:AlternateContent xmlns:mc="http://schemas.openxmlformats.org/markup-compatibility/2006" xmlns:p14="http://schemas.microsoft.com/office/powerpoint/2010/main">
    <mc:Choice Requires="p14">
      <p:transition spd="slow" p14:dur="2000" advTm="48479"/>
    </mc:Choice>
    <mc:Fallback xmlns="">
      <p:transition spd="slow" advTm="48479"/>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8CAC4-61C7-77DD-565C-419C0C62BFAA}"/>
            </a:ext>
          </a:extLst>
        </p:cNvPr>
        <p:cNvGrpSpPr/>
        <p:nvPr/>
      </p:nvGrpSpPr>
      <p:grpSpPr>
        <a:xfrm>
          <a:off x="0" y="0"/>
          <a:ext cx="0" cy="0"/>
          <a:chOff x="0" y="0"/>
          <a:chExt cx="0" cy="0"/>
        </a:xfrm>
      </p:grpSpPr>
      <p:graphicFrame>
        <p:nvGraphicFramePr>
          <p:cNvPr id="12" name="Table 13">
            <a:extLst>
              <a:ext uri="{FF2B5EF4-FFF2-40B4-BE49-F238E27FC236}">
                <a16:creationId xmlns:a16="http://schemas.microsoft.com/office/drawing/2014/main" id="{EF9DB2FE-44FE-2064-9A30-941B7121C29F}"/>
              </a:ext>
            </a:extLst>
          </p:cNvPr>
          <p:cNvGraphicFramePr>
            <a:graphicFrameLocks noGrp="1"/>
          </p:cNvGraphicFramePr>
          <p:nvPr/>
        </p:nvGraphicFramePr>
        <p:xfrm>
          <a:off x="4924546" y="260953"/>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cxnSp>
        <p:nvCxnSpPr>
          <p:cNvPr id="32" name="Straight Arrow Connector 31">
            <a:extLst>
              <a:ext uri="{FF2B5EF4-FFF2-40B4-BE49-F238E27FC236}">
                <a16:creationId xmlns:a16="http://schemas.microsoft.com/office/drawing/2014/main" id="{01C4C3FD-28BA-90B7-F9D1-679D14C7223B}"/>
              </a:ext>
            </a:extLst>
          </p:cNvPr>
          <p:cNvCxnSpPr>
            <a:cxnSpLocks/>
          </p:cNvCxnSpPr>
          <p:nvPr/>
        </p:nvCxnSpPr>
        <p:spPr>
          <a:xfrm flipV="1">
            <a:off x="5575479" y="1131977"/>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TextBox 34">
            <a:extLst>
              <a:ext uri="{FF2B5EF4-FFF2-40B4-BE49-F238E27FC236}">
                <a16:creationId xmlns:a16="http://schemas.microsoft.com/office/drawing/2014/main" id="{22225A43-76C9-BAD5-9416-A73328B62D80}"/>
              </a:ext>
            </a:extLst>
          </p:cNvPr>
          <p:cNvSpPr txBox="1"/>
          <p:nvPr/>
        </p:nvSpPr>
        <p:spPr>
          <a:xfrm>
            <a:off x="4445081" y="2027034"/>
            <a:ext cx="1401905"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clinical variables</a:t>
            </a:r>
          </a:p>
        </p:txBody>
      </p:sp>
      <p:sp>
        <p:nvSpPr>
          <p:cNvPr id="14" name="TextBox 13">
            <a:extLst>
              <a:ext uri="{FF2B5EF4-FFF2-40B4-BE49-F238E27FC236}">
                <a16:creationId xmlns:a16="http://schemas.microsoft.com/office/drawing/2014/main" id="{0FF6E349-38B8-88F0-2AA4-F88DD63A76CE}"/>
              </a:ext>
            </a:extLst>
          </p:cNvPr>
          <p:cNvSpPr txBox="1"/>
          <p:nvPr/>
        </p:nvSpPr>
        <p:spPr>
          <a:xfrm>
            <a:off x="5242589" y="1136983"/>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graphicFrame>
        <p:nvGraphicFramePr>
          <p:cNvPr id="9" name="Table 13">
            <a:extLst>
              <a:ext uri="{FF2B5EF4-FFF2-40B4-BE49-F238E27FC236}">
                <a16:creationId xmlns:a16="http://schemas.microsoft.com/office/drawing/2014/main" id="{B6B5BA4C-7402-2520-B7FE-3D5BB47AE30F}"/>
              </a:ext>
            </a:extLst>
          </p:cNvPr>
          <p:cNvGraphicFramePr>
            <a:graphicFrameLocks noGrp="1"/>
          </p:cNvGraphicFramePr>
          <p:nvPr/>
        </p:nvGraphicFramePr>
        <p:xfrm>
          <a:off x="4924546" y="2474678"/>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graphicFrame>
        <p:nvGraphicFramePr>
          <p:cNvPr id="10" name="Table 9">
            <a:extLst>
              <a:ext uri="{FF2B5EF4-FFF2-40B4-BE49-F238E27FC236}">
                <a16:creationId xmlns:a16="http://schemas.microsoft.com/office/drawing/2014/main" id="{B80F1334-B351-0498-41E0-7A97C78CD8A0}"/>
              </a:ext>
            </a:extLst>
          </p:cNvPr>
          <p:cNvGraphicFramePr>
            <a:graphicFrameLocks noGrp="1"/>
          </p:cNvGraphicFramePr>
          <p:nvPr/>
        </p:nvGraphicFramePr>
        <p:xfrm>
          <a:off x="6441891" y="3089220"/>
          <a:ext cx="2343891" cy="522772"/>
        </p:xfrm>
        <a:graphic>
          <a:graphicData uri="http://schemas.openxmlformats.org/drawingml/2006/table">
            <a:tbl>
              <a:tblPr firstRow="1" bandRow="1">
                <a:tableStyleId>{5C22544A-7EE6-4342-B048-85BDC9FD1C3A}</a:tableStyleId>
              </a:tblPr>
              <a:tblGrid>
                <a:gridCol w="2343891">
                  <a:extLst>
                    <a:ext uri="{9D8B030D-6E8A-4147-A177-3AD203B41FA5}">
                      <a16:colId xmlns:a16="http://schemas.microsoft.com/office/drawing/2014/main" val="4002730172"/>
                    </a:ext>
                  </a:extLst>
                </a:gridCol>
              </a:tblGrid>
              <a:tr h="522772">
                <a:tc>
                  <a:txBody>
                    <a:bodyPr/>
                    <a:lstStyle/>
                    <a:p>
                      <a:pPr algn="ctr"/>
                      <a:r>
                        <a:rPr lang="en-US" dirty="0">
                          <a:solidFill>
                            <a:schemeClr val="tx1"/>
                          </a:solidFill>
                        </a:rPr>
                        <a:t>P(outcome | data)</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1" name="Straight Arrow Connector 10">
            <a:extLst>
              <a:ext uri="{FF2B5EF4-FFF2-40B4-BE49-F238E27FC236}">
                <a16:creationId xmlns:a16="http://schemas.microsoft.com/office/drawing/2014/main" id="{EE0CC344-9B28-3D91-1325-03E783CE6F86}"/>
              </a:ext>
            </a:extLst>
          </p:cNvPr>
          <p:cNvCxnSpPr>
            <a:cxnSpLocks/>
          </p:cNvCxnSpPr>
          <p:nvPr/>
        </p:nvCxnSpPr>
        <p:spPr>
          <a:xfrm flipV="1">
            <a:off x="5575479" y="3345702"/>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330E205F-6954-036F-2A64-8639A3C33A13}"/>
              </a:ext>
            </a:extLst>
          </p:cNvPr>
          <p:cNvSpPr txBox="1"/>
          <p:nvPr/>
        </p:nvSpPr>
        <p:spPr>
          <a:xfrm>
            <a:off x="4445081" y="4240759"/>
            <a:ext cx="1401905" cy="307777"/>
          </a:xfrm>
          <a:prstGeom prst="rect">
            <a:avLst/>
          </a:prstGeom>
          <a:noFill/>
        </p:spPr>
        <p:txBody>
          <a:bodyPr wrap="square" rtlCol="0">
            <a:spAutoFit/>
          </a:bodyPr>
          <a:lstStyle/>
          <a:p>
            <a:pPr algn="ctr"/>
            <a:r>
              <a:rPr lang="en-US" sz="1400" dirty="0">
                <a:solidFill>
                  <a:schemeClr val="accent1"/>
                </a:solidFill>
                <a:latin typeface="Times New Roman" panose="02020603050405020304" pitchFamily="18" charset="0"/>
                <a:cs typeface="Times New Roman" panose="02020603050405020304" pitchFamily="18" charset="0"/>
              </a:rPr>
              <a:t>image features</a:t>
            </a:r>
          </a:p>
        </p:txBody>
      </p:sp>
      <p:sp>
        <p:nvSpPr>
          <p:cNvPr id="15" name="TextBox 14">
            <a:extLst>
              <a:ext uri="{FF2B5EF4-FFF2-40B4-BE49-F238E27FC236}">
                <a16:creationId xmlns:a16="http://schemas.microsoft.com/office/drawing/2014/main" id="{5093AD6F-4828-9F7C-8B6A-F407FE644B32}"/>
              </a:ext>
            </a:extLst>
          </p:cNvPr>
          <p:cNvSpPr txBox="1"/>
          <p:nvPr/>
        </p:nvSpPr>
        <p:spPr>
          <a:xfrm>
            <a:off x="5242589" y="3350708"/>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graphicFrame>
        <p:nvGraphicFramePr>
          <p:cNvPr id="16" name="Table 13">
            <a:extLst>
              <a:ext uri="{FF2B5EF4-FFF2-40B4-BE49-F238E27FC236}">
                <a16:creationId xmlns:a16="http://schemas.microsoft.com/office/drawing/2014/main" id="{88982548-26D7-8DEF-796C-BF1CD04DE0DA}"/>
              </a:ext>
            </a:extLst>
          </p:cNvPr>
          <p:cNvGraphicFramePr>
            <a:graphicFrameLocks noGrp="1"/>
          </p:cNvGraphicFramePr>
          <p:nvPr/>
        </p:nvGraphicFramePr>
        <p:xfrm>
          <a:off x="4909094" y="4622622"/>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cxnSp>
        <p:nvCxnSpPr>
          <p:cNvPr id="18" name="Straight Arrow Connector 17">
            <a:extLst>
              <a:ext uri="{FF2B5EF4-FFF2-40B4-BE49-F238E27FC236}">
                <a16:creationId xmlns:a16="http://schemas.microsoft.com/office/drawing/2014/main" id="{4B5856AD-190A-3B66-68DE-538E7AB0DD48}"/>
              </a:ext>
            </a:extLst>
          </p:cNvPr>
          <p:cNvCxnSpPr>
            <a:cxnSpLocks/>
          </p:cNvCxnSpPr>
          <p:nvPr/>
        </p:nvCxnSpPr>
        <p:spPr>
          <a:xfrm flipV="1">
            <a:off x="5560027" y="5493646"/>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0" name="TextBox 19">
            <a:extLst>
              <a:ext uri="{FF2B5EF4-FFF2-40B4-BE49-F238E27FC236}">
                <a16:creationId xmlns:a16="http://schemas.microsoft.com/office/drawing/2014/main" id="{4317E2C9-4080-B19D-14E7-C4C8D977B327}"/>
              </a:ext>
            </a:extLst>
          </p:cNvPr>
          <p:cNvSpPr txBox="1"/>
          <p:nvPr/>
        </p:nvSpPr>
        <p:spPr>
          <a:xfrm>
            <a:off x="4357037" y="6364670"/>
            <a:ext cx="1577991" cy="307777"/>
          </a:xfrm>
          <a:prstGeom prst="rect">
            <a:avLst/>
          </a:prstGeom>
          <a:noFill/>
        </p:spPr>
        <p:txBody>
          <a:bodyPr wrap="square" rtlCol="0">
            <a:spAutoFit/>
          </a:bodyPr>
          <a:lstStyle/>
          <a:p>
            <a:pPr algn="ctr"/>
            <a:r>
              <a:rPr lang="en-US" sz="1400" dirty="0">
                <a:solidFill>
                  <a:schemeClr val="accent2"/>
                </a:solidFill>
                <a:latin typeface="Times New Roman" panose="02020603050405020304" pitchFamily="18" charset="0"/>
                <a:cs typeface="Times New Roman" panose="02020603050405020304" pitchFamily="18" charset="0"/>
              </a:rPr>
              <a:t>document features</a:t>
            </a:r>
          </a:p>
        </p:txBody>
      </p:sp>
      <p:sp>
        <p:nvSpPr>
          <p:cNvPr id="21" name="TextBox 20">
            <a:extLst>
              <a:ext uri="{FF2B5EF4-FFF2-40B4-BE49-F238E27FC236}">
                <a16:creationId xmlns:a16="http://schemas.microsoft.com/office/drawing/2014/main" id="{DE36D2C9-F028-0185-A941-18229757AF6B}"/>
              </a:ext>
            </a:extLst>
          </p:cNvPr>
          <p:cNvSpPr txBox="1"/>
          <p:nvPr/>
        </p:nvSpPr>
        <p:spPr>
          <a:xfrm>
            <a:off x="5227137" y="5498652"/>
            <a:ext cx="1356302"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logistic</a:t>
            </a:r>
          </a:p>
          <a:p>
            <a:pPr algn="ctr"/>
            <a:r>
              <a:rPr lang="en-US" sz="1200" dirty="0">
                <a:latin typeface="Times New Roman" panose="02020603050405020304" pitchFamily="18" charset="0"/>
                <a:cs typeface="Times New Roman" panose="02020603050405020304" pitchFamily="18" charset="0"/>
              </a:rPr>
              <a:t>regression</a:t>
            </a:r>
          </a:p>
        </p:txBody>
      </p:sp>
      <p:cxnSp>
        <p:nvCxnSpPr>
          <p:cNvPr id="23" name="Straight Arrow Connector 22">
            <a:extLst>
              <a:ext uri="{FF2B5EF4-FFF2-40B4-BE49-F238E27FC236}">
                <a16:creationId xmlns:a16="http://schemas.microsoft.com/office/drawing/2014/main" id="{8E3F5C9D-A35F-8CF1-7A77-AD2117AE0DBD}"/>
              </a:ext>
            </a:extLst>
          </p:cNvPr>
          <p:cNvCxnSpPr>
            <a:cxnSpLocks/>
            <a:stCxn id="24" idx="3"/>
            <a:endCxn id="25" idx="1"/>
          </p:cNvCxnSpPr>
          <p:nvPr/>
        </p:nvCxnSpPr>
        <p:spPr>
          <a:xfrm>
            <a:off x="753385" y="5516180"/>
            <a:ext cx="135191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4" name="Picture 23">
            <a:extLst>
              <a:ext uri="{FF2B5EF4-FFF2-40B4-BE49-F238E27FC236}">
                <a16:creationId xmlns:a16="http://schemas.microsoft.com/office/drawing/2014/main" id="{04E8665A-2FB6-91B5-44EA-DFB20147C33C}"/>
              </a:ext>
            </a:extLst>
          </p:cNvPr>
          <p:cNvPicPr>
            <a:picLocks noChangeAspect="1"/>
          </p:cNvPicPr>
          <p:nvPr/>
        </p:nvPicPr>
        <p:blipFill rotWithShape="1">
          <a:blip r:embed="rId3"/>
          <a:srcRect l="11976" t="10927" r="11177" b="12059"/>
          <a:stretch/>
        </p:blipFill>
        <p:spPr>
          <a:xfrm>
            <a:off x="-674254" y="4590414"/>
            <a:ext cx="1427639" cy="1851532"/>
          </a:xfrm>
          <a:prstGeom prst="rect">
            <a:avLst/>
          </a:prstGeom>
          <a:ln>
            <a:solidFill>
              <a:schemeClr val="tx1"/>
            </a:solidFill>
          </a:ln>
        </p:spPr>
      </p:pic>
      <p:sp>
        <p:nvSpPr>
          <p:cNvPr id="25" name="Rounded Rectangle 24">
            <a:extLst>
              <a:ext uri="{FF2B5EF4-FFF2-40B4-BE49-F238E27FC236}">
                <a16:creationId xmlns:a16="http://schemas.microsoft.com/office/drawing/2014/main" id="{31B50083-D0AD-4399-3C04-0926F2285B2F}"/>
              </a:ext>
            </a:extLst>
          </p:cNvPr>
          <p:cNvSpPr/>
          <p:nvPr/>
        </p:nvSpPr>
        <p:spPr>
          <a:xfrm>
            <a:off x="2105299" y="5045475"/>
            <a:ext cx="1729425" cy="94140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NLP</a:t>
            </a:r>
          </a:p>
          <a:p>
            <a:pPr algn="ctr"/>
            <a:r>
              <a:rPr lang="en-US" dirty="0"/>
              <a:t>Encoder</a:t>
            </a:r>
          </a:p>
        </p:txBody>
      </p:sp>
      <p:cxnSp>
        <p:nvCxnSpPr>
          <p:cNvPr id="26" name="Straight Arrow Connector 25">
            <a:extLst>
              <a:ext uri="{FF2B5EF4-FFF2-40B4-BE49-F238E27FC236}">
                <a16:creationId xmlns:a16="http://schemas.microsoft.com/office/drawing/2014/main" id="{B78A6A29-E63C-7A68-B046-5130FA696213}"/>
              </a:ext>
            </a:extLst>
          </p:cNvPr>
          <p:cNvCxnSpPr>
            <a:cxnSpLocks/>
          </p:cNvCxnSpPr>
          <p:nvPr/>
        </p:nvCxnSpPr>
        <p:spPr>
          <a:xfrm>
            <a:off x="3947863" y="5493646"/>
            <a:ext cx="87243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08C7A54A-AD84-0C41-FB57-1AC124FCE447}"/>
              </a:ext>
            </a:extLst>
          </p:cNvPr>
          <p:cNvSpPr txBox="1"/>
          <p:nvPr/>
        </p:nvSpPr>
        <p:spPr>
          <a:xfrm>
            <a:off x="-437913" y="6464323"/>
            <a:ext cx="954956" cy="307777"/>
          </a:xfrm>
          <a:prstGeom prst="rect">
            <a:avLst/>
          </a:prstGeom>
          <a:noFill/>
        </p:spPr>
        <p:txBody>
          <a:bodyPr wrap="square" rtlCol="0">
            <a:spAutoFit/>
          </a:bodyPr>
          <a:lstStyle/>
          <a:p>
            <a:pPr algn="ctr"/>
            <a:r>
              <a:rPr lang="en-US" sz="1400" dirty="0">
                <a:solidFill>
                  <a:schemeClr val="accent2"/>
                </a:solidFill>
                <a:latin typeface="Times New Roman" panose="02020603050405020304" pitchFamily="18" charset="0"/>
                <a:cs typeface="Times New Roman" panose="02020603050405020304" pitchFamily="18" charset="0"/>
              </a:rPr>
              <a:t>document</a:t>
            </a:r>
          </a:p>
        </p:txBody>
      </p:sp>
      <p:cxnSp>
        <p:nvCxnSpPr>
          <p:cNvPr id="29" name="Straight Arrow Connector 28">
            <a:extLst>
              <a:ext uri="{FF2B5EF4-FFF2-40B4-BE49-F238E27FC236}">
                <a16:creationId xmlns:a16="http://schemas.microsoft.com/office/drawing/2014/main" id="{60B5A558-6A9D-E426-B64E-7548596A03F5}"/>
              </a:ext>
            </a:extLst>
          </p:cNvPr>
          <p:cNvCxnSpPr>
            <a:cxnSpLocks/>
            <a:stCxn id="6" idx="3"/>
          </p:cNvCxnSpPr>
          <p:nvPr/>
        </p:nvCxnSpPr>
        <p:spPr>
          <a:xfrm>
            <a:off x="753385" y="3345702"/>
            <a:ext cx="13519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a:extLst>
              <a:ext uri="{FF2B5EF4-FFF2-40B4-BE49-F238E27FC236}">
                <a16:creationId xmlns:a16="http://schemas.microsoft.com/office/drawing/2014/main" id="{6489AB73-6105-77F7-DD76-3AB9CD8B9EDD}"/>
              </a:ext>
            </a:extLst>
          </p:cNvPr>
          <p:cNvCxnSpPr>
            <a:cxnSpLocks/>
          </p:cNvCxnSpPr>
          <p:nvPr/>
        </p:nvCxnSpPr>
        <p:spPr>
          <a:xfrm>
            <a:off x="3947863" y="3345702"/>
            <a:ext cx="87243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7" name="Rounded Rectangle 36">
            <a:extLst>
              <a:ext uri="{FF2B5EF4-FFF2-40B4-BE49-F238E27FC236}">
                <a16:creationId xmlns:a16="http://schemas.microsoft.com/office/drawing/2014/main" id="{50C41C05-57AC-D749-D4F0-D19731F67ACD}"/>
              </a:ext>
            </a:extLst>
          </p:cNvPr>
          <p:cNvSpPr/>
          <p:nvPr/>
        </p:nvSpPr>
        <p:spPr>
          <a:xfrm>
            <a:off x="2105298" y="2901070"/>
            <a:ext cx="1729425" cy="941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CNN</a:t>
            </a:r>
          </a:p>
          <a:p>
            <a:pPr algn="ctr"/>
            <a:r>
              <a:rPr lang="en-US" dirty="0"/>
              <a:t>Encoder</a:t>
            </a:r>
          </a:p>
        </p:txBody>
      </p:sp>
      <p:pic>
        <p:nvPicPr>
          <p:cNvPr id="6" name="Picture 5">
            <a:extLst>
              <a:ext uri="{FF2B5EF4-FFF2-40B4-BE49-F238E27FC236}">
                <a16:creationId xmlns:a16="http://schemas.microsoft.com/office/drawing/2014/main" id="{CE8B9B13-8CBE-B25B-6C61-6148AC370E20}"/>
              </a:ext>
            </a:extLst>
          </p:cNvPr>
          <p:cNvPicPr>
            <a:picLocks noChangeAspect="1"/>
          </p:cNvPicPr>
          <p:nvPr/>
        </p:nvPicPr>
        <p:blipFill>
          <a:blip r:embed="rId4"/>
          <a:stretch>
            <a:fillRect/>
          </a:stretch>
        </p:blipFill>
        <p:spPr>
          <a:xfrm>
            <a:off x="-674254" y="2614819"/>
            <a:ext cx="1427639" cy="1461765"/>
          </a:xfrm>
          <a:prstGeom prst="rect">
            <a:avLst/>
          </a:prstGeom>
        </p:spPr>
      </p:pic>
      <p:sp>
        <p:nvSpPr>
          <p:cNvPr id="40" name="TextBox 39">
            <a:extLst>
              <a:ext uri="{FF2B5EF4-FFF2-40B4-BE49-F238E27FC236}">
                <a16:creationId xmlns:a16="http://schemas.microsoft.com/office/drawing/2014/main" id="{8F40CC7A-9049-9757-2315-98EA063A9F21}"/>
              </a:ext>
            </a:extLst>
          </p:cNvPr>
          <p:cNvSpPr txBox="1"/>
          <p:nvPr/>
        </p:nvSpPr>
        <p:spPr>
          <a:xfrm>
            <a:off x="-661388" y="4086870"/>
            <a:ext cx="1401905" cy="307777"/>
          </a:xfrm>
          <a:prstGeom prst="rect">
            <a:avLst/>
          </a:prstGeom>
          <a:noFill/>
        </p:spPr>
        <p:txBody>
          <a:bodyPr wrap="square" rtlCol="0">
            <a:spAutoFit/>
          </a:bodyPr>
          <a:lstStyle/>
          <a:p>
            <a:pPr algn="ctr"/>
            <a:r>
              <a:rPr lang="en-US" sz="1400" dirty="0">
                <a:solidFill>
                  <a:schemeClr val="accent1"/>
                </a:solidFill>
                <a:latin typeface="Times New Roman" panose="02020603050405020304" pitchFamily="18" charset="0"/>
                <a:cs typeface="Times New Roman" panose="02020603050405020304" pitchFamily="18" charset="0"/>
              </a:rPr>
              <a:t>image</a:t>
            </a:r>
          </a:p>
        </p:txBody>
      </p:sp>
      <p:sp>
        <p:nvSpPr>
          <p:cNvPr id="42" name="Title 1">
            <a:extLst>
              <a:ext uri="{FF2B5EF4-FFF2-40B4-BE49-F238E27FC236}">
                <a16:creationId xmlns:a16="http://schemas.microsoft.com/office/drawing/2014/main" id="{4418A75E-2513-0FFA-F69A-C5B50AF18962}"/>
              </a:ext>
            </a:extLst>
          </p:cNvPr>
          <p:cNvSpPr>
            <a:spLocks noGrp="1"/>
          </p:cNvSpPr>
          <p:nvPr>
            <p:ph type="title"/>
          </p:nvPr>
        </p:nvSpPr>
        <p:spPr>
          <a:xfrm>
            <a:off x="517043" y="481191"/>
            <a:ext cx="5512969" cy="1325563"/>
          </a:xfrm>
        </p:spPr>
        <p:txBody>
          <a:bodyPr/>
          <a:lstStyle/>
          <a:p>
            <a:r>
              <a:rPr lang="en-US" b="1" dirty="0"/>
              <a:t>Late</a:t>
            </a:r>
            <a:r>
              <a:rPr lang="en-US" dirty="0"/>
              <a:t> fusion</a:t>
            </a:r>
          </a:p>
        </p:txBody>
      </p:sp>
      <p:graphicFrame>
        <p:nvGraphicFramePr>
          <p:cNvPr id="2" name="Table 1">
            <a:extLst>
              <a:ext uri="{FF2B5EF4-FFF2-40B4-BE49-F238E27FC236}">
                <a16:creationId xmlns:a16="http://schemas.microsoft.com/office/drawing/2014/main" id="{42F54601-F8E0-DAAC-5725-3F0B87DC9C38}"/>
              </a:ext>
            </a:extLst>
          </p:cNvPr>
          <p:cNvGraphicFramePr>
            <a:graphicFrameLocks noGrp="1"/>
          </p:cNvGraphicFramePr>
          <p:nvPr/>
        </p:nvGraphicFramePr>
        <p:xfrm>
          <a:off x="6441891" y="5238937"/>
          <a:ext cx="2343891" cy="522772"/>
        </p:xfrm>
        <a:graphic>
          <a:graphicData uri="http://schemas.openxmlformats.org/drawingml/2006/table">
            <a:tbl>
              <a:tblPr firstRow="1" bandRow="1">
                <a:tableStyleId>{5C22544A-7EE6-4342-B048-85BDC9FD1C3A}</a:tableStyleId>
              </a:tblPr>
              <a:tblGrid>
                <a:gridCol w="2343891">
                  <a:extLst>
                    <a:ext uri="{9D8B030D-6E8A-4147-A177-3AD203B41FA5}">
                      <a16:colId xmlns:a16="http://schemas.microsoft.com/office/drawing/2014/main" val="4002730172"/>
                    </a:ext>
                  </a:extLst>
                </a:gridCol>
              </a:tblGrid>
              <a:tr h="522772">
                <a:tc>
                  <a:txBody>
                    <a:bodyPr/>
                    <a:lstStyle/>
                    <a:p>
                      <a:pPr algn="ctr"/>
                      <a:r>
                        <a:rPr lang="en-US" dirty="0">
                          <a:solidFill>
                            <a:schemeClr val="tx1"/>
                          </a:solidFill>
                        </a:rPr>
                        <a:t>P(outcome | data)</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graphicFrame>
        <p:nvGraphicFramePr>
          <p:cNvPr id="3" name="Table 2">
            <a:extLst>
              <a:ext uri="{FF2B5EF4-FFF2-40B4-BE49-F238E27FC236}">
                <a16:creationId xmlns:a16="http://schemas.microsoft.com/office/drawing/2014/main" id="{E1961005-0F57-CA91-A9D9-6FFD1B72F541}"/>
              </a:ext>
            </a:extLst>
          </p:cNvPr>
          <p:cNvGraphicFramePr>
            <a:graphicFrameLocks noGrp="1"/>
          </p:cNvGraphicFramePr>
          <p:nvPr/>
        </p:nvGraphicFramePr>
        <p:xfrm>
          <a:off x="6441891" y="873825"/>
          <a:ext cx="2343891" cy="522772"/>
        </p:xfrm>
        <a:graphic>
          <a:graphicData uri="http://schemas.openxmlformats.org/drawingml/2006/table">
            <a:tbl>
              <a:tblPr firstRow="1" bandRow="1">
                <a:tableStyleId>{5C22544A-7EE6-4342-B048-85BDC9FD1C3A}</a:tableStyleId>
              </a:tblPr>
              <a:tblGrid>
                <a:gridCol w="2343891">
                  <a:extLst>
                    <a:ext uri="{9D8B030D-6E8A-4147-A177-3AD203B41FA5}">
                      <a16:colId xmlns:a16="http://schemas.microsoft.com/office/drawing/2014/main" val="4002730172"/>
                    </a:ext>
                  </a:extLst>
                </a:gridCol>
              </a:tblGrid>
              <a:tr h="522772">
                <a:tc>
                  <a:txBody>
                    <a:bodyPr/>
                    <a:lstStyle/>
                    <a:p>
                      <a:pPr algn="ctr"/>
                      <a:r>
                        <a:rPr lang="en-US" dirty="0">
                          <a:solidFill>
                            <a:schemeClr val="tx1"/>
                          </a:solidFill>
                        </a:rPr>
                        <a:t>P(outcome | data)</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
        <p:nvSpPr>
          <p:cNvPr id="4" name="Left Brace 3">
            <a:extLst>
              <a:ext uri="{FF2B5EF4-FFF2-40B4-BE49-F238E27FC236}">
                <a16:creationId xmlns:a16="http://schemas.microsoft.com/office/drawing/2014/main" id="{45CB0E17-C0AE-2556-E55B-5EACB8A6C5FF}"/>
              </a:ext>
            </a:extLst>
          </p:cNvPr>
          <p:cNvSpPr/>
          <p:nvPr/>
        </p:nvSpPr>
        <p:spPr>
          <a:xfrm rot="10800000">
            <a:off x="8961671" y="873825"/>
            <a:ext cx="329938" cy="4887884"/>
          </a:xfrm>
          <a:prstGeom prst="leftBrace">
            <a:avLst>
              <a:gd name="adj1" fmla="val 8333"/>
              <a:gd name="adj2" fmla="val 82208"/>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C053C207-3DB0-4444-C212-A10798213B0F}"/>
              </a:ext>
            </a:extLst>
          </p:cNvPr>
          <p:cNvSpPr txBox="1"/>
          <p:nvPr/>
        </p:nvSpPr>
        <p:spPr>
          <a:xfrm>
            <a:off x="9291608" y="1546636"/>
            <a:ext cx="2595591" cy="3693319"/>
          </a:xfrm>
          <a:prstGeom prst="rect">
            <a:avLst/>
          </a:prstGeom>
          <a:noFill/>
        </p:spPr>
        <p:txBody>
          <a:bodyPr wrap="square" rtlCol="0">
            <a:spAutoFit/>
          </a:bodyPr>
          <a:lstStyle/>
          <a:p>
            <a:r>
              <a:rPr lang="en-US" dirty="0"/>
              <a:t>aggregate predictions</a:t>
            </a:r>
          </a:p>
          <a:p>
            <a:endParaRPr lang="en-US" dirty="0"/>
          </a:p>
          <a:p>
            <a:pPr marL="285750" indent="-285750">
              <a:buFontTx/>
              <a:buChar char="-"/>
            </a:pPr>
            <a:r>
              <a:rPr lang="en-US" dirty="0"/>
              <a:t>Average</a:t>
            </a:r>
          </a:p>
          <a:p>
            <a:pPr marL="285750" indent="-285750">
              <a:buFontTx/>
              <a:buChar char="-"/>
            </a:pPr>
            <a:r>
              <a:rPr lang="en-US" dirty="0"/>
              <a:t>Max (e.g., MIL)</a:t>
            </a:r>
          </a:p>
          <a:p>
            <a:pPr marL="285750" indent="-285750">
              <a:buFontTx/>
              <a:buChar char="-"/>
            </a:pPr>
            <a:r>
              <a:rPr lang="en-US" dirty="0"/>
              <a:t>Meta-predictor (this is called </a:t>
            </a:r>
            <a:r>
              <a:rPr lang="en-US" i="1" dirty="0"/>
              <a:t>stacking</a:t>
            </a:r>
            <a:r>
              <a:rPr lang="en-US" dirty="0"/>
              <a:t>)</a:t>
            </a:r>
          </a:p>
          <a:p>
            <a:pPr marL="285750" indent="-285750">
              <a:buFontTx/>
              <a:buChar char="-"/>
            </a:pPr>
            <a:r>
              <a:rPr lang="en-US" dirty="0"/>
              <a:t>Bayesian fusion</a:t>
            </a:r>
          </a:p>
          <a:p>
            <a:pPr marL="285750" indent="-285750">
              <a:buFontTx/>
              <a:buChar char="-"/>
            </a:pPr>
            <a:endParaRPr lang="en-US" dirty="0"/>
          </a:p>
          <a:p>
            <a:r>
              <a:rPr lang="en-US" dirty="0"/>
              <a:t>(a range of strategies, some more complicated than others, can be used to aggregate)</a:t>
            </a:r>
          </a:p>
          <a:p>
            <a:pPr marL="285750" indent="-285750">
              <a:buFontTx/>
              <a:buChar char="-"/>
            </a:pPr>
            <a:endParaRPr lang="en-US" dirty="0"/>
          </a:p>
        </p:txBody>
      </p:sp>
    </p:spTree>
    <p:extLst>
      <p:ext uri="{BB962C8B-B14F-4D97-AF65-F5344CB8AC3E}">
        <p14:creationId xmlns:p14="http://schemas.microsoft.com/office/powerpoint/2010/main" val="1886059187"/>
      </p:ext>
    </p:extLst>
  </p:cSld>
  <p:clrMapOvr>
    <a:masterClrMapping/>
  </p:clrMapOvr>
  <mc:AlternateContent xmlns:mc="http://schemas.openxmlformats.org/markup-compatibility/2006" xmlns:p14="http://schemas.microsoft.com/office/powerpoint/2010/main">
    <mc:Choice Requires="p14">
      <p:transition spd="slow" p14:dur="2000" advTm="48479"/>
    </mc:Choice>
    <mc:Fallback xmlns="">
      <p:transition spd="slow" advTm="48479"/>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1FAC8BA-4E0B-8546-91E3-DB4FD3DE1834}"/>
              </a:ext>
            </a:extLst>
          </p:cNvPr>
          <p:cNvSpPr>
            <a:spLocks noGrp="1"/>
          </p:cNvSpPr>
          <p:nvPr>
            <p:ph type="title"/>
          </p:nvPr>
        </p:nvSpPr>
        <p:spPr>
          <a:xfrm>
            <a:off x="303368" y="221171"/>
            <a:ext cx="6672467" cy="1591351"/>
          </a:xfrm>
        </p:spPr>
        <p:txBody>
          <a:bodyPr/>
          <a:lstStyle/>
          <a:p>
            <a:r>
              <a:rPr lang="en-US" b="1" dirty="0"/>
              <a:t>Joint</a:t>
            </a:r>
            <a:r>
              <a:rPr lang="en-US" dirty="0"/>
              <a:t> fusion by feature concatenation</a:t>
            </a:r>
          </a:p>
        </p:txBody>
      </p:sp>
      <p:graphicFrame>
        <p:nvGraphicFramePr>
          <p:cNvPr id="12" name="Table 13">
            <a:extLst>
              <a:ext uri="{FF2B5EF4-FFF2-40B4-BE49-F238E27FC236}">
                <a16:creationId xmlns:a16="http://schemas.microsoft.com/office/drawing/2014/main" id="{66DE0EB4-5271-E145-8A0D-9F253C4AA1EA}"/>
              </a:ext>
            </a:extLst>
          </p:cNvPr>
          <p:cNvGraphicFramePr>
            <a:graphicFrameLocks noGrp="1"/>
          </p:cNvGraphicFramePr>
          <p:nvPr/>
        </p:nvGraphicFramePr>
        <p:xfrm>
          <a:off x="7884561" y="737636"/>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graphicFrame>
        <p:nvGraphicFramePr>
          <p:cNvPr id="9" name="Table 13">
            <a:extLst>
              <a:ext uri="{FF2B5EF4-FFF2-40B4-BE49-F238E27FC236}">
                <a16:creationId xmlns:a16="http://schemas.microsoft.com/office/drawing/2014/main" id="{746AD1A7-A8CE-B04A-AC5B-3670F8BE0D26}"/>
              </a:ext>
            </a:extLst>
          </p:cNvPr>
          <p:cNvGraphicFramePr>
            <a:graphicFrameLocks noGrp="1"/>
          </p:cNvGraphicFramePr>
          <p:nvPr/>
        </p:nvGraphicFramePr>
        <p:xfrm>
          <a:off x="7884561" y="2474678"/>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cxnSp>
        <p:nvCxnSpPr>
          <p:cNvPr id="11" name="Straight Arrow Connector 10">
            <a:extLst>
              <a:ext uri="{FF2B5EF4-FFF2-40B4-BE49-F238E27FC236}">
                <a16:creationId xmlns:a16="http://schemas.microsoft.com/office/drawing/2014/main" id="{67F4FB97-E33B-AA44-94E1-17E5647B4662}"/>
              </a:ext>
            </a:extLst>
          </p:cNvPr>
          <p:cNvCxnSpPr>
            <a:cxnSpLocks/>
          </p:cNvCxnSpPr>
          <p:nvPr/>
        </p:nvCxnSpPr>
        <p:spPr>
          <a:xfrm flipV="1">
            <a:off x="8535494" y="3345702"/>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aphicFrame>
        <p:nvGraphicFramePr>
          <p:cNvPr id="16" name="Table 13">
            <a:extLst>
              <a:ext uri="{FF2B5EF4-FFF2-40B4-BE49-F238E27FC236}">
                <a16:creationId xmlns:a16="http://schemas.microsoft.com/office/drawing/2014/main" id="{AB988508-78BB-F84A-851B-C1F7A549B78E}"/>
              </a:ext>
            </a:extLst>
          </p:cNvPr>
          <p:cNvGraphicFramePr>
            <a:graphicFrameLocks noGrp="1"/>
          </p:cNvGraphicFramePr>
          <p:nvPr/>
        </p:nvGraphicFramePr>
        <p:xfrm>
          <a:off x="7884559" y="4218269"/>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sp>
        <p:nvSpPr>
          <p:cNvPr id="20" name="TextBox 19">
            <a:extLst>
              <a:ext uri="{FF2B5EF4-FFF2-40B4-BE49-F238E27FC236}">
                <a16:creationId xmlns:a16="http://schemas.microsoft.com/office/drawing/2014/main" id="{DB0E48F9-4EF4-1E44-818A-008E9B5007DE}"/>
              </a:ext>
            </a:extLst>
          </p:cNvPr>
          <p:cNvSpPr txBox="1"/>
          <p:nvPr/>
        </p:nvSpPr>
        <p:spPr>
          <a:xfrm>
            <a:off x="7317051" y="6072614"/>
            <a:ext cx="1577991" cy="738664"/>
          </a:xfrm>
          <a:prstGeom prst="rect">
            <a:avLst/>
          </a:prstGeom>
          <a:noFill/>
        </p:spPr>
        <p:txBody>
          <a:bodyPr wrap="square" rtlCol="0">
            <a:spAutoFit/>
          </a:bodyPr>
          <a:lstStyle/>
          <a:p>
            <a:pPr algn="ctr"/>
            <a:r>
              <a:rPr lang="en-US" sz="1400" b="1" dirty="0">
                <a:solidFill>
                  <a:schemeClr val="accent6"/>
                </a:solidFill>
                <a:latin typeface="Times New Roman" panose="02020603050405020304" pitchFamily="18" charset="0"/>
                <a:cs typeface="Times New Roman" panose="02020603050405020304" pitchFamily="18" charset="0"/>
              </a:rPr>
              <a:t>concatenated, multi-modal features</a:t>
            </a:r>
          </a:p>
        </p:txBody>
      </p:sp>
      <p:cxnSp>
        <p:nvCxnSpPr>
          <p:cNvPr id="23" name="Straight Arrow Connector 22">
            <a:extLst>
              <a:ext uri="{FF2B5EF4-FFF2-40B4-BE49-F238E27FC236}">
                <a16:creationId xmlns:a16="http://schemas.microsoft.com/office/drawing/2014/main" id="{C99D15D1-E5B8-8A4A-B14D-A552AF8EC658}"/>
              </a:ext>
            </a:extLst>
          </p:cNvPr>
          <p:cNvCxnSpPr>
            <a:cxnSpLocks/>
            <a:stCxn id="24" idx="3"/>
            <a:endCxn id="25" idx="1"/>
          </p:cNvCxnSpPr>
          <p:nvPr/>
        </p:nvCxnSpPr>
        <p:spPr>
          <a:xfrm>
            <a:off x="3713400" y="5516180"/>
            <a:ext cx="135191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4" name="Picture 23">
            <a:extLst>
              <a:ext uri="{FF2B5EF4-FFF2-40B4-BE49-F238E27FC236}">
                <a16:creationId xmlns:a16="http://schemas.microsoft.com/office/drawing/2014/main" id="{5A12126E-7EBD-954C-8299-8B118E3FC411}"/>
              </a:ext>
            </a:extLst>
          </p:cNvPr>
          <p:cNvPicPr>
            <a:picLocks noChangeAspect="1"/>
          </p:cNvPicPr>
          <p:nvPr/>
        </p:nvPicPr>
        <p:blipFill rotWithShape="1">
          <a:blip r:embed="rId3"/>
          <a:srcRect l="11976" t="10927" r="11177" b="12059"/>
          <a:stretch/>
        </p:blipFill>
        <p:spPr>
          <a:xfrm>
            <a:off x="2285761" y="4590414"/>
            <a:ext cx="1427639" cy="1851532"/>
          </a:xfrm>
          <a:prstGeom prst="rect">
            <a:avLst/>
          </a:prstGeom>
          <a:ln>
            <a:solidFill>
              <a:schemeClr val="tx1"/>
            </a:solidFill>
          </a:ln>
        </p:spPr>
      </p:pic>
      <p:sp>
        <p:nvSpPr>
          <p:cNvPr id="25" name="Rounded Rectangle 24">
            <a:extLst>
              <a:ext uri="{FF2B5EF4-FFF2-40B4-BE49-F238E27FC236}">
                <a16:creationId xmlns:a16="http://schemas.microsoft.com/office/drawing/2014/main" id="{4C309093-0E21-4D4F-BE06-75B99E7D29B9}"/>
              </a:ext>
            </a:extLst>
          </p:cNvPr>
          <p:cNvSpPr/>
          <p:nvPr/>
        </p:nvSpPr>
        <p:spPr>
          <a:xfrm>
            <a:off x="5065314" y="5045475"/>
            <a:ext cx="1729425" cy="94140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NLP</a:t>
            </a:r>
          </a:p>
          <a:p>
            <a:pPr algn="ctr"/>
            <a:r>
              <a:rPr lang="en-US" dirty="0"/>
              <a:t>Encoder</a:t>
            </a:r>
          </a:p>
        </p:txBody>
      </p:sp>
      <p:cxnSp>
        <p:nvCxnSpPr>
          <p:cNvPr id="26" name="Straight Arrow Connector 25">
            <a:extLst>
              <a:ext uri="{FF2B5EF4-FFF2-40B4-BE49-F238E27FC236}">
                <a16:creationId xmlns:a16="http://schemas.microsoft.com/office/drawing/2014/main" id="{7F45BFD6-0CBF-9842-A1F5-3BE048C3FCEA}"/>
              </a:ext>
            </a:extLst>
          </p:cNvPr>
          <p:cNvCxnSpPr>
            <a:cxnSpLocks/>
          </p:cNvCxnSpPr>
          <p:nvPr/>
        </p:nvCxnSpPr>
        <p:spPr>
          <a:xfrm flipV="1">
            <a:off x="6907878" y="5089293"/>
            <a:ext cx="872438" cy="40435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DCBB8291-5B14-B047-BE26-91988F66D549}"/>
              </a:ext>
            </a:extLst>
          </p:cNvPr>
          <p:cNvSpPr txBox="1"/>
          <p:nvPr/>
        </p:nvSpPr>
        <p:spPr>
          <a:xfrm>
            <a:off x="2522102" y="6464323"/>
            <a:ext cx="954956" cy="307777"/>
          </a:xfrm>
          <a:prstGeom prst="rect">
            <a:avLst/>
          </a:prstGeom>
          <a:noFill/>
        </p:spPr>
        <p:txBody>
          <a:bodyPr wrap="square" rtlCol="0">
            <a:spAutoFit/>
          </a:bodyPr>
          <a:lstStyle/>
          <a:p>
            <a:pPr algn="ctr"/>
            <a:r>
              <a:rPr lang="en-US" sz="1400" dirty="0">
                <a:solidFill>
                  <a:schemeClr val="accent2"/>
                </a:solidFill>
                <a:latin typeface="Times New Roman" panose="02020603050405020304" pitchFamily="18" charset="0"/>
                <a:cs typeface="Times New Roman" panose="02020603050405020304" pitchFamily="18" charset="0"/>
              </a:rPr>
              <a:t>document</a:t>
            </a:r>
          </a:p>
        </p:txBody>
      </p:sp>
      <p:cxnSp>
        <p:nvCxnSpPr>
          <p:cNvPr id="29" name="Straight Arrow Connector 28">
            <a:extLst>
              <a:ext uri="{FF2B5EF4-FFF2-40B4-BE49-F238E27FC236}">
                <a16:creationId xmlns:a16="http://schemas.microsoft.com/office/drawing/2014/main" id="{47E107A1-9D4E-C944-9AC7-C01A699C0805}"/>
              </a:ext>
            </a:extLst>
          </p:cNvPr>
          <p:cNvCxnSpPr>
            <a:cxnSpLocks/>
            <a:stCxn id="6" idx="3"/>
          </p:cNvCxnSpPr>
          <p:nvPr/>
        </p:nvCxnSpPr>
        <p:spPr>
          <a:xfrm>
            <a:off x="3713400" y="3345702"/>
            <a:ext cx="13519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a:extLst>
              <a:ext uri="{FF2B5EF4-FFF2-40B4-BE49-F238E27FC236}">
                <a16:creationId xmlns:a16="http://schemas.microsoft.com/office/drawing/2014/main" id="{8D45898F-E116-994B-9529-1300831A2303}"/>
              </a:ext>
            </a:extLst>
          </p:cNvPr>
          <p:cNvCxnSpPr>
            <a:cxnSpLocks/>
          </p:cNvCxnSpPr>
          <p:nvPr/>
        </p:nvCxnSpPr>
        <p:spPr>
          <a:xfrm>
            <a:off x="6907878" y="3345702"/>
            <a:ext cx="87243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7" name="Rounded Rectangle 36">
            <a:extLst>
              <a:ext uri="{FF2B5EF4-FFF2-40B4-BE49-F238E27FC236}">
                <a16:creationId xmlns:a16="http://schemas.microsoft.com/office/drawing/2014/main" id="{148725C9-17B3-D84E-A6DC-ECCF2CD51CE5}"/>
              </a:ext>
            </a:extLst>
          </p:cNvPr>
          <p:cNvSpPr/>
          <p:nvPr/>
        </p:nvSpPr>
        <p:spPr>
          <a:xfrm>
            <a:off x="5065313" y="2901070"/>
            <a:ext cx="1729425" cy="941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CNN</a:t>
            </a:r>
          </a:p>
          <a:p>
            <a:pPr algn="ctr"/>
            <a:r>
              <a:rPr lang="en-US" dirty="0"/>
              <a:t>Encoder</a:t>
            </a:r>
          </a:p>
        </p:txBody>
      </p:sp>
      <p:pic>
        <p:nvPicPr>
          <p:cNvPr id="6" name="Picture 5">
            <a:extLst>
              <a:ext uri="{FF2B5EF4-FFF2-40B4-BE49-F238E27FC236}">
                <a16:creationId xmlns:a16="http://schemas.microsoft.com/office/drawing/2014/main" id="{202900C6-26A5-4F44-BA06-071D9E41C079}"/>
              </a:ext>
            </a:extLst>
          </p:cNvPr>
          <p:cNvPicPr>
            <a:picLocks noChangeAspect="1"/>
          </p:cNvPicPr>
          <p:nvPr/>
        </p:nvPicPr>
        <p:blipFill>
          <a:blip r:embed="rId4"/>
          <a:stretch>
            <a:fillRect/>
          </a:stretch>
        </p:blipFill>
        <p:spPr>
          <a:xfrm>
            <a:off x="2285761" y="2614819"/>
            <a:ext cx="1427639" cy="1461765"/>
          </a:xfrm>
          <a:prstGeom prst="rect">
            <a:avLst/>
          </a:prstGeom>
        </p:spPr>
      </p:pic>
      <p:sp>
        <p:nvSpPr>
          <p:cNvPr id="40" name="TextBox 39">
            <a:extLst>
              <a:ext uri="{FF2B5EF4-FFF2-40B4-BE49-F238E27FC236}">
                <a16:creationId xmlns:a16="http://schemas.microsoft.com/office/drawing/2014/main" id="{DB9491BB-25CA-834B-A7FF-4828D4B79ECA}"/>
              </a:ext>
            </a:extLst>
          </p:cNvPr>
          <p:cNvSpPr txBox="1"/>
          <p:nvPr/>
        </p:nvSpPr>
        <p:spPr>
          <a:xfrm>
            <a:off x="2298627" y="4086870"/>
            <a:ext cx="1401905" cy="307777"/>
          </a:xfrm>
          <a:prstGeom prst="rect">
            <a:avLst/>
          </a:prstGeom>
          <a:noFill/>
        </p:spPr>
        <p:txBody>
          <a:bodyPr wrap="square" rtlCol="0">
            <a:spAutoFit/>
          </a:bodyPr>
          <a:lstStyle/>
          <a:p>
            <a:pPr algn="ctr"/>
            <a:r>
              <a:rPr lang="en-US" sz="1400" dirty="0">
                <a:solidFill>
                  <a:schemeClr val="accent1"/>
                </a:solidFill>
                <a:latin typeface="Times New Roman" panose="02020603050405020304" pitchFamily="18" charset="0"/>
                <a:cs typeface="Times New Roman" panose="02020603050405020304" pitchFamily="18" charset="0"/>
              </a:rPr>
              <a:t>image</a:t>
            </a:r>
          </a:p>
        </p:txBody>
      </p:sp>
      <p:graphicFrame>
        <p:nvGraphicFramePr>
          <p:cNvPr id="3" name="Table 2">
            <a:extLst>
              <a:ext uri="{FF2B5EF4-FFF2-40B4-BE49-F238E27FC236}">
                <a16:creationId xmlns:a16="http://schemas.microsoft.com/office/drawing/2014/main" id="{32B94FBE-5390-AA04-48BA-960209D30B31}"/>
              </a:ext>
            </a:extLst>
          </p:cNvPr>
          <p:cNvGraphicFramePr>
            <a:graphicFrameLocks noGrp="1"/>
          </p:cNvGraphicFramePr>
          <p:nvPr/>
        </p:nvGraphicFramePr>
        <p:xfrm>
          <a:off x="9417360" y="3084315"/>
          <a:ext cx="2343891" cy="522772"/>
        </p:xfrm>
        <a:graphic>
          <a:graphicData uri="http://schemas.openxmlformats.org/drawingml/2006/table">
            <a:tbl>
              <a:tblPr firstRow="1" bandRow="1">
                <a:tableStyleId>{5C22544A-7EE6-4342-B048-85BDC9FD1C3A}</a:tableStyleId>
              </a:tblPr>
              <a:tblGrid>
                <a:gridCol w="2343891">
                  <a:extLst>
                    <a:ext uri="{9D8B030D-6E8A-4147-A177-3AD203B41FA5}">
                      <a16:colId xmlns:a16="http://schemas.microsoft.com/office/drawing/2014/main" val="4002730172"/>
                    </a:ext>
                  </a:extLst>
                </a:gridCol>
              </a:tblGrid>
              <a:tr h="522772">
                <a:tc>
                  <a:txBody>
                    <a:bodyPr/>
                    <a:lstStyle/>
                    <a:p>
                      <a:pPr algn="ctr"/>
                      <a:r>
                        <a:rPr lang="en-US" dirty="0">
                          <a:solidFill>
                            <a:schemeClr val="tx1"/>
                          </a:solidFill>
                        </a:rPr>
                        <a:t>P(outcome | data)</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
        <p:nvSpPr>
          <p:cNvPr id="2" name="TextBox 1">
            <a:extLst>
              <a:ext uri="{FF2B5EF4-FFF2-40B4-BE49-F238E27FC236}">
                <a16:creationId xmlns:a16="http://schemas.microsoft.com/office/drawing/2014/main" id="{5B73A313-2389-A6C8-91B6-BB2F07C80FDB}"/>
              </a:ext>
            </a:extLst>
          </p:cNvPr>
          <p:cNvSpPr txBox="1"/>
          <p:nvPr/>
        </p:nvSpPr>
        <p:spPr>
          <a:xfrm>
            <a:off x="8202604" y="3350708"/>
            <a:ext cx="1356302" cy="1015663"/>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prediction</a:t>
            </a:r>
          </a:p>
          <a:p>
            <a:pPr algn="ctr"/>
            <a:r>
              <a:rPr lang="en-US" sz="1200" dirty="0">
                <a:latin typeface="Times New Roman" panose="02020603050405020304" pitchFamily="18" charset="0"/>
                <a:cs typeface="Times New Roman" panose="02020603050405020304" pitchFamily="18" charset="0"/>
              </a:rPr>
              <a:t>head</a:t>
            </a:r>
          </a:p>
          <a:p>
            <a:pPr algn="ctr"/>
            <a:endParaRPr lang="en-US" sz="1200" dirty="0">
              <a:latin typeface="Times New Roman" panose="02020603050405020304" pitchFamily="18" charset="0"/>
              <a:cs typeface="Times New Roman" panose="02020603050405020304" pitchFamily="18" charset="0"/>
            </a:endParaRPr>
          </a:p>
          <a:p>
            <a:pPr algn="ctr"/>
            <a:r>
              <a:rPr lang="en-US" sz="1200" dirty="0">
                <a:latin typeface="Times New Roman" panose="02020603050405020304" pitchFamily="18" charset="0"/>
                <a:cs typeface="Times New Roman" panose="02020603050405020304" pitchFamily="18" charset="0"/>
              </a:rPr>
              <a:t>(typically a one-layer MLP)</a:t>
            </a:r>
          </a:p>
        </p:txBody>
      </p:sp>
    </p:spTree>
    <p:extLst>
      <p:ext uri="{BB962C8B-B14F-4D97-AF65-F5344CB8AC3E}">
        <p14:creationId xmlns:p14="http://schemas.microsoft.com/office/powerpoint/2010/main" val="1926400678"/>
      </p:ext>
    </p:extLst>
  </p:cSld>
  <p:clrMapOvr>
    <a:masterClrMapping/>
  </p:clrMapOvr>
  <mc:AlternateContent xmlns:mc="http://schemas.openxmlformats.org/markup-compatibility/2006" xmlns:p14="http://schemas.microsoft.com/office/powerpoint/2010/main">
    <mc:Choice Requires="p14">
      <p:transition spd="slow" p14:dur="2000" advTm="34188"/>
    </mc:Choice>
    <mc:Fallback xmlns="">
      <p:transition spd="slow" advTm="34188"/>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F813D-1B3D-2D67-775D-AC40F099A162}"/>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8CFD0196-2FFB-3970-FF86-D24C8DA14AA3}"/>
              </a:ext>
            </a:extLst>
          </p:cNvPr>
          <p:cNvSpPr>
            <a:spLocks noGrp="1"/>
          </p:cNvSpPr>
          <p:nvPr>
            <p:ph type="title"/>
          </p:nvPr>
        </p:nvSpPr>
        <p:spPr>
          <a:xfrm>
            <a:off x="303368" y="221171"/>
            <a:ext cx="6672467" cy="1591351"/>
          </a:xfrm>
        </p:spPr>
        <p:txBody>
          <a:bodyPr/>
          <a:lstStyle/>
          <a:p>
            <a:r>
              <a:rPr lang="en-US" b="1" dirty="0"/>
              <a:t>Joint</a:t>
            </a:r>
            <a:r>
              <a:rPr lang="en-US" dirty="0"/>
              <a:t> fusion by feature concatenation</a:t>
            </a:r>
          </a:p>
        </p:txBody>
      </p:sp>
      <p:graphicFrame>
        <p:nvGraphicFramePr>
          <p:cNvPr id="12" name="Table 13">
            <a:extLst>
              <a:ext uri="{FF2B5EF4-FFF2-40B4-BE49-F238E27FC236}">
                <a16:creationId xmlns:a16="http://schemas.microsoft.com/office/drawing/2014/main" id="{537725EC-B56A-BB5F-17EC-84EE2EE19E2F}"/>
              </a:ext>
            </a:extLst>
          </p:cNvPr>
          <p:cNvGraphicFramePr>
            <a:graphicFrameLocks noGrp="1"/>
          </p:cNvGraphicFramePr>
          <p:nvPr/>
        </p:nvGraphicFramePr>
        <p:xfrm>
          <a:off x="7884561" y="737636"/>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graphicFrame>
        <p:nvGraphicFramePr>
          <p:cNvPr id="9" name="Table 13">
            <a:extLst>
              <a:ext uri="{FF2B5EF4-FFF2-40B4-BE49-F238E27FC236}">
                <a16:creationId xmlns:a16="http://schemas.microsoft.com/office/drawing/2014/main" id="{8BBA70CE-E370-BD2F-E21F-8619F823AF55}"/>
              </a:ext>
            </a:extLst>
          </p:cNvPr>
          <p:cNvGraphicFramePr>
            <a:graphicFrameLocks noGrp="1"/>
          </p:cNvGraphicFramePr>
          <p:nvPr/>
        </p:nvGraphicFramePr>
        <p:xfrm>
          <a:off x="7884561" y="2474678"/>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cxnSp>
        <p:nvCxnSpPr>
          <p:cNvPr id="11" name="Straight Arrow Connector 10">
            <a:extLst>
              <a:ext uri="{FF2B5EF4-FFF2-40B4-BE49-F238E27FC236}">
                <a16:creationId xmlns:a16="http://schemas.microsoft.com/office/drawing/2014/main" id="{03A445AE-78F3-5DE3-30AF-C28EF6C8F9DB}"/>
              </a:ext>
            </a:extLst>
          </p:cNvPr>
          <p:cNvCxnSpPr>
            <a:cxnSpLocks/>
          </p:cNvCxnSpPr>
          <p:nvPr/>
        </p:nvCxnSpPr>
        <p:spPr>
          <a:xfrm flipV="1">
            <a:off x="8535494" y="3345702"/>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aphicFrame>
        <p:nvGraphicFramePr>
          <p:cNvPr id="16" name="Table 13">
            <a:extLst>
              <a:ext uri="{FF2B5EF4-FFF2-40B4-BE49-F238E27FC236}">
                <a16:creationId xmlns:a16="http://schemas.microsoft.com/office/drawing/2014/main" id="{E776791C-D53B-993F-0D0C-693075A11C9B}"/>
              </a:ext>
            </a:extLst>
          </p:cNvPr>
          <p:cNvGraphicFramePr>
            <a:graphicFrameLocks noGrp="1"/>
          </p:cNvGraphicFramePr>
          <p:nvPr/>
        </p:nvGraphicFramePr>
        <p:xfrm>
          <a:off x="7884559" y="4218269"/>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sp>
        <p:nvSpPr>
          <p:cNvPr id="20" name="TextBox 19">
            <a:extLst>
              <a:ext uri="{FF2B5EF4-FFF2-40B4-BE49-F238E27FC236}">
                <a16:creationId xmlns:a16="http://schemas.microsoft.com/office/drawing/2014/main" id="{074463D7-F643-F848-BC3F-5F4136C9397B}"/>
              </a:ext>
            </a:extLst>
          </p:cNvPr>
          <p:cNvSpPr txBox="1"/>
          <p:nvPr/>
        </p:nvSpPr>
        <p:spPr>
          <a:xfrm>
            <a:off x="7317051" y="6072614"/>
            <a:ext cx="1577991" cy="738664"/>
          </a:xfrm>
          <a:prstGeom prst="rect">
            <a:avLst/>
          </a:prstGeom>
          <a:noFill/>
        </p:spPr>
        <p:txBody>
          <a:bodyPr wrap="square" rtlCol="0">
            <a:spAutoFit/>
          </a:bodyPr>
          <a:lstStyle/>
          <a:p>
            <a:pPr algn="ctr"/>
            <a:r>
              <a:rPr lang="en-US" sz="1400" b="1" dirty="0">
                <a:solidFill>
                  <a:schemeClr val="accent6"/>
                </a:solidFill>
                <a:latin typeface="Times New Roman" panose="02020603050405020304" pitchFamily="18" charset="0"/>
                <a:cs typeface="Times New Roman" panose="02020603050405020304" pitchFamily="18" charset="0"/>
              </a:rPr>
              <a:t>concatenated, multi-modal features</a:t>
            </a:r>
          </a:p>
        </p:txBody>
      </p:sp>
      <p:cxnSp>
        <p:nvCxnSpPr>
          <p:cNvPr id="23" name="Straight Arrow Connector 22">
            <a:extLst>
              <a:ext uri="{FF2B5EF4-FFF2-40B4-BE49-F238E27FC236}">
                <a16:creationId xmlns:a16="http://schemas.microsoft.com/office/drawing/2014/main" id="{1682C01D-FB7A-1020-5D48-6D8F27290C95}"/>
              </a:ext>
            </a:extLst>
          </p:cNvPr>
          <p:cNvCxnSpPr>
            <a:cxnSpLocks/>
            <a:stCxn id="24" idx="3"/>
            <a:endCxn id="25" idx="1"/>
          </p:cNvCxnSpPr>
          <p:nvPr/>
        </p:nvCxnSpPr>
        <p:spPr>
          <a:xfrm>
            <a:off x="3713400" y="5516180"/>
            <a:ext cx="135191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4" name="Picture 23">
            <a:extLst>
              <a:ext uri="{FF2B5EF4-FFF2-40B4-BE49-F238E27FC236}">
                <a16:creationId xmlns:a16="http://schemas.microsoft.com/office/drawing/2014/main" id="{D531C879-376E-F3D0-DD37-56C27BA33A5C}"/>
              </a:ext>
            </a:extLst>
          </p:cNvPr>
          <p:cNvPicPr>
            <a:picLocks noChangeAspect="1"/>
          </p:cNvPicPr>
          <p:nvPr/>
        </p:nvPicPr>
        <p:blipFill rotWithShape="1">
          <a:blip r:embed="rId3"/>
          <a:srcRect l="11976" t="10927" r="11177" b="12059"/>
          <a:stretch/>
        </p:blipFill>
        <p:spPr>
          <a:xfrm>
            <a:off x="2285761" y="4590414"/>
            <a:ext cx="1427639" cy="1851532"/>
          </a:xfrm>
          <a:prstGeom prst="rect">
            <a:avLst/>
          </a:prstGeom>
          <a:ln>
            <a:solidFill>
              <a:schemeClr val="tx1"/>
            </a:solidFill>
          </a:ln>
        </p:spPr>
      </p:pic>
      <p:sp>
        <p:nvSpPr>
          <p:cNvPr id="25" name="Rounded Rectangle 24">
            <a:extLst>
              <a:ext uri="{FF2B5EF4-FFF2-40B4-BE49-F238E27FC236}">
                <a16:creationId xmlns:a16="http://schemas.microsoft.com/office/drawing/2014/main" id="{2DE4CDB7-F78F-0727-85B7-78175B81DB4D}"/>
              </a:ext>
            </a:extLst>
          </p:cNvPr>
          <p:cNvSpPr/>
          <p:nvPr/>
        </p:nvSpPr>
        <p:spPr>
          <a:xfrm>
            <a:off x="5065314" y="5045475"/>
            <a:ext cx="1729425" cy="94140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NLP</a:t>
            </a:r>
          </a:p>
          <a:p>
            <a:pPr algn="ctr"/>
            <a:r>
              <a:rPr lang="en-US" dirty="0"/>
              <a:t>Encoder</a:t>
            </a:r>
          </a:p>
        </p:txBody>
      </p:sp>
      <p:cxnSp>
        <p:nvCxnSpPr>
          <p:cNvPr id="26" name="Straight Arrow Connector 25">
            <a:extLst>
              <a:ext uri="{FF2B5EF4-FFF2-40B4-BE49-F238E27FC236}">
                <a16:creationId xmlns:a16="http://schemas.microsoft.com/office/drawing/2014/main" id="{44D77E12-23F6-5692-1374-B9838F4DF643}"/>
              </a:ext>
            </a:extLst>
          </p:cNvPr>
          <p:cNvCxnSpPr>
            <a:cxnSpLocks/>
          </p:cNvCxnSpPr>
          <p:nvPr/>
        </p:nvCxnSpPr>
        <p:spPr>
          <a:xfrm flipV="1">
            <a:off x="6907878" y="5089293"/>
            <a:ext cx="872438" cy="40435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CBE766FB-7B26-0F1E-DE7E-E4169693B8A8}"/>
              </a:ext>
            </a:extLst>
          </p:cNvPr>
          <p:cNvSpPr txBox="1"/>
          <p:nvPr/>
        </p:nvSpPr>
        <p:spPr>
          <a:xfrm>
            <a:off x="2522102" y="6464323"/>
            <a:ext cx="954956" cy="307777"/>
          </a:xfrm>
          <a:prstGeom prst="rect">
            <a:avLst/>
          </a:prstGeom>
          <a:noFill/>
        </p:spPr>
        <p:txBody>
          <a:bodyPr wrap="square" rtlCol="0">
            <a:spAutoFit/>
          </a:bodyPr>
          <a:lstStyle/>
          <a:p>
            <a:pPr algn="ctr"/>
            <a:r>
              <a:rPr lang="en-US" sz="1400" dirty="0">
                <a:solidFill>
                  <a:schemeClr val="accent2"/>
                </a:solidFill>
                <a:latin typeface="Times New Roman" panose="02020603050405020304" pitchFamily="18" charset="0"/>
                <a:cs typeface="Times New Roman" panose="02020603050405020304" pitchFamily="18" charset="0"/>
              </a:rPr>
              <a:t>document</a:t>
            </a:r>
          </a:p>
        </p:txBody>
      </p:sp>
      <p:cxnSp>
        <p:nvCxnSpPr>
          <p:cNvPr id="29" name="Straight Arrow Connector 28">
            <a:extLst>
              <a:ext uri="{FF2B5EF4-FFF2-40B4-BE49-F238E27FC236}">
                <a16:creationId xmlns:a16="http://schemas.microsoft.com/office/drawing/2014/main" id="{5E7D4C57-6D3F-51E0-C4E0-AC89C6726E44}"/>
              </a:ext>
            </a:extLst>
          </p:cNvPr>
          <p:cNvCxnSpPr>
            <a:cxnSpLocks/>
            <a:stCxn id="6" idx="3"/>
          </p:cNvCxnSpPr>
          <p:nvPr/>
        </p:nvCxnSpPr>
        <p:spPr>
          <a:xfrm>
            <a:off x="3713400" y="3345702"/>
            <a:ext cx="13519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a:extLst>
              <a:ext uri="{FF2B5EF4-FFF2-40B4-BE49-F238E27FC236}">
                <a16:creationId xmlns:a16="http://schemas.microsoft.com/office/drawing/2014/main" id="{373918A1-51C9-0814-946D-2EC18B2646F6}"/>
              </a:ext>
            </a:extLst>
          </p:cNvPr>
          <p:cNvCxnSpPr>
            <a:cxnSpLocks/>
          </p:cNvCxnSpPr>
          <p:nvPr/>
        </p:nvCxnSpPr>
        <p:spPr>
          <a:xfrm>
            <a:off x="6907878" y="3345702"/>
            <a:ext cx="87243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7" name="Rounded Rectangle 36">
            <a:extLst>
              <a:ext uri="{FF2B5EF4-FFF2-40B4-BE49-F238E27FC236}">
                <a16:creationId xmlns:a16="http://schemas.microsoft.com/office/drawing/2014/main" id="{70A7424B-2DAB-AB85-BD8E-65D4ECAC9E6B}"/>
              </a:ext>
            </a:extLst>
          </p:cNvPr>
          <p:cNvSpPr/>
          <p:nvPr/>
        </p:nvSpPr>
        <p:spPr>
          <a:xfrm>
            <a:off x="5065313" y="2901070"/>
            <a:ext cx="1729425" cy="941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CNN</a:t>
            </a:r>
          </a:p>
          <a:p>
            <a:pPr algn="ctr"/>
            <a:r>
              <a:rPr lang="en-US" dirty="0"/>
              <a:t>Encoder</a:t>
            </a:r>
          </a:p>
        </p:txBody>
      </p:sp>
      <p:pic>
        <p:nvPicPr>
          <p:cNvPr id="6" name="Picture 5">
            <a:extLst>
              <a:ext uri="{FF2B5EF4-FFF2-40B4-BE49-F238E27FC236}">
                <a16:creationId xmlns:a16="http://schemas.microsoft.com/office/drawing/2014/main" id="{51A23E94-F1A3-C95F-3692-B8C0BE28C8D5}"/>
              </a:ext>
            </a:extLst>
          </p:cNvPr>
          <p:cNvPicPr>
            <a:picLocks noChangeAspect="1"/>
          </p:cNvPicPr>
          <p:nvPr/>
        </p:nvPicPr>
        <p:blipFill>
          <a:blip r:embed="rId4"/>
          <a:stretch>
            <a:fillRect/>
          </a:stretch>
        </p:blipFill>
        <p:spPr>
          <a:xfrm>
            <a:off x="2285761" y="2614819"/>
            <a:ext cx="1427639" cy="1461765"/>
          </a:xfrm>
          <a:prstGeom prst="rect">
            <a:avLst/>
          </a:prstGeom>
        </p:spPr>
      </p:pic>
      <p:sp>
        <p:nvSpPr>
          <p:cNvPr id="40" name="TextBox 39">
            <a:extLst>
              <a:ext uri="{FF2B5EF4-FFF2-40B4-BE49-F238E27FC236}">
                <a16:creationId xmlns:a16="http://schemas.microsoft.com/office/drawing/2014/main" id="{6889947E-BCBC-E9D6-5806-5F2B1EA2D929}"/>
              </a:ext>
            </a:extLst>
          </p:cNvPr>
          <p:cNvSpPr txBox="1"/>
          <p:nvPr/>
        </p:nvSpPr>
        <p:spPr>
          <a:xfrm>
            <a:off x="2298627" y="4086870"/>
            <a:ext cx="1401905" cy="307777"/>
          </a:xfrm>
          <a:prstGeom prst="rect">
            <a:avLst/>
          </a:prstGeom>
          <a:noFill/>
        </p:spPr>
        <p:txBody>
          <a:bodyPr wrap="square" rtlCol="0">
            <a:spAutoFit/>
          </a:bodyPr>
          <a:lstStyle/>
          <a:p>
            <a:pPr algn="ctr"/>
            <a:r>
              <a:rPr lang="en-US" sz="1400" dirty="0">
                <a:solidFill>
                  <a:schemeClr val="accent1"/>
                </a:solidFill>
                <a:latin typeface="Times New Roman" panose="02020603050405020304" pitchFamily="18" charset="0"/>
                <a:cs typeface="Times New Roman" panose="02020603050405020304" pitchFamily="18" charset="0"/>
              </a:rPr>
              <a:t>image</a:t>
            </a:r>
          </a:p>
        </p:txBody>
      </p:sp>
      <p:graphicFrame>
        <p:nvGraphicFramePr>
          <p:cNvPr id="3" name="Table 2">
            <a:extLst>
              <a:ext uri="{FF2B5EF4-FFF2-40B4-BE49-F238E27FC236}">
                <a16:creationId xmlns:a16="http://schemas.microsoft.com/office/drawing/2014/main" id="{7A5B2737-8AB2-B385-F4BC-38842424C95E}"/>
              </a:ext>
            </a:extLst>
          </p:cNvPr>
          <p:cNvGraphicFramePr>
            <a:graphicFrameLocks noGrp="1"/>
          </p:cNvGraphicFramePr>
          <p:nvPr/>
        </p:nvGraphicFramePr>
        <p:xfrm>
          <a:off x="9417360" y="3084315"/>
          <a:ext cx="2343891" cy="522772"/>
        </p:xfrm>
        <a:graphic>
          <a:graphicData uri="http://schemas.openxmlformats.org/drawingml/2006/table">
            <a:tbl>
              <a:tblPr firstRow="1" bandRow="1">
                <a:tableStyleId>{5C22544A-7EE6-4342-B048-85BDC9FD1C3A}</a:tableStyleId>
              </a:tblPr>
              <a:tblGrid>
                <a:gridCol w="2343891">
                  <a:extLst>
                    <a:ext uri="{9D8B030D-6E8A-4147-A177-3AD203B41FA5}">
                      <a16:colId xmlns:a16="http://schemas.microsoft.com/office/drawing/2014/main" val="4002730172"/>
                    </a:ext>
                  </a:extLst>
                </a:gridCol>
              </a:tblGrid>
              <a:tr h="522772">
                <a:tc>
                  <a:txBody>
                    <a:bodyPr/>
                    <a:lstStyle/>
                    <a:p>
                      <a:pPr algn="ctr"/>
                      <a:r>
                        <a:rPr lang="en-US" dirty="0">
                          <a:solidFill>
                            <a:schemeClr val="tx1"/>
                          </a:solidFill>
                        </a:rPr>
                        <a:t>P(outcome | data)</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
        <p:nvSpPr>
          <p:cNvPr id="2" name="TextBox 1">
            <a:extLst>
              <a:ext uri="{FF2B5EF4-FFF2-40B4-BE49-F238E27FC236}">
                <a16:creationId xmlns:a16="http://schemas.microsoft.com/office/drawing/2014/main" id="{F105CF4D-F25E-E247-663B-E412EB8BEBB0}"/>
              </a:ext>
            </a:extLst>
          </p:cNvPr>
          <p:cNvSpPr txBox="1"/>
          <p:nvPr/>
        </p:nvSpPr>
        <p:spPr>
          <a:xfrm>
            <a:off x="8840124" y="486507"/>
            <a:ext cx="2921127" cy="923330"/>
          </a:xfrm>
          <a:prstGeom prst="rect">
            <a:avLst/>
          </a:prstGeom>
          <a:noFill/>
        </p:spPr>
        <p:txBody>
          <a:bodyPr wrap="square" rtlCol="0">
            <a:spAutoFit/>
          </a:bodyPr>
          <a:lstStyle/>
          <a:p>
            <a:pPr marL="342900" indent="-342900">
              <a:buAutoNum type="arabicPeriod"/>
            </a:pPr>
            <a:r>
              <a:rPr lang="en-US" dirty="0"/>
              <a:t>Train independently</a:t>
            </a:r>
          </a:p>
          <a:p>
            <a:pPr marL="342900" indent="-342900">
              <a:buAutoNum type="arabicPeriod"/>
            </a:pPr>
            <a:r>
              <a:rPr lang="en-US" dirty="0"/>
              <a:t>Concatenate</a:t>
            </a:r>
          </a:p>
          <a:p>
            <a:pPr marL="342900" indent="-342900">
              <a:buFontTx/>
              <a:buAutoNum type="arabicPeriod"/>
            </a:pPr>
            <a:r>
              <a:rPr lang="en-US" dirty="0"/>
              <a:t>Train together</a:t>
            </a:r>
          </a:p>
        </p:txBody>
      </p:sp>
      <p:sp>
        <p:nvSpPr>
          <p:cNvPr id="4" name="TextBox 3">
            <a:extLst>
              <a:ext uri="{FF2B5EF4-FFF2-40B4-BE49-F238E27FC236}">
                <a16:creationId xmlns:a16="http://schemas.microsoft.com/office/drawing/2014/main" id="{093E269D-5FB1-8E2D-3110-62942D203C09}"/>
              </a:ext>
            </a:extLst>
          </p:cNvPr>
          <p:cNvSpPr txBox="1"/>
          <p:nvPr/>
        </p:nvSpPr>
        <p:spPr>
          <a:xfrm>
            <a:off x="8202604" y="3350708"/>
            <a:ext cx="1356302" cy="1015663"/>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prediction</a:t>
            </a:r>
          </a:p>
          <a:p>
            <a:pPr algn="ctr"/>
            <a:r>
              <a:rPr lang="en-US" sz="1200" dirty="0">
                <a:latin typeface="Times New Roman" panose="02020603050405020304" pitchFamily="18" charset="0"/>
                <a:cs typeface="Times New Roman" panose="02020603050405020304" pitchFamily="18" charset="0"/>
              </a:rPr>
              <a:t>head</a:t>
            </a:r>
          </a:p>
          <a:p>
            <a:pPr algn="ctr"/>
            <a:endParaRPr lang="en-US" sz="1200" dirty="0">
              <a:latin typeface="Times New Roman" panose="02020603050405020304" pitchFamily="18" charset="0"/>
              <a:cs typeface="Times New Roman" panose="02020603050405020304" pitchFamily="18" charset="0"/>
            </a:endParaRPr>
          </a:p>
          <a:p>
            <a:pPr algn="ctr"/>
            <a:r>
              <a:rPr lang="en-US" sz="1200" dirty="0">
                <a:latin typeface="Times New Roman" panose="02020603050405020304" pitchFamily="18" charset="0"/>
                <a:cs typeface="Times New Roman" panose="02020603050405020304" pitchFamily="18" charset="0"/>
              </a:rPr>
              <a:t>(typically a one-layer MLP)</a:t>
            </a:r>
          </a:p>
        </p:txBody>
      </p:sp>
    </p:spTree>
    <p:extLst>
      <p:ext uri="{BB962C8B-B14F-4D97-AF65-F5344CB8AC3E}">
        <p14:creationId xmlns:p14="http://schemas.microsoft.com/office/powerpoint/2010/main" val="2063640215"/>
      </p:ext>
    </p:extLst>
  </p:cSld>
  <p:clrMapOvr>
    <a:masterClrMapping/>
  </p:clrMapOvr>
  <mc:AlternateContent xmlns:mc="http://schemas.openxmlformats.org/markup-compatibility/2006" xmlns:p14="http://schemas.microsoft.com/office/powerpoint/2010/main">
    <mc:Choice Requires="p14">
      <p:transition spd="slow" p14:dur="2000" advTm="34188"/>
    </mc:Choice>
    <mc:Fallback xmlns="">
      <p:transition spd="slow" advTm="34188"/>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7AC15-F176-1BBC-97BA-FE891BDAD6BA}"/>
              </a:ext>
            </a:extLst>
          </p:cNvPr>
          <p:cNvSpPr>
            <a:spLocks noGrp="1"/>
          </p:cNvSpPr>
          <p:nvPr>
            <p:ph type="title"/>
          </p:nvPr>
        </p:nvSpPr>
        <p:spPr/>
        <p:txBody>
          <a:bodyPr/>
          <a:lstStyle/>
          <a:p>
            <a:r>
              <a:rPr lang="en-US" b="1" dirty="0"/>
              <a:t>Joint</a:t>
            </a:r>
            <a:r>
              <a:rPr lang="en-US" dirty="0"/>
              <a:t> fusion via contrastive learning</a:t>
            </a:r>
          </a:p>
        </p:txBody>
      </p:sp>
      <p:pic>
        <p:nvPicPr>
          <p:cNvPr id="4" name="Picture 3">
            <a:extLst>
              <a:ext uri="{FF2B5EF4-FFF2-40B4-BE49-F238E27FC236}">
                <a16:creationId xmlns:a16="http://schemas.microsoft.com/office/drawing/2014/main" id="{CCEE640E-F0E5-B0DC-871D-DEAACF39E46B}"/>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236518" y="1541415"/>
            <a:ext cx="9718964" cy="4610443"/>
          </a:xfrm>
          <a:prstGeom prst="rect">
            <a:avLst/>
          </a:prstGeom>
        </p:spPr>
      </p:pic>
      <p:sp>
        <p:nvSpPr>
          <p:cNvPr id="5" name="TextBox 4">
            <a:extLst>
              <a:ext uri="{FF2B5EF4-FFF2-40B4-BE49-F238E27FC236}">
                <a16:creationId xmlns:a16="http://schemas.microsoft.com/office/drawing/2014/main" id="{542A08E3-0408-F160-8255-289C65307AED}"/>
              </a:ext>
            </a:extLst>
          </p:cNvPr>
          <p:cNvSpPr txBox="1"/>
          <p:nvPr/>
        </p:nvSpPr>
        <p:spPr>
          <a:xfrm>
            <a:off x="5058641" y="6036605"/>
            <a:ext cx="6096000" cy="600164"/>
          </a:xfrm>
          <a:prstGeom prst="rect">
            <a:avLst/>
          </a:prstGeom>
          <a:noFill/>
        </p:spPr>
        <p:txBody>
          <a:bodyPr wrap="square">
            <a:spAutoFit/>
          </a:bodyPr>
          <a:lstStyle/>
          <a:p>
            <a:r>
              <a:rPr lang="en-US" sz="1100" b="0" i="0" u="none" strike="noStrike" dirty="0">
                <a:solidFill>
                  <a:srgbClr val="222222"/>
                </a:solidFill>
                <a:effectLst/>
                <a:latin typeface="Arial" panose="020B0604020202020204" pitchFamily="34" charset="0"/>
              </a:rPr>
              <a:t>Radford A, Kim JW, Hallacy C, Ramesh A, Goh G, Agarwal S, Sastry G, Askell A, Mishkin P, Clark J, Krueger G. Learning transferable visual models from natural language supervision. </a:t>
            </a:r>
            <a:r>
              <a:rPr lang="en-US" sz="1100" b="0" i="0" u="none" strike="noStrike" dirty="0" err="1">
                <a:solidFill>
                  <a:srgbClr val="222222"/>
                </a:solidFill>
                <a:effectLst/>
                <a:latin typeface="Arial" panose="020B0604020202020204" pitchFamily="34" charset="0"/>
              </a:rPr>
              <a:t>InInternational</a:t>
            </a:r>
            <a:r>
              <a:rPr lang="en-US" sz="1100" b="0" i="0" u="none" strike="noStrike" dirty="0">
                <a:solidFill>
                  <a:srgbClr val="222222"/>
                </a:solidFill>
                <a:effectLst/>
                <a:latin typeface="Arial" panose="020B0604020202020204" pitchFamily="34" charset="0"/>
              </a:rPr>
              <a:t> conference on machine learning 2021 Jul 1 (pp. 8748-8763). </a:t>
            </a:r>
            <a:r>
              <a:rPr lang="en-US" sz="1100" b="0" i="0" u="none" strike="noStrike" dirty="0" err="1">
                <a:solidFill>
                  <a:srgbClr val="222222"/>
                </a:solidFill>
                <a:effectLst/>
                <a:latin typeface="Arial" panose="020B0604020202020204" pitchFamily="34" charset="0"/>
              </a:rPr>
              <a:t>PmLR</a:t>
            </a:r>
            <a:r>
              <a:rPr lang="en-US" sz="1100" b="0" i="0" u="none" strike="noStrike" dirty="0">
                <a:solidFill>
                  <a:srgbClr val="222222"/>
                </a:solidFill>
                <a:effectLst/>
                <a:latin typeface="Arial" panose="020B0604020202020204" pitchFamily="34" charset="0"/>
              </a:rPr>
              <a:t>.</a:t>
            </a:r>
            <a:endParaRPr lang="en-US" sz="1100" dirty="0"/>
          </a:p>
        </p:txBody>
      </p:sp>
    </p:spTree>
    <p:extLst>
      <p:ext uri="{BB962C8B-B14F-4D97-AF65-F5344CB8AC3E}">
        <p14:creationId xmlns:p14="http://schemas.microsoft.com/office/powerpoint/2010/main" val="31828428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9149B-1917-AA7A-7898-0F0204E4655A}"/>
            </a:ext>
          </a:extLst>
        </p:cNvPr>
        <p:cNvGrpSpPr/>
        <p:nvPr/>
      </p:nvGrpSpPr>
      <p:grpSpPr>
        <a:xfrm>
          <a:off x="0" y="0"/>
          <a:ext cx="0" cy="0"/>
          <a:chOff x="0" y="0"/>
          <a:chExt cx="0" cy="0"/>
        </a:xfrm>
      </p:grpSpPr>
      <p:cxnSp>
        <p:nvCxnSpPr>
          <p:cNvPr id="26" name="Straight Arrow Connector 25">
            <a:extLst>
              <a:ext uri="{FF2B5EF4-FFF2-40B4-BE49-F238E27FC236}">
                <a16:creationId xmlns:a16="http://schemas.microsoft.com/office/drawing/2014/main" id="{AC0773B6-E835-B48E-8730-41328654D8DC}"/>
              </a:ext>
            </a:extLst>
          </p:cNvPr>
          <p:cNvCxnSpPr>
            <a:cxnSpLocks/>
          </p:cNvCxnSpPr>
          <p:nvPr/>
        </p:nvCxnSpPr>
        <p:spPr>
          <a:xfrm flipV="1">
            <a:off x="5343029" y="4413865"/>
            <a:ext cx="1238775" cy="74984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 name="Title 1">
            <a:extLst>
              <a:ext uri="{FF2B5EF4-FFF2-40B4-BE49-F238E27FC236}">
                <a16:creationId xmlns:a16="http://schemas.microsoft.com/office/drawing/2014/main" id="{4817AE8C-452E-71E4-7208-32BD48ADBF28}"/>
              </a:ext>
            </a:extLst>
          </p:cNvPr>
          <p:cNvSpPr>
            <a:spLocks noGrp="1"/>
          </p:cNvSpPr>
          <p:nvPr>
            <p:ph type="title"/>
          </p:nvPr>
        </p:nvSpPr>
        <p:spPr>
          <a:xfrm>
            <a:off x="303368" y="221171"/>
            <a:ext cx="6672467" cy="1591351"/>
          </a:xfrm>
        </p:spPr>
        <p:txBody>
          <a:bodyPr/>
          <a:lstStyle/>
          <a:p>
            <a:r>
              <a:rPr lang="en-US" b="1" dirty="0"/>
              <a:t>Joint</a:t>
            </a:r>
            <a:r>
              <a:rPr lang="en-US" dirty="0"/>
              <a:t> fusion in shared representation space</a:t>
            </a:r>
          </a:p>
        </p:txBody>
      </p:sp>
      <p:graphicFrame>
        <p:nvGraphicFramePr>
          <p:cNvPr id="9" name="Table 13">
            <a:extLst>
              <a:ext uri="{FF2B5EF4-FFF2-40B4-BE49-F238E27FC236}">
                <a16:creationId xmlns:a16="http://schemas.microsoft.com/office/drawing/2014/main" id="{81F289B6-4FB4-51A3-77FD-73FD999B78A9}"/>
              </a:ext>
            </a:extLst>
          </p:cNvPr>
          <p:cNvGraphicFramePr>
            <a:graphicFrameLocks noGrp="1"/>
          </p:cNvGraphicFramePr>
          <p:nvPr/>
        </p:nvGraphicFramePr>
        <p:xfrm>
          <a:off x="5778771" y="3015762"/>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419904516"/>
                  </a:ext>
                </a:extLst>
              </a:tr>
            </a:tbl>
          </a:graphicData>
        </a:graphic>
      </p:graphicFrame>
      <p:cxnSp>
        <p:nvCxnSpPr>
          <p:cNvPr id="11" name="Straight Arrow Connector 10">
            <a:extLst>
              <a:ext uri="{FF2B5EF4-FFF2-40B4-BE49-F238E27FC236}">
                <a16:creationId xmlns:a16="http://schemas.microsoft.com/office/drawing/2014/main" id="{4829B2BE-E32A-99A1-6BD8-36D2BE7CF169}"/>
              </a:ext>
            </a:extLst>
          </p:cNvPr>
          <p:cNvCxnSpPr>
            <a:cxnSpLocks/>
          </p:cNvCxnSpPr>
          <p:nvPr/>
        </p:nvCxnSpPr>
        <p:spPr>
          <a:xfrm flipV="1">
            <a:off x="8401455" y="3877750"/>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82230AA5-D757-68A0-4DFD-F03D74649B00}"/>
              </a:ext>
            </a:extLst>
          </p:cNvPr>
          <p:cNvSpPr txBox="1"/>
          <p:nvPr/>
        </p:nvSpPr>
        <p:spPr>
          <a:xfrm>
            <a:off x="8068566" y="3910819"/>
            <a:ext cx="1356302"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MLP</a:t>
            </a:r>
          </a:p>
        </p:txBody>
      </p:sp>
      <p:graphicFrame>
        <p:nvGraphicFramePr>
          <p:cNvPr id="16" name="Table 13">
            <a:extLst>
              <a:ext uri="{FF2B5EF4-FFF2-40B4-BE49-F238E27FC236}">
                <a16:creationId xmlns:a16="http://schemas.microsoft.com/office/drawing/2014/main" id="{00ACB550-D0BB-E830-EDAB-CCC7D3DD96C6}"/>
              </a:ext>
            </a:extLst>
          </p:cNvPr>
          <p:cNvGraphicFramePr>
            <a:graphicFrameLocks noGrp="1"/>
          </p:cNvGraphicFramePr>
          <p:nvPr/>
        </p:nvGraphicFramePr>
        <p:xfrm>
          <a:off x="6754347" y="3010380"/>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sp>
        <p:nvSpPr>
          <p:cNvPr id="20" name="TextBox 19">
            <a:extLst>
              <a:ext uri="{FF2B5EF4-FFF2-40B4-BE49-F238E27FC236}">
                <a16:creationId xmlns:a16="http://schemas.microsoft.com/office/drawing/2014/main" id="{6305D8F7-2660-441E-09B1-9431C1A43DC2}"/>
              </a:ext>
            </a:extLst>
          </p:cNvPr>
          <p:cNvSpPr txBox="1"/>
          <p:nvPr/>
        </p:nvSpPr>
        <p:spPr>
          <a:xfrm>
            <a:off x="7197323" y="4899397"/>
            <a:ext cx="1577991" cy="523220"/>
          </a:xfrm>
          <a:prstGeom prst="rect">
            <a:avLst/>
          </a:prstGeom>
          <a:noFill/>
        </p:spPr>
        <p:txBody>
          <a:bodyPr wrap="square" rtlCol="0">
            <a:spAutoFit/>
          </a:bodyPr>
          <a:lstStyle/>
          <a:p>
            <a:pPr algn="ctr"/>
            <a:r>
              <a:rPr lang="en-US" sz="1400" b="1" dirty="0">
                <a:solidFill>
                  <a:schemeClr val="accent6"/>
                </a:solidFill>
                <a:latin typeface="Times New Roman" panose="02020603050405020304" pitchFamily="18" charset="0"/>
                <a:cs typeface="Times New Roman" panose="02020603050405020304" pitchFamily="18" charset="0"/>
              </a:rPr>
              <a:t>multimodal</a:t>
            </a:r>
          </a:p>
          <a:p>
            <a:pPr algn="ctr"/>
            <a:r>
              <a:rPr lang="en-US" sz="1400" b="1" dirty="0">
                <a:solidFill>
                  <a:schemeClr val="accent6"/>
                </a:solidFill>
                <a:latin typeface="Times New Roman" panose="02020603050405020304" pitchFamily="18" charset="0"/>
                <a:cs typeface="Times New Roman" panose="02020603050405020304" pitchFamily="18" charset="0"/>
              </a:rPr>
              <a:t>representation</a:t>
            </a:r>
          </a:p>
        </p:txBody>
      </p:sp>
      <p:cxnSp>
        <p:nvCxnSpPr>
          <p:cNvPr id="23" name="Straight Arrow Connector 22">
            <a:extLst>
              <a:ext uri="{FF2B5EF4-FFF2-40B4-BE49-F238E27FC236}">
                <a16:creationId xmlns:a16="http://schemas.microsoft.com/office/drawing/2014/main" id="{B8A99E4C-5F5C-0EE0-81BD-4F3E8A0D8917}"/>
              </a:ext>
            </a:extLst>
          </p:cNvPr>
          <p:cNvCxnSpPr>
            <a:cxnSpLocks/>
            <a:stCxn id="24" idx="3"/>
            <a:endCxn id="25" idx="1"/>
          </p:cNvCxnSpPr>
          <p:nvPr/>
        </p:nvCxnSpPr>
        <p:spPr>
          <a:xfrm>
            <a:off x="2148551" y="5186241"/>
            <a:ext cx="135191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4" name="Picture 23">
            <a:extLst>
              <a:ext uri="{FF2B5EF4-FFF2-40B4-BE49-F238E27FC236}">
                <a16:creationId xmlns:a16="http://schemas.microsoft.com/office/drawing/2014/main" id="{7B37BE0A-0C0C-FDFF-E5D7-3F1B34B446F5}"/>
              </a:ext>
            </a:extLst>
          </p:cNvPr>
          <p:cNvPicPr>
            <a:picLocks noChangeAspect="1"/>
          </p:cNvPicPr>
          <p:nvPr/>
        </p:nvPicPr>
        <p:blipFill rotWithShape="1">
          <a:blip r:embed="rId3"/>
          <a:srcRect l="11976" t="10927" r="11177" b="12059"/>
          <a:stretch/>
        </p:blipFill>
        <p:spPr>
          <a:xfrm>
            <a:off x="720912" y="4260475"/>
            <a:ext cx="1427639" cy="1851532"/>
          </a:xfrm>
          <a:prstGeom prst="rect">
            <a:avLst/>
          </a:prstGeom>
          <a:ln>
            <a:solidFill>
              <a:schemeClr val="tx1"/>
            </a:solidFill>
          </a:ln>
        </p:spPr>
      </p:pic>
      <p:sp>
        <p:nvSpPr>
          <p:cNvPr id="25" name="Rounded Rectangle 24">
            <a:extLst>
              <a:ext uri="{FF2B5EF4-FFF2-40B4-BE49-F238E27FC236}">
                <a16:creationId xmlns:a16="http://schemas.microsoft.com/office/drawing/2014/main" id="{2BC4267E-5493-A8B2-F528-8E6D5E4425E2}"/>
              </a:ext>
            </a:extLst>
          </p:cNvPr>
          <p:cNvSpPr/>
          <p:nvPr/>
        </p:nvSpPr>
        <p:spPr>
          <a:xfrm>
            <a:off x="3500465" y="4715536"/>
            <a:ext cx="1729425" cy="94140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NLP</a:t>
            </a:r>
          </a:p>
          <a:p>
            <a:pPr algn="ctr"/>
            <a:r>
              <a:rPr lang="en-US" dirty="0"/>
              <a:t>Encoder</a:t>
            </a:r>
          </a:p>
        </p:txBody>
      </p:sp>
      <p:sp>
        <p:nvSpPr>
          <p:cNvPr id="27" name="TextBox 26">
            <a:extLst>
              <a:ext uri="{FF2B5EF4-FFF2-40B4-BE49-F238E27FC236}">
                <a16:creationId xmlns:a16="http://schemas.microsoft.com/office/drawing/2014/main" id="{F434E5AB-74C5-3770-8EB9-172CBCE403D4}"/>
              </a:ext>
            </a:extLst>
          </p:cNvPr>
          <p:cNvSpPr txBox="1"/>
          <p:nvPr/>
        </p:nvSpPr>
        <p:spPr>
          <a:xfrm>
            <a:off x="957253" y="6134384"/>
            <a:ext cx="954956" cy="307777"/>
          </a:xfrm>
          <a:prstGeom prst="rect">
            <a:avLst/>
          </a:prstGeom>
          <a:noFill/>
        </p:spPr>
        <p:txBody>
          <a:bodyPr wrap="square" rtlCol="0">
            <a:spAutoFit/>
          </a:bodyPr>
          <a:lstStyle/>
          <a:p>
            <a:pPr algn="ctr"/>
            <a:r>
              <a:rPr lang="en-US" sz="1400" dirty="0">
                <a:solidFill>
                  <a:schemeClr val="accent2"/>
                </a:solidFill>
                <a:latin typeface="Times New Roman" panose="02020603050405020304" pitchFamily="18" charset="0"/>
                <a:cs typeface="Times New Roman" panose="02020603050405020304" pitchFamily="18" charset="0"/>
              </a:rPr>
              <a:t>document</a:t>
            </a:r>
          </a:p>
        </p:txBody>
      </p:sp>
      <p:cxnSp>
        <p:nvCxnSpPr>
          <p:cNvPr id="29" name="Straight Arrow Connector 28">
            <a:extLst>
              <a:ext uri="{FF2B5EF4-FFF2-40B4-BE49-F238E27FC236}">
                <a16:creationId xmlns:a16="http://schemas.microsoft.com/office/drawing/2014/main" id="{4DB25E98-9766-85B5-7891-728D01BCC3B7}"/>
              </a:ext>
            </a:extLst>
          </p:cNvPr>
          <p:cNvCxnSpPr>
            <a:cxnSpLocks/>
            <a:stCxn id="6" idx="3"/>
          </p:cNvCxnSpPr>
          <p:nvPr/>
        </p:nvCxnSpPr>
        <p:spPr>
          <a:xfrm>
            <a:off x="2148551" y="3015763"/>
            <a:ext cx="13519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a:extLst>
              <a:ext uri="{FF2B5EF4-FFF2-40B4-BE49-F238E27FC236}">
                <a16:creationId xmlns:a16="http://schemas.microsoft.com/office/drawing/2014/main" id="{C606BDA9-E10D-CA57-F13B-7CA0ACE2CCF4}"/>
              </a:ext>
            </a:extLst>
          </p:cNvPr>
          <p:cNvCxnSpPr>
            <a:cxnSpLocks/>
          </p:cNvCxnSpPr>
          <p:nvPr/>
        </p:nvCxnSpPr>
        <p:spPr>
          <a:xfrm>
            <a:off x="5343029" y="3015763"/>
            <a:ext cx="331907" cy="41323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7" name="Rounded Rectangle 36">
            <a:extLst>
              <a:ext uri="{FF2B5EF4-FFF2-40B4-BE49-F238E27FC236}">
                <a16:creationId xmlns:a16="http://schemas.microsoft.com/office/drawing/2014/main" id="{6E2F1C11-BD77-0564-A0F1-A8FF7DA6433E}"/>
              </a:ext>
            </a:extLst>
          </p:cNvPr>
          <p:cNvSpPr/>
          <p:nvPr/>
        </p:nvSpPr>
        <p:spPr>
          <a:xfrm>
            <a:off x="3500464" y="2571131"/>
            <a:ext cx="1729425" cy="941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CNN</a:t>
            </a:r>
          </a:p>
          <a:p>
            <a:pPr algn="ctr"/>
            <a:r>
              <a:rPr lang="en-US" dirty="0"/>
              <a:t>Encoder</a:t>
            </a:r>
          </a:p>
        </p:txBody>
      </p:sp>
      <p:pic>
        <p:nvPicPr>
          <p:cNvPr id="6" name="Picture 5">
            <a:extLst>
              <a:ext uri="{FF2B5EF4-FFF2-40B4-BE49-F238E27FC236}">
                <a16:creationId xmlns:a16="http://schemas.microsoft.com/office/drawing/2014/main" id="{65A2A483-C65D-1611-E93A-43DA914AC855}"/>
              </a:ext>
            </a:extLst>
          </p:cNvPr>
          <p:cNvPicPr>
            <a:picLocks noChangeAspect="1"/>
          </p:cNvPicPr>
          <p:nvPr/>
        </p:nvPicPr>
        <p:blipFill>
          <a:blip r:embed="rId4"/>
          <a:stretch>
            <a:fillRect/>
          </a:stretch>
        </p:blipFill>
        <p:spPr>
          <a:xfrm>
            <a:off x="720912" y="2284880"/>
            <a:ext cx="1427639" cy="1461765"/>
          </a:xfrm>
          <a:prstGeom prst="rect">
            <a:avLst/>
          </a:prstGeom>
        </p:spPr>
      </p:pic>
      <p:sp>
        <p:nvSpPr>
          <p:cNvPr id="40" name="TextBox 39">
            <a:extLst>
              <a:ext uri="{FF2B5EF4-FFF2-40B4-BE49-F238E27FC236}">
                <a16:creationId xmlns:a16="http://schemas.microsoft.com/office/drawing/2014/main" id="{1162B9B1-3FB8-3B6F-2646-9F819CE4FEBB}"/>
              </a:ext>
            </a:extLst>
          </p:cNvPr>
          <p:cNvSpPr txBox="1"/>
          <p:nvPr/>
        </p:nvSpPr>
        <p:spPr>
          <a:xfrm>
            <a:off x="733778" y="3756931"/>
            <a:ext cx="1401905" cy="307777"/>
          </a:xfrm>
          <a:prstGeom prst="rect">
            <a:avLst/>
          </a:prstGeom>
          <a:noFill/>
        </p:spPr>
        <p:txBody>
          <a:bodyPr wrap="square" rtlCol="0">
            <a:spAutoFit/>
          </a:bodyPr>
          <a:lstStyle/>
          <a:p>
            <a:pPr algn="ctr"/>
            <a:r>
              <a:rPr lang="en-US" sz="1400" dirty="0">
                <a:solidFill>
                  <a:schemeClr val="accent1"/>
                </a:solidFill>
                <a:latin typeface="Times New Roman" panose="02020603050405020304" pitchFamily="18" charset="0"/>
                <a:cs typeface="Times New Roman" panose="02020603050405020304" pitchFamily="18" charset="0"/>
              </a:rPr>
              <a:t>image</a:t>
            </a:r>
          </a:p>
        </p:txBody>
      </p:sp>
      <p:graphicFrame>
        <p:nvGraphicFramePr>
          <p:cNvPr id="3" name="Table 2">
            <a:extLst>
              <a:ext uri="{FF2B5EF4-FFF2-40B4-BE49-F238E27FC236}">
                <a16:creationId xmlns:a16="http://schemas.microsoft.com/office/drawing/2014/main" id="{297C1145-23E7-D3DA-8AD1-AF868F001375}"/>
              </a:ext>
            </a:extLst>
          </p:cNvPr>
          <p:cNvGraphicFramePr>
            <a:graphicFrameLocks noGrp="1"/>
          </p:cNvGraphicFramePr>
          <p:nvPr/>
        </p:nvGraphicFramePr>
        <p:xfrm>
          <a:off x="9323091" y="3616364"/>
          <a:ext cx="2343891" cy="522772"/>
        </p:xfrm>
        <a:graphic>
          <a:graphicData uri="http://schemas.openxmlformats.org/drawingml/2006/table">
            <a:tbl>
              <a:tblPr firstRow="1" bandRow="1">
                <a:tableStyleId>{5C22544A-7EE6-4342-B048-85BDC9FD1C3A}</a:tableStyleId>
              </a:tblPr>
              <a:tblGrid>
                <a:gridCol w="2343891">
                  <a:extLst>
                    <a:ext uri="{9D8B030D-6E8A-4147-A177-3AD203B41FA5}">
                      <a16:colId xmlns:a16="http://schemas.microsoft.com/office/drawing/2014/main" val="4002730172"/>
                    </a:ext>
                  </a:extLst>
                </a:gridCol>
              </a:tblGrid>
              <a:tr h="522772">
                <a:tc>
                  <a:txBody>
                    <a:bodyPr/>
                    <a:lstStyle/>
                    <a:p>
                      <a:pPr algn="ctr"/>
                      <a:r>
                        <a:rPr lang="en-US" dirty="0">
                          <a:solidFill>
                            <a:schemeClr val="tx1"/>
                          </a:solidFill>
                        </a:rPr>
                        <a:t>P(outcome | data)</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
        <p:nvSpPr>
          <p:cNvPr id="8" name="TextBox 7">
            <a:extLst>
              <a:ext uri="{FF2B5EF4-FFF2-40B4-BE49-F238E27FC236}">
                <a16:creationId xmlns:a16="http://schemas.microsoft.com/office/drawing/2014/main" id="{A8184D23-CC28-B008-952B-88CA852DF28B}"/>
              </a:ext>
            </a:extLst>
          </p:cNvPr>
          <p:cNvSpPr txBox="1"/>
          <p:nvPr/>
        </p:nvSpPr>
        <p:spPr>
          <a:xfrm>
            <a:off x="6248068" y="3496683"/>
            <a:ext cx="486030" cy="769441"/>
          </a:xfrm>
          <a:prstGeom prst="rect">
            <a:avLst/>
          </a:prstGeom>
          <a:noFill/>
        </p:spPr>
        <p:txBody>
          <a:bodyPr wrap="none" rtlCol="0">
            <a:spAutoFit/>
          </a:bodyPr>
          <a:lstStyle/>
          <a:p>
            <a:r>
              <a:rPr lang="en-US" sz="4400" b="1" dirty="0"/>
              <a:t>+</a:t>
            </a:r>
          </a:p>
        </p:txBody>
      </p:sp>
      <p:graphicFrame>
        <p:nvGraphicFramePr>
          <p:cNvPr id="13" name="Table 13">
            <a:extLst>
              <a:ext uri="{FF2B5EF4-FFF2-40B4-BE49-F238E27FC236}">
                <a16:creationId xmlns:a16="http://schemas.microsoft.com/office/drawing/2014/main" id="{E2B8BD20-BC6E-EDAE-CD1B-E63322F5C448}"/>
              </a:ext>
            </a:extLst>
          </p:cNvPr>
          <p:cNvGraphicFramePr>
            <a:graphicFrameLocks noGrp="1"/>
          </p:cNvGraphicFramePr>
          <p:nvPr/>
        </p:nvGraphicFramePr>
        <p:xfrm>
          <a:off x="7727366" y="3010380"/>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sp>
        <p:nvSpPr>
          <p:cNvPr id="14" name="TextBox 13">
            <a:extLst>
              <a:ext uri="{FF2B5EF4-FFF2-40B4-BE49-F238E27FC236}">
                <a16:creationId xmlns:a16="http://schemas.microsoft.com/office/drawing/2014/main" id="{D8E0B35A-FBF5-3EA2-BF67-ED4A36EFF15A}"/>
              </a:ext>
            </a:extLst>
          </p:cNvPr>
          <p:cNvSpPr txBox="1"/>
          <p:nvPr/>
        </p:nvSpPr>
        <p:spPr>
          <a:xfrm>
            <a:off x="7220932" y="3496683"/>
            <a:ext cx="486030" cy="769441"/>
          </a:xfrm>
          <a:prstGeom prst="rect">
            <a:avLst/>
          </a:prstGeom>
          <a:noFill/>
        </p:spPr>
        <p:txBody>
          <a:bodyPr wrap="none" rtlCol="0">
            <a:spAutoFit/>
          </a:bodyPr>
          <a:lstStyle/>
          <a:p>
            <a:r>
              <a:rPr lang="en-US" sz="4400" b="1" dirty="0"/>
              <a:t>=</a:t>
            </a:r>
          </a:p>
        </p:txBody>
      </p:sp>
      <p:sp>
        <p:nvSpPr>
          <p:cNvPr id="17" name="Right Brace 16">
            <a:extLst>
              <a:ext uri="{FF2B5EF4-FFF2-40B4-BE49-F238E27FC236}">
                <a16:creationId xmlns:a16="http://schemas.microsoft.com/office/drawing/2014/main" id="{6B2451A1-2943-E8D8-C7BE-B7BCD9027BF2}"/>
              </a:ext>
            </a:extLst>
          </p:cNvPr>
          <p:cNvSpPr/>
          <p:nvPr/>
        </p:nvSpPr>
        <p:spPr>
          <a:xfrm rot="16200000">
            <a:off x="6342310" y="2027193"/>
            <a:ext cx="297546" cy="142351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DC115F7B-A0FD-5CE7-2853-5BC034DD507B}"/>
              </a:ext>
            </a:extLst>
          </p:cNvPr>
          <p:cNvSpPr txBox="1"/>
          <p:nvPr/>
        </p:nvSpPr>
        <p:spPr>
          <a:xfrm>
            <a:off x="6318617" y="2100214"/>
            <a:ext cx="3703450" cy="369332"/>
          </a:xfrm>
          <a:prstGeom prst="rect">
            <a:avLst/>
          </a:prstGeom>
          <a:noFill/>
        </p:spPr>
        <p:txBody>
          <a:bodyPr wrap="none" rtlCol="0">
            <a:spAutoFit/>
          </a:bodyPr>
          <a:lstStyle/>
          <a:p>
            <a:r>
              <a:rPr lang="en-US" dirty="0"/>
              <a:t>Contrastive (e.g., CLIP) loss applied</a:t>
            </a:r>
          </a:p>
        </p:txBody>
      </p:sp>
      <p:sp>
        <p:nvSpPr>
          <p:cNvPr id="21" name="TextBox 20">
            <a:extLst>
              <a:ext uri="{FF2B5EF4-FFF2-40B4-BE49-F238E27FC236}">
                <a16:creationId xmlns:a16="http://schemas.microsoft.com/office/drawing/2014/main" id="{0CF53B9A-021B-4E7C-7076-C8D02D011BB5}"/>
              </a:ext>
            </a:extLst>
          </p:cNvPr>
          <p:cNvSpPr txBox="1"/>
          <p:nvPr/>
        </p:nvSpPr>
        <p:spPr>
          <a:xfrm>
            <a:off x="8964358" y="4779782"/>
            <a:ext cx="3061356" cy="1754326"/>
          </a:xfrm>
          <a:prstGeom prst="rect">
            <a:avLst/>
          </a:prstGeom>
          <a:noFill/>
        </p:spPr>
        <p:txBody>
          <a:bodyPr wrap="square" rtlCol="0">
            <a:spAutoFit/>
          </a:bodyPr>
          <a:lstStyle/>
          <a:p>
            <a:pPr marL="342900" indent="-342900">
              <a:buAutoNum type="arabicPeriod"/>
            </a:pPr>
            <a:r>
              <a:rPr lang="en-US" dirty="0"/>
              <a:t>Train independently to predict outcome</a:t>
            </a:r>
          </a:p>
          <a:p>
            <a:pPr marL="342900" indent="-342900">
              <a:buAutoNum type="arabicPeriod"/>
            </a:pPr>
            <a:endParaRPr lang="en-US" dirty="0"/>
          </a:p>
          <a:p>
            <a:pPr marL="342900" indent="-342900">
              <a:buFontTx/>
              <a:buAutoNum type="arabicPeriod"/>
            </a:pPr>
            <a:r>
              <a:rPr lang="en-US" dirty="0"/>
              <a:t>Train together to (a) predict outcome, and (b) reduce contrastive loss</a:t>
            </a:r>
          </a:p>
        </p:txBody>
      </p:sp>
    </p:spTree>
    <p:extLst>
      <p:ext uri="{BB962C8B-B14F-4D97-AF65-F5344CB8AC3E}">
        <p14:creationId xmlns:p14="http://schemas.microsoft.com/office/powerpoint/2010/main" val="3204434034"/>
      </p:ext>
    </p:extLst>
  </p:cSld>
  <p:clrMapOvr>
    <a:masterClrMapping/>
  </p:clrMapOvr>
  <mc:AlternateContent xmlns:mc="http://schemas.openxmlformats.org/markup-compatibility/2006" xmlns:p14="http://schemas.microsoft.com/office/powerpoint/2010/main">
    <mc:Choice Requires="p14">
      <p:transition spd="slow" p14:dur="2000" advTm="34188"/>
    </mc:Choice>
    <mc:Fallback xmlns="">
      <p:transition spd="slow" advTm="34188"/>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26136-E754-8014-7DCC-3D9C480D695A}"/>
            </a:ext>
          </a:extLst>
        </p:cNvPr>
        <p:cNvGrpSpPr/>
        <p:nvPr/>
      </p:nvGrpSpPr>
      <p:grpSpPr>
        <a:xfrm>
          <a:off x="0" y="0"/>
          <a:ext cx="0" cy="0"/>
          <a:chOff x="0" y="0"/>
          <a:chExt cx="0" cy="0"/>
        </a:xfrm>
      </p:grpSpPr>
      <p:cxnSp>
        <p:nvCxnSpPr>
          <p:cNvPr id="26" name="Straight Arrow Connector 25">
            <a:extLst>
              <a:ext uri="{FF2B5EF4-FFF2-40B4-BE49-F238E27FC236}">
                <a16:creationId xmlns:a16="http://schemas.microsoft.com/office/drawing/2014/main" id="{4CDED086-F953-6086-A0B9-DDC769F1A5EE}"/>
              </a:ext>
            </a:extLst>
          </p:cNvPr>
          <p:cNvCxnSpPr>
            <a:cxnSpLocks/>
          </p:cNvCxnSpPr>
          <p:nvPr/>
        </p:nvCxnSpPr>
        <p:spPr>
          <a:xfrm flipV="1">
            <a:off x="5343029" y="4413865"/>
            <a:ext cx="1238775" cy="74984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 name="Title 1">
            <a:extLst>
              <a:ext uri="{FF2B5EF4-FFF2-40B4-BE49-F238E27FC236}">
                <a16:creationId xmlns:a16="http://schemas.microsoft.com/office/drawing/2014/main" id="{A3C005A3-AB18-BA83-E379-1440A8D0AADF}"/>
              </a:ext>
            </a:extLst>
          </p:cNvPr>
          <p:cNvSpPr>
            <a:spLocks noGrp="1"/>
          </p:cNvSpPr>
          <p:nvPr>
            <p:ph type="title"/>
          </p:nvPr>
        </p:nvSpPr>
        <p:spPr>
          <a:xfrm>
            <a:off x="303368" y="221171"/>
            <a:ext cx="6672467" cy="1591351"/>
          </a:xfrm>
        </p:spPr>
        <p:txBody>
          <a:bodyPr/>
          <a:lstStyle/>
          <a:p>
            <a:r>
              <a:rPr lang="en-US" b="1" dirty="0"/>
              <a:t>Joint</a:t>
            </a:r>
            <a:r>
              <a:rPr lang="en-US" dirty="0"/>
              <a:t> fusion in shared representation space</a:t>
            </a:r>
          </a:p>
        </p:txBody>
      </p:sp>
      <p:graphicFrame>
        <p:nvGraphicFramePr>
          <p:cNvPr id="9" name="Table 13">
            <a:extLst>
              <a:ext uri="{FF2B5EF4-FFF2-40B4-BE49-F238E27FC236}">
                <a16:creationId xmlns:a16="http://schemas.microsoft.com/office/drawing/2014/main" id="{21D861EA-CF79-2C74-DF31-014FD983198B}"/>
              </a:ext>
            </a:extLst>
          </p:cNvPr>
          <p:cNvGraphicFramePr>
            <a:graphicFrameLocks noGrp="1"/>
          </p:cNvGraphicFramePr>
          <p:nvPr/>
        </p:nvGraphicFramePr>
        <p:xfrm>
          <a:off x="5778771" y="3015762"/>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419904516"/>
                  </a:ext>
                </a:extLst>
              </a:tr>
            </a:tbl>
          </a:graphicData>
        </a:graphic>
      </p:graphicFrame>
      <p:cxnSp>
        <p:nvCxnSpPr>
          <p:cNvPr id="11" name="Straight Arrow Connector 10">
            <a:extLst>
              <a:ext uri="{FF2B5EF4-FFF2-40B4-BE49-F238E27FC236}">
                <a16:creationId xmlns:a16="http://schemas.microsoft.com/office/drawing/2014/main" id="{9A355CA9-F2C9-8618-25E3-E8054633C6F6}"/>
              </a:ext>
            </a:extLst>
          </p:cNvPr>
          <p:cNvCxnSpPr>
            <a:cxnSpLocks/>
          </p:cNvCxnSpPr>
          <p:nvPr/>
        </p:nvCxnSpPr>
        <p:spPr>
          <a:xfrm flipV="1">
            <a:off x="8401455" y="3877750"/>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1A103939-40D3-8FF6-C613-1F6F9CFE3256}"/>
              </a:ext>
            </a:extLst>
          </p:cNvPr>
          <p:cNvSpPr txBox="1"/>
          <p:nvPr/>
        </p:nvSpPr>
        <p:spPr>
          <a:xfrm>
            <a:off x="8068566" y="3910819"/>
            <a:ext cx="1356302"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MLP</a:t>
            </a:r>
          </a:p>
        </p:txBody>
      </p:sp>
      <p:graphicFrame>
        <p:nvGraphicFramePr>
          <p:cNvPr id="16" name="Table 13">
            <a:extLst>
              <a:ext uri="{FF2B5EF4-FFF2-40B4-BE49-F238E27FC236}">
                <a16:creationId xmlns:a16="http://schemas.microsoft.com/office/drawing/2014/main" id="{F5041BAA-4522-0513-3A08-DC7BF44CBD17}"/>
              </a:ext>
            </a:extLst>
          </p:cNvPr>
          <p:cNvGraphicFramePr>
            <a:graphicFrameLocks noGrp="1"/>
          </p:cNvGraphicFramePr>
          <p:nvPr/>
        </p:nvGraphicFramePr>
        <p:xfrm>
          <a:off x="6754347" y="3010380"/>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sp>
        <p:nvSpPr>
          <p:cNvPr id="20" name="TextBox 19">
            <a:extLst>
              <a:ext uri="{FF2B5EF4-FFF2-40B4-BE49-F238E27FC236}">
                <a16:creationId xmlns:a16="http://schemas.microsoft.com/office/drawing/2014/main" id="{46EF8044-453B-55D6-9A44-9ED979E34D70}"/>
              </a:ext>
            </a:extLst>
          </p:cNvPr>
          <p:cNvSpPr txBox="1"/>
          <p:nvPr/>
        </p:nvSpPr>
        <p:spPr>
          <a:xfrm>
            <a:off x="7197323" y="4899397"/>
            <a:ext cx="1577991" cy="523220"/>
          </a:xfrm>
          <a:prstGeom prst="rect">
            <a:avLst/>
          </a:prstGeom>
          <a:noFill/>
        </p:spPr>
        <p:txBody>
          <a:bodyPr wrap="square" rtlCol="0">
            <a:spAutoFit/>
          </a:bodyPr>
          <a:lstStyle/>
          <a:p>
            <a:pPr algn="ctr"/>
            <a:r>
              <a:rPr lang="en-US" sz="1400" b="1" dirty="0">
                <a:solidFill>
                  <a:schemeClr val="accent6"/>
                </a:solidFill>
                <a:latin typeface="Times New Roman" panose="02020603050405020304" pitchFamily="18" charset="0"/>
                <a:cs typeface="Times New Roman" panose="02020603050405020304" pitchFamily="18" charset="0"/>
              </a:rPr>
              <a:t>multimodal</a:t>
            </a:r>
          </a:p>
          <a:p>
            <a:pPr algn="ctr"/>
            <a:r>
              <a:rPr lang="en-US" sz="1400" b="1" dirty="0">
                <a:solidFill>
                  <a:schemeClr val="accent6"/>
                </a:solidFill>
                <a:latin typeface="Times New Roman" panose="02020603050405020304" pitchFamily="18" charset="0"/>
                <a:cs typeface="Times New Roman" panose="02020603050405020304" pitchFamily="18" charset="0"/>
              </a:rPr>
              <a:t>representation</a:t>
            </a:r>
          </a:p>
        </p:txBody>
      </p:sp>
      <p:cxnSp>
        <p:nvCxnSpPr>
          <p:cNvPr id="23" name="Straight Arrow Connector 22">
            <a:extLst>
              <a:ext uri="{FF2B5EF4-FFF2-40B4-BE49-F238E27FC236}">
                <a16:creationId xmlns:a16="http://schemas.microsoft.com/office/drawing/2014/main" id="{D42AAD2D-542C-CECF-B8EB-377E80214CF4}"/>
              </a:ext>
            </a:extLst>
          </p:cNvPr>
          <p:cNvCxnSpPr>
            <a:cxnSpLocks/>
            <a:stCxn id="24" idx="3"/>
            <a:endCxn id="25" idx="1"/>
          </p:cNvCxnSpPr>
          <p:nvPr/>
        </p:nvCxnSpPr>
        <p:spPr>
          <a:xfrm>
            <a:off x="2148551" y="5186241"/>
            <a:ext cx="135191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4" name="Picture 23">
            <a:extLst>
              <a:ext uri="{FF2B5EF4-FFF2-40B4-BE49-F238E27FC236}">
                <a16:creationId xmlns:a16="http://schemas.microsoft.com/office/drawing/2014/main" id="{948D0510-B0B9-99E8-93B9-43D6041D0238}"/>
              </a:ext>
            </a:extLst>
          </p:cNvPr>
          <p:cNvPicPr>
            <a:picLocks noChangeAspect="1"/>
          </p:cNvPicPr>
          <p:nvPr/>
        </p:nvPicPr>
        <p:blipFill rotWithShape="1">
          <a:blip r:embed="rId3"/>
          <a:srcRect l="11976" t="10927" r="11177" b="12059"/>
          <a:stretch/>
        </p:blipFill>
        <p:spPr>
          <a:xfrm>
            <a:off x="720912" y="4260475"/>
            <a:ext cx="1427639" cy="1851532"/>
          </a:xfrm>
          <a:prstGeom prst="rect">
            <a:avLst/>
          </a:prstGeom>
          <a:ln>
            <a:solidFill>
              <a:schemeClr val="tx1"/>
            </a:solidFill>
          </a:ln>
        </p:spPr>
      </p:pic>
      <p:sp>
        <p:nvSpPr>
          <p:cNvPr id="25" name="Rounded Rectangle 24">
            <a:extLst>
              <a:ext uri="{FF2B5EF4-FFF2-40B4-BE49-F238E27FC236}">
                <a16:creationId xmlns:a16="http://schemas.microsoft.com/office/drawing/2014/main" id="{C13FDD6D-8AF1-719D-7996-1BD9EE33E311}"/>
              </a:ext>
            </a:extLst>
          </p:cNvPr>
          <p:cNvSpPr/>
          <p:nvPr/>
        </p:nvSpPr>
        <p:spPr>
          <a:xfrm>
            <a:off x="3500465" y="4715536"/>
            <a:ext cx="1729425" cy="94140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NLP</a:t>
            </a:r>
          </a:p>
          <a:p>
            <a:pPr algn="ctr"/>
            <a:r>
              <a:rPr lang="en-US" dirty="0"/>
              <a:t>Encoder</a:t>
            </a:r>
          </a:p>
        </p:txBody>
      </p:sp>
      <p:sp>
        <p:nvSpPr>
          <p:cNvPr id="27" name="TextBox 26">
            <a:extLst>
              <a:ext uri="{FF2B5EF4-FFF2-40B4-BE49-F238E27FC236}">
                <a16:creationId xmlns:a16="http://schemas.microsoft.com/office/drawing/2014/main" id="{5D84B4EB-24F8-36F9-536B-F6C5720B52EF}"/>
              </a:ext>
            </a:extLst>
          </p:cNvPr>
          <p:cNvSpPr txBox="1"/>
          <p:nvPr/>
        </p:nvSpPr>
        <p:spPr>
          <a:xfrm>
            <a:off x="957253" y="6134384"/>
            <a:ext cx="954956" cy="307777"/>
          </a:xfrm>
          <a:prstGeom prst="rect">
            <a:avLst/>
          </a:prstGeom>
          <a:noFill/>
        </p:spPr>
        <p:txBody>
          <a:bodyPr wrap="square" rtlCol="0">
            <a:spAutoFit/>
          </a:bodyPr>
          <a:lstStyle/>
          <a:p>
            <a:pPr algn="ctr"/>
            <a:r>
              <a:rPr lang="en-US" sz="1400" dirty="0">
                <a:solidFill>
                  <a:schemeClr val="accent2"/>
                </a:solidFill>
                <a:latin typeface="Times New Roman" panose="02020603050405020304" pitchFamily="18" charset="0"/>
                <a:cs typeface="Times New Roman" panose="02020603050405020304" pitchFamily="18" charset="0"/>
              </a:rPr>
              <a:t>document</a:t>
            </a:r>
          </a:p>
        </p:txBody>
      </p:sp>
      <p:cxnSp>
        <p:nvCxnSpPr>
          <p:cNvPr id="29" name="Straight Arrow Connector 28">
            <a:extLst>
              <a:ext uri="{FF2B5EF4-FFF2-40B4-BE49-F238E27FC236}">
                <a16:creationId xmlns:a16="http://schemas.microsoft.com/office/drawing/2014/main" id="{D16B3156-0BD0-500E-6F26-7E57B90A40A8}"/>
              </a:ext>
            </a:extLst>
          </p:cNvPr>
          <p:cNvCxnSpPr>
            <a:cxnSpLocks/>
            <a:stCxn id="6" idx="3"/>
          </p:cNvCxnSpPr>
          <p:nvPr/>
        </p:nvCxnSpPr>
        <p:spPr>
          <a:xfrm>
            <a:off x="2148551" y="3015763"/>
            <a:ext cx="13519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a:extLst>
              <a:ext uri="{FF2B5EF4-FFF2-40B4-BE49-F238E27FC236}">
                <a16:creationId xmlns:a16="http://schemas.microsoft.com/office/drawing/2014/main" id="{9810BAE4-3627-818A-106C-DB5957816C54}"/>
              </a:ext>
            </a:extLst>
          </p:cNvPr>
          <p:cNvCxnSpPr>
            <a:cxnSpLocks/>
          </p:cNvCxnSpPr>
          <p:nvPr/>
        </p:nvCxnSpPr>
        <p:spPr>
          <a:xfrm>
            <a:off x="5343029" y="3015763"/>
            <a:ext cx="331907" cy="41323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7" name="Rounded Rectangle 36">
            <a:extLst>
              <a:ext uri="{FF2B5EF4-FFF2-40B4-BE49-F238E27FC236}">
                <a16:creationId xmlns:a16="http://schemas.microsoft.com/office/drawing/2014/main" id="{F602BA0F-646E-963D-B099-4E531171F132}"/>
              </a:ext>
            </a:extLst>
          </p:cNvPr>
          <p:cNvSpPr/>
          <p:nvPr/>
        </p:nvSpPr>
        <p:spPr>
          <a:xfrm>
            <a:off x="3500464" y="2571131"/>
            <a:ext cx="1729425" cy="941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CNN</a:t>
            </a:r>
          </a:p>
          <a:p>
            <a:pPr algn="ctr"/>
            <a:r>
              <a:rPr lang="en-US" dirty="0"/>
              <a:t>Encoder</a:t>
            </a:r>
          </a:p>
        </p:txBody>
      </p:sp>
      <p:pic>
        <p:nvPicPr>
          <p:cNvPr id="6" name="Picture 5">
            <a:extLst>
              <a:ext uri="{FF2B5EF4-FFF2-40B4-BE49-F238E27FC236}">
                <a16:creationId xmlns:a16="http://schemas.microsoft.com/office/drawing/2014/main" id="{7C4A6BE2-BE3F-A3D2-F2EC-9B5A73B3055A}"/>
              </a:ext>
            </a:extLst>
          </p:cNvPr>
          <p:cNvPicPr>
            <a:picLocks noChangeAspect="1"/>
          </p:cNvPicPr>
          <p:nvPr/>
        </p:nvPicPr>
        <p:blipFill>
          <a:blip r:embed="rId4"/>
          <a:stretch>
            <a:fillRect/>
          </a:stretch>
        </p:blipFill>
        <p:spPr>
          <a:xfrm>
            <a:off x="720912" y="2284880"/>
            <a:ext cx="1427639" cy="1461765"/>
          </a:xfrm>
          <a:prstGeom prst="rect">
            <a:avLst/>
          </a:prstGeom>
        </p:spPr>
      </p:pic>
      <p:sp>
        <p:nvSpPr>
          <p:cNvPr id="40" name="TextBox 39">
            <a:extLst>
              <a:ext uri="{FF2B5EF4-FFF2-40B4-BE49-F238E27FC236}">
                <a16:creationId xmlns:a16="http://schemas.microsoft.com/office/drawing/2014/main" id="{E223AEBD-6F59-6080-863D-CD132EE7BE2B}"/>
              </a:ext>
            </a:extLst>
          </p:cNvPr>
          <p:cNvSpPr txBox="1"/>
          <p:nvPr/>
        </p:nvSpPr>
        <p:spPr>
          <a:xfrm>
            <a:off x="733778" y="3756931"/>
            <a:ext cx="1401905" cy="307777"/>
          </a:xfrm>
          <a:prstGeom prst="rect">
            <a:avLst/>
          </a:prstGeom>
          <a:noFill/>
        </p:spPr>
        <p:txBody>
          <a:bodyPr wrap="square" rtlCol="0">
            <a:spAutoFit/>
          </a:bodyPr>
          <a:lstStyle/>
          <a:p>
            <a:pPr algn="ctr"/>
            <a:r>
              <a:rPr lang="en-US" sz="1400" dirty="0">
                <a:solidFill>
                  <a:schemeClr val="accent1"/>
                </a:solidFill>
                <a:latin typeface="Times New Roman" panose="02020603050405020304" pitchFamily="18" charset="0"/>
                <a:cs typeface="Times New Roman" panose="02020603050405020304" pitchFamily="18" charset="0"/>
              </a:rPr>
              <a:t>image</a:t>
            </a:r>
          </a:p>
        </p:txBody>
      </p:sp>
      <p:graphicFrame>
        <p:nvGraphicFramePr>
          <p:cNvPr id="3" name="Table 2">
            <a:extLst>
              <a:ext uri="{FF2B5EF4-FFF2-40B4-BE49-F238E27FC236}">
                <a16:creationId xmlns:a16="http://schemas.microsoft.com/office/drawing/2014/main" id="{E0C3302A-7DA0-CAAA-61D3-52DE9E7D1785}"/>
              </a:ext>
            </a:extLst>
          </p:cNvPr>
          <p:cNvGraphicFramePr>
            <a:graphicFrameLocks noGrp="1"/>
          </p:cNvGraphicFramePr>
          <p:nvPr/>
        </p:nvGraphicFramePr>
        <p:xfrm>
          <a:off x="9323091" y="3616364"/>
          <a:ext cx="2343891" cy="522772"/>
        </p:xfrm>
        <a:graphic>
          <a:graphicData uri="http://schemas.openxmlformats.org/drawingml/2006/table">
            <a:tbl>
              <a:tblPr firstRow="1" bandRow="1">
                <a:tableStyleId>{5C22544A-7EE6-4342-B048-85BDC9FD1C3A}</a:tableStyleId>
              </a:tblPr>
              <a:tblGrid>
                <a:gridCol w="2343891">
                  <a:extLst>
                    <a:ext uri="{9D8B030D-6E8A-4147-A177-3AD203B41FA5}">
                      <a16:colId xmlns:a16="http://schemas.microsoft.com/office/drawing/2014/main" val="4002730172"/>
                    </a:ext>
                  </a:extLst>
                </a:gridCol>
              </a:tblGrid>
              <a:tr h="522772">
                <a:tc>
                  <a:txBody>
                    <a:bodyPr/>
                    <a:lstStyle/>
                    <a:p>
                      <a:pPr algn="ctr"/>
                      <a:r>
                        <a:rPr lang="en-US" dirty="0">
                          <a:solidFill>
                            <a:schemeClr val="tx1"/>
                          </a:solidFill>
                        </a:rPr>
                        <a:t>P(outcome | data)</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
        <p:nvSpPr>
          <p:cNvPr id="8" name="TextBox 7">
            <a:extLst>
              <a:ext uri="{FF2B5EF4-FFF2-40B4-BE49-F238E27FC236}">
                <a16:creationId xmlns:a16="http://schemas.microsoft.com/office/drawing/2014/main" id="{3F9D85BC-B563-42D2-6C5B-1E5DBB40504B}"/>
              </a:ext>
            </a:extLst>
          </p:cNvPr>
          <p:cNvSpPr txBox="1"/>
          <p:nvPr/>
        </p:nvSpPr>
        <p:spPr>
          <a:xfrm>
            <a:off x="6248068" y="3496683"/>
            <a:ext cx="486030" cy="769441"/>
          </a:xfrm>
          <a:prstGeom prst="rect">
            <a:avLst/>
          </a:prstGeom>
          <a:noFill/>
        </p:spPr>
        <p:txBody>
          <a:bodyPr wrap="none" rtlCol="0">
            <a:spAutoFit/>
          </a:bodyPr>
          <a:lstStyle/>
          <a:p>
            <a:r>
              <a:rPr lang="en-US" sz="4400" b="1" dirty="0"/>
              <a:t>+</a:t>
            </a:r>
          </a:p>
        </p:txBody>
      </p:sp>
      <p:graphicFrame>
        <p:nvGraphicFramePr>
          <p:cNvPr id="13" name="Table 13">
            <a:extLst>
              <a:ext uri="{FF2B5EF4-FFF2-40B4-BE49-F238E27FC236}">
                <a16:creationId xmlns:a16="http://schemas.microsoft.com/office/drawing/2014/main" id="{2B4AFDA3-3B2B-E260-B7F7-255EF4535F41}"/>
              </a:ext>
            </a:extLst>
          </p:cNvPr>
          <p:cNvGraphicFramePr>
            <a:graphicFrameLocks noGrp="1"/>
          </p:cNvGraphicFramePr>
          <p:nvPr/>
        </p:nvGraphicFramePr>
        <p:xfrm>
          <a:off x="7727366" y="3010380"/>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sp>
        <p:nvSpPr>
          <p:cNvPr id="14" name="TextBox 13">
            <a:extLst>
              <a:ext uri="{FF2B5EF4-FFF2-40B4-BE49-F238E27FC236}">
                <a16:creationId xmlns:a16="http://schemas.microsoft.com/office/drawing/2014/main" id="{81B0DF3A-366C-9024-C3E0-C29F0955ED4F}"/>
              </a:ext>
            </a:extLst>
          </p:cNvPr>
          <p:cNvSpPr txBox="1"/>
          <p:nvPr/>
        </p:nvSpPr>
        <p:spPr>
          <a:xfrm>
            <a:off x="7220932" y="3496683"/>
            <a:ext cx="486030" cy="769441"/>
          </a:xfrm>
          <a:prstGeom prst="rect">
            <a:avLst/>
          </a:prstGeom>
          <a:noFill/>
        </p:spPr>
        <p:txBody>
          <a:bodyPr wrap="none" rtlCol="0">
            <a:spAutoFit/>
          </a:bodyPr>
          <a:lstStyle/>
          <a:p>
            <a:r>
              <a:rPr lang="en-US" sz="4400" b="1" dirty="0"/>
              <a:t>=</a:t>
            </a:r>
          </a:p>
        </p:txBody>
      </p:sp>
      <p:sp>
        <p:nvSpPr>
          <p:cNvPr id="17" name="Right Brace 16">
            <a:extLst>
              <a:ext uri="{FF2B5EF4-FFF2-40B4-BE49-F238E27FC236}">
                <a16:creationId xmlns:a16="http://schemas.microsoft.com/office/drawing/2014/main" id="{29E27C42-EA13-BB15-1F41-9C77598AC002}"/>
              </a:ext>
            </a:extLst>
          </p:cNvPr>
          <p:cNvSpPr/>
          <p:nvPr/>
        </p:nvSpPr>
        <p:spPr>
          <a:xfrm rot="16200000">
            <a:off x="6342310" y="2027193"/>
            <a:ext cx="297546" cy="142351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EE7DB302-FAD6-C3A5-DD73-FD1D74263C2F}"/>
              </a:ext>
            </a:extLst>
          </p:cNvPr>
          <p:cNvSpPr txBox="1"/>
          <p:nvPr/>
        </p:nvSpPr>
        <p:spPr>
          <a:xfrm>
            <a:off x="6318617" y="2100214"/>
            <a:ext cx="3703450" cy="369332"/>
          </a:xfrm>
          <a:prstGeom prst="rect">
            <a:avLst/>
          </a:prstGeom>
          <a:noFill/>
        </p:spPr>
        <p:txBody>
          <a:bodyPr wrap="none" rtlCol="0">
            <a:spAutoFit/>
          </a:bodyPr>
          <a:lstStyle/>
          <a:p>
            <a:r>
              <a:rPr lang="en-US" dirty="0"/>
              <a:t>Contrastive (e.g., CLIP) loss applied</a:t>
            </a:r>
          </a:p>
        </p:txBody>
      </p:sp>
      <p:sp>
        <p:nvSpPr>
          <p:cNvPr id="21" name="TextBox 20">
            <a:extLst>
              <a:ext uri="{FF2B5EF4-FFF2-40B4-BE49-F238E27FC236}">
                <a16:creationId xmlns:a16="http://schemas.microsoft.com/office/drawing/2014/main" id="{1325C4ED-22E9-B695-4BD5-1C7F8423524A}"/>
              </a:ext>
            </a:extLst>
          </p:cNvPr>
          <p:cNvSpPr txBox="1"/>
          <p:nvPr/>
        </p:nvSpPr>
        <p:spPr>
          <a:xfrm>
            <a:off x="8964358" y="4779782"/>
            <a:ext cx="3061356" cy="1754326"/>
          </a:xfrm>
          <a:prstGeom prst="rect">
            <a:avLst/>
          </a:prstGeom>
          <a:noFill/>
        </p:spPr>
        <p:txBody>
          <a:bodyPr wrap="square" rtlCol="0">
            <a:spAutoFit/>
          </a:bodyPr>
          <a:lstStyle/>
          <a:p>
            <a:pPr marL="342900" indent="-342900">
              <a:buAutoNum type="arabicPeriod"/>
            </a:pPr>
            <a:r>
              <a:rPr lang="en-US" dirty="0"/>
              <a:t>Train independently to predict outcome</a:t>
            </a:r>
          </a:p>
          <a:p>
            <a:pPr marL="342900" indent="-342900">
              <a:buAutoNum type="arabicPeriod"/>
            </a:pPr>
            <a:endParaRPr lang="en-US" dirty="0"/>
          </a:p>
          <a:p>
            <a:pPr marL="342900" indent="-342900">
              <a:buFontTx/>
              <a:buAutoNum type="arabicPeriod"/>
            </a:pPr>
            <a:r>
              <a:rPr lang="en-US" dirty="0"/>
              <a:t>Train together to (a) predict outcome, and (b) reduce contrastive loss</a:t>
            </a:r>
          </a:p>
        </p:txBody>
      </p:sp>
      <p:sp>
        <p:nvSpPr>
          <p:cNvPr id="2" name="TextBox 1">
            <a:extLst>
              <a:ext uri="{FF2B5EF4-FFF2-40B4-BE49-F238E27FC236}">
                <a16:creationId xmlns:a16="http://schemas.microsoft.com/office/drawing/2014/main" id="{BEDFB1E7-95EE-6C49-E2EF-756FFFF9C6B5}"/>
              </a:ext>
            </a:extLst>
          </p:cNvPr>
          <p:cNvSpPr txBox="1"/>
          <p:nvPr/>
        </p:nvSpPr>
        <p:spPr>
          <a:xfrm>
            <a:off x="6754347" y="446833"/>
            <a:ext cx="4774855" cy="646331"/>
          </a:xfrm>
          <a:prstGeom prst="rect">
            <a:avLst/>
          </a:prstGeom>
          <a:noFill/>
        </p:spPr>
        <p:txBody>
          <a:bodyPr wrap="square" rtlCol="0">
            <a:spAutoFit/>
          </a:bodyPr>
          <a:lstStyle/>
          <a:p>
            <a:r>
              <a:rPr lang="en-US" b="1" dirty="0"/>
              <a:t>Q: What happens if we train to minimize the contrastive loss only?</a:t>
            </a:r>
          </a:p>
        </p:txBody>
      </p:sp>
    </p:spTree>
    <p:extLst>
      <p:ext uri="{BB962C8B-B14F-4D97-AF65-F5344CB8AC3E}">
        <p14:creationId xmlns:p14="http://schemas.microsoft.com/office/powerpoint/2010/main" val="635025695"/>
      </p:ext>
    </p:extLst>
  </p:cSld>
  <p:clrMapOvr>
    <a:masterClrMapping/>
  </p:clrMapOvr>
  <mc:AlternateContent xmlns:mc="http://schemas.openxmlformats.org/markup-compatibility/2006" xmlns:p14="http://schemas.microsoft.com/office/powerpoint/2010/main">
    <mc:Choice Requires="p14">
      <p:transition spd="slow" p14:dur="2000" advTm="34188"/>
    </mc:Choice>
    <mc:Fallback xmlns="">
      <p:transition spd="slow" advTm="34188"/>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486E4-5B72-CBBC-E7E5-0E9634E3B61F}"/>
            </a:ext>
          </a:extLst>
        </p:cNvPr>
        <p:cNvGrpSpPr/>
        <p:nvPr/>
      </p:nvGrpSpPr>
      <p:grpSpPr>
        <a:xfrm>
          <a:off x="0" y="0"/>
          <a:ext cx="0" cy="0"/>
          <a:chOff x="0" y="0"/>
          <a:chExt cx="0" cy="0"/>
        </a:xfrm>
      </p:grpSpPr>
      <p:cxnSp>
        <p:nvCxnSpPr>
          <p:cNvPr id="26" name="Straight Arrow Connector 25">
            <a:extLst>
              <a:ext uri="{FF2B5EF4-FFF2-40B4-BE49-F238E27FC236}">
                <a16:creationId xmlns:a16="http://schemas.microsoft.com/office/drawing/2014/main" id="{0BEC9112-4CA8-CF2E-6CFD-2EB77300DC8C}"/>
              </a:ext>
            </a:extLst>
          </p:cNvPr>
          <p:cNvCxnSpPr>
            <a:cxnSpLocks/>
          </p:cNvCxnSpPr>
          <p:nvPr/>
        </p:nvCxnSpPr>
        <p:spPr>
          <a:xfrm flipV="1">
            <a:off x="5343029" y="4413865"/>
            <a:ext cx="1238775" cy="74984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 name="Title 1">
            <a:extLst>
              <a:ext uri="{FF2B5EF4-FFF2-40B4-BE49-F238E27FC236}">
                <a16:creationId xmlns:a16="http://schemas.microsoft.com/office/drawing/2014/main" id="{2BAE921B-9DD8-E023-776E-17348AE0841D}"/>
              </a:ext>
            </a:extLst>
          </p:cNvPr>
          <p:cNvSpPr>
            <a:spLocks noGrp="1"/>
          </p:cNvSpPr>
          <p:nvPr>
            <p:ph type="title"/>
          </p:nvPr>
        </p:nvSpPr>
        <p:spPr>
          <a:xfrm>
            <a:off x="303368" y="221171"/>
            <a:ext cx="6672467" cy="1591351"/>
          </a:xfrm>
        </p:spPr>
        <p:txBody>
          <a:bodyPr/>
          <a:lstStyle/>
          <a:p>
            <a:r>
              <a:rPr lang="en-US" b="1" dirty="0"/>
              <a:t>Joint</a:t>
            </a:r>
            <a:r>
              <a:rPr lang="en-US" dirty="0"/>
              <a:t> fusion in shared representation space</a:t>
            </a:r>
          </a:p>
        </p:txBody>
      </p:sp>
      <p:graphicFrame>
        <p:nvGraphicFramePr>
          <p:cNvPr id="9" name="Table 13">
            <a:extLst>
              <a:ext uri="{FF2B5EF4-FFF2-40B4-BE49-F238E27FC236}">
                <a16:creationId xmlns:a16="http://schemas.microsoft.com/office/drawing/2014/main" id="{D9921790-C6C1-7E80-C437-D17AEA7AF7BC}"/>
              </a:ext>
            </a:extLst>
          </p:cNvPr>
          <p:cNvGraphicFramePr>
            <a:graphicFrameLocks noGrp="1"/>
          </p:cNvGraphicFramePr>
          <p:nvPr/>
        </p:nvGraphicFramePr>
        <p:xfrm>
          <a:off x="5778771" y="3015762"/>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419904516"/>
                  </a:ext>
                </a:extLst>
              </a:tr>
            </a:tbl>
          </a:graphicData>
        </a:graphic>
      </p:graphicFrame>
      <p:cxnSp>
        <p:nvCxnSpPr>
          <p:cNvPr id="11" name="Straight Arrow Connector 10">
            <a:extLst>
              <a:ext uri="{FF2B5EF4-FFF2-40B4-BE49-F238E27FC236}">
                <a16:creationId xmlns:a16="http://schemas.microsoft.com/office/drawing/2014/main" id="{C1C8830B-4D84-6649-5C9E-B1B2A9275614}"/>
              </a:ext>
            </a:extLst>
          </p:cNvPr>
          <p:cNvCxnSpPr>
            <a:cxnSpLocks/>
          </p:cNvCxnSpPr>
          <p:nvPr/>
        </p:nvCxnSpPr>
        <p:spPr>
          <a:xfrm flipV="1">
            <a:off x="8401455" y="3877750"/>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2D16250E-1395-35D5-E6C4-47A55D4BBBFE}"/>
              </a:ext>
            </a:extLst>
          </p:cNvPr>
          <p:cNvSpPr txBox="1"/>
          <p:nvPr/>
        </p:nvSpPr>
        <p:spPr>
          <a:xfrm>
            <a:off x="8068566" y="3910819"/>
            <a:ext cx="1356302"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MLP</a:t>
            </a:r>
          </a:p>
        </p:txBody>
      </p:sp>
      <p:graphicFrame>
        <p:nvGraphicFramePr>
          <p:cNvPr id="16" name="Table 13">
            <a:extLst>
              <a:ext uri="{FF2B5EF4-FFF2-40B4-BE49-F238E27FC236}">
                <a16:creationId xmlns:a16="http://schemas.microsoft.com/office/drawing/2014/main" id="{A6546F5F-D3A0-BB4B-9CF3-99FF5DCC5E31}"/>
              </a:ext>
            </a:extLst>
          </p:cNvPr>
          <p:cNvGraphicFramePr>
            <a:graphicFrameLocks noGrp="1"/>
          </p:cNvGraphicFramePr>
          <p:nvPr/>
        </p:nvGraphicFramePr>
        <p:xfrm>
          <a:off x="6754347" y="3010380"/>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sp>
        <p:nvSpPr>
          <p:cNvPr id="20" name="TextBox 19">
            <a:extLst>
              <a:ext uri="{FF2B5EF4-FFF2-40B4-BE49-F238E27FC236}">
                <a16:creationId xmlns:a16="http://schemas.microsoft.com/office/drawing/2014/main" id="{BC30CFE1-F62C-56E4-FDD3-3E6222785599}"/>
              </a:ext>
            </a:extLst>
          </p:cNvPr>
          <p:cNvSpPr txBox="1"/>
          <p:nvPr/>
        </p:nvSpPr>
        <p:spPr>
          <a:xfrm>
            <a:off x="7197323" y="4899397"/>
            <a:ext cx="1577991" cy="523220"/>
          </a:xfrm>
          <a:prstGeom prst="rect">
            <a:avLst/>
          </a:prstGeom>
          <a:noFill/>
        </p:spPr>
        <p:txBody>
          <a:bodyPr wrap="square" rtlCol="0">
            <a:spAutoFit/>
          </a:bodyPr>
          <a:lstStyle/>
          <a:p>
            <a:pPr algn="ctr"/>
            <a:r>
              <a:rPr lang="en-US" sz="1400" b="1" dirty="0">
                <a:solidFill>
                  <a:schemeClr val="accent6"/>
                </a:solidFill>
                <a:latin typeface="Times New Roman" panose="02020603050405020304" pitchFamily="18" charset="0"/>
                <a:cs typeface="Times New Roman" panose="02020603050405020304" pitchFamily="18" charset="0"/>
              </a:rPr>
              <a:t>multimodal</a:t>
            </a:r>
          </a:p>
          <a:p>
            <a:pPr algn="ctr"/>
            <a:r>
              <a:rPr lang="en-US" sz="1400" b="1" dirty="0">
                <a:solidFill>
                  <a:schemeClr val="accent6"/>
                </a:solidFill>
                <a:latin typeface="Times New Roman" panose="02020603050405020304" pitchFamily="18" charset="0"/>
                <a:cs typeface="Times New Roman" panose="02020603050405020304" pitchFamily="18" charset="0"/>
              </a:rPr>
              <a:t>representation</a:t>
            </a:r>
          </a:p>
        </p:txBody>
      </p:sp>
      <p:cxnSp>
        <p:nvCxnSpPr>
          <p:cNvPr id="23" name="Straight Arrow Connector 22">
            <a:extLst>
              <a:ext uri="{FF2B5EF4-FFF2-40B4-BE49-F238E27FC236}">
                <a16:creationId xmlns:a16="http://schemas.microsoft.com/office/drawing/2014/main" id="{93D091EA-5547-028E-C97A-DF98654FAA00}"/>
              </a:ext>
            </a:extLst>
          </p:cNvPr>
          <p:cNvCxnSpPr>
            <a:cxnSpLocks/>
            <a:stCxn id="24" idx="3"/>
            <a:endCxn id="25" idx="1"/>
          </p:cNvCxnSpPr>
          <p:nvPr/>
        </p:nvCxnSpPr>
        <p:spPr>
          <a:xfrm>
            <a:off x="2148551" y="5186241"/>
            <a:ext cx="135191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4" name="Picture 23">
            <a:extLst>
              <a:ext uri="{FF2B5EF4-FFF2-40B4-BE49-F238E27FC236}">
                <a16:creationId xmlns:a16="http://schemas.microsoft.com/office/drawing/2014/main" id="{81A2C182-6541-5277-AEF0-DD92E6CF6FF1}"/>
              </a:ext>
            </a:extLst>
          </p:cNvPr>
          <p:cNvPicPr>
            <a:picLocks noChangeAspect="1"/>
          </p:cNvPicPr>
          <p:nvPr/>
        </p:nvPicPr>
        <p:blipFill rotWithShape="1">
          <a:blip r:embed="rId3"/>
          <a:srcRect l="11976" t="10927" r="11177" b="12059"/>
          <a:stretch/>
        </p:blipFill>
        <p:spPr>
          <a:xfrm>
            <a:off x="720912" y="4260475"/>
            <a:ext cx="1427639" cy="1851532"/>
          </a:xfrm>
          <a:prstGeom prst="rect">
            <a:avLst/>
          </a:prstGeom>
          <a:ln>
            <a:solidFill>
              <a:schemeClr val="tx1"/>
            </a:solidFill>
          </a:ln>
        </p:spPr>
      </p:pic>
      <p:sp>
        <p:nvSpPr>
          <p:cNvPr id="25" name="Rounded Rectangle 24">
            <a:extLst>
              <a:ext uri="{FF2B5EF4-FFF2-40B4-BE49-F238E27FC236}">
                <a16:creationId xmlns:a16="http://schemas.microsoft.com/office/drawing/2014/main" id="{EB9A1CC8-3662-C828-0033-3E8B95ED3488}"/>
              </a:ext>
            </a:extLst>
          </p:cNvPr>
          <p:cNvSpPr/>
          <p:nvPr/>
        </p:nvSpPr>
        <p:spPr>
          <a:xfrm>
            <a:off x="3500465" y="4715536"/>
            <a:ext cx="1729425" cy="94140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NLP</a:t>
            </a:r>
          </a:p>
          <a:p>
            <a:pPr algn="ctr"/>
            <a:r>
              <a:rPr lang="en-US" dirty="0"/>
              <a:t>Encoder</a:t>
            </a:r>
          </a:p>
        </p:txBody>
      </p:sp>
      <p:sp>
        <p:nvSpPr>
          <p:cNvPr id="27" name="TextBox 26">
            <a:extLst>
              <a:ext uri="{FF2B5EF4-FFF2-40B4-BE49-F238E27FC236}">
                <a16:creationId xmlns:a16="http://schemas.microsoft.com/office/drawing/2014/main" id="{E6A418F4-D9B9-8624-D9D1-FEDF7738A564}"/>
              </a:ext>
            </a:extLst>
          </p:cNvPr>
          <p:cNvSpPr txBox="1"/>
          <p:nvPr/>
        </p:nvSpPr>
        <p:spPr>
          <a:xfrm>
            <a:off x="957253" y="6134384"/>
            <a:ext cx="954956" cy="307777"/>
          </a:xfrm>
          <a:prstGeom prst="rect">
            <a:avLst/>
          </a:prstGeom>
          <a:noFill/>
        </p:spPr>
        <p:txBody>
          <a:bodyPr wrap="square" rtlCol="0">
            <a:spAutoFit/>
          </a:bodyPr>
          <a:lstStyle/>
          <a:p>
            <a:pPr algn="ctr"/>
            <a:r>
              <a:rPr lang="en-US" sz="1400" dirty="0">
                <a:solidFill>
                  <a:schemeClr val="accent2"/>
                </a:solidFill>
                <a:latin typeface="Times New Roman" panose="02020603050405020304" pitchFamily="18" charset="0"/>
                <a:cs typeface="Times New Roman" panose="02020603050405020304" pitchFamily="18" charset="0"/>
              </a:rPr>
              <a:t>document</a:t>
            </a:r>
          </a:p>
        </p:txBody>
      </p:sp>
      <p:cxnSp>
        <p:nvCxnSpPr>
          <p:cNvPr id="29" name="Straight Arrow Connector 28">
            <a:extLst>
              <a:ext uri="{FF2B5EF4-FFF2-40B4-BE49-F238E27FC236}">
                <a16:creationId xmlns:a16="http://schemas.microsoft.com/office/drawing/2014/main" id="{3BEBF86C-03F4-9FD7-3381-60E3382F1A41}"/>
              </a:ext>
            </a:extLst>
          </p:cNvPr>
          <p:cNvCxnSpPr>
            <a:cxnSpLocks/>
            <a:stCxn id="6" idx="3"/>
          </p:cNvCxnSpPr>
          <p:nvPr/>
        </p:nvCxnSpPr>
        <p:spPr>
          <a:xfrm>
            <a:off x="2148551" y="3015763"/>
            <a:ext cx="13519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a:extLst>
              <a:ext uri="{FF2B5EF4-FFF2-40B4-BE49-F238E27FC236}">
                <a16:creationId xmlns:a16="http://schemas.microsoft.com/office/drawing/2014/main" id="{27545382-6EAF-4DA7-7DF0-092F52EBEDF4}"/>
              </a:ext>
            </a:extLst>
          </p:cNvPr>
          <p:cNvCxnSpPr>
            <a:cxnSpLocks/>
          </p:cNvCxnSpPr>
          <p:nvPr/>
        </p:nvCxnSpPr>
        <p:spPr>
          <a:xfrm>
            <a:off x="5343029" y="3015763"/>
            <a:ext cx="331907" cy="41323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7" name="Rounded Rectangle 36">
            <a:extLst>
              <a:ext uri="{FF2B5EF4-FFF2-40B4-BE49-F238E27FC236}">
                <a16:creationId xmlns:a16="http://schemas.microsoft.com/office/drawing/2014/main" id="{BD9453A6-2495-82C1-A2B1-20401ADC08F1}"/>
              </a:ext>
            </a:extLst>
          </p:cNvPr>
          <p:cNvSpPr/>
          <p:nvPr/>
        </p:nvSpPr>
        <p:spPr>
          <a:xfrm>
            <a:off x="3500464" y="2571131"/>
            <a:ext cx="1729425" cy="941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CNN</a:t>
            </a:r>
          </a:p>
          <a:p>
            <a:pPr algn="ctr"/>
            <a:r>
              <a:rPr lang="en-US" dirty="0"/>
              <a:t>Encoder</a:t>
            </a:r>
          </a:p>
        </p:txBody>
      </p:sp>
      <p:pic>
        <p:nvPicPr>
          <p:cNvPr id="6" name="Picture 5">
            <a:extLst>
              <a:ext uri="{FF2B5EF4-FFF2-40B4-BE49-F238E27FC236}">
                <a16:creationId xmlns:a16="http://schemas.microsoft.com/office/drawing/2014/main" id="{E878D1C0-2075-C1AD-3D60-1F4BEB69A38C}"/>
              </a:ext>
            </a:extLst>
          </p:cNvPr>
          <p:cNvPicPr>
            <a:picLocks noChangeAspect="1"/>
          </p:cNvPicPr>
          <p:nvPr/>
        </p:nvPicPr>
        <p:blipFill>
          <a:blip r:embed="rId4"/>
          <a:stretch>
            <a:fillRect/>
          </a:stretch>
        </p:blipFill>
        <p:spPr>
          <a:xfrm>
            <a:off x="720912" y="2284880"/>
            <a:ext cx="1427639" cy="1461765"/>
          </a:xfrm>
          <a:prstGeom prst="rect">
            <a:avLst/>
          </a:prstGeom>
        </p:spPr>
      </p:pic>
      <p:sp>
        <p:nvSpPr>
          <p:cNvPr id="40" name="TextBox 39">
            <a:extLst>
              <a:ext uri="{FF2B5EF4-FFF2-40B4-BE49-F238E27FC236}">
                <a16:creationId xmlns:a16="http://schemas.microsoft.com/office/drawing/2014/main" id="{8A0DF1F0-7746-94E5-C556-410C3A0E3982}"/>
              </a:ext>
            </a:extLst>
          </p:cNvPr>
          <p:cNvSpPr txBox="1"/>
          <p:nvPr/>
        </p:nvSpPr>
        <p:spPr>
          <a:xfrm>
            <a:off x="733778" y="3756931"/>
            <a:ext cx="1401905" cy="307777"/>
          </a:xfrm>
          <a:prstGeom prst="rect">
            <a:avLst/>
          </a:prstGeom>
          <a:noFill/>
        </p:spPr>
        <p:txBody>
          <a:bodyPr wrap="square" rtlCol="0">
            <a:spAutoFit/>
          </a:bodyPr>
          <a:lstStyle/>
          <a:p>
            <a:pPr algn="ctr"/>
            <a:r>
              <a:rPr lang="en-US" sz="1400" dirty="0">
                <a:solidFill>
                  <a:schemeClr val="accent1"/>
                </a:solidFill>
                <a:latin typeface="Times New Roman" panose="02020603050405020304" pitchFamily="18" charset="0"/>
                <a:cs typeface="Times New Roman" panose="02020603050405020304" pitchFamily="18" charset="0"/>
              </a:rPr>
              <a:t>image</a:t>
            </a:r>
          </a:p>
        </p:txBody>
      </p:sp>
      <p:graphicFrame>
        <p:nvGraphicFramePr>
          <p:cNvPr id="3" name="Table 2">
            <a:extLst>
              <a:ext uri="{FF2B5EF4-FFF2-40B4-BE49-F238E27FC236}">
                <a16:creationId xmlns:a16="http://schemas.microsoft.com/office/drawing/2014/main" id="{69D32D39-B45E-32CF-AEB9-F92799B70968}"/>
              </a:ext>
            </a:extLst>
          </p:cNvPr>
          <p:cNvGraphicFramePr>
            <a:graphicFrameLocks noGrp="1"/>
          </p:cNvGraphicFramePr>
          <p:nvPr/>
        </p:nvGraphicFramePr>
        <p:xfrm>
          <a:off x="9323091" y="3616364"/>
          <a:ext cx="2343891" cy="522772"/>
        </p:xfrm>
        <a:graphic>
          <a:graphicData uri="http://schemas.openxmlformats.org/drawingml/2006/table">
            <a:tbl>
              <a:tblPr firstRow="1" bandRow="1">
                <a:tableStyleId>{5C22544A-7EE6-4342-B048-85BDC9FD1C3A}</a:tableStyleId>
              </a:tblPr>
              <a:tblGrid>
                <a:gridCol w="2343891">
                  <a:extLst>
                    <a:ext uri="{9D8B030D-6E8A-4147-A177-3AD203B41FA5}">
                      <a16:colId xmlns:a16="http://schemas.microsoft.com/office/drawing/2014/main" val="4002730172"/>
                    </a:ext>
                  </a:extLst>
                </a:gridCol>
              </a:tblGrid>
              <a:tr h="522772">
                <a:tc>
                  <a:txBody>
                    <a:bodyPr/>
                    <a:lstStyle/>
                    <a:p>
                      <a:pPr algn="ctr"/>
                      <a:r>
                        <a:rPr lang="en-US" dirty="0">
                          <a:solidFill>
                            <a:schemeClr val="tx1"/>
                          </a:solidFill>
                        </a:rPr>
                        <a:t>P(outcome | data)</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
        <p:nvSpPr>
          <p:cNvPr id="8" name="TextBox 7">
            <a:extLst>
              <a:ext uri="{FF2B5EF4-FFF2-40B4-BE49-F238E27FC236}">
                <a16:creationId xmlns:a16="http://schemas.microsoft.com/office/drawing/2014/main" id="{F31B7E53-3FFB-333B-EABB-D2EF9DDF5626}"/>
              </a:ext>
            </a:extLst>
          </p:cNvPr>
          <p:cNvSpPr txBox="1"/>
          <p:nvPr/>
        </p:nvSpPr>
        <p:spPr>
          <a:xfrm>
            <a:off x="6248068" y="3496683"/>
            <a:ext cx="486030" cy="769441"/>
          </a:xfrm>
          <a:prstGeom prst="rect">
            <a:avLst/>
          </a:prstGeom>
          <a:noFill/>
        </p:spPr>
        <p:txBody>
          <a:bodyPr wrap="none" rtlCol="0">
            <a:spAutoFit/>
          </a:bodyPr>
          <a:lstStyle/>
          <a:p>
            <a:r>
              <a:rPr lang="en-US" sz="4400" b="1" dirty="0"/>
              <a:t>+</a:t>
            </a:r>
          </a:p>
        </p:txBody>
      </p:sp>
      <p:graphicFrame>
        <p:nvGraphicFramePr>
          <p:cNvPr id="13" name="Table 13">
            <a:extLst>
              <a:ext uri="{FF2B5EF4-FFF2-40B4-BE49-F238E27FC236}">
                <a16:creationId xmlns:a16="http://schemas.microsoft.com/office/drawing/2014/main" id="{C2E0CE37-CED1-C406-00FD-CF76C77F00E2}"/>
              </a:ext>
            </a:extLst>
          </p:cNvPr>
          <p:cNvGraphicFramePr>
            <a:graphicFrameLocks noGrp="1"/>
          </p:cNvGraphicFramePr>
          <p:nvPr/>
        </p:nvGraphicFramePr>
        <p:xfrm>
          <a:off x="7727366" y="3010380"/>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7615053"/>
                  </a:ext>
                </a:extLst>
              </a:tr>
              <a:tr h="4355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sp>
        <p:nvSpPr>
          <p:cNvPr id="14" name="TextBox 13">
            <a:extLst>
              <a:ext uri="{FF2B5EF4-FFF2-40B4-BE49-F238E27FC236}">
                <a16:creationId xmlns:a16="http://schemas.microsoft.com/office/drawing/2014/main" id="{EA418A67-28D9-4EB4-F595-AA4A7FBC1C10}"/>
              </a:ext>
            </a:extLst>
          </p:cNvPr>
          <p:cNvSpPr txBox="1"/>
          <p:nvPr/>
        </p:nvSpPr>
        <p:spPr>
          <a:xfrm>
            <a:off x="7220932" y="3496683"/>
            <a:ext cx="486030" cy="769441"/>
          </a:xfrm>
          <a:prstGeom prst="rect">
            <a:avLst/>
          </a:prstGeom>
          <a:noFill/>
        </p:spPr>
        <p:txBody>
          <a:bodyPr wrap="none" rtlCol="0">
            <a:spAutoFit/>
          </a:bodyPr>
          <a:lstStyle/>
          <a:p>
            <a:r>
              <a:rPr lang="en-US" sz="4400" b="1" dirty="0"/>
              <a:t>=</a:t>
            </a:r>
          </a:p>
        </p:txBody>
      </p:sp>
      <p:sp>
        <p:nvSpPr>
          <p:cNvPr id="17" name="Right Brace 16">
            <a:extLst>
              <a:ext uri="{FF2B5EF4-FFF2-40B4-BE49-F238E27FC236}">
                <a16:creationId xmlns:a16="http://schemas.microsoft.com/office/drawing/2014/main" id="{40BDD189-C82A-85A1-C516-1C9BE809F6F1}"/>
              </a:ext>
            </a:extLst>
          </p:cNvPr>
          <p:cNvSpPr/>
          <p:nvPr/>
        </p:nvSpPr>
        <p:spPr>
          <a:xfrm rot="16200000">
            <a:off x="6342310" y="2027193"/>
            <a:ext cx="297546" cy="142351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BDD86E54-BD7A-ADF5-173D-F44178BC1F06}"/>
              </a:ext>
            </a:extLst>
          </p:cNvPr>
          <p:cNvSpPr txBox="1"/>
          <p:nvPr/>
        </p:nvSpPr>
        <p:spPr>
          <a:xfrm>
            <a:off x="6318617" y="2100214"/>
            <a:ext cx="3703450" cy="369332"/>
          </a:xfrm>
          <a:prstGeom prst="rect">
            <a:avLst/>
          </a:prstGeom>
          <a:noFill/>
        </p:spPr>
        <p:txBody>
          <a:bodyPr wrap="none" rtlCol="0">
            <a:spAutoFit/>
          </a:bodyPr>
          <a:lstStyle/>
          <a:p>
            <a:r>
              <a:rPr lang="en-US" dirty="0"/>
              <a:t>Contrastive (e.g., CLIP) loss applied</a:t>
            </a:r>
          </a:p>
        </p:txBody>
      </p:sp>
      <p:sp>
        <p:nvSpPr>
          <p:cNvPr id="21" name="TextBox 20">
            <a:extLst>
              <a:ext uri="{FF2B5EF4-FFF2-40B4-BE49-F238E27FC236}">
                <a16:creationId xmlns:a16="http://schemas.microsoft.com/office/drawing/2014/main" id="{491BE900-5D7D-3506-2A81-9F55042101A9}"/>
              </a:ext>
            </a:extLst>
          </p:cNvPr>
          <p:cNvSpPr txBox="1"/>
          <p:nvPr/>
        </p:nvSpPr>
        <p:spPr>
          <a:xfrm>
            <a:off x="8964358" y="4779782"/>
            <a:ext cx="3061356" cy="1754326"/>
          </a:xfrm>
          <a:prstGeom prst="rect">
            <a:avLst/>
          </a:prstGeom>
          <a:noFill/>
        </p:spPr>
        <p:txBody>
          <a:bodyPr wrap="square" rtlCol="0">
            <a:spAutoFit/>
          </a:bodyPr>
          <a:lstStyle/>
          <a:p>
            <a:pPr marL="342900" indent="-342900">
              <a:buAutoNum type="arabicPeriod"/>
            </a:pPr>
            <a:r>
              <a:rPr lang="en-US" dirty="0"/>
              <a:t>Train independently to predict outcome</a:t>
            </a:r>
          </a:p>
          <a:p>
            <a:pPr marL="342900" indent="-342900">
              <a:buAutoNum type="arabicPeriod"/>
            </a:pPr>
            <a:endParaRPr lang="en-US" dirty="0"/>
          </a:p>
          <a:p>
            <a:pPr marL="342900" indent="-342900">
              <a:buFontTx/>
              <a:buAutoNum type="arabicPeriod"/>
            </a:pPr>
            <a:r>
              <a:rPr lang="en-US" dirty="0"/>
              <a:t>Train together to (a) predict outcome, and (b) reduce contrastive loss</a:t>
            </a:r>
          </a:p>
        </p:txBody>
      </p:sp>
      <p:sp>
        <p:nvSpPr>
          <p:cNvPr id="2" name="TextBox 1">
            <a:extLst>
              <a:ext uri="{FF2B5EF4-FFF2-40B4-BE49-F238E27FC236}">
                <a16:creationId xmlns:a16="http://schemas.microsoft.com/office/drawing/2014/main" id="{FEEE780E-C6C9-8D15-FF18-6766C59B23CC}"/>
              </a:ext>
            </a:extLst>
          </p:cNvPr>
          <p:cNvSpPr txBox="1"/>
          <p:nvPr/>
        </p:nvSpPr>
        <p:spPr>
          <a:xfrm>
            <a:off x="6754347" y="446833"/>
            <a:ext cx="4774855" cy="1477328"/>
          </a:xfrm>
          <a:prstGeom prst="rect">
            <a:avLst/>
          </a:prstGeom>
          <a:noFill/>
        </p:spPr>
        <p:txBody>
          <a:bodyPr wrap="square" rtlCol="0">
            <a:spAutoFit/>
          </a:bodyPr>
          <a:lstStyle/>
          <a:p>
            <a:r>
              <a:rPr lang="en-US" b="1" dirty="0"/>
              <a:t>Q: What happens if we train to minimize the contrastive loss only?</a:t>
            </a:r>
          </a:p>
          <a:p>
            <a:endParaRPr lang="en-US" dirty="0"/>
          </a:p>
          <a:p>
            <a:r>
              <a:rPr lang="en-US" dirty="0"/>
              <a:t>A: we will lose </a:t>
            </a:r>
            <a:r>
              <a:rPr lang="en-US" i="1" dirty="0"/>
              <a:t>distinct</a:t>
            </a:r>
            <a:r>
              <a:rPr lang="en-US" dirty="0"/>
              <a:t> information between modalities that is predictive of the outcome</a:t>
            </a:r>
          </a:p>
        </p:txBody>
      </p:sp>
    </p:spTree>
    <p:extLst>
      <p:ext uri="{BB962C8B-B14F-4D97-AF65-F5344CB8AC3E}">
        <p14:creationId xmlns:p14="http://schemas.microsoft.com/office/powerpoint/2010/main" val="4178399967"/>
      </p:ext>
    </p:extLst>
  </p:cSld>
  <p:clrMapOvr>
    <a:masterClrMapping/>
  </p:clrMapOvr>
  <mc:AlternateContent xmlns:mc="http://schemas.openxmlformats.org/markup-compatibility/2006" xmlns:p14="http://schemas.microsoft.com/office/powerpoint/2010/main">
    <mc:Choice Requires="p14">
      <p:transition spd="slow" p14:dur="2000" advTm="34188"/>
    </mc:Choice>
    <mc:Fallback xmlns="">
      <p:transition spd="slow" advTm="34188"/>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C07FF-1917-0261-0E3B-027EDCBC2195}"/>
            </a:ext>
          </a:extLst>
        </p:cNvPr>
        <p:cNvGrpSpPr/>
        <p:nvPr/>
      </p:nvGrpSpPr>
      <p:grpSpPr>
        <a:xfrm>
          <a:off x="0" y="0"/>
          <a:ext cx="0" cy="0"/>
          <a:chOff x="0" y="0"/>
          <a:chExt cx="0" cy="0"/>
        </a:xfrm>
      </p:grpSpPr>
      <p:cxnSp>
        <p:nvCxnSpPr>
          <p:cNvPr id="26" name="Straight Arrow Connector 25">
            <a:extLst>
              <a:ext uri="{FF2B5EF4-FFF2-40B4-BE49-F238E27FC236}">
                <a16:creationId xmlns:a16="http://schemas.microsoft.com/office/drawing/2014/main" id="{CD6EB3CD-1F08-6878-26B0-57084369D8B6}"/>
              </a:ext>
            </a:extLst>
          </p:cNvPr>
          <p:cNvCxnSpPr>
            <a:cxnSpLocks/>
          </p:cNvCxnSpPr>
          <p:nvPr/>
        </p:nvCxnSpPr>
        <p:spPr>
          <a:xfrm flipV="1">
            <a:off x="5343029" y="4413865"/>
            <a:ext cx="1238775" cy="74984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 name="Title 1">
            <a:extLst>
              <a:ext uri="{FF2B5EF4-FFF2-40B4-BE49-F238E27FC236}">
                <a16:creationId xmlns:a16="http://schemas.microsoft.com/office/drawing/2014/main" id="{78227ED9-A13B-6166-770E-6AA2FB540696}"/>
              </a:ext>
            </a:extLst>
          </p:cNvPr>
          <p:cNvSpPr>
            <a:spLocks noGrp="1"/>
          </p:cNvSpPr>
          <p:nvPr>
            <p:ph type="title"/>
          </p:nvPr>
        </p:nvSpPr>
        <p:spPr>
          <a:xfrm>
            <a:off x="303368" y="221171"/>
            <a:ext cx="6672467" cy="1591351"/>
          </a:xfrm>
        </p:spPr>
        <p:txBody>
          <a:bodyPr/>
          <a:lstStyle/>
          <a:p>
            <a:r>
              <a:rPr lang="en-US" b="1" dirty="0"/>
              <a:t>Joint</a:t>
            </a:r>
            <a:r>
              <a:rPr lang="en-US" dirty="0"/>
              <a:t> fusion in shared representation space</a:t>
            </a:r>
          </a:p>
        </p:txBody>
      </p:sp>
      <p:graphicFrame>
        <p:nvGraphicFramePr>
          <p:cNvPr id="9" name="Table 13">
            <a:extLst>
              <a:ext uri="{FF2B5EF4-FFF2-40B4-BE49-F238E27FC236}">
                <a16:creationId xmlns:a16="http://schemas.microsoft.com/office/drawing/2014/main" id="{E1F98251-D62E-04FE-D0A7-68152442F233}"/>
              </a:ext>
            </a:extLst>
          </p:cNvPr>
          <p:cNvGraphicFramePr>
            <a:graphicFrameLocks noGrp="1"/>
          </p:cNvGraphicFramePr>
          <p:nvPr/>
        </p:nvGraphicFramePr>
        <p:xfrm>
          <a:off x="5778771" y="3015762"/>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highlight>
                          <a:srgbClr val="00FF00"/>
                        </a:highlight>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403326735"/>
                  </a:ext>
                </a:extLst>
              </a:tr>
              <a:tr h="435512">
                <a:tc>
                  <a:txBody>
                    <a:bodyPr/>
                    <a:lstStyle/>
                    <a:p>
                      <a:endParaRPr lang="en-US" dirty="0">
                        <a:highlight>
                          <a:srgbClr val="00FF00"/>
                        </a:highlight>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327615053"/>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419904516"/>
                  </a:ext>
                </a:extLst>
              </a:tr>
            </a:tbl>
          </a:graphicData>
        </a:graphic>
      </p:graphicFrame>
      <p:cxnSp>
        <p:nvCxnSpPr>
          <p:cNvPr id="11" name="Straight Arrow Connector 10">
            <a:extLst>
              <a:ext uri="{FF2B5EF4-FFF2-40B4-BE49-F238E27FC236}">
                <a16:creationId xmlns:a16="http://schemas.microsoft.com/office/drawing/2014/main" id="{9075EF3E-6EEF-D526-7C4B-6E854DE906FE}"/>
              </a:ext>
            </a:extLst>
          </p:cNvPr>
          <p:cNvCxnSpPr>
            <a:cxnSpLocks/>
          </p:cNvCxnSpPr>
          <p:nvPr/>
        </p:nvCxnSpPr>
        <p:spPr>
          <a:xfrm flipV="1">
            <a:off x="8401455" y="3877750"/>
            <a:ext cx="690523" cy="14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18EE7CB5-2CF4-29C3-08BF-0AB9E2618FC0}"/>
              </a:ext>
            </a:extLst>
          </p:cNvPr>
          <p:cNvSpPr txBox="1"/>
          <p:nvPr/>
        </p:nvSpPr>
        <p:spPr>
          <a:xfrm>
            <a:off x="8068566" y="3910819"/>
            <a:ext cx="1356302"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MLP</a:t>
            </a:r>
          </a:p>
        </p:txBody>
      </p:sp>
      <p:graphicFrame>
        <p:nvGraphicFramePr>
          <p:cNvPr id="16" name="Table 13">
            <a:extLst>
              <a:ext uri="{FF2B5EF4-FFF2-40B4-BE49-F238E27FC236}">
                <a16:creationId xmlns:a16="http://schemas.microsoft.com/office/drawing/2014/main" id="{EA753E6E-5CAB-3CD2-9A40-6063F998DF4D}"/>
              </a:ext>
            </a:extLst>
          </p:cNvPr>
          <p:cNvGraphicFramePr>
            <a:graphicFrameLocks noGrp="1"/>
          </p:cNvGraphicFramePr>
          <p:nvPr/>
        </p:nvGraphicFramePr>
        <p:xfrm>
          <a:off x="6754347" y="3010380"/>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327615053"/>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419904516"/>
                  </a:ext>
                </a:extLst>
              </a:tr>
            </a:tbl>
          </a:graphicData>
        </a:graphic>
      </p:graphicFrame>
      <p:sp>
        <p:nvSpPr>
          <p:cNvPr id="20" name="TextBox 19">
            <a:extLst>
              <a:ext uri="{FF2B5EF4-FFF2-40B4-BE49-F238E27FC236}">
                <a16:creationId xmlns:a16="http://schemas.microsoft.com/office/drawing/2014/main" id="{42904034-2B96-458A-77F9-8E066C4C6A9D}"/>
              </a:ext>
            </a:extLst>
          </p:cNvPr>
          <p:cNvSpPr txBox="1"/>
          <p:nvPr/>
        </p:nvSpPr>
        <p:spPr>
          <a:xfrm>
            <a:off x="7197323" y="4899397"/>
            <a:ext cx="1577991" cy="523220"/>
          </a:xfrm>
          <a:prstGeom prst="rect">
            <a:avLst/>
          </a:prstGeom>
          <a:noFill/>
        </p:spPr>
        <p:txBody>
          <a:bodyPr wrap="square" rtlCol="0">
            <a:spAutoFit/>
          </a:bodyPr>
          <a:lstStyle/>
          <a:p>
            <a:pPr algn="ctr"/>
            <a:r>
              <a:rPr lang="en-US" sz="1400" b="1" dirty="0">
                <a:solidFill>
                  <a:schemeClr val="accent6"/>
                </a:solidFill>
                <a:latin typeface="Times New Roman" panose="02020603050405020304" pitchFamily="18" charset="0"/>
                <a:cs typeface="Times New Roman" panose="02020603050405020304" pitchFamily="18" charset="0"/>
              </a:rPr>
              <a:t>multimodal</a:t>
            </a:r>
          </a:p>
          <a:p>
            <a:pPr algn="ctr"/>
            <a:r>
              <a:rPr lang="en-US" sz="1400" b="1" dirty="0">
                <a:solidFill>
                  <a:schemeClr val="accent6"/>
                </a:solidFill>
                <a:latin typeface="Times New Roman" panose="02020603050405020304" pitchFamily="18" charset="0"/>
                <a:cs typeface="Times New Roman" panose="02020603050405020304" pitchFamily="18" charset="0"/>
              </a:rPr>
              <a:t>representation</a:t>
            </a:r>
          </a:p>
        </p:txBody>
      </p:sp>
      <p:cxnSp>
        <p:nvCxnSpPr>
          <p:cNvPr id="23" name="Straight Arrow Connector 22">
            <a:extLst>
              <a:ext uri="{FF2B5EF4-FFF2-40B4-BE49-F238E27FC236}">
                <a16:creationId xmlns:a16="http://schemas.microsoft.com/office/drawing/2014/main" id="{98EC7C34-423C-4AFE-EB7D-6B94EAE5D9F3}"/>
              </a:ext>
            </a:extLst>
          </p:cNvPr>
          <p:cNvCxnSpPr>
            <a:cxnSpLocks/>
            <a:stCxn id="24" idx="3"/>
            <a:endCxn id="25" idx="1"/>
          </p:cNvCxnSpPr>
          <p:nvPr/>
        </p:nvCxnSpPr>
        <p:spPr>
          <a:xfrm>
            <a:off x="2148551" y="5186241"/>
            <a:ext cx="135191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4" name="Picture 23">
            <a:extLst>
              <a:ext uri="{FF2B5EF4-FFF2-40B4-BE49-F238E27FC236}">
                <a16:creationId xmlns:a16="http://schemas.microsoft.com/office/drawing/2014/main" id="{A801565C-2FD3-A6D8-957B-BC324DD5CDE2}"/>
              </a:ext>
            </a:extLst>
          </p:cNvPr>
          <p:cNvPicPr>
            <a:picLocks noChangeAspect="1"/>
          </p:cNvPicPr>
          <p:nvPr/>
        </p:nvPicPr>
        <p:blipFill rotWithShape="1">
          <a:blip r:embed="rId3"/>
          <a:srcRect l="11976" t="10927" r="11177" b="12059"/>
          <a:stretch/>
        </p:blipFill>
        <p:spPr>
          <a:xfrm>
            <a:off x="720912" y="4260475"/>
            <a:ext cx="1427639" cy="1851532"/>
          </a:xfrm>
          <a:prstGeom prst="rect">
            <a:avLst/>
          </a:prstGeom>
          <a:ln>
            <a:solidFill>
              <a:schemeClr val="tx1"/>
            </a:solidFill>
          </a:ln>
        </p:spPr>
      </p:pic>
      <p:sp>
        <p:nvSpPr>
          <p:cNvPr id="25" name="Rounded Rectangle 24">
            <a:extLst>
              <a:ext uri="{FF2B5EF4-FFF2-40B4-BE49-F238E27FC236}">
                <a16:creationId xmlns:a16="http://schemas.microsoft.com/office/drawing/2014/main" id="{F964E139-118D-9FB0-A6DF-B574CB4896C4}"/>
              </a:ext>
            </a:extLst>
          </p:cNvPr>
          <p:cNvSpPr/>
          <p:nvPr/>
        </p:nvSpPr>
        <p:spPr>
          <a:xfrm>
            <a:off x="3500465" y="4715536"/>
            <a:ext cx="1729425" cy="94140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NLP</a:t>
            </a:r>
          </a:p>
          <a:p>
            <a:pPr algn="ctr"/>
            <a:r>
              <a:rPr lang="en-US" dirty="0"/>
              <a:t>Encoder</a:t>
            </a:r>
          </a:p>
        </p:txBody>
      </p:sp>
      <p:sp>
        <p:nvSpPr>
          <p:cNvPr id="27" name="TextBox 26">
            <a:extLst>
              <a:ext uri="{FF2B5EF4-FFF2-40B4-BE49-F238E27FC236}">
                <a16:creationId xmlns:a16="http://schemas.microsoft.com/office/drawing/2014/main" id="{7FFA1DD2-211E-CB8C-5450-3B4A32D627CD}"/>
              </a:ext>
            </a:extLst>
          </p:cNvPr>
          <p:cNvSpPr txBox="1"/>
          <p:nvPr/>
        </p:nvSpPr>
        <p:spPr>
          <a:xfrm>
            <a:off x="957253" y="6134384"/>
            <a:ext cx="954956" cy="307777"/>
          </a:xfrm>
          <a:prstGeom prst="rect">
            <a:avLst/>
          </a:prstGeom>
          <a:noFill/>
        </p:spPr>
        <p:txBody>
          <a:bodyPr wrap="square" rtlCol="0">
            <a:spAutoFit/>
          </a:bodyPr>
          <a:lstStyle/>
          <a:p>
            <a:pPr algn="ctr"/>
            <a:r>
              <a:rPr lang="en-US" sz="1400" dirty="0">
                <a:solidFill>
                  <a:schemeClr val="accent2"/>
                </a:solidFill>
                <a:latin typeface="Times New Roman" panose="02020603050405020304" pitchFamily="18" charset="0"/>
                <a:cs typeface="Times New Roman" panose="02020603050405020304" pitchFamily="18" charset="0"/>
              </a:rPr>
              <a:t>document</a:t>
            </a:r>
          </a:p>
        </p:txBody>
      </p:sp>
      <p:cxnSp>
        <p:nvCxnSpPr>
          <p:cNvPr id="29" name="Straight Arrow Connector 28">
            <a:extLst>
              <a:ext uri="{FF2B5EF4-FFF2-40B4-BE49-F238E27FC236}">
                <a16:creationId xmlns:a16="http://schemas.microsoft.com/office/drawing/2014/main" id="{B4FC2851-363A-3E59-D04C-6C833E7CCF73}"/>
              </a:ext>
            </a:extLst>
          </p:cNvPr>
          <p:cNvCxnSpPr>
            <a:cxnSpLocks/>
            <a:stCxn id="6" idx="3"/>
          </p:cNvCxnSpPr>
          <p:nvPr/>
        </p:nvCxnSpPr>
        <p:spPr>
          <a:xfrm>
            <a:off x="2148551" y="3015763"/>
            <a:ext cx="13519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a:extLst>
              <a:ext uri="{FF2B5EF4-FFF2-40B4-BE49-F238E27FC236}">
                <a16:creationId xmlns:a16="http://schemas.microsoft.com/office/drawing/2014/main" id="{3C8FFB45-F440-9A44-C4D6-929F61E98003}"/>
              </a:ext>
            </a:extLst>
          </p:cNvPr>
          <p:cNvCxnSpPr>
            <a:cxnSpLocks/>
          </p:cNvCxnSpPr>
          <p:nvPr/>
        </p:nvCxnSpPr>
        <p:spPr>
          <a:xfrm>
            <a:off x="5343029" y="3015763"/>
            <a:ext cx="331907" cy="41323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7" name="Rounded Rectangle 36">
            <a:extLst>
              <a:ext uri="{FF2B5EF4-FFF2-40B4-BE49-F238E27FC236}">
                <a16:creationId xmlns:a16="http://schemas.microsoft.com/office/drawing/2014/main" id="{171D7ADA-8EE9-E7AD-B133-399D4C2672C0}"/>
              </a:ext>
            </a:extLst>
          </p:cNvPr>
          <p:cNvSpPr/>
          <p:nvPr/>
        </p:nvSpPr>
        <p:spPr>
          <a:xfrm>
            <a:off x="3500464" y="2571131"/>
            <a:ext cx="1729425" cy="941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CNN</a:t>
            </a:r>
          </a:p>
          <a:p>
            <a:pPr algn="ctr"/>
            <a:r>
              <a:rPr lang="en-US" dirty="0"/>
              <a:t>Encoder</a:t>
            </a:r>
          </a:p>
        </p:txBody>
      </p:sp>
      <p:pic>
        <p:nvPicPr>
          <p:cNvPr id="6" name="Picture 5">
            <a:extLst>
              <a:ext uri="{FF2B5EF4-FFF2-40B4-BE49-F238E27FC236}">
                <a16:creationId xmlns:a16="http://schemas.microsoft.com/office/drawing/2014/main" id="{DED3BAF4-7B59-22C0-0D46-8D0CD559833D}"/>
              </a:ext>
            </a:extLst>
          </p:cNvPr>
          <p:cNvPicPr>
            <a:picLocks noChangeAspect="1"/>
          </p:cNvPicPr>
          <p:nvPr/>
        </p:nvPicPr>
        <p:blipFill>
          <a:blip r:embed="rId4"/>
          <a:stretch>
            <a:fillRect/>
          </a:stretch>
        </p:blipFill>
        <p:spPr>
          <a:xfrm>
            <a:off x="720912" y="2284880"/>
            <a:ext cx="1427639" cy="1461765"/>
          </a:xfrm>
          <a:prstGeom prst="rect">
            <a:avLst/>
          </a:prstGeom>
        </p:spPr>
      </p:pic>
      <p:sp>
        <p:nvSpPr>
          <p:cNvPr id="40" name="TextBox 39">
            <a:extLst>
              <a:ext uri="{FF2B5EF4-FFF2-40B4-BE49-F238E27FC236}">
                <a16:creationId xmlns:a16="http://schemas.microsoft.com/office/drawing/2014/main" id="{E8BC6D11-126E-C554-8CDD-168DA5C91049}"/>
              </a:ext>
            </a:extLst>
          </p:cNvPr>
          <p:cNvSpPr txBox="1"/>
          <p:nvPr/>
        </p:nvSpPr>
        <p:spPr>
          <a:xfrm>
            <a:off x="733778" y="3756931"/>
            <a:ext cx="1401905" cy="307777"/>
          </a:xfrm>
          <a:prstGeom prst="rect">
            <a:avLst/>
          </a:prstGeom>
          <a:noFill/>
        </p:spPr>
        <p:txBody>
          <a:bodyPr wrap="square" rtlCol="0">
            <a:spAutoFit/>
          </a:bodyPr>
          <a:lstStyle/>
          <a:p>
            <a:pPr algn="ctr"/>
            <a:r>
              <a:rPr lang="en-US" sz="1400" dirty="0">
                <a:solidFill>
                  <a:schemeClr val="accent1"/>
                </a:solidFill>
                <a:latin typeface="Times New Roman" panose="02020603050405020304" pitchFamily="18" charset="0"/>
                <a:cs typeface="Times New Roman" panose="02020603050405020304" pitchFamily="18" charset="0"/>
              </a:rPr>
              <a:t>image</a:t>
            </a:r>
          </a:p>
        </p:txBody>
      </p:sp>
      <p:graphicFrame>
        <p:nvGraphicFramePr>
          <p:cNvPr id="3" name="Table 2">
            <a:extLst>
              <a:ext uri="{FF2B5EF4-FFF2-40B4-BE49-F238E27FC236}">
                <a16:creationId xmlns:a16="http://schemas.microsoft.com/office/drawing/2014/main" id="{4206D5B8-F547-5943-0C91-895BCBE18A36}"/>
              </a:ext>
            </a:extLst>
          </p:cNvPr>
          <p:cNvGraphicFramePr>
            <a:graphicFrameLocks noGrp="1"/>
          </p:cNvGraphicFramePr>
          <p:nvPr/>
        </p:nvGraphicFramePr>
        <p:xfrm>
          <a:off x="9323091" y="3616364"/>
          <a:ext cx="2343891" cy="522772"/>
        </p:xfrm>
        <a:graphic>
          <a:graphicData uri="http://schemas.openxmlformats.org/drawingml/2006/table">
            <a:tbl>
              <a:tblPr firstRow="1" bandRow="1">
                <a:tableStyleId>{5C22544A-7EE6-4342-B048-85BDC9FD1C3A}</a:tableStyleId>
              </a:tblPr>
              <a:tblGrid>
                <a:gridCol w="2343891">
                  <a:extLst>
                    <a:ext uri="{9D8B030D-6E8A-4147-A177-3AD203B41FA5}">
                      <a16:colId xmlns:a16="http://schemas.microsoft.com/office/drawing/2014/main" val="4002730172"/>
                    </a:ext>
                  </a:extLst>
                </a:gridCol>
              </a:tblGrid>
              <a:tr h="522772">
                <a:tc>
                  <a:txBody>
                    <a:bodyPr/>
                    <a:lstStyle/>
                    <a:p>
                      <a:pPr algn="ctr"/>
                      <a:r>
                        <a:rPr lang="en-US" dirty="0">
                          <a:solidFill>
                            <a:schemeClr val="tx1"/>
                          </a:solidFill>
                        </a:rPr>
                        <a:t>P(outcome | data)</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
        <p:nvSpPr>
          <p:cNvPr id="8" name="TextBox 7">
            <a:extLst>
              <a:ext uri="{FF2B5EF4-FFF2-40B4-BE49-F238E27FC236}">
                <a16:creationId xmlns:a16="http://schemas.microsoft.com/office/drawing/2014/main" id="{3E90D492-E644-BA0B-A327-FBF9D46DDA2A}"/>
              </a:ext>
            </a:extLst>
          </p:cNvPr>
          <p:cNvSpPr txBox="1"/>
          <p:nvPr/>
        </p:nvSpPr>
        <p:spPr>
          <a:xfrm>
            <a:off x="6248068" y="3496683"/>
            <a:ext cx="486030" cy="769441"/>
          </a:xfrm>
          <a:prstGeom prst="rect">
            <a:avLst/>
          </a:prstGeom>
          <a:noFill/>
        </p:spPr>
        <p:txBody>
          <a:bodyPr wrap="none" rtlCol="0">
            <a:spAutoFit/>
          </a:bodyPr>
          <a:lstStyle/>
          <a:p>
            <a:r>
              <a:rPr lang="en-US" sz="4400" b="1" dirty="0"/>
              <a:t>+</a:t>
            </a:r>
          </a:p>
        </p:txBody>
      </p:sp>
      <p:graphicFrame>
        <p:nvGraphicFramePr>
          <p:cNvPr id="13" name="Table 13">
            <a:extLst>
              <a:ext uri="{FF2B5EF4-FFF2-40B4-BE49-F238E27FC236}">
                <a16:creationId xmlns:a16="http://schemas.microsoft.com/office/drawing/2014/main" id="{854E059F-5FB9-99BD-4E64-F03F9FAAC116}"/>
              </a:ext>
            </a:extLst>
          </p:cNvPr>
          <p:cNvGraphicFramePr>
            <a:graphicFrameLocks noGrp="1"/>
          </p:cNvGraphicFramePr>
          <p:nvPr/>
        </p:nvGraphicFramePr>
        <p:xfrm>
          <a:off x="7727366" y="3010380"/>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327615053"/>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419904516"/>
                  </a:ext>
                </a:extLst>
              </a:tr>
            </a:tbl>
          </a:graphicData>
        </a:graphic>
      </p:graphicFrame>
      <p:sp>
        <p:nvSpPr>
          <p:cNvPr id="14" name="TextBox 13">
            <a:extLst>
              <a:ext uri="{FF2B5EF4-FFF2-40B4-BE49-F238E27FC236}">
                <a16:creationId xmlns:a16="http://schemas.microsoft.com/office/drawing/2014/main" id="{EB7602C4-6B80-93AA-EF81-58987CB73FEC}"/>
              </a:ext>
            </a:extLst>
          </p:cNvPr>
          <p:cNvSpPr txBox="1"/>
          <p:nvPr/>
        </p:nvSpPr>
        <p:spPr>
          <a:xfrm>
            <a:off x="7220932" y="3496683"/>
            <a:ext cx="486030" cy="769441"/>
          </a:xfrm>
          <a:prstGeom prst="rect">
            <a:avLst/>
          </a:prstGeom>
          <a:noFill/>
        </p:spPr>
        <p:txBody>
          <a:bodyPr wrap="none" rtlCol="0">
            <a:spAutoFit/>
          </a:bodyPr>
          <a:lstStyle/>
          <a:p>
            <a:r>
              <a:rPr lang="en-US" sz="4400" b="1" dirty="0"/>
              <a:t>=</a:t>
            </a:r>
          </a:p>
        </p:txBody>
      </p:sp>
      <p:sp>
        <p:nvSpPr>
          <p:cNvPr id="17" name="Right Brace 16">
            <a:extLst>
              <a:ext uri="{FF2B5EF4-FFF2-40B4-BE49-F238E27FC236}">
                <a16:creationId xmlns:a16="http://schemas.microsoft.com/office/drawing/2014/main" id="{1A464D3C-06A6-7602-18D5-4A166F86D0B9}"/>
              </a:ext>
            </a:extLst>
          </p:cNvPr>
          <p:cNvSpPr/>
          <p:nvPr/>
        </p:nvSpPr>
        <p:spPr>
          <a:xfrm rot="16200000">
            <a:off x="6342310" y="2027193"/>
            <a:ext cx="297546" cy="142351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1F4AAAC7-ED58-E6BA-CFC5-2821D0750668}"/>
              </a:ext>
            </a:extLst>
          </p:cNvPr>
          <p:cNvSpPr txBox="1"/>
          <p:nvPr/>
        </p:nvSpPr>
        <p:spPr>
          <a:xfrm>
            <a:off x="6318617" y="2100214"/>
            <a:ext cx="3703450" cy="369332"/>
          </a:xfrm>
          <a:prstGeom prst="rect">
            <a:avLst/>
          </a:prstGeom>
          <a:noFill/>
        </p:spPr>
        <p:txBody>
          <a:bodyPr wrap="none" rtlCol="0">
            <a:spAutoFit/>
          </a:bodyPr>
          <a:lstStyle/>
          <a:p>
            <a:r>
              <a:rPr lang="en-US" dirty="0"/>
              <a:t>Contrastive (e.g., CLIP) loss applied</a:t>
            </a:r>
          </a:p>
        </p:txBody>
      </p:sp>
      <p:graphicFrame>
        <p:nvGraphicFramePr>
          <p:cNvPr id="4" name="Table 13">
            <a:extLst>
              <a:ext uri="{FF2B5EF4-FFF2-40B4-BE49-F238E27FC236}">
                <a16:creationId xmlns:a16="http://schemas.microsoft.com/office/drawing/2014/main" id="{D423F7FB-A9CA-B6DB-F3F0-835BD8332C61}"/>
              </a:ext>
            </a:extLst>
          </p:cNvPr>
          <p:cNvGraphicFramePr>
            <a:graphicFrameLocks noGrp="1"/>
          </p:cNvGraphicFramePr>
          <p:nvPr/>
        </p:nvGraphicFramePr>
        <p:xfrm>
          <a:off x="9203380" y="4788786"/>
          <a:ext cx="442976" cy="1742048"/>
        </p:xfrm>
        <a:graphic>
          <a:graphicData uri="http://schemas.openxmlformats.org/drawingml/2006/table">
            <a:tbl>
              <a:tblPr firstRow="1" bandRow="1">
                <a:tableStyleId>{5C22544A-7EE6-4342-B048-85BDC9FD1C3A}</a:tableStyleId>
              </a:tblPr>
              <a:tblGrid>
                <a:gridCol w="442976">
                  <a:extLst>
                    <a:ext uri="{9D8B030D-6E8A-4147-A177-3AD203B41FA5}">
                      <a16:colId xmlns:a16="http://schemas.microsoft.com/office/drawing/2014/main" val="1738843382"/>
                    </a:ext>
                  </a:extLst>
                </a:gridCol>
              </a:tblGrid>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403326735"/>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327615053"/>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34241076"/>
                  </a:ext>
                </a:extLst>
              </a:tr>
              <a:tr h="4355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419904516"/>
                  </a:ext>
                </a:extLst>
              </a:tr>
            </a:tbl>
          </a:graphicData>
        </a:graphic>
      </p:graphicFrame>
      <p:sp>
        <p:nvSpPr>
          <p:cNvPr id="5" name="TextBox 4">
            <a:extLst>
              <a:ext uri="{FF2B5EF4-FFF2-40B4-BE49-F238E27FC236}">
                <a16:creationId xmlns:a16="http://schemas.microsoft.com/office/drawing/2014/main" id="{2C788B8F-1D6E-67EE-C02A-0818369FCD0F}"/>
              </a:ext>
            </a:extLst>
          </p:cNvPr>
          <p:cNvSpPr txBox="1"/>
          <p:nvPr/>
        </p:nvSpPr>
        <p:spPr>
          <a:xfrm>
            <a:off x="9646356" y="4953245"/>
            <a:ext cx="1549527" cy="1569660"/>
          </a:xfrm>
          <a:prstGeom prst="rect">
            <a:avLst/>
          </a:prstGeom>
          <a:noFill/>
        </p:spPr>
        <p:txBody>
          <a:bodyPr wrap="none" rtlCol="0">
            <a:spAutoFit/>
          </a:bodyPr>
          <a:lstStyle/>
          <a:p>
            <a:r>
              <a:rPr lang="en-US" sz="1600" dirty="0"/>
              <a:t>Shared info</a:t>
            </a:r>
          </a:p>
          <a:p>
            <a:endParaRPr lang="en-US" sz="1600" dirty="0"/>
          </a:p>
          <a:p>
            <a:endParaRPr lang="en-US" sz="1600" dirty="0"/>
          </a:p>
          <a:p>
            <a:r>
              <a:rPr lang="en-US" sz="1600" dirty="0"/>
              <a:t>Image-only info</a:t>
            </a:r>
          </a:p>
          <a:p>
            <a:endParaRPr lang="en-US" sz="1600" dirty="0"/>
          </a:p>
          <a:p>
            <a:r>
              <a:rPr lang="en-US" sz="1600" dirty="0"/>
              <a:t>Text-only info</a:t>
            </a:r>
          </a:p>
        </p:txBody>
      </p:sp>
      <p:sp>
        <p:nvSpPr>
          <p:cNvPr id="2" name="TextBox 1">
            <a:extLst>
              <a:ext uri="{FF2B5EF4-FFF2-40B4-BE49-F238E27FC236}">
                <a16:creationId xmlns:a16="http://schemas.microsoft.com/office/drawing/2014/main" id="{128C2DAC-BE90-A6D3-BA86-412E706D7D22}"/>
              </a:ext>
            </a:extLst>
          </p:cNvPr>
          <p:cNvSpPr txBox="1"/>
          <p:nvPr/>
        </p:nvSpPr>
        <p:spPr>
          <a:xfrm>
            <a:off x="5789176" y="535367"/>
            <a:ext cx="5972275" cy="1200329"/>
          </a:xfrm>
          <a:prstGeom prst="rect">
            <a:avLst/>
          </a:prstGeom>
          <a:noFill/>
        </p:spPr>
        <p:txBody>
          <a:bodyPr wrap="square" rtlCol="0">
            <a:spAutoFit/>
          </a:bodyPr>
          <a:lstStyle/>
          <a:p>
            <a:pPr marL="342900" indent="-342900">
              <a:buAutoNum type="arabicPeriod"/>
            </a:pPr>
            <a:r>
              <a:rPr lang="en-US" dirty="0"/>
              <a:t>Contrastive loss encourages shared info between modalities to concentrate in a subset of channels</a:t>
            </a:r>
          </a:p>
          <a:p>
            <a:pPr marL="342900" indent="-342900">
              <a:buAutoNum type="arabicPeriod"/>
            </a:pPr>
            <a:endParaRPr lang="en-US" dirty="0"/>
          </a:p>
          <a:p>
            <a:pPr marL="342900" indent="-342900">
              <a:buAutoNum type="arabicPeriod"/>
            </a:pPr>
            <a:r>
              <a:rPr lang="en-US" dirty="0"/>
              <a:t>Prediction loss prevents distinct info from being lost</a:t>
            </a:r>
          </a:p>
        </p:txBody>
      </p:sp>
    </p:spTree>
    <p:extLst>
      <p:ext uri="{BB962C8B-B14F-4D97-AF65-F5344CB8AC3E}">
        <p14:creationId xmlns:p14="http://schemas.microsoft.com/office/powerpoint/2010/main" val="584466650"/>
      </p:ext>
    </p:extLst>
  </p:cSld>
  <p:clrMapOvr>
    <a:masterClrMapping/>
  </p:clrMapOvr>
  <mc:AlternateContent xmlns:mc="http://schemas.openxmlformats.org/markup-compatibility/2006" xmlns:p14="http://schemas.microsoft.com/office/powerpoint/2010/main">
    <mc:Choice Requires="p14">
      <p:transition spd="slow" p14:dur="2000" advTm="34188"/>
    </mc:Choice>
    <mc:Fallback xmlns="">
      <p:transition spd="slow" advTm="34188"/>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9260B-0B73-0D62-0C0A-A3268C6CD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67075-BA89-6294-0248-A813400620A9}"/>
              </a:ext>
            </a:extLst>
          </p:cNvPr>
          <p:cNvSpPr>
            <a:spLocks noGrp="1"/>
          </p:cNvSpPr>
          <p:nvPr>
            <p:ph type="title"/>
          </p:nvPr>
        </p:nvSpPr>
        <p:spPr/>
        <p:txBody>
          <a:bodyPr/>
          <a:lstStyle/>
          <a:p>
            <a:r>
              <a:rPr lang="en-US" dirty="0"/>
              <a:t>Task-agnostic, multi-modality AI</a:t>
            </a:r>
          </a:p>
        </p:txBody>
      </p:sp>
      <p:sp>
        <p:nvSpPr>
          <p:cNvPr id="3" name="Text Placeholder 2">
            <a:extLst>
              <a:ext uri="{FF2B5EF4-FFF2-40B4-BE49-F238E27FC236}">
                <a16:creationId xmlns:a16="http://schemas.microsoft.com/office/drawing/2014/main" id="{7DF61BDD-B72F-B47C-7248-89E64549932C}"/>
              </a:ext>
            </a:extLst>
          </p:cNvPr>
          <p:cNvSpPr>
            <a:spLocks noGrp="1"/>
          </p:cNvSpPr>
          <p:nvPr>
            <p:ph type="body" idx="1"/>
          </p:nvPr>
        </p:nvSpPr>
        <p:spPr/>
        <p:txBody>
          <a:bodyPr/>
          <a:lstStyle/>
          <a:p>
            <a:r>
              <a:rPr lang="en-US" dirty="0"/>
              <a:t>Image processing</a:t>
            </a:r>
          </a:p>
          <a:p>
            <a:r>
              <a:rPr lang="en-US" dirty="0"/>
              <a:t>Natural language processing</a:t>
            </a:r>
          </a:p>
          <a:p>
            <a:r>
              <a:rPr lang="en-US" dirty="0"/>
              <a:t>Structured data processing</a:t>
            </a:r>
          </a:p>
        </p:txBody>
      </p:sp>
    </p:spTree>
    <p:extLst>
      <p:ext uri="{BB962C8B-B14F-4D97-AF65-F5344CB8AC3E}">
        <p14:creationId xmlns:p14="http://schemas.microsoft.com/office/powerpoint/2010/main" val="4189485087"/>
      </p:ext>
    </p:extLst>
  </p:cSld>
  <p:clrMapOvr>
    <a:masterClrMapping/>
  </p:clrMapOvr>
  <mc:AlternateContent xmlns:mc="http://schemas.openxmlformats.org/markup-compatibility/2006" xmlns:p14="http://schemas.microsoft.com/office/powerpoint/2010/main">
    <mc:Choice Requires="p14">
      <p:transition spd="slow" p14:dur="2000" advTm="13618"/>
    </mc:Choice>
    <mc:Fallback xmlns="">
      <p:transition spd="slow" advTm="13618"/>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6E972-37FB-BC91-B822-46E20779A795}"/>
              </a:ext>
            </a:extLst>
          </p:cNvPr>
          <p:cNvSpPr>
            <a:spLocks noGrp="1"/>
          </p:cNvSpPr>
          <p:nvPr>
            <p:ph type="title"/>
          </p:nvPr>
        </p:nvSpPr>
        <p:spPr/>
        <p:txBody>
          <a:bodyPr/>
          <a:lstStyle/>
          <a:p>
            <a:r>
              <a:rPr lang="en-US" dirty="0"/>
              <a:t>Frontier models have moved to </a:t>
            </a:r>
            <a:r>
              <a:rPr lang="en-US" b="1" dirty="0"/>
              <a:t>early</a:t>
            </a:r>
            <a:r>
              <a:rPr lang="en-US" dirty="0"/>
              <a:t> fusion</a:t>
            </a:r>
          </a:p>
        </p:txBody>
      </p:sp>
      <p:sp>
        <p:nvSpPr>
          <p:cNvPr id="5" name="TextBox 4">
            <a:extLst>
              <a:ext uri="{FF2B5EF4-FFF2-40B4-BE49-F238E27FC236}">
                <a16:creationId xmlns:a16="http://schemas.microsoft.com/office/drawing/2014/main" id="{68EA2509-A2F9-DBC5-6E65-3E5167F28B46}"/>
              </a:ext>
            </a:extLst>
          </p:cNvPr>
          <p:cNvSpPr txBox="1"/>
          <p:nvPr/>
        </p:nvSpPr>
        <p:spPr>
          <a:xfrm>
            <a:off x="1669154" y="5846544"/>
            <a:ext cx="5692218" cy="646331"/>
          </a:xfrm>
          <a:prstGeom prst="rect">
            <a:avLst/>
          </a:prstGeom>
          <a:noFill/>
        </p:spPr>
        <p:txBody>
          <a:bodyPr wrap="square">
            <a:spAutoFit/>
          </a:bodyPr>
          <a:lstStyle/>
          <a:p>
            <a:r>
              <a:rPr lang="en-US" sz="1200" dirty="0"/>
              <a:t>Akbari, H., Yuan, L., Qian, R., Chuang, W.-H., Chang, S.-F., Cui, Y., &amp; Gong, B. (2021). VATT: Transformers for Multimodal Self-Supervised Learning from Raw Video, Audio and Text. </a:t>
            </a:r>
            <a:r>
              <a:rPr lang="en-US" sz="1200" i="1" dirty="0"/>
              <a:t>Advances in Neural Information Processing Systems (</a:t>
            </a:r>
            <a:r>
              <a:rPr lang="en-US" sz="1200" i="1" dirty="0" err="1"/>
              <a:t>NeurIPS</a:t>
            </a:r>
            <a:r>
              <a:rPr lang="en-US" sz="1200" i="1" dirty="0"/>
              <a:t>) 34</a:t>
            </a:r>
            <a:r>
              <a:rPr lang="en-US" sz="1200" dirty="0"/>
              <a:t>.</a:t>
            </a:r>
          </a:p>
        </p:txBody>
      </p:sp>
      <p:pic>
        <p:nvPicPr>
          <p:cNvPr id="6" name="Picture 5">
            <a:extLst>
              <a:ext uri="{FF2B5EF4-FFF2-40B4-BE49-F238E27FC236}">
                <a16:creationId xmlns:a16="http://schemas.microsoft.com/office/drawing/2014/main" id="{0BC7D453-4D3F-D003-562B-930D4603640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38200" y="2347426"/>
            <a:ext cx="7354126" cy="3063559"/>
          </a:xfrm>
          <a:prstGeom prst="rect">
            <a:avLst/>
          </a:prstGeom>
        </p:spPr>
      </p:pic>
      <p:sp>
        <p:nvSpPr>
          <p:cNvPr id="7" name="TextBox 6">
            <a:extLst>
              <a:ext uri="{FF2B5EF4-FFF2-40B4-BE49-F238E27FC236}">
                <a16:creationId xmlns:a16="http://schemas.microsoft.com/office/drawing/2014/main" id="{1F119AE5-FEA2-2047-EC9A-EAD374ECFD0F}"/>
              </a:ext>
            </a:extLst>
          </p:cNvPr>
          <p:cNvSpPr txBox="1"/>
          <p:nvPr/>
        </p:nvSpPr>
        <p:spPr>
          <a:xfrm>
            <a:off x="8851770" y="2347426"/>
            <a:ext cx="2733773" cy="3139321"/>
          </a:xfrm>
          <a:prstGeom prst="rect">
            <a:avLst/>
          </a:prstGeom>
          <a:noFill/>
        </p:spPr>
        <p:txBody>
          <a:bodyPr wrap="square" rtlCol="0">
            <a:spAutoFit/>
          </a:bodyPr>
          <a:lstStyle/>
          <a:p>
            <a:pPr marL="285750" indent="-285750">
              <a:buFontTx/>
              <a:buChar char="-"/>
            </a:pPr>
            <a:r>
              <a:rPr lang="en-US" dirty="0"/>
              <a:t>Distinct linear projections map raw pixels and waveforms to a shared input embedding space</a:t>
            </a:r>
          </a:p>
          <a:p>
            <a:pPr marL="285750" indent="-285750">
              <a:buFontTx/>
              <a:buChar char="-"/>
            </a:pPr>
            <a:endParaRPr lang="en-US" dirty="0"/>
          </a:p>
          <a:p>
            <a:pPr marL="285750" indent="-285750">
              <a:buFontTx/>
              <a:buChar char="-"/>
            </a:pPr>
            <a:r>
              <a:rPr lang="en-US" dirty="0"/>
              <a:t>Contrastive loss is applied to encourage output representations to be similar across modalities</a:t>
            </a:r>
          </a:p>
        </p:txBody>
      </p:sp>
    </p:spTree>
    <p:extLst>
      <p:ext uri="{BB962C8B-B14F-4D97-AF65-F5344CB8AC3E}">
        <p14:creationId xmlns:p14="http://schemas.microsoft.com/office/powerpoint/2010/main" val="39025265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3180A-C855-627A-414D-AA5D7B366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4CE59-2966-EA21-E664-54E59A479445}"/>
              </a:ext>
            </a:extLst>
          </p:cNvPr>
          <p:cNvSpPr>
            <a:spLocks noGrp="1"/>
          </p:cNvSpPr>
          <p:nvPr>
            <p:ph type="title"/>
          </p:nvPr>
        </p:nvSpPr>
        <p:spPr>
          <a:xfrm>
            <a:off x="0" y="170330"/>
            <a:ext cx="12192000" cy="1325563"/>
          </a:xfrm>
        </p:spPr>
        <p:txBody>
          <a:bodyPr>
            <a:normAutofit/>
          </a:bodyPr>
          <a:lstStyle/>
          <a:p>
            <a:pPr algn="ctr"/>
            <a:r>
              <a:rPr lang="en-US" sz="4000" dirty="0"/>
              <a:t>Self-supervision: predict the missing </a:t>
            </a:r>
            <a:r>
              <a:rPr lang="en-US" sz="4000" i="1" dirty="0"/>
              <a:t>multi-modal token</a:t>
            </a:r>
            <a:endParaRPr lang="en-US" sz="4000" dirty="0"/>
          </a:p>
        </p:txBody>
      </p:sp>
      <p:pic>
        <p:nvPicPr>
          <p:cNvPr id="1026" name="Picture 2" descr="Blood Test Tube Clipart: Over 731 Royalty-Free Licensable ...">
            <a:extLst>
              <a:ext uri="{FF2B5EF4-FFF2-40B4-BE49-F238E27FC236}">
                <a16:creationId xmlns:a16="http://schemas.microsoft.com/office/drawing/2014/main" id="{2FF4B09E-14B1-FBD6-C955-738D49EEF950}"/>
              </a:ext>
            </a:extLst>
          </p:cNvPr>
          <p:cNvPicPr>
            <a:picLocks noChangeAspect="1" noChangeArrowheads="1"/>
          </p:cNvPicPr>
          <p:nvPr/>
        </p:nvPicPr>
        <p:blipFill>
          <a:blip r:embed="rId2" cstate="screen">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261477" y="5014603"/>
            <a:ext cx="1507850" cy="15078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Vector Medical Chart Icon 420591 Vector Art at Vecteezy">
            <a:extLst>
              <a:ext uri="{FF2B5EF4-FFF2-40B4-BE49-F238E27FC236}">
                <a16:creationId xmlns:a16="http://schemas.microsoft.com/office/drawing/2014/main" id="{AE91955C-2E2B-EE50-652C-407DD4FA9640}"/>
              </a:ext>
            </a:extLst>
          </p:cNvPr>
          <p:cNvPicPr>
            <a:picLocks noChangeAspect="1" noChangeArrowheads="1"/>
          </p:cNvPicPr>
          <p:nvPr/>
        </p:nvPicPr>
        <p:blipFill>
          <a:blip r:embed="rId4" cstate="screen">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a:ext>
            </a:extLst>
          </a:blip>
          <a:srcRect/>
          <a:stretch>
            <a:fillRect/>
          </a:stretch>
        </p:blipFill>
        <p:spPr bwMode="auto">
          <a:xfrm>
            <a:off x="4290971" y="5014604"/>
            <a:ext cx="1507850" cy="15078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1,700+ Black And White Pill Stock Illustrations, Royalty-Free Vector  Graphics &amp; Clip Art - iStock">
            <a:extLst>
              <a:ext uri="{FF2B5EF4-FFF2-40B4-BE49-F238E27FC236}">
                <a16:creationId xmlns:a16="http://schemas.microsoft.com/office/drawing/2014/main" id="{E8CB47EC-DB48-D080-E265-1BC276748C9E}"/>
              </a:ext>
            </a:extLst>
          </p:cNvPr>
          <p:cNvPicPr>
            <a:picLocks noChangeAspect="1" noChangeArrowheads="1"/>
          </p:cNvPicPr>
          <p:nvPr/>
        </p:nvPicPr>
        <p: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296159" y="5014604"/>
            <a:ext cx="1507850" cy="1507850"/>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a:extLst>
              <a:ext uri="{FF2B5EF4-FFF2-40B4-BE49-F238E27FC236}">
                <a16:creationId xmlns:a16="http://schemas.microsoft.com/office/drawing/2014/main" id="{767C8339-FF93-41C7-D9CA-7DEB3D91F057}"/>
              </a:ext>
            </a:extLst>
          </p:cNvPr>
          <p:cNvSpPr/>
          <p:nvPr/>
        </p:nvSpPr>
        <p:spPr>
          <a:xfrm>
            <a:off x="838200" y="3873147"/>
            <a:ext cx="10515599" cy="84473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D2B8B583-F565-5FEA-2078-F84DD1BF078C}"/>
              </a:ext>
            </a:extLst>
          </p:cNvPr>
          <p:cNvCxnSpPr>
            <a:cxnSpLocks/>
            <a:stCxn id="1026" idx="0"/>
          </p:cNvCxnSpPr>
          <p:nvPr/>
        </p:nvCxnSpPr>
        <p:spPr>
          <a:xfrm flipV="1">
            <a:off x="2015402" y="4493633"/>
            <a:ext cx="0" cy="52097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19A6437F-2335-E4B2-01AF-F2EF8C21F253}"/>
              </a:ext>
            </a:extLst>
          </p:cNvPr>
          <p:cNvCxnSpPr>
            <a:cxnSpLocks/>
            <a:stCxn id="1032" idx="0"/>
          </p:cNvCxnSpPr>
          <p:nvPr/>
        </p:nvCxnSpPr>
        <p:spPr>
          <a:xfrm flipH="1" flipV="1">
            <a:off x="5041631" y="4493633"/>
            <a:ext cx="3265"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F812DD53-6FB6-E536-25F5-E8B265A5F3E0}"/>
              </a:ext>
            </a:extLst>
          </p:cNvPr>
          <p:cNvCxnSpPr>
            <a:cxnSpLocks/>
            <a:stCxn id="1034" idx="0"/>
          </p:cNvCxnSpPr>
          <p:nvPr/>
        </p:nvCxnSpPr>
        <p:spPr>
          <a:xfrm flipV="1">
            <a:off x="8050084" y="4493633"/>
            <a:ext cx="0"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EB61EFE5-C229-547D-229A-A27E7C94F2A6}"/>
              </a:ext>
            </a:extLst>
          </p:cNvPr>
          <p:cNvSpPr txBox="1"/>
          <p:nvPr/>
        </p:nvSpPr>
        <p:spPr>
          <a:xfrm>
            <a:off x="6151475" y="1591641"/>
            <a:ext cx="645433" cy="369332"/>
          </a:xfrm>
          <a:prstGeom prst="rect">
            <a:avLst/>
          </a:prstGeom>
          <a:noFill/>
        </p:spPr>
        <p:txBody>
          <a:bodyPr wrap="none" rtlCol="0">
            <a:spAutoFit/>
          </a:bodyPr>
          <a:lstStyle/>
          <a:p>
            <a:r>
              <a:rPr lang="en-US" dirty="0"/>
              <a:t>Note</a:t>
            </a:r>
          </a:p>
        </p:txBody>
      </p:sp>
      <p:sp>
        <p:nvSpPr>
          <p:cNvPr id="15" name="TextBox 14">
            <a:extLst>
              <a:ext uri="{FF2B5EF4-FFF2-40B4-BE49-F238E27FC236}">
                <a16:creationId xmlns:a16="http://schemas.microsoft.com/office/drawing/2014/main" id="{19B3A240-128E-46F5-F45A-2C4CB7D06F87}"/>
              </a:ext>
            </a:extLst>
          </p:cNvPr>
          <p:cNvSpPr txBox="1"/>
          <p:nvPr/>
        </p:nvSpPr>
        <p:spPr>
          <a:xfrm>
            <a:off x="4249747" y="6337787"/>
            <a:ext cx="1583767" cy="369332"/>
          </a:xfrm>
          <a:prstGeom prst="rect">
            <a:avLst/>
          </a:prstGeom>
          <a:noFill/>
        </p:spPr>
        <p:txBody>
          <a:bodyPr wrap="none" rtlCol="0">
            <a:spAutoFit/>
          </a:bodyPr>
          <a:lstStyle/>
          <a:p>
            <a:r>
              <a:rPr lang="en-US" dirty="0"/>
              <a:t>Diagnosis code</a:t>
            </a:r>
          </a:p>
        </p:txBody>
      </p:sp>
      <p:sp>
        <p:nvSpPr>
          <p:cNvPr id="16" name="TextBox 15">
            <a:extLst>
              <a:ext uri="{FF2B5EF4-FFF2-40B4-BE49-F238E27FC236}">
                <a16:creationId xmlns:a16="http://schemas.microsoft.com/office/drawing/2014/main" id="{52FE6819-61E1-383D-0C44-AA5D03CA4C1F}"/>
              </a:ext>
            </a:extLst>
          </p:cNvPr>
          <p:cNvSpPr txBox="1"/>
          <p:nvPr/>
        </p:nvSpPr>
        <p:spPr>
          <a:xfrm>
            <a:off x="7425169" y="6337787"/>
            <a:ext cx="1249829" cy="369332"/>
          </a:xfrm>
          <a:prstGeom prst="rect">
            <a:avLst/>
          </a:prstGeom>
          <a:noFill/>
        </p:spPr>
        <p:txBody>
          <a:bodyPr wrap="none" rtlCol="0">
            <a:spAutoFit/>
          </a:bodyPr>
          <a:lstStyle/>
          <a:p>
            <a:r>
              <a:rPr lang="en-US" dirty="0"/>
              <a:t>Medication</a:t>
            </a:r>
          </a:p>
        </p:txBody>
      </p:sp>
      <p:cxnSp>
        <p:nvCxnSpPr>
          <p:cNvPr id="17" name="Straight Arrow Connector 16">
            <a:extLst>
              <a:ext uri="{FF2B5EF4-FFF2-40B4-BE49-F238E27FC236}">
                <a16:creationId xmlns:a16="http://schemas.microsoft.com/office/drawing/2014/main" id="{54750F98-3BD0-182C-D926-26438AA9D228}"/>
              </a:ext>
            </a:extLst>
          </p:cNvPr>
          <p:cNvCxnSpPr>
            <a:cxnSpLocks/>
          </p:cNvCxnSpPr>
          <p:nvPr/>
        </p:nvCxnSpPr>
        <p:spPr>
          <a:xfrm>
            <a:off x="3447964" y="3576421"/>
            <a:ext cx="0" cy="52097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389E9BA1-4A4B-B35F-5FDA-84B956D49F06}"/>
              </a:ext>
            </a:extLst>
          </p:cNvPr>
          <p:cNvCxnSpPr>
            <a:cxnSpLocks/>
          </p:cNvCxnSpPr>
          <p:nvPr/>
        </p:nvCxnSpPr>
        <p:spPr>
          <a:xfrm flipH="1">
            <a:off x="6474193" y="3576421"/>
            <a:ext cx="3265"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06E0E7CE-C073-43C1-9B9D-FC4BF0D8CCF8}"/>
              </a:ext>
            </a:extLst>
          </p:cNvPr>
          <p:cNvCxnSpPr>
            <a:cxnSpLocks/>
          </p:cNvCxnSpPr>
          <p:nvPr/>
        </p:nvCxnSpPr>
        <p:spPr>
          <a:xfrm>
            <a:off x="9482646" y="3576421"/>
            <a:ext cx="0"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0" name="Picture 19">
            <a:extLst>
              <a:ext uri="{FF2B5EF4-FFF2-40B4-BE49-F238E27FC236}">
                <a16:creationId xmlns:a16="http://schemas.microsoft.com/office/drawing/2014/main" id="{2E41A9B5-1ABA-4401-3187-E2424E6B2B95}"/>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2217060" y="1960973"/>
            <a:ext cx="2461808" cy="1507850"/>
          </a:xfrm>
          <a:prstGeom prst="rect">
            <a:avLst/>
          </a:prstGeom>
        </p:spPr>
      </p:pic>
      <p:pic>
        <p:nvPicPr>
          <p:cNvPr id="22" name="Picture 21">
            <a:extLst>
              <a:ext uri="{FF2B5EF4-FFF2-40B4-BE49-F238E27FC236}">
                <a16:creationId xmlns:a16="http://schemas.microsoft.com/office/drawing/2014/main" id="{06B7D6CF-7988-9577-DEE7-3E278F2ED7C8}"/>
              </a:ext>
            </a:extLst>
          </p:cNvPr>
          <p:cNvPicPr>
            <a:picLocks noChangeAspect="1"/>
          </p:cNvPicPr>
          <p:nvPr/>
        </p:nvPicPr>
        <p:blipFill rotWithShape="1">
          <a:blip r:embed="rId8"/>
          <a:srcRect l="11976" t="10927" r="11177" b="12059"/>
          <a:stretch/>
        </p:blipFill>
        <p:spPr>
          <a:xfrm>
            <a:off x="5892872" y="1960973"/>
            <a:ext cx="1162641" cy="1507850"/>
          </a:xfrm>
          <a:prstGeom prst="rect">
            <a:avLst/>
          </a:prstGeom>
          <a:ln>
            <a:solidFill>
              <a:schemeClr val="tx1"/>
            </a:solidFill>
          </a:ln>
        </p:spPr>
      </p:pic>
      <p:pic>
        <p:nvPicPr>
          <p:cNvPr id="23" name="Picture 4">
            <a:extLst>
              <a:ext uri="{FF2B5EF4-FFF2-40B4-BE49-F238E27FC236}">
                <a16:creationId xmlns:a16="http://schemas.microsoft.com/office/drawing/2014/main" id="{A2348AA1-EE33-DFDC-EDBE-B672055E5930}"/>
              </a:ext>
            </a:extLst>
          </p:cNvPr>
          <p:cNvPicPr>
            <a:picLocks noChangeAspect="1" noChangeArrowheads="1"/>
          </p:cNvPicPr>
          <p:nvPr/>
        </p:nvPicPr>
        <p:blipFill>
          <a:blip r:embed="rId9" cstate="screen">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a:ext>
            </a:extLst>
          </a:blip>
          <a:srcRect/>
          <a:stretch>
            <a:fillRect/>
          </a:stretch>
        </p:blipFill>
        <p:spPr bwMode="auto">
          <a:xfrm>
            <a:off x="8173099" y="1960973"/>
            <a:ext cx="2619094" cy="15078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31D69D81-39E6-3875-5B89-F42297A4E9A9}"/>
              </a:ext>
            </a:extLst>
          </p:cNvPr>
          <p:cNvSpPr txBox="1"/>
          <p:nvPr/>
        </p:nvSpPr>
        <p:spPr>
          <a:xfrm>
            <a:off x="1554506" y="6337787"/>
            <a:ext cx="921791" cy="369332"/>
          </a:xfrm>
          <a:prstGeom prst="rect">
            <a:avLst/>
          </a:prstGeom>
          <a:noFill/>
        </p:spPr>
        <p:txBody>
          <a:bodyPr wrap="none" rtlCol="0">
            <a:spAutoFit/>
          </a:bodyPr>
          <a:lstStyle/>
          <a:p>
            <a:r>
              <a:rPr lang="en-US" dirty="0"/>
              <a:t>Lab test</a:t>
            </a:r>
          </a:p>
        </p:txBody>
      </p:sp>
      <p:sp>
        <p:nvSpPr>
          <p:cNvPr id="25" name="TextBox 24">
            <a:extLst>
              <a:ext uri="{FF2B5EF4-FFF2-40B4-BE49-F238E27FC236}">
                <a16:creationId xmlns:a16="http://schemas.microsoft.com/office/drawing/2014/main" id="{E214480D-4976-463D-C5C8-7EEFC0CB040F}"/>
              </a:ext>
            </a:extLst>
          </p:cNvPr>
          <p:cNvSpPr txBox="1"/>
          <p:nvPr/>
        </p:nvSpPr>
        <p:spPr>
          <a:xfrm>
            <a:off x="2982932" y="1587180"/>
            <a:ext cx="930063" cy="369332"/>
          </a:xfrm>
          <a:prstGeom prst="rect">
            <a:avLst/>
          </a:prstGeom>
          <a:noFill/>
        </p:spPr>
        <p:txBody>
          <a:bodyPr wrap="none" rtlCol="0">
            <a:spAutoFit/>
          </a:bodyPr>
          <a:lstStyle/>
          <a:p>
            <a:r>
              <a:rPr lang="en-US" dirty="0"/>
              <a:t>Imaging</a:t>
            </a:r>
          </a:p>
        </p:txBody>
      </p:sp>
      <p:sp>
        <p:nvSpPr>
          <p:cNvPr id="26" name="TextBox 25">
            <a:extLst>
              <a:ext uri="{FF2B5EF4-FFF2-40B4-BE49-F238E27FC236}">
                <a16:creationId xmlns:a16="http://schemas.microsoft.com/office/drawing/2014/main" id="{C107B25D-6C0A-3E90-50C9-673305C096EE}"/>
              </a:ext>
            </a:extLst>
          </p:cNvPr>
          <p:cNvSpPr txBox="1"/>
          <p:nvPr/>
        </p:nvSpPr>
        <p:spPr>
          <a:xfrm>
            <a:off x="8566626" y="1587180"/>
            <a:ext cx="1832040" cy="369332"/>
          </a:xfrm>
          <a:prstGeom prst="rect">
            <a:avLst/>
          </a:prstGeom>
          <a:noFill/>
        </p:spPr>
        <p:txBody>
          <a:bodyPr wrap="none" rtlCol="0">
            <a:spAutoFit/>
          </a:bodyPr>
          <a:lstStyle/>
          <a:p>
            <a:r>
              <a:rPr lang="en-US" dirty="0"/>
              <a:t>Electrophysiology</a:t>
            </a:r>
          </a:p>
        </p:txBody>
      </p:sp>
      <p:sp>
        <p:nvSpPr>
          <p:cNvPr id="3" name="Rectangle 2">
            <a:extLst>
              <a:ext uri="{FF2B5EF4-FFF2-40B4-BE49-F238E27FC236}">
                <a16:creationId xmlns:a16="http://schemas.microsoft.com/office/drawing/2014/main" id="{FE895224-32AE-2024-38B1-A3145359D44A}"/>
              </a:ext>
            </a:extLst>
          </p:cNvPr>
          <p:cNvSpPr/>
          <p:nvPr/>
        </p:nvSpPr>
        <p:spPr>
          <a:xfrm>
            <a:off x="3065026" y="2795346"/>
            <a:ext cx="765873" cy="67347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spTree>
    <p:extLst>
      <p:ext uri="{BB962C8B-B14F-4D97-AF65-F5344CB8AC3E}">
        <p14:creationId xmlns:p14="http://schemas.microsoft.com/office/powerpoint/2010/main" val="20093438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85EDC-091D-4AE7-5878-3FEC209D1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702ED-8AD9-6E23-AC17-8FC1CE0CD735}"/>
              </a:ext>
            </a:extLst>
          </p:cNvPr>
          <p:cNvSpPr>
            <a:spLocks noGrp="1"/>
          </p:cNvSpPr>
          <p:nvPr>
            <p:ph type="title"/>
          </p:nvPr>
        </p:nvSpPr>
        <p:spPr>
          <a:xfrm>
            <a:off x="0" y="170330"/>
            <a:ext cx="12192000" cy="1325563"/>
          </a:xfrm>
        </p:spPr>
        <p:txBody>
          <a:bodyPr>
            <a:normAutofit/>
          </a:bodyPr>
          <a:lstStyle/>
          <a:p>
            <a:pPr algn="ctr"/>
            <a:r>
              <a:rPr lang="en-US" sz="4000" dirty="0"/>
              <a:t>Self-supervision: predict the missing </a:t>
            </a:r>
            <a:r>
              <a:rPr lang="en-US" sz="4000" i="1" dirty="0"/>
              <a:t>multi-modal token</a:t>
            </a:r>
            <a:endParaRPr lang="en-US" sz="4000" dirty="0"/>
          </a:p>
        </p:txBody>
      </p:sp>
      <p:pic>
        <p:nvPicPr>
          <p:cNvPr id="1026" name="Picture 2" descr="Blood Test Tube Clipart: Over 731 Royalty-Free Licensable ...">
            <a:extLst>
              <a:ext uri="{FF2B5EF4-FFF2-40B4-BE49-F238E27FC236}">
                <a16:creationId xmlns:a16="http://schemas.microsoft.com/office/drawing/2014/main" id="{7622C5E1-6C71-2811-CD4A-B4B1DF237C1D}"/>
              </a:ext>
            </a:extLst>
          </p:cNvPr>
          <p:cNvPicPr>
            <a:picLocks noChangeAspect="1" noChangeArrowheads="1"/>
          </p:cNvPicPr>
          <p:nvPr/>
        </p:nvPicPr>
        <p:blipFill>
          <a:blip r:embed="rId2" cstate="screen">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261477" y="5014603"/>
            <a:ext cx="1507850" cy="15078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Vector Medical Chart Icon 420591 Vector Art at Vecteezy">
            <a:extLst>
              <a:ext uri="{FF2B5EF4-FFF2-40B4-BE49-F238E27FC236}">
                <a16:creationId xmlns:a16="http://schemas.microsoft.com/office/drawing/2014/main" id="{C29C16BB-CC45-AD29-B39C-3869E0A385F4}"/>
              </a:ext>
            </a:extLst>
          </p:cNvPr>
          <p:cNvPicPr>
            <a:picLocks noChangeAspect="1" noChangeArrowheads="1"/>
          </p:cNvPicPr>
          <p:nvPr/>
        </p:nvPicPr>
        <p:blipFill>
          <a:blip r:embed="rId4" cstate="screen">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a:ext>
            </a:extLst>
          </a:blip>
          <a:srcRect/>
          <a:stretch>
            <a:fillRect/>
          </a:stretch>
        </p:blipFill>
        <p:spPr bwMode="auto">
          <a:xfrm>
            <a:off x="4290971" y="5014604"/>
            <a:ext cx="1507850" cy="15078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1,700+ Black And White Pill Stock Illustrations, Royalty-Free Vector  Graphics &amp; Clip Art - iStock">
            <a:extLst>
              <a:ext uri="{FF2B5EF4-FFF2-40B4-BE49-F238E27FC236}">
                <a16:creationId xmlns:a16="http://schemas.microsoft.com/office/drawing/2014/main" id="{70FC2575-E4FB-62C9-2FCF-FFA64AE10B62}"/>
              </a:ext>
            </a:extLst>
          </p:cNvPr>
          <p:cNvPicPr>
            <a:picLocks noChangeAspect="1" noChangeArrowheads="1"/>
          </p:cNvPicPr>
          <p:nvPr/>
        </p:nvPicPr>
        <p: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296159" y="5014604"/>
            <a:ext cx="1507850" cy="1507850"/>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a:extLst>
              <a:ext uri="{FF2B5EF4-FFF2-40B4-BE49-F238E27FC236}">
                <a16:creationId xmlns:a16="http://schemas.microsoft.com/office/drawing/2014/main" id="{15FCF254-D289-6050-F4B1-938EA35FC6EF}"/>
              </a:ext>
            </a:extLst>
          </p:cNvPr>
          <p:cNvSpPr/>
          <p:nvPr/>
        </p:nvSpPr>
        <p:spPr>
          <a:xfrm>
            <a:off x="838200" y="3873147"/>
            <a:ext cx="10515599" cy="84473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A91B2BF3-275B-3AF9-AB54-277ED93D4F73}"/>
              </a:ext>
            </a:extLst>
          </p:cNvPr>
          <p:cNvCxnSpPr>
            <a:cxnSpLocks/>
            <a:stCxn id="1026" idx="0"/>
          </p:cNvCxnSpPr>
          <p:nvPr/>
        </p:nvCxnSpPr>
        <p:spPr>
          <a:xfrm flipV="1">
            <a:off x="2015402" y="4493633"/>
            <a:ext cx="0" cy="52097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C66076A0-5532-4F16-F7D9-36F2BBAA95AF}"/>
              </a:ext>
            </a:extLst>
          </p:cNvPr>
          <p:cNvCxnSpPr>
            <a:cxnSpLocks/>
            <a:stCxn id="1032" idx="0"/>
          </p:cNvCxnSpPr>
          <p:nvPr/>
        </p:nvCxnSpPr>
        <p:spPr>
          <a:xfrm flipH="1" flipV="1">
            <a:off x="5041631" y="4493633"/>
            <a:ext cx="3265"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C17B17D5-3A2E-AE0B-F7EF-12B6BFBFFF58}"/>
              </a:ext>
            </a:extLst>
          </p:cNvPr>
          <p:cNvCxnSpPr>
            <a:cxnSpLocks/>
            <a:stCxn id="1034" idx="0"/>
          </p:cNvCxnSpPr>
          <p:nvPr/>
        </p:nvCxnSpPr>
        <p:spPr>
          <a:xfrm flipV="1">
            <a:off x="8050084" y="4493633"/>
            <a:ext cx="0"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BC62E8BB-147F-5F01-5C35-F69A38EAEBD5}"/>
              </a:ext>
            </a:extLst>
          </p:cNvPr>
          <p:cNvSpPr txBox="1"/>
          <p:nvPr/>
        </p:nvSpPr>
        <p:spPr>
          <a:xfrm>
            <a:off x="6151475" y="1591641"/>
            <a:ext cx="645433" cy="369332"/>
          </a:xfrm>
          <a:prstGeom prst="rect">
            <a:avLst/>
          </a:prstGeom>
          <a:noFill/>
        </p:spPr>
        <p:txBody>
          <a:bodyPr wrap="none" rtlCol="0">
            <a:spAutoFit/>
          </a:bodyPr>
          <a:lstStyle/>
          <a:p>
            <a:r>
              <a:rPr lang="en-US" dirty="0"/>
              <a:t>Note</a:t>
            </a:r>
          </a:p>
        </p:txBody>
      </p:sp>
      <p:sp>
        <p:nvSpPr>
          <p:cNvPr id="15" name="TextBox 14">
            <a:extLst>
              <a:ext uri="{FF2B5EF4-FFF2-40B4-BE49-F238E27FC236}">
                <a16:creationId xmlns:a16="http://schemas.microsoft.com/office/drawing/2014/main" id="{457E94B3-A169-DCD1-5C00-21D8FCDE14E9}"/>
              </a:ext>
            </a:extLst>
          </p:cNvPr>
          <p:cNvSpPr txBox="1"/>
          <p:nvPr/>
        </p:nvSpPr>
        <p:spPr>
          <a:xfrm>
            <a:off x="4249747" y="6337787"/>
            <a:ext cx="1583767" cy="369332"/>
          </a:xfrm>
          <a:prstGeom prst="rect">
            <a:avLst/>
          </a:prstGeom>
          <a:noFill/>
        </p:spPr>
        <p:txBody>
          <a:bodyPr wrap="none" rtlCol="0">
            <a:spAutoFit/>
          </a:bodyPr>
          <a:lstStyle/>
          <a:p>
            <a:r>
              <a:rPr lang="en-US" dirty="0"/>
              <a:t>Diagnosis code</a:t>
            </a:r>
          </a:p>
        </p:txBody>
      </p:sp>
      <p:sp>
        <p:nvSpPr>
          <p:cNvPr id="16" name="TextBox 15">
            <a:extLst>
              <a:ext uri="{FF2B5EF4-FFF2-40B4-BE49-F238E27FC236}">
                <a16:creationId xmlns:a16="http://schemas.microsoft.com/office/drawing/2014/main" id="{988114E7-1963-2460-7839-5DFEB3953BE8}"/>
              </a:ext>
            </a:extLst>
          </p:cNvPr>
          <p:cNvSpPr txBox="1"/>
          <p:nvPr/>
        </p:nvSpPr>
        <p:spPr>
          <a:xfrm>
            <a:off x="7425169" y="6337787"/>
            <a:ext cx="1249829" cy="369332"/>
          </a:xfrm>
          <a:prstGeom prst="rect">
            <a:avLst/>
          </a:prstGeom>
          <a:noFill/>
        </p:spPr>
        <p:txBody>
          <a:bodyPr wrap="none" rtlCol="0">
            <a:spAutoFit/>
          </a:bodyPr>
          <a:lstStyle/>
          <a:p>
            <a:r>
              <a:rPr lang="en-US" dirty="0"/>
              <a:t>Medication</a:t>
            </a:r>
          </a:p>
        </p:txBody>
      </p:sp>
      <p:cxnSp>
        <p:nvCxnSpPr>
          <p:cNvPr id="17" name="Straight Arrow Connector 16">
            <a:extLst>
              <a:ext uri="{FF2B5EF4-FFF2-40B4-BE49-F238E27FC236}">
                <a16:creationId xmlns:a16="http://schemas.microsoft.com/office/drawing/2014/main" id="{FABC665B-2F4E-67C0-DA5C-90820E755FB1}"/>
              </a:ext>
            </a:extLst>
          </p:cNvPr>
          <p:cNvCxnSpPr>
            <a:cxnSpLocks/>
          </p:cNvCxnSpPr>
          <p:nvPr/>
        </p:nvCxnSpPr>
        <p:spPr>
          <a:xfrm>
            <a:off x="3447964" y="3576421"/>
            <a:ext cx="0" cy="52097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4457CD6B-E1F8-282A-4610-5B3900B6D225}"/>
              </a:ext>
            </a:extLst>
          </p:cNvPr>
          <p:cNvCxnSpPr>
            <a:cxnSpLocks/>
          </p:cNvCxnSpPr>
          <p:nvPr/>
        </p:nvCxnSpPr>
        <p:spPr>
          <a:xfrm flipH="1">
            <a:off x="6474193" y="3576421"/>
            <a:ext cx="3265"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27D16A98-2152-7A42-6AAC-8302FBFEC610}"/>
              </a:ext>
            </a:extLst>
          </p:cNvPr>
          <p:cNvCxnSpPr>
            <a:cxnSpLocks/>
          </p:cNvCxnSpPr>
          <p:nvPr/>
        </p:nvCxnSpPr>
        <p:spPr>
          <a:xfrm>
            <a:off x="9482646" y="3576421"/>
            <a:ext cx="0"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0" name="Picture 19">
            <a:extLst>
              <a:ext uri="{FF2B5EF4-FFF2-40B4-BE49-F238E27FC236}">
                <a16:creationId xmlns:a16="http://schemas.microsoft.com/office/drawing/2014/main" id="{6CA65A63-0C7C-1A05-DD67-A0DD7B078B94}"/>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2217060" y="1960973"/>
            <a:ext cx="2461808" cy="1507850"/>
          </a:xfrm>
          <a:prstGeom prst="rect">
            <a:avLst/>
          </a:prstGeom>
        </p:spPr>
      </p:pic>
      <p:pic>
        <p:nvPicPr>
          <p:cNvPr id="22" name="Picture 21">
            <a:extLst>
              <a:ext uri="{FF2B5EF4-FFF2-40B4-BE49-F238E27FC236}">
                <a16:creationId xmlns:a16="http://schemas.microsoft.com/office/drawing/2014/main" id="{54D39786-5D55-6ADD-F955-1BDB25F7A4CC}"/>
              </a:ext>
            </a:extLst>
          </p:cNvPr>
          <p:cNvPicPr>
            <a:picLocks noChangeAspect="1"/>
          </p:cNvPicPr>
          <p:nvPr/>
        </p:nvPicPr>
        <p:blipFill rotWithShape="1">
          <a:blip r:embed="rId8"/>
          <a:srcRect l="11976" t="10927" r="11177" b="12059"/>
          <a:stretch/>
        </p:blipFill>
        <p:spPr>
          <a:xfrm>
            <a:off x="5892872" y="1960973"/>
            <a:ext cx="1162641" cy="1507850"/>
          </a:xfrm>
          <a:prstGeom prst="rect">
            <a:avLst/>
          </a:prstGeom>
          <a:ln>
            <a:solidFill>
              <a:schemeClr val="tx1"/>
            </a:solidFill>
          </a:ln>
        </p:spPr>
      </p:pic>
      <p:pic>
        <p:nvPicPr>
          <p:cNvPr id="23" name="Picture 4">
            <a:extLst>
              <a:ext uri="{FF2B5EF4-FFF2-40B4-BE49-F238E27FC236}">
                <a16:creationId xmlns:a16="http://schemas.microsoft.com/office/drawing/2014/main" id="{C923AE7B-FDFC-153D-FAFF-7D2315307C5A}"/>
              </a:ext>
            </a:extLst>
          </p:cNvPr>
          <p:cNvPicPr>
            <a:picLocks noChangeAspect="1" noChangeArrowheads="1"/>
          </p:cNvPicPr>
          <p:nvPr/>
        </p:nvPicPr>
        <p:blipFill>
          <a:blip r:embed="rId9" cstate="screen">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a:ext>
            </a:extLst>
          </a:blip>
          <a:srcRect/>
          <a:stretch>
            <a:fillRect/>
          </a:stretch>
        </p:blipFill>
        <p:spPr bwMode="auto">
          <a:xfrm>
            <a:off x="8173099" y="1960973"/>
            <a:ext cx="2619094" cy="15078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E7B2FCFA-3D8E-5241-1606-AEB57A107281}"/>
              </a:ext>
            </a:extLst>
          </p:cNvPr>
          <p:cNvSpPr txBox="1"/>
          <p:nvPr/>
        </p:nvSpPr>
        <p:spPr>
          <a:xfrm>
            <a:off x="1554506" y="6337787"/>
            <a:ext cx="921791" cy="369332"/>
          </a:xfrm>
          <a:prstGeom prst="rect">
            <a:avLst/>
          </a:prstGeom>
          <a:noFill/>
        </p:spPr>
        <p:txBody>
          <a:bodyPr wrap="none" rtlCol="0">
            <a:spAutoFit/>
          </a:bodyPr>
          <a:lstStyle/>
          <a:p>
            <a:r>
              <a:rPr lang="en-US" dirty="0"/>
              <a:t>Lab test</a:t>
            </a:r>
          </a:p>
        </p:txBody>
      </p:sp>
      <p:sp>
        <p:nvSpPr>
          <p:cNvPr id="25" name="TextBox 24">
            <a:extLst>
              <a:ext uri="{FF2B5EF4-FFF2-40B4-BE49-F238E27FC236}">
                <a16:creationId xmlns:a16="http://schemas.microsoft.com/office/drawing/2014/main" id="{2714487D-A770-7415-EBC7-9A5D34C81714}"/>
              </a:ext>
            </a:extLst>
          </p:cNvPr>
          <p:cNvSpPr txBox="1"/>
          <p:nvPr/>
        </p:nvSpPr>
        <p:spPr>
          <a:xfrm>
            <a:off x="2982932" y="1587180"/>
            <a:ext cx="930063" cy="369332"/>
          </a:xfrm>
          <a:prstGeom prst="rect">
            <a:avLst/>
          </a:prstGeom>
          <a:noFill/>
        </p:spPr>
        <p:txBody>
          <a:bodyPr wrap="none" rtlCol="0">
            <a:spAutoFit/>
          </a:bodyPr>
          <a:lstStyle/>
          <a:p>
            <a:r>
              <a:rPr lang="en-US" dirty="0"/>
              <a:t>Imaging</a:t>
            </a:r>
          </a:p>
        </p:txBody>
      </p:sp>
      <p:sp>
        <p:nvSpPr>
          <p:cNvPr id="26" name="TextBox 25">
            <a:extLst>
              <a:ext uri="{FF2B5EF4-FFF2-40B4-BE49-F238E27FC236}">
                <a16:creationId xmlns:a16="http://schemas.microsoft.com/office/drawing/2014/main" id="{23FD60B2-0C76-DA26-AE35-D3B6E304F43E}"/>
              </a:ext>
            </a:extLst>
          </p:cNvPr>
          <p:cNvSpPr txBox="1"/>
          <p:nvPr/>
        </p:nvSpPr>
        <p:spPr>
          <a:xfrm>
            <a:off x="8566626" y="1587180"/>
            <a:ext cx="1832040" cy="369332"/>
          </a:xfrm>
          <a:prstGeom prst="rect">
            <a:avLst/>
          </a:prstGeom>
          <a:noFill/>
        </p:spPr>
        <p:txBody>
          <a:bodyPr wrap="none" rtlCol="0">
            <a:spAutoFit/>
          </a:bodyPr>
          <a:lstStyle/>
          <a:p>
            <a:r>
              <a:rPr lang="en-US" dirty="0"/>
              <a:t>Electrophysiology</a:t>
            </a:r>
          </a:p>
        </p:txBody>
      </p:sp>
      <p:sp>
        <p:nvSpPr>
          <p:cNvPr id="3" name="Rectangle 2">
            <a:extLst>
              <a:ext uri="{FF2B5EF4-FFF2-40B4-BE49-F238E27FC236}">
                <a16:creationId xmlns:a16="http://schemas.microsoft.com/office/drawing/2014/main" id="{C9EB453E-851F-82F0-DFA9-973BDB4F7B9F}"/>
              </a:ext>
            </a:extLst>
          </p:cNvPr>
          <p:cNvSpPr/>
          <p:nvPr/>
        </p:nvSpPr>
        <p:spPr>
          <a:xfrm>
            <a:off x="5928490" y="2495078"/>
            <a:ext cx="1091402" cy="43964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Tree>
    <p:extLst>
      <p:ext uri="{BB962C8B-B14F-4D97-AF65-F5344CB8AC3E}">
        <p14:creationId xmlns:p14="http://schemas.microsoft.com/office/powerpoint/2010/main" val="4946729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8CA96-45C9-6664-2BF2-C005D711E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B94879-605F-EDCA-954E-50B581033789}"/>
              </a:ext>
            </a:extLst>
          </p:cNvPr>
          <p:cNvSpPr>
            <a:spLocks noGrp="1"/>
          </p:cNvSpPr>
          <p:nvPr>
            <p:ph type="title"/>
          </p:nvPr>
        </p:nvSpPr>
        <p:spPr>
          <a:xfrm>
            <a:off x="0" y="170330"/>
            <a:ext cx="12192000" cy="1325563"/>
          </a:xfrm>
        </p:spPr>
        <p:txBody>
          <a:bodyPr>
            <a:normAutofit/>
          </a:bodyPr>
          <a:lstStyle/>
          <a:p>
            <a:pPr algn="ctr"/>
            <a:r>
              <a:rPr lang="en-US" sz="4000" dirty="0"/>
              <a:t>Self-supervision: predict the missing </a:t>
            </a:r>
            <a:r>
              <a:rPr lang="en-US" sz="4000" i="1" dirty="0"/>
              <a:t>multi-modal token</a:t>
            </a:r>
            <a:endParaRPr lang="en-US" sz="4000" dirty="0"/>
          </a:p>
        </p:txBody>
      </p:sp>
      <p:pic>
        <p:nvPicPr>
          <p:cNvPr id="1026" name="Picture 2" descr="Blood Test Tube Clipart: Over 731 Royalty-Free Licensable ...">
            <a:extLst>
              <a:ext uri="{FF2B5EF4-FFF2-40B4-BE49-F238E27FC236}">
                <a16:creationId xmlns:a16="http://schemas.microsoft.com/office/drawing/2014/main" id="{4BB4F698-07E2-3E0A-8F1D-78B4E31FA197}"/>
              </a:ext>
            </a:extLst>
          </p:cNvPr>
          <p:cNvPicPr>
            <a:picLocks noChangeAspect="1" noChangeArrowheads="1"/>
          </p:cNvPicPr>
          <p:nvPr/>
        </p:nvPicPr>
        <p:blipFill>
          <a:blip r:embed="rId2" cstate="screen">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261477" y="5014603"/>
            <a:ext cx="1507850" cy="15078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Vector Medical Chart Icon 420591 Vector Art at Vecteezy">
            <a:extLst>
              <a:ext uri="{FF2B5EF4-FFF2-40B4-BE49-F238E27FC236}">
                <a16:creationId xmlns:a16="http://schemas.microsoft.com/office/drawing/2014/main" id="{8976B417-23EC-9F5B-2C42-FDFFB2C63BD4}"/>
              </a:ext>
            </a:extLst>
          </p:cNvPr>
          <p:cNvPicPr>
            <a:picLocks noChangeAspect="1" noChangeArrowheads="1"/>
          </p:cNvPicPr>
          <p:nvPr/>
        </p:nvPicPr>
        <p:blipFill>
          <a:blip r:embed="rId4" cstate="screen">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a:ext>
            </a:extLst>
          </a:blip>
          <a:srcRect/>
          <a:stretch>
            <a:fillRect/>
          </a:stretch>
        </p:blipFill>
        <p:spPr bwMode="auto">
          <a:xfrm>
            <a:off x="4290971" y="5014604"/>
            <a:ext cx="1507850" cy="15078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1,700+ Black And White Pill Stock Illustrations, Royalty-Free Vector  Graphics &amp; Clip Art - iStock">
            <a:extLst>
              <a:ext uri="{FF2B5EF4-FFF2-40B4-BE49-F238E27FC236}">
                <a16:creationId xmlns:a16="http://schemas.microsoft.com/office/drawing/2014/main" id="{2F6D3BE4-E604-1B0A-FB3E-05C8063BCD98}"/>
              </a:ext>
            </a:extLst>
          </p:cNvPr>
          <p:cNvPicPr>
            <a:picLocks noChangeAspect="1" noChangeArrowheads="1"/>
          </p:cNvPicPr>
          <p:nvPr/>
        </p:nvPicPr>
        <p: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296159" y="5014604"/>
            <a:ext cx="1507850" cy="1507850"/>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a:extLst>
              <a:ext uri="{FF2B5EF4-FFF2-40B4-BE49-F238E27FC236}">
                <a16:creationId xmlns:a16="http://schemas.microsoft.com/office/drawing/2014/main" id="{3C219A39-570B-4EF9-FE2A-C10567B2305F}"/>
              </a:ext>
            </a:extLst>
          </p:cNvPr>
          <p:cNvSpPr/>
          <p:nvPr/>
        </p:nvSpPr>
        <p:spPr>
          <a:xfrm>
            <a:off x="838200" y="3873147"/>
            <a:ext cx="10515599" cy="84473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53D95C8C-B83A-833B-F7ED-113BAC92FC57}"/>
              </a:ext>
            </a:extLst>
          </p:cNvPr>
          <p:cNvCxnSpPr>
            <a:cxnSpLocks/>
            <a:stCxn id="1026" idx="0"/>
          </p:cNvCxnSpPr>
          <p:nvPr/>
        </p:nvCxnSpPr>
        <p:spPr>
          <a:xfrm flipV="1">
            <a:off x="2015402" y="4493633"/>
            <a:ext cx="0" cy="52097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0821B3A1-15BF-EAC9-3593-7FD910099DBE}"/>
              </a:ext>
            </a:extLst>
          </p:cNvPr>
          <p:cNvCxnSpPr>
            <a:cxnSpLocks/>
            <a:stCxn id="1032" idx="0"/>
          </p:cNvCxnSpPr>
          <p:nvPr/>
        </p:nvCxnSpPr>
        <p:spPr>
          <a:xfrm flipH="1" flipV="1">
            <a:off x="5041631" y="4493633"/>
            <a:ext cx="3265"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15CBD2BC-DD0D-C033-6D75-AD6AB4F97006}"/>
              </a:ext>
            </a:extLst>
          </p:cNvPr>
          <p:cNvCxnSpPr>
            <a:cxnSpLocks/>
            <a:stCxn id="1034" idx="0"/>
          </p:cNvCxnSpPr>
          <p:nvPr/>
        </p:nvCxnSpPr>
        <p:spPr>
          <a:xfrm flipV="1">
            <a:off x="8050084" y="4493633"/>
            <a:ext cx="0"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1FF55052-6435-6AFE-5F0E-AC4C99D1EFE5}"/>
              </a:ext>
            </a:extLst>
          </p:cNvPr>
          <p:cNvSpPr txBox="1"/>
          <p:nvPr/>
        </p:nvSpPr>
        <p:spPr>
          <a:xfrm>
            <a:off x="6151475" y="1591641"/>
            <a:ext cx="645433" cy="369332"/>
          </a:xfrm>
          <a:prstGeom prst="rect">
            <a:avLst/>
          </a:prstGeom>
          <a:noFill/>
        </p:spPr>
        <p:txBody>
          <a:bodyPr wrap="none" rtlCol="0">
            <a:spAutoFit/>
          </a:bodyPr>
          <a:lstStyle/>
          <a:p>
            <a:r>
              <a:rPr lang="en-US" dirty="0"/>
              <a:t>Note</a:t>
            </a:r>
          </a:p>
        </p:txBody>
      </p:sp>
      <p:sp>
        <p:nvSpPr>
          <p:cNvPr id="15" name="TextBox 14">
            <a:extLst>
              <a:ext uri="{FF2B5EF4-FFF2-40B4-BE49-F238E27FC236}">
                <a16:creationId xmlns:a16="http://schemas.microsoft.com/office/drawing/2014/main" id="{518D2594-8C33-6788-2A27-42620F835B30}"/>
              </a:ext>
            </a:extLst>
          </p:cNvPr>
          <p:cNvSpPr txBox="1"/>
          <p:nvPr/>
        </p:nvSpPr>
        <p:spPr>
          <a:xfrm>
            <a:off x="4249747" y="6337787"/>
            <a:ext cx="1583767" cy="369332"/>
          </a:xfrm>
          <a:prstGeom prst="rect">
            <a:avLst/>
          </a:prstGeom>
          <a:noFill/>
        </p:spPr>
        <p:txBody>
          <a:bodyPr wrap="none" rtlCol="0">
            <a:spAutoFit/>
          </a:bodyPr>
          <a:lstStyle/>
          <a:p>
            <a:r>
              <a:rPr lang="en-US" dirty="0"/>
              <a:t>Diagnosis code</a:t>
            </a:r>
          </a:p>
        </p:txBody>
      </p:sp>
      <p:sp>
        <p:nvSpPr>
          <p:cNvPr id="16" name="TextBox 15">
            <a:extLst>
              <a:ext uri="{FF2B5EF4-FFF2-40B4-BE49-F238E27FC236}">
                <a16:creationId xmlns:a16="http://schemas.microsoft.com/office/drawing/2014/main" id="{B57B697A-E6CD-B85C-A839-A1BC0A7A209A}"/>
              </a:ext>
            </a:extLst>
          </p:cNvPr>
          <p:cNvSpPr txBox="1"/>
          <p:nvPr/>
        </p:nvSpPr>
        <p:spPr>
          <a:xfrm>
            <a:off x="7425169" y="6337787"/>
            <a:ext cx="1249829" cy="369332"/>
          </a:xfrm>
          <a:prstGeom prst="rect">
            <a:avLst/>
          </a:prstGeom>
          <a:noFill/>
        </p:spPr>
        <p:txBody>
          <a:bodyPr wrap="none" rtlCol="0">
            <a:spAutoFit/>
          </a:bodyPr>
          <a:lstStyle/>
          <a:p>
            <a:r>
              <a:rPr lang="en-US" dirty="0"/>
              <a:t>Medication</a:t>
            </a:r>
          </a:p>
        </p:txBody>
      </p:sp>
      <p:cxnSp>
        <p:nvCxnSpPr>
          <p:cNvPr id="17" name="Straight Arrow Connector 16">
            <a:extLst>
              <a:ext uri="{FF2B5EF4-FFF2-40B4-BE49-F238E27FC236}">
                <a16:creationId xmlns:a16="http://schemas.microsoft.com/office/drawing/2014/main" id="{25727A86-60C4-96F2-41C9-D115BB748A1F}"/>
              </a:ext>
            </a:extLst>
          </p:cNvPr>
          <p:cNvCxnSpPr>
            <a:cxnSpLocks/>
          </p:cNvCxnSpPr>
          <p:nvPr/>
        </p:nvCxnSpPr>
        <p:spPr>
          <a:xfrm>
            <a:off x="3447964" y="3576421"/>
            <a:ext cx="0" cy="52097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D71F831D-E271-3F8A-6AA3-2B78C3AE991A}"/>
              </a:ext>
            </a:extLst>
          </p:cNvPr>
          <p:cNvCxnSpPr>
            <a:cxnSpLocks/>
          </p:cNvCxnSpPr>
          <p:nvPr/>
        </p:nvCxnSpPr>
        <p:spPr>
          <a:xfrm flipH="1">
            <a:off x="6474193" y="3576421"/>
            <a:ext cx="3265"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9AE24B43-1A8A-4A54-DF82-DE0936BCC284}"/>
              </a:ext>
            </a:extLst>
          </p:cNvPr>
          <p:cNvCxnSpPr>
            <a:cxnSpLocks/>
          </p:cNvCxnSpPr>
          <p:nvPr/>
        </p:nvCxnSpPr>
        <p:spPr>
          <a:xfrm>
            <a:off x="9482646" y="3576421"/>
            <a:ext cx="0" cy="520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0" name="Picture 19">
            <a:extLst>
              <a:ext uri="{FF2B5EF4-FFF2-40B4-BE49-F238E27FC236}">
                <a16:creationId xmlns:a16="http://schemas.microsoft.com/office/drawing/2014/main" id="{BCB0D0CC-6629-D626-D1EF-2F9AB8436339}"/>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2217060" y="1960973"/>
            <a:ext cx="2461808" cy="1507850"/>
          </a:xfrm>
          <a:prstGeom prst="rect">
            <a:avLst/>
          </a:prstGeom>
        </p:spPr>
      </p:pic>
      <p:pic>
        <p:nvPicPr>
          <p:cNvPr id="22" name="Picture 21">
            <a:extLst>
              <a:ext uri="{FF2B5EF4-FFF2-40B4-BE49-F238E27FC236}">
                <a16:creationId xmlns:a16="http://schemas.microsoft.com/office/drawing/2014/main" id="{7640DF60-964C-F13E-57EE-5BB33850DAC6}"/>
              </a:ext>
            </a:extLst>
          </p:cNvPr>
          <p:cNvPicPr>
            <a:picLocks noChangeAspect="1"/>
          </p:cNvPicPr>
          <p:nvPr/>
        </p:nvPicPr>
        <p:blipFill rotWithShape="1">
          <a:blip r:embed="rId8"/>
          <a:srcRect l="11976" t="10927" r="11177" b="12059"/>
          <a:stretch/>
        </p:blipFill>
        <p:spPr>
          <a:xfrm>
            <a:off x="5892872" y="1960973"/>
            <a:ext cx="1162641" cy="1507850"/>
          </a:xfrm>
          <a:prstGeom prst="rect">
            <a:avLst/>
          </a:prstGeom>
          <a:ln>
            <a:solidFill>
              <a:schemeClr val="tx1"/>
            </a:solidFill>
          </a:ln>
        </p:spPr>
      </p:pic>
      <p:pic>
        <p:nvPicPr>
          <p:cNvPr id="23" name="Picture 4">
            <a:extLst>
              <a:ext uri="{FF2B5EF4-FFF2-40B4-BE49-F238E27FC236}">
                <a16:creationId xmlns:a16="http://schemas.microsoft.com/office/drawing/2014/main" id="{650E4F5E-8EB9-F58C-323A-A9E046F81604}"/>
              </a:ext>
            </a:extLst>
          </p:cNvPr>
          <p:cNvPicPr>
            <a:picLocks noChangeAspect="1" noChangeArrowheads="1"/>
          </p:cNvPicPr>
          <p:nvPr/>
        </p:nvPicPr>
        <p:blipFill>
          <a:blip r:embed="rId9" cstate="screen">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a:ext>
            </a:extLst>
          </a:blip>
          <a:srcRect/>
          <a:stretch>
            <a:fillRect/>
          </a:stretch>
        </p:blipFill>
        <p:spPr bwMode="auto">
          <a:xfrm>
            <a:off x="8173099" y="1960973"/>
            <a:ext cx="2619094" cy="15078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CC55CEC0-ED92-A750-BEA8-9E89ACD4D04F}"/>
              </a:ext>
            </a:extLst>
          </p:cNvPr>
          <p:cNvSpPr txBox="1"/>
          <p:nvPr/>
        </p:nvSpPr>
        <p:spPr>
          <a:xfrm>
            <a:off x="1554506" y="6337787"/>
            <a:ext cx="921791" cy="369332"/>
          </a:xfrm>
          <a:prstGeom prst="rect">
            <a:avLst/>
          </a:prstGeom>
          <a:noFill/>
        </p:spPr>
        <p:txBody>
          <a:bodyPr wrap="none" rtlCol="0">
            <a:spAutoFit/>
          </a:bodyPr>
          <a:lstStyle/>
          <a:p>
            <a:r>
              <a:rPr lang="en-US" dirty="0"/>
              <a:t>Lab test</a:t>
            </a:r>
          </a:p>
        </p:txBody>
      </p:sp>
      <p:sp>
        <p:nvSpPr>
          <p:cNvPr id="25" name="TextBox 24">
            <a:extLst>
              <a:ext uri="{FF2B5EF4-FFF2-40B4-BE49-F238E27FC236}">
                <a16:creationId xmlns:a16="http://schemas.microsoft.com/office/drawing/2014/main" id="{16047986-9DFA-3E62-AF98-4AAD1B5E3E21}"/>
              </a:ext>
            </a:extLst>
          </p:cNvPr>
          <p:cNvSpPr txBox="1"/>
          <p:nvPr/>
        </p:nvSpPr>
        <p:spPr>
          <a:xfrm>
            <a:off x="2982932" y="1587180"/>
            <a:ext cx="930063" cy="369332"/>
          </a:xfrm>
          <a:prstGeom prst="rect">
            <a:avLst/>
          </a:prstGeom>
          <a:noFill/>
        </p:spPr>
        <p:txBody>
          <a:bodyPr wrap="none" rtlCol="0">
            <a:spAutoFit/>
          </a:bodyPr>
          <a:lstStyle/>
          <a:p>
            <a:r>
              <a:rPr lang="en-US" dirty="0"/>
              <a:t>Imaging</a:t>
            </a:r>
          </a:p>
        </p:txBody>
      </p:sp>
      <p:sp>
        <p:nvSpPr>
          <p:cNvPr id="26" name="TextBox 25">
            <a:extLst>
              <a:ext uri="{FF2B5EF4-FFF2-40B4-BE49-F238E27FC236}">
                <a16:creationId xmlns:a16="http://schemas.microsoft.com/office/drawing/2014/main" id="{3C2E2665-8675-EEEC-FE25-D819ECB24652}"/>
              </a:ext>
            </a:extLst>
          </p:cNvPr>
          <p:cNvSpPr txBox="1"/>
          <p:nvPr/>
        </p:nvSpPr>
        <p:spPr>
          <a:xfrm>
            <a:off x="8566626" y="1587180"/>
            <a:ext cx="1832040" cy="369332"/>
          </a:xfrm>
          <a:prstGeom prst="rect">
            <a:avLst/>
          </a:prstGeom>
          <a:noFill/>
        </p:spPr>
        <p:txBody>
          <a:bodyPr wrap="none" rtlCol="0">
            <a:spAutoFit/>
          </a:bodyPr>
          <a:lstStyle/>
          <a:p>
            <a:r>
              <a:rPr lang="en-US" dirty="0"/>
              <a:t>Electrophysiology</a:t>
            </a:r>
          </a:p>
        </p:txBody>
      </p:sp>
      <p:sp>
        <p:nvSpPr>
          <p:cNvPr id="3" name="Rectangle 2">
            <a:extLst>
              <a:ext uri="{FF2B5EF4-FFF2-40B4-BE49-F238E27FC236}">
                <a16:creationId xmlns:a16="http://schemas.microsoft.com/office/drawing/2014/main" id="{9495CBF6-A574-4D63-62A6-F3F704D6CD8B}"/>
              </a:ext>
            </a:extLst>
          </p:cNvPr>
          <p:cNvSpPr/>
          <p:nvPr/>
        </p:nvSpPr>
        <p:spPr>
          <a:xfrm>
            <a:off x="7667146" y="5479645"/>
            <a:ext cx="765873" cy="67347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t>
            </a:r>
          </a:p>
        </p:txBody>
      </p:sp>
    </p:spTree>
    <p:extLst>
      <p:ext uri="{BB962C8B-B14F-4D97-AF65-F5344CB8AC3E}">
        <p14:creationId xmlns:p14="http://schemas.microsoft.com/office/powerpoint/2010/main" val="9038079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9DD2C-E08B-248D-AF7C-19427090A1E9}"/>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375AFF49-CC65-85AA-A9EA-3F7D7A9048D2}"/>
              </a:ext>
            </a:extLst>
          </p:cNvPr>
          <p:cNvSpPr>
            <a:spLocks noGrp="1"/>
          </p:cNvSpPr>
          <p:nvPr>
            <p:ph idx="1"/>
          </p:nvPr>
        </p:nvSpPr>
        <p:spPr/>
        <p:txBody>
          <a:bodyPr>
            <a:normAutofit fontScale="92500" lnSpcReduction="10000"/>
          </a:bodyPr>
          <a:lstStyle/>
          <a:p>
            <a:r>
              <a:rPr lang="en-US" dirty="0"/>
              <a:t>EHR and other medical data are comprised of multiple data types, or </a:t>
            </a:r>
            <a:r>
              <a:rPr lang="en-US" i="1" dirty="0"/>
              <a:t>modalities</a:t>
            </a:r>
          </a:p>
          <a:p>
            <a:endParaRPr lang="en-US" dirty="0"/>
          </a:p>
          <a:p>
            <a:r>
              <a:rPr lang="en-US" dirty="0"/>
              <a:t>Distinct modalities </a:t>
            </a:r>
            <a:r>
              <a:rPr lang="en-US" i="1" dirty="0"/>
              <a:t>complement one another </a:t>
            </a:r>
            <a:r>
              <a:rPr lang="en-US" dirty="0"/>
              <a:t>to enhance prediction</a:t>
            </a:r>
          </a:p>
          <a:p>
            <a:endParaRPr lang="en-US" dirty="0"/>
          </a:p>
          <a:p>
            <a:r>
              <a:rPr lang="en-US" dirty="0"/>
              <a:t>We have moved from task-specific, </a:t>
            </a:r>
            <a:r>
              <a:rPr lang="en-US" dirty="0" err="1"/>
              <a:t>uni</a:t>
            </a:r>
            <a:r>
              <a:rPr lang="en-US" dirty="0"/>
              <a:t>-modal models to task-agnostic, multi-modal models that </a:t>
            </a:r>
            <a:r>
              <a:rPr lang="en-US" i="1" dirty="0"/>
              <a:t>understand health data </a:t>
            </a:r>
            <a:r>
              <a:rPr lang="en-US" dirty="0"/>
              <a:t>and support a wide range of analyses</a:t>
            </a:r>
          </a:p>
          <a:p>
            <a:endParaRPr lang="en-US" dirty="0"/>
          </a:p>
          <a:p>
            <a:r>
              <a:rPr lang="en-US" dirty="0"/>
              <a:t>These approaches are highly data intensive up front, but can then be applied in small samples to improve prediction or interpretation</a:t>
            </a:r>
          </a:p>
        </p:txBody>
      </p:sp>
    </p:spTree>
    <p:extLst>
      <p:ext uri="{BB962C8B-B14F-4D97-AF65-F5344CB8AC3E}">
        <p14:creationId xmlns:p14="http://schemas.microsoft.com/office/powerpoint/2010/main" val="42027455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FDE4-A073-1F49-AA60-EA687C961CF8}"/>
              </a:ext>
            </a:extLst>
          </p:cNvPr>
          <p:cNvSpPr>
            <a:spLocks noGrp="1"/>
          </p:cNvSpPr>
          <p:nvPr>
            <p:ph type="title"/>
          </p:nvPr>
        </p:nvSpPr>
        <p:spPr/>
        <p:txBody>
          <a:bodyPr/>
          <a:lstStyle/>
          <a:p>
            <a:r>
              <a:rPr lang="en-US" dirty="0"/>
              <a:t>Thank you!</a:t>
            </a:r>
          </a:p>
        </p:txBody>
      </p:sp>
      <p:sp>
        <p:nvSpPr>
          <p:cNvPr id="3" name="Text Placeholder 2">
            <a:extLst>
              <a:ext uri="{FF2B5EF4-FFF2-40B4-BE49-F238E27FC236}">
                <a16:creationId xmlns:a16="http://schemas.microsoft.com/office/drawing/2014/main" id="{524232BC-C336-554C-8368-CFF8BFEACE30}"/>
              </a:ext>
            </a:extLst>
          </p:cNvPr>
          <p:cNvSpPr>
            <a:spLocks noGrp="1"/>
          </p:cNvSpPr>
          <p:nvPr>
            <p:ph type="body" idx="1"/>
          </p:nvPr>
        </p:nvSpPr>
        <p:spPr/>
        <p:txBody>
          <a:bodyPr/>
          <a:lstStyle/>
          <a:p>
            <a:endParaRPr lang="en-US" dirty="0"/>
          </a:p>
          <a:p>
            <a:endParaRPr lang="en-US" dirty="0"/>
          </a:p>
          <a:p>
            <a:r>
              <a:rPr lang="en-US" dirty="0"/>
              <a:t>Contact: </a:t>
            </a:r>
            <a:r>
              <a:rPr lang="en-US" dirty="0">
                <a:hlinkClick r:id="rId3"/>
              </a:rPr>
              <a:t>m.engelhard@duke.edu</a:t>
            </a:r>
            <a:r>
              <a:rPr lang="en-US" dirty="0"/>
              <a:t> </a:t>
            </a:r>
          </a:p>
        </p:txBody>
      </p:sp>
    </p:spTree>
    <p:extLst>
      <p:ext uri="{BB962C8B-B14F-4D97-AF65-F5344CB8AC3E}">
        <p14:creationId xmlns:p14="http://schemas.microsoft.com/office/powerpoint/2010/main" val="2001815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3635</TotalTime>
  <Words>7331</Words>
  <Application>Microsoft Macintosh PowerPoint</Application>
  <PresentationFormat>Widescreen</PresentationFormat>
  <Paragraphs>937</Paragraphs>
  <Slides>52</Slides>
  <Notes>47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52</vt:i4>
      </vt:variant>
    </vt:vector>
  </HeadingPairs>
  <TitlesOfParts>
    <vt:vector size="62" baseType="lpstr">
      <vt:lpstr>Arial</vt:lpstr>
      <vt:lpstr>Calibri</vt:lpstr>
      <vt:lpstr>Calibri Light</vt:lpstr>
      <vt:lpstr>Cambria Math</vt:lpstr>
      <vt:lpstr>Guardian TextSans Web</vt:lpstr>
      <vt:lpstr>inherit</vt:lpstr>
      <vt:lpstr>Open Sans</vt:lpstr>
      <vt:lpstr>Times New Roman</vt:lpstr>
      <vt:lpstr>verdana</vt:lpstr>
      <vt:lpstr>Office Theme</vt:lpstr>
      <vt:lpstr>Medical Data as the Backbone of AI</vt:lpstr>
      <vt:lpstr>Lecture Outline</vt:lpstr>
      <vt:lpstr>The Electronic Health Record</vt:lpstr>
      <vt:lpstr>Structured Data</vt:lpstr>
      <vt:lpstr>An example of structured EHR data (PCORnet CDM)</vt:lpstr>
      <vt:lpstr>Unstructured Data (i.e., everything else)</vt:lpstr>
      <vt:lpstr>Is structured data enough?</vt:lpstr>
      <vt:lpstr>A patient presents with shortness of breath…</vt:lpstr>
      <vt:lpstr>What will we find in the structured data?</vt:lpstr>
      <vt:lpstr>The H&amp;P</vt:lpstr>
      <vt:lpstr>The H&amp;P</vt:lpstr>
      <vt:lpstr>The H&amp;P</vt:lpstr>
      <vt:lpstr>Notes are a rich source of info</vt:lpstr>
      <vt:lpstr>A patient presents with shortness of breath…</vt:lpstr>
      <vt:lpstr>Imaging</vt:lpstr>
      <vt:lpstr>PowerPoint Presentation</vt:lpstr>
      <vt:lpstr>A patient presents with shortness of breath…</vt:lpstr>
      <vt:lpstr>Electrophysiology</vt:lpstr>
      <vt:lpstr>Why use unstructured data?</vt:lpstr>
      <vt:lpstr>Why might we need many modalities?</vt:lpstr>
      <vt:lpstr>A patient timeline of structured data</vt:lpstr>
      <vt:lpstr>A patient timeline of multi-modal data</vt:lpstr>
      <vt:lpstr>Task-specific, single-modality AI</vt:lpstr>
      <vt:lpstr>A typical prediction model</vt:lpstr>
      <vt:lpstr>Learning representations of complex medical data</vt:lpstr>
      <vt:lpstr>Learning representations of images</vt:lpstr>
      <vt:lpstr>Learning representations of clinical notes</vt:lpstr>
      <vt:lpstr>Learning representations of other modalities</vt:lpstr>
      <vt:lpstr>Learning representations of complex medical data</vt:lpstr>
      <vt:lpstr>Transfer learning: Train on one task, fine-tune on another</vt:lpstr>
      <vt:lpstr>Task-agnostic, single-modality AI</vt:lpstr>
      <vt:lpstr>Self-supervision: predict the missing patch</vt:lpstr>
      <vt:lpstr>Self-supervision: predict the missing patch</vt:lpstr>
      <vt:lpstr>Self-supervision: predict the next word or event</vt:lpstr>
      <vt:lpstr>Task-specific, multi-modality AI</vt:lpstr>
      <vt:lpstr>Separate Prediction Models</vt:lpstr>
      <vt:lpstr>Late fusion</vt:lpstr>
      <vt:lpstr>Late fusion</vt:lpstr>
      <vt:lpstr>Joint fusion by feature concatenation</vt:lpstr>
      <vt:lpstr>Joint fusion by feature concatenation</vt:lpstr>
      <vt:lpstr>Joint fusion via contrastive learning</vt:lpstr>
      <vt:lpstr>Joint fusion in shared representation space</vt:lpstr>
      <vt:lpstr>Joint fusion in shared representation space</vt:lpstr>
      <vt:lpstr>Joint fusion in shared representation space</vt:lpstr>
      <vt:lpstr>Joint fusion in shared representation space</vt:lpstr>
      <vt:lpstr>Task-agnostic, multi-modality AI</vt:lpstr>
      <vt:lpstr>Frontier models have moved to early fusion</vt:lpstr>
      <vt:lpstr>Self-supervision: predict the missing multi-modal token</vt:lpstr>
      <vt:lpstr>Self-supervision: predict the missing multi-modal token</vt:lpstr>
      <vt:lpstr>Self-supervision: predict the missing multi-modal token</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with Multi-Modal Health Data</dc:title>
  <dc:creator>Matthew Engelhard, M.D., Ph.D.</dc:creator>
  <cp:lastModifiedBy>Matthew Engelhard, M.D., Ph.D.</cp:lastModifiedBy>
  <cp:revision>47</cp:revision>
  <dcterms:created xsi:type="dcterms:W3CDTF">2021-11-09T20:47:22Z</dcterms:created>
  <dcterms:modified xsi:type="dcterms:W3CDTF">2026-06-13T14:33:31Z</dcterms:modified>
</cp:coreProperties>
</file>