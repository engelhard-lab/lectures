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4383" r:id="rId2"/>
    <p:sldId id="4382" r:id="rId3"/>
    <p:sldId id="263" r:id="rId4"/>
    <p:sldId id="904" r:id="rId5"/>
    <p:sldId id="266" r:id="rId6"/>
    <p:sldId id="267" r:id="rId7"/>
    <p:sldId id="4380" r:id="rId8"/>
    <p:sldId id="268" r:id="rId9"/>
    <p:sldId id="4367" r:id="rId10"/>
    <p:sldId id="902" r:id="rId11"/>
    <p:sldId id="4373" r:id="rId12"/>
    <p:sldId id="4372" r:id="rId13"/>
    <p:sldId id="262" r:id="rId14"/>
    <p:sldId id="4368" r:id="rId15"/>
    <p:sldId id="901" r:id="rId16"/>
    <p:sldId id="4369" r:id="rId17"/>
    <p:sldId id="898" r:id="rId18"/>
    <p:sldId id="602" r:id="rId19"/>
    <p:sldId id="90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88"/>
    <p:restoredTop sz="69252"/>
  </p:normalViewPr>
  <p:slideViewPr>
    <p:cSldViewPr snapToGrid="0">
      <p:cViewPr varScale="1">
        <p:scale>
          <a:sx n="86" d="100"/>
          <a:sy n="86" d="100"/>
        </p:scale>
        <p:origin x="174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CC7283-15F6-FE49-AF23-03EB079BA0DC}" type="datetimeFigureOut">
              <a:rPr lang="en-US" smtClean="0"/>
              <a:t>7/11/25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E0516-BAFC-0740-BE21-9E8CF9264E1E}" type="slidenum">
              <a:rPr lang="en-US" smtClean="0"/>
              <a:t>‹#›</a:t>
            </a:fld>
            <a:endParaRPr lang="en-US"/>
          </a:p>
        </p:txBody>
      </p:sp>
    </p:spTree>
    <p:extLst>
      <p:ext uri="{BB962C8B-B14F-4D97-AF65-F5344CB8AC3E}">
        <p14:creationId xmlns:p14="http://schemas.microsoft.com/office/powerpoint/2010/main" val="304762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F009F-739E-BCEB-1184-1C56E3C29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207356-0F98-B8A7-5BD0-556D79F5A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FC6C45-114B-FA4D-6BF8-3D9AD25769B9}"/>
              </a:ext>
            </a:extLst>
          </p:cNvPr>
          <p:cNvSpPr>
            <a:spLocks noGrp="1"/>
          </p:cNvSpPr>
          <p:nvPr>
            <p:ph type="body" idx="1"/>
          </p:nvPr>
        </p:nvSpPr>
        <p:spPr/>
        <p:txBody>
          <a:bodyPr/>
          <a:lstStyle/>
          <a:p>
            <a:r>
              <a:rPr lang="en-US" dirty="0"/>
              <a:t>Stimulate discussion here</a:t>
            </a:r>
          </a:p>
        </p:txBody>
      </p:sp>
      <p:sp>
        <p:nvSpPr>
          <p:cNvPr id="4" name="Slide Number Placeholder 3">
            <a:extLst>
              <a:ext uri="{FF2B5EF4-FFF2-40B4-BE49-F238E27FC236}">
                <a16:creationId xmlns:a16="http://schemas.microsoft.com/office/drawing/2014/main" id="{17410282-2DE3-1799-6E0B-71EBF5E358FC}"/>
              </a:ext>
            </a:extLst>
          </p:cNvPr>
          <p:cNvSpPr>
            <a:spLocks noGrp="1"/>
          </p:cNvSpPr>
          <p:nvPr>
            <p:ph type="sldNum" sz="quarter" idx="5"/>
          </p:nvPr>
        </p:nvSpPr>
        <p:spPr/>
        <p:txBody>
          <a:bodyPr/>
          <a:lstStyle/>
          <a:p>
            <a:fld id="{DB333E9F-084A-8543-BC6F-0AE70009C29B}" type="slidenum">
              <a:rPr lang="en-US" smtClean="0"/>
              <a:t>2</a:t>
            </a:fld>
            <a:endParaRPr lang="en-US"/>
          </a:p>
        </p:txBody>
      </p:sp>
    </p:spTree>
    <p:extLst>
      <p:ext uri="{BB962C8B-B14F-4D97-AF65-F5344CB8AC3E}">
        <p14:creationId xmlns:p14="http://schemas.microsoft.com/office/powerpoint/2010/main" val="602350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(young patient with some weird findings)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setup here would be for possible membranous glomerulonephritis.</a:t>
            </a:r>
          </a:p>
          <a:p>
            <a:endParaRPr lang="en-US" dirty="0"/>
          </a:p>
        </p:txBody>
      </p:sp>
      <p:sp>
        <p:nvSpPr>
          <p:cNvPr id="4" name="Slide Number Placeholder 3"/>
          <p:cNvSpPr>
            <a:spLocks noGrp="1"/>
          </p:cNvSpPr>
          <p:nvPr>
            <p:ph type="sldNum" sz="quarter" idx="5"/>
          </p:nvPr>
        </p:nvSpPr>
        <p:spPr/>
        <p:txBody>
          <a:bodyPr/>
          <a:lstStyle/>
          <a:p>
            <a:fld id="{209E0516-BAFC-0740-BE21-9E8CF9264E1E}" type="slidenum">
              <a:rPr lang="en-US" smtClean="0"/>
              <a:t>3</a:t>
            </a:fld>
            <a:endParaRPr lang="en-US"/>
          </a:p>
        </p:txBody>
      </p:sp>
    </p:spTree>
    <p:extLst>
      <p:ext uri="{BB962C8B-B14F-4D97-AF65-F5344CB8AC3E}">
        <p14:creationId xmlns:p14="http://schemas.microsoft.com/office/powerpoint/2010/main" val="2903385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what might it know that you don’t?</a:t>
            </a:r>
          </a:p>
          <a:p>
            <a:r>
              <a:rPr lang="en-US" dirty="0"/>
              <a:t>Common to have too much confidence in the model!</a:t>
            </a:r>
          </a:p>
        </p:txBody>
      </p:sp>
      <p:sp>
        <p:nvSpPr>
          <p:cNvPr id="4" name="Slide Number Placeholder 3"/>
          <p:cNvSpPr>
            <a:spLocks noGrp="1"/>
          </p:cNvSpPr>
          <p:nvPr>
            <p:ph type="sldNum" sz="quarter" idx="5"/>
          </p:nvPr>
        </p:nvSpPr>
        <p:spPr/>
        <p:txBody>
          <a:bodyPr/>
          <a:lstStyle/>
          <a:p>
            <a:fld id="{209E0516-BAFC-0740-BE21-9E8CF9264E1E}" type="slidenum">
              <a:rPr lang="en-US" smtClean="0"/>
              <a:t>4</a:t>
            </a:fld>
            <a:endParaRPr lang="en-US"/>
          </a:p>
        </p:txBody>
      </p:sp>
    </p:spTree>
    <p:extLst>
      <p:ext uri="{BB962C8B-B14F-4D97-AF65-F5344CB8AC3E}">
        <p14:creationId xmlns:p14="http://schemas.microsoft.com/office/powerpoint/2010/main" val="317966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this?</a:t>
            </a:r>
          </a:p>
          <a:p>
            <a:r>
              <a:rPr lang="en-US" b="1" i="0" u="none" strike="noStrike" dirty="0">
                <a:solidFill>
                  <a:srgbClr val="222222"/>
                </a:solidFill>
                <a:effectLst/>
                <a:latin typeface="-apple-system"/>
              </a:rPr>
              <a:t>“a systematic effort to ensure that front-line clinicians know how, when, how not, and when not to incorporate model output into clinical decisions”</a:t>
            </a:r>
            <a:endParaRPr lang="en-US" dirty="0"/>
          </a:p>
          <a:p>
            <a:endParaRPr lang="en-US" dirty="0"/>
          </a:p>
          <a:p>
            <a:r>
              <a:rPr lang="en-US" dirty="0"/>
              <a:t>Things to highlight here:</a:t>
            </a:r>
          </a:p>
          <a:p>
            <a:endParaRPr lang="en-US" dirty="0"/>
          </a:p>
          <a:p>
            <a:r>
              <a:rPr lang="en-US" dirty="0"/>
              <a:t>SETTING:</a:t>
            </a:r>
          </a:p>
          <a:p>
            <a:r>
              <a:rPr lang="en-US" dirty="0"/>
              <a:t>- target and training populations: both DUHS; don’t use elsewhere</a:t>
            </a:r>
          </a:p>
          <a:p>
            <a:r>
              <a:rPr lang="en-US" dirty="0"/>
              <a:t>- *presenting to ED*; NOT appropriate for ICU patients</a:t>
            </a:r>
          </a:p>
          <a:p>
            <a:r>
              <a:rPr lang="en-US" dirty="0"/>
              <a:t>- not appropriate beyond first episode of sepsis</a:t>
            </a:r>
          </a:p>
          <a:p>
            <a:endParaRPr lang="en-US" dirty="0"/>
          </a:p>
          <a:p>
            <a:r>
              <a:rPr lang="en-US" dirty="0"/>
              <a:t>TIMING:</a:t>
            </a:r>
          </a:p>
          <a:p>
            <a:r>
              <a:rPr lang="en-US" dirty="0"/>
              <a:t>- hourly EHR data pulls</a:t>
            </a:r>
          </a:p>
          <a:p>
            <a:r>
              <a:rPr lang="en-US" dirty="0"/>
              <a:t>- time of prediction</a:t>
            </a:r>
          </a:p>
          <a:p>
            <a:r>
              <a:rPr lang="en-US" dirty="0"/>
              <a:t>- input data source and type</a:t>
            </a:r>
          </a:p>
          <a:p>
            <a:endParaRPr lang="en-US" dirty="0"/>
          </a:p>
          <a:p>
            <a:r>
              <a:rPr lang="en-US" dirty="0"/>
              <a:t>APPLICATION:</a:t>
            </a:r>
          </a:p>
          <a:p>
            <a:r>
              <a:rPr lang="en-US" dirty="0"/>
              <a:t>- not diagnostic</a:t>
            </a:r>
          </a:p>
          <a:p>
            <a:r>
              <a:rPr lang="en-US" dirty="0"/>
              <a:t>- identify patients for further assessment</a:t>
            </a:r>
          </a:p>
          <a:p>
            <a:endParaRPr lang="en-US" dirty="0"/>
          </a:p>
          <a:p>
            <a:r>
              <a:rPr lang="en-US" dirty="0"/>
              <a:t>Performance summary</a:t>
            </a:r>
          </a:p>
        </p:txBody>
      </p:sp>
      <p:sp>
        <p:nvSpPr>
          <p:cNvPr id="4" name="Slide Number Placeholder 3"/>
          <p:cNvSpPr>
            <a:spLocks noGrp="1"/>
          </p:cNvSpPr>
          <p:nvPr>
            <p:ph type="sldNum" sz="quarter" idx="5"/>
          </p:nvPr>
        </p:nvSpPr>
        <p:spPr/>
        <p:txBody>
          <a:bodyPr/>
          <a:lstStyle/>
          <a:p>
            <a:fld id="{209E0516-BAFC-0740-BE21-9E8CF9264E1E}" type="slidenum">
              <a:rPr lang="en-US" smtClean="0"/>
              <a:t>5</a:t>
            </a:fld>
            <a:endParaRPr lang="en-US"/>
          </a:p>
        </p:txBody>
      </p:sp>
    </p:spTree>
    <p:extLst>
      <p:ext uri="{BB962C8B-B14F-4D97-AF65-F5344CB8AC3E}">
        <p14:creationId xmlns:p14="http://schemas.microsoft.com/office/powerpoint/2010/main" val="1086774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this was covered in first-year lectures</a:t>
            </a:r>
          </a:p>
          <a:p>
            <a:endParaRPr lang="en-US" dirty="0"/>
          </a:p>
          <a:p>
            <a:r>
              <a:rPr lang="en-US" dirty="0"/>
              <a:t>Any differences between what you’re seeing, and what it’s seeing?</a:t>
            </a:r>
          </a:p>
          <a:p>
            <a:r>
              <a:rPr lang="en-US" dirty="0"/>
              <a:t>Is the model aware of findings that are influencing you?</a:t>
            </a:r>
          </a:p>
        </p:txBody>
      </p:sp>
      <p:sp>
        <p:nvSpPr>
          <p:cNvPr id="4" name="Slide Number Placeholder 3"/>
          <p:cNvSpPr>
            <a:spLocks noGrp="1"/>
          </p:cNvSpPr>
          <p:nvPr>
            <p:ph type="sldNum" sz="quarter" idx="5"/>
          </p:nvPr>
        </p:nvSpPr>
        <p:spPr/>
        <p:txBody>
          <a:bodyPr/>
          <a:lstStyle/>
          <a:p>
            <a:fld id="{209E0516-BAFC-0740-BE21-9E8CF9264E1E}" type="slidenum">
              <a:rPr lang="en-US" smtClean="0"/>
              <a:t>6</a:t>
            </a:fld>
            <a:endParaRPr lang="en-US"/>
          </a:p>
        </p:txBody>
      </p:sp>
    </p:spTree>
    <p:extLst>
      <p:ext uri="{BB962C8B-B14F-4D97-AF65-F5344CB8AC3E}">
        <p14:creationId xmlns:p14="http://schemas.microsoft.com/office/powerpoint/2010/main" val="4015490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D440F-A45C-F69B-3D5C-36AB54B433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2640F6-0851-2824-7E41-B0CF3D5B0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045B5A-6E61-C3C2-8B9C-8898F35CD220}"/>
              </a:ext>
            </a:extLst>
          </p:cNvPr>
          <p:cNvSpPr>
            <a:spLocks noGrp="1"/>
          </p:cNvSpPr>
          <p:nvPr>
            <p:ph type="body" idx="1"/>
          </p:nvPr>
        </p:nvSpPr>
        <p:spPr/>
        <p:txBody>
          <a:bodyPr/>
          <a:lstStyle/>
          <a:p>
            <a:r>
              <a:rPr lang="en-US" dirty="0"/>
              <a:t>Stimulate discussion here</a:t>
            </a:r>
          </a:p>
        </p:txBody>
      </p:sp>
      <p:sp>
        <p:nvSpPr>
          <p:cNvPr id="4" name="Slide Number Placeholder 3">
            <a:extLst>
              <a:ext uri="{FF2B5EF4-FFF2-40B4-BE49-F238E27FC236}">
                <a16:creationId xmlns:a16="http://schemas.microsoft.com/office/drawing/2014/main" id="{D9DD815D-BF0E-A3F2-A9CA-12AFAB6F2D15}"/>
              </a:ext>
            </a:extLst>
          </p:cNvPr>
          <p:cNvSpPr>
            <a:spLocks noGrp="1"/>
          </p:cNvSpPr>
          <p:nvPr>
            <p:ph type="sldNum" sz="quarter" idx="5"/>
          </p:nvPr>
        </p:nvSpPr>
        <p:spPr/>
        <p:txBody>
          <a:bodyPr/>
          <a:lstStyle/>
          <a:p>
            <a:fld id="{DB333E9F-084A-8543-BC6F-0AE70009C29B}" type="slidenum">
              <a:rPr lang="en-US" smtClean="0"/>
              <a:t>7</a:t>
            </a:fld>
            <a:endParaRPr lang="en-US"/>
          </a:p>
        </p:txBody>
      </p:sp>
    </p:spTree>
    <p:extLst>
      <p:ext uri="{BB962C8B-B14F-4D97-AF65-F5344CB8AC3E}">
        <p14:creationId xmlns:p14="http://schemas.microsoft.com/office/powerpoint/2010/main" val="1711486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data used to train</a:t>
            </a:r>
          </a:p>
          <a:p>
            <a:r>
              <a:rPr lang="en-US" dirty="0"/>
              <a:t>- outcome rates</a:t>
            </a:r>
          </a:p>
          <a:p>
            <a:r>
              <a:rPr lang="en-US" dirty="0"/>
              <a:t>- representation</a:t>
            </a:r>
          </a:p>
        </p:txBody>
      </p:sp>
      <p:sp>
        <p:nvSpPr>
          <p:cNvPr id="4" name="Slide Number Placeholder 3"/>
          <p:cNvSpPr>
            <a:spLocks noGrp="1"/>
          </p:cNvSpPr>
          <p:nvPr>
            <p:ph type="sldNum" sz="quarter" idx="5"/>
          </p:nvPr>
        </p:nvSpPr>
        <p:spPr/>
        <p:txBody>
          <a:bodyPr/>
          <a:lstStyle/>
          <a:p>
            <a:fld id="{209E0516-BAFC-0740-BE21-9E8CF9264E1E}" type="slidenum">
              <a:rPr lang="en-US" smtClean="0"/>
              <a:t>8</a:t>
            </a:fld>
            <a:endParaRPr lang="en-US"/>
          </a:p>
        </p:txBody>
      </p:sp>
    </p:spTree>
    <p:extLst>
      <p:ext uri="{BB962C8B-B14F-4D97-AF65-F5344CB8AC3E}">
        <p14:creationId xmlns:p14="http://schemas.microsoft.com/office/powerpoint/2010/main" val="15988822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Unpack biased outcomes</a:t>
            </a:r>
          </a:p>
          <a:p>
            <a:r>
              <a:rPr lang="en-US" dirty="0"/>
              <a:t>Note that sometimes the outcomes *are not recorded*</a:t>
            </a:r>
          </a:p>
          <a:p>
            <a:r>
              <a:rPr lang="en-US" dirty="0"/>
              <a:t>Very difficult </a:t>
            </a:r>
            <a:r>
              <a:rPr lang="en-US"/>
              <a:t>to correct this</a:t>
            </a:r>
          </a:p>
        </p:txBody>
      </p:sp>
      <p:sp>
        <p:nvSpPr>
          <p:cNvPr id="4" name="Slide Number Placeholder 3"/>
          <p:cNvSpPr>
            <a:spLocks noGrp="1"/>
          </p:cNvSpPr>
          <p:nvPr>
            <p:ph type="sldNum" sz="quarter" idx="5"/>
          </p:nvPr>
        </p:nvSpPr>
        <p:spPr/>
        <p:txBody>
          <a:bodyPr/>
          <a:lstStyle/>
          <a:p>
            <a:fld id="{209E0516-BAFC-0740-BE21-9E8CF9264E1E}" type="slidenum">
              <a:rPr lang="en-US" smtClean="0"/>
              <a:t>9</a:t>
            </a:fld>
            <a:endParaRPr lang="en-US"/>
          </a:p>
        </p:txBody>
      </p:sp>
    </p:spTree>
    <p:extLst>
      <p:ext uri="{BB962C8B-B14F-4D97-AF65-F5344CB8AC3E}">
        <p14:creationId xmlns:p14="http://schemas.microsoft.com/office/powerpoint/2010/main" val="880694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want to correct this problem and make the model fair.</a:t>
            </a:r>
          </a:p>
          <a:p>
            <a:r>
              <a:rPr lang="en-US" dirty="0"/>
              <a:t>But what does that mean?</a:t>
            </a:r>
          </a:p>
          <a:p>
            <a:endParaRPr lang="en-US" dirty="0"/>
          </a:p>
          <a:p>
            <a:r>
              <a:rPr lang="en-US" dirty="0"/>
              <a:t>Intuitive idea – don’t let the model use sensitive attribute when making predictions</a:t>
            </a:r>
          </a:p>
          <a:p>
            <a:endParaRPr lang="en-US" dirty="0"/>
          </a:p>
          <a:p>
            <a:r>
              <a:rPr lang="en-US" dirty="0"/>
              <a:t>Divide up groups: some argue it’s good to be aware, others that it’s bad</a:t>
            </a:r>
          </a:p>
        </p:txBody>
      </p:sp>
      <p:sp>
        <p:nvSpPr>
          <p:cNvPr id="4" name="Slide Number Placeholder 3"/>
          <p:cNvSpPr>
            <a:spLocks noGrp="1"/>
          </p:cNvSpPr>
          <p:nvPr>
            <p:ph type="sldNum" sz="quarter" idx="5"/>
          </p:nvPr>
        </p:nvSpPr>
        <p:spPr/>
        <p:txBody>
          <a:bodyPr/>
          <a:lstStyle/>
          <a:p>
            <a:fld id="{209E0516-BAFC-0740-BE21-9E8CF9264E1E}" type="slidenum">
              <a:rPr lang="en-US" smtClean="0"/>
              <a:t>10</a:t>
            </a:fld>
            <a:endParaRPr lang="en-US"/>
          </a:p>
        </p:txBody>
      </p:sp>
    </p:spTree>
    <p:extLst>
      <p:ext uri="{BB962C8B-B14F-4D97-AF65-F5344CB8AC3E}">
        <p14:creationId xmlns:p14="http://schemas.microsoft.com/office/powerpoint/2010/main" val="2018731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Kidney function estimation – clear example where inclusion did harm</a:t>
            </a:r>
          </a:p>
          <a:p>
            <a:r>
              <a:rPr lang="en-US" dirty="0"/>
              <a:t>Critical to be aware of the potential for harm</a:t>
            </a:r>
          </a:p>
          <a:p>
            <a:endParaRPr lang="en-US" dirty="0"/>
          </a:p>
          <a:p>
            <a:r>
              <a:rPr lang="en-US" dirty="0"/>
              <a:t>But there’s been a trend toward excluding</a:t>
            </a:r>
          </a:p>
          <a:p>
            <a:r>
              <a:rPr lang="en-US" dirty="0"/>
              <a:t>Almost becoming a precedent within the clinical literature</a:t>
            </a:r>
          </a:p>
          <a:p>
            <a:endParaRPr lang="en-US" dirty="0"/>
          </a:p>
          <a:p>
            <a:r>
              <a:rPr lang="en-US" dirty="0"/>
              <a:t>There’s a danger in this as well</a:t>
            </a:r>
          </a:p>
          <a:p>
            <a:r>
              <a:rPr lang="en-US" dirty="0"/>
              <a:t>Beware an easy solution to a complex problem</a:t>
            </a:r>
          </a:p>
        </p:txBody>
      </p:sp>
      <p:sp>
        <p:nvSpPr>
          <p:cNvPr id="4" name="Slide Number Placeholder 3"/>
          <p:cNvSpPr>
            <a:spLocks noGrp="1"/>
          </p:cNvSpPr>
          <p:nvPr>
            <p:ph type="sldNum" sz="quarter" idx="5"/>
          </p:nvPr>
        </p:nvSpPr>
        <p:spPr/>
        <p:txBody>
          <a:bodyPr/>
          <a:lstStyle/>
          <a:p>
            <a:fld id="{209E0516-BAFC-0740-BE21-9E8CF9264E1E}" type="slidenum">
              <a:rPr lang="en-US" smtClean="0"/>
              <a:t>11</a:t>
            </a:fld>
            <a:endParaRPr lang="en-US"/>
          </a:p>
        </p:txBody>
      </p:sp>
    </p:spTree>
    <p:extLst>
      <p:ext uri="{BB962C8B-B14F-4D97-AF65-F5344CB8AC3E}">
        <p14:creationId xmlns:p14="http://schemas.microsoft.com/office/powerpoint/2010/main" val="26463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E0516-BAFC-0740-BE21-9E8CF9264E1E}" type="slidenum">
              <a:rPr lang="en-US" smtClean="0"/>
              <a:t>12</a:t>
            </a:fld>
            <a:endParaRPr lang="en-US"/>
          </a:p>
        </p:txBody>
      </p:sp>
    </p:spTree>
    <p:extLst>
      <p:ext uri="{BB962C8B-B14F-4D97-AF65-F5344CB8AC3E}">
        <p14:creationId xmlns:p14="http://schemas.microsoft.com/office/powerpoint/2010/main" val="522116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already considered option 1</a:t>
            </a:r>
          </a:p>
          <a:p>
            <a:endParaRPr lang="en-US" dirty="0"/>
          </a:p>
          <a:p>
            <a:r>
              <a:rPr lang="en-US" dirty="0"/>
              <a:t>What about option 2?</a:t>
            </a:r>
          </a:p>
          <a:p>
            <a:r>
              <a:rPr lang="en-US" dirty="0"/>
              <a:t>- should predictions be independent of group status</a:t>
            </a:r>
          </a:p>
          <a:p>
            <a:r>
              <a:rPr lang="en-US" dirty="0"/>
              <a:t>- this would imply, for example, that model predicted risk on average is the same in both groups</a:t>
            </a:r>
          </a:p>
          <a:p>
            <a:r>
              <a:rPr lang="en-US" dirty="0"/>
              <a:t>- same distributions</a:t>
            </a:r>
          </a:p>
          <a:p>
            <a:r>
              <a:rPr lang="en-US" dirty="0"/>
              <a:t>- why or why not?</a:t>
            </a:r>
          </a:p>
          <a:p>
            <a:endParaRPr lang="en-US" dirty="0"/>
          </a:p>
          <a:p>
            <a:r>
              <a:rPr lang="en-US" dirty="0"/>
              <a:t>What about option 3?</a:t>
            </a:r>
          </a:p>
          <a:p>
            <a:r>
              <a:rPr lang="en-US" dirty="0"/>
              <a:t>- what does this mean?</a:t>
            </a:r>
          </a:p>
          <a:p>
            <a:endParaRPr lang="en-US" dirty="0"/>
          </a:p>
          <a:p>
            <a:r>
              <a:rPr lang="en-US" dirty="0"/>
              <a:t>Challenges include differential observability</a:t>
            </a:r>
          </a:p>
        </p:txBody>
      </p:sp>
      <p:sp>
        <p:nvSpPr>
          <p:cNvPr id="4" name="Slide Number Placeholder 3"/>
          <p:cNvSpPr>
            <a:spLocks noGrp="1"/>
          </p:cNvSpPr>
          <p:nvPr>
            <p:ph type="sldNum" sz="quarter" idx="5"/>
          </p:nvPr>
        </p:nvSpPr>
        <p:spPr/>
        <p:txBody>
          <a:bodyPr/>
          <a:lstStyle/>
          <a:p>
            <a:fld id="{209E0516-BAFC-0740-BE21-9E8CF9264E1E}" type="slidenum">
              <a:rPr lang="en-US" smtClean="0"/>
              <a:t>13</a:t>
            </a:fld>
            <a:endParaRPr lang="en-US"/>
          </a:p>
        </p:txBody>
      </p:sp>
    </p:spTree>
    <p:extLst>
      <p:ext uri="{BB962C8B-B14F-4D97-AF65-F5344CB8AC3E}">
        <p14:creationId xmlns:p14="http://schemas.microsoft.com/office/powerpoint/2010/main" val="27047374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what it would imply.</a:t>
            </a:r>
          </a:p>
          <a:p>
            <a:endParaRPr lang="en-US" dirty="0"/>
          </a:p>
          <a:p>
            <a:r>
              <a:rPr lang="en-US" dirty="0"/>
              <a:t>If we set a threshold, it would imply that White and Black patients would receive intervention at equal rates.</a:t>
            </a:r>
          </a:p>
          <a:p>
            <a:r>
              <a:rPr lang="en-US" dirty="0"/>
              <a:t>Is this fair?</a:t>
            </a:r>
          </a:p>
          <a:p>
            <a:endParaRPr lang="en-US" dirty="0"/>
          </a:p>
          <a:p>
            <a:endParaRPr lang="en-US" dirty="0"/>
          </a:p>
        </p:txBody>
      </p:sp>
      <p:sp>
        <p:nvSpPr>
          <p:cNvPr id="4" name="Slide Number Placeholder 3"/>
          <p:cNvSpPr>
            <a:spLocks noGrp="1"/>
          </p:cNvSpPr>
          <p:nvPr>
            <p:ph type="sldNum" sz="quarter" idx="5"/>
          </p:nvPr>
        </p:nvSpPr>
        <p:spPr/>
        <p:txBody>
          <a:bodyPr/>
          <a:lstStyle/>
          <a:p>
            <a:fld id="{209E0516-BAFC-0740-BE21-9E8CF9264E1E}" type="slidenum">
              <a:rPr lang="en-US" smtClean="0"/>
              <a:t>14</a:t>
            </a:fld>
            <a:endParaRPr lang="en-US"/>
          </a:p>
        </p:txBody>
      </p:sp>
    </p:spTree>
    <p:extLst>
      <p:ext uri="{BB962C8B-B14F-4D97-AF65-F5344CB8AC3E}">
        <p14:creationId xmlns:p14="http://schemas.microsoft.com/office/powerpoint/2010/main" val="3694246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Probably the most promising in my view.</a:t>
            </a:r>
          </a:p>
          <a:p>
            <a:endParaRPr lang="en-US" dirty="0"/>
          </a:p>
          <a:p>
            <a:r>
              <a:rPr lang="en-US" dirty="0"/>
              <a:t>Important to note, firstly, that if outcome rates are the same in each group, then this is the same as independence.</a:t>
            </a:r>
          </a:p>
          <a:p>
            <a:r>
              <a:rPr lang="en-US" dirty="0"/>
              <a:t>But of course, they’re usually not.</a:t>
            </a:r>
          </a:p>
          <a:p>
            <a:endParaRPr lang="en-US" dirty="0"/>
          </a:p>
          <a:p>
            <a:r>
              <a:rPr lang="en-US" dirty="0"/>
              <a:t>And if they’re not, well that means that different groups will receive intervention at different rates.</a:t>
            </a:r>
          </a:p>
          <a:p>
            <a:endParaRPr lang="en-US" dirty="0"/>
          </a:p>
          <a:p>
            <a:r>
              <a:rPr lang="en-US" dirty="0"/>
              <a:t>The biggest problem with this:</a:t>
            </a:r>
          </a:p>
          <a:p>
            <a:r>
              <a:rPr lang="en-US" dirty="0"/>
              <a:t>- highly dependent on the outcomes being correct!</a:t>
            </a:r>
          </a:p>
          <a:p>
            <a:r>
              <a:rPr lang="en-US" dirty="0"/>
              <a:t>- difficult standard in most clinical applications</a:t>
            </a:r>
          </a:p>
          <a:p>
            <a:r>
              <a:rPr lang="en-US" dirty="0"/>
              <a:t>- biased outcomes, differential observability, and so on.</a:t>
            </a:r>
          </a:p>
        </p:txBody>
      </p:sp>
      <p:sp>
        <p:nvSpPr>
          <p:cNvPr id="4" name="Slide Number Placeholder 3"/>
          <p:cNvSpPr>
            <a:spLocks noGrp="1"/>
          </p:cNvSpPr>
          <p:nvPr>
            <p:ph type="sldNum" sz="quarter" idx="5"/>
          </p:nvPr>
        </p:nvSpPr>
        <p:spPr/>
        <p:txBody>
          <a:bodyPr/>
          <a:lstStyle/>
          <a:p>
            <a:fld id="{209E0516-BAFC-0740-BE21-9E8CF9264E1E}" type="slidenum">
              <a:rPr lang="en-US" smtClean="0"/>
              <a:t>15</a:t>
            </a:fld>
            <a:endParaRPr lang="en-US"/>
          </a:p>
        </p:txBody>
      </p:sp>
    </p:spTree>
    <p:extLst>
      <p:ext uri="{BB962C8B-B14F-4D97-AF65-F5344CB8AC3E}">
        <p14:creationId xmlns:p14="http://schemas.microsoft.com/office/powerpoint/2010/main" val="2438001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already considered options 1-3</a:t>
            </a:r>
          </a:p>
          <a:p>
            <a:endParaRPr lang="en-US" dirty="0"/>
          </a:p>
          <a:p>
            <a:r>
              <a:rPr lang="en-US" dirty="0"/>
              <a:t>What about individual fairness?</a:t>
            </a:r>
          </a:p>
          <a:p>
            <a:endParaRPr lang="en-US" dirty="0"/>
          </a:p>
          <a:p>
            <a:r>
              <a:rPr lang="en-US" dirty="0"/>
              <a:t>This one’s just hard to implement…</a:t>
            </a:r>
          </a:p>
          <a:p>
            <a:r>
              <a:rPr lang="en-US" dirty="0"/>
              <a:t>- what does it mean to be </a:t>
            </a:r>
            <a:r>
              <a:rPr lang="en-US" i="1" dirty="0"/>
              <a:t>similar</a:t>
            </a:r>
            <a:r>
              <a:rPr lang="en-US" i="0" dirty="0"/>
              <a:t>?</a:t>
            </a:r>
          </a:p>
          <a:p>
            <a:r>
              <a:rPr lang="en-US" i="0" dirty="0"/>
              <a:t>- there are always factors we haven’t measured.</a:t>
            </a:r>
            <a:endParaRPr lang="en-US" dirty="0"/>
          </a:p>
        </p:txBody>
      </p:sp>
      <p:sp>
        <p:nvSpPr>
          <p:cNvPr id="4" name="Slide Number Placeholder 3"/>
          <p:cNvSpPr>
            <a:spLocks noGrp="1"/>
          </p:cNvSpPr>
          <p:nvPr>
            <p:ph type="sldNum" sz="quarter" idx="5"/>
          </p:nvPr>
        </p:nvSpPr>
        <p:spPr/>
        <p:txBody>
          <a:bodyPr/>
          <a:lstStyle/>
          <a:p>
            <a:fld id="{209E0516-BAFC-0740-BE21-9E8CF9264E1E}" type="slidenum">
              <a:rPr lang="en-US" smtClean="0"/>
              <a:t>16</a:t>
            </a:fld>
            <a:endParaRPr lang="en-US"/>
          </a:p>
        </p:txBody>
      </p:sp>
    </p:spTree>
    <p:extLst>
      <p:ext uri="{BB962C8B-B14F-4D97-AF65-F5344CB8AC3E}">
        <p14:creationId xmlns:p14="http://schemas.microsoft.com/office/powerpoint/2010/main" val="29783417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373D3F"/>
                </a:solidFill>
                <a:effectLst/>
                <a:latin typeface="Encode Sans"/>
              </a:rPr>
              <a:t>Some of the most important problems of our time, and this is no exception!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clear that there is a problem, but less clear what would constitute </a:t>
            </a:r>
            <a:r>
              <a:rPr lang="en-US" i="1" dirty="0"/>
              <a:t>solving</a:t>
            </a:r>
            <a:r>
              <a:rPr lang="en-US" dirty="0"/>
              <a:t> 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Difficult to define success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373D3F"/>
                </a:solidFill>
                <a:effectLst/>
                <a:latin typeface="Encode Sans"/>
              </a:rPr>
              <a:t>‘Wickedness isn’t a degree of difficulty . . . A wicked problem has innumerable causes, is tough to describe, and doesn’t have a right answer .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373D3F"/>
                </a:solidFill>
                <a:effectLst/>
                <a:latin typeface="Encode Sans"/>
              </a:rPr>
              <a:t>Environmental degradation, terrorism, and poverty—these are classic examples of wicked problems’. (Camillus, 2008, p. 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strike="noStrike" dirty="0">
              <a:solidFill>
                <a:srgbClr val="373D3F"/>
              </a:solidFill>
              <a:effectLst/>
              <a:latin typeface="Encode Sans"/>
            </a:endParaRPr>
          </a:p>
        </p:txBody>
      </p:sp>
      <p:sp>
        <p:nvSpPr>
          <p:cNvPr id="4" name="Slide Number Placeholder 3"/>
          <p:cNvSpPr>
            <a:spLocks noGrp="1"/>
          </p:cNvSpPr>
          <p:nvPr>
            <p:ph type="sldNum" sz="quarter" idx="5"/>
          </p:nvPr>
        </p:nvSpPr>
        <p:spPr/>
        <p:txBody>
          <a:bodyPr/>
          <a:lstStyle/>
          <a:p>
            <a:fld id="{209E0516-BAFC-0740-BE21-9E8CF9264E1E}" type="slidenum">
              <a:rPr lang="en-US" smtClean="0"/>
              <a:t>17</a:t>
            </a:fld>
            <a:endParaRPr lang="en-US"/>
          </a:p>
        </p:txBody>
      </p:sp>
    </p:spTree>
    <p:extLst>
      <p:ext uri="{BB962C8B-B14F-4D97-AF65-F5344CB8AC3E}">
        <p14:creationId xmlns:p14="http://schemas.microsoft.com/office/powerpoint/2010/main" val="6281431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2nd pillar: natural language processing</a:t>
            </a:r>
          </a:p>
          <a:p>
            <a:r>
              <a:rPr lang="en-US" dirty="0"/>
              <a:t>What can NLP do?</a:t>
            </a:r>
          </a:p>
          <a:p>
            <a:r>
              <a:rPr lang="en-US" dirty="0"/>
              <a:t>Well, many of you have likely already explored it yourself</a:t>
            </a:r>
          </a:p>
          <a:p>
            <a:endParaRPr lang="en-US" dirty="0"/>
          </a:p>
          <a:p>
            <a:r>
              <a:rPr lang="en-US" dirty="0"/>
              <a:t>Now, I would never use </a:t>
            </a:r>
            <a:r>
              <a:rPr lang="en-US" dirty="0" err="1"/>
              <a:t>chatGPT</a:t>
            </a:r>
            <a:r>
              <a:rPr lang="en-US" dirty="0"/>
              <a:t> to write a lecture for this group – you’re too important</a:t>
            </a:r>
          </a:p>
          <a:p>
            <a:r>
              <a:rPr lang="en-US" dirty="0"/>
              <a:t>But I did use it to help me design my lecture for the first-year medical students</a:t>
            </a:r>
          </a:p>
          <a:p>
            <a:endParaRPr lang="en-US" dirty="0"/>
          </a:p>
          <a:p>
            <a:r>
              <a:rPr lang="en-US" dirty="0"/>
              <a:t>And here’s what it told me…</a:t>
            </a:r>
          </a:p>
          <a:p>
            <a:r>
              <a:rPr lang="en-US" dirty="0"/>
              <a:t>And if I had asked it for more specific, detailed suggestions, it would have provided them</a:t>
            </a:r>
          </a:p>
          <a:p>
            <a:endParaRPr lang="en-US" dirty="0"/>
          </a:p>
          <a:p>
            <a:r>
              <a:rPr lang="en-US" dirty="0"/>
              <a:t>As </a:t>
            </a:r>
            <a:r>
              <a:rPr lang="en-US" dirty="0" err="1"/>
              <a:t>ChatGPT</a:t>
            </a:r>
            <a:r>
              <a:rPr lang="en-US" dirty="0"/>
              <a:t> notes, it’s not a substitute for human expertise</a:t>
            </a:r>
          </a:p>
          <a:p>
            <a:r>
              <a:rPr lang="en-US" dirty="0"/>
              <a:t>But the system is in fact quite humble, and similar models (e.g. Google’s MedPalm2) show quite impressive performance on questions from the US Medical Licensing Exam</a:t>
            </a:r>
          </a:p>
        </p:txBody>
      </p:sp>
      <p:sp>
        <p:nvSpPr>
          <p:cNvPr id="4" name="Slide Number Placeholder 3"/>
          <p:cNvSpPr>
            <a:spLocks noGrp="1"/>
          </p:cNvSpPr>
          <p:nvPr>
            <p:ph type="sldNum" sz="quarter" idx="5"/>
          </p:nvPr>
        </p:nvSpPr>
        <p:spPr/>
        <p:txBody>
          <a:bodyPr/>
          <a:lstStyle/>
          <a:p>
            <a:fld id="{F78BAB2F-C783-9D4B-A4CB-0337EE734A25}" type="slidenum">
              <a:rPr lang="en-US" smtClean="0"/>
              <a:t>18</a:t>
            </a:fld>
            <a:endParaRPr lang="en-US"/>
          </a:p>
        </p:txBody>
      </p:sp>
    </p:spTree>
    <p:extLst>
      <p:ext uri="{BB962C8B-B14F-4D97-AF65-F5344CB8AC3E}">
        <p14:creationId xmlns:p14="http://schemas.microsoft.com/office/powerpoint/2010/main" val="278053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C3C78-0BA0-83B0-B336-BB47644E6A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79DBE6-8053-C500-6802-7E588D13E5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ABF789-B40E-7CD3-A52D-CBA21B763384}"/>
              </a:ext>
            </a:extLst>
          </p:cNvPr>
          <p:cNvSpPr>
            <a:spLocks noGrp="1"/>
          </p:cNvSpPr>
          <p:nvPr>
            <p:ph type="dt" sz="half" idx="10"/>
          </p:nvPr>
        </p:nvSpPr>
        <p:spPr/>
        <p:txBody>
          <a:bodyPr/>
          <a:lstStyle/>
          <a:p>
            <a:fld id="{94D05AA0-92B9-5146-9488-F22FA8DF2CCD}" type="datetimeFigureOut">
              <a:rPr lang="en-US" smtClean="0"/>
              <a:t>7/11/25</a:t>
            </a:fld>
            <a:endParaRPr lang="en-US"/>
          </a:p>
        </p:txBody>
      </p:sp>
      <p:sp>
        <p:nvSpPr>
          <p:cNvPr id="5" name="Footer Placeholder 4">
            <a:extLst>
              <a:ext uri="{FF2B5EF4-FFF2-40B4-BE49-F238E27FC236}">
                <a16:creationId xmlns:a16="http://schemas.microsoft.com/office/drawing/2014/main" id="{140716FF-607C-B517-A7C3-73B9400AE6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8D7CA6-EC03-6812-5458-773A1BC3D33A}"/>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1500322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1809B-AFA5-2839-C422-F8F9591249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19FCE8-743C-4464-B2AB-555CCF3BBE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7974B4-C60B-4567-D00F-C04078287EF2}"/>
              </a:ext>
            </a:extLst>
          </p:cNvPr>
          <p:cNvSpPr>
            <a:spLocks noGrp="1"/>
          </p:cNvSpPr>
          <p:nvPr>
            <p:ph type="dt" sz="half" idx="10"/>
          </p:nvPr>
        </p:nvSpPr>
        <p:spPr/>
        <p:txBody>
          <a:bodyPr/>
          <a:lstStyle/>
          <a:p>
            <a:fld id="{94D05AA0-92B9-5146-9488-F22FA8DF2CCD}" type="datetimeFigureOut">
              <a:rPr lang="en-US" smtClean="0"/>
              <a:t>7/11/25</a:t>
            </a:fld>
            <a:endParaRPr lang="en-US"/>
          </a:p>
        </p:txBody>
      </p:sp>
      <p:sp>
        <p:nvSpPr>
          <p:cNvPr id="5" name="Footer Placeholder 4">
            <a:extLst>
              <a:ext uri="{FF2B5EF4-FFF2-40B4-BE49-F238E27FC236}">
                <a16:creationId xmlns:a16="http://schemas.microsoft.com/office/drawing/2014/main" id="{BD73640B-10DC-CBD0-AAE7-75281FBEAE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14AFD2-3DA6-8F74-5EDD-85FB4383EEAB}"/>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811384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8FCA1-EBD4-A4A1-5DCD-C3BB445115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115440-CB21-3401-C347-007EE2F51A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DDD547-C0D2-915E-6857-39A0D27247E6}"/>
              </a:ext>
            </a:extLst>
          </p:cNvPr>
          <p:cNvSpPr>
            <a:spLocks noGrp="1"/>
          </p:cNvSpPr>
          <p:nvPr>
            <p:ph type="dt" sz="half" idx="10"/>
          </p:nvPr>
        </p:nvSpPr>
        <p:spPr/>
        <p:txBody>
          <a:bodyPr/>
          <a:lstStyle/>
          <a:p>
            <a:fld id="{94D05AA0-92B9-5146-9488-F22FA8DF2CCD}" type="datetimeFigureOut">
              <a:rPr lang="en-US" smtClean="0"/>
              <a:t>7/11/25</a:t>
            </a:fld>
            <a:endParaRPr lang="en-US"/>
          </a:p>
        </p:txBody>
      </p:sp>
      <p:sp>
        <p:nvSpPr>
          <p:cNvPr id="5" name="Footer Placeholder 4">
            <a:extLst>
              <a:ext uri="{FF2B5EF4-FFF2-40B4-BE49-F238E27FC236}">
                <a16:creationId xmlns:a16="http://schemas.microsoft.com/office/drawing/2014/main" id="{21218E4F-F4D0-4B61-BEC9-BC116E26B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FA0647-C7BA-A679-9082-B3740470602A}"/>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399401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13F13-0462-B502-8B2F-006601A1B5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C89AA5-2CAD-D467-8BA9-6C6621F60D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C4AAD0-38DC-1A60-F93C-BBF881706E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CC65E1-3D2C-8690-7C60-AD79F9696AB6}"/>
              </a:ext>
            </a:extLst>
          </p:cNvPr>
          <p:cNvSpPr>
            <a:spLocks noGrp="1"/>
          </p:cNvSpPr>
          <p:nvPr>
            <p:ph type="dt" sz="half" idx="10"/>
          </p:nvPr>
        </p:nvSpPr>
        <p:spPr/>
        <p:txBody>
          <a:bodyPr/>
          <a:lstStyle/>
          <a:p>
            <a:fld id="{94D05AA0-92B9-5146-9488-F22FA8DF2CCD}" type="datetimeFigureOut">
              <a:rPr lang="en-US" smtClean="0"/>
              <a:t>7/11/25</a:t>
            </a:fld>
            <a:endParaRPr lang="en-US"/>
          </a:p>
        </p:txBody>
      </p:sp>
      <p:sp>
        <p:nvSpPr>
          <p:cNvPr id="6" name="Footer Placeholder 5">
            <a:extLst>
              <a:ext uri="{FF2B5EF4-FFF2-40B4-BE49-F238E27FC236}">
                <a16:creationId xmlns:a16="http://schemas.microsoft.com/office/drawing/2014/main" id="{71FCBFCA-6245-D959-56E8-125C704027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1F308E-A0D9-3A89-A36D-355CDBBCEE09}"/>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783762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1AE67-985B-95EE-BC25-550767447B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924E53-AE19-4EA9-8FD3-8968D15CF8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FC1B10-8D5C-A9C3-BF53-9FE2D59EAD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4DBEA5-BF96-1B2A-E306-CC5B46334E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D51EAA-B241-A872-7E41-24603C3A6C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37805F-844D-CE3B-AB1A-E357452E8F7E}"/>
              </a:ext>
            </a:extLst>
          </p:cNvPr>
          <p:cNvSpPr>
            <a:spLocks noGrp="1"/>
          </p:cNvSpPr>
          <p:nvPr>
            <p:ph type="dt" sz="half" idx="10"/>
          </p:nvPr>
        </p:nvSpPr>
        <p:spPr/>
        <p:txBody>
          <a:bodyPr/>
          <a:lstStyle/>
          <a:p>
            <a:fld id="{94D05AA0-92B9-5146-9488-F22FA8DF2CCD}" type="datetimeFigureOut">
              <a:rPr lang="en-US" smtClean="0"/>
              <a:t>7/11/25</a:t>
            </a:fld>
            <a:endParaRPr lang="en-US"/>
          </a:p>
        </p:txBody>
      </p:sp>
      <p:sp>
        <p:nvSpPr>
          <p:cNvPr id="8" name="Footer Placeholder 7">
            <a:extLst>
              <a:ext uri="{FF2B5EF4-FFF2-40B4-BE49-F238E27FC236}">
                <a16:creationId xmlns:a16="http://schemas.microsoft.com/office/drawing/2014/main" id="{C55782F5-500A-5F95-8C53-B34F340C65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A1107C-9CEA-7E83-6A04-B1723E69E65F}"/>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3082575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88E3D-DCBE-3FCD-FB17-3AB4E117D6A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7559E8-5A6A-6C63-0361-1666960BB0E1}"/>
              </a:ext>
            </a:extLst>
          </p:cNvPr>
          <p:cNvSpPr>
            <a:spLocks noGrp="1"/>
          </p:cNvSpPr>
          <p:nvPr>
            <p:ph type="dt" sz="half" idx="10"/>
          </p:nvPr>
        </p:nvSpPr>
        <p:spPr/>
        <p:txBody>
          <a:bodyPr/>
          <a:lstStyle/>
          <a:p>
            <a:fld id="{94D05AA0-92B9-5146-9488-F22FA8DF2CCD}" type="datetimeFigureOut">
              <a:rPr lang="en-US" smtClean="0"/>
              <a:t>7/11/25</a:t>
            </a:fld>
            <a:endParaRPr lang="en-US"/>
          </a:p>
        </p:txBody>
      </p:sp>
      <p:sp>
        <p:nvSpPr>
          <p:cNvPr id="4" name="Footer Placeholder 3">
            <a:extLst>
              <a:ext uri="{FF2B5EF4-FFF2-40B4-BE49-F238E27FC236}">
                <a16:creationId xmlns:a16="http://schemas.microsoft.com/office/drawing/2014/main" id="{C79AA1CE-6FE3-2C0D-AD18-3C69C92D76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84C69D-2891-E01E-179C-06417188A309}"/>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874607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735FBE-9395-FF6C-BBB5-2ED706377BEE}"/>
              </a:ext>
            </a:extLst>
          </p:cNvPr>
          <p:cNvSpPr>
            <a:spLocks noGrp="1"/>
          </p:cNvSpPr>
          <p:nvPr>
            <p:ph type="dt" sz="half" idx="10"/>
          </p:nvPr>
        </p:nvSpPr>
        <p:spPr/>
        <p:txBody>
          <a:bodyPr/>
          <a:lstStyle/>
          <a:p>
            <a:fld id="{94D05AA0-92B9-5146-9488-F22FA8DF2CCD}" type="datetimeFigureOut">
              <a:rPr lang="en-US" smtClean="0"/>
              <a:t>7/11/25</a:t>
            </a:fld>
            <a:endParaRPr lang="en-US"/>
          </a:p>
        </p:txBody>
      </p:sp>
      <p:sp>
        <p:nvSpPr>
          <p:cNvPr id="3" name="Footer Placeholder 2">
            <a:extLst>
              <a:ext uri="{FF2B5EF4-FFF2-40B4-BE49-F238E27FC236}">
                <a16:creationId xmlns:a16="http://schemas.microsoft.com/office/drawing/2014/main" id="{4EE8339F-8BD9-2F67-7513-329088A471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10DD97-8E81-8BA5-DB07-5A5C23F059BF}"/>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239035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74A85-0830-B3CF-D6CE-779CC0F9A8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637A03-67AB-F956-BAFE-086B9B093F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AA8EC5-924B-9DC7-EEBC-0D4868B4AD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53503C-DE6F-826C-DADA-86ED1C479A24}"/>
              </a:ext>
            </a:extLst>
          </p:cNvPr>
          <p:cNvSpPr>
            <a:spLocks noGrp="1"/>
          </p:cNvSpPr>
          <p:nvPr>
            <p:ph type="dt" sz="half" idx="10"/>
          </p:nvPr>
        </p:nvSpPr>
        <p:spPr/>
        <p:txBody>
          <a:bodyPr/>
          <a:lstStyle/>
          <a:p>
            <a:fld id="{94D05AA0-92B9-5146-9488-F22FA8DF2CCD}" type="datetimeFigureOut">
              <a:rPr lang="en-US" smtClean="0"/>
              <a:t>7/11/25</a:t>
            </a:fld>
            <a:endParaRPr lang="en-US"/>
          </a:p>
        </p:txBody>
      </p:sp>
      <p:sp>
        <p:nvSpPr>
          <p:cNvPr id="6" name="Footer Placeholder 5">
            <a:extLst>
              <a:ext uri="{FF2B5EF4-FFF2-40B4-BE49-F238E27FC236}">
                <a16:creationId xmlns:a16="http://schemas.microsoft.com/office/drawing/2014/main" id="{7426784E-F42B-923C-53B5-FDFA45D249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DA0999-5131-1AEE-6649-C542CC3E7065}"/>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1610107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03512-B90B-B848-3D16-4F7B4817E7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6191C7-D3B1-DBF4-51AB-A5A699F4A8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EB4850-E3AB-D61D-2A55-DF8413DBE0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6829B5-4A5E-76EC-D661-F716A9AB4C56}"/>
              </a:ext>
            </a:extLst>
          </p:cNvPr>
          <p:cNvSpPr>
            <a:spLocks noGrp="1"/>
          </p:cNvSpPr>
          <p:nvPr>
            <p:ph type="dt" sz="half" idx="10"/>
          </p:nvPr>
        </p:nvSpPr>
        <p:spPr/>
        <p:txBody>
          <a:bodyPr/>
          <a:lstStyle/>
          <a:p>
            <a:fld id="{94D05AA0-92B9-5146-9488-F22FA8DF2CCD}" type="datetimeFigureOut">
              <a:rPr lang="en-US" smtClean="0"/>
              <a:t>7/11/25</a:t>
            </a:fld>
            <a:endParaRPr lang="en-US"/>
          </a:p>
        </p:txBody>
      </p:sp>
      <p:sp>
        <p:nvSpPr>
          <p:cNvPr id="6" name="Footer Placeholder 5">
            <a:extLst>
              <a:ext uri="{FF2B5EF4-FFF2-40B4-BE49-F238E27FC236}">
                <a16:creationId xmlns:a16="http://schemas.microsoft.com/office/drawing/2014/main" id="{BE57375C-6B98-57BF-E409-C97693EBB4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C27D09-1206-C533-1511-6AC55D35C0D5}"/>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2701845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E2EF1-F68B-9FBB-06F7-4BFDFF1F3A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7F4B3A-7837-50F0-F3A3-B6D9A3548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7249AC-590F-EFC4-FAA2-C2DE12BD6B44}"/>
              </a:ext>
            </a:extLst>
          </p:cNvPr>
          <p:cNvSpPr>
            <a:spLocks noGrp="1"/>
          </p:cNvSpPr>
          <p:nvPr>
            <p:ph type="dt" sz="half" idx="10"/>
          </p:nvPr>
        </p:nvSpPr>
        <p:spPr/>
        <p:txBody>
          <a:bodyPr/>
          <a:lstStyle/>
          <a:p>
            <a:fld id="{94D05AA0-92B9-5146-9488-F22FA8DF2CCD}" type="datetimeFigureOut">
              <a:rPr lang="en-US" smtClean="0"/>
              <a:t>7/11/25</a:t>
            </a:fld>
            <a:endParaRPr lang="en-US"/>
          </a:p>
        </p:txBody>
      </p:sp>
      <p:sp>
        <p:nvSpPr>
          <p:cNvPr id="5" name="Footer Placeholder 4">
            <a:extLst>
              <a:ext uri="{FF2B5EF4-FFF2-40B4-BE49-F238E27FC236}">
                <a16:creationId xmlns:a16="http://schemas.microsoft.com/office/drawing/2014/main" id="{A0A9810C-2228-3F5A-5F95-7B30CCB96A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066667-CA68-07F0-661E-C18539594214}"/>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2116626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46658B-E12C-3CD3-4A23-79228E004B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C0786A-F980-853A-E6FB-18DE8A6029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50717C-B149-CDB5-EE86-1D5A166A8A9A}"/>
              </a:ext>
            </a:extLst>
          </p:cNvPr>
          <p:cNvSpPr>
            <a:spLocks noGrp="1"/>
          </p:cNvSpPr>
          <p:nvPr>
            <p:ph type="dt" sz="half" idx="10"/>
          </p:nvPr>
        </p:nvSpPr>
        <p:spPr/>
        <p:txBody>
          <a:bodyPr/>
          <a:lstStyle/>
          <a:p>
            <a:fld id="{94D05AA0-92B9-5146-9488-F22FA8DF2CCD}" type="datetimeFigureOut">
              <a:rPr lang="en-US" smtClean="0"/>
              <a:t>7/11/25</a:t>
            </a:fld>
            <a:endParaRPr lang="en-US"/>
          </a:p>
        </p:txBody>
      </p:sp>
      <p:sp>
        <p:nvSpPr>
          <p:cNvPr id="5" name="Footer Placeholder 4">
            <a:extLst>
              <a:ext uri="{FF2B5EF4-FFF2-40B4-BE49-F238E27FC236}">
                <a16:creationId xmlns:a16="http://schemas.microsoft.com/office/drawing/2014/main" id="{8804F5A0-2AC2-107E-AC5B-694ACC4465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1BE035-C36A-E729-CA02-BE3B0E5EB67D}"/>
              </a:ext>
            </a:extLst>
          </p:cNvPr>
          <p:cNvSpPr>
            <a:spLocks noGrp="1"/>
          </p:cNvSpPr>
          <p:nvPr>
            <p:ph type="sldNum" sz="quarter" idx="12"/>
          </p:nvPr>
        </p:nvSpPr>
        <p:spPr/>
        <p:txBody>
          <a:bodyPr/>
          <a:lstStyle/>
          <a:p>
            <a:fld id="{430ADBA9-20AE-6D42-963B-9B809D3A8592}" type="slidenum">
              <a:rPr lang="en-US" smtClean="0"/>
              <a:t>‹#›</a:t>
            </a:fld>
            <a:endParaRPr lang="en-US"/>
          </a:p>
        </p:txBody>
      </p:sp>
    </p:spTree>
    <p:extLst>
      <p:ext uri="{BB962C8B-B14F-4D97-AF65-F5344CB8AC3E}">
        <p14:creationId xmlns:p14="http://schemas.microsoft.com/office/powerpoint/2010/main" val="3030357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E335D0-5D85-0B5B-D168-70143EF83B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1444A-DA08-42D0-49C3-1B7406110D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11093E-E259-284B-6658-5D25582CE1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05AA0-92B9-5146-9488-F22FA8DF2CCD}" type="datetimeFigureOut">
              <a:rPr lang="en-US" smtClean="0"/>
              <a:t>7/11/25</a:t>
            </a:fld>
            <a:endParaRPr lang="en-US"/>
          </a:p>
        </p:txBody>
      </p:sp>
      <p:sp>
        <p:nvSpPr>
          <p:cNvPr id="5" name="Footer Placeholder 4">
            <a:extLst>
              <a:ext uri="{FF2B5EF4-FFF2-40B4-BE49-F238E27FC236}">
                <a16:creationId xmlns:a16="http://schemas.microsoft.com/office/drawing/2014/main" id="{31068A18-AADD-3D12-948A-0C26F5027E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BC69CDC-75CD-74A5-0A1C-5FC0292AB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0ADBA9-20AE-6D42-963B-9B809D3A8592}" type="slidenum">
              <a:rPr lang="en-US" smtClean="0"/>
              <a:t>‹#›</a:t>
            </a:fld>
            <a:endParaRPr lang="en-US"/>
          </a:p>
        </p:txBody>
      </p:sp>
    </p:spTree>
    <p:extLst>
      <p:ext uri="{BB962C8B-B14F-4D97-AF65-F5344CB8AC3E}">
        <p14:creationId xmlns:p14="http://schemas.microsoft.com/office/powerpoint/2010/main" val="1803355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A5335-4C42-0616-B8F2-C4A75DF96F6E}"/>
              </a:ext>
            </a:extLst>
          </p:cNvPr>
          <p:cNvSpPr>
            <a:spLocks noGrp="1"/>
          </p:cNvSpPr>
          <p:nvPr>
            <p:ph type="ctrTitle"/>
          </p:nvPr>
        </p:nvSpPr>
        <p:spPr/>
        <p:txBody>
          <a:bodyPr/>
          <a:lstStyle/>
          <a:p>
            <a:r>
              <a:rPr lang="en-US" dirty="0"/>
              <a:t>AI Interpretation and Bias</a:t>
            </a:r>
          </a:p>
        </p:txBody>
      </p:sp>
      <p:sp>
        <p:nvSpPr>
          <p:cNvPr id="3" name="Subtitle 2">
            <a:extLst>
              <a:ext uri="{FF2B5EF4-FFF2-40B4-BE49-F238E27FC236}">
                <a16:creationId xmlns:a16="http://schemas.microsoft.com/office/drawing/2014/main" id="{606A0598-4EA4-8563-2A0F-F9860F38E791}"/>
              </a:ext>
            </a:extLst>
          </p:cNvPr>
          <p:cNvSpPr>
            <a:spLocks noGrp="1"/>
          </p:cNvSpPr>
          <p:nvPr>
            <p:ph type="subTitle" idx="1"/>
          </p:nvPr>
        </p:nvSpPr>
        <p:spPr/>
        <p:txBody>
          <a:bodyPr/>
          <a:lstStyle/>
          <a:p>
            <a:endParaRPr lang="en-US" dirty="0"/>
          </a:p>
          <a:p>
            <a:r>
              <a:rPr lang="en-US" dirty="0"/>
              <a:t>Matthew Engelhard</a:t>
            </a:r>
          </a:p>
        </p:txBody>
      </p:sp>
    </p:spTree>
    <p:extLst>
      <p:ext uri="{BB962C8B-B14F-4D97-AF65-F5344CB8AC3E}">
        <p14:creationId xmlns:p14="http://schemas.microsoft.com/office/powerpoint/2010/main" val="232589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05240-06DD-50DE-5F3C-881A1A0ED7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76D71-F5BF-04FB-4DD5-90909EB0764C}"/>
              </a:ext>
            </a:extLst>
          </p:cNvPr>
          <p:cNvSpPr>
            <a:spLocks noGrp="1"/>
          </p:cNvSpPr>
          <p:nvPr>
            <p:ph type="title"/>
          </p:nvPr>
        </p:nvSpPr>
        <p:spPr/>
        <p:txBody>
          <a:bodyPr/>
          <a:lstStyle/>
          <a:p>
            <a:r>
              <a:rPr lang="en-US" dirty="0"/>
              <a:t>Investigating model predictions</a:t>
            </a:r>
          </a:p>
        </p:txBody>
      </p:sp>
      <p:sp>
        <p:nvSpPr>
          <p:cNvPr id="3" name="Text Placeholder 2">
            <a:extLst>
              <a:ext uri="{FF2B5EF4-FFF2-40B4-BE49-F238E27FC236}">
                <a16:creationId xmlns:a16="http://schemas.microsoft.com/office/drawing/2014/main" id="{68D26C3B-55E2-C5F1-1ADB-B199F48D5FB6}"/>
              </a:ext>
            </a:extLst>
          </p:cNvPr>
          <p:cNvSpPr>
            <a:spLocks noGrp="1"/>
          </p:cNvSpPr>
          <p:nvPr>
            <p:ph type="body" idx="1"/>
          </p:nvPr>
        </p:nvSpPr>
        <p:spPr/>
        <p:txBody>
          <a:bodyPr/>
          <a:lstStyle/>
          <a:p>
            <a:r>
              <a:rPr lang="en-US" dirty="0"/>
              <a:t>Looking inside the black box</a:t>
            </a:r>
          </a:p>
        </p:txBody>
      </p:sp>
    </p:spTree>
    <p:extLst>
      <p:ext uri="{BB962C8B-B14F-4D97-AF65-F5344CB8AC3E}">
        <p14:creationId xmlns:p14="http://schemas.microsoft.com/office/powerpoint/2010/main" val="1525559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B56E8-27D3-0A4C-724A-7A1813604D5A}"/>
              </a:ext>
            </a:extLst>
          </p:cNvPr>
          <p:cNvSpPr>
            <a:spLocks noGrp="1"/>
          </p:cNvSpPr>
          <p:nvPr>
            <p:ph type="title"/>
          </p:nvPr>
        </p:nvSpPr>
        <p:spPr/>
        <p:txBody>
          <a:bodyPr/>
          <a:lstStyle/>
          <a:p>
            <a:r>
              <a:rPr lang="en-US" dirty="0"/>
              <a:t>When expert and model disagree…</a:t>
            </a:r>
          </a:p>
        </p:txBody>
      </p:sp>
      <p:sp>
        <p:nvSpPr>
          <p:cNvPr id="3" name="Content Placeholder 2">
            <a:extLst>
              <a:ext uri="{FF2B5EF4-FFF2-40B4-BE49-F238E27FC236}">
                <a16:creationId xmlns:a16="http://schemas.microsoft.com/office/drawing/2014/main" id="{B3C08EAB-0934-728F-10EE-F38E470BA698}"/>
              </a:ext>
            </a:extLst>
          </p:cNvPr>
          <p:cNvSpPr>
            <a:spLocks noGrp="1"/>
          </p:cNvSpPr>
          <p:nvPr>
            <p:ph idx="1"/>
          </p:nvPr>
        </p:nvSpPr>
        <p:spPr/>
        <p:txBody>
          <a:bodyPr>
            <a:normAutofit fontScale="85000" lnSpcReduction="20000"/>
          </a:bodyPr>
          <a:lstStyle/>
          <a:p>
            <a:pPr marL="0" indent="0">
              <a:buNone/>
            </a:pPr>
            <a:r>
              <a:rPr lang="en-US" dirty="0"/>
              <a:t>You’ve been using a new AI model that predicts 2-year risk of progression to stage IV chronic kidney disease. Up to now, you’ve found its predictions to be helpful as well as consistent with your clinical judgement. This model is based on electronic health record data, including diagnosis and procedure codes, medications, labs, and vitals; as well as social determinants of health.</a:t>
            </a:r>
          </a:p>
          <a:p>
            <a:pPr marL="0" indent="0">
              <a:buNone/>
            </a:pPr>
            <a:endParaRPr lang="en-US" dirty="0"/>
          </a:p>
          <a:p>
            <a:pPr marL="0" indent="0">
              <a:buNone/>
            </a:pPr>
            <a:r>
              <a:rPr lang="en-US" dirty="0"/>
              <a:t>You see a 32 year-old male patient with new significant hypertension (165/91). You check your model and see it predicts low stage IV CKD risk (&lt;2%). However, on physical exam there is puffiness around his eyes and 1+ edema to his mid-shin, and on urinalysis you find significant proteinuria (3+). These findings concern you, and you believe the patient’s true risk is much higher than the model is saying.</a:t>
            </a:r>
          </a:p>
          <a:p>
            <a:pPr marL="0" indent="0">
              <a:buNone/>
            </a:pPr>
            <a:endParaRPr lang="en-US" u="sng" dirty="0"/>
          </a:p>
          <a:p>
            <a:pPr marL="0" indent="0">
              <a:buNone/>
            </a:pPr>
            <a:r>
              <a:rPr lang="en-US" u="sng" dirty="0"/>
              <a:t>Report Back</a:t>
            </a:r>
            <a:r>
              <a:rPr lang="en-US" dirty="0"/>
              <a:t>: What can you do to investigate the discrepancy between the model’s prediction and your clinical judgement?</a:t>
            </a:r>
          </a:p>
        </p:txBody>
      </p:sp>
    </p:spTree>
    <p:extLst>
      <p:ext uri="{BB962C8B-B14F-4D97-AF65-F5344CB8AC3E}">
        <p14:creationId xmlns:p14="http://schemas.microsoft.com/office/powerpoint/2010/main" val="2764431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640E-3EB8-D6C6-BFC3-359E08A1AD52}"/>
              </a:ext>
            </a:extLst>
          </p:cNvPr>
          <p:cNvSpPr>
            <a:spLocks noGrp="1"/>
          </p:cNvSpPr>
          <p:nvPr>
            <p:ph type="title"/>
          </p:nvPr>
        </p:nvSpPr>
        <p:spPr/>
        <p:txBody>
          <a:bodyPr/>
          <a:lstStyle/>
          <a:p>
            <a:r>
              <a:rPr lang="en-US" dirty="0"/>
              <a:t>Key Questions</a:t>
            </a:r>
          </a:p>
        </p:txBody>
      </p:sp>
      <p:sp>
        <p:nvSpPr>
          <p:cNvPr id="3" name="Content Placeholder 2">
            <a:extLst>
              <a:ext uri="{FF2B5EF4-FFF2-40B4-BE49-F238E27FC236}">
                <a16:creationId xmlns:a16="http://schemas.microsoft.com/office/drawing/2014/main" id="{EBF2405C-A82A-6CCE-2A7D-C93650098120}"/>
              </a:ext>
            </a:extLst>
          </p:cNvPr>
          <p:cNvSpPr>
            <a:spLocks noGrp="1"/>
          </p:cNvSpPr>
          <p:nvPr>
            <p:ph idx="1"/>
          </p:nvPr>
        </p:nvSpPr>
        <p:spPr/>
        <p:txBody>
          <a:bodyPr>
            <a:normAutofit lnSpcReduction="10000"/>
          </a:bodyPr>
          <a:lstStyle/>
          <a:p>
            <a:r>
              <a:rPr lang="en-US" dirty="0"/>
              <a:t>What information is available to the model?</a:t>
            </a:r>
          </a:p>
          <a:p>
            <a:pPr lvl="1"/>
            <a:r>
              <a:rPr lang="en-US" dirty="0"/>
              <a:t>Predictor groups</a:t>
            </a:r>
          </a:p>
          <a:p>
            <a:pPr lvl="1"/>
            <a:r>
              <a:rPr lang="en-US" dirty="0"/>
              <a:t>Timing of collection</a:t>
            </a:r>
          </a:p>
          <a:p>
            <a:pPr lvl="1"/>
            <a:r>
              <a:rPr lang="en-US" dirty="0"/>
              <a:t>Lab </a:t>
            </a:r>
            <a:r>
              <a:rPr lang="en-US" i="1" dirty="0"/>
              <a:t>ID</a:t>
            </a:r>
            <a:r>
              <a:rPr lang="en-US" dirty="0"/>
              <a:t> or lab </a:t>
            </a:r>
            <a:r>
              <a:rPr lang="en-US" i="1" dirty="0"/>
              <a:t>values</a:t>
            </a:r>
            <a:r>
              <a:rPr lang="en-US" dirty="0"/>
              <a:t>?</a:t>
            </a:r>
          </a:p>
          <a:p>
            <a:endParaRPr lang="en-US" dirty="0"/>
          </a:p>
          <a:p>
            <a:r>
              <a:rPr lang="en-US" dirty="0"/>
              <a:t>What population was used to train the model?</a:t>
            </a:r>
          </a:p>
          <a:p>
            <a:pPr lvl="1"/>
            <a:r>
              <a:rPr lang="en-US" dirty="0"/>
              <a:t>Relevant inclusion / exclusion criteria</a:t>
            </a:r>
          </a:p>
          <a:p>
            <a:pPr lvl="1"/>
            <a:r>
              <a:rPr lang="en-US" dirty="0"/>
              <a:t>Representation of specific demographics</a:t>
            </a:r>
          </a:p>
          <a:p>
            <a:pPr lvl="1"/>
            <a:endParaRPr lang="en-US" dirty="0"/>
          </a:p>
          <a:p>
            <a:r>
              <a:rPr lang="en-US" u="sng" dirty="0"/>
              <a:t>What do you know that the model doesn’t (or vice versa)?</a:t>
            </a:r>
          </a:p>
        </p:txBody>
      </p:sp>
    </p:spTree>
    <p:extLst>
      <p:ext uri="{BB962C8B-B14F-4D97-AF65-F5344CB8AC3E}">
        <p14:creationId xmlns:p14="http://schemas.microsoft.com/office/powerpoint/2010/main" val="3180775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 1">
            <a:extLst>
              <a:ext uri="{FF2B5EF4-FFF2-40B4-BE49-F238E27FC236}">
                <a16:creationId xmlns:a16="http://schemas.microsoft.com/office/drawing/2014/main" id="{D7AD87EC-E6C7-A367-8ABC-3AA2D438AE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 b="58730"/>
          <a:stretch/>
        </p:blipFill>
        <p:spPr bwMode="auto">
          <a:xfrm>
            <a:off x="355318" y="1906959"/>
            <a:ext cx="5622203" cy="364623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ig. 1">
            <a:extLst>
              <a:ext uri="{FF2B5EF4-FFF2-40B4-BE49-F238E27FC236}">
                <a16:creationId xmlns:a16="http://schemas.microsoft.com/office/drawing/2014/main" id="{1A5AEFF2-7C44-96AE-7B4F-02DACB0E8B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0889"/>
          <a:stretch/>
        </p:blipFill>
        <p:spPr bwMode="auto">
          <a:xfrm>
            <a:off x="6214480" y="1484555"/>
            <a:ext cx="5622203" cy="522256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D80C6E7-35E4-24E9-C70F-19B8C7F9BC84}"/>
              </a:ext>
            </a:extLst>
          </p:cNvPr>
          <p:cNvSpPr>
            <a:spLocks noGrp="1"/>
          </p:cNvSpPr>
          <p:nvPr>
            <p:ph type="title"/>
          </p:nvPr>
        </p:nvSpPr>
        <p:spPr>
          <a:xfrm>
            <a:off x="838200" y="365126"/>
            <a:ext cx="10515600" cy="893520"/>
          </a:xfrm>
        </p:spPr>
        <p:txBody>
          <a:bodyPr>
            <a:normAutofit fontScale="90000"/>
          </a:bodyPr>
          <a:lstStyle/>
          <a:p>
            <a:r>
              <a:rPr lang="en-US" dirty="0"/>
              <a:t>Report Back: </a:t>
            </a:r>
            <a:br>
              <a:rPr lang="en-US" dirty="0"/>
            </a:br>
            <a:r>
              <a:rPr lang="en-US" dirty="0"/>
              <a:t>What else should you know to use the model?</a:t>
            </a:r>
          </a:p>
        </p:txBody>
      </p:sp>
      <p:sp>
        <p:nvSpPr>
          <p:cNvPr id="5" name="TextBox 4">
            <a:extLst>
              <a:ext uri="{FF2B5EF4-FFF2-40B4-BE49-F238E27FC236}">
                <a16:creationId xmlns:a16="http://schemas.microsoft.com/office/drawing/2014/main" id="{3A8B89DC-56F2-D121-EEF1-7869BE11315A}"/>
              </a:ext>
            </a:extLst>
          </p:cNvPr>
          <p:cNvSpPr txBox="1"/>
          <p:nvPr/>
        </p:nvSpPr>
        <p:spPr>
          <a:xfrm>
            <a:off x="314818" y="5831502"/>
            <a:ext cx="5703201" cy="646331"/>
          </a:xfrm>
          <a:prstGeom prst="rect">
            <a:avLst/>
          </a:prstGeom>
          <a:noFill/>
        </p:spPr>
        <p:txBody>
          <a:bodyPr wrap="square">
            <a:spAutoFit/>
          </a:bodyPr>
          <a:lstStyle/>
          <a:p>
            <a:r>
              <a:rPr lang="en-US" sz="1200" b="0" i="0" u="none" strike="noStrike" dirty="0">
                <a:solidFill>
                  <a:srgbClr val="222222"/>
                </a:solidFill>
                <a:effectLst/>
                <a:latin typeface="-apple-system"/>
              </a:rPr>
              <a:t>Sendak, M.P., Gao, M., </a:t>
            </a:r>
            <a:r>
              <a:rPr lang="en-US" sz="1200" b="0" i="0" u="none" strike="noStrike" dirty="0" err="1">
                <a:solidFill>
                  <a:srgbClr val="222222"/>
                </a:solidFill>
                <a:effectLst/>
                <a:latin typeface="-apple-system"/>
              </a:rPr>
              <a:t>Brajer</a:t>
            </a:r>
            <a:r>
              <a:rPr lang="en-US" sz="1200" b="0" i="0" u="none" strike="noStrike" dirty="0">
                <a:solidFill>
                  <a:srgbClr val="222222"/>
                </a:solidFill>
                <a:effectLst/>
                <a:latin typeface="-apple-system"/>
              </a:rPr>
              <a:t>, N. </a:t>
            </a:r>
            <a:r>
              <a:rPr lang="en-US" sz="1200" b="0" i="1" u="none" strike="noStrike" dirty="0">
                <a:solidFill>
                  <a:srgbClr val="222222"/>
                </a:solidFill>
                <a:effectLst/>
                <a:latin typeface="-apple-system"/>
              </a:rPr>
              <a:t>et al.</a:t>
            </a:r>
            <a:r>
              <a:rPr lang="en-US" sz="1200" b="0" i="0" u="none" strike="noStrike" dirty="0">
                <a:solidFill>
                  <a:srgbClr val="222222"/>
                </a:solidFill>
                <a:effectLst/>
                <a:latin typeface="-apple-system"/>
              </a:rPr>
              <a:t> Presenting machine learning model information to clinical end users with model facts labels. </a:t>
            </a:r>
            <a:r>
              <a:rPr lang="en-US" sz="1200" b="0" i="1" u="none" strike="noStrike" dirty="0" err="1">
                <a:solidFill>
                  <a:srgbClr val="222222"/>
                </a:solidFill>
                <a:effectLst/>
                <a:latin typeface="-apple-system"/>
              </a:rPr>
              <a:t>npj</a:t>
            </a:r>
            <a:r>
              <a:rPr lang="en-US" sz="1200" b="0" i="1" u="none" strike="noStrike" dirty="0">
                <a:solidFill>
                  <a:srgbClr val="222222"/>
                </a:solidFill>
                <a:effectLst/>
                <a:latin typeface="-apple-system"/>
              </a:rPr>
              <a:t> Digit. Med.</a:t>
            </a:r>
            <a:r>
              <a:rPr lang="en-US" sz="1200" b="0" i="0" u="none" strike="noStrike" dirty="0">
                <a:solidFill>
                  <a:srgbClr val="222222"/>
                </a:solidFill>
                <a:effectLst/>
                <a:latin typeface="-apple-system"/>
              </a:rPr>
              <a:t> </a:t>
            </a:r>
            <a:r>
              <a:rPr lang="en-US" sz="1200" b="1" i="0" u="none" strike="noStrike" dirty="0">
                <a:solidFill>
                  <a:srgbClr val="222222"/>
                </a:solidFill>
                <a:effectLst/>
                <a:latin typeface="-apple-system"/>
              </a:rPr>
              <a:t>3</a:t>
            </a:r>
            <a:r>
              <a:rPr lang="en-US" sz="1200" b="0" i="0" u="none" strike="noStrike" dirty="0">
                <a:solidFill>
                  <a:srgbClr val="222222"/>
                </a:solidFill>
                <a:effectLst/>
                <a:latin typeface="-apple-system"/>
              </a:rPr>
              <a:t>, 41 (2020). https://</a:t>
            </a:r>
            <a:r>
              <a:rPr lang="en-US" sz="1200" b="0" i="0" u="none" strike="noStrike" dirty="0" err="1">
                <a:solidFill>
                  <a:srgbClr val="222222"/>
                </a:solidFill>
                <a:effectLst/>
                <a:latin typeface="-apple-system"/>
              </a:rPr>
              <a:t>doi.org</a:t>
            </a:r>
            <a:r>
              <a:rPr lang="en-US" sz="1200" b="0" i="0" u="none" strike="noStrike" dirty="0">
                <a:solidFill>
                  <a:srgbClr val="222222"/>
                </a:solidFill>
                <a:effectLst/>
                <a:latin typeface="-apple-system"/>
              </a:rPr>
              <a:t>/10.1038/s41746-020-0253-3</a:t>
            </a:r>
            <a:endParaRPr lang="en-US" sz="1200" dirty="0"/>
          </a:p>
        </p:txBody>
      </p:sp>
    </p:spTree>
    <p:extLst>
      <p:ext uri="{BB962C8B-B14F-4D97-AF65-F5344CB8AC3E}">
        <p14:creationId xmlns:p14="http://schemas.microsoft.com/office/powerpoint/2010/main" val="2428070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9F3AC-DACE-7673-723D-76FFCDBE90E4}"/>
              </a:ext>
            </a:extLst>
          </p:cNvPr>
          <p:cNvSpPr>
            <a:spLocks noGrp="1"/>
          </p:cNvSpPr>
          <p:nvPr>
            <p:ph type="title"/>
          </p:nvPr>
        </p:nvSpPr>
        <p:spPr/>
        <p:txBody>
          <a:bodyPr/>
          <a:lstStyle/>
          <a:p>
            <a:r>
              <a:rPr lang="en-US" dirty="0"/>
              <a:t>Understanding Model Predictions</a:t>
            </a:r>
          </a:p>
        </p:txBody>
      </p:sp>
      <p:sp>
        <p:nvSpPr>
          <p:cNvPr id="3" name="Content Placeholder 2">
            <a:extLst>
              <a:ext uri="{FF2B5EF4-FFF2-40B4-BE49-F238E27FC236}">
                <a16:creationId xmlns:a16="http://schemas.microsoft.com/office/drawing/2014/main" id="{F85B1859-0D14-0949-1947-F0CB642183A4}"/>
              </a:ext>
            </a:extLst>
          </p:cNvPr>
          <p:cNvSpPr>
            <a:spLocks noGrp="1"/>
          </p:cNvSpPr>
          <p:nvPr>
            <p:ph idx="1"/>
          </p:nvPr>
        </p:nvSpPr>
        <p:spPr>
          <a:xfrm>
            <a:off x="838200" y="1825625"/>
            <a:ext cx="2996045" cy="4351338"/>
          </a:xfrm>
        </p:spPr>
        <p:txBody>
          <a:bodyPr>
            <a:normAutofit fontScale="85000" lnSpcReduction="10000"/>
          </a:bodyPr>
          <a:lstStyle/>
          <a:p>
            <a:r>
              <a:rPr lang="en-US" dirty="0"/>
              <a:t>What variables are available to the model, and when were they collected?</a:t>
            </a:r>
          </a:p>
          <a:p>
            <a:endParaRPr lang="en-US" dirty="0"/>
          </a:p>
          <a:p>
            <a:r>
              <a:rPr lang="en-US" dirty="0"/>
              <a:t>What variables are influencing the model’s prediction?</a:t>
            </a:r>
          </a:p>
          <a:p>
            <a:endParaRPr lang="en-US" dirty="0"/>
          </a:p>
          <a:p>
            <a:r>
              <a:rPr lang="en-US" dirty="0"/>
              <a:t>What findings are influencing your impression?</a:t>
            </a:r>
          </a:p>
        </p:txBody>
      </p:sp>
      <p:pic>
        <p:nvPicPr>
          <p:cNvPr id="4" name="Picture 2" descr="Welcome to the SHAP documentation — SHAP latest documentation">
            <a:extLst>
              <a:ext uri="{FF2B5EF4-FFF2-40B4-BE49-F238E27FC236}">
                <a16:creationId xmlns:a16="http://schemas.microsoft.com/office/drawing/2014/main" id="{3300977A-F1A1-6CDC-A1D8-0336D2F6C7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682" y="2145001"/>
            <a:ext cx="6773675" cy="3712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3893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89199-CC63-219A-8393-6B5412033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060DD-4F87-424D-CB1E-77205EA8665E}"/>
              </a:ext>
            </a:extLst>
          </p:cNvPr>
          <p:cNvSpPr>
            <a:spLocks noGrp="1"/>
          </p:cNvSpPr>
          <p:nvPr>
            <p:ph type="title"/>
          </p:nvPr>
        </p:nvSpPr>
        <p:spPr/>
        <p:txBody>
          <a:bodyPr/>
          <a:lstStyle/>
          <a:p>
            <a:r>
              <a:rPr lang="en-US" dirty="0"/>
              <a:t>Algorithmic Bias</a:t>
            </a:r>
          </a:p>
        </p:txBody>
      </p:sp>
      <p:sp>
        <p:nvSpPr>
          <p:cNvPr id="3" name="Text Placeholder 2">
            <a:extLst>
              <a:ext uri="{FF2B5EF4-FFF2-40B4-BE49-F238E27FC236}">
                <a16:creationId xmlns:a16="http://schemas.microsoft.com/office/drawing/2014/main" id="{51C98BD0-EF5F-919E-A428-BA65256590A1}"/>
              </a:ext>
            </a:extLst>
          </p:cNvPr>
          <p:cNvSpPr>
            <a:spLocks noGrp="1"/>
          </p:cNvSpPr>
          <p:nvPr>
            <p:ph type="body" idx="1"/>
          </p:nvPr>
        </p:nvSpPr>
        <p:spPr/>
        <p:txBody>
          <a:bodyPr/>
          <a:lstStyle/>
          <a:p>
            <a:r>
              <a:rPr lang="en-US" dirty="0"/>
              <a:t>What is it, where does it come from, and what can be done?</a:t>
            </a:r>
          </a:p>
        </p:txBody>
      </p:sp>
    </p:spTree>
    <p:extLst>
      <p:ext uri="{BB962C8B-B14F-4D97-AF65-F5344CB8AC3E}">
        <p14:creationId xmlns:p14="http://schemas.microsoft.com/office/powerpoint/2010/main" val="3143641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35833-3D4B-7B24-8689-9D5D0DAEBAAD}"/>
              </a:ext>
            </a:extLst>
          </p:cNvPr>
          <p:cNvSpPr>
            <a:spLocks noGrp="1"/>
          </p:cNvSpPr>
          <p:nvPr>
            <p:ph type="title"/>
          </p:nvPr>
        </p:nvSpPr>
        <p:spPr/>
        <p:txBody>
          <a:bodyPr/>
          <a:lstStyle/>
          <a:p>
            <a:r>
              <a:rPr lang="en-US" dirty="0"/>
              <a:t>Growing concerns about algorithmic bias</a:t>
            </a:r>
          </a:p>
        </p:txBody>
      </p:sp>
      <p:sp>
        <p:nvSpPr>
          <p:cNvPr id="3" name="Content Placeholder 2">
            <a:extLst>
              <a:ext uri="{FF2B5EF4-FFF2-40B4-BE49-F238E27FC236}">
                <a16:creationId xmlns:a16="http://schemas.microsoft.com/office/drawing/2014/main" id="{563DFC17-B94C-5ADB-DB80-15FBAB449DCA}"/>
              </a:ext>
            </a:extLst>
          </p:cNvPr>
          <p:cNvSpPr>
            <a:spLocks noGrp="1"/>
          </p:cNvSpPr>
          <p:nvPr>
            <p:ph idx="1"/>
          </p:nvPr>
        </p:nvSpPr>
        <p:spPr/>
        <p:txBody>
          <a:bodyPr>
            <a:normAutofit lnSpcReduction="10000"/>
          </a:bodyPr>
          <a:lstStyle/>
          <a:p>
            <a:pPr marL="0" indent="0">
              <a:buNone/>
            </a:pPr>
            <a:r>
              <a:rPr lang="en-US" dirty="0"/>
              <a:t>You’ve been using the model for a year now, and you’ve noticed something potentially concerning.</a:t>
            </a:r>
          </a:p>
          <a:p>
            <a:pPr marL="0" indent="0">
              <a:buNone/>
            </a:pPr>
            <a:endParaRPr lang="en-US" dirty="0"/>
          </a:p>
          <a:p>
            <a:pPr marL="0" indent="0">
              <a:buNone/>
            </a:pPr>
            <a:r>
              <a:rPr lang="en-US" dirty="0"/>
              <a:t>The model seems to preferentially refer White patients over Black patients. Specifically, you notice that Black patients are referred only if their clinical presentation is more severe compared to White patients who are referred. You are not sure why this is happening.</a:t>
            </a:r>
          </a:p>
          <a:p>
            <a:pPr marL="0" indent="0">
              <a:buNone/>
            </a:pPr>
            <a:endParaRPr lang="en-US" dirty="0"/>
          </a:p>
          <a:p>
            <a:pPr marL="0" indent="0">
              <a:buNone/>
            </a:pPr>
            <a:r>
              <a:rPr lang="en-US" u="sng" dirty="0"/>
              <a:t>Report Back</a:t>
            </a:r>
            <a:r>
              <a:rPr lang="en-US" dirty="0"/>
              <a:t>: What are some possible sources of this bias, and what could you do to investigate?</a:t>
            </a:r>
          </a:p>
        </p:txBody>
      </p:sp>
    </p:spTree>
    <p:extLst>
      <p:ext uri="{BB962C8B-B14F-4D97-AF65-F5344CB8AC3E}">
        <p14:creationId xmlns:p14="http://schemas.microsoft.com/office/powerpoint/2010/main" val="2707178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E53D9-BF08-BC6D-FA46-8CFCA53F847B}"/>
              </a:ext>
            </a:extLst>
          </p:cNvPr>
          <p:cNvSpPr>
            <a:spLocks noGrp="1"/>
          </p:cNvSpPr>
          <p:nvPr>
            <p:ph type="title"/>
          </p:nvPr>
        </p:nvSpPr>
        <p:spPr/>
        <p:txBody>
          <a:bodyPr/>
          <a:lstStyle/>
          <a:p>
            <a:r>
              <a:rPr lang="en-US" dirty="0"/>
              <a:t>Sources of Algorithmic Bias</a:t>
            </a:r>
          </a:p>
        </p:txBody>
      </p:sp>
      <p:pic>
        <p:nvPicPr>
          <p:cNvPr id="4" name="Picture 3">
            <a:extLst>
              <a:ext uri="{FF2B5EF4-FFF2-40B4-BE49-F238E27FC236}">
                <a16:creationId xmlns:a16="http://schemas.microsoft.com/office/drawing/2014/main" id="{E231724B-AA34-AD77-0ADC-3A89007AAFA9}"/>
              </a:ext>
            </a:extLst>
          </p:cNvPr>
          <p:cNvPicPr>
            <a:picLocks noChangeAspect="1"/>
          </p:cNvPicPr>
          <p:nvPr/>
        </p:nvPicPr>
        <p:blipFill>
          <a:blip r:embed="rId3"/>
          <a:stretch>
            <a:fillRect/>
          </a:stretch>
        </p:blipFill>
        <p:spPr>
          <a:xfrm>
            <a:off x="838200" y="3730952"/>
            <a:ext cx="6999363" cy="2580948"/>
          </a:xfrm>
          <a:prstGeom prst="rect">
            <a:avLst/>
          </a:prstGeom>
        </p:spPr>
      </p:pic>
      <p:sp>
        <p:nvSpPr>
          <p:cNvPr id="5" name="Content Placeholder 2">
            <a:extLst>
              <a:ext uri="{FF2B5EF4-FFF2-40B4-BE49-F238E27FC236}">
                <a16:creationId xmlns:a16="http://schemas.microsoft.com/office/drawing/2014/main" id="{6468389C-0869-2D55-5B8C-D7E693A76BF7}"/>
              </a:ext>
            </a:extLst>
          </p:cNvPr>
          <p:cNvSpPr>
            <a:spLocks noGrp="1"/>
          </p:cNvSpPr>
          <p:nvPr>
            <p:ph idx="1"/>
          </p:nvPr>
        </p:nvSpPr>
        <p:spPr>
          <a:xfrm>
            <a:off x="838200" y="1825625"/>
            <a:ext cx="10515600" cy="4351338"/>
          </a:xfrm>
        </p:spPr>
        <p:txBody>
          <a:bodyPr/>
          <a:lstStyle/>
          <a:p>
            <a:pPr marL="0" indent="0">
              <a:buNone/>
            </a:pPr>
            <a:r>
              <a:rPr lang="en-US" dirty="0"/>
              <a:t>Many possible sources, but in most cases, it’s:</a:t>
            </a:r>
          </a:p>
          <a:p>
            <a:pPr marL="514350" indent="-514350">
              <a:buFont typeface="+mj-lt"/>
              <a:buAutoNum type="arabicPeriod"/>
            </a:pPr>
            <a:r>
              <a:rPr lang="en-US" dirty="0"/>
              <a:t>Biased outcomes in training data</a:t>
            </a:r>
          </a:p>
          <a:p>
            <a:pPr marL="514350" indent="-514350">
              <a:buFont typeface="+mj-lt"/>
              <a:buAutoNum type="arabicPeriod"/>
            </a:pPr>
            <a:r>
              <a:rPr lang="en-US" dirty="0"/>
              <a:t>Poor representation of demographics</a:t>
            </a:r>
          </a:p>
        </p:txBody>
      </p:sp>
    </p:spTree>
    <p:extLst>
      <p:ext uri="{BB962C8B-B14F-4D97-AF65-F5344CB8AC3E}">
        <p14:creationId xmlns:p14="http://schemas.microsoft.com/office/powerpoint/2010/main" val="1692081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6B7B2-CCB3-EFFF-2CE2-EC830E987DDD}"/>
              </a:ext>
            </a:extLst>
          </p:cNvPr>
          <p:cNvSpPr>
            <a:spLocks noGrp="1"/>
          </p:cNvSpPr>
          <p:nvPr>
            <p:ph type="title"/>
          </p:nvPr>
        </p:nvSpPr>
        <p:spPr/>
        <p:txBody>
          <a:bodyPr/>
          <a:lstStyle/>
          <a:p>
            <a:r>
              <a:rPr lang="en-US" dirty="0"/>
              <a:t>What does it mean for a model to be </a:t>
            </a:r>
            <a:r>
              <a:rPr lang="en-US" i="1" dirty="0"/>
              <a:t>fair</a:t>
            </a:r>
            <a:r>
              <a:rPr lang="en-US" dirty="0"/>
              <a:t>?</a:t>
            </a:r>
          </a:p>
        </p:txBody>
      </p:sp>
      <p:sp>
        <p:nvSpPr>
          <p:cNvPr id="3" name="Content Placeholder 2">
            <a:extLst>
              <a:ext uri="{FF2B5EF4-FFF2-40B4-BE49-F238E27FC236}">
                <a16:creationId xmlns:a16="http://schemas.microsoft.com/office/drawing/2014/main" id="{605DC1E0-B81A-68BA-F029-53BAFC461A7D}"/>
              </a:ext>
            </a:extLst>
          </p:cNvPr>
          <p:cNvSpPr>
            <a:spLocks noGrp="1"/>
          </p:cNvSpPr>
          <p:nvPr>
            <p:ph idx="1"/>
          </p:nvPr>
        </p:nvSpPr>
        <p:spPr/>
        <p:txBody>
          <a:bodyPr>
            <a:normAutofit fontScale="92500" lnSpcReduction="10000"/>
          </a:bodyPr>
          <a:lstStyle/>
          <a:p>
            <a:pPr marL="0" indent="0">
              <a:buNone/>
            </a:pPr>
            <a:r>
              <a:rPr lang="en-US" dirty="0"/>
              <a:t>Consider whether predictions are fair between two groups A and B.</a:t>
            </a:r>
            <a:endParaRPr lang="en-US" b="1" dirty="0"/>
          </a:p>
          <a:p>
            <a:pPr marL="0" indent="0">
              <a:buNone/>
            </a:pPr>
            <a:endParaRPr lang="en-US" b="1" dirty="0"/>
          </a:p>
          <a:p>
            <a:pPr marL="0" indent="0">
              <a:buNone/>
            </a:pPr>
            <a:r>
              <a:rPr lang="en-US" b="1" dirty="0"/>
              <a:t>One possible solution </a:t>
            </a:r>
            <a:r>
              <a:rPr lang="en-US" dirty="0"/>
              <a:t>is </a:t>
            </a:r>
            <a:r>
              <a:rPr lang="en-US" i="1" dirty="0"/>
              <a:t>fairness through unawareness</a:t>
            </a:r>
            <a:r>
              <a:rPr lang="en-US" dirty="0"/>
              <a:t>, also called </a:t>
            </a:r>
            <a:r>
              <a:rPr lang="en-US" i="1" dirty="0"/>
              <a:t>blindness, </a:t>
            </a:r>
            <a:r>
              <a:rPr lang="en-US" dirty="0"/>
              <a:t>wherein the</a:t>
            </a:r>
            <a:r>
              <a:rPr lang="en-US" i="1" dirty="0"/>
              <a:t> </a:t>
            </a:r>
            <a:r>
              <a:rPr lang="en-US" dirty="0"/>
              <a:t>model is not given information about group status.</a:t>
            </a:r>
          </a:p>
          <a:p>
            <a:pPr marL="0" indent="0">
              <a:buNone/>
            </a:pPr>
            <a:endParaRPr lang="en-US" dirty="0"/>
          </a:p>
          <a:p>
            <a:pPr marL="0" indent="0">
              <a:buNone/>
            </a:pPr>
            <a:r>
              <a:rPr lang="en-US" u="sng" dirty="0"/>
              <a:t>Report back</a:t>
            </a:r>
            <a:r>
              <a:rPr lang="en-US" dirty="0"/>
              <a:t>:</a:t>
            </a:r>
          </a:p>
          <a:p>
            <a:pPr marL="0" indent="0">
              <a:buNone/>
            </a:pPr>
            <a:r>
              <a:rPr lang="en-US" dirty="0"/>
              <a:t>- What could go wrong if the model is </a:t>
            </a:r>
            <a:r>
              <a:rPr lang="en-US" i="1" dirty="0"/>
              <a:t>aware </a:t>
            </a:r>
            <a:r>
              <a:rPr lang="en-US" dirty="0"/>
              <a:t>of group status?</a:t>
            </a:r>
          </a:p>
          <a:p>
            <a:pPr marL="0" indent="0">
              <a:buNone/>
            </a:pPr>
            <a:r>
              <a:rPr lang="en-US" dirty="0"/>
              <a:t>- What could go wrong if the model is </a:t>
            </a:r>
            <a:r>
              <a:rPr lang="en-US" i="1" dirty="0"/>
              <a:t>unaware</a:t>
            </a:r>
            <a:r>
              <a:rPr lang="en-US" dirty="0"/>
              <a:t> of group status?</a:t>
            </a:r>
          </a:p>
          <a:p>
            <a:pPr marL="0" indent="0">
              <a:buNone/>
            </a:pPr>
            <a:endParaRPr lang="en-US" dirty="0"/>
          </a:p>
          <a:p>
            <a:pPr marL="0" indent="0">
              <a:buNone/>
            </a:pPr>
            <a:r>
              <a:rPr lang="en-US" dirty="0"/>
              <a:t>Then, propose an alternative approach to achieve or evaluate fairness.</a:t>
            </a:r>
          </a:p>
        </p:txBody>
      </p:sp>
    </p:spTree>
    <p:extLst>
      <p:ext uri="{BB962C8B-B14F-4D97-AF65-F5344CB8AC3E}">
        <p14:creationId xmlns:p14="http://schemas.microsoft.com/office/powerpoint/2010/main" val="1254944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3B352A-BFC2-BB9D-3FE3-7F1069B87AB9}"/>
              </a:ext>
            </a:extLst>
          </p:cNvPr>
          <p:cNvPicPr>
            <a:picLocks noChangeAspect="1"/>
          </p:cNvPicPr>
          <p:nvPr/>
        </p:nvPicPr>
        <p:blipFill>
          <a:blip r:embed="rId3"/>
          <a:stretch>
            <a:fillRect/>
          </a:stretch>
        </p:blipFill>
        <p:spPr>
          <a:xfrm>
            <a:off x="221673" y="161440"/>
            <a:ext cx="5949489" cy="6057140"/>
          </a:xfrm>
          <a:prstGeom prst="rect">
            <a:avLst/>
          </a:prstGeom>
          <a:ln>
            <a:solidFill>
              <a:schemeClr val="tx1"/>
            </a:solidFill>
          </a:ln>
        </p:spPr>
      </p:pic>
      <p:pic>
        <p:nvPicPr>
          <p:cNvPr id="5" name="Picture 4">
            <a:extLst>
              <a:ext uri="{FF2B5EF4-FFF2-40B4-BE49-F238E27FC236}">
                <a16:creationId xmlns:a16="http://schemas.microsoft.com/office/drawing/2014/main" id="{2DC82366-2A7A-2F86-6BA0-01D678268F89}"/>
              </a:ext>
            </a:extLst>
          </p:cNvPr>
          <p:cNvPicPr>
            <a:picLocks noChangeAspect="1"/>
          </p:cNvPicPr>
          <p:nvPr/>
        </p:nvPicPr>
        <p:blipFill>
          <a:blip r:embed="rId4"/>
          <a:stretch>
            <a:fillRect/>
          </a:stretch>
        </p:blipFill>
        <p:spPr>
          <a:xfrm>
            <a:off x="5559261" y="2022571"/>
            <a:ext cx="6411066" cy="4673989"/>
          </a:xfrm>
          <a:prstGeom prst="rect">
            <a:avLst/>
          </a:prstGeom>
          <a:ln>
            <a:solidFill>
              <a:schemeClr val="tx1"/>
            </a:solidFill>
          </a:ln>
        </p:spPr>
      </p:pic>
    </p:spTree>
    <p:extLst>
      <p:ext uri="{BB962C8B-B14F-4D97-AF65-F5344CB8AC3E}">
        <p14:creationId xmlns:p14="http://schemas.microsoft.com/office/powerpoint/2010/main" val="3123187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70882-8420-2637-8C96-DDA1CDE562DF}"/>
              </a:ext>
            </a:extLst>
          </p:cNvPr>
          <p:cNvSpPr>
            <a:spLocks noGrp="1"/>
          </p:cNvSpPr>
          <p:nvPr>
            <p:ph type="title"/>
          </p:nvPr>
        </p:nvSpPr>
        <p:spPr/>
        <p:txBody>
          <a:bodyPr/>
          <a:lstStyle/>
          <a:p>
            <a:r>
              <a:rPr lang="en-US" dirty="0"/>
              <a:t>Blindness can be ineffective or even harmful.</a:t>
            </a:r>
          </a:p>
        </p:txBody>
      </p:sp>
      <p:sp>
        <p:nvSpPr>
          <p:cNvPr id="4" name="TextBox 3">
            <a:extLst>
              <a:ext uri="{FF2B5EF4-FFF2-40B4-BE49-F238E27FC236}">
                <a16:creationId xmlns:a16="http://schemas.microsoft.com/office/drawing/2014/main" id="{380ABBFC-B6EE-C9AB-AFFE-6901D83C0A42}"/>
              </a:ext>
            </a:extLst>
          </p:cNvPr>
          <p:cNvSpPr txBox="1"/>
          <p:nvPr/>
        </p:nvSpPr>
        <p:spPr>
          <a:xfrm>
            <a:off x="1003610" y="1460809"/>
            <a:ext cx="5542156" cy="923330"/>
          </a:xfrm>
          <a:prstGeom prst="rect">
            <a:avLst/>
          </a:prstGeom>
          <a:noFill/>
        </p:spPr>
        <p:txBody>
          <a:bodyPr wrap="square" rtlCol="0">
            <a:spAutoFit/>
          </a:bodyPr>
          <a:lstStyle/>
          <a:p>
            <a:pPr marL="285750" indent="-285750">
              <a:buFont typeface="Arial" panose="020B0604020202020204" pitchFamily="34" charset="0"/>
              <a:buChar char="•"/>
            </a:pPr>
            <a:r>
              <a:rPr lang="en-US" dirty="0"/>
              <a:t>In some cases it is effective.</a:t>
            </a:r>
          </a:p>
          <a:p>
            <a:pPr marL="285750" indent="-285750">
              <a:buFont typeface="Arial" panose="020B0604020202020204" pitchFamily="34" charset="0"/>
              <a:buChar char="•"/>
            </a:pPr>
            <a:r>
              <a:rPr lang="en-US" dirty="0"/>
              <a:t>In other cases it isn’t enough to fix the problem.</a:t>
            </a:r>
          </a:p>
          <a:p>
            <a:pPr marL="285750" indent="-285750">
              <a:buFont typeface="Arial" panose="020B0604020202020204" pitchFamily="34" charset="0"/>
              <a:buChar char="•"/>
            </a:pPr>
            <a:r>
              <a:rPr lang="en-US" dirty="0"/>
              <a:t>In still other cases, it can make the problem worse.</a:t>
            </a:r>
          </a:p>
        </p:txBody>
      </p:sp>
      <p:pic>
        <p:nvPicPr>
          <p:cNvPr id="5" name="Picture 4">
            <a:extLst>
              <a:ext uri="{FF2B5EF4-FFF2-40B4-BE49-F238E27FC236}">
                <a16:creationId xmlns:a16="http://schemas.microsoft.com/office/drawing/2014/main" id="{47412134-F61B-713C-B521-1166A18140BF}"/>
              </a:ext>
            </a:extLst>
          </p:cNvPr>
          <p:cNvPicPr>
            <a:picLocks noChangeAspect="1"/>
          </p:cNvPicPr>
          <p:nvPr/>
        </p:nvPicPr>
        <p:blipFill rotWithShape="1">
          <a:blip r:embed="rId3"/>
          <a:srcRect b="49614"/>
          <a:stretch/>
        </p:blipFill>
        <p:spPr>
          <a:xfrm>
            <a:off x="566542" y="2365766"/>
            <a:ext cx="11058915" cy="3714789"/>
          </a:xfrm>
          <a:prstGeom prst="rect">
            <a:avLst/>
          </a:prstGeom>
        </p:spPr>
      </p:pic>
      <p:sp>
        <p:nvSpPr>
          <p:cNvPr id="6" name="TextBox 5">
            <a:extLst>
              <a:ext uri="{FF2B5EF4-FFF2-40B4-BE49-F238E27FC236}">
                <a16:creationId xmlns:a16="http://schemas.microsoft.com/office/drawing/2014/main" id="{9E9D7974-13B2-6FD2-9006-6E9BE5BFB33E}"/>
              </a:ext>
            </a:extLst>
          </p:cNvPr>
          <p:cNvSpPr txBox="1"/>
          <p:nvPr/>
        </p:nvSpPr>
        <p:spPr>
          <a:xfrm>
            <a:off x="1598229" y="5685117"/>
            <a:ext cx="10027228" cy="335476"/>
          </a:xfrm>
          <a:prstGeom prst="rect">
            <a:avLst/>
          </a:prstGeom>
          <a:solidFill>
            <a:schemeClr val="bg1"/>
          </a:solidFill>
        </p:spPr>
        <p:txBody>
          <a:bodyPr wrap="square" rtlCol="0">
            <a:spAutoFit/>
          </a:bodyPr>
          <a:lstStyle/>
          <a:p>
            <a:r>
              <a:rPr lang="en-US" sz="1600" dirty="0"/>
              <a:t>       Black-Black		White-White		Black-White	               White-Black</a:t>
            </a:r>
          </a:p>
        </p:txBody>
      </p:sp>
      <p:sp>
        <p:nvSpPr>
          <p:cNvPr id="7" name="TextBox 6">
            <a:extLst>
              <a:ext uri="{FF2B5EF4-FFF2-40B4-BE49-F238E27FC236}">
                <a16:creationId xmlns:a16="http://schemas.microsoft.com/office/drawing/2014/main" id="{454D6878-79E4-B548-24BB-CF593BEB8AC6}"/>
              </a:ext>
            </a:extLst>
          </p:cNvPr>
          <p:cNvSpPr txBox="1"/>
          <p:nvPr/>
        </p:nvSpPr>
        <p:spPr>
          <a:xfrm>
            <a:off x="5884225" y="6135063"/>
            <a:ext cx="6100996" cy="523220"/>
          </a:xfrm>
          <a:prstGeom prst="rect">
            <a:avLst/>
          </a:prstGeom>
          <a:noFill/>
        </p:spPr>
        <p:txBody>
          <a:bodyPr wrap="square">
            <a:spAutoFit/>
          </a:bodyPr>
          <a:lstStyle/>
          <a:p>
            <a:r>
              <a:rPr lang="en-US" sz="1400" dirty="0"/>
              <a:t>Engelhard et al. Exploring trade-offs in equitable stroke risk prediction with parity-constrained and race-free models. Artificial Intelligence in Medicine, 2025.</a:t>
            </a:r>
          </a:p>
        </p:txBody>
      </p:sp>
    </p:spTree>
    <p:extLst>
      <p:ext uri="{BB962C8B-B14F-4D97-AF65-F5344CB8AC3E}">
        <p14:creationId xmlns:p14="http://schemas.microsoft.com/office/powerpoint/2010/main" val="2932198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7ED58-EA68-F272-284C-3F129FA4EAAB}"/>
              </a:ext>
            </a:extLst>
          </p:cNvPr>
          <p:cNvSpPr>
            <a:spLocks noGrp="1"/>
          </p:cNvSpPr>
          <p:nvPr>
            <p:ph type="title"/>
          </p:nvPr>
        </p:nvSpPr>
        <p:spPr/>
        <p:txBody>
          <a:bodyPr/>
          <a:lstStyle/>
          <a:p>
            <a:r>
              <a:rPr lang="en-US" dirty="0"/>
              <a:t>Possible definitions of algorithmic fairness</a:t>
            </a:r>
          </a:p>
        </p:txBody>
      </p:sp>
      <p:sp>
        <p:nvSpPr>
          <p:cNvPr id="3" name="Content Placeholder 2">
            <a:extLst>
              <a:ext uri="{FF2B5EF4-FFF2-40B4-BE49-F238E27FC236}">
                <a16:creationId xmlns:a16="http://schemas.microsoft.com/office/drawing/2014/main" id="{01963A1D-F89D-E0E0-7806-774DC92B07CB}"/>
              </a:ext>
            </a:extLst>
          </p:cNvPr>
          <p:cNvSpPr>
            <a:spLocks noGrp="1"/>
          </p:cNvSpPr>
          <p:nvPr>
            <p:ph idx="1"/>
          </p:nvPr>
        </p:nvSpPr>
        <p:spPr/>
        <p:txBody>
          <a:bodyPr>
            <a:normAutofit fontScale="92500" lnSpcReduction="10000"/>
          </a:bodyPr>
          <a:lstStyle/>
          <a:p>
            <a:pPr marL="0" indent="0">
              <a:buNone/>
            </a:pPr>
            <a:r>
              <a:rPr lang="en-US" dirty="0"/>
              <a:t>Consider whether predictions are fair between two groups A and B.</a:t>
            </a:r>
          </a:p>
          <a:p>
            <a:pPr marL="514350" indent="-514350">
              <a:buFont typeface="+mj-lt"/>
              <a:buAutoNum type="arabicPeriod"/>
            </a:pPr>
            <a:endParaRPr lang="en-US" u="sng" dirty="0"/>
          </a:p>
          <a:p>
            <a:pPr marL="514350" indent="-514350">
              <a:buFont typeface="+mj-lt"/>
              <a:buAutoNum type="arabicPeriod"/>
            </a:pPr>
            <a:r>
              <a:rPr lang="en-US" u="sng" dirty="0"/>
              <a:t>Blindness</a:t>
            </a:r>
            <a:r>
              <a:rPr lang="en-US" dirty="0"/>
              <a:t>: The model </a:t>
            </a:r>
            <a:r>
              <a:rPr lang="en-US" i="1" dirty="0"/>
              <a:t>cannot see </a:t>
            </a:r>
            <a:r>
              <a:rPr lang="en-US" dirty="0"/>
              <a:t>group status</a:t>
            </a:r>
          </a:p>
          <a:p>
            <a:pPr marL="514350" indent="-514350">
              <a:buFont typeface="+mj-lt"/>
              <a:buAutoNum type="arabicPeriod"/>
            </a:pPr>
            <a:r>
              <a:rPr lang="en-US" u="sng" dirty="0"/>
              <a:t>Independence</a:t>
            </a:r>
            <a:r>
              <a:rPr lang="en-US" dirty="0"/>
              <a:t>: Model predictions are </a:t>
            </a:r>
            <a:r>
              <a:rPr lang="en-US" i="1" dirty="0"/>
              <a:t>independent</a:t>
            </a:r>
            <a:r>
              <a:rPr lang="en-US" dirty="0"/>
              <a:t> of group status</a:t>
            </a:r>
          </a:p>
          <a:p>
            <a:pPr marL="514350" indent="-514350">
              <a:buFont typeface="+mj-lt"/>
              <a:buAutoNum type="arabicPeriod"/>
            </a:pPr>
            <a:r>
              <a:rPr lang="en-US" u="sng" dirty="0"/>
              <a:t>Separation</a:t>
            </a:r>
            <a:r>
              <a:rPr lang="en-US" dirty="0"/>
              <a:t>: Model </a:t>
            </a:r>
            <a:r>
              <a:rPr lang="en-US" i="1" dirty="0"/>
              <a:t>performance</a:t>
            </a:r>
            <a:r>
              <a:rPr lang="en-US" dirty="0"/>
              <a:t> is similar in all groups</a:t>
            </a:r>
          </a:p>
          <a:p>
            <a:pPr marL="514350" indent="-514350">
              <a:buFont typeface="+mj-lt"/>
              <a:buAutoNum type="arabicPeriod"/>
            </a:pPr>
            <a:r>
              <a:rPr lang="en-US" u="sng" dirty="0"/>
              <a:t>Individual fairness</a:t>
            </a:r>
            <a:r>
              <a:rPr lang="en-US" dirty="0"/>
              <a:t>: The model makes </a:t>
            </a:r>
            <a:r>
              <a:rPr lang="en-US" i="1" dirty="0"/>
              <a:t>similar predictions </a:t>
            </a:r>
            <a:r>
              <a:rPr lang="en-US" dirty="0"/>
              <a:t>for similar individuals regardless of group status</a:t>
            </a:r>
          </a:p>
          <a:p>
            <a:pPr marL="0" indent="0">
              <a:buNone/>
            </a:pPr>
            <a:endParaRPr lang="en-US" dirty="0"/>
          </a:p>
          <a:p>
            <a:pPr marL="0" indent="0">
              <a:buNone/>
            </a:pPr>
            <a:r>
              <a:rPr lang="en-US" dirty="0"/>
              <a:t>Except under special (&amp; not realistic) circumstances, (1) – (4) are mutually exclusive.</a:t>
            </a:r>
          </a:p>
        </p:txBody>
      </p:sp>
    </p:spTree>
    <p:extLst>
      <p:ext uri="{BB962C8B-B14F-4D97-AF65-F5344CB8AC3E}">
        <p14:creationId xmlns:p14="http://schemas.microsoft.com/office/powerpoint/2010/main" val="2724225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1709-E213-2786-50C6-04D888E030A4}"/>
              </a:ext>
            </a:extLst>
          </p:cNvPr>
          <p:cNvSpPr>
            <a:spLocks noGrp="1"/>
          </p:cNvSpPr>
          <p:nvPr>
            <p:ph type="title"/>
          </p:nvPr>
        </p:nvSpPr>
        <p:spPr/>
        <p:txBody>
          <a:bodyPr/>
          <a:lstStyle/>
          <a:p>
            <a:r>
              <a:rPr lang="en-US" dirty="0"/>
              <a:t>Zooming in on </a:t>
            </a:r>
            <a:r>
              <a:rPr lang="en-US" i="1" dirty="0"/>
              <a:t>Independence</a:t>
            </a:r>
            <a:endParaRPr lang="en-US" dirty="0"/>
          </a:p>
        </p:txBody>
      </p:sp>
      <p:sp>
        <p:nvSpPr>
          <p:cNvPr id="3" name="Content Placeholder 2">
            <a:extLst>
              <a:ext uri="{FF2B5EF4-FFF2-40B4-BE49-F238E27FC236}">
                <a16:creationId xmlns:a16="http://schemas.microsoft.com/office/drawing/2014/main" id="{95543002-EB35-123D-21DC-897D2B7386A1}"/>
              </a:ext>
            </a:extLst>
          </p:cNvPr>
          <p:cNvSpPr>
            <a:spLocks noGrp="1"/>
          </p:cNvSpPr>
          <p:nvPr>
            <p:ph idx="1"/>
          </p:nvPr>
        </p:nvSpPr>
        <p:spPr>
          <a:xfrm>
            <a:off x="838200" y="1825625"/>
            <a:ext cx="3615466" cy="4351338"/>
          </a:xfrm>
        </p:spPr>
        <p:txBody>
          <a:bodyPr>
            <a:normAutofit lnSpcReduction="10000"/>
          </a:bodyPr>
          <a:lstStyle/>
          <a:p>
            <a:pPr marL="0" indent="0">
              <a:buNone/>
            </a:pPr>
            <a:r>
              <a:rPr lang="en-US" dirty="0"/>
              <a:t>Model predictions are independent of group status.</a:t>
            </a:r>
          </a:p>
          <a:p>
            <a:pPr marL="0" indent="0">
              <a:buNone/>
            </a:pPr>
            <a:endParaRPr lang="en-US" dirty="0"/>
          </a:p>
          <a:p>
            <a:pPr marL="0" indent="0">
              <a:buNone/>
            </a:pPr>
            <a:r>
              <a:rPr lang="en-US" dirty="0"/>
              <a:t>This implies that the distribution of model predictions is the same in each group.</a:t>
            </a:r>
          </a:p>
          <a:p>
            <a:pPr marL="0" indent="0">
              <a:buNone/>
            </a:pPr>
            <a:endParaRPr lang="en-US" dirty="0"/>
          </a:p>
          <a:p>
            <a:pPr marL="0" indent="0">
              <a:buNone/>
            </a:pPr>
            <a:r>
              <a:rPr lang="en-US" dirty="0"/>
              <a:t>Is this </a:t>
            </a:r>
            <a:r>
              <a:rPr lang="en-US" b="1" dirty="0"/>
              <a:t>fair</a:t>
            </a:r>
            <a:r>
              <a:rPr lang="en-US" dirty="0"/>
              <a:t>?</a:t>
            </a:r>
          </a:p>
        </p:txBody>
      </p:sp>
      <p:pic>
        <p:nvPicPr>
          <p:cNvPr id="4" name="Picture 3">
            <a:extLst>
              <a:ext uri="{FF2B5EF4-FFF2-40B4-BE49-F238E27FC236}">
                <a16:creationId xmlns:a16="http://schemas.microsoft.com/office/drawing/2014/main" id="{AA3AFE9E-8092-5D7C-DEB3-0041151E4811}"/>
              </a:ext>
            </a:extLst>
          </p:cNvPr>
          <p:cNvPicPr>
            <a:picLocks noChangeAspect="1"/>
          </p:cNvPicPr>
          <p:nvPr/>
        </p:nvPicPr>
        <p:blipFill>
          <a:blip r:embed="rId3"/>
          <a:stretch>
            <a:fillRect/>
          </a:stretch>
        </p:blipFill>
        <p:spPr>
          <a:xfrm>
            <a:off x="5088367" y="1328626"/>
            <a:ext cx="6647329" cy="4985497"/>
          </a:xfrm>
          <a:prstGeom prst="rect">
            <a:avLst/>
          </a:prstGeom>
        </p:spPr>
      </p:pic>
      <p:sp>
        <p:nvSpPr>
          <p:cNvPr id="5" name="TextBox 4">
            <a:extLst>
              <a:ext uri="{FF2B5EF4-FFF2-40B4-BE49-F238E27FC236}">
                <a16:creationId xmlns:a16="http://schemas.microsoft.com/office/drawing/2014/main" id="{47C5A11C-50E4-B816-F59F-E792C06AED14}"/>
              </a:ext>
            </a:extLst>
          </p:cNvPr>
          <p:cNvSpPr txBox="1"/>
          <p:nvPr/>
        </p:nvSpPr>
        <p:spPr>
          <a:xfrm>
            <a:off x="6884894" y="5807631"/>
            <a:ext cx="3288785" cy="369332"/>
          </a:xfrm>
          <a:prstGeom prst="rect">
            <a:avLst/>
          </a:prstGeom>
          <a:solidFill>
            <a:schemeClr val="bg1"/>
          </a:solidFill>
        </p:spPr>
        <p:txBody>
          <a:bodyPr wrap="none" rtlCol="0">
            <a:spAutoFit/>
          </a:bodyPr>
          <a:lstStyle/>
          <a:p>
            <a:r>
              <a:rPr lang="en-US" dirty="0"/>
              <a:t>Black		             White</a:t>
            </a:r>
          </a:p>
        </p:txBody>
      </p:sp>
    </p:spTree>
    <p:extLst>
      <p:ext uri="{BB962C8B-B14F-4D97-AF65-F5344CB8AC3E}">
        <p14:creationId xmlns:p14="http://schemas.microsoft.com/office/powerpoint/2010/main" val="225116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AD58F-9B44-064B-AAAB-DFDEECCACD9B}"/>
              </a:ext>
            </a:extLst>
          </p:cNvPr>
          <p:cNvSpPr>
            <a:spLocks noGrp="1"/>
          </p:cNvSpPr>
          <p:nvPr>
            <p:ph type="title"/>
          </p:nvPr>
        </p:nvSpPr>
        <p:spPr/>
        <p:txBody>
          <a:bodyPr/>
          <a:lstStyle/>
          <a:p>
            <a:r>
              <a:rPr lang="en-US" dirty="0"/>
              <a:t>Zooming in on </a:t>
            </a:r>
            <a:r>
              <a:rPr lang="en-US" i="1" dirty="0"/>
              <a:t>Separation</a:t>
            </a:r>
            <a:endParaRPr lang="en-US" i="1" u="sng" dirty="0"/>
          </a:p>
        </p:txBody>
      </p:sp>
      <p:pic>
        <p:nvPicPr>
          <p:cNvPr id="4" name="Picture 3">
            <a:extLst>
              <a:ext uri="{FF2B5EF4-FFF2-40B4-BE49-F238E27FC236}">
                <a16:creationId xmlns:a16="http://schemas.microsoft.com/office/drawing/2014/main" id="{5EE3EF44-9716-F8F9-2FE4-B998DD264BCC}"/>
              </a:ext>
            </a:extLst>
          </p:cNvPr>
          <p:cNvPicPr>
            <a:picLocks noChangeAspect="1"/>
          </p:cNvPicPr>
          <p:nvPr/>
        </p:nvPicPr>
        <p:blipFill>
          <a:blip r:embed="rId3"/>
          <a:stretch>
            <a:fillRect/>
          </a:stretch>
        </p:blipFill>
        <p:spPr>
          <a:xfrm>
            <a:off x="5120641" y="1286129"/>
            <a:ext cx="6521112" cy="4890834"/>
          </a:xfrm>
          <a:prstGeom prst="rect">
            <a:avLst/>
          </a:prstGeom>
        </p:spPr>
      </p:pic>
      <p:sp>
        <p:nvSpPr>
          <p:cNvPr id="7" name="Content Placeholder 2">
            <a:extLst>
              <a:ext uri="{FF2B5EF4-FFF2-40B4-BE49-F238E27FC236}">
                <a16:creationId xmlns:a16="http://schemas.microsoft.com/office/drawing/2014/main" id="{9AE2BA42-256B-72DC-79C9-BD98ECDE065A}"/>
              </a:ext>
            </a:extLst>
          </p:cNvPr>
          <p:cNvSpPr txBox="1">
            <a:spLocks/>
          </p:cNvSpPr>
          <p:nvPr/>
        </p:nvSpPr>
        <p:spPr>
          <a:xfrm>
            <a:off x="838200" y="1825625"/>
            <a:ext cx="3615466"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Model predictions are independent of group status </a:t>
            </a:r>
            <a:r>
              <a:rPr lang="en-US" i="1" dirty="0"/>
              <a:t>after conditioning on the outcome</a:t>
            </a:r>
            <a:r>
              <a:rPr lang="en-US" dirty="0"/>
              <a:t>.</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This implies when considering individuals </a:t>
            </a:r>
            <a:r>
              <a:rPr lang="en-US" i="1" dirty="0"/>
              <a:t>with the same outcome</a:t>
            </a:r>
            <a:r>
              <a:rPr lang="en-US" dirty="0"/>
              <a:t>, the distribution of model predictions is the same in each group.</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Is this </a:t>
            </a:r>
            <a:r>
              <a:rPr lang="en-US" b="1" dirty="0"/>
              <a:t>fair</a:t>
            </a:r>
            <a:r>
              <a:rPr lang="en-US" dirty="0"/>
              <a:t>?</a:t>
            </a:r>
          </a:p>
        </p:txBody>
      </p:sp>
      <p:sp>
        <p:nvSpPr>
          <p:cNvPr id="8" name="TextBox 7">
            <a:extLst>
              <a:ext uri="{FF2B5EF4-FFF2-40B4-BE49-F238E27FC236}">
                <a16:creationId xmlns:a16="http://schemas.microsoft.com/office/drawing/2014/main" id="{0BDACEBA-4A77-3921-FD43-5A239CA3216C}"/>
              </a:ext>
            </a:extLst>
          </p:cNvPr>
          <p:cNvSpPr txBox="1"/>
          <p:nvPr/>
        </p:nvSpPr>
        <p:spPr>
          <a:xfrm>
            <a:off x="6282465" y="5678540"/>
            <a:ext cx="1995162" cy="369332"/>
          </a:xfrm>
          <a:prstGeom prst="rect">
            <a:avLst/>
          </a:prstGeom>
          <a:solidFill>
            <a:schemeClr val="bg1"/>
          </a:solidFill>
        </p:spPr>
        <p:txBody>
          <a:bodyPr wrap="none" rtlCol="0">
            <a:spAutoFit/>
          </a:bodyPr>
          <a:lstStyle/>
          <a:p>
            <a:r>
              <a:rPr lang="en-US" dirty="0"/>
              <a:t>Black	     White</a:t>
            </a:r>
          </a:p>
        </p:txBody>
      </p:sp>
      <p:sp>
        <p:nvSpPr>
          <p:cNvPr id="9" name="TextBox 8">
            <a:extLst>
              <a:ext uri="{FF2B5EF4-FFF2-40B4-BE49-F238E27FC236}">
                <a16:creationId xmlns:a16="http://schemas.microsoft.com/office/drawing/2014/main" id="{BD2423AC-58D0-D02D-AC6E-3AA01504F378}"/>
              </a:ext>
            </a:extLst>
          </p:cNvPr>
          <p:cNvSpPr txBox="1"/>
          <p:nvPr/>
        </p:nvSpPr>
        <p:spPr>
          <a:xfrm>
            <a:off x="8736107" y="5678540"/>
            <a:ext cx="1995162" cy="369332"/>
          </a:xfrm>
          <a:prstGeom prst="rect">
            <a:avLst/>
          </a:prstGeom>
          <a:solidFill>
            <a:schemeClr val="bg1"/>
          </a:solidFill>
        </p:spPr>
        <p:txBody>
          <a:bodyPr wrap="none" rtlCol="0">
            <a:spAutoFit/>
          </a:bodyPr>
          <a:lstStyle/>
          <a:p>
            <a:r>
              <a:rPr lang="en-US" dirty="0"/>
              <a:t>Black	     White</a:t>
            </a:r>
          </a:p>
        </p:txBody>
      </p:sp>
      <p:sp>
        <p:nvSpPr>
          <p:cNvPr id="10" name="TextBox 9">
            <a:extLst>
              <a:ext uri="{FF2B5EF4-FFF2-40B4-BE49-F238E27FC236}">
                <a16:creationId xmlns:a16="http://schemas.microsoft.com/office/drawing/2014/main" id="{7919E035-18B3-0505-5677-805DF8EDFBFD}"/>
              </a:ext>
            </a:extLst>
          </p:cNvPr>
          <p:cNvSpPr txBox="1"/>
          <p:nvPr/>
        </p:nvSpPr>
        <p:spPr>
          <a:xfrm>
            <a:off x="8595043" y="6168647"/>
            <a:ext cx="2277290" cy="369332"/>
          </a:xfrm>
          <a:prstGeom prst="rect">
            <a:avLst/>
          </a:prstGeom>
          <a:solidFill>
            <a:schemeClr val="bg1"/>
          </a:solidFill>
        </p:spPr>
        <p:txBody>
          <a:bodyPr wrap="none" rtlCol="0">
            <a:spAutoFit/>
          </a:bodyPr>
          <a:lstStyle/>
          <a:p>
            <a:r>
              <a:rPr lang="en-US" dirty="0"/>
              <a:t>Progressed to Stage IV</a:t>
            </a:r>
          </a:p>
        </p:txBody>
      </p:sp>
      <p:sp>
        <p:nvSpPr>
          <p:cNvPr id="11" name="TextBox 10">
            <a:extLst>
              <a:ext uri="{FF2B5EF4-FFF2-40B4-BE49-F238E27FC236}">
                <a16:creationId xmlns:a16="http://schemas.microsoft.com/office/drawing/2014/main" id="{16A1B713-627D-971D-B5E2-7D33B850B7DF}"/>
              </a:ext>
            </a:extLst>
          </p:cNvPr>
          <p:cNvSpPr txBox="1"/>
          <p:nvPr/>
        </p:nvSpPr>
        <p:spPr>
          <a:xfrm>
            <a:off x="6416828" y="6176963"/>
            <a:ext cx="1726435" cy="369332"/>
          </a:xfrm>
          <a:prstGeom prst="rect">
            <a:avLst/>
          </a:prstGeom>
          <a:solidFill>
            <a:schemeClr val="bg1"/>
          </a:solidFill>
        </p:spPr>
        <p:txBody>
          <a:bodyPr wrap="none" rtlCol="0">
            <a:spAutoFit/>
          </a:bodyPr>
          <a:lstStyle/>
          <a:p>
            <a:r>
              <a:rPr lang="en-US" dirty="0"/>
              <a:t>Did not Progress</a:t>
            </a:r>
          </a:p>
        </p:txBody>
      </p:sp>
    </p:spTree>
    <p:extLst>
      <p:ext uri="{BB962C8B-B14F-4D97-AF65-F5344CB8AC3E}">
        <p14:creationId xmlns:p14="http://schemas.microsoft.com/office/powerpoint/2010/main" val="2472656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7ED58-EA68-F272-284C-3F129FA4EAAB}"/>
              </a:ext>
            </a:extLst>
          </p:cNvPr>
          <p:cNvSpPr>
            <a:spLocks noGrp="1"/>
          </p:cNvSpPr>
          <p:nvPr>
            <p:ph type="title"/>
          </p:nvPr>
        </p:nvSpPr>
        <p:spPr/>
        <p:txBody>
          <a:bodyPr/>
          <a:lstStyle/>
          <a:p>
            <a:r>
              <a:rPr lang="en-US" dirty="0"/>
              <a:t>Possible definitions of algorithmic fairness</a:t>
            </a:r>
          </a:p>
        </p:txBody>
      </p:sp>
      <p:sp>
        <p:nvSpPr>
          <p:cNvPr id="3" name="Content Placeholder 2">
            <a:extLst>
              <a:ext uri="{FF2B5EF4-FFF2-40B4-BE49-F238E27FC236}">
                <a16:creationId xmlns:a16="http://schemas.microsoft.com/office/drawing/2014/main" id="{01963A1D-F89D-E0E0-7806-774DC92B07CB}"/>
              </a:ext>
            </a:extLst>
          </p:cNvPr>
          <p:cNvSpPr>
            <a:spLocks noGrp="1"/>
          </p:cNvSpPr>
          <p:nvPr>
            <p:ph idx="1"/>
          </p:nvPr>
        </p:nvSpPr>
        <p:spPr/>
        <p:txBody>
          <a:bodyPr>
            <a:normAutofit fontScale="92500" lnSpcReduction="10000"/>
          </a:bodyPr>
          <a:lstStyle/>
          <a:p>
            <a:pPr marL="0" indent="0">
              <a:buNone/>
            </a:pPr>
            <a:r>
              <a:rPr lang="en-US" dirty="0"/>
              <a:t>Consider whether predictions are fair between two groups A and B.</a:t>
            </a:r>
          </a:p>
          <a:p>
            <a:pPr marL="514350" indent="-514350">
              <a:buFont typeface="+mj-lt"/>
              <a:buAutoNum type="arabicPeriod"/>
            </a:pPr>
            <a:endParaRPr lang="en-US" u="sng" dirty="0"/>
          </a:p>
          <a:p>
            <a:pPr marL="514350" indent="-514350">
              <a:buFont typeface="+mj-lt"/>
              <a:buAutoNum type="arabicPeriod"/>
            </a:pPr>
            <a:r>
              <a:rPr lang="en-US" u="sng" dirty="0"/>
              <a:t>Blindness</a:t>
            </a:r>
            <a:r>
              <a:rPr lang="en-US" dirty="0"/>
              <a:t>: The model </a:t>
            </a:r>
            <a:r>
              <a:rPr lang="en-US" i="1" dirty="0"/>
              <a:t>cannot see </a:t>
            </a:r>
            <a:r>
              <a:rPr lang="en-US" dirty="0"/>
              <a:t>group status</a:t>
            </a:r>
          </a:p>
          <a:p>
            <a:pPr marL="514350" indent="-514350">
              <a:buFont typeface="+mj-lt"/>
              <a:buAutoNum type="arabicPeriod"/>
            </a:pPr>
            <a:r>
              <a:rPr lang="en-US" u="sng" dirty="0"/>
              <a:t>Independence</a:t>
            </a:r>
            <a:r>
              <a:rPr lang="en-US" dirty="0"/>
              <a:t>: Model predictions are </a:t>
            </a:r>
            <a:r>
              <a:rPr lang="en-US" i="1" dirty="0"/>
              <a:t>independent</a:t>
            </a:r>
            <a:r>
              <a:rPr lang="en-US" dirty="0"/>
              <a:t> of group status</a:t>
            </a:r>
          </a:p>
          <a:p>
            <a:pPr marL="514350" indent="-514350">
              <a:buFont typeface="+mj-lt"/>
              <a:buAutoNum type="arabicPeriod"/>
            </a:pPr>
            <a:r>
              <a:rPr lang="en-US" u="sng" dirty="0"/>
              <a:t>Separation</a:t>
            </a:r>
            <a:r>
              <a:rPr lang="en-US" dirty="0"/>
              <a:t>: Model </a:t>
            </a:r>
            <a:r>
              <a:rPr lang="en-US" i="1" dirty="0"/>
              <a:t>performance</a:t>
            </a:r>
            <a:r>
              <a:rPr lang="en-US" dirty="0"/>
              <a:t> is similar in all groups</a:t>
            </a:r>
          </a:p>
          <a:p>
            <a:pPr marL="514350" indent="-514350">
              <a:buFont typeface="+mj-lt"/>
              <a:buAutoNum type="arabicPeriod"/>
            </a:pPr>
            <a:r>
              <a:rPr lang="en-US" u="sng" dirty="0"/>
              <a:t>Individual fairness</a:t>
            </a:r>
            <a:r>
              <a:rPr lang="en-US" dirty="0"/>
              <a:t>: The model makes </a:t>
            </a:r>
            <a:r>
              <a:rPr lang="en-US" i="1" dirty="0"/>
              <a:t>similar predictions </a:t>
            </a:r>
            <a:r>
              <a:rPr lang="en-US" dirty="0"/>
              <a:t>for similar individuals regardless of group status</a:t>
            </a:r>
          </a:p>
          <a:p>
            <a:pPr marL="0" indent="0">
              <a:buNone/>
            </a:pPr>
            <a:endParaRPr lang="en-US" dirty="0"/>
          </a:p>
          <a:p>
            <a:pPr marL="0" indent="0">
              <a:buNone/>
            </a:pPr>
            <a:r>
              <a:rPr lang="en-US" dirty="0"/>
              <a:t>Except under special (&amp; not realistic) circumstances, (1) – (4) are mutually exclusive.</a:t>
            </a:r>
          </a:p>
        </p:txBody>
      </p:sp>
    </p:spTree>
    <p:extLst>
      <p:ext uri="{BB962C8B-B14F-4D97-AF65-F5344CB8AC3E}">
        <p14:creationId xmlns:p14="http://schemas.microsoft.com/office/powerpoint/2010/main" val="3509328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E9602-7996-482A-CDD1-D82CF04DE856}"/>
              </a:ext>
            </a:extLst>
          </p:cNvPr>
          <p:cNvSpPr>
            <a:spLocks noGrp="1"/>
          </p:cNvSpPr>
          <p:nvPr>
            <p:ph type="title"/>
          </p:nvPr>
        </p:nvSpPr>
        <p:spPr/>
        <p:txBody>
          <a:bodyPr/>
          <a:lstStyle/>
          <a:p>
            <a:r>
              <a:rPr lang="en-US" dirty="0"/>
              <a:t>Algorithmic Bias: A Wicked Problem?</a:t>
            </a:r>
          </a:p>
        </p:txBody>
      </p:sp>
      <p:sp>
        <p:nvSpPr>
          <p:cNvPr id="5" name="TextBox 4">
            <a:extLst>
              <a:ext uri="{FF2B5EF4-FFF2-40B4-BE49-F238E27FC236}">
                <a16:creationId xmlns:a16="http://schemas.microsoft.com/office/drawing/2014/main" id="{E8D29DB3-8614-B5EC-FB92-F3C25022FD6D}"/>
              </a:ext>
            </a:extLst>
          </p:cNvPr>
          <p:cNvSpPr txBox="1"/>
          <p:nvPr/>
        </p:nvSpPr>
        <p:spPr>
          <a:xfrm>
            <a:off x="838200" y="1944445"/>
            <a:ext cx="3766073" cy="2585323"/>
          </a:xfrm>
          <a:prstGeom prst="rect">
            <a:avLst/>
          </a:prstGeom>
          <a:noFill/>
        </p:spPr>
        <p:txBody>
          <a:bodyPr wrap="square">
            <a:spAutoFit/>
          </a:bodyPr>
          <a:lstStyle/>
          <a:p>
            <a:pPr algn="l">
              <a:buFont typeface="+mj-lt"/>
              <a:buAutoNum type="arabicPeriod"/>
            </a:pPr>
            <a:r>
              <a:rPr lang="en-US" b="0" i="0" u="none" strike="noStrike" dirty="0">
                <a:solidFill>
                  <a:srgbClr val="373D3F"/>
                </a:solidFill>
                <a:effectLst/>
                <a:latin typeface="Encode Sans"/>
              </a:rPr>
              <a:t> No definitive formulation</a:t>
            </a:r>
          </a:p>
          <a:p>
            <a:pPr algn="l">
              <a:buFont typeface="+mj-lt"/>
              <a:buAutoNum type="arabicPeriod"/>
            </a:pPr>
            <a:r>
              <a:rPr lang="en-US" b="0" i="0" u="none" strike="noStrike" dirty="0">
                <a:solidFill>
                  <a:srgbClr val="373D3F"/>
                </a:solidFill>
                <a:effectLst/>
                <a:latin typeface="Encode Sans"/>
              </a:rPr>
              <a:t> Problem is ongoing</a:t>
            </a:r>
          </a:p>
          <a:p>
            <a:pPr algn="l">
              <a:buFont typeface="+mj-lt"/>
              <a:buAutoNum type="arabicPeriod"/>
            </a:pPr>
            <a:r>
              <a:rPr lang="en-US" b="0" i="0" u="none" strike="noStrike" dirty="0">
                <a:solidFill>
                  <a:srgbClr val="373D3F"/>
                </a:solidFill>
                <a:effectLst/>
                <a:latin typeface="Encode Sans"/>
              </a:rPr>
              <a:t> Difficult to define or test success</a:t>
            </a:r>
          </a:p>
          <a:p>
            <a:pPr algn="l">
              <a:buFont typeface="+mj-lt"/>
              <a:buAutoNum type="arabicPeriod"/>
            </a:pPr>
            <a:r>
              <a:rPr lang="en-US" b="0" i="0" u="none" strike="noStrike" dirty="0">
                <a:solidFill>
                  <a:srgbClr val="373D3F"/>
                </a:solidFill>
                <a:effectLst/>
                <a:latin typeface="Encode Sans"/>
              </a:rPr>
              <a:t> Possible solutions have effects that may not be reversable</a:t>
            </a:r>
          </a:p>
          <a:p>
            <a:pPr algn="l">
              <a:buFont typeface="+mj-lt"/>
              <a:buAutoNum type="arabicPeriod"/>
            </a:pPr>
            <a:r>
              <a:rPr lang="en-US" b="0" i="0" u="none" strike="noStrike" dirty="0">
                <a:solidFill>
                  <a:srgbClr val="373D3F"/>
                </a:solidFill>
                <a:effectLst/>
                <a:latin typeface="Encode Sans"/>
              </a:rPr>
              <a:t> Can be considered to be a symptom of another problem</a:t>
            </a:r>
          </a:p>
          <a:p>
            <a:pPr algn="l">
              <a:buFont typeface="+mj-lt"/>
              <a:buAutoNum type="arabicPeriod"/>
            </a:pPr>
            <a:r>
              <a:rPr lang="en-US" b="0" i="0" u="none" strike="noStrike" dirty="0">
                <a:solidFill>
                  <a:srgbClr val="373D3F"/>
                </a:solidFill>
                <a:effectLst/>
                <a:latin typeface="Encode Sans"/>
              </a:rPr>
              <a:t> Many explanations for the problem</a:t>
            </a:r>
          </a:p>
          <a:p>
            <a:pPr algn="l">
              <a:buFont typeface="+mj-lt"/>
              <a:buAutoNum type="arabicPeriod"/>
            </a:pPr>
            <a:r>
              <a:rPr lang="en-US" dirty="0">
                <a:solidFill>
                  <a:srgbClr val="373D3F"/>
                </a:solidFill>
                <a:latin typeface="Encode Sans"/>
              </a:rPr>
              <a:t> No right or wrong answers</a:t>
            </a:r>
            <a:endParaRPr lang="en-US" b="0" i="0" u="none" strike="noStrike" dirty="0">
              <a:solidFill>
                <a:srgbClr val="373D3F"/>
              </a:solidFill>
              <a:effectLst/>
              <a:latin typeface="Encode Sans"/>
            </a:endParaRPr>
          </a:p>
        </p:txBody>
      </p:sp>
      <p:pic>
        <p:nvPicPr>
          <p:cNvPr id="2050" name="Picture 2" descr="An image with 18 boxes arranged in 3 rows. 17 of the boxes indicate the 17 sustainable development goals, and the 18th box says 'Sustainable Development Goals'. The title says 'Sustainable Development Goals with the UN logo on the left.">
            <a:extLst>
              <a:ext uri="{FF2B5EF4-FFF2-40B4-BE49-F238E27FC236}">
                <a16:creationId xmlns:a16="http://schemas.microsoft.com/office/drawing/2014/main" id="{C14B00DB-69B6-F089-85B5-3B378FDEB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6244" y="1904104"/>
            <a:ext cx="6908401" cy="440410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2F083E6-8033-8B60-1F50-216B9973EB19}"/>
              </a:ext>
            </a:extLst>
          </p:cNvPr>
          <p:cNvSpPr txBox="1"/>
          <p:nvPr/>
        </p:nvSpPr>
        <p:spPr>
          <a:xfrm>
            <a:off x="838200" y="4783525"/>
            <a:ext cx="2522668" cy="369332"/>
          </a:xfrm>
          <a:prstGeom prst="rect">
            <a:avLst/>
          </a:prstGeom>
          <a:noFill/>
        </p:spPr>
        <p:txBody>
          <a:bodyPr wrap="square">
            <a:spAutoFit/>
          </a:bodyPr>
          <a:lstStyle/>
          <a:p>
            <a:r>
              <a:rPr lang="en-US" b="0" i="0" u="none" strike="noStrike" dirty="0" err="1">
                <a:solidFill>
                  <a:srgbClr val="373D3F"/>
                </a:solidFill>
                <a:effectLst/>
                <a:latin typeface="Encode Sans"/>
              </a:rPr>
              <a:t>Rittell</a:t>
            </a:r>
            <a:r>
              <a:rPr lang="en-US" b="0" i="0" u="none" strike="noStrike" dirty="0">
                <a:solidFill>
                  <a:srgbClr val="373D3F"/>
                </a:solidFill>
                <a:effectLst/>
                <a:latin typeface="Encode Sans"/>
              </a:rPr>
              <a:t> and Webber, 1973</a:t>
            </a:r>
            <a:endParaRPr lang="en-US" dirty="0"/>
          </a:p>
        </p:txBody>
      </p:sp>
    </p:spTree>
    <p:extLst>
      <p:ext uri="{BB962C8B-B14F-4D97-AF65-F5344CB8AC3E}">
        <p14:creationId xmlns:p14="http://schemas.microsoft.com/office/powerpoint/2010/main" val="1972438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9D7914-CAD9-EADE-A918-222EF904B082}"/>
              </a:ext>
            </a:extLst>
          </p:cNvPr>
          <p:cNvPicPr>
            <a:picLocks noChangeAspect="1"/>
          </p:cNvPicPr>
          <p:nvPr/>
        </p:nvPicPr>
        <p:blipFill>
          <a:blip r:embed="rId3"/>
          <a:stretch>
            <a:fillRect/>
          </a:stretch>
        </p:blipFill>
        <p:spPr>
          <a:xfrm>
            <a:off x="4346608" y="68123"/>
            <a:ext cx="7772400" cy="6721753"/>
          </a:xfrm>
          <a:prstGeom prst="rect">
            <a:avLst/>
          </a:prstGeom>
        </p:spPr>
      </p:pic>
      <p:sp>
        <p:nvSpPr>
          <p:cNvPr id="3" name="Title 1">
            <a:extLst>
              <a:ext uri="{FF2B5EF4-FFF2-40B4-BE49-F238E27FC236}">
                <a16:creationId xmlns:a16="http://schemas.microsoft.com/office/drawing/2014/main" id="{5234F616-8001-3454-CFDC-DB9EB443E18D}"/>
              </a:ext>
            </a:extLst>
          </p:cNvPr>
          <p:cNvSpPr txBox="1">
            <a:spLocks/>
          </p:cNvSpPr>
          <p:nvPr/>
        </p:nvSpPr>
        <p:spPr>
          <a:xfrm>
            <a:off x="464894" y="396877"/>
            <a:ext cx="3327787" cy="498359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How do we</a:t>
            </a:r>
          </a:p>
          <a:p>
            <a:r>
              <a:rPr lang="en-US" sz="3600" dirty="0"/>
              <a:t>- evaluate</a:t>
            </a:r>
          </a:p>
          <a:p>
            <a:r>
              <a:rPr lang="en-US" sz="3600" dirty="0"/>
              <a:t>- understand</a:t>
            </a:r>
          </a:p>
          <a:p>
            <a:r>
              <a:rPr lang="en-US" sz="3600" dirty="0"/>
              <a:t>- debias</a:t>
            </a:r>
          </a:p>
          <a:p>
            <a:r>
              <a:rPr lang="en-US" sz="3600" dirty="0"/>
              <a:t>generative AI?</a:t>
            </a:r>
          </a:p>
          <a:p>
            <a:endParaRPr lang="en-US" sz="3600" dirty="0"/>
          </a:p>
          <a:p>
            <a:endParaRPr lang="en-US" sz="3600" dirty="0"/>
          </a:p>
          <a:p>
            <a:r>
              <a:rPr lang="en-US" sz="3600" dirty="0"/>
              <a:t>Will </a:t>
            </a:r>
            <a:r>
              <a:rPr lang="en-US" sz="3600" dirty="0" err="1"/>
              <a:t>genAI</a:t>
            </a:r>
            <a:r>
              <a:rPr lang="en-US" sz="3600" dirty="0"/>
              <a:t> help address biases, or exacerbate them?</a:t>
            </a:r>
          </a:p>
        </p:txBody>
      </p:sp>
    </p:spTree>
    <p:extLst>
      <p:ext uri="{BB962C8B-B14F-4D97-AF65-F5344CB8AC3E}">
        <p14:creationId xmlns:p14="http://schemas.microsoft.com/office/powerpoint/2010/main" val="1223891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4C618-2854-3C42-AABA-CF4186A70176}"/>
              </a:ext>
            </a:extLst>
          </p:cNvPr>
          <p:cNvSpPr>
            <a:spLocks noGrp="1"/>
          </p:cNvSpPr>
          <p:nvPr>
            <p:ph type="title"/>
          </p:nvPr>
        </p:nvSpPr>
        <p:spPr/>
        <p:txBody>
          <a:bodyPr/>
          <a:lstStyle/>
          <a:p>
            <a:r>
              <a:rPr lang="en-US" dirty="0"/>
              <a:t>Toward </a:t>
            </a:r>
            <a:r>
              <a:rPr lang="en-US" i="1" dirty="0"/>
              <a:t>Trustworthy</a:t>
            </a:r>
            <a:r>
              <a:rPr lang="en-US" dirty="0"/>
              <a:t> CDS Development</a:t>
            </a:r>
          </a:p>
        </p:txBody>
      </p:sp>
      <p:pic>
        <p:nvPicPr>
          <p:cNvPr id="1026" name="Picture 2">
            <a:extLst>
              <a:ext uri="{FF2B5EF4-FFF2-40B4-BE49-F238E27FC236}">
                <a16:creationId xmlns:a16="http://schemas.microsoft.com/office/drawing/2014/main" id="{F83891A3-70E7-7180-3C12-6B1816CF5E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2079" y="1648849"/>
            <a:ext cx="7256072" cy="48440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uke AI Health">
            <a:extLst>
              <a:ext uri="{FF2B5EF4-FFF2-40B4-BE49-F238E27FC236}">
                <a16:creationId xmlns:a16="http://schemas.microsoft.com/office/drawing/2014/main" id="{08270D26-F5C9-5D4E-8DF9-518537761F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429000"/>
            <a:ext cx="2730500" cy="96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9231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1549</TotalTime>
  <Words>1722</Words>
  <Application>Microsoft Macintosh PowerPoint</Application>
  <PresentationFormat>Widescreen</PresentationFormat>
  <Paragraphs>231</Paragraphs>
  <Slides>19</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-apple-system</vt:lpstr>
      <vt:lpstr>Arial</vt:lpstr>
      <vt:lpstr>Calibri</vt:lpstr>
      <vt:lpstr>Calibri Light</vt:lpstr>
      <vt:lpstr>Encode Sans</vt:lpstr>
      <vt:lpstr>Office Theme</vt:lpstr>
      <vt:lpstr>AI Interpretation and Bias</vt:lpstr>
      <vt:lpstr>Investigating model predictions</vt:lpstr>
      <vt:lpstr>When expert and model disagree…</vt:lpstr>
      <vt:lpstr>Key Questions</vt:lpstr>
      <vt:lpstr>Report Back:  What else should you know to use the model?</vt:lpstr>
      <vt:lpstr>Understanding Model Predictions</vt:lpstr>
      <vt:lpstr>Algorithmic Bias</vt:lpstr>
      <vt:lpstr>Growing concerns about algorithmic bias</vt:lpstr>
      <vt:lpstr>Sources of Algorithmic Bias</vt:lpstr>
      <vt:lpstr>What does it mean for a model to be fair?</vt:lpstr>
      <vt:lpstr>PowerPoint Presentation</vt:lpstr>
      <vt:lpstr>Blindness can be ineffective or even harmful.</vt:lpstr>
      <vt:lpstr>Possible definitions of algorithmic fairness</vt:lpstr>
      <vt:lpstr>Zooming in on Independence</vt:lpstr>
      <vt:lpstr>Zooming in on Separation</vt:lpstr>
      <vt:lpstr>Possible definitions of algorithmic fairness</vt:lpstr>
      <vt:lpstr>Algorithmic Bias: A Wicked Problem?</vt:lpstr>
      <vt:lpstr>PowerPoint Presentation</vt:lpstr>
      <vt:lpstr>Toward Trustworthy CDS Development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Matthew Engelhard, M.D., Ph.D.</dc:creator>
  <cp:lastModifiedBy>Matthew Engelhard, M.D., Ph.D.</cp:lastModifiedBy>
  <cp:revision>27</cp:revision>
  <dcterms:created xsi:type="dcterms:W3CDTF">2023-10-25T18:29:18Z</dcterms:created>
  <dcterms:modified xsi:type="dcterms:W3CDTF">2025-07-12T01:52:01Z</dcterms:modified>
</cp:coreProperties>
</file>