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1"/>
  </p:notesMasterIdLst>
  <p:sldIdLst>
    <p:sldId id="256" r:id="rId2"/>
    <p:sldId id="257" r:id="rId3"/>
    <p:sldId id="258" r:id="rId4"/>
    <p:sldId id="259" r:id="rId5"/>
    <p:sldId id="544" r:id="rId6"/>
    <p:sldId id="262" r:id="rId7"/>
    <p:sldId id="263" r:id="rId8"/>
    <p:sldId id="264" r:id="rId9"/>
    <p:sldId id="542" r:id="rId10"/>
    <p:sldId id="543" r:id="rId11"/>
    <p:sldId id="260" r:id="rId12"/>
    <p:sldId id="2147477833" r:id="rId13"/>
    <p:sldId id="2147477834" r:id="rId14"/>
    <p:sldId id="2147477835" r:id="rId15"/>
    <p:sldId id="553" r:id="rId16"/>
    <p:sldId id="551" r:id="rId17"/>
    <p:sldId id="2147477836" r:id="rId18"/>
    <p:sldId id="567" r:id="rId19"/>
    <p:sldId id="2147477837" r:id="rId20"/>
    <p:sldId id="2147477840" r:id="rId21"/>
    <p:sldId id="2147477839" r:id="rId22"/>
    <p:sldId id="2147477838" r:id="rId23"/>
    <p:sldId id="545" r:id="rId24"/>
    <p:sldId id="2147477842" r:id="rId25"/>
    <p:sldId id="619" r:id="rId26"/>
    <p:sldId id="620" r:id="rId27"/>
    <p:sldId id="621" r:id="rId28"/>
    <p:sldId id="622" r:id="rId29"/>
    <p:sldId id="623" r:id="rId30"/>
    <p:sldId id="624" r:id="rId31"/>
    <p:sldId id="625" r:id="rId32"/>
    <p:sldId id="626" r:id="rId33"/>
    <p:sldId id="627" r:id="rId34"/>
    <p:sldId id="530" r:id="rId35"/>
    <p:sldId id="628" r:id="rId36"/>
    <p:sldId id="629" r:id="rId37"/>
    <p:sldId id="632" r:id="rId38"/>
    <p:sldId id="634" r:id="rId39"/>
    <p:sldId id="2147477849" r:id="rId40"/>
    <p:sldId id="2147477850" r:id="rId41"/>
    <p:sldId id="2147477851" r:id="rId42"/>
    <p:sldId id="2147477852" r:id="rId43"/>
    <p:sldId id="2147477853" r:id="rId44"/>
    <p:sldId id="2147477854" r:id="rId45"/>
    <p:sldId id="265" r:id="rId46"/>
    <p:sldId id="636" r:id="rId47"/>
    <p:sldId id="2147477841" r:id="rId48"/>
    <p:sldId id="550" r:id="rId49"/>
    <p:sldId id="549" r:id="rId50"/>
    <p:sldId id="2147477828" r:id="rId51"/>
    <p:sldId id="2147477829" r:id="rId52"/>
    <p:sldId id="2147477831" r:id="rId53"/>
    <p:sldId id="2147477832" r:id="rId54"/>
    <p:sldId id="2147477845" r:id="rId55"/>
    <p:sldId id="2147477844" r:id="rId56"/>
    <p:sldId id="2147477846" r:id="rId57"/>
    <p:sldId id="2147477847" r:id="rId58"/>
    <p:sldId id="2147477848" r:id="rId59"/>
    <p:sldId id="2147477843"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F9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92"/>
    <p:restoredTop sz="73546"/>
  </p:normalViewPr>
  <p:slideViewPr>
    <p:cSldViewPr snapToGrid="0">
      <p:cViewPr varScale="1">
        <p:scale>
          <a:sx n="140" d="100"/>
          <a:sy n="140" d="100"/>
        </p:scale>
        <p:origin x="226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25058F-35FB-5A44-A830-58418BF8C65E}" type="datetimeFigureOut">
              <a:rPr lang="en-US" smtClean="0"/>
              <a:t>1/14/26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C6641D-2D35-D04D-ABCA-45FA5E2519A9}" type="slidenum">
              <a:rPr lang="en-US" smtClean="0"/>
              <a:t>‹#›</a:t>
            </a:fld>
            <a:endParaRPr lang="en-US"/>
          </a:p>
        </p:txBody>
      </p:sp>
    </p:spTree>
    <p:extLst>
      <p:ext uri="{BB962C8B-B14F-4D97-AF65-F5344CB8AC3E}">
        <p14:creationId xmlns:p14="http://schemas.microsoft.com/office/powerpoint/2010/main" val="3736455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thing we could try is to just test out a bunch of different sets of parameter values</a:t>
            </a:r>
          </a:p>
          <a:p>
            <a:r>
              <a:rPr lang="en-US" dirty="0"/>
              <a:t>Then we can just choose the set associated with the smallest value of the loss</a:t>
            </a:r>
          </a:p>
          <a:p>
            <a:endParaRPr lang="en-US" dirty="0"/>
          </a:p>
          <a:p>
            <a:r>
              <a:rPr lang="en-US" dirty="0"/>
              <a:t>Or we could play around with different parameter values</a:t>
            </a:r>
          </a:p>
          <a:p>
            <a:r>
              <a:rPr lang="en-US" dirty="0"/>
              <a:t>And see if we can reduce the loss a little by making changes to them</a:t>
            </a:r>
          </a:p>
          <a:p>
            <a:r>
              <a:rPr lang="en-US" dirty="0"/>
              <a:t>We might try to figure out, through exploration, how changing specific parameters affects the loss</a:t>
            </a:r>
          </a:p>
          <a:p>
            <a:endParaRPr lang="en-US" dirty="0"/>
          </a:p>
          <a:p>
            <a:r>
              <a:rPr lang="en-US" dirty="0"/>
              <a:t>This is what you’ll explore in your exercise</a:t>
            </a:r>
          </a:p>
        </p:txBody>
      </p:sp>
      <p:sp>
        <p:nvSpPr>
          <p:cNvPr id="4" name="Slide Number Placeholder 3"/>
          <p:cNvSpPr>
            <a:spLocks noGrp="1"/>
          </p:cNvSpPr>
          <p:nvPr>
            <p:ph type="sldNum" sz="quarter" idx="5"/>
          </p:nvPr>
        </p:nvSpPr>
        <p:spPr/>
        <p:txBody>
          <a:bodyPr/>
          <a:lstStyle/>
          <a:p>
            <a:fld id="{F7B5820E-387F-784E-8D6C-00A02E5BA58B}" type="slidenum">
              <a:rPr lang="en-US" smtClean="0"/>
              <a:t>9</a:t>
            </a:fld>
            <a:endParaRPr lang="en-US"/>
          </a:p>
        </p:txBody>
      </p:sp>
    </p:spTree>
    <p:extLst>
      <p:ext uri="{BB962C8B-B14F-4D97-AF65-F5344CB8AC3E}">
        <p14:creationId xmlns:p14="http://schemas.microsoft.com/office/powerpoint/2010/main" val="2214261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there’s actually a lot that could be said about why it’s a good idea to use the mean squared error as our loss for linear regression</a:t>
            </a:r>
          </a:p>
          <a:p>
            <a:r>
              <a:rPr lang="en-US" dirty="0"/>
              <a:t>But at the same time, it’s pretty straightforward to see that this value being low corresponds pretty well with our idea of the line being a “good fit”</a:t>
            </a:r>
          </a:p>
          <a:p>
            <a:endParaRPr lang="en-US" dirty="0"/>
          </a:p>
          <a:p>
            <a:r>
              <a:rPr lang="en-US" dirty="0"/>
              <a:t>For logistic regression, on the other hand, we’re going to need to think a little bit harder about what value would make sense to use as our loss</a:t>
            </a:r>
          </a:p>
          <a:p>
            <a:endParaRPr lang="en-US" dirty="0"/>
          </a:p>
          <a:p>
            <a:r>
              <a:rPr lang="en-US" dirty="0"/>
              <a:t>To do this, let’s go back to an example we’ve considered before: prediction of mortality in the ICU.</a:t>
            </a:r>
          </a:p>
          <a:p>
            <a:r>
              <a:rPr lang="en-US" dirty="0"/>
              <a:t>Remember, our model takes some measurements about the patient and predicts their risk of dying during their stay.</a:t>
            </a:r>
          </a:p>
          <a:p>
            <a:endParaRPr lang="en-US" dirty="0"/>
          </a:p>
          <a:p>
            <a:r>
              <a:rPr lang="en-US" dirty="0"/>
              <a:t>To keep things simple, let’s consider three patients – the first one dies, the second one lives, and the third also lives</a:t>
            </a:r>
          </a:p>
          <a:p>
            <a:r>
              <a:rPr lang="en-US" dirty="0"/>
              <a:t>This is our training set, or at least a portion of it.</a:t>
            </a:r>
          </a:p>
          <a:p>
            <a:endParaRPr lang="en-US" dirty="0"/>
          </a:p>
          <a:p>
            <a:r>
              <a:rPr lang="en-US" dirty="0"/>
              <a:t>For each of these patients, our model takes the initial measurements for those patients as its input, and it spits out a prediction about the probability that they will die</a:t>
            </a:r>
          </a:p>
          <a:p>
            <a:r>
              <a:rPr lang="en-US" dirty="0"/>
              <a:t>And if we change the parameters of our model – the coefficients associated with each measurement – that’s going to change the predicted probabilities that it spits out for </a:t>
            </a:r>
            <a:r>
              <a:rPr lang="en-US" i="1" dirty="0"/>
              <a:t>all </a:t>
            </a:r>
            <a:r>
              <a:rPr lang="en-US" i="0" dirty="0"/>
              <a:t> </a:t>
            </a:r>
            <a:r>
              <a:rPr lang="en-US" i="1" dirty="0"/>
              <a:t>three </a:t>
            </a:r>
            <a:r>
              <a:rPr lang="en-US" i="0" dirty="0"/>
              <a:t>of the patients.</a:t>
            </a:r>
          </a:p>
          <a:p>
            <a:endParaRPr lang="en-US" i="0" dirty="0"/>
          </a:p>
          <a:p>
            <a:r>
              <a:rPr lang="en-US" i="0" dirty="0"/>
              <a:t>Again, we’re making predictions about p1, p2, and p3 – the probability that each of those patients will die during their stay -- and changing any model parameter will change all 3 of those predictions.</a:t>
            </a:r>
          </a:p>
          <a:p>
            <a:endParaRPr lang="en-US" i="0" dirty="0"/>
          </a:p>
          <a:p>
            <a:endParaRPr lang="en-US" dirty="0"/>
          </a:p>
        </p:txBody>
      </p:sp>
      <p:sp>
        <p:nvSpPr>
          <p:cNvPr id="4" name="Slide Number Placeholder 3"/>
          <p:cNvSpPr>
            <a:spLocks noGrp="1"/>
          </p:cNvSpPr>
          <p:nvPr>
            <p:ph type="sldNum" sz="quarter" idx="10"/>
          </p:nvPr>
        </p:nvSpPr>
        <p:spPr/>
        <p:txBody>
          <a:bodyPr/>
          <a:lstStyle/>
          <a:p>
            <a:fld id="{0175F3A6-6971-5D47-A3A5-1EDC47BAF5FB}" type="slidenum">
              <a:rPr lang="en-US" smtClean="0"/>
              <a:t>12</a:t>
            </a:fld>
            <a:endParaRPr lang="en-US"/>
          </a:p>
        </p:txBody>
      </p:sp>
    </p:spTree>
    <p:extLst>
      <p:ext uri="{BB962C8B-B14F-4D97-AF65-F5344CB8AC3E}">
        <p14:creationId xmlns:p14="http://schemas.microsoft.com/office/powerpoint/2010/main" val="1758910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just like in linear regression, we’re trying to decide what makes a set of predictions “good” or not good</a:t>
            </a:r>
          </a:p>
          <a:p>
            <a:r>
              <a:rPr lang="en-US" dirty="0"/>
              <a:t>And that decision has to be based on the outcomes that were actually observed. The predictions have to be consistent with the outcomes in some sense, on average.</a:t>
            </a:r>
          </a:p>
          <a:p>
            <a:endParaRPr lang="en-US" dirty="0"/>
          </a:p>
          <a:p>
            <a:r>
              <a:rPr lang="en-US" dirty="0"/>
              <a:t>Let’s consider a set of specific predictions and consider whether they’re consistent with the outcome</a:t>
            </a:r>
          </a:p>
          <a:p>
            <a:endParaRPr lang="en-US" dirty="0"/>
          </a:p>
          <a:p>
            <a:r>
              <a:rPr lang="en-US" dirty="0"/>
              <a:t>We’ll suppose we predict that p1 is .1</a:t>
            </a:r>
          </a:p>
          <a:p>
            <a:r>
              <a:rPr lang="en-US" dirty="0"/>
              <a:t>P2 is .9</a:t>
            </a:r>
          </a:p>
          <a:p>
            <a:r>
              <a:rPr lang="en-US" dirty="0"/>
              <a:t>And p3 is .7</a:t>
            </a:r>
          </a:p>
          <a:p>
            <a:endParaRPr lang="en-US" dirty="0"/>
          </a:p>
          <a:p>
            <a:r>
              <a:rPr lang="en-US" dirty="0"/>
              <a:t>Well, the first patient died and the second two survived</a:t>
            </a:r>
          </a:p>
          <a:p>
            <a:r>
              <a:rPr lang="en-US" dirty="0"/>
              <a:t>And these predictions – well, we’ve predicted a low probability of death for the patient that actually died, and much higher probability of death for the two patients that actually survived.</a:t>
            </a:r>
          </a:p>
          <a:p>
            <a:endParaRPr lang="en-US" dirty="0"/>
          </a:p>
          <a:p>
            <a:r>
              <a:rPr lang="en-US" dirty="0"/>
              <a:t>It is certainly possible that the first patient could have died despite there only being at 10% risk of death.</a:t>
            </a:r>
          </a:p>
          <a:p>
            <a:r>
              <a:rPr lang="en-US" dirty="0"/>
              <a:t>But across all three patients, it seems like our predictions aren’t very well aligned with the outcomes that we actually observed.</a:t>
            </a:r>
          </a:p>
          <a:p>
            <a:endParaRPr lang="en-US" dirty="0"/>
          </a:p>
          <a:p>
            <a:r>
              <a:rPr lang="en-US" dirty="0"/>
              <a:t>Specifically, supposing these predictions were correct, we might ask: what was the probability that what actually happened was going to happen?</a:t>
            </a:r>
          </a:p>
          <a:p>
            <a:r>
              <a:rPr lang="en-US" dirty="0"/>
              <a:t>In other words, what was the probability of those three observed outcomes given the predictions made by our model? </a:t>
            </a:r>
          </a:p>
          <a:p>
            <a:endParaRPr lang="en-US" dirty="0"/>
          </a:p>
          <a:p>
            <a:r>
              <a:rPr lang="en-US" dirty="0"/>
              <a:t>Well, the model predicted that patient 1 had a 10% chance of dying – so the probability of the observed outcome was 10% for that patient</a:t>
            </a:r>
          </a:p>
          <a:p>
            <a:r>
              <a:rPr lang="en-US" dirty="0"/>
              <a:t>It’s also predicting that Patient 2 had a 90% chance of dying – so, the probability of the observed outcome, not dying , was again 10%</a:t>
            </a:r>
          </a:p>
          <a:p>
            <a:r>
              <a:rPr lang="en-US" dirty="0"/>
              <a:t>And patient 3 had a 70% chance of dying, so the probability of the observed outcome was 30%</a:t>
            </a:r>
          </a:p>
          <a:p>
            <a:endParaRPr lang="en-US" dirty="0"/>
          </a:p>
          <a:p>
            <a:r>
              <a:rPr lang="en-US" dirty="0"/>
              <a:t>So all in all, if we suppose the model’s predictions accurately reflect the reality of the situation, then the observed outcomes were quite unlikely – 10% * 10% * 30% is pretty small</a:t>
            </a:r>
          </a:p>
        </p:txBody>
      </p:sp>
      <p:sp>
        <p:nvSpPr>
          <p:cNvPr id="4" name="Slide Number Placeholder 3"/>
          <p:cNvSpPr>
            <a:spLocks noGrp="1"/>
          </p:cNvSpPr>
          <p:nvPr>
            <p:ph type="sldNum" sz="quarter" idx="10"/>
          </p:nvPr>
        </p:nvSpPr>
        <p:spPr/>
        <p:txBody>
          <a:bodyPr/>
          <a:lstStyle/>
          <a:p>
            <a:fld id="{0175F3A6-6971-5D47-A3A5-1EDC47BAF5FB}" type="slidenum">
              <a:rPr lang="en-US" smtClean="0"/>
              <a:t>13</a:t>
            </a:fld>
            <a:endParaRPr lang="en-US"/>
          </a:p>
        </p:txBody>
      </p:sp>
    </p:spTree>
    <p:extLst>
      <p:ext uri="{BB962C8B-B14F-4D97-AF65-F5344CB8AC3E}">
        <p14:creationId xmlns:p14="http://schemas.microsoft.com/office/powerpoint/2010/main" val="3112147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consider a different set of parameters</a:t>
            </a:r>
          </a:p>
          <a:p>
            <a:r>
              <a:rPr lang="en-US" dirty="0"/>
              <a:t>We change the parameters of our model, and now it gives us a new set of predictions for each patient.</a:t>
            </a:r>
          </a:p>
          <a:p>
            <a:endParaRPr lang="en-US" dirty="0"/>
          </a:p>
          <a:p>
            <a:r>
              <a:rPr lang="en-US" dirty="0"/>
              <a:t>Let’s do the same thing again – let’s consider whether these new predictions are aligned with what actually happened</a:t>
            </a:r>
          </a:p>
          <a:p>
            <a:r>
              <a:rPr lang="en-US" dirty="0"/>
              <a:t>Supposing these predictions were correct, what was the probability of the three observed outcomes? </a:t>
            </a:r>
          </a:p>
          <a:p>
            <a:endParaRPr lang="en-US" dirty="0"/>
          </a:p>
          <a:p>
            <a:r>
              <a:rPr lang="en-US" dirty="0"/>
              <a:t>This time, the model predicts that patient 1 was 80% likely to die, which they did – the probability of that outcome was 80%</a:t>
            </a:r>
          </a:p>
          <a:p>
            <a:r>
              <a:rPr lang="en-US" dirty="0"/>
              <a:t>It also tells us patient 2 was 30% likely to die, therefore 70% likely to live, which they did – the probability of that outcome was 70%</a:t>
            </a:r>
          </a:p>
          <a:p>
            <a:r>
              <a:rPr lang="en-US" dirty="0"/>
              <a:t>And along the same lines, the probability of the observed outcome for patient 3 was 90%</a:t>
            </a:r>
          </a:p>
          <a:p>
            <a:endParaRPr lang="en-US" dirty="0"/>
          </a:p>
          <a:p>
            <a:r>
              <a:rPr lang="en-US" dirty="0"/>
              <a:t>So, the chance of the observed outcomes as a whole, given the model, is now 80% for patient 1, times 70% for patient 2, times 90% for patient 3</a:t>
            </a:r>
          </a:p>
          <a:p>
            <a:r>
              <a:rPr lang="en-US" dirty="0"/>
              <a:t>That’s a lot bigger than the 10% * 10% * 30% we had before</a:t>
            </a:r>
          </a:p>
          <a:p>
            <a:endParaRPr lang="en-US" dirty="0"/>
          </a:p>
          <a:p>
            <a:r>
              <a:rPr lang="en-US" dirty="0"/>
              <a:t>So, it seems like this new set of parameters is better than the ones we had before</a:t>
            </a:r>
          </a:p>
          <a:p>
            <a:r>
              <a:rPr lang="en-US" dirty="0"/>
              <a:t>The model’s predictions now align much better with what ended up happening</a:t>
            </a:r>
          </a:p>
          <a:p>
            <a:r>
              <a:rPr lang="en-US" dirty="0"/>
              <a:t>Said more precisely, given this set of parameters, the probability of the observed outcomes was much higher.</a:t>
            </a:r>
          </a:p>
        </p:txBody>
      </p:sp>
      <p:sp>
        <p:nvSpPr>
          <p:cNvPr id="4" name="Slide Number Placeholder 3"/>
          <p:cNvSpPr>
            <a:spLocks noGrp="1"/>
          </p:cNvSpPr>
          <p:nvPr>
            <p:ph type="sldNum" sz="quarter" idx="10"/>
          </p:nvPr>
        </p:nvSpPr>
        <p:spPr/>
        <p:txBody>
          <a:bodyPr/>
          <a:lstStyle/>
          <a:p>
            <a:fld id="{0175F3A6-6971-5D47-A3A5-1EDC47BAF5FB}" type="slidenum">
              <a:rPr lang="en-US" smtClean="0"/>
              <a:t>14</a:t>
            </a:fld>
            <a:endParaRPr lang="en-US"/>
          </a:p>
        </p:txBody>
      </p:sp>
    </p:spTree>
    <p:extLst>
      <p:ext uri="{BB962C8B-B14F-4D97-AF65-F5344CB8AC3E}">
        <p14:creationId xmlns:p14="http://schemas.microsoft.com/office/powerpoint/2010/main" val="496528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again, what we’re measuring here is just this:</a:t>
            </a:r>
          </a:p>
          <a:p>
            <a:r>
              <a:rPr lang="en-US" dirty="0"/>
              <a:t>What’s the probability of the observed outcomes given the current model predictions, which are determined by the parameters</a:t>
            </a:r>
          </a:p>
          <a:p>
            <a:r>
              <a:rPr lang="en-US" dirty="0"/>
              <a:t>More concisely, what’s the probability of the observed outcomes given the current parameter values</a:t>
            </a:r>
          </a:p>
          <a:p>
            <a:endParaRPr lang="en-US" dirty="0"/>
          </a:p>
          <a:p>
            <a:r>
              <a:rPr lang="en-US" dirty="0"/>
              <a:t>This value is called the likelihood. The better aligned our predictors are with the outcomes, the more it increases.</a:t>
            </a:r>
          </a:p>
          <a:p>
            <a:endParaRPr lang="en-US" dirty="0"/>
          </a:p>
          <a:p>
            <a:r>
              <a:rPr lang="en-US" dirty="0"/>
              <a:t>And in fact, the maximum value it could conceivably be is 1 – if we somehow predicted that patient 1 was 100% likely to die, patient 2 was 100% likely to live, and patient 3 was 100% likely to live, then the probability of the observed outcomes given our model is 100%</a:t>
            </a:r>
          </a:p>
          <a:p>
            <a:endParaRPr lang="en-US" dirty="0"/>
          </a:p>
          <a:p>
            <a:r>
              <a:rPr lang="en-US" dirty="0"/>
              <a:t>But something seems wrong with this… such a model really isn’t acknowledging the fact that there’s randomness in these outcomes.</a:t>
            </a:r>
          </a:p>
          <a:p>
            <a:r>
              <a:rPr lang="en-US" dirty="0"/>
              <a:t>Such a model seems like it’s TOO tuned to the outcomes – in other words, it’s overfitted. And such a model probably would not be likely to generalize well to new data.</a:t>
            </a:r>
          </a:p>
        </p:txBody>
      </p:sp>
      <p:sp>
        <p:nvSpPr>
          <p:cNvPr id="4" name="Slide Number Placeholder 3"/>
          <p:cNvSpPr>
            <a:spLocks noGrp="1"/>
          </p:cNvSpPr>
          <p:nvPr>
            <p:ph type="sldNum" sz="quarter" idx="10"/>
          </p:nvPr>
        </p:nvSpPr>
        <p:spPr/>
        <p:txBody>
          <a:bodyPr/>
          <a:lstStyle/>
          <a:p>
            <a:fld id="{0175F3A6-6971-5D47-A3A5-1EDC47BAF5FB}" type="slidenum">
              <a:rPr lang="en-US" smtClean="0"/>
              <a:t>15</a:t>
            </a:fld>
            <a:endParaRPr lang="en-US"/>
          </a:p>
        </p:txBody>
      </p:sp>
    </p:spTree>
    <p:extLst>
      <p:ext uri="{BB962C8B-B14F-4D97-AF65-F5344CB8AC3E}">
        <p14:creationId xmlns:p14="http://schemas.microsoft.com/office/powerpoint/2010/main" val="3134670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Fortunately, most models aren’t able to overfit in this way.</a:t>
            </a:r>
          </a:p>
          <a:p>
            <a:endParaRPr lang="en-US" dirty="0"/>
          </a:p>
          <a:p>
            <a:r>
              <a:rPr lang="en-US" dirty="0"/>
              <a:t>When we change a parameter, it’s going to affect predictions for all individuals, not just one of them</a:t>
            </a:r>
          </a:p>
          <a:p>
            <a:r>
              <a:rPr lang="en-US" dirty="0"/>
              <a:t>So, we might want to make the predicted value of p2 lower to bring it more in line with the observed outcome</a:t>
            </a:r>
          </a:p>
          <a:p>
            <a:endParaRPr lang="en-US" dirty="0"/>
          </a:p>
          <a:p>
            <a:r>
              <a:rPr lang="en-US" dirty="0"/>
              <a:t>But, changing a parameter to decrease the prediction for p2 might also </a:t>
            </a:r>
            <a:r>
              <a:rPr lang="en-US" i="1" dirty="0"/>
              <a:t>increase </a:t>
            </a:r>
            <a:r>
              <a:rPr lang="en-US" i="0" dirty="0"/>
              <a:t>the predicted value for p3, for instance</a:t>
            </a:r>
          </a:p>
          <a:p>
            <a:r>
              <a:rPr lang="en-US" i="0" dirty="0"/>
              <a:t>We want values that maximize the likelihood across the whole training set</a:t>
            </a:r>
          </a:p>
          <a:p>
            <a:r>
              <a:rPr lang="en-US" i="0" dirty="0"/>
              <a:t>In other words, the parameters that make the predictions align best with the observed outcomes </a:t>
            </a:r>
            <a:r>
              <a:rPr lang="en-US" i="1" dirty="0"/>
              <a:t>on average</a:t>
            </a:r>
            <a:r>
              <a:rPr lang="en-US" i="0" dirty="0"/>
              <a:t> </a:t>
            </a:r>
          </a:p>
        </p:txBody>
      </p:sp>
      <p:sp>
        <p:nvSpPr>
          <p:cNvPr id="4" name="Slide Number Placeholder 3"/>
          <p:cNvSpPr>
            <a:spLocks noGrp="1"/>
          </p:cNvSpPr>
          <p:nvPr>
            <p:ph type="sldNum" sz="quarter" idx="10"/>
          </p:nvPr>
        </p:nvSpPr>
        <p:spPr/>
        <p:txBody>
          <a:bodyPr/>
          <a:lstStyle/>
          <a:p>
            <a:fld id="{0175F3A6-6971-5D47-A3A5-1EDC47BAF5FB}" type="slidenum">
              <a:rPr lang="en-US" smtClean="0"/>
              <a:t>16</a:t>
            </a:fld>
            <a:endParaRPr lang="en-US"/>
          </a:p>
        </p:txBody>
      </p:sp>
    </p:spTree>
    <p:extLst>
      <p:ext uri="{BB962C8B-B14F-4D97-AF65-F5344CB8AC3E}">
        <p14:creationId xmlns:p14="http://schemas.microsoft.com/office/powerpoint/2010/main" val="4092777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C7B40-EB26-A738-2514-CBF5D8B111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E0F578-CEB8-F0E5-5049-44A3FF533E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837C43-BFB6-7B8E-2B5B-62E6BBFCCA2B}"/>
              </a:ext>
            </a:extLst>
          </p:cNvPr>
          <p:cNvSpPr>
            <a:spLocks noGrp="1"/>
          </p:cNvSpPr>
          <p:nvPr>
            <p:ph type="body" idx="1"/>
          </p:nvPr>
        </p:nvSpPr>
        <p:spPr/>
        <p:txBody>
          <a:bodyPr/>
          <a:lstStyle/>
          <a:p>
            <a:r>
              <a:rPr lang="en-US" dirty="0"/>
              <a:t>Fortunately, most models aren’t able to overfit in this way.</a:t>
            </a:r>
          </a:p>
          <a:p>
            <a:endParaRPr lang="en-US" dirty="0"/>
          </a:p>
          <a:p>
            <a:r>
              <a:rPr lang="en-US" dirty="0"/>
              <a:t>When we change a parameter, it’s going to affect predictions for all individuals, not just one of them</a:t>
            </a:r>
          </a:p>
          <a:p>
            <a:r>
              <a:rPr lang="en-US" dirty="0"/>
              <a:t>So, we might want to make the predicted value of p2 lower to bring it more in line with the observed outcome</a:t>
            </a:r>
          </a:p>
          <a:p>
            <a:endParaRPr lang="en-US" dirty="0"/>
          </a:p>
          <a:p>
            <a:r>
              <a:rPr lang="en-US" dirty="0"/>
              <a:t>But, changing a parameter to decrease the prediction for p2 might also </a:t>
            </a:r>
            <a:r>
              <a:rPr lang="en-US" i="1" dirty="0"/>
              <a:t>increase </a:t>
            </a:r>
            <a:r>
              <a:rPr lang="en-US" i="0" dirty="0"/>
              <a:t>the predicted value for p3, for instance</a:t>
            </a:r>
          </a:p>
          <a:p>
            <a:r>
              <a:rPr lang="en-US" i="0" dirty="0"/>
              <a:t>We want values that maximize the likelihood across the whole training set</a:t>
            </a:r>
          </a:p>
          <a:p>
            <a:r>
              <a:rPr lang="en-US" i="0" dirty="0"/>
              <a:t>In other words, the parameters that make the predictions align best with the observed outcomes </a:t>
            </a:r>
            <a:r>
              <a:rPr lang="en-US" i="1" dirty="0"/>
              <a:t>on average</a:t>
            </a:r>
            <a:r>
              <a:rPr lang="en-US" i="0" dirty="0"/>
              <a:t> </a:t>
            </a:r>
          </a:p>
        </p:txBody>
      </p:sp>
      <p:sp>
        <p:nvSpPr>
          <p:cNvPr id="4" name="Slide Number Placeholder 3">
            <a:extLst>
              <a:ext uri="{FF2B5EF4-FFF2-40B4-BE49-F238E27FC236}">
                <a16:creationId xmlns:a16="http://schemas.microsoft.com/office/drawing/2014/main" id="{55667B23-FDDE-3A26-CABD-73D6598C68FD}"/>
              </a:ext>
            </a:extLst>
          </p:cNvPr>
          <p:cNvSpPr>
            <a:spLocks noGrp="1"/>
          </p:cNvSpPr>
          <p:nvPr>
            <p:ph type="sldNum" sz="quarter" idx="10"/>
          </p:nvPr>
        </p:nvSpPr>
        <p:spPr/>
        <p:txBody>
          <a:bodyPr/>
          <a:lstStyle/>
          <a:p>
            <a:fld id="{0175F3A6-6971-5D47-A3A5-1EDC47BAF5FB}" type="slidenum">
              <a:rPr lang="en-US" smtClean="0"/>
              <a:t>17</a:t>
            </a:fld>
            <a:endParaRPr lang="en-US"/>
          </a:p>
        </p:txBody>
      </p:sp>
    </p:spTree>
    <p:extLst>
      <p:ext uri="{BB962C8B-B14F-4D97-AF65-F5344CB8AC3E}">
        <p14:creationId xmlns:p14="http://schemas.microsoft.com/office/powerpoint/2010/main" val="1196879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go back to our logistic regression model and relate our discussion to the equations we’ve discussed</a:t>
            </a:r>
          </a:p>
          <a:p>
            <a:endParaRPr lang="en-US" dirty="0"/>
          </a:p>
          <a:p>
            <a:r>
              <a:rPr lang="en-US" dirty="0"/>
              <a:t>In logistic regression, we have predictors x</a:t>
            </a:r>
          </a:p>
          <a:p>
            <a:r>
              <a:rPr lang="en-US" dirty="0"/>
              <a:t>We take the dot product of x and the vector b of parameters</a:t>
            </a:r>
          </a:p>
          <a:p>
            <a:r>
              <a:rPr lang="en-US" dirty="0"/>
              <a:t>Then we add our bias parameter, which gives us z</a:t>
            </a:r>
          </a:p>
          <a:p>
            <a:endParaRPr lang="en-US" dirty="0"/>
          </a:p>
          <a:p>
            <a:r>
              <a:rPr lang="en-US" dirty="0"/>
              <a:t>So far, we have a linear function of the x-es</a:t>
            </a:r>
          </a:p>
          <a:p>
            <a:endParaRPr lang="en-US" dirty="0"/>
          </a:p>
          <a:p>
            <a:r>
              <a:rPr lang="en-US" dirty="0"/>
              <a:t>Then we squash the value z to a valid probability by passing it through the logistic function, indicated here with sigma</a:t>
            </a:r>
          </a:p>
          <a:p>
            <a:r>
              <a:rPr lang="en-US" dirty="0"/>
              <a:t>And that gives us our predicted probability – the predicted probability that the outcome y is 1</a:t>
            </a:r>
          </a:p>
          <a:p>
            <a:endParaRPr lang="en-US" dirty="0"/>
          </a:p>
          <a:p>
            <a:r>
              <a:rPr lang="en-US" dirty="0"/>
              <a:t>Now, so far we’ve been thinking in terms of the probability that y is 1</a:t>
            </a:r>
          </a:p>
          <a:p>
            <a:r>
              <a:rPr lang="en-US" dirty="0"/>
              <a:t>We can do this because y can only be 1 or 0</a:t>
            </a:r>
          </a:p>
          <a:p>
            <a:endParaRPr lang="en-US" dirty="0"/>
          </a:p>
          <a:p>
            <a:r>
              <a:rPr lang="en-US" dirty="0"/>
              <a:t>And if y is 1 with probability p, then y must NOT be 1 – y must be 0 – with probability 1 – p</a:t>
            </a:r>
          </a:p>
          <a:p>
            <a:endParaRPr lang="en-US" dirty="0"/>
          </a:p>
          <a:p>
            <a:r>
              <a:rPr lang="en-US" dirty="0"/>
              <a:t>This can be written as shown on the right hand of the slide</a:t>
            </a:r>
          </a:p>
          <a:p>
            <a:endParaRPr lang="en-US" dirty="0"/>
          </a:p>
          <a:p>
            <a:r>
              <a:rPr lang="en-US" dirty="0"/>
              <a:t>Our model predicts that y is 1 with probability p</a:t>
            </a:r>
          </a:p>
          <a:p>
            <a:r>
              <a:rPr lang="en-US" dirty="0"/>
              <a:t>And that y is 0 with probability 1 - p</a:t>
            </a:r>
          </a:p>
        </p:txBody>
      </p:sp>
      <p:sp>
        <p:nvSpPr>
          <p:cNvPr id="4" name="Slide Number Placeholder 3"/>
          <p:cNvSpPr>
            <a:spLocks noGrp="1"/>
          </p:cNvSpPr>
          <p:nvPr>
            <p:ph type="sldNum" sz="quarter" idx="10"/>
          </p:nvPr>
        </p:nvSpPr>
        <p:spPr/>
        <p:txBody>
          <a:bodyPr/>
          <a:lstStyle/>
          <a:p>
            <a:fld id="{4DCBF740-D535-F744-89A8-4E42B3D6BD32}" type="slidenum">
              <a:rPr lang="en-US" smtClean="0"/>
              <a:t>18</a:t>
            </a:fld>
            <a:endParaRPr lang="en-US"/>
          </a:p>
        </p:txBody>
      </p:sp>
    </p:spTree>
    <p:extLst>
      <p:ext uri="{BB962C8B-B14F-4D97-AF65-F5344CB8AC3E}">
        <p14:creationId xmlns:p14="http://schemas.microsoft.com/office/powerpoint/2010/main" val="9323201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94847-8BFA-598B-41C9-E04745136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D838D-6F21-B5A9-88FE-75D0C66869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0D5F91-DDFF-55E7-3087-D1E86E927492}"/>
              </a:ext>
            </a:extLst>
          </p:cNvPr>
          <p:cNvSpPr>
            <a:spLocks noGrp="1"/>
          </p:cNvSpPr>
          <p:nvPr>
            <p:ph type="body" idx="1"/>
          </p:nvPr>
        </p:nvSpPr>
        <p:spPr/>
        <p:txBody>
          <a:bodyPr/>
          <a:lstStyle/>
          <a:p>
            <a:r>
              <a:rPr lang="en-US" dirty="0"/>
              <a:t>Now, let’s go back to our logistic regression model and relate our discussion to the equations we’ve discussed</a:t>
            </a:r>
          </a:p>
          <a:p>
            <a:endParaRPr lang="en-US" dirty="0"/>
          </a:p>
          <a:p>
            <a:r>
              <a:rPr lang="en-US" dirty="0"/>
              <a:t>In logistic regression, we have predictors x</a:t>
            </a:r>
          </a:p>
          <a:p>
            <a:r>
              <a:rPr lang="en-US" dirty="0"/>
              <a:t>We take the dot product of x and the vector b of parameters</a:t>
            </a:r>
          </a:p>
          <a:p>
            <a:r>
              <a:rPr lang="en-US" dirty="0"/>
              <a:t>Then we add our bias parameter, which gives us z</a:t>
            </a:r>
          </a:p>
          <a:p>
            <a:endParaRPr lang="en-US" dirty="0"/>
          </a:p>
          <a:p>
            <a:r>
              <a:rPr lang="en-US" dirty="0"/>
              <a:t>So far, we have a linear function of the x-es</a:t>
            </a:r>
          </a:p>
          <a:p>
            <a:endParaRPr lang="en-US" dirty="0"/>
          </a:p>
          <a:p>
            <a:r>
              <a:rPr lang="en-US" dirty="0"/>
              <a:t>Then we squash the value z to a valid probability by passing it through the logistic function, indicated here with sigma</a:t>
            </a:r>
          </a:p>
          <a:p>
            <a:r>
              <a:rPr lang="en-US" dirty="0"/>
              <a:t>And that gives us our predicted probability – the predicted probability that the outcome y is 1</a:t>
            </a:r>
          </a:p>
          <a:p>
            <a:endParaRPr lang="en-US" dirty="0"/>
          </a:p>
          <a:p>
            <a:r>
              <a:rPr lang="en-US" dirty="0"/>
              <a:t>Now, so far we’ve been thinking in terms of the probability that y is 1</a:t>
            </a:r>
          </a:p>
          <a:p>
            <a:r>
              <a:rPr lang="en-US" dirty="0"/>
              <a:t>We can do this because y can only be 1 or 0</a:t>
            </a:r>
          </a:p>
          <a:p>
            <a:endParaRPr lang="en-US" dirty="0"/>
          </a:p>
          <a:p>
            <a:r>
              <a:rPr lang="en-US" dirty="0"/>
              <a:t>And if y is 1 with probability p, then y must NOT be 1 – y must be 0 – with probability 1 – p</a:t>
            </a:r>
          </a:p>
          <a:p>
            <a:endParaRPr lang="en-US" dirty="0"/>
          </a:p>
          <a:p>
            <a:r>
              <a:rPr lang="en-US" dirty="0"/>
              <a:t>This can be written as shown on the right hand of the slide</a:t>
            </a:r>
          </a:p>
          <a:p>
            <a:endParaRPr lang="en-US" dirty="0"/>
          </a:p>
          <a:p>
            <a:r>
              <a:rPr lang="en-US" dirty="0"/>
              <a:t>Our model predicts that y is 1 with probability p</a:t>
            </a:r>
          </a:p>
          <a:p>
            <a:r>
              <a:rPr lang="en-US" dirty="0"/>
              <a:t>And that y is 0 with probability 1 - p</a:t>
            </a:r>
          </a:p>
        </p:txBody>
      </p:sp>
      <p:sp>
        <p:nvSpPr>
          <p:cNvPr id="4" name="Slide Number Placeholder 3">
            <a:extLst>
              <a:ext uri="{FF2B5EF4-FFF2-40B4-BE49-F238E27FC236}">
                <a16:creationId xmlns:a16="http://schemas.microsoft.com/office/drawing/2014/main" id="{CC29432A-133B-5DE5-A8C6-67BE009F1717}"/>
              </a:ext>
            </a:extLst>
          </p:cNvPr>
          <p:cNvSpPr>
            <a:spLocks noGrp="1"/>
          </p:cNvSpPr>
          <p:nvPr>
            <p:ph type="sldNum" sz="quarter" idx="10"/>
          </p:nvPr>
        </p:nvSpPr>
        <p:spPr/>
        <p:txBody>
          <a:bodyPr/>
          <a:lstStyle/>
          <a:p>
            <a:fld id="{4DCBF740-D535-F744-89A8-4E42B3D6BD32}" type="slidenum">
              <a:rPr lang="en-US" smtClean="0"/>
              <a:t>19</a:t>
            </a:fld>
            <a:endParaRPr lang="en-US"/>
          </a:p>
        </p:txBody>
      </p:sp>
    </p:spTree>
    <p:extLst>
      <p:ext uri="{BB962C8B-B14F-4D97-AF65-F5344CB8AC3E}">
        <p14:creationId xmlns:p14="http://schemas.microsoft.com/office/powerpoint/2010/main" val="2641683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7C1E5-2391-B5E3-6A50-6708D86A16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9027B-C339-8D48-4DE4-7E28574164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AD6D1A-39A7-9694-BF16-DBBB4A411C5B}"/>
              </a:ext>
            </a:extLst>
          </p:cNvPr>
          <p:cNvSpPr>
            <a:spLocks noGrp="1"/>
          </p:cNvSpPr>
          <p:nvPr>
            <p:ph type="body" idx="1"/>
          </p:nvPr>
        </p:nvSpPr>
        <p:spPr/>
        <p:txBody>
          <a:bodyPr/>
          <a:lstStyle/>
          <a:p>
            <a:r>
              <a:rPr lang="en-US" dirty="0"/>
              <a:t>Now, let’s go back to our logistic regression model and relate our discussion to the equations we’ve discussed</a:t>
            </a:r>
          </a:p>
          <a:p>
            <a:endParaRPr lang="en-US" dirty="0"/>
          </a:p>
          <a:p>
            <a:r>
              <a:rPr lang="en-US" dirty="0"/>
              <a:t>In logistic regression, we have predictors x</a:t>
            </a:r>
          </a:p>
          <a:p>
            <a:r>
              <a:rPr lang="en-US" dirty="0"/>
              <a:t>We take the dot product of x and the vector b of parameters</a:t>
            </a:r>
          </a:p>
          <a:p>
            <a:r>
              <a:rPr lang="en-US" dirty="0"/>
              <a:t>Then we add our bias parameter, which gives us z</a:t>
            </a:r>
          </a:p>
          <a:p>
            <a:endParaRPr lang="en-US" dirty="0"/>
          </a:p>
          <a:p>
            <a:r>
              <a:rPr lang="en-US" dirty="0"/>
              <a:t>So far, we have a linear function of the x-es</a:t>
            </a:r>
          </a:p>
          <a:p>
            <a:endParaRPr lang="en-US" dirty="0"/>
          </a:p>
          <a:p>
            <a:r>
              <a:rPr lang="en-US" dirty="0"/>
              <a:t>Then we squash the value z to a valid probability by passing it through the logistic function, indicated here with sigma</a:t>
            </a:r>
          </a:p>
          <a:p>
            <a:r>
              <a:rPr lang="en-US" dirty="0"/>
              <a:t>And that gives us our predicted probability – the predicted probability that the outcome y is 1</a:t>
            </a:r>
          </a:p>
          <a:p>
            <a:endParaRPr lang="en-US" dirty="0"/>
          </a:p>
          <a:p>
            <a:r>
              <a:rPr lang="en-US" dirty="0"/>
              <a:t>Now, so far we’ve been thinking in terms of the probability that y is 1</a:t>
            </a:r>
          </a:p>
          <a:p>
            <a:r>
              <a:rPr lang="en-US" dirty="0"/>
              <a:t>We can do this because y can only be 1 or 0</a:t>
            </a:r>
          </a:p>
          <a:p>
            <a:endParaRPr lang="en-US" dirty="0"/>
          </a:p>
          <a:p>
            <a:r>
              <a:rPr lang="en-US" dirty="0"/>
              <a:t>And if y is 1 with probability p, then y must NOT be 1 – y must be 0 – with probability 1 – p</a:t>
            </a:r>
          </a:p>
          <a:p>
            <a:endParaRPr lang="en-US" dirty="0"/>
          </a:p>
          <a:p>
            <a:r>
              <a:rPr lang="en-US" dirty="0"/>
              <a:t>This can be written as shown on the right hand of the slide</a:t>
            </a:r>
          </a:p>
          <a:p>
            <a:endParaRPr lang="en-US" dirty="0"/>
          </a:p>
          <a:p>
            <a:r>
              <a:rPr lang="en-US" dirty="0"/>
              <a:t>Our model predicts that y is 1 with probability p</a:t>
            </a:r>
          </a:p>
          <a:p>
            <a:r>
              <a:rPr lang="en-US" dirty="0"/>
              <a:t>And that y is 0 with probability 1 - p</a:t>
            </a:r>
          </a:p>
        </p:txBody>
      </p:sp>
      <p:sp>
        <p:nvSpPr>
          <p:cNvPr id="4" name="Slide Number Placeholder 3">
            <a:extLst>
              <a:ext uri="{FF2B5EF4-FFF2-40B4-BE49-F238E27FC236}">
                <a16:creationId xmlns:a16="http://schemas.microsoft.com/office/drawing/2014/main" id="{26D1B5B1-DA0D-E4DF-29F1-AA592F7EC43A}"/>
              </a:ext>
            </a:extLst>
          </p:cNvPr>
          <p:cNvSpPr>
            <a:spLocks noGrp="1"/>
          </p:cNvSpPr>
          <p:nvPr>
            <p:ph type="sldNum" sz="quarter" idx="10"/>
          </p:nvPr>
        </p:nvSpPr>
        <p:spPr/>
        <p:txBody>
          <a:bodyPr/>
          <a:lstStyle/>
          <a:p>
            <a:fld id="{4DCBF740-D535-F744-89A8-4E42B3D6BD32}" type="slidenum">
              <a:rPr lang="en-US" smtClean="0"/>
              <a:t>20</a:t>
            </a:fld>
            <a:endParaRPr lang="en-US"/>
          </a:p>
        </p:txBody>
      </p:sp>
    </p:spTree>
    <p:extLst>
      <p:ext uri="{BB962C8B-B14F-4D97-AF65-F5344CB8AC3E}">
        <p14:creationId xmlns:p14="http://schemas.microsoft.com/office/powerpoint/2010/main" val="31064753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F5E92-030E-389D-F535-975861ADD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CF6FA1-6B0E-4A1C-EA08-7936D79AA6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E13CCE-1B52-0F7C-6BD0-2072B8760529}"/>
              </a:ext>
            </a:extLst>
          </p:cNvPr>
          <p:cNvSpPr>
            <a:spLocks noGrp="1"/>
          </p:cNvSpPr>
          <p:nvPr>
            <p:ph type="body" idx="1"/>
          </p:nvPr>
        </p:nvSpPr>
        <p:spPr/>
        <p:txBody>
          <a:bodyPr/>
          <a:lstStyle/>
          <a:p>
            <a:r>
              <a:rPr lang="en-US" dirty="0"/>
              <a:t>Now, let’s go back to our logistic regression model and relate our discussion to the equations we’ve discussed</a:t>
            </a:r>
          </a:p>
          <a:p>
            <a:endParaRPr lang="en-US" dirty="0"/>
          </a:p>
          <a:p>
            <a:r>
              <a:rPr lang="en-US" dirty="0"/>
              <a:t>In logistic regression, we have predictors x</a:t>
            </a:r>
          </a:p>
          <a:p>
            <a:r>
              <a:rPr lang="en-US" dirty="0"/>
              <a:t>We take the dot product of x and the vector b of parameters</a:t>
            </a:r>
          </a:p>
          <a:p>
            <a:r>
              <a:rPr lang="en-US" dirty="0"/>
              <a:t>Then we add our bias parameter, which gives us z</a:t>
            </a:r>
          </a:p>
          <a:p>
            <a:endParaRPr lang="en-US" dirty="0"/>
          </a:p>
          <a:p>
            <a:r>
              <a:rPr lang="en-US" dirty="0"/>
              <a:t>So far, we have a linear function of the x-es</a:t>
            </a:r>
          </a:p>
          <a:p>
            <a:endParaRPr lang="en-US" dirty="0"/>
          </a:p>
          <a:p>
            <a:r>
              <a:rPr lang="en-US" dirty="0"/>
              <a:t>Then we squash the value z to a valid probability by passing it through the logistic function, indicated here with sigma</a:t>
            </a:r>
          </a:p>
          <a:p>
            <a:r>
              <a:rPr lang="en-US" dirty="0"/>
              <a:t>And that gives us our predicted probability – the predicted probability that the outcome y is 1</a:t>
            </a:r>
          </a:p>
          <a:p>
            <a:endParaRPr lang="en-US" dirty="0"/>
          </a:p>
          <a:p>
            <a:r>
              <a:rPr lang="en-US" dirty="0"/>
              <a:t>Now, so far we’ve been thinking in terms of the probability that y is 1</a:t>
            </a:r>
          </a:p>
          <a:p>
            <a:r>
              <a:rPr lang="en-US" dirty="0"/>
              <a:t>We can do this because y can only be 1 or 0</a:t>
            </a:r>
          </a:p>
          <a:p>
            <a:endParaRPr lang="en-US" dirty="0"/>
          </a:p>
          <a:p>
            <a:r>
              <a:rPr lang="en-US" dirty="0"/>
              <a:t>And if y is 1 with probability p, then y must NOT be 1 – y must be 0 – with probability 1 – p</a:t>
            </a:r>
          </a:p>
          <a:p>
            <a:endParaRPr lang="en-US" dirty="0"/>
          </a:p>
          <a:p>
            <a:r>
              <a:rPr lang="en-US" dirty="0"/>
              <a:t>This can be written as shown on the right hand of the slide</a:t>
            </a:r>
          </a:p>
          <a:p>
            <a:endParaRPr lang="en-US" dirty="0"/>
          </a:p>
          <a:p>
            <a:r>
              <a:rPr lang="en-US" dirty="0"/>
              <a:t>Our model predicts that y is 1 with probability p</a:t>
            </a:r>
          </a:p>
          <a:p>
            <a:r>
              <a:rPr lang="en-US" dirty="0"/>
              <a:t>And that y is 0 with probability 1 - p</a:t>
            </a:r>
          </a:p>
        </p:txBody>
      </p:sp>
      <p:sp>
        <p:nvSpPr>
          <p:cNvPr id="4" name="Slide Number Placeholder 3">
            <a:extLst>
              <a:ext uri="{FF2B5EF4-FFF2-40B4-BE49-F238E27FC236}">
                <a16:creationId xmlns:a16="http://schemas.microsoft.com/office/drawing/2014/main" id="{5EE79CDD-1403-64D0-80A5-0F87650E9F76}"/>
              </a:ext>
            </a:extLst>
          </p:cNvPr>
          <p:cNvSpPr>
            <a:spLocks noGrp="1"/>
          </p:cNvSpPr>
          <p:nvPr>
            <p:ph type="sldNum" sz="quarter" idx="10"/>
          </p:nvPr>
        </p:nvSpPr>
        <p:spPr/>
        <p:txBody>
          <a:bodyPr/>
          <a:lstStyle/>
          <a:p>
            <a:fld id="{4DCBF740-D535-F744-89A8-4E42B3D6BD32}" type="slidenum">
              <a:rPr lang="en-US" smtClean="0"/>
              <a:t>21</a:t>
            </a:fld>
            <a:endParaRPr lang="en-US"/>
          </a:p>
        </p:txBody>
      </p:sp>
    </p:spTree>
    <p:extLst>
      <p:ext uri="{BB962C8B-B14F-4D97-AF65-F5344CB8AC3E}">
        <p14:creationId xmlns:p14="http://schemas.microsoft.com/office/powerpoint/2010/main" val="18705333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C107D-8D37-4F95-8310-5A1DEADE93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00989-22E2-1A83-397F-2CA32C4500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2BDBFB-8CDC-5691-31EC-5F018C0332BD}"/>
              </a:ext>
            </a:extLst>
          </p:cNvPr>
          <p:cNvSpPr>
            <a:spLocks noGrp="1"/>
          </p:cNvSpPr>
          <p:nvPr>
            <p:ph type="body" idx="1"/>
          </p:nvPr>
        </p:nvSpPr>
        <p:spPr/>
        <p:txBody>
          <a:bodyPr/>
          <a:lstStyle/>
          <a:p>
            <a:r>
              <a:rPr lang="en-US" dirty="0"/>
              <a:t>Could also note that this –log(\sigma(z)) = </a:t>
            </a:r>
            <a:r>
              <a:rPr lang="en-US" dirty="0" err="1"/>
              <a:t>softplus</a:t>
            </a:r>
            <a:r>
              <a:rPr lang="en-US" dirty="0"/>
              <a:t>(-z)</a:t>
            </a:r>
          </a:p>
        </p:txBody>
      </p:sp>
      <p:sp>
        <p:nvSpPr>
          <p:cNvPr id="4" name="Slide Number Placeholder 3">
            <a:extLst>
              <a:ext uri="{FF2B5EF4-FFF2-40B4-BE49-F238E27FC236}">
                <a16:creationId xmlns:a16="http://schemas.microsoft.com/office/drawing/2014/main" id="{2201D6A8-710B-0100-F041-CAA3C7B19BD3}"/>
              </a:ext>
            </a:extLst>
          </p:cNvPr>
          <p:cNvSpPr>
            <a:spLocks noGrp="1"/>
          </p:cNvSpPr>
          <p:nvPr>
            <p:ph type="sldNum" sz="quarter" idx="10"/>
          </p:nvPr>
        </p:nvSpPr>
        <p:spPr/>
        <p:txBody>
          <a:bodyPr/>
          <a:lstStyle/>
          <a:p>
            <a:fld id="{4DCBF740-D535-F744-89A8-4E42B3D6BD32}" type="slidenum">
              <a:rPr lang="en-US" smtClean="0"/>
              <a:t>22</a:t>
            </a:fld>
            <a:endParaRPr lang="en-US"/>
          </a:p>
        </p:txBody>
      </p:sp>
    </p:spTree>
    <p:extLst>
      <p:ext uri="{BB962C8B-B14F-4D97-AF65-F5344CB8AC3E}">
        <p14:creationId xmlns:p14="http://schemas.microsoft.com/office/powerpoint/2010/main" val="4654303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really strategy 1 is explicit regularization, whereas strategy 2 is implicit regularization</a:t>
            </a:r>
          </a:p>
        </p:txBody>
      </p:sp>
      <p:sp>
        <p:nvSpPr>
          <p:cNvPr id="4" name="Slide Number Placeholder 3"/>
          <p:cNvSpPr>
            <a:spLocks noGrp="1"/>
          </p:cNvSpPr>
          <p:nvPr>
            <p:ph type="sldNum" sz="quarter" idx="5"/>
          </p:nvPr>
        </p:nvSpPr>
        <p:spPr/>
        <p:txBody>
          <a:bodyPr/>
          <a:lstStyle/>
          <a:p>
            <a:fld id="{209936FE-1CA5-6E47-9A7D-6B47478F9B92}" type="slidenum">
              <a:rPr lang="en-US" smtClean="0"/>
              <a:t>29</a:t>
            </a:fld>
            <a:endParaRPr lang="en-US"/>
          </a:p>
        </p:txBody>
      </p:sp>
    </p:spTree>
    <p:extLst>
      <p:ext uri="{BB962C8B-B14F-4D97-AF65-F5344CB8AC3E}">
        <p14:creationId xmlns:p14="http://schemas.microsoft.com/office/powerpoint/2010/main" val="25353081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really strategy 1 is explicit regularization, whereas strategy 2 is implicit regularization</a:t>
            </a:r>
          </a:p>
        </p:txBody>
      </p:sp>
      <p:sp>
        <p:nvSpPr>
          <p:cNvPr id="4" name="Slide Number Placeholder 3"/>
          <p:cNvSpPr>
            <a:spLocks noGrp="1"/>
          </p:cNvSpPr>
          <p:nvPr>
            <p:ph type="sldNum" sz="quarter" idx="5"/>
          </p:nvPr>
        </p:nvSpPr>
        <p:spPr/>
        <p:txBody>
          <a:bodyPr/>
          <a:lstStyle/>
          <a:p>
            <a:fld id="{209936FE-1CA5-6E47-9A7D-6B47478F9B92}" type="slidenum">
              <a:rPr lang="en-US" smtClean="0"/>
              <a:t>30</a:t>
            </a:fld>
            <a:endParaRPr lang="en-US"/>
          </a:p>
        </p:txBody>
      </p:sp>
    </p:spTree>
    <p:extLst>
      <p:ext uri="{BB962C8B-B14F-4D97-AF65-F5344CB8AC3E}">
        <p14:creationId xmlns:p14="http://schemas.microsoft.com/office/powerpoint/2010/main" val="14425626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important way to use the validation set, which is very common when training neural networks,</a:t>
            </a:r>
          </a:p>
          <a:p>
            <a:r>
              <a:rPr lang="en-US" dirty="0"/>
              <a:t>Is to monitor performance on the validation set repeatedly during training</a:t>
            </a:r>
          </a:p>
          <a:p>
            <a:endParaRPr lang="en-US" dirty="0"/>
          </a:p>
          <a:p>
            <a:r>
              <a:rPr lang="en-US" dirty="0"/>
              <a:t>As long as performance on the validation set is improving, we keep fine-tuning our model’s parameters by following the gradient of the loss</a:t>
            </a:r>
          </a:p>
          <a:p>
            <a:r>
              <a:rPr lang="en-US" dirty="0"/>
              <a:t>But when validation performance starts getting worse, we’re overfitting, so we stop training and lock in our current model parameters</a:t>
            </a:r>
          </a:p>
          <a:p>
            <a:endParaRPr lang="en-US" dirty="0"/>
          </a:p>
          <a:p>
            <a:r>
              <a:rPr lang="en-US" dirty="0"/>
              <a:t>Using the validation set in this way is called “early stopping”, and we’ll use it when training our neural network models both in scikit-learn and in </a:t>
            </a:r>
            <a:r>
              <a:rPr lang="en-US" dirty="0" err="1"/>
              <a:t>tensorflow</a:t>
            </a:r>
            <a:endParaRPr lang="en-US" dirty="0"/>
          </a:p>
        </p:txBody>
      </p:sp>
      <p:sp>
        <p:nvSpPr>
          <p:cNvPr id="4" name="Slide Number Placeholder 3"/>
          <p:cNvSpPr>
            <a:spLocks noGrp="1"/>
          </p:cNvSpPr>
          <p:nvPr>
            <p:ph type="sldNum" sz="quarter" idx="5"/>
          </p:nvPr>
        </p:nvSpPr>
        <p:spPr/>
        <p:txBody>
          <a:bodyPr/>
          <a:lstStyle/>
          <a:p>
            <a:fld id="{0CFC0524-2EB9-4443-A64B-60E068CC3A2A}" type="slidenum">
              <a:rPr lang="en-US" smtClean="0"/>
              <a:t>34</a:t>
            </a:fld>
            <a:endParaRPr lang="en-US"/>
          </a:p>
        </p:txBody>
      </p:sp>
    </p:spTree>
    <p:extLst>
      <p:ext uri="{BB962C8B-B14F-4D97-AF65-F5344CB8AC3E}">
        <p14:creationId xmlns:p14="http://schemas.microsoft.com/office/powerpoint/2010/main" val="22252993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DC8E6-6504-B03B-22E1-FB26DAC799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416DD-4A91-6ABA-CAC7-9E5CF5506C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B80747-4508-1889-AD89-5B4F3A548899}"/>
              </a:ext>
            </a:extLst>
          </p:cNvPr>
          <p:cNvSpPr>
            <a:spLocks noGrp="1"/>
          </p:cNvSpPr>
          <p:nvPr>
            <p:ph type="body" idx="1"/>
          </p:nvPr>
        </p:nvSpPr>
        <p:spPr/>
        <p:txBody>
          <a:bodyPr/>
          <a:lstStyle/>
          <a:p>
            <a:pPr marL="171450" indent="-171450">
              <a:buFontTx/>
              <a:buChar char="-"/>
            </a:pPr>
            <a:r>
              <a:rPr lang="en-US" dirty="0"/>
              <a:t>Goal: obtain gradient of loss with respect to model parameters</a:t>
            </a:r>
          </a:p>
        </p:txBody>
      </p:sp>
      <p:sp>
        <p:nvSpPr>
          <p:cNvPr id="4" name="Slide Number Placeholder 3">
            <a:extLst>
              <a:ext uri="{FF2B5EF4-FFF2-40B4-BE49-F238E27FC236}">
                <a16:creationId xmlns:a16="http://schemas.microsoft.com/office/drawing/2014/main" id="{D4777E34-A740-BAB3-DC8A-1A640261A887}"/>
              </a:ext>
            </a:extLst>
          </p:cNvPr>
          <p:cNvSpPr>
            <a:spLocks noGrp="1"/>
          </p:cNvSpPr>
          <p:nvPr>
            <p:ph type="sldNum" sz="quarter" idx="5"/>
          </p:nvPr>
        </p:nvSpPr>
        <p:spPr/>
        <p:txBody>
          <a:bodyPr/>
          <a:lstStyle/>
          <a:p>
            <a:fld id="{BB0CC133-1F4F-8747-A895-2F83A6083C81}" type="slidenum">
              <a:rPr lang="en-US" smtClean="0"/>
              <a:t>50</a:t>
            </a:fld>
            <a:endParaRPr lang="en-US"/>
          </a:p>
        </p:txBody>
      </p:sp>
    </p:spTree>
    <p:extLst>
      <p:ext uri="{BB962C8B-B14F-4D97-AF65-F5344CB8AC3E}">
        <p14:creationId xmlns:p14="http://schemas.microsoft.com/office/powerpoint/2010/main" val="1175568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F892B-6FBC-8144-CA6F-54EBF563D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C70966-1CC4-C04E-7F17-574EDCE43B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B94CA-19B9-F0B3-08D4-66C5EEEEEAFB}"/>
              </a:ext>
            </a:extLst>
          </p:cNvPr>
          <p:cNvSpPr>
            <a:spLocks noGrp="1"/>
          </p:cNvSpPr>
          <p:nvPr>
            <p:ph type="body" idx="1"/>
          </p:nvPr>
        </p:nvSpPr>
        <p:spPr/>
        <p:txBody>
          <a:bodyPr/>
          <a:lstStyle/>
          <a:p>
            <a:pPr marL="171450" indent="-171450">
              <a:buFontTx/>
              <a:buChar char="-"/>
            </a:pPr>
            <a:r>
              <a:rPr lang="en-US" dirty="0"/>
              <a:t>Goal: obtain gradient of loss with respect to model parameters</a:t>
            </a:r>
          </a:p>
        </p:txBody>
      </p:sp>
      <p:sp>
        <p:nvSpPr>
          <p:cNvPr id="4" name="Slide Number Placeholder 3">
            <a:extLst>
              <a:ext uri="{FF2B5EF4-FFF2-40B4-BE49-F238E27FC236}">
                <a16:creationId xmlns:a16="http://schemas.microsoft.com/office/drawing/2014/main" id="{F2735BB4-99E4-EFED-0050-06A0A9682D94}"/>
              </a:ext>
            </a:extLst>
          </p:cNvPr>
          <p:cNvSpPr>
            <a:spLocks noGrp="1"/>
          </p:cNvSpPr>
          <p:nvPr>
            <p:ph type="sldNum" sz="quarter" idx="5"/>
          </p:nvPr>
        </p:nvSpPr>
        <p:spPr/>
        <p:txBody>
          <a:bodyPr/>
          <a:lstStyle/>
          <a:p>
            <a:fld id="{BB0CC133-1F4F-8747-A895-2F83A6083C81}" type="slidenum">
              <a:rPr lang="en-US" smtClean="0"/>
              <a:t>51</a:t>
            </a:fld>
            <a:endParaRPr lang="en-US"/>
          </a:p>
        </p:txBody>
      </p:sp>
    </p:spTree>
    <p:extLst>
      <p:ext uri="{BB962C8B-B14F-4D97-AF65-F5344CB8AC3E}">
        <p14:creationId xmlns:p14="http://schemas.microsoft.com/office/powerpoint/2010/main" val="5981872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7AF43-7E7D-5E04-00A8-FCCC6ED56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95BF9-0D94-F276-774B-3921D18D81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3D196-C425-F3CF-E808-A089F02B8B9F}"/>
              </a:ext>
            </a:extLst>
          </p:cNvPr>
          <p:cNvSpPr>
            <a:spLocks noGrp="1"/>
          </p:cNvSpPr>
          <p:nvPr>
            <p:ph type="body" idx="1"/>
          </p:nvPr>
        </p:nvSpPr>
        <p:spPr/>
        <p:txBody>
          <a:bodyPr/>
          <a:lstStyle/>
          <a:p>
            <a:pPr marL="171450" indent="-171450">
              <a:buFontTx/>
              <a:buChar char="-"/>
            </a:pPr>
            <a:r>
              <a:rPr lang="en-US" dirty="0"/>
              <a:t>Goal: obtain gradient of loss with respect to model parameters</a:t>
            </a:r>
          </a:p>
        </p:txBody>
      </p:sp>
      <p:sp>
        <p:nvSpPr>
          <p:cNvPr id="4" name="Slide Number Placeholder 3">
            <a:extLst>
              <a:ext uri="{FF2B5EF4-FFF2-40B4-BE49-F238E27FC236}">
                <a16:creationId xmlns:a16="http://schemas.microsoft.com/office/drawing/2014/main" id="{F6A6BAFB-59D4-3850-0F84-11F29368D13A}"/>
              </a:ext>
            </a:extLst>
          </p:cNvPr>
          <p:cNvSpPr>
            <a:spLocks noGrp="1"/>
          </p:cNvSpPr>
          <p:nvPr>
            <p:ph type="sldNum" sz="quarter" idx="5"/>
          </p:nvPr>
        </p:nvSpPr>
        <p:spPr/>
        <p:txBody>
          <a:bodyPr/>
          <a:lstStyle/>
          <a:p>
            <a:fld id="{BB0CC133-1F4F-8747-A895-2F83A6083C81}" type="slidenum">
              <a:rPr lang="en-US" smtClean="0"/>
              <a:t>52</a:t>
            </a:fld>
            <a:endParaRPr lang="en-US"/>
          </a:p>
        </p:txBody>
      </p:sp>
    </p:spTree>
    <p:extLst>
      <p:ext uri="{BB962C8B-B14F-4D97-AF65-F5344CB8AC3E}">
        <p14:creationId xmlns:p14="http://schemas.microsoft.com/office/powerpoint/2010/main" val="19433961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836DC-F3A2-98A5-7672-248DC328C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EE0567-2DBD-A4B8-5182-2E7AFE0138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52609D-4319-3133-992C-FCE55014BC0B}"/>
              </a:ext>
            </a:extLst>
          </p:cNvPr>
          <p:cNvSpPr>
            <a:spLocks noGrp="1"/>
          </p:cNvSpPr>
          <p:nvPr>
            <p:ph type="body" idx="1"/>
          </p:nvPr>
        </p:nvSpPr>
        <p:spPr/>
        <p:txBody>
          <a:bodyPr/>
          <a:lstStyle/>
          <a:p>
            <a:pPr marL="171450" indent="-171450">
              <a:buFontTx/>
              <a:buChar char="-"/>
            </a:pPr>
            <a:r>
              <a:rPr lang="en-US" dirty="0"/>
              <a:t>Goal: obtain gradient of loss with respect to model parameters</a:t>
            </a:r>
          </a:p>
        </p:txBody>
      </p:sp>
      <p:sp>
        <p:nvSpPr>
          <p:cNvPr id="4" name="Slide Number Placeholder 3">
            <a:extLst>
              <a:ext uri="{FF2B5EF4-FFF2-40B4-BE49-F238E27FC236}">
                <a16:creationId xmlns:a16="http://schemas.microsoft.com/office/drawing/2014/main" id="{923E64F3-5E53-B604-D201-058FFC1CC4E8}"/>
              </a:ext>
            </a:extLst>
          </p:cNvPr>
          <p:cNvSpPr>
            <a:spLocks noGrp="1"/>
          </p:cNvSpPr>
          <p:nvPr>
            <p:ph type="sldNum" sz="quarter" idx="5"/>
          </p:nvPr>
        </p:nvSpPr>
        <p:spPr/>
        <p:txBody>
          <a:bodyPr/>
          <a:lstStyle/>
          <a:p>
            <a:fld id="{BB0CC133-1F4F-8747-A895-2F83A6083C81}" type="slidenum">
              <a:rPr lang="en-US" smtClean="0"/>
              <a:t>53</a:t>
            </a:fld>
            <a:endParaRPr lang="en-US"/>
          </a:p>
        </p:txBody>
      </p:sp>
    </p:spTree>
    <p:extLst>
      <p:ext uri="{BB962C8B-B14F-4D97-AF65-F5344CB8AC3E}">
        <p14:creationId xmlns:p14="http://schemas.microsoft.com/office/powerpoint/2010/main" val="13400141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831D8-0189-4F2F-3FD5-9F33E52284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0F25F0-6182-C375-578F-1FB70E7ED3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FC3C3B-386E-0633-A04B-00A409D3EF1A}"/>
              </a:ext>
            </a:extLst>
          </p:cNvPr>
          <p:cNvSpPr>
            <a:spLocks noGrp="1"/>
          </p:cNvSpPr>
          <p:nvPr>
            <p:ph type="body" idx="1"/>
          </p:nvPr>
        </p:nvSpPr>
        <p:spPr/>
        <p:txBody>
          <a:bodyPr/>
          <a:lstStyle/>
          <a:p>
            <a:pPr marL="171450" indent="-171450">
              <a:buFontTx/>
              <a:buChar char="-"/>
            </a:pPr>
            <a:r>
              <a:rPr lang="en-US" dirty="0"/>
              <a:t>Goal: obtain gradient of loss with respect to model parameters</a:t>
            </a:r>
          </a:p>
        </p:txBody>
      </p:sp>
      <p:sp>
        <p:nvSpPr>
          <p:cNvPr id="4" name="Slide Number Placeholder 3">
            <a:extLst>
              <a:ext uri="{FF2B5EF4-FFF2-40B4-BE49-F238E27FC236}">
                <a16:creationId xmlns:a16="http://schemas.microsoft.com/office/drawing/2014/main" id="{5136048F-1C47-7E0E-110D-C6ECF3D35A8B}"/>
              </a:ext>
            </a:extLst>
          </p:cNvPr>
          <p:cNvSpPr>
            <a:spLocks noGrp="1"/>
          </p:cNvSpPr>
          <p:nvPr>
            <p:ph type="sldNum" sz="quarter" idx="5"/>
          </p:nvPr>
        </p:nvSpPr>
        <p:spPr/>
        <p:txBody>
          <a:bodyPr/>
          <a:lstStyle/>
          <a:p>
            <a:fld id="{BB0CC133-1F4F-8747-A895-2F83A6083C81}" type="slidenum">
              <a:rPr lang="en-US" smtClean="0"/>
              <a:t>55</a:t>
            </a:fld>
            <a:endParaRPr lang="en-US"/>
          </a:p>
        </p:txBody>
      </p:sp>
    </p:spTree>
    <p:extLst>
      <p:ext uri="{BB962C8B-B14F-4D97-AF65-F5344CB8AC3E}">
        <p14:creationId xmlns:p14="http://schemas.microsoft.com/office/powerpoint/2010/main" val="2713142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thing we could try is to just test out a bunch of different sets of parameter values</a:t>
            </a:r>
          </a:p>
          <a:p>
            <a:r>
              <a:rPr lang="en-US" dirty="0"/>
              <a:t>Then we can just choose the set associated with the smallest value of the loss</a:t>
            </a:r>
          </a:p>
          <a:p>
            <a:endParaRPr lang="en-US" dirty="0"/>
          </a:p>
          <a:p>
            <a:r>
              <a:rPr lang="en-US" dirty="0"/>
              <a:t>Or we could play around with different parameter values</a:t>
            </a:r>
          </a:p>
          <a:p>
            <a:r>
              <a:rPr lang="en-US" dirty="0"/>
              <a:t>And see if we can reduce the loss a little by making changes to them</a:t>
            </a:r>
          </a:p>
          <a:p>
            <a:r>
              <a:rPr lang="en-US" dirty="0"/>
              <a:t>We might try to figure out, through exploration, how changing specific parameters affects the loss</a:t>
            </a:r>
          </a:p>
          <a:p>
            <a:endParaRPr lang="en-US" dirty="0"/>
          </a:p>
          <a:p>
            <a:r>
              <a:rPr lang="en-US" dirty="0"/>
              <a:t>This is what you’ll explore in your exercise</a:t>
            </a:r>
          </a:p>
        </p:txBody>
      </p:sp>
      <p:sp>
        <p:nvSpPr>
          <p:cNvPr id="4" name="Slide Number Placeholder 3"/>
          <p:cNvSpPr>
            <a:spLocks noGrp="1"/>
          </p:cNvSpPr>
          <p:nvPr>
            <p:ph type="sldNum" sz="quarter" idx="5"/>
          </p:nvPr>
        </p:nvSpPr>
        <p:spPr/>
        <p:txBody>
          <a:bodyPr/>
          <a:lstStyle/>
          <a:p>
            <a:fld id="{F7B5820E-387F-784E-8D6C-00A02E5BA58B}" type="slidenum">
              <a:rPr lang="en-US" smtClean="0"/>
              <a:t>59</a:t>
            </a:fld>
            <a:endParaRPr lang="en-US"/>
          </a:p>
        </p:txBody>
      </p:sp>
    </p:spTree>
    <p:extLst>
      <p:ext uri="{BB962C8B-B14F-4D97-AF65-F5344CB8AC3E}">
        <p14:creationId xmlns:p14="http://schemas.microsoft.com/office/powerpoint/2010/main" val="2214261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42D66-E350-7726-4478-B8F7EE57FA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0449B9-B5E6-43DD-00E3-469F0F2462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BB9275F-B04C-9986-4102-48F2E39B54EE}"/>
              </a:ext>
            </a:extLst>
          </p:cNvPr>
          <p:cNvSpPr>
            <a:spLocks noGrp="1"/>
          </p:cNvSpPr>
          <p:nvPr>
            <p:ph type="dt" sz="half" idx="10"/>
          </p:nvPr>
        </p:nvSpPr>
        <p:spPr/>
        <p:txBody>
          <a:bodyPr/>
          <a:lstStyle/>
          <a:p>
            <a:fld id="{AADE5F2B-A126-774B-A01F-01333F478771}" type="datetimeFigureOut">
              <a:rPr lang="en-US" smtClean="0"/>
              <a:t>1/14/26</a:t>
            </a:fld>
            <a:endParaRPr lang="en-US"/>
          </a:p>
        </p:txBody>
      </p:sp>
      <p:sp>
        <p:nvSpPr>
          <p:cNvPr id="5" name="Footer Placeholder 4">
            <a:extLst>
              <a:ext uri="{FF2B5EF4-FFF2-40B4-BE49-F238E27FC236}">
                <a16:creationId xmlns:a16="http://schemas.microsoft.com/office/drawing/2014/main" id="{DF96A4E7-C0A7-E493-EC92-AF49EB19D4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522E35-8717-FF95-9856-3F88DAFEFCC2}"/>
              </a:ext>
            </a:extLst>
          </p:cNvPr>
          <p:cNvSpPr>
            <a:spLocks noGrp="1"/>
          </p:cNvSpPr>
          <p:nvPr>
            <p:ph type="sldNum" sz="quarter" idx="12"/>
          </p:nvPr>
        </p:nvSpPr>
        <p:spPr/>
        <p:txBody>
          <a:bodyPr/>
          <a:lstStyle/>
          <a:p>
            <a:fld id="{7B9EBFFC-90BB-9F4C-BFDE-724D73707FF8}" type="slidenum">
              <a:rPr lang="en-US" smtClean="0"/>
              <a:t>‹#›</a:t>
            </a:fld>
            <a:endParaRPr lang="en-US"/>
          </a:p>
        </p:txBody>
      </p:sp>
    </p:spTree>
    <p:extLst>
      <p:ext uri="{BB962C8B-B14F-4D97-AF65-F5344CB8AC3E}">
        <p14:creationId xmlns:p14="http://schemas.microsoft.com/office/powerpoint/2010/main" val="2072110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1BB9A-40A9-7372-C836-301D5D47B0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B7A550-1A0D-2344-6B6F-2CCA52F932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0C42F2-A356-F547-D2B4-332F4733A2CF}"/>
              </a:ext>
            </a:extLst>
          </p:cNvPr>
          <p:cNvSpPr>
            <a:spLocks noGrp="1"/>
          </p:cNvSpPr>
          <p:nvPr>
            <p:ph type="dt" sz="half" idx="10"/>
          </p:nvPr>
        </p:nvSpPr>
        <p:spPr/>
        <p:txBody>
          <a:bodyPr/>
          <a:lstStyle/>
          <a:p>
            <a:fld id="{AADE5F2B-A126-774B-A01F-01333F478771}" type="datetimeFigureOut">
              <a:rPr lang="en-US" smtClean="0"/>
              <a:t>1/14/26</a:t>
            </a:fld>
            <a:endParaRPr lang="en-US"/>
          </a:p>
        </p:txBody>
      </p:sp>
      <p:sp>
        <p:nvSpPr>
          <p:cNvPr id="5" name="Footer Placeholder 4">
            <a:extLst>
              <a:ext uri="{FF2B5EF4-FFF2-40B4-BE49-F238E27FC236}">
                <a16:creationId xmlns:a16="http://schemas.microsoft.com/office/drawing/2014/main" id="{42E95AF1-8AE9-9BA2-0847-2B383C789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D76950-906C-086D-3761-F85D016D3A90}"/>
              </a:ext>
            </a:extLst>
          </p:cNvPr>
          <p:cNvSpPr>
            <a:spLocks noGrp="1"/>
          </p:cNvSpPr>
          <p:nvPr>
            <p:ph type="sldNum" sz="quarter" idx="12"/>
          </p:nvPr>
        </p:nvSpPr>
        <p:spPr/>
        <p:txBody>
          <a:bodyPr/>
          <a:lstStyle/>
          <a:p>
            <a:fld id="{7B9EBFFC-90BB-9F4C-BFDE-724D73707FF8}" type="slidenum">
              <a:rPr lang="en-US" smtClean="0"/>
              <a:t>‹#›</a:t>
            </a:fld>
            <a:endParaRPr lang="en-US"/>
          </a:p>
        </p:txBody>
      </p:sp>
    </p:spTree>
    <p:extLst>
      <p:ext uri="{BB962C8B-B14F-4D97-AF65-F5344CB8AC3E}">
        <p14:creationId xmlns:p14="http://schemas.microsoft.com/office/powerpoint/2010/main" val="174176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521CA-EFEC-8B86-6153-270EA928CE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A6C626-51AF-B6C7-35F5-7501E9593BB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D0FCAF-55B0-C22C-F6CF-42770607EDF5}"/>
              </a:ext>
            </a:extLst>
          </p:cNvPr>
          <p:cNvSpPr>
            <a:spLocks noGrp="1"/>
          </p:cNvSpPr>
          <p:nvPr>
            <p:ph type="dt" sz="half" idx="10"/>
          </p:nvPr>
        </p:nvSpPr>
        <p:spPr/>
        <p:txBody>
          <a:bodyPr/>
          <a:lstStyle/>
          <a:p>
            <a:fld id="{AADE5F2B-A126-774B-A01F-01333F478771}" type="datetimeFigureOut">
              <a:rPr lang="en-US" smtClean="0"/>
              <a:t>1/14/26</a:t>
            </a:fld>
            <a:endParaRPr lang="en-US"/>
          </a:p>
        </p:txBody>
      </p:sp>
      <p:sp>
        <p:nvSpPr>
          <p:cNvPr id="5" name="Footer Placeholder 4">
            <a:extLst>
              <a:ext uri="{FF2B5EF4-FFF2-40B4-BE49-F238E27FC236}">
                <a16:creationId xmlns:a16="http://schemas.microsoft.com/office/drawing/2014/main" id="{39F82E5C-BDA4-BDFF-E5EC-C728E70F59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FD61E3-147D-AE91-9061-AA667C6D15FB}"/>
              </a:ext>
            </a:extLst>
          </p:cNvPr>
          <p:cNvSpPr>
            <a:spLocks noGrp="1"/>
          </p:cNvSpPr>
          <p:nvPr>
            <p:ph type="sldNum" sz="quarter" idx="12"/>
          </p:nvPr>
        </p:nvSpPr>
        <p:spPr/>
        <p:txBody>
          <a:bodyPr/>
          <a:lstStyle/>
          <a:p>
            <a:fld id="{7B9EBFFC-90BB-9F4C-BFDE-724D73707FF8}" type="slidenum">
              <a:rPr lang="en-US" smtClean="0"/>
              <a:t>‹#›</a:t>
            </a:fld>
            <a:endParaRPr lang="en-US"/>
          </a:p>
        </p:txBody>
      </p:sp>
    </p:spTree>
    <p:extLst>
      <p:ext uri="{BB962C8B-B14F-4D97-AF65-F5344CB8AC3E}">
        <p14:creationId xmlns:p14="http://schemas.microsoft.com/office/powerpoint/2010/main" val="2009127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67611-7202-A769-CF9E-57EC070F5D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B1D163-8840-075F-8830-63C8A24235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CF2900-A1DD-0ECF-0730-0AE3C6B278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69E37F5-91CE-1FC1-7AA4-C532F30C4439}"/>
              </a:ext>
            </a:extLst>
          </p:cNvPr>
          <p:cNvSpPr>
            <a:spLocks noGrp="1"/>
          </p:cNvSpPr>
          <p:nvPr>
            <p:ph type="dt" sz="half" idx="10"/>
          </p:nvPr>
        </p:nvSpPr>
        <p:spPr/>
        <p:txBody>
          <a:bodyPr/>
          <a:lstStyle/>
          <a:p>
            <a:fld id="{AADE5F2B-A126-774B-A01F-01333F478771}" type="datetimeFigureOut">
              <a:rPr lang="en-US" smtClean="0"/>
              <a:t>1/14/26</a:t>
            </a:fld>
            <a:endParaRPr lang="en-US"/>
          </a:p>
        </p:txBody>
      </p:sp>
      <p:sp>
        <p:nvSpPr>
          <p:cNvPr id="6" name="Footer Placeholder 5">
            <a:extLst>
              <a:ext uri="{FF2B5EF4-FFF2-40B4-BE49-F238E27FC236}">
                <a16:creationId xmlns:a16="http://schemas.microsoft.com/office/drawing/2014/main" id="{ECA50F52-2040-1BE6-C965-46693D4A39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D38D53-096F-673F-0926-4A84B9EAA065}"/>
              </a:ext>
            </a:extLst>
          </p:cNvPr>
          <p:cNvSpPr>
            <a:spLocks noGrp="1"/>
          </p:cNvSpPr>
          <p:nvPr>
            <p:ph type="sldNum" sz="quarter" idx="12"/>
          </p:nvPr>
        </p:nvSpPr>
        <p:spPr/>
        <p:txBody>
          <a:bodyPr/>
          <a:lstStyle/>
          <a:p>
            <a:fld id="{7B9EBFFC-90BB-9F4C-BFDE-724D73707FF8}" type="slidenum">
              <a:rPr lang="en-US" smtClean="0"/>
              <a:t>‹#›</a:t>
            </a:fld>
            <a:endParaRPr lang="en-US"/>
          </a:p>
        </p:txBody>
      </p:sp>
    </p:spTree>
    <p:extLst>
      <p:ext uri="{BB962C8B-B14F-4D97-AF65-F5344CB8AC3E}">
        <p14:creationId xmlns:p14="http://schemas.microsoft.com/office/powerpoint/2010/main" val="185491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92A80-7E47-4B94-AB6B-90EDD41D5CE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65C61AC-F140-A27E-0C0D-144AFC6FD9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913C32-ECEF-A35D-7423-458B467F9D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96656B-04D9-490E-3C8D-1D592B14D2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112EAF-4CDB-5342-14A9-4A5585936A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CA9C34A-AC11-36E5-3C40-C7E32DFEBEA8}"/>
              </a:ext>
            </a:extLst>
          </p:cNvPr>
          <p:cNvSpPr>
            <a:spLocks noGrp="1"/>
          </p:cNvSpPr>
          <p:nvPr>
            <p:ph type="dt" sz="half" idx="10"/>
          </p:nvPr>
        </p:nvSpPr>
        <p:spPr/>
        <p:txBody>
          <a:bodyPr/>
          <a:lstStyle/>
          <a:p>
            <a:fld id="{AADE5F2B-A126-774B-A01F-01333F478771}" type="datetimeFigureOut">
              <a:rPr lang="en-US" smtClean="0"/>
              <a:t>1/14/26</a:t>
            </a:fld>
            <a:endParaRPr lang="en-US"/>
          </a:p>
        </p:txBody>
      </p:sp>
      <p:sp>
        <p:nvSpPr>
          <p:cNvPr id="8" name="Footer Placeholder 7">
            <a:extLst>
              <a:ext uri="{FF2B5EF4-FFF2-40B4-BE49-F238E27FC236}">
                <a16:creationId xmlns:a16="http://schemas.microsoft.com/office/drawing/2014/main" id="{5E88E16B-C910-5042-9B41-D33C59425B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BF44522-42CC-B14A-EE64-261A209C4FF4}"/>
              </a:ext>
            </a:extLst>
          </p:cNvPr>
          <p:cNvSpPr>
            <a:spLocks noGrp="1"/>
          </p:cNvSpPr>
          <p:nvPr>
            <p:ph type="sldNum" sz="quarter" idx="12"/>
          </p:nvPr>
        </p:nvSpPr>
        <p:spPr/>
        <p:txBody>
          <a:bodyPr/>
          <a:lstStyle/>
          <a:p>
            <a:fld id="{7B9EBFFC-90BB-9F4C-BFDE-724D73707FF8}" type="slidenum">
              <a:rPr lang="en-US" smtClean="0"/>
              <a:t>‹#›</a:t>
            </a:fld>
            <a:endParaRPr lang="en-US"/>
          </a:p>
        </p:txBody>
      </p:sp>
    </p:spTree>
    <p:extLst>
      <p:ext uri="{BB962C8B-B14F-4D97-AF65-F5344CB8AC3E}">
        <p14:creationId xmlns:p14="http://schemas.microsoft.com/office/powerpoint/2010/main" val="2770663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94C95-45E4-3BB9-80C0-F5A7FE2ABA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753259-E8B9-8906-6076-432D526D1988}"/>
              </a:ext>
            </a:extLst>
          </p:cNvPr>
          <p:cNvSpPr>
            <a:spLocks noGrp="1"/>
          </p:cNvSpPr>
          <p:nvPr>
            <p:ph type="dt" sz="half" idx="10"/>
          </p:nvPr>
        </p:nvSpPr>
        <p:spPr/>
        <p:txBody>
          <a:bodyPr/>
          <a:lstStyle/>
          <a:p>
            <a:fld id="{AADE5F2B-A126-774B-A01F-01333F478771}" type="datetimeFigureOut">
              <a:rPr lang="en-US" smtClean="0"/>
              <a:t>1/14/26</a:t>
            </a:fld>
            <a:endParaRPr lang="en-US"/>
          </a:p>
        </p:txBody>
      </p:sp>
      <p:sp>
        <p:nvSpPr>
          <p:cNvPr id="4" name="Footer Placeholder 3">
            <a:extLst>
              <a:ext uri="{FF2B5EF4-FFF2-40B4-BE49-F238E27FC236}">
                <a16:creationId xmlns:a16="http://schemas.microsoft.com/office/drawing/2014/main" id="{0FD5236F-2D73-6BC7-7F42-63C2CFB88B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3E3B75B-CB3F-E531-7669-3D1691B048F5}"/>
              </a:ext>
            </a:extLst>
          </p:cNvPr>
          <p:cNvSpPr>
            <a:spLocks noGrp="1"/>
          </p:cNvSpPr>
          <p:nvPr>
            <p:ph type="sldNum" sz="quarter" idx="12"/>
          </p:nvPr>
        </p:nvSpPr>
        <p:spPr/>
        <p:txBody>
          <a:bodyPr/>
          <a:lstStyle/>
          <a:p>
            <a:fld id="{7B9EBFFC-90BB-9F4C-BFDE-724D73707FF8}" type="slidenum">
              <a:rPr lang="en-US" smtClean="0"/>
              <a:t>‹#›</a:t>
            </a:fld>
            <a:endParaRPr lang="en-US"/>
          </a:p>
        </p:txBody>
      </p:sp>
    </p:spTree>
    <p:extLst>
      <p:ext uri="{BB962C8B-B14F-4D97-AF65-F5344CB8AC3E}">
        <p14:creationId xmlns:p14="http://schemas.microsoft.com/office/powerpoint/2010/main" val="986640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3B7CE7-19AD-8DA4-F1BD-3C1E0F1EC468}"/>
              </a:ext>
            </a:extLst>
          </p:cNvPr>
          <p:cNvSpPr>
            <a:spLocks noGrp="1"/>
          </p:cNvSpPr>
          <p:nvPr>
            <p:ph type="dt" sz="half" idx="10"/>
          </p:nvPr>
        </p:nvSpPr>
        <p:spPr/>
        <p:txBody>
          <a:bodyPr/>
          <a:lstStyle/>
          <a:p>
            <a:fld id="{AADE5F2B-A126-774B-A01F-01333F478771}" type="datetimeFigureOut">
              <a:rPr lang="en-US" smtClean="0"/>
              <a:t>1/14/26</a:t>
            </a:fld>
            <a:endParaRPr lang="en-US"/>
          </a:p>
        </p:txBody>
      </p:sp>
      <p:sp>
        <p:nvSpPr>
          <p:cNvPr id="3" name="Footer Placeholder 2">
            <a:extLst>
              <a:ext uri="{FF2B5EF4-FFF2-40B4-BE49-F238E27FC236}">
                <a16:creationId xmlns:a16="http://schemas.microsoft.com/office/drawing/2014/main" id="{825E2C75-399F-33B3-0F92-4F8AD4250F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06B5A8-DCD3-5B9F-4D2C-CAB98D944244}"/>
              </a:ext>
            </a:extLst>
          </p:cNvPr>
          <p:cNvSpPr>
            <a:spLocks noGrp="1"/>
          </p:cNvSpPr>
          <p:nvPr>
            <p:ph type="sldNum" sz="quarter" idx="12"/>
          </p:nvPr>
        </p:nvSpPr>
        <p:spPr/>
        <p:txBody>
          <a:bodyPr/>
          <a:lstStyle/>
          <a:p>
            <a:fld id="{7B9EBFFC-90BB-9F4C-BFDE-724D73707FF8}" type="slidenum">
              <a:rPr lang="en-US" smtClean="0"/>
              <a:t>‹#›</a:t>
            </a:fld>
            <a:endParaRPr lang="en-US"/>
          </a:p>
        </p:txBody>
      </p:sp>
    </p:spTree>
    <p:extLst>
      <p:ext uri="{BB962C8B-B14F-4D97-AF65-F5344CB8AC3E}">
        <p14:creationId xmlns:p14="http://schemas.microsoft.com/office/powerpoint/2010/main" val="1252197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7A876-BF37-6E20-220D-973F7DA568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A0DBD34-CF0C-9FE0-0369-A4037CFDDB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AE551C-3191-82F8-EC54-CDFC4EEC70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719421-20EB-D5BF-93DE-9D8A1FC0063C}"/>
              </a:ext>
            </a:extLst>
          </p:cNvPr>
          <p:cNvSpPr>
            <a:spLocks noGrp="1"/>
          </p:cNvSpPr>
          <p:nvPr>
            <p:ph type="dt" sz="half" idx="10"/>
          </p:nvPr>
        </p:nvSpPr>
        <p:spPr/>
        <p:txBody>
          <a:bodyPr/>
          <a:lstStyle/>
          <a:p>
            <a:fld id="{AADE5F2B-A126-774B-A01F-01333F478771}" type="datetimeFigureOut">
              <a:rPr lang="en-US" smtClean="0"/>
              <a:t>1/14/26</a:t>
            </a:fld>
            <a:endParaRPr lang="en-US"/>
          </a:p>
        </p:txBody>
      </p:sp>
      <p:sp>
        <p:nvSpPr>
          <p:cNvPr id="6" name="Footer Placeholder 5">
            <a:extLst>
              <a:ext uri="{FF2B5EF4-FFF2-40B4-BE49-F238E27FC236}">
                <a16:creationId xmlns:a16="http://schemas.microsoft.com/office/drawing/2014/main" id="{08C9ED38-5F71-D3D2-3970-D5A16264FE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F05FDF-9DC6-52F2-3C25-7F53F6A1DE5C}"/>
              </a:ext>
            </a:extLst>
          </p:cNvPr>
          <p:cNvSpPr>
            <a:spLocks noGrp="1"/>
          </p:cNvSpPr>
          <p:nvPr>
            <p:ph type="sldNum" sz="quarter" idx="12"/>
          </p:nvPr>
        </p:nvSpPr>
        <p:spPr/>
        <p:txBody>
          <a:bodyPr/>
          <a:lstStyle/>
          <a:p>
            <a:fld id="{7B9EBFFC-90BB-9F4C-BFDE-724D73707FF8}" type="slidenum">
              <a:rPr lang="en-US" smtClean="0"/>
              <a:t>‹#›</a:t>
            </a:fld>
            <a:endParaRPr lang="en-US"/>
          </a:p>
        </p:txBody>
      </p:sp>
    </p:spTree>
    <p:extLst>
      <p:ext uri="{BB962C8B-B14F-4D97-AF65-F5344CB8AC3E}">
        <p14:creationId xmlns:p14="http://schemas.microsoft.com/office/powerpoint/2010/main" val="3620789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F2CEE-DC70-8F50-2F2A-2AF997891D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2633C19-6D60-C8BE-FF21-47EB42CC86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CBE3E8-1F3B-3E84-0955-DF5FDF45F4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125A8E-7B16-728F-80CC-AEFDD2A3C76D}"/>
              </a:ext>
            </a:extLst>
          </p:cNvPr>
          <p:cNvSpPr>
            <a:spLocks noGrp="1"/>
          </p:cNvSpPr>
          <p:nvPr>
            <p:ph type="dt" sz="half" idx="10"/>
          </p:nvPr>
        </p:nvSpPr>
        <p:spPr/>
        <p:txBody>
          <a:bodyPr/>
          <a:lstStyle/>
          <a:p>
            <a:fld id="{AADE5F2B-A126-774B-A01F-01333F478771}" type="datetimeFigureOut">
              <a:rPr lang="en-US" smtClean="0"/>
              <a:t>1/14/26</a:t>
            </a:fld>
            <a:endParaRPr lang="en-US"/>
          </a:p>
        </p:txBody>
      </p:sp>
      <p:sp>
        <p:nvSpPr>
          <p:cNvPr id="6" name="Footer Placeholder 5">
            <a:extLst>
              <a:ext uri="{FF2B5EF4-FFF2-40B4-BE49-F238E27FC236}">
                <a16:creationId xmlns:a16="http://schemas.microsoft.com/office/drawing/2014/main" id="{D2FEBF42-B2EF-79C2-24C4-BF3D0E71EA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A2F888-9441-9D62-9185-A262B837731D}"/>
              </a:ext>
            </a:extLst>
          </p:cNvPr>
          <p:cNvSpPr>
            <a:spLocks noGrp="1"/>
          </p:cNvSpPr>
          <p:nvPr>
            <p:ph type="sldNum" sz="quarter" idx="12"/>
          </p:nvPr>
        </p:nvSpPr>
        <p:spPr/>
        <p:txBody>
          <a:bodyPr/>
          <a:lstStyle/>
          <a:p>
            <a:fld id="{7B9EBFFC-90BB-9F4C-BFDE-724D73707FF8}" type="slidenum">
              <a:rPr lang="en-US" smtClean="0"/>
              <a:t>‹#›</a:t>
            </a:fld>
            <a:endParaRPr lang="en-US"/>
          </a:p>
        </p:txBody>
      </p:sp>
    </p:spTree>
    <p:extLst>
      <p:ext uri="{BB962C8B-B14F-4D97-AF65-F5344CB8AC3E}">
        <p14:creationId xmlns:p14="http://schemas.microsoft.com/office/powerpoint/2010/main" val="1014209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083D8-9F9E-F530-14C2-1BB6D3FE945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FB90AC-3353-90BC-6471-E718618ACE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67F785-B8CD-5DA3-0FB2-C0CA331C3B40}"/>
              </a:ext>
            </a:extLst>
          </p:cNvPr>
          <p:cNvSpPr>
            <a:spLocks noGrp="1"/>
          </p:cNvSpPr>
          <p:nvPr>
            <p:ph type="dt" sz="half" idx="10"/>
          </p:nvPr>
        </p:nvSpPr>
        <p:spPr/>
        <p:txBody>
          <a:bodyPr/>
          <a:lstStyle/>
          <a:p>
            <a:fld id="{AADE5F2B-A126-774B-A01F-01333F478771}" type="datetimeFigureOut">
              <a:rPr lang="en-US" smtClean="0"/>
              <a:t>1/14/26</a:t>
            </a:fld>
            <a:endParaRPr lang="en-US"/>
          </a:p>
        </p:txBody>
      </p:sp>
      <p:sp>
        <p:nvSpPr>
          <p:cNvPr id="5" name="Footer Placeholder 4">
            <a:extLst>
              <a:ext uri="{FF2B5EF4-FFF2-40B4-BE49-F238E27FC236}">
                <a16:creationId xmlns:a16="http://schemas.microsoft.com/office/drawing/2014/main" id="{6DE2C27A-5079-7B89-536F-7D43C48C1A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1D7C6C-910A-F19B-AC52-3DBD76E1CFFE}"/>
              </a:ext>
            </a:extLst>
          </p:cNvPr>
          <p:cNvSpPr>
            <a:spLocks noGrp="1"/>
          </p:cNvSpPr>
          <p:nvPr>
            <p:ph type="sldNum" sz="quarter" idx="12"/>
          </p:nvPr>
        </p:nvSpPr>
        <p:spPr/>
        <p:txBody>
          <a:bodyPr/>
          <a:lstStyle/>
          <a:p>
            <a:fld id="{7B9EBFFC-90BB-9F4C-BFDE-724D73707FF8}" type="slidenum">
              <a:rPr lang="en-US" smtClean="0"/>
              <a:t>‹#›</a:t>
            </a:fld>
            <a:endParaRPr lang="en-US"/>
          </a:p>
        </p:txBody>
      </p:sp>
    </p:spTree>
    <p:extLst>
      <p:ext uri="{BB962C8B-B14F-4D97-AF65-F5344CB8AC3E}">
        <p14:creationId xmlns:p14="http://schemas.microsoft.com/office/powerpoint/2010/main" val="4271848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80C497-C3AE-EF14-A09E-20B89E272C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8CCF036-8513-2931-677F-0766EE84D2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A737F5-113F-A002-3A2B-BFC7015578FF}"/>
              </a:ext>
            </a:extLst>
          </p:cNvPr>
          <p:cNvSpPr>
            <a:spLocks noGrp="1"/>
          </p:cNvSpPr>
          <p:nvPr>
            <p:ph type="dt" sz="half" idx="10"/>
          </p:nvPr>
        </p:nvSpPr>
        <p:spPr/>
        <p:txBody>
          <a:bodyPr/>
          <a:lstStyle/>
          <a:p>
            <a:fld id="{AADE5F2B-A126-774B-A01F-01333F478771}" type="datetimeFigureOut">
              <a:rPr lang="en-US" smtClean="0"/>
              <a:t>1/14/26</a:t>
            </a:fld>
            <a:endParaRPr lang="en-US"/>
          </a:p>
        </p:txBody>
      </p:sp>
      <p:sp>
        <p:nvSpPr>
          <p:cNvPr id="5" name="Footer Placeholder 4">
            <a:extLst>
              <a:ext uri="{FF2B5EF4-FFF2-40B4-BE49-F238E27FC236}">
                <a16:creationId xmlns:a16="http://schemas.microsoft.com/office/drawing/2014/main" id="{878320D3-9E77-8C9A-0BA2-46DE29252E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386632-32B7-6BC5-0908-DB060B0B57A7}"/>
              </a:ext>
            </a:extLst>
          </p:cNvPr>
          <p:cNvSpPr>
            <a:spLocks noGrp="1"/>
          </p:cNvSpPr>
          <p:nvPr>
            <p:ph type="sldNum" sz="quarter" idx="12"/>
          </p:nvPr>
        </p:nvSpPr>
        <p:spPr/>
        <p:txBody>
          <a:bodyPr/>
          <a:lstStyle/>
          <a:p>
            <a:fld id="{7B9EBFFC-90BB-9F4C-BFDE-724D73707FF8}" type="slidenum">
              <a:rPr lang="en-US" smtClean="0"/>
              <a:t>‹#›</a:t>
            </a:fld>
            <a:endParaRPr lang="en-US"/>
          </a:p>
        </p:txBody>
      </p:sp>
    </p:spTree>
    <p:extLst>
      <p:ext uri="{BB962C8B-B14F-4D97-AF65-F5344CB8AC3E}">
        <p14:creationId xmlns:p14="http://schemas.microsoft.com/office/powerpoint/2010/main" val="4085269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0AEF08-D383-497F-AE1D-F7EA015404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D9187B-0BB9-FE7A-258A-B0B92ADB33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16665C-DC34-6BA1-E2E3-EA602B5F67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ADE5F2B-A126-774B-A01F-01333F478771}" type="datetimeFigureOut">
              <a:rPr lang="en-US" smtClean="0"/>
              <a:t>1/14/26</a:t>
            </a:fld>
            <a:endParaRPr lang="en-US"/>
          </a:p>
        </p:txBody>
      </p:sp>
      <p:sp>
        <p:nvSpPr>
          <p:cNvPr id="5" name="Footer Placeholder 4">
            <a:extLst>
              <a:ext uri="{FF2B5EF4-FFF2-40B4-BE49-F238E27FC236}">
                <a16:creationId xmlns:a16="http://schemas.microsoft.com/office/drawing/2014/main" id="{F45E34EC-F634-9D15-E5A6-C75CA830C6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F318C12-A524-04C9-1B3B-3F2ECE8A6A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9EBFFC-90BB-9F4C-BFDE-724D73707FF8}" type="slidenum">
              <a:rPr lang="en-US" smtClean="0"/>
              <a:t>‹#›</a:t>
            </a:fld>
            <a:endParaRPr lang="en-US"/>
          </a:p>
        </p:txBody>
      </p:sp>
    </p:spTree>
    <p:extLst>
      <p:ext uri="{BB962C8B-B14F-4D97-AF65-F5344CB8AC3E}">
        <p14:creationId xmlns:p14="http://schemas.microsoft.com/office/powerpoint/2010/main" val="37151072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tif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tiff"/><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tiff"/><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tiff"/><Relationship Id="rId5" Type="http://schemas.openxmlformats.org/officeDocument/2006/relationships/image" Target="../media/image9.pn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tiff"/><Relationship Id="rId5"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tiff"/><Relationship Id="rId5" Type="http://schemas.openxmlformats.org/officeDocument/2006/relationships/image" Target="../media/image10.png"/></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1.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tiff"/></Relationships>
</file>

<file path=ppt/slides/_rels/slide18.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190.png"/><Relationship Id="rId3" Type="http://schemas.openxmlformats.org/officeDocument/2006/relationships/image" Target="../media/image13.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10" Type="http://schemas.openxmlformats.org/officeDocument/2006/relationships/image" Target="../media/image18.png"/><Relationship Id="rId9" Type="http://schemas.openxmlformats.org/officeDocument/2006/relationships/image" Target="../media/image17.png"/><Relationship Id="rId14" Type="http://schemas.openxmlformats.org/officeDocument/2006/relationships/image" Target="../media/image21.png"/></Relationships>
</file>

<file path=ppt/slides/_rels/slide1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3.png"/><Relationship Id="rId7" Type="http://schemas.openxmlformats.org/officeDocument/2006/relationships/image" Target="../media/image2.e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png"/></Relationships>
</file>

<file path=ppt/slides/_rels/slide20.xml.rels><?xml version="1.0" encoding="UTF-8" standalone="yes"?>
<Relationships xmlns="http://schemas.openxmlformats.org/package/2006/relationships"><Relationship Id="rId8" Type="http://schemas.openxmlformats.org/officeDocument/2006/relationships/image" Target="../media/image22.png"/><Relationship Id="rId7" Type="http://schemas.openxmlformats.org/officeDocument/2006/relationships/image" Target="../media/image2.e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png"/></Relationships>
</file>

<file path=ppt/slides/_rels/slide21.xml.rels><?xml version="1.0" encoding="UTF-8" standalone="yes"?>
<Relationships xmlns="http://schemas.openxmlformats.org/package/2006/relationships"><Relationship Id="rId8" Type="http://schemas.openxmlformats.org/officeDocument/2006/relationships/image" Target="../media/image22.png"/><Relationship Id="rId7" Type="http://schemas.openxmlformats.org/officeDocument/2006/relationships/image" Target="../media/image2.em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4.png"/></Relationships>
</file>

<file path=ppt/slides/_rels/slide22.xml.rels><?xml version="1.0" encoding="UTF-8" standalone="yes"?>
<Relationships xmlns="http://schemas.openxmlformats.org/package/2006/relationships"><Relationship Id="rId8" Type="http://schemas.openxmlformats.org/officeDocument/2006/relationships/image" Target="../media/image23.png"/><Relationship Id="rId7" Type="http://schemas.openxmlformats.org/officeDocument/2006/relationships/image" Target="../media/image2.em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4.png"/><Relationship Id="rId10" Type="http://schemas.openxmlformats.org/officeDocument/2006/relationships/image" Target="../media/image24.png"/><Relationship Id="rId9"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310.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310.png"/><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32.png"/></Relationships>
</file>

<file path=ppt/slides/_rels/slide45.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310.png"/><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32.png"/></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21.png"/><Relationship Id="rId3" Type="http://schemas.openxmlformats.org/officeDocument/2006/relationships/image" Target="../media/image131.png"/><Relationship Id="rId12" Type="http://schemas.openxmlformats.org/officeDocument/2006/relationships/image" Target="../media/image190.png"/><Relationship Id="rId17" Type="http://schemas.openxmlformats.org/officeDocument/2006/relationships/image" Target="../media/image39.png"/><Relationship Id="rId2" Type="http://schemas.openxmlformats.org/officeDocument/2006/relationships/notesSlide" Target="../notesSlides/notesSlide16.xml"/><Relationship Id="rId16"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160.png"/><Relationship Id="rId11" Type="http://schemas.openxmlformats.org/officeDocument/2006/relationships/image" Target="../media/image35.png"/><Relationship Id="rId5" Type="http://schemas.openxmlformats.org/officeDocument/2006/relationships/image" Target="../media/image150.png"/><Relationship Id="rId15" Type="http://schemas.openxmlformats.org/officeDocument/2006/relationships/image" Target="../media/image37.png"/><Relationship Id="rId10" Type="http://schemas.openxmlformats.org/officeDocument/2006/relationships/image" Target="../media/image34.png"/><Relationship Id="rId4" Type="http://schemas.openxmlformats.org/officeDocument/2006/relationships/image" Target="../media/image140.png"/><Relationship Id="rId9" Type="http://schemas.openxmlformats.org/officeDocument/2006/relationships/image" Target="../media/image180.png"/><Relationship Id="rId14" Type="http://schemas.openxmlformats.org/officeDocument/2006/relationships/image" Target="../media/image36.png"/></Relationships>
</file>

<file path=ppt/slides/_rels/slide51.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21.png"/><Relationship Id="rId3" Type="http://schemas.openxmlformats.org/officeDocument/2006/relationships/image" Target="../media/image131.png"/><Relationship Id="rId12" Type="http://schemas.openxmlformats.org/officeDocument/2006/relationships/image" Target="../media/image19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60.png"/><Relationship Id="rId5" Type="http://schemas.openxmlformats.org/officeDocument/2006/relationships/image" Target="../media/image150.png"/><Relationship Id="rId15" Type="http://schemas.openxmlformats.org/officeDocument/2006/relationships/image" Target="../media/image40.png"/><Relationship Id="rId4" Type="http://schemas.openxmlformats.org/officeDocument/2006/relationships/image" Target="../media/image140.png"/><Relationship Id="rId9" Type="http://schemas.openxmlformats.org/officeDocument/2006/relationships/image" Target="../media/image180.png"/><Relationship Id="rId14" Type="http://schemas.openxmlformats.org/officeDocument/2006/relationships/image" Target="../media/image36.png"/></Relationships>
</file>

<file path=ppt/slides/_rels/slide52.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21.png"/><Relationship Id="rId3" Type="http://schemas.openxmlformats.org/officeDocument/2006/relationships/image" Target="../media/image131.png"/><Relationship Id="rId12" Type="http://schemas.openxmlformats.org/officeDocument/2006/relationships/image" Target="../media/image190.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60.png"/><Relationship Id="rId5" Type="http://schemas.openxmlformats.org/officeDocument/2006/relationships/image" Target="../media/image150.png"/><Relationship Id="rId15" Type="http://schemas.openxmlformats.org/officeDocument/2006/relationships/image" Target="../media/image41.png"/><Relationship Id="rId4" Type="http://schemas.openxmlformats.org/officeDocument/2006/relationships/image" Target="../media/image140.png"/><Relationship Id="rId9" Type="http://schemas.openxmlformats.org/officeDocument/2006/relationships/image" Target="../media/image180.png"/><Relationship Id="rId14" Type="http://schemas.openxmlformats.org/officeDocument/2006/relationships/image" Target="../media/image36.png"/></Relationships>
</file>

<file path=ppt/slides/_rels/slide5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36.png"/><Relationship Id="rId5" Type="http://schemas.openxmlformats.org/officeDocument/2006/relationships/image" Target="../media/image17.png"/><Relationship Id="rId10" Type="http://schemas.openxmlformats.org/officeDocument/2006/relationships/image" Target="../media/image21.png"/><Relationship Id="rId4" Type="http://schemas.openxmlformats.org/officeDocument/2006/relationships/image" Target="../media/image16.png"/><Relationship Id="rId9" Type="http://schemas.openxmlformats.org/officeDocument/2006/relationships/image" Target="../media/image4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44.png"/><Relationship Id="rId7" Type="http://schemas.openxmlformats.org/officeDocument/2006/relationships/image" Target="../media/image6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7.png"/><Relationship Id="rId11" Type="http://schemas.openxmlformats.org/officeDocument/2006/relationships/image" Target="../media/image50.png"/><Relationship Id="rId5" Type="http://schemas.openxmlformats.org/officeDocument/2006/relationships/image" Target="../media/image46.png"/><Relationship Id="rId10" Type="http://schemas.openxmlformats.org/officeDocument/2006/relationships/image" Target="../media/image49.png"/><Relationship Id="rId4" Type="http://schemas.openxmlformats.org/officeDocument/2006/relationships/image" Target="../media/image45.png"/><Relationship Id="rId9" Type="http://schemas.openxmlformats.org/officeDocument/2006/relationships/image" Target="../media/image4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tif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95B4E-7E1F-0F1C-E0C5-E940AD74FF11}"/>
              </a:ext>
            </a:extLst>
          </p:cNvPr>
          <p:cNvSpPr>
            <a:spLocks noGrp="1"/>
          </p:cNvSpPr>
          <p:nvPr>
            <p:ph type="ctrTitle"/>
          </p:nvPr>
        </p:nvSpPr>
        <p:spPr/>
        <p:txBody>
          <a:bodyPr/>
          <a:lstStyle/>
          <a:p>
            <a:r>
              <a:rPr lang="en-US" dirty="0"/>
              <a:t>Model learning</a:t>
            </a:r>
          </a:p>
        </p:txBody>
      </p:sp>
      <p:sp>
        <p:nvSpPr>
          <p:cNvPr id="3" name="Subtitle 2">
            <a:extLst>
              <a:ext uri="{FF2B5EF4-FFF2-40B4-BE49-F238E27FC236}">
                <a16:creationId xmlns:a16="http://schemas.microsoft.com/office/drawing/2014/main" id="{789B22DB-8F72-1886-F9A0-C63C9EE13393}"/>
              </a:ext>
            </a:extLst>
          </p:cNvPr>
          <p:cNvSpPr>
            <a:spLocks noGrp="1"/>
          </p:cNvSpPr>
          <p:nvPr>
            <p:ph type="subTitle" idx="1"/>
          </p:nvPr>
        </p:nvSpPr>
        <p:spPr/>
        <p:txBody>
          <a:bodyPr/>
          <a:lstStyle/>
          <a:p>
            <a:r>
              <a:rPr lang="en-US" dirty="0"/>
              <a:t>Matt Engelhard</a:t>
            </a:r>
          </a:p>
        </p:txBody>
      </p:sp>
    </p:spTree>
    <p:extLst>
      <p:ext uri="{BB962C8B-B14F-4D97-AF65-F5344CB8AC3E}">
        <p14:creationId xmlns:p14="http://schemas.microsoft.com/office/powerpoint/2010/main" val="1071805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9A1BC-B514-2F50-3D7C-BB16CA0917D6}"/>
              </a:ext>
            </a:extLst>
          </p:cNvPr>
          <p:cNvSpPr>
            <a:spLocks noGrp="1"/>
          </p:cNvSpPr>
          <p:nvPr>
            <p:ph type="title"/>
          </p:nvPr>
        </p:nvSpPr>
        <p:spPr/>
        <p:txBody>
          <a:bodyPr/>
          <a:lstStyle/>
          <a:p>
            <a:r>
              <a:rPr lang="en-US" dirty="0"/>
              <a:t>On homework 1</a:t>
            </a:r>
          </a:p>
        </p:txBody>
      </p:sp>
      <p:sp>
        <p:nvSpPr>
          <p:cNvPr id="3" name="Content Placeholder 2">
            <a:extLst>
              <a:ext uri="{FF2B5EF4-FFF2-40B4-BE49-F238E27FC236}">
                <a16:creationId xmlns:a16="http://schemas.microsoft.com/office/drawing/2014/main" id="{93177BF7-D217-E67B-C689-A37358F5042F}"/>
              </a:ext>
            </a:extLst>
          </p:cNvPr>
          <p:cNvSpPr>
            <a:spLocks noGrp="1"/>
          </p:cNvSpPr>
          <p:nvPr>
            <p:ph idx="1"/>
          </p:nvPr>
        </p:nvSpPr>
        <p:spPr/>
        <p:txBody>
          <a:bodyPr>
            <a:normAutofit lnSpcReduction="10000"/>
          </a:bodyPr>
          <a:lstStyle/>
          <a:p>
            <a:r>
              <a:rPr lang="en-US" dirty="0"/>
              <a:t>Goals:</a:t>
            </a:r>
          </a:p>
          <a:p>
            <a:pPr lvl="1"/>
            <a:r>
              <a:rPr lang="en-US" dirty="0"/>
              <a:t>Touch MIMIC-IV data</a:t>
            </a:r>
          </a:p>
          <a:p>
            <a:pPr lvl="1"/>
            <a:r>
              <a:rPr lang="en-US" dirty="0"/>
              <a:t>Begin to learn </a:t>
            </a:r>
            <a:r>
              <a:rPr lang="en-US" dirty="0" err="1"/>
              <a:t>PyTorch</a:t>
            </a:r>
            <a:endParaRPr lang="en-US" dirty="0"/>
          </a:p>
          <a:p>
            <a:pPr lvl="1"/>
            <a:r>
              <a:rPr lang="en-US" dirty="0"/>
              <a:t>Explore training dynamics</a:t>
            </a:r>
          </a:p>
          <a:p>
            <a:pPr lvl="1"/>
            <a:r>
              <a:rPr lang="en-US" dirty="0"/>
              <a:t>Conduct careful model evaluation</a:t>
            </a:r>
          </a:p>
          <a:p>
            <a:pPr lvl="1"/>
            <a:endParaRPr lang="en-US" dirty="0"/>
          </a:p>
          <a:p>
            <a:r>
              <a:rPr lang="en-US" dirty="0"/>
              <a:t>You may need to bend the instructions a bit in some cases</a:t>
            </a:r>
          </a:p>
          <a:p>
            <a:pPr lvl="1"/>
            <a:r>
              <a:rPr lang="en-US" dirty="0"/>
              <a:t>Hidden layer sizes</a:t>
            </a:r>
          </a:p>
          <a:p>
            <a:pPr lvl="1"/>
            <a:r>
              <a:rPr lang="en-US" dirty="0"/>
              <a:t>Regularization</a:t>
            </a:r>
          </a:p>
          <a:p>
            <a:pPr lvl="1"/>
            <a:endParaRPr lang="en-US" dirty="0"/>
          </a:p>
          <a:p>
            <a:r>
              <a:rPr lang="en-US" dirty="0"/>
              <a:t>Low bar to reach out with questions or uncertainties</a:t>
            </a:r>
          </a:p>
        </p:txBody>
      </p:sp>
    </p:spTree>
    <p:extLst>
      <p:ext uri="{BB962C8B-B14F-4D97-AF65-F5344CB8AC3E}">
        <p14:creationId xmlns:p14="http://schemas.microsoft.com/office/powerpoint/2010/main" val="1817438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AD49-C5CC-77B6-36CC-CE2F9C693DB0}"/>
              </a:ext>
            </a:extLst>
          </p:cNvPr>
          <p:cNvSpPr>
            <a:spLocks noGrp="1"/>
          </p:cNvSpPr>
          <p:nvPr>
            <p:ph type="title"/>
          </p:nvPr>
        </p:nvSpPr>
        <p:spPr/>
        <p:txBody>
          <a:bodyPr/>
          <a:lstStyle/>
          <a:p>
            <a:r>
              <a:rPr lang="en-US" dirty="0"/>
              <a:t>On </a:t>
            </a:r>
            <a:r>
              <a:rPr lang="en-US" dirty="0" err="1"/>
              <a:t>ReLU</a:t>
            </a:r>
            <a:endParaRPr lang="en-US" dirty="0"/>
          </a:p>
        </p:txBody>
      </p:sp>
      <p:sp>
        <p:nvSpPr>
          <p:cNvPr id="3" name="Content Placeholder 2">
            <a:extLst>
              <a:ext uri="{FF2B5EF4-FFF2-40B4-BE49-F238E27FC236}">
                <a16:creationId xmlns:a16="http://schemas.microsoft.com/office/drawing/2014/main" id="{F4BD9A6F-6D9B-5923-3CEF-EC1D9D0A7B97}"/>
              </a:ext>
            </a:extLst>
          </p:cNvPr>
          <p:cNvSpPr>
            <a:spLocks noGrp="1"/>
          </p:cNvSpPr>
          <p:nvPr>
            <p:ph idx="1"/>
          </p:nvPr>
        </p:nvSpPr>
        <p:spPr>
          <a:xfrm>
            <a:off x="838200" y="1825625"/>
            <a:ext cx="5658294" cy="4351338"/>
          </a:xfrm>
        </p:spPr>
        <p:txBody>
          <a:bodyPr>
            <a:normAutofit fontScale="85000" lnSpcReduction="20000"/>
          </a:bodyPr>
          <a:lstStyle/>
          <a:p>
            <a:r>
              <a:rPr lang="en-US" dirty="0"/>
              <a:t>Networks with sigmoid activations are surprisingly inconsistent</a:t>
            </a:r>
          </a:p>
          <a:p>
            <a:pPr lvl="1"/>
            <a:r>
              <a:rPr lang="en-US" dirty="0"/>
              <a:t>Fixed scale</a:t>
            </a:r>
          </a:p>
          <a:p>
            <a:pPr lvl="1"/>
            <a:r>
              <a:rPr lang="en-US" dirty="0"/>
              <a:t>Vanishing gradient</a:t>
            </a:r>
          </a:p>
          <a:p>
            <a:pPr lvl="1"/>
            <a:r>
              <a:rPr lang="en-US" dirty="0"/>
              <a:t>Piecewise constant approximations</a:t>
            </a:r>
          </a:p>
          <a:p>
            <a:pPr lvl="1"/>
            <a:endParaRPr lang="en-US" dirty="0"/>
          </a:p>
          <a:p>
            <a:r>
              <a:rPr lang="en-US" dirty="0"/>
              <a:t>Why </a:t>
            </a:r>
            <a:r>
              <a:rPr lang="en-US" dirty="0" err="1"/>
              <a:t>ReLU</a:t>
            </a:r>
            <a:r>
              <a:rPr lang="en-US" dirty="0"/>
              <a:t>?</a:t>
            </a:r>
          </a:p>
          <a:p>
            <a:pPr lvl="1"/>
            <a:r>
              <a:rPr lang="en-US" dirty="0"/>
              <a:t>Variable scale</a:t>
            </a:r>
          </a:p>
          <a:p>
            <a:pPr lvl="1"/>
            <a:r>
              <a:rPr lang="en-US" dirty="0"/>
              <a:t>Non-trivial gradient over a larger range</a:t>
            </a:r>
          </a:p>
          <a:p>
            <a:pPr lvl="1"/>
            <a:r>
              <a:rPr lang="en-US" dirty="0"/>
              <a:t>Piecewise linear approximations</a:t>
            </a:r>
          </a:p>
          <a:p>
            <a:pPr lvl="1"/>
            <a:r>
              <a:rPr lang="en-US" b="1" dirty="0"/>
              <a:t>Much more effective and consistent in practice</a:t>
            </a:r>
          </a:p>
          <a:p>
            <a:pPr lvl="1"/>
            <a:endParaRPr lang="en-US" b="1" dirty="0"/>
          </a:p>
          <a:p>
            <a:r>
              <a:rPr lang="en-US" dirty="0"/>
              <a:t>Many effective variants on the </a:t>
            </a:r>
            <a:r>
              <a:rPr lang="en-US" dirty="0" err="1"/>
              <a:t>ReLU</a:t>
            </a:r>
            <a:endParaRPr lang="en-US" dirty="0"/>
          </a:p>
        </p:txBody>
      </p:sp>
      <p:pic>
        <p:nvPicPr>
          <p:cNvPr id="4" name="Picture 3">
            <a:extLst>
              <a:ext uri="{FF2B5EF4-FFF2-40B4-BE49-F238E27FC236}">
                <a16:creationId xmlns:a16="http://schemas.microsoft.com/office/drawing/2014/main" id="{2B244396-0BBD-23EE-2D10-E700A4B487A6}"/>
              </a:ext>
            </a:extLst>
          </p:cNvPr>
          <p:cNvPicPr>
            <a:picLocks noChangeAspect="1"/>
          </p:cNvPicPr>
          <p:nvPr/>
        </p:nvPicPr>
        <p:blipFill>
          <a:blip r:embed="rId2"/>
          <a:srcRect/>
          <a:stretch/>
        </p:blipFill>
        <p:spPr>
          <a:xfrm>
            <a:off x="6496494" y="1027906"/>
            <a:ext cx="5366470" cy="4027763"/>
          </a:xfrm>
          <a:prstGeom prst="rect">
            <a:avLst/>
          </a:prstGeom>
        </p:spPr>
      </p:pic>
      <p:sp>
        <p:nvSpPr>
          <p:cNvPr id="5" name="TextBox 4">
            <a:extLst>
              <a:ext uri="{FF2B5EF4-FFF2-40B4-BE49-F238E27FC236}">
                <a16:creationId xmlns:a16="http://schemas.microsoft.com/office/drawing/2014/main" id="{C41BAD8D-3989-7E27-4288-2F1B57CDCD59}"/>
              </a:ext>
            </a:extLst>
          </p:cNvPr>
          <p:cNvSpPr txBox="1"/>
          <p:nvPr/>
        </p:nvSpPr>
        <p:spPr>
          <a:xfrm>
            <a:off x="7228654" y="5153799"/>
            <a:ext cx="3902149" cy="925033"/>
          </a:xfrm>
          <a:prstGeom prst="rect">
            <a:avLst/>
          </a:prstGeom>
          <a:noFill/>
        </p:spPr>
        <p:txBody>
          <a:bodyPr wrap="square" rtlCol="0">
            <a:spAutoFit/>
          </a:bodyPr>
          <a:lstStyle/>
          <a:p>
            <a:r>
              <a:rPr lang="en-US" u="sng" dirty="0"/>
              <a:t>Consider</a:t>
            </a:r>
            <a:r>
              <a:rPr lang="en-US" dirty="0"/>
              <a:t>: how many </a:t>
            </a:r>
            <a:r>
              <a:rPr lang="en-US" dirty="0" err="1"/>
              <a:t>ReLU</a:t>
            </a:r>
            <a:r>
              <a:rPr lang="en-US" dirty="0"/>
              <a:t> hidden units needed to get an equally faithful approximation?</a:t>
            </a:r>
          </a:p>
        </p:txBody>
      </p:sp>
    </p:spTree>
    <p:extLst>
      <p:ext uri="{BB962C8B-B14F-4D97-AF65-F5344CB8AC3E}">
        <p14:creationId xmlns:p14="http://schemas.microsoft.com/office/powerpoint/2010/main" val="272870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C9151-7B81-1A91-513E-92B5E5DB6676}"/>
              </a:ext>
            </a:extLst>
          </p:cNvPr>
          <p:cNvSpPr>
            <a:spLocks noGrp="1"/>
          </p:cNvSpPr>
          <p:nvPr>
            <p:ph type="title"/>
          </p:nvPr>
        </p:nvSpPr>
        <p:spPr/>
        <p:txBody>
          <a:bodyPr/>
          <a:lstStyle/>
          <a:p>
            <a:r>
              <a:rPr lang="en-US" dirty="0"/>
              <a:t>Report back: activation functions</a:t>
            </a:r>
          </a:p>
        </p:txBody>
      </p:sp>
      <p:sp>
        <p:nvSpPr>
          <p:cNvPr id="3" name="Content Placeholder 2">
            <a:extLst>
              <a:ext uri="{FF2B5EF4-FFF2-40B4-BE49-F238E27FC236}">
                <a16:creationId xmlns:a16="http://schemas.microsoft.com/office/drawing/2014/main" id="{D5F8FDC2-64C9-72B5-2D9B-8ED8E6446128}"/>
              </a:ext>
            </a:extLst>
          </p:cNvPr>
          <p:cNvSpPr>
            <a:spLocks noGrp="1"/>
          </p:cNvSpPr>
          <p:nvPr>
            <p:ph idx="1"/>
          </p:nvPr>
        </p:nvSpPr>
        <p:spPr>
          <a:xfrm>
            <a:off x="838200" y="2062715"/>
            <a:ext cx="10515600" cy="4114247"/>
          </a:xfrm>
        </p:spPr>
        <p:txBody>
          <a:bodyPr/>
          <a:lstStyle/>
          <a:p>
            <a:pPr marL="0" indent="0">
              <a:buNone/>
            </a:pPr>
            <a:r>
              <a:rPr lang="en-US" dirty="0"/>
              <a:t>Why are non-linear activation functions so important?</a:t>
            </a:r>
          </a:p>
          <a:p>
            <a:pPr marL="0" indent="0">
              <a:buNone/>
            </a:pPr>
            <a:endParaRPr lang="en-US" dirty="0"/>
          </a:p>
          <a:p>
            <a:pPr marL="0" indent="0">
              <a:buNone/>
            </a:pPr>
            <a:r>
              <a:rPr lang="en-US" dirty="0"/>
              <a:t>Would it ever make sense to build a neural network with linear activation functions (or without activation functions)? </a:t>
            </a:r>
          </a:p>
          <a:p>
            <a:pPr marL="0" indent="0">
              <a:buNone/>
            </a:pPr>
            <a:endParaRPr lang="en-US" dirty="0"/>
          </a:p>
          <a:p>
            <a:pPr marL="0" indent="0">
              <a:buNone/>
            </a:pPr>
            <a:r>
              <a:rPr lang="en-US" dirty="0"/>
              <a:t>Why or why not?</a:t>
            </a:r>
          </a:p>
        </p:txBody>
      </p:sp>
    </p:spTree>
    <p:extLst>
      <p:ext uri="{BB962C8B-B14F-4D97-AF65-F5344CB8AC3E}">
        <p14:creationId xmlns:p14="http://schemas.microsoft.com/office/powerpoint/2010/main" val="1593400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2B939-D89A-2F7B-7EEC-FC1067F4D5FD}"/>
              </a:ext>
            </a:extLst>
          </p:cNvPr>
          <p:cNvSpPr>
            <a:spLocks noGrp="1"/>
          </p:cNvSpPr>
          <p:nvPr>
            <p:ph type="title"/>
          </p:nvPr>
        </p:nvSpPr>
        <p:spPr/>
        <p:txBody>
          <a:bodyPr/>
          <a:lstStyle/>
          <a:p>
            <a:r>
              <a:rPr lang="en-US" dirty="0"/>
              <a:t>Overview of learning</a:t>
            </a:r>
          </a:p>
        </p:txBody>
      </p:sp>
      <p:sp>
        <p:nvSpPr>
          <p:cNvPr id="3" name="Text Placeholder 2">
            <a:extLst>
              <a:ext uri="{FF2B5EF4-FFF2-40B4-BE49-F238E27FC236}">
                <a16:creationId xmlns:a16="http://schemas.microsoft.com/office/drawing/2014/main" id="{076CF1CD-45F6-3CE1-EA66-B52BBE615DD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95763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670FD-8939-C39E-2A9A-25023B72449A}"/>
              </a:ext>
            </a:extLst>
          </p:cNvPr>
          <p:cNvSpPr>
            <a:spLocks noGrp="1"/>
          </p:cNvSpPr>
          <p:nvPr>
            <p:ph type="title"/>
          </p:nvPr>
        </p:nvSpPr>
        <p:spPr/>
        <p:txBody>
          <a:bodyPr/>
          <a:lstStyle/>
          <a:p>
            <a:r>
              <a:rPr lang="en-US" dirty="0"/>
              <a:t>How does training, or learning, work?</a:t>
            </a:r>
          </a:p>
        </p:txBody>
      </p:sp>
      <p:sp>
        <p:nvSpPr>
          <p:cNvPr id="3" name="Content Placeholder 2">
            <a:extLst>
              <a:ext uri="{FF2B5EF4-FFF2-40B4-BE49-F238E27FC236}">
                <a16:creationId xmlns:a16="http://schemas.microsoft.com/office/drawing/2014/main" id="{4C5F8C79-7D3B-AB0E-6E12-0BB3A620B31B}"/>
              </a:ext>
            </a:extLst>
          </p:cNvPr>
          <p:cNvSpPr>
            <a:spLocks noGrp="1"/>
          </p:cNvSpPr>
          <p:nvPr>
            <p:ph idx="1"/>
          </p:nvPr>
        </p:nvSpPr>
        <p:spPr/>
        <p:txBody>
          <a:bodyPr>
            <a:normAutofit fontScale="85000" lnSpcReduction="20000"/>
          </a:bodyPr>
          <a:lstStyle/>
          <a:p>
            <a:pPr marL="0" indent="0">
              <a:buNone/>
            </a:pPr>
            <a:r>
              <a:rPr lang="en-US" dirty="0"/>
              <a:t>I want to find the </a:t>
            </a:r>
            <a:r>
              <a:rPr lang="en-US" i="1" dirty="0"/>
              <a:t>best</a:t>
            </a:r>
            <a:r>
              <a:rPr lang="en-US" dirty="0"/>
              <a:t> model parameters.</a:t>
            </a:r>
          </a:p>
          <a:p>
            <a:pPr marL="0" indent="0">
              <a:buNone/>
            </a:pPr>
            <a:endParaRPr lang="en-US" dirty="0"/>
          </a:p>
          <a:p>
            <a:pPr marL="0" indent="0">
              <a:buNone/>
            </a:pPr>
            <a:r>
              <a:rPr lang="en-US" dirty="0"/>
              <a:t>First, I need to define what </a:t>
            </a:r>
            <a:r>
              <a:rPr lang="en-US" i="1" dirty="0"/>
              <a:t>best</a:t>
            </a:r>
            <a:r>
              <a:rPr lang="en-US" dirty="0"/>
              <a:t> means.</a:t>
            </a:r>
          </a:p>
          <a:p>
            <a:pPr marL="457200" lvl="1" indent="0">
              <a:buNone/>
            </a:pPr>
            <a:r>
              <a:rPr lang="en-US" dirty="0"/>
              <a:t>	</a:t>
            </a:r>
            <a:r>
              <a:rPr lang="en-US" dirty="0">
                <a:solidFill>
                  <a:schemeClr val="accent2"/>
                </a:solidFill>
              </a:rPr>
              <a:t>-&gt; for binary classification, we use the </a:t>
            </a:r>
            <a:r>
              <a:rPr lang="en-US" i="1" dirty="0">
                <a:solidFill>
                  <a:schemeClr val="accent2"/>
                </a:solidFill>
              </a:rPr>
              <a:t>cross-entropy loss</a:t>
            </a:r>
          </a:p>
          <a:p>
            <a:pPr marL="457200" lvl="1" indent="0">
              <a:buNone/>
            </a:pPr>
            <a:r>
              <a:rPr lang="en-US" i="1" dirty="0"/>
              <a:t>	</a:t>
            </a:r>
            <a:r>
              <a:rPr lang="en-US" dirty="0"/>
              <a:t>-&gt; the </a:t>
            </a:r>
            <a:r>
              <a:rPr lang="en-US" i="1" dirty="0"/>
              <a:t>best</a:t>
            </a:r>
            <a:r>
              <a:rPr lang="en-US" dirty="0"/>
              <a:t> parameters are those that minimize it</a:t>
            </a:r>
          </a:p>
          <a:p>
            <a:pPr marL="457200" lvl="1" indent="0">
              <a:buNone/>
            </a:pPr>
            <a:endParaRPr lang="en-US" dirty="0"/>
          </a:p>
          <a:p>
            <a:pPr marL="0" indent="0">
              <a:buNone/>
            </a:pPr>
            <a:r>
              <a:rPr lang="en-US" dirty="0"/>
              <a:t>Then, I need a strategy for adjusting my parameters to make my model </a:t>
            </a:r>
            <a:r>
              <a:rPr lang="en-US" i="1" dirty="0"/>
              <a:t>better…</a:t>
            </a:r>
            <a:endParaRPr lang="en-US" dirty="0"/>
          </a:p>
          <a:p>
            <a:pPr marL="457200" lvl="1" indent="0">
              <a:buNone/>
            </a:pPr>
            <a:r>
              <a:rPr lang="en-US" dirty="0"/>
              <a:t>	</a:t>
            </a:r>
            <a:r>
              <a:rPr lang="en-US" dirty="0">
                <a:solidFill>
                  <a:schemeClr val="accent2"/>
                </a:solidFill>
              </a:rPr>
              <a:t>-&gt; our strategy for reducing it is called </a:t>
            </a:r>
            <a:r>
              <a:rPr lang="en-US" i="1" dirty="0">
                <a:solidFill>
                  <a:schemeClr val="accent2"/>
                </a:solidFill>
              </a:rPr>
              <a:t>stochastic gradient descent</a:t>
            </a:r>
          </a:p>
          <a:p>
            <a:pPr marL="457200" lvl="1" indent="0">
              <a:buNone/>
            </a:pPr>
            <a:r>
              <a:rPr lang="en-US" i="1" dirty="0"/>
              <a:t>	</a:t>
            </a:r>
            <a:r>
              <a:rPr lang="en-US" dirty="0"/>
              <a:t>-&gt; this is an example of an </a:t>
            </a:r>
            <a:r>
              <a:rPr lang="en-US" i="1" dirty="0"/>
              <a:t>optimization algorithm</a:t>
            </a:r>
          </a:p>
          <a:p>
            <a:pPr marL="457200" lvl="1" indent="0">
              <a:buNone/>
            </a:pPr>
            <a:endParaRPr lang="en-US" i="1" dirty="0"/>
          </a:p>
          <a:p>
            <a:pPr marL="0" indent="0">
              <a:buNone/>
            </a:pPr>
            <a:r>
              <a:rPr lang="en-US" dirty="0"/>
              <a:t>The </a:t>
            </a:r>
            <a:r>
              <a:rPr lang="en-US" b="1" dirty="0"/>
              <a:t>simplicity</a:t>
            </a:r>
            <a:r>
              <a:rPr lang="en-US" dirty="0"/>
              <a:t> of this recipe is a key strength of ML/AI</a:t>
            </a:r>
          </a:p>
          <a:p>
            <a:pPr marL="0" indent="0">
              <a:buNone/>
            </a:pPr>
            <a:r>
              <a:rPr lang="en-US" dirty="0"/>
              <a:t>	</a:t>
            </a:r>
            <a:r>
              <a:rPr lang="en-US" sz="2400" dirty="0"/>
              <a:t>-&gt; simple learning routines, complex models</a:t>
            </a:r>
          </a:p>
          <a:p>
            <a:pPr marL="0" indent="0">
              <a:buNone/>
            </a:pPr>
            <a:r>
              <a:rPr lang="en-US" sz="2400" dirty="0"/>
              <a:t>	-&gt; </a:t>
            </a:r>
            <a:r>
              <a:rPr lang="en-US" sz="2400" dirty="0" err="1"/>
              <a:t>PyTorch</a:t>
            </a:r>
            <a:r>
              <a:rPr lang="en-US" sz="2400" dirty="0"/>
              <a:t> and other ML libraries are designed to make this easy</a:t>
            </a:r>
          </a:p>
        </p:txBody>
      </p:sp>
    </p:spTree>
    <p:extLst>
      <p:ext uri="{BB962C8B-B14F-4D97-AF65-F5344CB8AC3E}">
        <p14:creationId xmlns:p14="http://schemas.microsoft.com/office/powerpoint/2010/main" val="1825910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545B4-D722-7A0D-CCC8-4AE80DA3BADB}"/>
              </a:ext>
            </a:extLst>
          </p:cNvPr>
          <p:cNvSpPr>
            <a:spLocks noGrp="1"/>
          </p:cNvSpPr>
          <p:nvPr>
            <p:ph type="title"/>
          </p:nvPr>
        </p:nvSpPr>
        <p:spPr/>
        <p:txBody>
          <a:bodyPr/>
          <a:lstStyle/>
          <a:p>
            <a:r>
              <a:rPr lang="en-US" dirty="0"/>
              <a:t>Loss Function for Binary Classification</a:t>
            </a:r>
            <a:br>
              <a:rPr lang="en-US" dirty="0"/>
            </a:br>
            <a:r>
              <a:rPr lang="en-US" sz="2800" i="1" dirty="0"/>
              <a:t>“cross-entropy loss”</a:t>
            </a:r>
            <a:endParaRPr lang="en-US" i="1" dirty="0"/>
          </a:p>
        </p:txBody>
      </p:sp>
      <p:pic>
        <p:nvPicPr>
          <p:cNvPr id="4" name="Picture 3">
            <a:extLst>
              <a:ext uri="{FF2B5EF4-FFF2-40B4-BE49-F238E27FC236}">
                <a16:creationId xmlns:a16="http://schemas.microsoft.com/office/drawing/2014/main" id="{26014880-C9DA-CE1E-9B00-10EF50A3F4D5}"/>
              </a:ext>
            </a:extLst>
          </p:cNvPr>
          <p:cNvPicPr>
            <a:picLocks noChangeAspect="1"/>
          </p:cNvPicPr>
          <p:nvPr/>
        </p:nvPicPr>
        <p:blipFill>
          <a:blip r:embed="rId2"/>
          <a:stretch>
            <a:fillRect/>
          </a:stretch>
        </p:blipFill>
        <p:spPr>
          <a:xfrm>
            <a:off x="4783121" y="1690688"/>
            <a:ext cx="6851768" cy="4567846"/>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8907702-ADE7-2175-7274-E8B611B08604}"/>
                  </a:ext>
                </a:extLst>
              </p:cNvPr>
              <p:cNvSpPr txBox="1"/>
              <p:nvPr/>
            </p:nvSpPr>
            <p:spPr>
              <a:xfrm>
                <a:off x="838200" y="2266451"/>
                <a:ext cx="2879122" cy="3416320"/>
              </a:xfrm>
              <a:prstGeom prst="rect">
                <a:avLst/>
              </a:prstGeom>
              <a:noFill/>
            </p:spPr>
            <p:txBody>
              <a:bodyPr wrap="square" rtlCol="0">
                <a:spAutoFit/>
              </a:bodyPr>
              <a:lstStyle/>
              <a:p>
                <a:r>
                  <a:rPr lang="en-US" dirty="0">
                    <a:solidFill>
                      <a:srgbClr val="FF0000"/>
                    </a:solidFill>
                  </a:rPr>
                  <a:t>When the outcome </a:t>
                </a:r>
                <a14:m>
                  <m:oMath xmlns:m="http://schemas.openxmlformats.org/officeDocument/2006/math">
                    <m:r>
                      <a:rPr lang="en-US" i="1" dirty="0" smtClean="0">
                        <a:solidFill>
                          <a:srgbClr val="FF0000"/>
                        </a:solidFill>
                        <a:latin typeface="Cambria Math" panose="02040503050406030204" pitchFamily="18" charset="0"/>
                      </a:rPr>
                      <m:t>𝑦</m:t>
                    </m:r>
                  </m:oMath>
                </a14:m>
                <a:r>
                  <a:rPr lang="en-US" dirty="0">
                    <a:solidFill>
                      <a:srgbClr val="FF0000"/>
                    </a:solidFill>
                  </a:rPr>
                  <a:t> is 0, the model-predicted probability </a:t>
                </a:r>
                <a14:m>
                  <m:oMath xmlns:m="http://schemas.openxmlformats.org/officeDocument/2006/math">
                    <m:r>
                      <a:rPr lang="en-US" i="1" dirty="0" smtClean="0">
                        <a:solidFill>
                          <a:srgbClr val="FF0000"/>
                        </a:solidFill>
                        <a:latin typeface="Cambria Math" panose="02040503050406030204" pitchFamily="18" charset="0"/>
                      </a:rPr>
                      <m:t>𝑝</m:t>
                    </m:r>
                  </m:oMath>
                </a14:m>
                <a:r>
                  <a:rPr lang="en-US" dirty="0">
                    <a:solidFill>
                      <a:srgbClr val="FF0000"/>
                    </a:solidFill>
                  </a:rPr>
                  <a:t> must be close to 0, otherwise the loss (i.e., the penalty) is large</a:t>
                </a:r>
              </a:p>
              <a:p>
                <a:endParaRPr lang="en-US" dirty="0"/>
              </a:p>
              <a:p>
                <a:endParaRPr lang="en-US" dirty="0"/>
              </a:p>
              <a:p>
                <a:r>
                  <a:rPr lang="en-US" dirty="0">
                    <a:solidFill>
                      <a:srgbClr val="0000FF"/>
                    </a:solidFill>
                  </a:rPr>
                  <a:t>When the outcome </a:t>
                </a:r>
                <a14:m>
                  <m:oMath xmlns:m="http://schemas.openxmlformats.org/officeDocument/2006/math">
                    <m:r>
                      <a:rPr lang="en-US" i="1" dirty="0" smtClean="0">
                        <a:solidFill>
                          <a:srgbClr val="0000FF"/>
                        </a:solidFill>
                        <a:latin typeface="Cambria Math" panose="02040503050406030204" pitchFamily="18" charset="0"/>
                      </a:rPr>
                      <m:t>𝑦</m:t>
                    </m:r>
                  </m:oMath>
                </a14:m>
                <a:r>
                  <a:rPr lang="en-US" dirty="0">
                    <a:solidFill>
                      <a:srgbClr val="0000FF"/>
                    </a:solidFill>
                  </a:rPr>
                  <a:t> is 1, the model-predicted probability </a:t>
                </a:r>
                <a14:m>
                  <m:oMath xmlns:m="http://schemas.openxmlformats.org/officeDocument/2006/math">
                    <m:r>
                      <a:rPr lang="en-US" i="1" dirty="0" smtClean="0">
                        <a:solidFill>
                          <a:srgbClr val="0000FF"/>
                        </a:solidFill>
                        <a:latin typeface="Cambria Math" panose="02040503050406030204" pitchFamily="18" charset="0"/>
                      </a:rPr>
                      <m:t>𝑝</m:t>
                    </m:r>
                  </m:oMath>
                </a14:m>
                <a:r>
                  <a:rPr lang="en-US" dirty="0">
                    <a:solidFill>
                      <a:srgbClr val="0000FF"/>
                    </a:solidFill>
                  </a:rPr>
                  <a:t> must be close to 1, otherwise the loss (i.e., the penalty) is large</a:t>
                </a:r>
              </a:p>
            </p:txBody>
          </p:sp>
        </mc:Choice>
        <mc:Fallback xmlns="">
          <p:sp>
            <p:nvSpPr>
              <p:cNvPr id="5" name="TextBox 4">
                <a:extLst>
                  <a:ext uri="{FF2B5EF4-FFF2-40B4-BE49-F238E27FC236}">
                    <a16:creationId xmlns:a16="http://schemas.microsoft.com/office/drawing/2014/main" id="{88907702-ADE7-2175-7274-E8B611B08604}"/>
                  </a:ext>
                </a:extLst>
              </p:cNvPr>
              <p:cNvSpPr txBox="1">
                <a:spLocks noRot="1" noChangeAspect="1" noMove="1" noResize="1" noEditPoints="1" noAdjustHandles="1" noChangeArrowheads="1" noChangeShapeType="1" noTextEdit="1"/>
              </p:cNvSpPr>
              <p:nvPr/>
            </p:nvSpPr>
            <p:spPr>
              <a:xfrm>
                <a:off x="838200" y="2266451"/>
                <a:ext cx="2879122" cy="3416320"/>
              </a:xfrm>
              <a:prstGeom prst="rect">
                <a:avLst/>
              </a:prstGeom>
              <a:blipFill>
                <a:blip r:embed="rId3"/>
                <a:stretch>
                  <a:fillRect l="-2203" t="-741" r="-1322" b="-1852"/>
                </a:stretch>
              </a:blipFill>
            </p:spPr>
            <p:txBody>
              <a:bodyPr/>
              <a:lstStyle/>
              <a:p>
                <a:r>
                  <a:rPr lang="en-US">
                    <a:noFill/>
                  </a:rPr>
                  <a:t> </a:t>
                </a:r>
              </a:p>
            </p:txBody>
          </p:sp>
        </mc:Fallback>
      </mc:AlternateContent>
    </p:spTree>
    <p:extLst>
      <p:ext uri="{BB962C8B-B14F-4D97-AF65-F5344CB8AC3E}">
        <p14:creationId xmlns:p14="http://schemas.microsoft.com/office/powerpoint/2010/main" val="406844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E1E5-E399-667C-525C-ED08C62EB92A}"/>
              </a:ext>
            </a:extLst>
          </p:cNvPr>
          <p:cNvSpPr>
            <a:spLocks noGrp="1"/>
          </p:cNvSpPr>
          <p:nvPr>
            <p:ph type="title"/>
          </p:nvPr>
        </p:nvSpPr>
        <p:spPr/>
        <p:txBody>
          <a:bodyPr/>
          <a:lstStyle/>
          <a:p>
            <a:r>
              <a:rPr lang="en-US" dirty="0"/>
              <a:t>A Simple Strategy for Optimizing Parameters</a:t>
            </a:r>
          </a:p>
        </p:txBody>
      </p:sp>
      <p:sp>
        <p:nvSpPr>
          <p:cNvPr id="3" name="Content Placeholder 2">
            <a:extLst>
              <a:ext uri="{FF2B5EF4-FFF2-40B4-BE49-F238E27FC236}">
                <a16:creationId xmlns:a16="http://schemas.microsoft.com/office/drawing/2014/main" id="{93061980-2DEC-52AD-5358-360BC15BD589}"/>
              </a:ext>
            </a:extLst>
          </p:cNvPr>
          <p:cNvSpPr>
            <a:spLocks noGrp="1"/>
          </p:cNvSpPr>
          <p:nvPr>
            <p:ph idx="1"/>
          </p:nvPr>
        </p:nvSpPr>
        <p:spPr/>
        <p:txBody>
          <a:bodyPr>
            <a:normAutofit fontScale="85000" lnSpcReduction="20000"/>
          </a:bodyPr>
          <a:lstStyle/>
          <a:p>
            <a:pPr marL="0" indent="0">
              <a:buNone/>
            </a:pPr>
            <a:r>
              <a:rPr lang="en-US" dirty="0"/>
              <a:t>Here’s our game.</a:t>
            </a:r>
          </a:p>
          <a:p>
            <a:endParaRPr lang="en-US" dirty="0"/>
          </a:p>
          <a:p>
            <a:pPr marL="514350" indent="-514350">
              <a:spcAft>
                <a:spcPts val="1200"/>
              </a:spcAft>
              <a:buFont typeface="+mj-lt"/>
              <a:buAutoNum type="arabicPeriod"/>
            </a:pPr>
            <a:r>
              <a:rPr lang="en-US" dirty="0"/>
              <a:t>We want to reduce the loss as much as we can by adjusting our model’s parameters.</a:t>
            </a:r>
          </a:p>
          <a:p>
            <a:pPr marL="514350" indent="-514350">
              <a:spcAft>
                <a:spcPts val="1200"/>
              </a:spcAft>
              <a:buFont typeface="+mj-lt"/>
              <a:buAutoNum type="arabicPeriod"/>
            </a:pPr>
            <a:r>
              <a:rPr lang="en-US" dirty="0"/>
              <a:t>We can move any parameter up or down from its current value.</a:t>
            </a:r>
          </a:p>
          <a:p>
            <a:pPr marL="514350" indent="-514350">
              <a:spcAft>
                <a:spcPts val="1200"/>
              </a:spcAft>
              <a:buFont typeface="+mj-lt"/>
              <a:buAutoNum type="arabicPeriod"/>
            </a:pPr>
            <a:r>
              <a:rPr lang="en-US" dirty="0"/>
              <a:t>If the loss increases, </a:t>
            </a:r>
            <a:r>
              <a:rPr lang="en-US" i="1" dirty="0"/>
              <a:t>we’re going the wrong way</a:t>
            </a:r>
            <a:r>
              <a:rPr lang="en-US" dirty="0"/>
              <a:t>, and we should try moving that same parameter in the opposite direction.</a:t>
            </a:r>
          </a:p>
          <a:p>
            <a:pPr marL="514350" indent="-514350">
              <a:spcAft>
                <a:spcPts val="1200"/>
              </a:spcAft>
              <a:buFont typeface="+mj-lt"/>
              <a:buAutoNum type="arabicPeriod"/>
            </a:pPr>
            <a:r>
              <a:rPr lang="en-US" dirty="0"/>
              <a:t>If the loss decreases, </a:t>
            </a:r>
            <a:r>
              <a:rPr lang="en-US" i="1" dirty="0"/>
              <a:t>we’re going the right way</a:t>
            </a:r>
            <a:r>
              <a:rPr lang="en-US" dirty="0"/>
              <a:t>, and we should keep moving that parameter in that same direction until the loss stops decreasing.</a:t>
            </a:r>
          </a:p>
          <a:p>
            <a:pPr marL="514350" indent="-514350">
              <a:spcAft>
                <a:spcPts val="1200"/>
              </a:spcAft>
              <a:buFont typeface="+mj-lt"/>
              <a:buAutoNum type="arabicPeriod"/>
            </a:pPr>
            <a:r>
              <a:rPr lang="en-US" dirty="0"/>
              <a:t>We will keep trying this for all of the parameters until we can no longer decrease the loss; then we’re done.</a:t>
            </a:r>
          </a:p>
        </p:txBody>
      </p:sp>
    </p:spTree>
    <p:extLst>
      <p:ext uri="{BB962C8B-B14F-4D97-AF65-F5344CB8AC3E}">
        <p14:creationId xmlns:p14="http://schemas.microsoft.com/office/powerpoint/2010/main" val="1220692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89BB7-720B-E641-9EA4-E10DD522EEF8}"/>
              </a:ext>
            </a:extLst>
          </p:cNvPr>
          <p:cNvSpPr>
            <a:spLocks noGrp="1"/>
          </p:cNvSpPr>
          <p:nvPr>
            <p:ph type="title"/>
          </p:nvPr>
        </p:nvSpPr>
        <p:spPr/>
        <p:txBody>
          <a:bodyPr>
            <a:noAutofit/>
          </a:bodyPr>
          <a:lstStyle/>
          <a:p>
            <a:r>
              <a:rPr lang="en-US" sz="4800" dirty="0" err="1"/>
              <a:t>Leter</a:t>
            </a:r>
            <a:r>
              <a:rPr lang="en-US" sz="4800" dirty="0"/>
              <a:t> we’ll try this strategy on a small dataset.</a:t>
            </a:r>
          </a:p>
        </p:txBody>
      </p:sp>
      <p:pic>
        <p:nvPicPr>
          <p:cNvPr id="4" name="Picture 3">
            <a:extLst>
              <a:ext uri="{FF2B5EF4-FFF2-40B4-BE49-F238E27FC236}">
                <a16:creationId xmlns:a16="http://schemas.microsoft.com/office/drawing/2014/main" id="{AB383F67-9FD1-394B-A2D3-83F03790909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374371" y="2130913"/>
            <a:ext cx="9443259" cy="4200836"/>
          </a:xfrm>
          <a:prstGeom prst="rect">
            <a:avLst/>
          </a:prstGeom>
          <a:ln>
            <a:solidFill>
              <a:schemeClr val="tx1"/>
            </a:solidFill>
          </a:ln>
        </p:spPr>
      </p:pic>
    </p:spTree>
    <p:extLst>
      <p:ext uri="{BB962C8B-B14F-4D97-AF65-F5344CB8AC3E}">
        <p14:creationId xmlns:p14="http://schemas.microsoft.com/office/powerpoint/2010/main" val="3520809134"/>
      </p:ext>
    </p:extLst>
  </p:cSld>
  <p:clrMapOvr>
    <a:masterClrMapping/>
  </p:clrMapOvr>
  <mc:AlternateContent xmlns:mc="http://schemas.openxmlformats.org/markup-compatibility/2006" xmlns:p14="http://schemas.microsoft.com/office/powerpoint/2010/main">
    <mc:Choice Requires="p14">
      <p:transition spd="slow" p14:dur="2000" advTm="33200"/>
    </mc:Choice>
    <mc:Fallback xmlns="">
      <p:transition spd="slow" advTm="332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E1E5-E399-667C-525C-ED08C62EB92A}"/>
              </a:ext>
            </a:extLst>
          </p:cNvPr>
          <p:cNvSpPr>
            <a:spLocks noGrp="1"/>
          </p:cNvSpPr>
          <p:nvPr>
            <p:ph type="title"/>
          </p:nvPr>
        </p:nvSpPr>
        <p:spPr/>
        <p:txBody>
          <a:bodyPr/>
          <a:lstStyle/>
          <a:p>
            <a:r>
              <a:rPr lang="en-US" dirty="0"/>
              <a:t>Parameter Optimization by Gradient Descent</a:t>
            </a:r>
          </a:p>
        </p:txBody>
      </p:sp>
      <p:sp>
        <p:nvSpPr>
          <p:cNvPr id="3" name="Content Placeholder 2">
            <a:extLst>
              <a:ext uri="{FF2B5EF4-FFF2-40B4-BE49-F238E27FC236}">
                <a16:creationId xmlns:a16="http://schemas.microsoft.com/office/drawing/2014/main" id="{93061980-2DEC-52AD-5358-360BC15BD589}"/>
              </a:ext>
            </a:extLst>
          </p:cNvPr>
          <p:cNvSpPr>
            <a:spLocks noGrp="1"/>
          </p:cNvSpPr>
          <p:nvPr>
            <p:ph idx="1"/>
          </p:nvPr>
        </p:nvSpPr>
        <p:spPr>
          <a:xfrm>
            <a:off x="838200" y="1825625"/>
            <a:ext cx="3852573" cy="4351338"/>
          </a:xfrm>
        </p:spPr>
        <p:txBody>
          <a:bodyPr>
            <a:normAutofit fontScale="85000" lnSpcReduction="10000"/>
          </a:bodyPr>
          <a:lstStyle/>
          <a:p>
            <a:pPr>
              <a:spcAft>
                <a:spcPts val="1200"/>
              </a:spcAft>
            </a:pPr>
            <a:r>
              <a:rPr lang="en-US" sz="2400" dirty="0"/>
              <a:t>We are trying to get to the lowest point (minimum loss).</a:t>
            </a:r>
          </a:p>
          <a:p>
            <a:pPr>
              <a:spcAft>
                <a:spcPts val="1200"/>
              </a:spcAft>
            </a:pPr>
            <a:r>
              <a:rPr lang="en-US" sz="2400" dirty="0"/>
              <a:t>We do not know where it is (cannot brute force evaluate all parameter combinations).</a:t>
            </a:r>
          </a:p>
          <a:p>
            <a:pPr>
              <a:spcAft>
                <a:spcPts val="1200"/>
              </a:spcAft>
            </a:pPr>
            <a:r>
              <a:rPr lang="en-US" sz="2400" dirty="0"/>
              <a:t>We cannot see clearly in any direction (loss is a complex, high-dimensional function of parameters).</a:t>
            </a:r>
          </a:p>
          <a:p>
            <a:pPr>
              <a:spcAft>
                <a:spcPts val="1200"/>
              </a:spcAft>
            </a:pPr>
            <a:r>
              <a:rPr lang="en-US" sz="2400" dirty="0"/>
              <a:t>So, we test the ground around us and walk downhill (calculate gradient, step in opposite direction).</a:t>
            </a:r>
          </a:p>
        </p:txBody>
      </p:sp>
      <p:pic>
        <p:nvPicPr>
          <p:cNvPr id="4" name="Picture 2" descr="Image result for clip confused man">
            <a:extLst>
              <a:ext uri="{FF2B5EF4-FFF2-40B4-BE49-F238E27FC236}">
                <a16:creationId xmlns:a16="http://schemas.microsoft.com/office/drawing/2014/main" id="{C5CD9B2B-87C2-C103-89AA-AEEA8D7D0C82}"/>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8164104" y="2184407"/>
            <a:ext cx="404039" cy="32679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Image result for clip art mountain">
            <a:extLst>
              <a:ext uri="{FF2B5EF4-FFF2-40B4-BE49-F238E27FC236}">
                <a16:creationId xmlns:a16="http://schemas.microsoft.com/office/drawing/2014/main" id="{072A4374-FE4D-7F93-2E5F-ED934DDA3BC8}"/>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617085" y="1909218"/>
            <a:ext cx="5950244" cy="251893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Image result for clip art mountain">
            <a:extLst>
              <a:ext uri="{FF2B5EF4-FFF2-40B4-BE49-F238E27FC236}">
                <a16:creationId xmlns:a16="http://schemas.microsoft.com/office/drawing/2014/main" id="{D798786C-DB85-20C0-71CA-6300C0184548}"/>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799202" y="3932674"/>
            <a:ext cx="5950244" cy="25189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CFDAF4F-356E-E3E3-9B36-926B3218D31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993479" y="2498322"/>
            <a:ext cx="2437752" cy="2307739"/>
          </a:xfrm>
          <a:prstGeom prst="rect">
            <a:avLst/>
          </a:prstGeom>
        </p:spPr>
      </p:pic>
      <p:pic>
        <p:nvPicPr>
          <p:cNvPr id="7" name="Picture 6">
            <a:extLst>
              <a:ext uri="{FF2B5EF4-FFF2-40B4-BE49-F238E27FC236}">
                <a16:creationId xmlns:a16="http://schemas.microsoft.com/office/drawing/2014/main" id="{471B4DCB-467C-5F82-BDB0-5AAF567ADA7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56193" y="2673206"/>
            <a:ext cx="2437752" cy="2307739"/>
          </a:xfrm>
          <a:prstGeom prst="rect">
            <a:avLst/>
          </a:prstGeom>
        </p:spPr>
      </p:pic>
      <p:pic>
        <p:nvPicPr>
          <p:cNvPr id="8" name="Picture 7">
            <a:extLst>
              <a:ext uri="{FF2B5EF4-FFF2-40B4-BE49-F238E27FC236}">
                <a16:creationId xmlns:a16="http://schemas.microsoft.com/office/drawing/2014/main" id="{8137B42D-5559-90CD-835E-A2BADA4F6FF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252763" y="1825625"/>
            <a:ext cx="2437752" cy="2307739"/>
          </a:xfrm>
          <a:prstGeom prst="rect">
            <a:avLst/>
          </a:prstGeom>
        </p:spPr>
      </p:pic>
      <p:pic>
        <p:nvPicPr>
          <p:cNvPr id="12" name="Picture 11">
            <a:extLst>
              <a:ext uri="{FF2B5EF4-FFF2-40B4-BE49-F238E27FC236}">
                <a16:creationId xmlns:a16="http://schemas.microsoft.com/office/drawing/2014/main" id="{16F1B570-63D9-04D3-690D-0878598B9C6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872890" y="4004161"/>
            <a:ext cx="2437752" cy="2307739"/>
          </a:xfrm>
          <a:prstGeom prst="rect">
            <a:avLst/>
          </a:prstGeom>
        </p:spPr>
      </p:pic>
      <p:pic>
        <p:nvPicPr>
          <p:cNvPr id="11" name="Picture 10">
            <a:extLst>
              <a:ext uri="{FF2B5EF4-FFF2-40B4-BE49-F238E27FC236}">
                <a16:creationId xmlns:a16="http://schemas.microsoft.com/office/drawing/2014/main" id="{D04FD68F-48B7-B44A-FCA9-81530FDC815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837147" y="4009619"/>
            <a:ext cx="2437752" cy="2307739"/>
          </a:xfrm>
          <a:prstGeom prst="rect">
            <a:avLst/>
          </a:prstGeom>
        </p:spPr>
      </p:pic>
      <p:pic>
        <p:nvPicPr>
          <p:cNvPr id="10" name="Picture 9">
            <a:extLst>
              <a:ext uri="{FF2B5EF4-FFF2-40B4-BE49-F238E27FC236}">
                <a16:creationId xmlns:a16="http://schemas.microsoft.com/office/drawing/2014/main" id="{889F383E-77A5-BA46-FB7B-BADCA408174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056887" y="3175639"/>
            <a:ext cx="2437752" cy="2307739"/>
          </a:xfrm>
          <a:prstGeom prst="rect">
            <a:avLst/>
          </a:prstGeom>
        </p:spPr>
      </p:pic>
    </p:spTree>
    <p:extLst>
      <p:ext uri="{BB962C8B-B14F-4D97-AF65-F5344CB8AC3E}">
        <p14:creationId xmlns:p14="http://schemas.microsoft.com/office/powerpoint/2010/main" val="2399675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379E8-31CE-E175-99E3-339C61FA48F2}"/>
              </a:ext>
            </a:extLst>
          </p:cNvPr>
          <p:cNvSpPr>
            <a:spLocks noGrp="1"/>
          </p:cNvSpPr>
          <p:nvPr>
            <p:ph type="title"/>
          </p:nvPr>
        </p:nvSpPr>
        <p:spPr/>
        <p:txBody>
          <a:bodyPr/>
          <a:lstStyle/>
          <a:p>
            <a:r>
              <a:rPr lang="en-US" dirty="0"/>
              <a:t>Defining our loss</a:t>
            </a:r>
          </a:p>
        </p:txBody>
      </p:sp>
      <p:sp>
        <p:nvSpPr>
          <p:cNvPr id="3" name="Text Placeholder 2">
            <a:extLst>
              <a:ext uri="{FF2B5EF4-FFF2-40B4-BE49-F238E27FC236}">
                <a16:creationId xmlns:a16="http://schemas.microsoft.com/office/drawing/2014/main" id="{45A8B99E-4495-9EC2-82B0-AE92DA753F4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04441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39B2B-E09C-2C4A-870E-206E8614A18B}"/>
              </a:ext>
            </a:extLst>
          </p:cNvPr>
          <p:cNvSpPr>
            <a:spLocks noGrp="1"/>
          </p:cNvSpPr>
          <p:nvPr>
            <p:ph type="title"/>
          </p:nvPr>
        </p:nvSpPr>
        <p:spPr>
          <a:xfrm>
            <a:off x="609600" y="278936"/>
            <a:ext cx="10972800" cy="1143000"/>
          </a:xfrm>
        </p:spPr>
        <p:txBody>
          <a:bodyPr>
            <a:noAutofit/>
          </a:bodyPr>
          <a:lstStyle/>
          <a:p>
            <a:r>
              <a:rPr lang="en-US" dirty="0"/>
              <a:t>Likelihood from first principles</a:t>
            </a:r>
          </a:p>
        </p:txBody>
      </p:sp>
      <p:pic>
        <p:nvPicPr>
          <p:cNvPr id="34" name="Picture 33">
            <a:extLst>
              <a:ext uri="{FF2B5EF4-FFF2-40B4-BE49-F238E27FC236}">
                <a16:creationId xmlns:a16="http://schemas.microsoft.com/office/drawing/2014/main" id="{83BEDD96-85BF-7449-B63F-953D36DC0FF2}"/>
              </a:ext>
            </a:extLst>
          </p:cNvPr>
          <p:cNvPicPr>
            <a:picLocks noChangeAspect="1"/>
          </p:cNvPicPr>
          <p:nvPr/>
        </p:nvPicPr>
        <p:blipFill>
          <a:blip r:embed="rId3" cstate="screen">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4734618" y="2870715"/>
            <a:ext cx="2911255" cy="2911255"/>
          </a:xfrm>
          <a:prstGeom prst="rect">
            <a:avLst/>
          </a:prstGeom>
        </p:spPr>
      </p:pic>
      <p:pic>
        <p:nvPicPr>
          <p:cNvPr id="35" name="Picture 34">
            <a:extLst>
              <a:ext uri="{FF2B5EF4-FFF2-40B4-BE49-F238E27FC236}">
                <a16:creationId xmlns:a16="http://schemas.microsoft.com/office/drawing/2014/main" id="{2F44DD32-24C4-0345-967A-3FE6C59891F8}"/>
              </a:ext>
            </a:extLst>
          </p:cNvPr>
          <p:cNvPicPr>
            <a:picLocks noChangeAspect="1"/>
          </p:cNvPicPr>
          <p:nvPr/>
        </p:nvPicPr>
        <p:blipFill>
          <a:blip r:embed="rId3" cstate="screen">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7031587" y="2870362"/>
            <a:ext cx="2911255" cy="2911255"/>
          </a:xfrm>
          <a:prstGeom prst="rect">
            <a:avLst/>
          </a:prstGeom>
        </p:spPr>
      </p:pic>
      <p:pic>
        <p:nvPicPr>
          <p:cNvPr id="36" name="Picture 35">
            <a:extLst>
              <a:ext uri="{FF2B5EF4-FFF2-40B4-BE49-F238E27FC236}">
                <a16:creationId xmlns:a16="http://schemas.microsoft.com/office/drawing/2014/main" id="{6E6BC822-96D9-1548-907E-FD0BD3F07E15}"/>
              </a:ext>
            </a:extLst>
          </p:cNvPr>
          <p:cNvPicPr>
            <a:picLocks noChangeAspect="1"/>
          </p:cNvPicPr>
          <p:nvPr/>
        </p:nvPicPr>
        <p:blipFill>
          <a:blip r:embed="rId3" cstate="screen">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9328555" y="2870363"/>
            <a:ext cx="2911255" cy="2911255"/>
          </a:xfrm>
          <a:prstGeom prst="rect">
            <a:avLst/>
          </a:prstGeom>
        </p:spPr>
      </p:pic>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8977087-093D-004B-9D07-32050285E780}"/>
                  </a:ext>
                </a:extLst>
              </p:cNvPr>
              <p:cNvSpPr txBox="1"/>
              <p:nvPr/>
            </p:nvSpPr>
            <p:spPr>
              <a:xfrm>
                <a:off x="5829648" y="5644985"/>
                <a:ext cx="5491440" cy="584775"/>
              </a:xfrm>
              <a:prstGeom prst="rect">
                <a:avLst/>
              </a:prstGeom>
              <a:noFill/>
            </p:spPr>
            <p:txBody>
              <a:bodyPr wrap="none" rtlCol="0">
                <a:spAutoFit/>
              </a:bodyPr>
              <a:lstStyle/>
              <a:p>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1</m:t>
                        </m:r>
                      </m:sub>
                    </m:sSub>
                  </m:oMath>
                </a14:m>
                <a:r>
                  <a:rPr lang="en-US" sz="3200" dirty="0"/>
                  <a:t>?	     x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2</m:t>
                        </m:r>
                      </m:sub>
                    </m:sSub>
                  </m:oMath>
                </a14:m>
                <a:r>
                  <a:rPr lang="en-US" sz="3200" dirty="0"/>
                  <a:t>?	x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3</m:t>
                        </m:r>
                      </m:sub>
                    </m:sSub>
                  </m:oMath>
                </a14:m>
                <a:r>
                  <a:rPr lang="en-US" sz="3200" dirty="0"/>
                  <a:t>?</a:t>
                </a:r>
              </a:p>
            </p:txBody>
          </p:sp>
        </mc:Choice>
        <mc:Fallback xmlns="">
          <p:sp>
            <p:nvSpPr>
              <p:cNvPr id="37" name="TextBox 36">
                <a:extLst>
                  <a:ext uri="{FF2B5EF4-FFF2-40B4-BE49-F238E27FC236}">
                    <a16:creationId xmlns:a16="http://schemas.microsoft.com/office/drawing/2014/main" id="{F8977087-093D-004B-9D07-32050285E780}"/>
                  </a:ext>
                </a:extLst>
              </p:cNvPr>
              <p:cNvSpPr txBox="1">
                <a:spLocks noRot="1" noChangeAspect="1" noMove="1" noResize="1" noEditPoints="1" noAdjustHandles="1" noChangeArrowheads="1" noChangeShapeType="1" noTextEdit="1"/>
              </p:cNvSpPr>
              <p:nvPr/>
            </p:nvSpPr>
            <p:spPr>
              <a:xfrm>
                <a:off x="5829648" y="5644985"/>
                <a:ext cx="5491440" cy="584775"/>
              </a:xfrm>
              <a:prstGeom prst="rect">
                <a:avLst/>
              </a:prstGeom>
              <a:blipFill>
                <a:blip r:embed="rId6"/>
                <a:stretch>
                  <a:fillRect l="-691" t="-12766" r="-1843" b="-319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D7AB6228-73E8-814F-8713-6E1AD95315DA}"/>
                  </a:ext>
                </a:extLst>
              </p:cNvPr>
              <p:cNvSpPr txBox="1"/>
              <p:nvPr/>
            </p:nvSpPr>
            <p:spPr>
              <a:xfrm>
                <a:off x="5457303" y="1694113"/>
                <a:ext cx="6063070" cy="584775"/>
              </a:xfrm>
              <a:prstGeom prst="rect">
                <a:avLst/>
              </a:prstGeom>
              <a:noFill/>
            </p:spPr>
            <p:txBody>
              <a:bodyPr wrap="none" rtlCol="0">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1</m:t>
                        </m:r>
                      </m:sub>
                    </m:sSub>
                    <m:r>
                      <a:rPr lang="en-US" sz="3200" i="1">
                        <a:latin typeface="Cambria Math" panose="02040503050406030204" pitchFamily="18" charset="0"/>
                      </a:rPr>
                      <m:t>=1</m:t>
                    </m:r>
                  </m:oMath>
                </a14:m>
                <a:r>
                  <a:rPr lang="en-US" sz="3200" dirty="0"/>
                  <a: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2</m:t>
                        </m:r>
                      </m:sub>
                    </m:sSub>
                    <m:r>
                      <a:rPr lang="en-US" sz="3200" i="1">
                        <a:latin typeface="Cambria Math" panose="02040503050406030204" pitchFamily="18" charset="0"/>
                      </a:rPr>
                      <m:t>=0</m:t>
                    </m:r>
                  </m:oMath>
                </a14:m>
                <a:r>
                  <a:rPr lang="en-US" sz="3200" dirty="0"/>
                  <a: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3</m:t>
                        </m:r>
                      </m:sub>
                    </m:sSub>
                    <m:r>
                      <a:rPr lang="en-US" sz="3200" i="1">
                        <a:latin typeface="Cambria Math" panose="02040503050406030204" pitchFamily="18" charset="0"/>
                      </a:rPr>
                      <m:t>=0</m:t>
                    </m:r>
                  </m:oMath>
                </a14:m>
                <a:endParaRPr lang="en-US" sz="3200" dirty="0"/>
              </a:p>
            </p:txBody>
          </p:sp>
        </mc:Choice>
        <mc:Fallback xmlns="">
          <p:sp>
            <p:nvSpPr>
              <p:cNvPr id="38" name="TextBox 37">
                <a:extLst>
                  <a:ext uri="{FF2B5EF4-FFF2-40B4-BE49-F238E27FC236}">
                    <a16:creationId xmlns:a16="http://schemas.microsoft.com/office/drawing/2014/main" id="{D7AB6228-73E8-814F-8713-6E1AD95315DA}"/>
                  </a:ext>
                </a:extLst>
              </p:cNvPr>
              <p:cNvSpPr txBox="1">
                <a:spLocks noRot="1" noChangeAspect="1" noMove="1" noResize="1" noEditPoints="1" noAdjustHandles="1" noChangeArrowheads="1" noChangeShapeType="1" noTextEdit="1"/>
              </p:cNvSpPr>
              <p:nvPr/>
            </p:nvSpPr>
            <p:spPr>
              <a:xfrm>
                <a:off x="5457303" y="1694113"/>
                <a:ext cx="6063070" cy="584775"/>
              </a:xfrm>
              <a:prstGeom prst="rect">
                <a:avLst/>
              </a:prstGeom>
              <a:blipFill>
                <a:blip r:embed="rId7"/>
                <a:stretch>
                  <a:fillRect l="-835" b="-12766"/>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382BF3D5-63FB-6F44-AC3E-6A256441499F}"/>
              </a:ext>
            </a:extLst>
          </p:cNvPr>
          <p:cNvSpPr txBox="1"/>
          <p:nvPr/>
        </p:nvSpPr>
        <p:spPr>
          <a:xfrm>
            <a:off x="5457304" y="2391441"/>
            <a:ext cx="6264344" cy="584775"/>
          </a:xfrm>
          <a:prstGeom prst="rect">
            <a:avLst/>
          </a:prstGeom>
          <a:noFill/>
        </p:spPr>
        <p:txBody>
          <a:bodyPr wrap="none" rtlCol="0">
            <a:spAutoFit/>
          </a:bodyPr>
          <a:lstStyle/>
          <a:p>
            <a:r>
              <a:rPr lang="en-US" sz="3200" dirty="0"/>
              <a:t> (dies)	    (survives)       (survives)</a:t>
            </a:r>
          </a:p>
        </p:txBody>
      </p:sp>
      <p:sp>
        <p:nvSpPr>
          <p:cNvPr id="33" name="TextBox 32">
            <a:extLst>
              <a:ext uri="{FF2B5EF4-FFF2-40B4-BE49-F238E27FC236}">
                <a16:creationId xmlns:a16="http://schemas.microsoft.com/office/drawing/2014/main" id="{707BCCFE-77B6-9D40-BC4A-95D88FB2D07F}"/>
              </a:ext>
            </a:extLst>
          </p:cNvPr>
          <p:cNvSpPr txBox="1"/>
          <p:nvPr/>
        </p:nvSpPr>
        <p:spPr>
          <a:xfrm>
            <a:off x="695373" y="1516144"/>
            <a:ext cx="3961571" cy="3046988"/>
          </a:xfrm>
          <a:prstGeom prst="rect">
            <a:avLst/>
          </a:prstGeom>
          <a:noFill/>
        </p:spPr>
        <p:txBody>
          <a:bodyPr wrap="square" rtlCol="0">
            <a:spAutoFit/>
          </a:bodyPr>
          <a:lstStyle/>
          <a:p>
            <a:pPr marL="380990" indent="-380990">
              <a:buFont typeface="Arial" panose="020B0604020202020204" pitchFamily="34" charset="0"/>
              <a:buChar char="•"/>
            </a:pPr>
            <a:r>
              <a:rPr lang="en-US" sz="2400" dirty="0"/>
              <a:t>Our model predicts the </a:t>
            </a:r>
            <a:r>
              <a:rPr lang="en-US" sz="2400" i="1" dirty="0"/>
              <a:t>probability</a:t>
            </a:r>
            <a:r>
              <a:rPr lang="en-US" sz="2400" dirty="0"/>
              <a:t> of death for each patient.</a:t>
            </a:r>
          </a:p>
          <a:p>
            <a:pPr marL="380990" indent="-380990">
              <a:buFont typeface="Arial" panose="020B0604020202020204" pitchFamily="34" charset="0"/>
              <a:buChar char="•"/>
            </a:pPr>
            <a:endParaRPr lang="en-US" sz="2400" dirty="0"/>
          </a:p>
          <a:p>
            <a:pPr marL="380990" indent="-380990">
              <a:buFont typeface="Arial" panose="020B0604020202020204" pitchFamily="34" charset="0"/>
              <a:buChar char="•"/>
            </a:pPr>
            <a:r>
              <a:rPr lang="en-US" sz="2400" dirty="0"/>
              <a:t>If we change the parameters, we change the predicted probabilities for each patient.</a:t>
            </a:r>
          </a:p>
        </p:txBody>
      </p:sp>
    </p:spTree>
    <p:extLst>
      <p:ext uri="{BB962C8B-B14F-4D97-AF65-F5344CB8AC3E}">
        <p14:creationId xmlns:p14="http://schemas.microsoft.com/office/powerpoint/2010/main" val="3464888589"/>
      </p:ext>
    </p:extLst>
  </p:cSld>
  <p:clrMapOvr>
    <a:masterClrMapping/>
  </p:clrMapOvr>
  <mc:AlternateContent xmlns:mc="http://schemas.openxmlformats.org/markup-compatibility/2006" xmlns:p14="http://schemas.microsoft.com/office/powerpoint/2010/main">
    <mc:Choice Requires="p14">
      <p:transition spd="slow" p14:dur="2000" advTm="82431"/>
    </mc:Choice>
    <mc:Fallback xmlns="">
      <p:transition spd="slow" advTm="8243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39B2B-E09C-2C4A-870E-206E8614A18B}"/>
              </a:ext>
            </a:extLst>
          </p:cNvPr>
          <p:cNvSpPr>
            <a:spLocks noGrp="1"/>
          </p:cNvSpPr>
          <p:nvPr>
            <p:ph type="title"/>
          </p:nvPr>
        </p:nvSpPr>
        <p:spPr>
          <a:xfrm>
            <a:off x="609600" y="278936"/>
            <a:ext cx="10972800" cy="1143000"/>
          </a:xfrm>
        </p:spPr>
        <p:txBody>
          <a:bodyPr>
            <a:noAutofit/>
          </a:bodyPr>
          <a:lstStyle/>
          <a:p>
            <a:r>
              <a:rPr lang="en-US" dirty="0"/>
              <a:t>Likelihood from first principles</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07BCCFE-77B6-9D40-BC4A-95D88FB2D07F}"/>
                  </a:ext>
                </a:extLst>
              </p:cNvPr>
              <p:cNvSpPr txBox="1"/>
              <p:nvPr/>
            </p:nvSpPr>
            <p:spPr>
              <a:xfrm>
                <a:off x="695373" y="1516144"/>
                <a:ext cx="3961571" cy="2677656"/>
              </a:xfrm>
              <a:prstGeom prst="rect">
                <a:avLst/>
              </a:prstGeom>
              <a:noFill/>
            </p:spPr>
            <p:txBody>
              <a:bodyPr wrap="square" rtlCol="0">
                <a:spAutoFit/>
              </a:bodyPr>
              <a:lstStyle/>
              <a:p>
                <a:pPr marL="380990" indent="-380990">
                  <a:buFont typeface="Arial" panose="020B0604020202020204" pitchFamily="34" charset="0"/>
                  <a:buChar char="•"/>
                </a:pPr>
                <a:r>
                  <a:rPr lang="en-US" sz="2400" dirty="0"/>
                  <a:t>Suppose we predict:</a:t>
                </a:r>
              </a:p>
              <a:p>
                <a:pPr marL="990530" lvl="1" indent="-380990">
                  <a:buFont typeface="Arial" panose="020B0604020202020204" pitchFamily="34" charset="0"/>
                  <a:buChar char="•"/>
                </a:pP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𝑝</m:t>
                        </m:r>
                      </m:e>
                      <m:sub>
                        <m:r>
                          <a:rPr lang="en-US" sz="2400" i="1" dirty="0">
                            <a:latin typeface="Cambria Math" panose="02040503050406030204" pitchFamily="18" charset="0"/>
                          </a:rPr>
                          <m:t>1</m:t>
                        </m:r>
                      </m:sub>
                    </m:sSub>
                    <m:r>
                      <a:rPr lang="en-US" sz="2400" i="1" dirty="0">
                        <a:latin typeface="Cambria Math" panose="02040503050406030204" pitchFamily="18" charset="0"/>
                      </a:rPr>
                      <m:t>=.1</m:t>
                    </m:r>
                  </m:oMath>
                </a14:m>
                <a:endParaRPr lang="en-US" sz="2400" i="1" dirty="0">
                  <a:latin typeface="Cambria Math" panose="02040503050406030204" pitchFamily="18" charset="0"/>
                </a:endParaRPr>
              </a:p>
              <a:p>
                <a:pPr marL="990530" lvl="1" indent="-380990">
                  <a:buFont typeface="Arial" panose="020B0604020202020204" pitchFamily="34" charset="0"/>
                  <a:buChar char="•"/>
                </a:pP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𝑝</m:t>
                        </m:r>
                      </m:e>
                      <m:sub>
                        <m:r>
                          <a:rPr lang="en-US" sz="2400" i="1" dirty="0">
                            <a:latin typeface="Cambria Math" panose="02040503050406030204" pitchFamily="18" charset="0"/>
                          </a:rPr>
                          <m:t>2</m:t>
                        </m:r>
                      </m:sub>
                    </m:sSub>
                    <m:r>
                      <a:rPr lang="en-US" sz="2400" i="1" dirty="0">
                        <a:latin typeface="Cambria Math" panose="02040503050406030204" pitchFamily="18" charset="0"/>
                      </a:rPr>
                      <m:t>=.9</m:t>
                    </m:r>
                  </m:oMath>
                </a14:m>
                <a:endParaRPr lang="en-US" sz="2400" i="1" dirty="0">
                  <a:latin typeface="Cambria Math" panose="02040503050406030204" pitchFamily="18" charset="0"/>
                </a:endParaRPr>
              </a:p>
              <a:p>
                <a:pPr marL="990530" lvl="1" indent="-380990">
                  <a:buFont typeface="Arial" panose="020B0604020202020204" pitchFamily="34" charset="0"/>
                  <a:buChar char="•"/>
                </a:pP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𝑝</m:t>
                        </m:r>
                      </m:e>
                      <m:sub>
                        <m:r>
                          <a:rPr lang="en-US" sz="2400" i="1" dirty="0">
                            <a:latin typeface="Cambria Math" panose="02040503050406030204" pitchFamily="18" charset="0"/>
                          </a:rPr>
                          <m:t>3</m:t>
                        </m:r>
                      </m:sub>
                    </m:sSub>
                    <m:r>
                      <a:rPr lang="en-US" sz="2400" i="1" dirty="0">
                        <a:latin typeface="Cambria Math" panose="02040503050406030204" pitchFamily="18" charset="0"/>
                      </a:rPr>
                      <m:t>=.7</m:t>
                    </m:r>
                  </m:oMath>
                </a14:m>
                <a:endParaRPr lang="en-US" sz="2400" dirty="0"/>
              </a:p>
              <a:p>
                <a:pPr marL="380990" indent="-380990">
                  <a:buFont typeface="Arial" panose="020B0604020202020204" pitchFamily="34" charset="0"/>
                  <a:buChar char="•"/>
                </a:pPr>
                <a:endParaRPr lang="en-US" sz="2400" dirty="0"/>
              </a:p>
              <a:p>
                <a:pPr marL="380990" indent="-380990">
                  <a:buFont typeface="Arial" panose="020B0604020202020204" pitchFamily="34" charset="0"/>
                  <a:buChar char="•"/>
                </a:pPr>
                <a:r>
                  <a:rPr lang="en-US" sz="2400" dirty="0"/>
                  <a:t>Is this a good model? Why or why not?</a:t>
                </a:r>
              </a:p>
            </p:txBody>
          </p:sp>
        </mc:Choice>
        <mc:Fallback xmlns="">
          <p:sp>
            <p:nvSpPr>
              <p:cNvPr id="33" name="TextBox 32">
                <a:extLst>
                  <a:ext uri="{FF2B5EF4-FFF2-40B4-BE49-F238E27FC236}">
                    <a16:creationId xmlns:a16="http://schemas.microsoft.com/office/drawing/2014/main" id="{707BCCFE-77B6-9D40-BC4A-95D88FB2D07F}"/>
                  </a:ext>
                </a:extLst>
              </p:cNvPr>
              <p:cNvSpPr txBox="1">
                <a:spLocks noRot="1" noChangeAspect="1" noMove="1" noResize="1" noEditPoints="1" noAdjustHandles="1" noChangeArrowheads="1" noChangeShapeType="1" noTextEdit="1"/>
              </p:cNvSpPr>
              <p:nvPr/>
            </p:nvSpPr>
            <p:spPr>
              <a:xfrm>
                <a:off x="695373" y="1516144"/>
                <a:ext cx="3961571" cy="2677656"/>
              </a:xfrm>
              <a:prstGeom prst="rect">
                <a:avLst/>
              </a:prstGeom>
              <a:blipFill>
                <a:blip r:embed="rId5"/>
                <a:stretch>
                  <a:fillRect l="-1917" t="-1887" r="-319" b="-3774"/>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63E55283-AABC-0F46-B83E-EF04C99B938B}"/>
              </a:ext>
            </a:extLst>
          </p:cNvPr>
          <p:cNvPicPr>
            <a:picLocks noChangeAspect="1"/>
          </p:cNvPicPr>
          <p:nvPr/>
        </p:nvPicPr>
        <p:blipFill>
          <a:blip r:embed="rId6" cstate="screen">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4734618" y="2870715"/>
            <a:ext cx="2911255" cy="2911255"/>
          </a:xfrm>
          <a:prstGeom prst="rect">
            <a:avLst/>
          </a:prstGeom>
        </p:spPr>
      </p:pic>
      <p:pic>
        <p:nvPicPr>
          <p:cNvPr id="11" name="Picture 10">
            <a:extLst>
              <a:ext uri="{FF2B5EF4-FFF2-40B4-BE49-F238E27FC236}">
                <a16:creationId xmlns:a16="http://schemas.microsoft.com/office/drawing/2014/main" id="{8B5478F9-30FB-684C-AAC0-65E4CD1D133D}"/>
              </a:ext>
            </a:extLst>
          </p:cNvPr>
          <p:cNvPicPr>
            <a:picLocks noChangeAspect="1"/>
          </p:cNvPicPr>
          <p:nvPr/>
        </p:nvPicPr>
        <p:blipFill>
          <a:blip r:embed="rId6" cstate="screen">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7031587" y="2870362"/>
            <a:ext cx="2911255" cy="2911255"/>
          </a:xfrm>
          <a:prstGeom prst="rect">
            <a:avLst/>
          </a:prstGeom>
        </p:spPr>
      </p:pic>
      <p:pic>
        <p:nvPicPr>
          <p:cNvPr id="12" name="Picture 11">
            <a:extLst>
              <a:ext uri="{FF2B5EF4-FFF2-40B4-BE49-F238E27FC236}">
                <a16:creationId xmlns:a16="http://schemas.microsoft.com/office/drawing/2014/main" id="{029920CB-3915-4445-94F8-40FEFDA09E1D}"/>
              </a:ext>
            </a:extLst>
          </p:cNvPr>
          <p:cNvPicPr>
            <a:picLocks noChangeAspect="1"/>
          </p:cNvPicPr>
          <p:nvPr/>
        </p:nvPicPr>
        <p:blipFill>
          <a:blip r:embed="rId6" cstate="screen">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9328555" y="2870363"/>
            <a:ext cx="2911255" cy="2911255"/>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5AFEA6-1541-4343-BDDA-F9E5685CF381}"/>
                  </a:ext>
                </a:extLst>
              </p:cNvPr>
              <p:cNvSpPr txBox="1"/>
              <p:nvPr/>
            </p:nvSpPr>
            <p:spPr>
              <a:xfrm>
                <a:off x="5829648" y="5644985"/>
                <a:ext cx="5491440" cy="584775"/>
              </a:xfrm>
              <a:prstGeom prst="rect">
                <a:avLst/>
              </a:prstGeom>
              <a:noFill/>
            </p:spPr>
            <p:txBody>
              <a:bodyPr wrap="none" rtlCol="0">
                <a:spAutoFit/>
              </a:bodyPr>
              <a:lstStyle/>
              <a:p>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1</m:t>
                        </m:r>
                      </m:sub>
                    </m:sSub>
                  </m:oMath>
                </a14:m>
                <a:r>
                  <a:rPr lang="en-US" sz="3200" dirty="0"/>
                  <a:t>?	     x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2</m:t>
                        </m:r>
                      </m:sub>
                    </m:sSub>
                  </m:oMath>
                </a14:m>
                <a:r>
                  <a:rPr lang="en-US" sz="3200" dirty="0"/>
                  <a:t>?	x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3</m:t>
                        </m:r>
                      </m:sub>
                    </m:sSub>
                  </m:oMath>
                </a14:m>
                <a:r>
                  <a:rPr lang="en-US" sz="3200" dirty="0"/>
                  <a:t>?</a:t>
                </a:r>
              </a:p>
            </p:txBody>
          </p:sp>
        </mc:Choice>
        <mc:Fallback xmlns="">
          <p:sp>
            <p:nvSpPr>
              <p:cNvPr id="13" name="TextBox 12">
                <a:extLst>
                  <a:ext uri="{FF2B5EF4-FFF2-40B4-BE49-F238E27FC236}">
                    <a16:creationId xmlns:a16="http://schemas.microsoft.com/office/drawing/2014/main" id="{8F5AFEA6-1541-4343-BDDA-F9E5685CF381}"/>
                  </a:ext>
                </a:extLst>
              </p:cNvPr>
              <p:cNvSpPr txBox="1">
                <a:spLocks noRot="1" noChangeAspect="1" noMove="1" noResize="1" noEditPoints="1" noAdjustHandles="1" noChangeArrowheads="1" noChangeShapeType="1" noTextEdit="1"/>
              </p:cNvSpPr>
              <p:nvPr/>
            </p:nvSpPr>
            <p:spPr>
              <a:xfrm>
                <a:off x="5829648" y="5644985"/>
                <a:ext cx="5491440" cy="584775"/>
              </a:xfrm>
              <a:prstGeom prst="rect">
                <a:avLst/>
              </a:prstGeom>
              <a:blipFill>
                <a:blip r:embed="rId7"/>
                <a:stretch>
                  <a:fillRect l="-691" t="-12766" r="-1843" b="-319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C42102A-6FD0-8C48-A484-9BCACFA22D40}"/>
                  </a:ext>
                </a:extLst>
              </p:cNvPr>
              <p:cNvSpPr txBox="1"/>
              <p:nvPr/>
            </p:nvSpPr>
            <p:spPr>
              <a:xfrm>
                <a:off x="5457303" y="1694113"/>
                <a:ext cx="6063070" cy="584775"/>
              </a:xfrm>
              <a:prstGeom prst="rect">
                <a:avLst/>
              </a:prstGeom>
              <a:noFill/>
            </p:spPr>
            <p:txBody>
              <a:bodyPr wrap="none" rtlCol="0">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1</m:t>
                        </m:r>
                      </m:sub>
                    </m:sSub>
                    <m:r>
                      <a:rPr lang="en-US" sz="3200" i="1">
                        <a:latin typeface="Cambria Math" panose="02040503050406030204" pitchFamily="18" charset="0"/>
                      </a:rPr>
                      <m:t>=1</m:t>
                    </m:r>
                  </m:oMath>
                </a14:m>
                <a:r>
                  <a:rPr lang="en-US" sz="3200" dirty="0"/>
                  <a: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2</m:t>
                        </m:r>
                      </m:sub>
                    </m:sSub>
                    <m:r>
                      <a:rPr lang="en-US" sz="3200" i="1">
                        <a:latin typeface="Cambria Math" panose="02040503050406030204" pitchFamily="18" charset="0"/>
                      </a:rPr>
                      <m:t>=0</m:t>
                    </m:r>
                  </m:oMath>
                </a14:m>
                <a:r>
                  <a:rPr lang="en-US" sz="3200" dirty="0"/>
                  <a: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3</m:t>
                        </m:r>
                      </m:sub>
                    </m:sSub>
                    <m:r>
                      <a:rPr lang="en-US" sz="3200" i="1">
                        <a:latin typeface="Cambria Math" panose="02040503050406030204" pitchFamily="18" charset="0"/>
                      </a:rPr>
                      <m:t>=0</m:t>
                    </m:r>
                  </m:oMath>
                </a14:m>
                <a:endParaRPr lang="en-US" sz="3200" dirty="0"/>
              </a:p>
            </p:txBody>
          </p:sp>
        </mc:Choice>
        <mc:Fallback xmlns="">
          <p:sp>
            <p:nvSpPr>
              <p:cNvPr id="14" name="TextBox 13">
                <a:extLst>
                  <a:ext uri="{FF2B5EF4-FFF2-40B4-BE49-F238E27FC236}">
                    <a16:creationId xmlns:a16="http://schemas.microsoft.com/office/drawing/2014/main" id="{7C42102A-6FD0-8C48-A484-9BCACFA22D40}"/>
                  </a:ext>
                </a:extLst>
              </p:cNvPr>
              <p:cNvSpPr txBox="1">
                <a:spLocks noRot="1" noChangeAspect="1" noMove="1" noResize="1" noEditPoints="1" noAdjustHandles="1" noChangeArrowheads="1" noChangeShapeType="1" noTextEdit="1"/>
              </p:cNvSpPr>
              <p:nvPr/>
            </p:nvSpPr>
            <p:spPr>
              <a:xfrm>
                <a:off x="5457303" y="1694113"/>
                <a:ext cx="6063070" cy="584775"/>
              </a:xfrm>
              <a:prstGeom prst="rect">
                <a:avLst/>
              </a:prstGeom>
              <a:blipFill>
                <a:blip r:embed="rId8"/>
                <a:stretch>
                  <a:fillRect l="-835" b="-12766"/>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305576E2-1EB7-7540-8F3E-4731044C709F}"/>
              </a:ext>
            </a:extLst>
          </p:cNvPr>
          <p:cNvSpPr txBox="1"/>
          <p:nvPr/>
        </p:nvSpPr>
        <p:spPr>
          <a:xfrm>
            <a:off x="5457304" y="2391441"/>
            <a:ext cx="6264344" cy="584775"/>
          </a:xfrm>
          <a:prstGeom prst="rect">
            <a:avLst/>
          </a:prstGeom>
          <a:noFill/>
        </p:spPr>
        <p:txBody>
          <a:bodyPr wrap="none" rtlCol="0">
            <a:spAutoFit/>
          </a:bodyPr>
          <a:lstStyle/>
          <a:p>
            <a:r>
              <a:rPr lang="en-US" sz="3200" dirty="0"/>
              <a:t> (dies)	    (survives)       (survives)</a:t>
            </a:r>
          </a:p>
        </p:txBody>
      </p:sp>
    </p:spTree>
    <p:extLst>
      <p:ext uri="{BB962C8B-B14F-4D97-AF65-F5344CB8AC3E}">
        <p14:creationId xmlns:p14="http://schemas.microsoft.com/office/powerpoint/2010/main" val="1806947085"/>
      </p:ext>
    </p:extLst>
  </p:cSld>
  <p:clrMapOvr>
    <a:masterClrMapping/>
  </p:clrMapOvr>
  <mc:AlternateContent xmlns:mc="http://schemas.openxmlformats.org/markup-compatibility/2006" xmlns:p14="http://schemas.microsoft.com/office/powerpoint/2010/main">
    <mc:Choice Requires="p14">
      <p:transition spd="slow" p14:dur="2000" advTm="116614"/>
    </mc:Choice>
    <mc:Fallback xmlns="">
      <p:transition spd="slow" advTm="11661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39B2B-E09C-2C4A-870E-206E8614A18B}"/>
              </a:ext>
            </a:extLst>
          </p:cNvPr>
          <p:cNvSpPr>
            <a:spLocks noGrp="1"/>
          </p:cNvSpPr>
          <p:nvPr>
            <p:ph type="title"/>
          </p:nvPr>
        </p:nvSpPr>
        <p:spPr>
          <a:xfrm>
            <a:off x="609600" y="278936"/>
            <a:ext cx="10972800" cy="1143000"/>
          </a:xfrm>
        </p:spPr>
        <p:txBody>
          <a:bodyPr>
            <a:noAutofit/>
          </a:bodyPr>
          <a:lstStyle/>
          <a:p>
            <a:r>
              <a:rPr lang="en-US" dirty="0"/>
              <a:t>Likelihood from first principles</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07BCCFE-77B6-9D40-BC4A-95D88FB2D07F}"/>
                  </a:ext>
                </a:extLst>
              </p:cNvPr>
              <p:cNvSpPr txBox="1"/>
              <p:nvPr/>
            </p:nvSpPr>
            <p:spPr>
              <a:xfrm>
                <a:off x="695373" y="1516144"/>
                <a:ext cx="3961571" cy="2677656"/>
              </a:xfrm>
              <a:prstGeom prst="rect">
                <a:avLst/>
              </a:prstGeom>
              <a:noFill/>
            </p:spPr>
            <p:txBody>
              <a:bodyPr wrap="square" rtlCol="0">
                <a:spAutoFit/>
              </a:bodyPr>
              <a:lstStyle/>
              <a:p>
                <a:pPr marL="380990" indent="-380990">
                  <a:buFont typeface="Arial" panose="020B0604020202020204" pitchFamily="34" charset="0"/>
                  <a:buChar char="•"/>
                </a:pPr>
                <a:r>
                  <a:rPr lang="en-US" sz="2400" dirty="0"/>
                  <a:t>Suppose we predict:</a:t>
                </a:r>
              </a:p>
              <a:p>
                <a:pPr marL="990530" lvl="1" indent="-380990">
                  <a:buFont typeface="Arial" panose="020B0604020202020204" pitchFamily="34" charset="0"/>
                  <a:buChar char="•"/>
                </a:pP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𝑝</m:t>
                        </m:r>
                      </m:e>
                      <m:sub>
                        <m:r>
                          <a:rPr lang="en-US" sz="2400" i="1" dirty="0">
                            <a:latin typeface="Cambria Math" panose="02040503050406030204" pitchFamily="18" charset="0"/>
                          </a:rPr>
                          <m:t>1</m:t>
                        </m:r>
                      </m:sub>
                    </m:sSub>
                    <m:r>
                      <a:rPr lang="en-US" sz="2400" i="1" dirty="0">
                        <a:latin typeface="Cambria Math" panose="02040503050406030204" pitchFamily="18" charset="0"/>
                      </a:rPr>
                      <m:t>=.8</m:t>
                    </m:r>
                  </m:oMath>
                </a14:m>
                <a:endParaRPr lang="en-US" sz="2400" i="1" dirty="0">
                  <a:latin typeface="Cambria Math" panose="02040503050406030204" pitchFamily="18" charset="0"/>
                </a:endParaRPr>
              </a:p>
              <a:p>
                <a:pPr marL="990530" lvl="1" indent="-380990">
                  <a:buFont typeface="Arial" panose="020B0604020202020204" pitchFamily="34" charset="0"/>
                  <a:buChar char="•"/>
                </a:pP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𝑝</m:t>
                        </m:r>
                      </m:e>
                      <m:sub>
                        <m:r>
                          <a:rPr lang="en-US" sz="2400" i="1" dirty="0">
                            <a:latin typeface="Cambria Math" panose="02040503050406030204" pitchFamily="18" charset="0"/>
                          </a:rPr>
                          <m:t>2</m:t>
                        </m:r>
                      </m:sub>
                    </m:sSub>
                    <m:r>
                      <a:rPr lang="en-US" sz="2400" i="1" dirty="0">
                        <a:latin typeface="Cambria Math" panose="02040503050406030204" pitchFamily="18" charset="0"/>
                      </a:rPr>
                      <m:t>=.3</m:t>
                    </m:r>
                  </m:oMath>
                </a14:m>
                <a:endParaRPr lang="en-US" sz="2400" i="1" dirty="0">
                  <a:latin typeface="Cambria Math" panose="02040503050406030204" pitchFamily="18" charset="0"/>
                </a:endParaRPr>
              </a:p>
              <a:p>
                <a:pPr marL="990530" lvl="1" indent="-380990">
                  <a:buFont typeface="Arial" panose="020B0604020202020204" pitchFamily="34" charset="0"/>
                  <a:buChar char="•"/>
                </a:pP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𝑝</m:t>
                        </m:r>
                      </m:e>
                      <m:sub>
                        <m:r>
                          <a:rPr lang="en-US" sz="2400" i="1" dirty="0">
                            <a:latin typeface="Cambria Math" panose="02040503050406030204" pitchFamily="18" charset="0"/>
                          </a:rPr>
                          <m:t>3</m:t>
                        </m:r>
                      </m:sub>
                    </m:sSub>
                    <m:r>
                      <a:rPr lang="en-US" sz="2400" i="1" dirty="0">
                        <a:latin typeface="Cambria Math" panose="02040503050406030204" pitchFamily="18" charset="0"/>
                      </a:rPr>
                      <m:t>=.1</m:t>
                    </m:r>
                  </m:oMath>
                </a14:m>
                <a:endParaRPr lang="en-US" sz="2400" dirty="0"/>
              </a:p>
              <a:p>
                <a:pPr marL="380990" indent="-380990">
                  <a:buFont typeface="Arial" panose="020B0604020202020204" pitchFamily="34" charset="0"/>
                  <a:buChar char="•"/>
                </a:pPr>
                <a:endParaRPr lang="en-US" sz="2400" dirty="0"/>
              </a:p>
              <a:p>
                <a:pPr marL="380990" indent="-380990">
                  <a:buFont typeface="Arial" panose="020B0604020202020204" pitchFamily="34" charset="0"/>
                  <a:buChar char="•"/>
                </a:pPr>
                <a:r>
                  <a:rPr lang="en-US" sz="2400" dirty="0"/>
                  <a:t>Is this a good model? Why or why not?</a:t>
                </a:r>
              </a:p>
            </p:txBody>
          </p:sp>
        </mc:Choice>
        <mc:Fallback xmlns="">
          <p:sp>
            <p:nvSpPr>
              <p:cNvPr id="33" name="TextBox 32">
                <a:extLst>
                  <a:ext uri="{FF2B5EF4-FFF2-40B4-BE49-F238E27FC236}">
                    <a16:creationId xmlns:a16="http://schemas.microsoft.com/office/drawing/2014/main" id="{707BCCFE-77B6-9D40-BC4A-95D88FB2D07F}"/>
                  </a:ext>
                </a:extLst>
              </p:cNvPr>
              <p:cNvSpPr txBox="1">
                <a:spLocks noRot="1" noChangeAspect="1" noMove="1" noResize="1" noEditPoints="1" noAdjustHandles="1" noChangeArrowheads="1" noChangeShapeType="1" noTextEdit="1"/>
              </p:cNvSpPr>
              <p:nvPr/>
            </p:nvSpPr>
            <p:spPr>
              <a:xfrm>
                <a:off x="695373" y="1516144"/>
                <a:ext cx="3961571" cy="2677656"/>
              </a:xfrm>
              <a:prstGeom prst="rect">
                <a:avLst/>
              </a:prstGeom>
              <a:blipFill>
                <a:blip r:embed="rId5"/>
                <a:stretch>
                  <a:fillRect l="-1917" t="-1887" r="-319" b="-3774"/>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297E2405-64C5-654D-A44D-295B5F59B63F}"/>
              </a:ext>
            </a:extLst>
          </p:cNvPr>
          <p:cNvPicPr>
            <a:picLocks noChangeAspect="1"/>
          </p:cNvPicPr>
          <p:nvPr/>
        </p:nvPicPr>
        <p:blipFill>
          <a:blip r:embed="rId6" cstate="screen">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4734618" y="2870715"/>
            <a:ext cx="2911255" cy="2911255"/>
          </a:xfrm>
          <a:prstGeom prst="rect">
            <a:avLst/>
          </a:prstGeom>
        </p:spPr>
      </p:pic>
      <p:pic>
        <p:nvPicPr>
          <p:cNvPr id="11" name="Picture 10">
            <a:extLst>
              <a:ext uri="{FF2B5EF4-FFF2-40B4-BE49-F238E27FC236}">
                <a16:creationId xmlns:a16="http://schemas.microsoft.com/office/drawing/2014/main" id="{448719D6-627D-954E-8C66-93BCE69EB82F}"/>
              </a:ext>
            </a:extLst>
          </p:cNvPr>
          <p:cNvPicPr>
            <a:picLocks noChangeAspect="1"/>
          </p:cNvPicPr>
          <p:nvPr/>
        </p:nvPicPr>
        <p:blipFill>
          <a:blip r:embed="rId6" cstate="screen">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7031587" y="2870362"/>
            <a:ext cx="2911255" cy="2911255"/>
          </a:xfrm>
          <a:prstGeom prst="rect">
            <a:avLst/>
          </a:prstGeom>
        </p:spPr>
      </p:pic>
      <p:pic>
        <p:nvPicPr>
          <p:cNvPr id="12" name="Picture 11">
            <a:extLst>
              <a:ext uri="{FF2B5EF4-FFF2-40B4-BE49-F238E27FC236}">
                <a16:creationId xmlns:a16="http://schemas.microsoft.com/office/drawing/2014/main" id="{3A196416-FCBF-A349-9B51-3AD1E91B870D}"/>
              </a:ext>
            </a:extLst>
          </p:cNvPr>
          <p:cNvPicPr>
            <a:picLocks noChangeAspect="1"/>
          </p:cNvPicPr>
          <p:nvPr/>
        </p:nvPicPr>
        <p:blipFill>
          <a:blip r:embed="rId6" cstate="screen">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9328555" y="2870363"/>
            <a:ext cx="2911255" cy="2911255"/>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378684B-343D-6341-9F65-99D32FE76DD8}"/>
                  </a:ext>
                </a:extLst>
              </p:cNvPr>
              <p:cNvSpPr txBox="1"/>
              <p:nvPr/>
            </p:nvSpPr>
            <p:spPr>
              <a:xfrm>
                <a:off x="5829648" y="5644985"/>
                <a:ext cx="5491440" cy="584775"/>
              </a:xfrm>
              <a:prstGeom prst="rect">
                <a:avLst/>
              </a:prstGeom>
              <a:noFill/>
            </p:spPr>
            <p:txBody>
              <a:bodyPr wrap="none" rtlCol="0">
                <a:spAutoFit/>
              </a:bodyPr>
              <a:lstStyle/>
              <a:p>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1</m:t>
                        </m:r>
                      </m:sub>
                    </m:sSub>
                  </m:oMath>
                </a14:m>
                <a:r>
                  <a:rPr lang="en-US" sz="3200" dirty="0"/>
                  <a:t>?	     x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2</m:t>
                        </m:r>
                      </m:sub>
                    </m:sSub>
                  </m:oMath>
                </a14:m>
                <a:r>
                  <a:rPr lang="en-US" sz="3200" dirty="0"/>
                  <a:t>?	x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3</m:t>
                        </m:r>
                      </m:sub>
                    </m:sSub>
                  </m:oMath>
                </a14:m>
                <a:r>
                  <a:rPr lang="en-US" sz="3200" dirty="0"/>
                  <a:t>?</a:t>
                </a:r>
              </a:p>
            </p:txBody>
          </p:sp>
        </mc:Choice>
        <mc:Fallback xmlns="">
          <p:sp>
            <p:nvSpPr>
              <p:cNvPr id="13" name="TextBox 12">
                <a:extLst>
                  <a:ext uri="{FF2B5EF4-FFF2-40B4-BE49-F238E27FC236}">
                    <a16:creationId xmlns:a16="http://schemas.microsoft.com/office/drawing/2014/main" id="{1378684B-343D-6341-9F65-99D32FE76DD8}"/>
                  </a:ext>
                </a:extLst>
              </p:cNvPr>
              <p:cNvSpPr txBox="1">
                <a:spLocks noRot="1" noChangeAspect="1" noMove="1" noResize="1" noEditPoints="1" noAdjustHandles="1" noChangeArrowheads="1" noChangeShapeType="1" noTextEdit="1"/>
              </p:cNvSpPr>
              <p:nvPr/>
            </p:nvSpPr>
            <p:spPr>
              <a:xfrm>
                <a:off x="5829648" y="5644985"/>
                <a:ext cx="5491440" cy="584775"/>
              </a:xfrm>
              <a:prstGeom prst="rect">
                <a:avLst/>
              </a:prstGeom>
              <a:blipFill>
                <a:blip r:embed="rId7"/>
                <a:stretch>
                  <a:fillRect l="-691" t="-12766" r="-1843" b="-319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3E693D3-A580-6E45-8D83-41B1FAB7DBCB}"/>
                  </a:ext>
                </a:extLst>
              </p:cNvPr>
              <p:cNvSpPr txBox="1"/>
              <p:nvPr/>
            </p:nvSpPr>
            <p:spPr>
              <a:xfrm>
                <a:off x="5457303" y="1694113"/>
                <a:ext cx="6063070" cy="584775"/>
              </a:xfrm>
              <a:prstGeom prst="rect">
                <a:avLst/>
              </a:prstGeom>
              <a:noFill/>
            </p:spPr>
            <p:txBody>
              <a:bodyPr wrap="none" rtlCol="0">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1</m:t>
                        </m:r>
                      </m:sub>
                    </m:sSub>
                    <m:r>
                      <a:rPr lang="en-US" sz="3200" i="1">
                        <a:latin typeface="Cambria Math" panose="02040503050406030204" pitchFamily="18" charset="0"/>
                      </a:rPr>
                      <m:t>=1</m:t>
                    </m:r>
                  </m:oMath>
                </a14:m>
                <a:r>
                  <a:rPr lang="en-US" sz="3200" dirty="0"/>
                  <a: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2</m:t>
                        </m:r>
                      </m:sub>
                    </m:sSub>
                    <m:r>
                      <a:rPr lang="en-US" sz="3200" i="1">
                        <a:latin typeface="Cambria Math" panose="02040503050406030204" pitchFamily="18" charset="0"/>
                      </a:rPr>
                      <m:t>=0</m:t>
                    </m:r>
                  </m:oMath>
                </a14:m>
                <a:r>
                  <a:rPr lang="en-US" sz="3200" dirty="0"/>
                  <a: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3</m:t>
                        </m:r>
                      </m:sub>
                    </m:sSub>
                    <m:r>
                      <a:rPr lang="en-US" sz="3200" i="1">
                        <a:latin typeface="Cambria Math" panose="02040503050406030204" pitchFamily="18" charset="0"/>
                      </a:rPr>
                      <m:t>=0</m:t>
                    </m:r>
                  </m:oMath>
                </a14:m>
                <a:endParaRPr lang="en-US" sz="3200" dirty="0"/>
              </a:p>
            </p:txBody>
          </p:sp>
        </mc:Choice>
        <mc:Fallback xmlns="">
          <p:sp>
            <p:nvSpPr>
              <p:cNvPr id="14" name="TextBox 13">
                <a:extLst>
                  <a:ext uri="{FF2B5EF4-FFF2-40B4-BE49-F238E27FC236}">
                    <a16:creationId xmlns:a16="http://schemas.microsoft.com/office/drawing/2014/main" id="{83E693D3-A580-6E45-8D83-41B1FAB7DBCB}"/>
                  </a:ext>
                </a:extLst>
              </p:cNvPr>
              <p:cNvSpPr txBox="1">
                <a:spLocks noRot="1" noChangeAspect="1" noMove="1" noResize="1" noEditPoints="1" noAdjustHandles="1" noChangeArrowheads="1" noChangeShapeType="1" noTextEdit="1"/>
              </p:cNvSpPr>
              <p:nvPr/>
            </p:nvSpPr>
            <p:spPr>
              <a:xfrm>
                <a:off x="5457303" y="1694113"/>
                <a:ext cx="6063070" cy="584775"/>
              </a:xfrm>
              <a:prstGeom prst="rect">
                <a:avLst/>
              </a:prstGeom>
              <a:blipFill>
                <a:blip r:embed="rId8"/>
                <a:stretch>
                  <a:fillRect l="-835" b="-12766"/>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65780D80-3F49-4C44-B7A3-CB2DF1AD60B6}"/>
              </a:ext>
            </a:extLst>
          </p:cNvPr>
          <p:cNvSpPr txBox="1"/>
          <p:nvPr/>
        </p:nvSpPr>
        <p:spPr>
          <a:xfrm>
            <a:off x="5457304" y="2391441"/>
            <a:ext cx="6264344" cy="584775"/>
          </a:xfrm>
          <a:prstGeom prst="rect">
            <a:avLst/>
          </a:prstGeom>
          <a:noFill/>
        </p:spPr>
        <p:txBody>
          <a:bodyPr wrap="none" rtlCol="0">
            <a:spAutoFit/>
          </a:bodyPr>
          <a:lstStyle/>
          <a:p>
            <a:r>
              <a:rPr lang="en-US" sz="3200" dirty="0"/>
              <a:t> (dies)	    (survives)       (survives)</a:t>
            </a:r>
          </a:p>
        </p:txBody>
      </p:sp>
    </p:spTree>
    <p:extLst>
      <p:ext uri="{BB962C8B-B14F-4D97-AF65-F5344CB8AC3E}">
        <p14:creationId xmlns:p14="http://schemas.microsoft.com/office/powerpoint/2010/main" val="4192921862"/>
      </p:ext>
    </p:extLst>
  </p:cSld>
  <p:clrMapOvr>
    <a:masterClrMapping/>
  </p:clrMapOvr>
  <mc:AlternateContent xmlns:mc="http://schemas.openxmlformats.org/markup-compatibility/2006" xmlns:p14="http://schemas.microsoft.com/office/powerpoint/2010/main">
    <mc:Choice Requires="p14">
      <p:transition spd="slow" p14:dur="2000" advTm="81187"/>
    </mc:Choice>
    <mc:Fallback xmlns="">
      <p:transition spd="slow" advTm="81187"/>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39B2B-E09C-2C4A-870E-206E8614A18B}"/>
              </a:ext>
            </a:extLst>
          </p:cNvPr>
          <p:cNvSpPr>
            <a:spLocks noGrp="1"/>
          </p:cNvSpPr>
          <p:nvPr>
            <p:ph type="title"/>
          </p:nvPr>
        </p:nvSpPr>
        <p:spPr>
          <a:xfrm>
            <a:off x="609600" y="278936"/>
            <a:ext cx="10972800" cy="1143000"/>
          </a:xfrm>
        </p:spPr>
        <p:txBody>
          <a:bodyPr>
            <a:noAutofit/>
          </a:bodyPr>
          <a:lstStyle/>
          <a:p>
            <a:r>
              <a:rPr lang="en-US" dirty="0"/>
              <a:t>Likelihood from first principles</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07BCCFE-77B6-9D40-BC4A-95D88FB2D07F}"/>
                  </a:ext>
                </a:extLst>
              </p:cNvPr>
              <p:cNvSpPr txBox="1"/>
              <p:nvPr/>
            </p:nvSpPr>
            <p:spPr>
              <a:xfrm>
                <a:off x="695373" y="1516145"/>
                <a:ext cx="3961571" cy="4524315"/>
              </a:xfrm>
              <a:prstGeom prst="rect">
                <a:avLst/>
              </a:prstGeom>
              <a:noFill/>
            </p:spPr>
            <p:txBody>
              <a:bodyPr wrap="square" rtlCol="0">
                <a:spAutoFit/>
              </a:bodyPr>
              <a:lstStyle/>
              <a:p>
                <a:pPr marL="380990" indent="-380990">
                  <a:buFont typeface="Arial" panose="020B0604020202020204" pitchFamily="34" charset="0"/>
                  <a:buChar char="•"/>
                </a:pPr>
                <a:r>
                  <a:rPr lang="en-US" sz="2400" dirty="0"/>
                  <a:t>Suppose we predict:</a:t>
                </a:r>
              </a:p>
              <a:p>
                <a:pPr marL="990530" lvl="1" indent="-380990">
                  <a:buFont typeface="Arial" panose="020B0604020202020204" pitchFamily="34" charset="0"/>
                  <a:buChar char="•"/>
                </a:pP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𝑝</m:t>
                        </m:r>
                      </m:e>
                      <m:sub>
                        <m:r>
                          <a:rPr lang="en-US" sz="2400" i="1" dirty="0">
                            <a:latin typeface="Cambria Math" panose="02040503050406030204" pitchFamily="18" charset="0"/>
                          </a:rPr>
                          <m:t>1</m:t>
                        </m:r>
                      </m:sub>
                    </m:sSub>
                    <m:r>
                      <a:rPr lang="en-US" sz="2400" i="1" dirty="0">
                        <a:latin typeface="Cambria Math" panose="02040503050406030204" pitchFamily="18" charset="0"/>
                      </a:rPr>
                      <m:t>=.8</m:t>
                    </m:r>
                  </m:oMath>
                </a14:m>
                <a:endParaRPr lang="en-US" sz="2400" i="1" dirty="0">
                  <a:latin typeface="Cambria Math" panose="02040503050406030204" pitchFamily="18" charset="0"/>
                </a:endParaRPr>
              </a:p>
              <a:p>
                <a:pPr marL="990530" lvl="1" indent="-380990">
                  <a:buFont typeface="Arial" panose="020B0604020202020204" pitchFamily="34" charset="0"/>
                  <a:buChar char="•"/>
                </a:pP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𝑝</m:t>
                        </m:r>
                      </m:e>
                      <m:sub>
                        <m:r>
                          <a:rPr lang="en-US" sz="2400" i="1" dirty="0">
                            <a:latin typeface="Cambria Math" panose="02040503050406030204" pitchFamily="18" charset="0"/>
                          </a:rPr>
                          <m:t>2</m:t>
                        </m:r>
                      </m:sub>
                    </m:sSub>
                    <m:r>
                      <a:rPr lang="en-US" sz="2400" i="1" dirty="0">
                        <a:latin typeface="Cambria Math" panose="02040503050406030204" pitchFamily="18" charset="0"/>
                      </a:rPr>
                      <m:t>=.3</m:t>
                    </m:r>
                  </m:oMath>
                </a14:m>
                <a:endParaRPr lang="en-US" sz="2400" i="1" dirty="0">
                  <a:latin typeface="Cambria Math" panose="02040503050406030204" pitchFamily="18" charset="0"/>
                </a:endParaRPr>
              </a:p>
              <a:p>
                <a:pPr marL="990530" lvl="1" indent="-380990">
                  <a:buFont typeface="Arial" panose="020B0604020202020204" pitchFamily="34" charset="0"/>
                  <a:buChar char="•"/>
                </a:pP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𝑝</m:t>
                        </m:r>
                      </m:e>
                      <m:sub>
                        <m:r>
                          <a:rPr lang="en-US" sz="2400" i="1" dirty="0">
                            <a:latin typeface="Cambria Math" panose="02040503050406030204" pitchFamily="18" charset="0"/>
                          </a:rPr>
                          <m:t>3</m:t>
                        </m:r>
                      </m:sub>
                    </m:sSub>
                    <m:r>
                      <a:rPr lang="en-US" sz="2400" i="1" dirty="0">
                        <a:latin typeface="Cambria Math" panose="02040503050406030204" pitchFamily="18" charset="0"/>
                      </a:rPr>
                      <m:t>=.1</m:t>
                    </m:r>
                  </m:oMath>
                </a14:m>
                <a:endParaRPr lang="en-US" sz="2400" dirty="0"/>
              </a:p>
              <a:p>
                <a:pPr marL="380990" indent="-380990">
                  <a:buFont typeface="Arial" panose="020B0604020202020204" pitchFamily="34" charset="0"/>
                  <a:buChar char="•"/>
                </a:pPr>
                <a:endParaRPr lang="en-US" sz="2400" dirty="0"/>
              </a:p>
              <a:p>
                <a:pPr marL="380990" indent="-380990">
                  <a:buFont typeface="Arial" panose="020B0604020202020204" pitchFamily="34" charset="0"/>
                  <a:buChar char="•"/>
                </a:pPr>
                <a:r>
                  <a:rPr lang="en-US" sz="2400" dirty="0"/>
                  <a:t>What is the probability of the observed outcomes?</a:t>
                </a:r>
              </a:p>
              <a:p>
                <a:pPr marL="380990" indent="-380990">
                  <a:buFont typeface="Arial" panose="020B0604020202020204" pitchFamily="34" charset="0"/>
                  <a:buChar char="•"/>
                </a:pPr>
                <a:endParaRPr lang="en-US" sz="2400" dirty="0"/>
              </a:p>
              <a:p>
                <a:pPr marL="380990" indent="-380990">
                  <a:buFont typeface="Arial" panose="020B0604020202020204" pitchFamily="34" charset="0"/>
                  <a:buChar char="•"/>
                </a:pPr>
                <a:r>
                  <a:rPr lang="en-US" sz="2400" dirty="0"/>
                  <a:t>This is called the likelihood. We want to find parameters that maximize it.</a:t>
                </a:r>
              </a:p>
            </p:txBody>
          </p:sp>
        </mc:Choice>
        <mc:Fallback xmlns="">
          <p:sp>
            <p:nvSpPr>
              <p:cNvPr id="33" name="TextBox 32">
                <a:extLst>
                  <a:ext uri="{FF2B5EF4-FFF2-40B4-BE49-F238E27FC236}">
                    <a16:creationId xmlns:a16="http://schemas.microsoft.com/office/drawing/2014/main" id="{707BCCFE-77B6-9D40-BC4A-95D88FB2D07F}"/>
                  </a:ext>
                </a:extLst>
              </p:cNvPr>
              <p:cNvSpPr txBox="1">
                <a:spLocks noRot="1" noChangeAspect="1" noMove="1" noResize="1" noEditPoints="1" noAdjustHandles="1" noChangeArrowheads="1" noChangeShapeType="1" noTextEdit="1"/>
              </p:cNvSpPr>
              <p:nvPr/>
            </p:nvSpPr>
            <p:spPr>
              <a:xfrm>
                <a:off x="695373" y="1516145"/>
                <a:ext cx="3961571" cy="4524315"/>
              </a:xfrm>
              <a:prstGeom prst="rect">
                <a:avLst/>
              </a:prstGeom>
              <a:blipFill>
                <a:blip r:embed="rId5"/>
                <a:stretch>
                  <a:fillRect l="-1917" t="-1120" r="-3514" b="-1961"/>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0120BB9C-B9AB-6C4A-AF5D-CA7577237C6E}"/>
              </a:ext>
            </a:extLst>
          </p:cNvPr>
          <p:cNvPicPr>
            <a:picLocks noChangeAspect="1"/>
          </p:cNvPicPr>
          <p:nvPr/>
        </p:nvPicPr>
        <p:blipFill>
          <a:blip r:embed="rId6" cstate="screen">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4734618" y="2870715"/>
            <a:ext cx="2911255" cy="2911255"/>
          </a:xfrm>
          <a:prstGeom prst="rect">
            <a:avLst/>
          </a:prstGeom>
        </p:spPr>
      </p:pic>
      <p:pic>
        <p:nvPicPr>
          <p:cNvPr id="11" name="Picture 10">
            <a:extLst>
              <a:ext uri="{FF2B5EF4-FFF2-40B4-BE49-F238E27FC236}">
                <a16:creationId xmlns:a16="http://schemas.microsoft.com/office/drawing/2014/main" id="{D57EF6B8-0F6C-F946-BE54-D72F2D791C1F}"/>
              </a:ext>
            </a:extLst>
          </p:cNvPr>
          <p:cNvPicPr>
            <a:picLocks noChangeAspect="1"/>
          </p:cNvPicPr>
          <p:nvPr/>
        </p:nvPicPr>
        <p:blipFill>
          <a:blip r:embed="rId6" cstate="screen">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7031587" y="2870362"/>
            <a:ext cx="2911255" cy="2911255"/>
          </a:xfrm>
          <a:prstGeom prst="rect">
            <a:avLst/>
          </a:prstGeom>
        </p:spPr>
      </p:pic>
      <p:pic>
        <p:nvPicPr>
          <p:cNvPr id="12" name="Picture 11">
            <a:extLst>
              <a:ext uri="{FF2B5EF4-FFF2-40B4-BE49-F238E27FC236}">
                <a16:creationId xmlns:a16="http://schemas.microsoft.com/office/drawing/2014/main" id="{D51CBBE1-ECFE-3449-AE64-C5A498849E23}"/>
              </a:ext>
            </a:extLst>
          </p:cNvPr>
          <p:cNvPicPr>
            <a:picLocks noChangeAspect="1"/>
          </p:cNvPicPr>
          <p:nvPr/>
        </p:nvPicPr>
        <p:blipFill>
          <a:blip r:embed="rId6" cstate="screen">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9328555" y="2870363"/>
            <a:ext cx="2911255" cy="2911255"/>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E59FD43-C853-D94F-92A6-2E57EFE41E5D}"/>
                  </a:ext>
                </a:extLst>
              </p:cNvPr>
              <p:cNvSpPr txBox="1"/>
              <p:nvPr/>
            </p:nvSpPr>
            <p:spPr>
              <a:xfrm>
                <a:off x="5829648" y="5644985"/>
                <a:ext cx="5491440" cy="584775"/>
              </a:xfrm>
              <a:prstGeom prst="rect">
                <a:avLst/>
              </a:prstGeom>
              <a:noFill/>
            </p:spPr>
            <p:txBody>
              <a:bodyPr wrap="none" rtlCol="0">
                <a:spAutoFit/>
              </a:bodyPr>
              <a:lstStyle/>
              <a:p>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1</m:t>
                        </m:r>
                      </m:sub>
                    </m:sSub>
                  </m:oMath>
                </a14:m>
                <a:r>
                  <a:rPr lang="en-US" sz="3200" dirty="0"/>
                  <a:t>?	     x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2</m:t>
                        </m:r>
                      </m:sub>
                    </m:sSub>
                  </m:oMath>
                </a14:m>
                <a:r>
                  <a:rPr lang="en-US" sz="3200" dirty="0"/>
                  <a:t>?	x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3</m:t>
                        </m:r>
                      </m:sub>
                    </m:sSub>
                  </m:oMath>
                </a14:m>
                <a:r>
                  <a:rPr lang="en-US" sz="3200" dirty="0"/>
                  <a:t>?</a:t>
                </a:r>
              </a:p>
            </p:txBody>
          </p:sp>
        </mc:Choice>
        <mc:Fallback xmlns="">
          <p:sp>
            <p:nvSpPr>
              <p:cNvPr id="13" name="TextBox 12">
                <a:extLst>
                  <a:ext uri="{FF2B5EF4-FFF2-40B4-BE49-F238E27FC236}">
                    <a16:creationId xmlns:a16="http://schemas.microsoft.com/office/drawing/2014/main" id="{5E59FD43-C853-D94F-92A6-2E57EFE41E5D}"/>
                  </a:ext>
                </a:extLst>
              </p:cNvPr>
              <p:cNvSpPr txBox="1">
                <a:spLocks noRot="1" noChangeAspect="1" noMove="1" noResize="1" noEditPoints="1" noAdjustHandles="1" noChangeArrowheads="1" noChangeShapeType="1" noTextEdit="1"/>
              </p:cNvSpPr>
              <p:nvPr/>
            </p:nvSpPr>
            <p:spPr>
              <a:xfrm>
                <a:off x="5829648" y="5644985"/>
                <a:ext cx="5491440" cy="584775"/>
              </a:xfrm>
              <a:prstGeom prst="rect">
                <a:avLst/>
              </a:prstGeom>
              <a:blipFill>
                <a:blip r:embed="rId7"/>
                <a:stretch>
                  <a:fillRect l="-691" t="-12766" r="-1843" b="-319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75C7A4C-9877-434F-9D5B-AE42C7DC0924}"/>
                  </a:ext>
                </a:extLst>
              </p:cNvPr>
              <p:cNvSpPr txBox="1"/>
              <p:nvPr/>
            </p:nvSpPr>
            <p:spPr>
              <a:xfrm>
                <a:off x="5457303" y="1694113"/>
                <a:ext cx="6063070" cy="584775"/>
              </a:xfrm>
              <a:prstGeom prst="rect">
                <a:avLst/>
              </a:prstGeom>
              <a:noFill/>
            </p:spPr>
            <p:txBody>
              <a:bodyPr wrap="none" rtlCol="0">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1</m:t>
                        </m:r>
                      </m:sub>
                    </m:sSub>
                    <m:r>
                      <a:rPr lang="en-US" sz="3200" i="1">
                        <a:latin typeface="Cambria Math" panose="02040503050406030204" pitchFamily="18" charset="0"/>
                      </a:rPr>
                      <m:t>=1</m:t>
                    </m:r>
                  </m:oMath>
                </a14:m>
                <a:r>
                  <a:rPr lang="en-US" sz="3200" dirty="0"/>
                  <a: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2</m:t>
                        </m:r>
                      </m:sub>
                    </m:sSub>
                    <m:r>
                      <a:rPr lang="en-US" sz="3200" i="1">
                        <a:latin typeface="Cambria Math" panose="02040503050406030204" pitchFamily="18" charset="0"/>
                      </a:rPr>
                      <m:t>=0</m:t>
                    </m:r>
                  </m:oMath>
                </a14:m>
                <a:r>
                  <a:rPr lang="en-US" sz="3200" dirty="0"/>
                  <a: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3</m:t>
                        </m:r>
                      </m:sub>
                    </m:sSub>
                    <m:r>
                      <a:rPr lang="en-US" sz="3200" i="1">
                        <a:latin typeface="Cambria Math" panose="02040503050406030204" pitchFamily="18" charset="0"/>
                      </a:rPr>
                      <m:t>=0</m:t>
                    </m:r>
                  </m:oMath>
                </a14:m>
                <a:endParaRPr lang="en-US" sz="3200" dirty="0"/>
              </a:p>
            </p:txBody>
          </p:sp>
        </mc:Choice>
        <mc:Fallback xmlns="">
          <p:sp>
            <p:nvSpPr>
              <p:cNvPr id="14" name="TextBox 13">
                <a:extLst>
                  <a:ext uri="{FF2B5EF4-FFF2-40B4-BE49-F238E27FC236}">
                    <a16:creationId xmlns:a16="http://schemas.microsoft.com/office/drawing/2014/main" id="{A75C7A4C-9877-434F-9D5B-AE42C7DC0924}"/>
                  </a:ext>
                </a:extLst>
              </p:cNvPr>
              <p:cNvSpPr txBox="1">
                <a:spLocks noRot="1" noChangeAspect="1" noMove="1" noResize="1" noEditPoints="1" noAdjustHandles="1" noChangeArrowheads="1" noChangeShapeType="1" noTextEdit="1"/>
              </p:cNvSpPr>
              <p:nvPr/>
            </p:nvSpPr>
            <p:spPr>
              <a:xfrm>
                <a:off x="5457303" y="1694113"/>
                <a:ext cx="6063070" cy="584775"/>
              </a:xfrm>
              <a:prstGeom prst="rect">
                <a:avLst/>
              </a:prstGeom>
              <a:blipFill>
                <a:blip r:embed="rId8"/>
                <a:stretch>
                  <a:fillRect l="-835" b="-12766"/>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8539C1EC-778D-804E-B0CD-45CCBA1C0667}"/>
              </a:ext>
            </a:extLst>
          </p:cNvPr>
          <p:cNvSpPr txBox="1"/>
          <p:nvPr/>
        </p:nvSpPr>
        <p:spPr>
          <a:xfrm>
            <a:off x="5457304" y="2391441"/>
            <a:ext cx="6264344" cy="584775"/>
          </a:xfrm>
          <a:prstGeom prst="rect">
            <a:avLst/>
          </a:prstGeom>
          <a:noFill/>
        </p:spPr>
        <p:txBody>
          <a:bodyPr wrap="none" rtlCol="0">
            <a:spAutoFit/>
          </a:bodyPr>
          <a:lstStyle/>
          <a:p>
            <a:r>
              <a:rPr lang="en-US" sz="3200" dirty="0"/>
              <a:t> (dies)	    (survives)       (survives)</a:t>
            </a:r>
          </a:p>
        </p:txBody>
      </p:sp>
    </p:spTree>
    <p:extLst>
      <p:ext uri="{BB962C8B-B14F-4D97-AF65-F5344CB8AC3E}">
        <p14:creationId xmlns:p14="http://schemas.microsoft.com/office/powerpoint/2010/main" val="3619063599"/>
      </p:ext>
    </p:extLst>
  </p:cSld>
  <p:clrMapOvr>
    <a:masterClrMapping/>
  </p:clrMapOvr>
  <mc:AlternateContent xmlns:mc="http://schemas.openxmlformats.org/markup-compatibility/2006" xmlns:p14="http://schemas.microsoft.com/office/powerpoint/2010/main">
    <mc:Choice Requires="p14">
      <p:transition spd="slow" p14:dur="2000" advTm="65327"/>
    </mc:Choice>
    <mc:Fallback xmlns="">
      <p:transition spd="slow" advTm="65327"/>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39B2B-E09C-2C4A-870E-206E8614A18B}"/>
              </a:ext>
            </a:extLst>
          </p:cNvPr>
          <p:cNvSpPr>
            <a:spLocks noGrp="1"/>
          </p:cNvSpPr>
          <p:nvPr>
            <p:ph type="title"/>
          </p:nvPr>
        </p:nvSpPr>
        <p:spPr>
          <a:xfrm>
            <a:off x="609600" y="278936"/>
            <a:ext cx="10972800" cy="1143000"/>
          </a:xfrm>
        </p:spPr>
        <p:txBody>
          <a:bodyPr>
            <a:noAutofit/>
          </a:bodyPr>
          <a:lstStyle/>
          <a:p>
            <a:r>
              <a:rPr lang="en-US" dirty="0"/>
              <a:t>Likelihood from first principles</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07BCCFE-77B6-9D40-BC4A-95D88FB2D07F}"/>
                  </a:ext>
                </a:extLst>
              </p:cNvPr>
              <p:cNvSpPr txBox="1"/>
              <p:nvPr/>
            </p:nvSpPr>
            <p:spPr>
              <a:xfrm>
                <a:off x="695373" y="1516145"/>
                <a:ext cx="3961571" cy="4524315"/>
              </a:xfrm>
              <a:prstGeom prst="rect">
                <a:avLst/>
              </a:prstGeom>
              <a:noFill/>
            </p:spPr>
            <p:txBody>
              <a:bodyPr wrap="square" rtlCol="0">
                <a:spAutoFit/>
              </a:bodyPr>
              <a:lstStyle/>
              <a:p>
                <a:pPr marL="380990" indent="-380990">
                  <a:buFont typeface="Arial" panose="020B0604020202020204" pitchFamily="34" charset="0"/>
                  <a:buChar char="•"/>
                </a:pPr>
                <a:r>
                  <a:rPr lang="en-US" sz="2400" dirty="0"/>
                  <a:t>Suppose we predict:</a:t>
                </a:r>
              </a:p>
              <a:p>
                <a:pPr marL="990530" lvl="1" indent="-380990">
                  <a:buFont typeface="Arial" panose="020B0604020202020204" pitchFamily="34" charset="0"/>
                  <a:buChar char="•"/>
                </a:pP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𝑝</m:t>
                        </m:r>
                      </m:e>
                      <m:sub>
                        <m:r>
                          <a:rPr lang="en-US" sz="2400" i="1" dirty="0">
                            <a:latin typeface="Cambria Math" panose="02040503050406030204" pitchFamily="18" charset="0"/>
                          </a:rPr>
                          <m:t>1</m:t>
                        </m:r>
                      </m:sub>
                    </m:sSub>
                    <m:r>
                      <a:rPr lang="en-US" sz="2400" i="1" dirty="0">
                        <a:latin typeface="Cambria Math" panose="02040503050406030204" pitchFamily="18" charset="0"/>
                      </a:rPr>
                      <m:t>=.8</m:t>
                    </m:r>
                  </m:oMath>
                </a14:m>
                <a:endParaRPr lang="en-US" sz="2400" i="1" dirty="0">
                  <a:latin typeface="Cambria Math" panose="02040503050406030204" pitchFamily="18" charset="0"/>
                </a:endParaRPr>
              </a:p>
              <a:p>
                <a:pPr marL="990530" lvl="1" indent="-380990">
                  <a:buFont typeface="Arial" panose="020B0604020202020204" pitchFamily="34" charset="0"/>
                  <a:buChar char="•"/>
                </a:pP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𝑝</m:t>
                        </m:r>
                      </m:e>
                      <m:sub>
                        <m:r>
                          <a:rPr lang="en-US" sz="2400" i="1" dirty="0">
                            <a:latin typeface="Cambria Math" panose="02040503050406030204" pitchFamily="18" charset="0"/>
                          </a:rPr>
                          <m:t>2</m:t>
                        </m:r>
                      </m:sub>
                    </m:sSub>
                    <m:r>
                      <a:rPr lang="en-US" sz="2400" i="1" dirty="0">
                        <a:latin typeface="Cambria Math" panose="02040503050406030204" pitchFamily="18" charset="0"/>
                      </a:rPr>
                      <m:t>=.3</m:t>
                    </m:r>
                  </m:oMath>
                </a14:m>
                <a:endParaRPr lang="en-US" sz="2400" i="1" dirty="0">
                  <a:latin typeface="Cambria Math" panose="02040503050406030204" pitchFamily="18" charset="0"/>
                </a:endParaRPr>
              </a:p>
              <a:p>
                <a:pPr marL="990530" lvl="1" indent="-380990">
                  <a:buFont typeface="Arial" panose="020B0604020202020204" pitchFamily="34" charset="0"/>
                  <a:buChar char="•"/>
                </a:pP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𝑝</m:t>
                        </m:r>
                      </m:e>
                      <m:sub>
                        <m:r>
                          <a:rPr lang="en-US" sz="2400" i="1" dirty="0">
                            <a:latin typeface="Cambria Math" panose="02040503050406030204" pitchFamily="18" charset="0"/>
                          </a:rPr>
                          <m:t>3</m:t>
                        </m:r>
                      </m:sub>
                    </m:sSub>
                    <m:r>
                      <a:rPr lang="en-US" sz="2400" i="1" dirty="0">
                        <a:latin typeface="Cambria Math" panose="02040503050406030204" pitchFamily="18" charset="0"/>
                      </a:rPr>
                      <m:t>=.1</m:t>
                    </m:r>
                  </m:oMath>
                </a14:m>
                <a:endParaRPr lang="en-US" sz="2400" dirty="0"/>
              </a:p>
              <a:p>
                <a:pPr marL="380990" indent="-380990">
                  <a:buFont typeface="Arial" panose="020B0604020202020204" pitchFamily="34" charset="0"/>
                  <a:buChar char="•"/>
                </a:pPr>
                <a:endParaRPr lang="en-US" sz="2400" dirty="0"/>
              </a:p>
              <a:p>
                <a:pPr marL="380990" indent="-380990">
                  <a:buFont typeface="Arial" panose="020B0604020202020204" pitchFamily="34" charset="0"/>
                  <a:buChar char="•"/>
                </a:pPr>
                <a:r>
                  <a:rPr lang="en-US" sz="2400" dirty="0"/>
                  <a:t>Is this a good model? Why or why not?</a:t>
                </a:r>
              </a:p>
              <a:p>
                <a:pPr marL="380990" indent="-380990">
                  <a:buFont typeface="Arial" panose="020B0604020202020204" pitchFamily="34" charset="0"/>
                  <a:buChar char="•"/>
                </a:pPr>
                <a:endParaRPr lang="en-US" sz="2400" dirty="0"/>
              </a:p>
              <a:p>
                <a:pPr marL="380990" indent="-380990">
                  <a:buFont typeface="Arial" panose="020B0604020202020204" pitchFamily="34" charset="0"/>
                  <a:buChar char="•"/>
                </a:pPr>
                <a:r>
                  <a:rPr lang="en-US" sz="2400" dirty="0"/>
                  <a:t>Our parameters affect </a:t>
                </a:r>
                <a:r>
                  <a:rPr lang="en-US" sz="2400" i="1" dirty="0"/>
                  <a:t>all</a:t>
                </a:r>
                <a:r>
                  <a:rPr lang="en-US" sz="2400" dirty="0"/>
                  <a:t> the predictions: changing a parameter to </a:t>
                </a:r>
                <a:r>
                  <a:rPr lang="en-US" sz="2400" i="1" dirty="0"/>
                  <a:t>decrease</a:t>
                </a:r>
                <a:r>
                  <a:rPr lang="en-US" sz="2400" dirty="0"/>
                  <a:t>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2</m:t>
                        </m:r>
                      </m:sub>
                    </m:sSub>
                  </m:oMath>
                </a14:m>
                <a:r>
                  <a:rPr lang="en-US" sz="2400" dirty="0"/>
                  <a:t> may also </a:t>
                </a:r>
                <a:r>
                  <a:rPr lang="en-US" sz="2400" i="1" dirty="0"/>
                  <a:t>increase</a:t>
                </a:r>
                <a:r>
                  <a:rPr lang="en-US" sz="2400" dirty="0"/>
                  <a:t>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3</m:t>
                        </m:r>
                      </m:sub>
                    </m:sSub>
                  </m:oMath>
                </a14:m>
                <a:endParaRPr lang="en-US" sz="2400" dirty="0"/>
              </a:p>
            </p:txBody>
          </p:sp>
        </mc:Choice>
        <mc:Fallback xmlns="">
          <p:sp>
            <p:nvSpPr>
              <p:cNvPr id="33" name="TextBox 32">
                <a:extLst>
                  <a:ext uri="{FF2B5EF4-FFF2-40B4-BE49-F238E27FC236}">
                    <a16:creationId xmlns:a16="http://schemas.microsoft.com/office/drawing/2014/main" id="{707BCCFE-77B6-9D40-BC4A-95D88FB2D07F}"/>
                  </a:ext>
                </a:extLst>
              </p:cNvPr>
              <p:cNvSpPr txBox="1">
                <a:spLocks noRot="1" noChangeAspect="1" noMove="1" noResize="1" noEditPoints="1" noAdjustHandles="1" noChangeArrowheads="1" noChangeShapeType="1" noTextEdit="1"/>
              </p:cNvSpPr>
              <p:nvPr/>
            </p:nvSpPr>
            <p:spPr>
              <a:xfrm>
                <a:off x="695373" y="1516145"/>
                <a:ext cx="3961571" cy="4524315"/>
              </a:xfrm>
              <a:prstGeom prst="rect">
                <a:avLst/>
              </a:prstGeom>
              <a:blipFill>
                <a:blip r:embed="rId5"/>
                <a:stretch>
                  <a:fillRect l="-1917" t="-1120" r="-2875" b="-1961"/>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61498FEB-1C0E-5C41-8E4E-712196555F82}"/>
              </a:ext>
            </a:extLst>
          </p:cNvPr>
          <p:cNvPicPr>
            <a:picLocks noChangeAspect="1"/>
          </p:cNvPicPr>
          <p:nvPr/>
        </p:nvPicPr>
        <p:blipFill>
          <a:blip r:embed="rId6" cstate="screen">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4734618" y="2870715"/>
            <a:ext cx="2911255" cy="2911255"/>
          </a:xfrm>
          <a:prstGeom prst="rect">
            <a:avLst/>
          </a:prstGeom>
        </p:spPr>
      </p:pic>
      <p:pic>
        <p:nvPicPr>
          <p:cNvPr id="11" name="Picture 10">
            <a:extLst>
              <a:ext uri="{FF2B5EF4-FFF2-40B4-BE49-F238E27FC236}">
                <a16:creationId xmlns:a16="http://schemas.microsoft.com/office/drawing/2014/main" id="{267BFBE7-AF91-0E47-91EE-31F2566D5DEA}"/>
              </a:ext>
            </a:extLst>
          </p:cNvPr>
          <p:cNvPicPr>
            <a:picLocks noChangeAspect="1"/>
          </p:cNvPicPr>
          <p:nvPr/>
        </p:nvPicPr>
        <p:blipFill>
          <a:blip r:embed="rId6" cstate="screen">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7031587" y="2870362"/>
            <a:ext cx="2911255" cy="2911255"/>
          </a:xfrm>
          <a:prstGeom prst="rect">
            <a:avLst/>
          </a:prstGeom>
        </p:spPr>
      </p:pic>
      <p:pic>
        <p:nvPicPr>
          <p:cNvPr id="12" name="Picture 11">
            <a:extLst>
              <a:ext uri="{FF2B5EF4-FFF2-40B4-BE49-F238E27FC236}">
                <a16:creationId xmlns:a16="http://schemas.microsoft.com/office/drawing/2014/main" id="{032DCBF5-2217-6C4B-94FD-5BE10D876F64}"/>
              </a:ext>
            </a:extLst>
          </p:cNvPr>
          <p:cNvPicPr>
            <a:picLocks noChangeAspect="1"/>
          </p:cNvPicPr>
          <p:nvPr/>
        </p:nvPicPr>
        <p:blipFill>
          <a:blip r:embed="rId6" cstate="screen">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9328555" y="2870363"/>
            <a:ext cx="2911255" cy="2911255"/>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DD18CFF-E020-B64A-8689-CF9F6EB148B7}"/>
                  </a:ext>
                </a:extLst>
              </p:cNvPr>
              <p:cNvSpPr txBox="1"/>
              <p:nvPr/>
            </p:nvSpPr>
            <p:spPr>
              <a:xfrm>
                <a:off x="5829648" y="5644985"/>
                <a:ext cx="5491440" cy="584775"/>
              </a:xfrm>
              <a:prstGeom prst="rect">
                <a:avLst/>
              </a:prstGeom>
              <a:noFill/>
            </p:spPr>
            <p:txBody>
              <a:bodyPr wrap="none" rtlCol="0">
                <a:spAutoFit/>
              </a:bodyPr>
              <a:lstStyle/>
              <a:p>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1</m:t>
                        </m:r>
                      </m:sub>
                    </m:sSub>
                  </m:oMath>
                </a14:m>
                <a:r>
                  <a:rPr lang="en-US" sz="3200" dirty="0"/>
                  <a:t>?	     x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2</m:t>
                        </m:r>
                      </m:sub>
                    </m:sSub>
                  </m:oMath>
                </a14:m>
                <a:r>
                  <a:rPr lang="en-US" sz="3200" dirty="0"/>
                  <a:t>?	x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3</m:t>
                        </m:r>
                      </m:sub>
                    </m:sSub>
                  </m:oMath>
                </a14:m>
                <a:r>
                  <a:rPr lang="en-US" sz="3200" dirty="0"/>
                  <a:t>?</a:t>
                </a:r>
              </a:p>
            </p:txBody>
          </p:sp>
        </mc:Choice>
        <mc:Fallback xmlns="">
          <p:sp>
            <p:nvSpPr>
              <p:cNvPr id="13" name="TextBox 12">
                <a:extLst>
                  <a:ext uri="{FF2B5EF4-FFF2-40B4-BE49-F238E27FC236}">
                    <a16:creationId xmlns:a16="http://schemas.microsoft.com/office/drawing/2014/main" id="{2DD18CFF-E020-B64A-8689-CF9F6EB148B7}"/>
                  </a:ext>
                </a:extLst>
              </p:cNvPr>
              <p:cNvSpPr txBox="1">
                <a:spLocks noRot="1" noChangeAspect="1" noMove="1" noResize="1" noEditPoints="1" noAdjustHandles="1" noChangeArrowheads="1" noChangeShapeType="1" noTextEdit="1"/>
              </p:cNvSpPr>
              <p:nvPr/>
            </p:nvSpPr>
            <p:spPr>
              <a:xfrm>
                <a:off x="5829648" y="5644985"/>
                <a:ext cx="5491440" cy="584775"/>
              </a:xfrm>
              <a:prstGeom prst="rect">
                <a:avLst/>
              </a:prstGeom>
              <a:blipFill>
                <a:blip r:embed="rId7"/>
                <a:stretch>
                  <a:fillRect l="-691" t="-12766" r="-1843" b="-319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67D4E69-9F76-684B-96D3-F550A9D9E19A}"/>
                  </a:ext>
                </a:extLst>
              </p:cNvPr>
              <p:cNvSpPr txBox="1"/>
              <p:nvPr/>
            </p:nvSpPr>
            <p:spPr>
              <a:xfrm>
                <a:off x="5457303" y="1694113"/>
                <a:ext cx="6063070" cy="584775"/>
              </a:xfrm>
              <a:prstGeom prst="rect">
                <a:avLst/>
              </a:prstGeom>
              <a:noFill/>
            </p:spPr>
            <p:txBody>
              <a:bodyPr wrap="none" rtlCol="0">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1</m:t>
                        </m:r>
                      </m:sub>
                    </m:sSub>
                    <m:r>
                      <a:rPr lang="en-US" sz="3200" i="1">
                        <a:latin typeface="Cambria Math" panose="02040503050406030204" pitchFamily="18" charset="0"/>
                      </a:rPr>
                      <m:t>=1</m:t>
                    </m:r>
                  </m:oMath>
                </a14:m>
                <a:r>
                  <a:rPr lang="en-US" sz="3200" dirty="0"/>
                  <a: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2</m:t>
                        </m:r>
                      </m:sub>
                    </m:sSub>
                    <m:r>
                      <a:rPr lang="en-US" sz="3200" i="1">
                        <a:latin typeface="Cambria Math" panose="02040503050406030204" pitchFamily="18" charset="0"/>
                      </a:rPr>
                      <m:t>=0</m:t>
                    </m:r>
                  </m:oMath>
                </a14:m>
                <a:r>
                  <a:rPr lang="en-US" sz="3200" dirty="0"/>
                  <a: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3</m:t>
                        </m:r>
                      </m:sub>
                    </m:sSub>
                    <m:r>
                      <a:rPr lang="en-US" sz="3200" i="1">
                        <a:latin typeface="Cambria Math" panose="02040503050406030204" pitchFamily="18" charset="0"/>
                      </a:rPr>
                      <m:t>=0</m:t>
                    </m:r>
                  </m:oMath>
                </a14:m>
                <a:endParaRPr lang="en-US" sz="3200" dirty="0"/>
              </a:p>
            </p:txBody>
          </p:sp>
        </mc:Choice>
        <mc:Fallback xmlns="">
          <p:sp>
            <p:nvSpPr>
              <p:cNvPr id="14" name="TextBox 13">
                <a:extLst>
                  <a:ext uri="{FF2B5EF4-FFF2-40B4-BE49-F238E27FC236}">
                    <a16:creationId xmlns:a16="http://schemas.microsoft.com/office/drawing/2014/main" id="{567D4E69-9F76-684B-96D3-F550A9D9E19A}"/>
                  </a:ext>
                </a:extLst>
              </p:cNvPr>
              <p:cNvSpPr txBox="1">
                <a:spLocks noRot="1" noChangeAspect="1" noMove="1" noResize="1" noEditPoints="1" noAdjustHandles="1" noChangeArrowheads="1" noChangeShapeType="1" noTextEdit="1"/>
              </p:cNvSpPr>
              <p:nvPr/>
            </p:nvSpPr>
            <p:spPr>
              <a:xfrm>
                <a:off x="5457303" y="1694113"/>
                <a:ext cx="6063070" cy="584775"/>
              </a:xfrm>
              <a:prstGeom prst="rect">
                <a:avLst/>
              </a:prstGeom>
              <a:blipFill>
                <a:blip r:embed="rId8"/>
                <a:stretch>
                  <a:fillRect l="-835" b="-12766"/>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C4A4D68A-1CAF-2E41-9FDF-9A0497B8AD9D}"/>
              </a:ext>
            </a:extLst>
          </p:cNvPr>
          <p:cNvSpPr txBox="1"/>
          <p:nvPr/>
        </p:nvSpPr>
        <p:spPr>
          <a:xfrm>
            <a:off x="5457304" y="2391441"/>
            <a:ext cx="6264344" cy="584775"/>
          </a:xfrm>
          <a:prstGeom prst="rect">
            <a:avLst/>
          </a:prstGeom>
          <a:noFill/>
        </p:spPr>
        <p:txBody>
          <a:bodyPr wrap="none" rtlCol="0">
            <a:spAutoFit/>
          </a:bodyPr>
          <a:lstStyle/>
          <a:p>
            <a:r>
              <a:rPr lang="en-US" sz="3200" dirty="0"/>
              <a:t> (dies)	    (survives)       (survives)</a:t>
            </a:r>
          </a:p>
        </p:txBody>
      </p:sp>
    </p:spTree>
    <p:extLst>
      <p:ext uri="{BB962C8B-B14F-4D97-AF65-F5344CB8AC3E}">
        <p14:creationId xmlns:p14="http://schemas.microsoft.com/office/powerpoint/2010/main" val="2154685926"/>
      </p:ext>
    </p:extLst>
  </p:cSld>
  <p:clrMapOvr>
    <a:masterClrMapping/>
  </p:clrMapOvr>
  <mc:AlternateContent xmlns:mc="http://schemas.openxmlformats.org/markup-compatibility/2006" xmlns:p14="http://schemas.microsoft.com/office/powerpoint/2010/main">
    <mc:Choice Requires="p14">
      <p:transition spd="slow" p14:dur="2000" advTm="36435"/>
    </mc:Choice>
    <mc:Fallback xmlns="">
      <p:transition spd="slow" advTm="36435"/>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05E9F-E819-7AC3-05E4-FF07D778D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504400-EC27-36AC-C30B-422717783A98}"/>
              </a:ext>
            </a:extLst>
          </p:cNvPr>
          <p:cNvSpPr>
            <a:spLocks noGrp="1"/>
          </p:cNvSpPr>
          <p:nvPr>
            <p:ph type="title"/>
          </p:nvPr>
        </p:nvSpPr>
        <p:spPr>
          <a:xfrm>
            <a:off x="609600" y="278936"/>
            <a:ext cx="10972800" cy="1143000"/>
          </a:xfrm>
        </p:spPr>
        <p:txBody>
          <a:bodyPr>
            <a:noAutofit/>
          </a:bodyPr>
          <a:lstStyle/>
          <a:p>
            <a:r>
              <a:rPr lang="en-US" dirty="0"/>
              <a:t>Likelihood from first principles</a:t>
            </a:r>
          </a:p>
        </p:txBody>
      </p:sp>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DC03AB87-2A82-6B82-0425-EDDA2ECC084B}"/>
                  </a:ext>
                </a:extLst>
              </p:cNvPr>
              <p:cNvSpPr txBox="1"/>
              <p:nvPr/>
            </p:nvSpPr>
            <p:spPr>
              <a:xfrm>
                <a:off x="695373" y="1516145"/>
                <a:ext cx="3961571" cy="4524315"/>
              </a:xfrm>
              <a:prstGeom prst="rect">
                <a:avLst/>
              </a:prstGeom>
              <a:noFill/>
            </p:spPr>
            <p:txBody>
              <a:bodyPr wrap="square" rtlCol="0">
                <a:spAutoFit/>
              </a:bodyPr>
              <a:lstStyle/>
              <a:p>
                <a:pPr marL="380990" indent="-380990">
                  <a:buFont typeface="Arial" panose="020B0604020202020204" pitchFamily="34" charset="0"/>
                  <a:buChar char="•"/>
                </a:pPr>
                <a:r>
                  <a:rPr lang="en-US" sz="2400" dirty="0"/>
                  <a:t>Suppose we predict:</a:t>
                </a:r>
              </a:p>
              <a:p>
                <a:pPr marL="990530" lvl="1" indent="-380990">
                  <a:buFont typeface="Arial" panose="020B0604020202020204" pitchFamily="34" charset="0"/>
                  <a:buChar char="•"/>
                </a:pP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𝑝</m:t>
                        </m:r>
                      </m:e>
                      <m:sub>
                        <m:r>
                          <a:rPr lang="en-US" sz="2400" i="1" dirty="0">
                            <a:latin typeface="Cambria Math" panose="02040503050406030204" pitchFamily="18" charset="0"/>
                          </a:rPr>
                          <m:t>1</m:t>
                        </m:r>
                      </m:sub>
                    </m:sSub>
                    <m:r>
                      <a:rPr lang="en-US" sz="2400" i="1" dirty="0">
                        <a:latin typeface="Cambria Math" panose="02040503050406030204" pitchFamily="18" charset="0"/>
                      </a:rPr>
                      <m:t>=</m:t>
                    </m:r>
                    <m:r>
                      <a:rPr lang="en-US" sz="2400" b="0" i="1" dirty="0" smtClean="0">
                        <a:latin typeface="Cambria Math" panose="02040503050406030204" pitchFamily="18" charset="0"/>
                      </a:rPr>
                      <m:t>.99</m:t>
                    </m:r>
                  </m:oMath>
                </a14:m>
                <a:endParaRPr lang="en-US" sz="2400" i="1" dirty="0">
                  <a:latin typeface="Cambria Math" panose="02040503050406030204" pitchFamily="18" charset="0"/>
                </a:endParaRPr>
              </a:p>
              <a:p>
                <a:pPr marL="990530" lvl="1" indent="-380990">
                  <a:buFont typeface="Arial" panose="020B0604020202020204" pitchFamily="34" charset="0"/>
                  <a:buChar char="•"/>
                </a:pP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𝑝</m:t>
                        </m:r>
                      </m:e>
                      <m:sub>
                        <m:r>
                          <a:rPr lang="en-US" sz="2400" i="1" dirty="0">
                            <a:latin typeface="Cambria Math" panose="02040503050406030204" pitchFamily="18" charset="0"/>
                          </a:rPr>
                          <m:t>2</m:t>
                        </m:r>
                      </m:sub>
                    </m:sSub>
                    <m:r>
                      <a:rPr lang="en-US" sz="2400" i="1" dirty="0">
                        <a:latin typeface="Cambria Math" panose="02040503050406030204" pitchFamily="18" charset="0"/>
                      </a:rPr>
                      <m:t>=.</m:t>
                    </m:r>
                    <m:r>
                      <a:rPr lang="en-US" sz="2400" b="0" i="1" dirty="0" smtClean="0">
                        <a:latin typeface="Cambria Math" panose="02040503050406030204" pitchFamily="18" charset="0"/>
                      </a:rPr>
                      <m:t>01</m:t>
                    </m:r>
                  </m:oMath>
                </a14:m>
                <a:endParaRPr lang="en-US" sz="2400" i="1" dirty="0">
                  <a:latin typeface="Cambria Math" panose="02040503050406030204" pitchFamily="18" charset="0"/>
                </a:endParaRPr>
              </a:p>
              <a:p>
                <a:pPr marL="990530" lvl="1" indent="-380990">
                  <a:buFont typeface="Arial" panose="020B0604020202020204" pitchFamily="34" charset="0"/>
                  <a:buChar char="•"/>
                </a:pP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𝑝</m:t>
                        </m:r>
                      </m:e>
                      <m:sub>
                        <m:r>
                          <a:rPr lang="en-US" sz="2400" i="1" dirty="0">
                            <a:latin typeface="Cambria Math" panose="02040503050406030204" pitchFamily="18" charset="0"/>
                          </a:rPr>
                          <m:t>3</m:t>
                        </m:r>
                      </m:sub>
                    </m:sSub>
                    <m:r>
                      <a:rPr lang="en-US" sz="2400" i="1" dirty="0">
                        <a:latin typeface="Cambria Math" panose="02040503050406030204" pitchFamily="18" charset="0"/>
                      </a:rPr>
                      <m:t>=.</m:t>
                    </m:r>
                    <m:r>
                      <a:rPr lang="en-US" sz="2400" b="0" i="1" dirty="0" smtClean="0">
                        <a:latin typeface="Cambria Math" panose="02040503050406030204" pitchFamily="18" charset="0"/>
                      </a:rPr>
                      <m:t>0</m:t>
                    </m:r>
                    <m:r>
                      <a:rPr lang="en-US" sz="2400" i="1" dirty="0">
                        <a:latin typeface="Cambria Math" panose="02040503050406030204" pitchFamily="18" charset="0"/>
                      </a:rPr>
                      <m:t>1</m:t>
                    </m:r>
                  </m:oMath>
                </a14:m>
                <a:endParaRPr lang="en-US" sz="2400" dirty="0"/>
              </a:p>
              <a:p>
                <a:pPr marL="380990" indent="-380990">
                  <a:buFont typeface="Arial" panose="020B0604020202020204" pitchFamily="34" charset="0"/>
                  <a:buChar char="•"/>
                </a:pPr>
                <a:endParaRPr lang="en-US" sz="2400" dirty="0"/>
              </a:p>
              <a:p>
                <a:pPr marL="380990" indent="-380990">
                  <a:buFont typeface="Arial" panose="020B0604020202020204" pitchFamily="34" charset="0"/>
                  <a:buChar char="•"/>
                </a:pPr>
                <a:r>
                  <a:rPr lang="en-US" sz="2400" dirty="0"/>
                  <a:t>Is this a good model? Why or why not?</a:t>
                </a:r>
              </a:p>
              <a:p>
                <a:pPr marL="380990" indent="-380990">
                  <a:buFont typeface="Arial" panose="020B0604020202020204" pitchFamily="34" charset="0"/>
                  <a:buChar char="•"/>
                </a:pPr>
                <a:endParaRPr lang="en-US" sz="2400" dirty="0"/>
              </a:p>
              <a:p>
                <a:pPr marL="380990" indent="-380990">
                  <a:buFont typeface="Arial" panose="020B0604020202020204" pitchFamily="34" charset="0"/>
                  <a:buChar char="•"/>
                </a:pPr>
                <a:r>
                  <a:rPr lang="en-US" sz="2400" dirty="0"/>
                  <a:t>Our parameters affect </a:t>
                </a:r>
                <a:r>
                  <a:rPr lang="en-US" sz="2400" i="1" dirty="0"/>
                  <a:t>all</a:t>
                </a:r>
                <a:r>
                  <a:rPr lang="en-US" sz="2400" dirty="0"/>
                  <a:t> the predictions: changing a parameter to </a:t>
                </a:r>
                <a:r>
                  <a:rPr lang="en-US" sz="2400" i="1" dirty="0"/>
                  <a:t>decrease</a:t>
                </a:r>
                <a:r>
                  <a:rPr lang="en-US" sz="2400" dirty="0"/>
                  <a:t>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2</m:t>
                        </m:r>
                      </m:sub>
                    </m:sSub>
                  </m:oMath>
                </a14:m>
                <a:r>
                  <a:rPr lang="en-US" sz="2400" dirty="0"/>
                  <a:t> may also </a:t>
                </a:r>
                <a:r>
                  <a:rPr lang="en-US" sz="2400" i="1" dirty="0"/>
                  <a:t>increase</a:t>
                </a:r>
                <a:r>
                  <a:rPr lang="en-US" sz="2400" dirty="0"/>
                  <a:t>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3</m:t>
                        </m:r>
                      </m:sub>
                    </m:sSub>
                  </m:oMath>
                </a14:m>
                <a:endParaRPr lang="en-US" sz="2400" dirty="0"/>
              </a:p>
            </p:txBody>
          </p:sp>
        </mc:Choice>
        <mc:Fallback>
          <p:sp>
            <p:nvSpPr>
              <p:cNvPr id="33" name="TextBox 32">
                <a:extLst>
                  <a:ext uri="{FF2B5EF4-FFF2-40B4-BE49-F238E27FC236}">
                    <a16:creationId xmlns:a16="http://schemas.microsoft.com/office/drawing/2014/main" id="{DC03AB87-2A82-6B82-0425-EDDA2ECC084B}"/>
                  </a:ext>
                </a:extLst>
              </p:cNvPr>
              <p:cNvSpPr txBox="1">
                <a:spLocks noRot="1" noChangeAspect="1" noMove="1" noResize="1" noEditPoints="1" noAdjustHandles="1" noChangeArrowheads="1" noChangeShapeType="1" noTextEdit="1"/>
              </p:cNvSpPr>
              <p:nvPr/>
            </p:nvSpPr>
            <p:spPr>
              <a:xfrm>
                <a:off x="695373" y="1516145"/>
                <a:ext cx="3961571" cy="4524315"/>
              </a:xfrm>
              <a:prstGeom prst="rect">
                <a:avLst/>
              </a:prstGeom>
              <a:blipFill>
                <a:blip r:embed="rId3"/>
                <a:stretch>
                  <a:fillRect l="-1917" t="-1120" r="-2236" b="-2241"/>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8FC5A56E-EDC7-8508-080B-C7028270DC8A}"/>
              </a:ext>
            </a:extLst>
          </p:cNvPr>
          <p:cNvPicPr>
            <a:picLocks noChangeAspect="1"/>
          </p:cNvPicPr>
          <p:nvPr/>
        </p:nvPicPr>
        <p:blipFill>
          <a:blip r:embed="rId4" cstate="screen">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4734618" y="2870715"/>
            <a:ext cx="2911255" cy="2911255"/>
          </a:xfrm>
          <a:prstGeom prst="rect">
            <a:avLst/>
          </a:prstGeom>
        </p:spPr>
      </p:pic>
      <p:pic>
        <p:nvPicPr>
          <p:cNvPr id="11" name="Picture 10">
            <a:extLst>
              <a:ext uri="{FF2B5EF4-FFF2-40B4-BE49-F238E27FC236}">
                <a16:creationId xmlns:a16="http://schemas.microsoft.com/office/drawing/2014/main" id="{CEC4BB18-DED9-8DF1-3DDB-2A24835B169A}"/>
              </a:ext>
            </a:extLst>
          </p:cNvPr>
          <p:cNvPicPr>
            <a:picLocks noChangeAspect="1"/>
          </p:cNvPicPr>
          <p:nvPr/>
        </p:nvPicPr>
        <p:blipFill>
          <a:blip r:embed="rId4" cstate="screen">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7031587" y="2870362"/>
            <a:ext cx="2911255" cy="2911255"/>
          </a:xfrm>
          <a:prstGeom prst="rect">
            <a:avLst/>
          </a:prstGeom>
        </p:spPr>
      </p:pic>
      <p:pic>
        <p:nvPicPr>
          <p:cNvPr id="12" name="Picture 11">
            <a:extLst>
              <a:ext uri="{FF2B5EF4-FFF2-40B4-BE49-F238E27FC236}">
                <a16:creationId xmlns:a16="http://schemas.microsoft.com/office/drawing/2014/main" id="{C4C41C32-0977-77E4-A12C-FD4AB8F66A23}"/>
              </a:ext>
            </a:extLst>
          </p:cNvPr>
          <p:cNvPicPr>
            <a:picLocks noChangeAspect="1"/>
          </p:cNvPicPr>
          <p:nvPr/>
        </p:nvPicPr>
        <p:blipFill>
          <a:blip r:embed="rId4" cstate="screen">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9328555" y="2870363"/>
            <a:ext cx="2911255" cy="2911255"/>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DB34DA4-C5C3-D772-7010-EB201AAF0499}"/>
                  </a:ext>
                </a:extLst>
              </p:cNvPr>
              <p:cNvSpPr txBox="1"/>
              <p:nvPr/>
            </p:nvSpPr>
            <p:spPr>
              <a:xfrm>
                <a:off x="5829648" y="5644985"/>
                <a:ext cx="5491440" cy="584775"/>
              </a:xfrm>
              <a:prstGeom prst="rect">
                <a:avLst/>
              </a:prstGeom>
              <a:noFill/>
            </p:spPr>
            <p:txBody>
              <a:bodyPr wrap="none" rtlCol="0">
                <a:spAutoFit/>
              </a:bodyPr>
              <a:lstStyle/>
              <a:p>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1</m:t>
                        </m:r>
                      </m:sub>
                    </m:sSub>
                  </m:oMath>
                </a14:m>
                <a:r>
                  <a:rPr lang="en-US" sz="3200" dirty="0"/>
                  <a:t>?	     x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2</m:t>
                        </m:r>
                      </m:sub>
                    </m:sSub>
                  </m:oMath>
                </a14:m>
                <a:r>
                  <a:rPr lang="en-US" sz="3200" dirty="0"/>
                  <a:t>?	x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3</m:t>
                        </m:r>
                      </m:sub>
                    </m:sSub>
                  </m:oMath>
                </a14:m>
                <a:r>
                  <a:rPr lang="en-US" sz="3200" dirty="0"/>
                  <a:t>?</a:t>
                </a:r>
              </a:p>
            </p:txBody>
          </p:sp>
        </mc:Choice>
        <mc:Fallback xmlns="">
          <p:sp>
            <p:nvSpPr>
              <p:cNvPr id="13" name="TextBox 12">
                <a:extLst>
                  <a:ext uri="{FF2B5EF4-FFF2-40B4-BE49-F238E27FC236}">
                    <a16:creationId xmlns:a16="http://schemas.microsoft.com/office/drawing/2014/main" id="{2DD18CFF-E020-B64A-8689-CF9F6EB148B7}"/>
                  </a:ext>
                </a:extLst>
              </p:cNvPr>
              <p:cNvSpPr txBox="1">
                <a:spLocks noRot="1" noChangeAspect="1" noMove="1" noResize="1" noEditPoints="1" noAdjustHandles="1" noChangeArrowheads="1" noChangeShapeType="1" noTextEdit="1"/>
              </p:cNvSpPr>
              <p:nvPr/>
            </p:nvSpPr>
            <p:spPr>
              <a:xfrm>
                <a:off x="5829648" y="5644985"/>
                <a:ext cx="5491440" cy="584775"/>
              </a:xfrm>
              <a:prstGeom prst="rect">
                <a:avLst/>
              </a:prstGeom>
              <a:blipFill>
                <a:blip r:embed="rId7"/>
                <a:stretch>
                  <a:fillRect l="-691" t="-12766" r="-1843" b="-319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1F58E8F-3CF0-2EEB-9F92-952531994BC3}"/>
                  </a:ext>
                </a:extLst>
              </p:cNvPr>
              <p:cNvSpPr txBox="1"/>
              <p:nvPr/>
            </p:nvSpPr>
            <p:spPr>
              <a:xfrm>
                <a:off x="5457303" y="1694113"/>
                <a:ext cx="6063070" cy="584775"/>
              </a:xfrm>
              <a:prstGeom prst="rect">
                <a:avLst/>
              </a:prstGeom>
              <a:noFill/>
            </p:spPr>
            <p:txBody>
              <a:bodyPr wrap="none" rtlCol="0">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1</m:t>
                        </m:r>
                      </m:sub>
                    </m:sSub>
                    <m:r>
                      <a:rPr lang="en-US" sz="3200" i="1">
                        <a:latin typeface="Cambria Math" panose="02040503050406030204" pitchFamily="18" charset="0"/>
                      </a:rPr>
                      <m:t>=1</m:t>
                    </m:r>
                  </m:oMath>
                </a14:m>
                <a:r>
                  <a:rPr lang="en-US" sz="3200" dirty="0"/>
                  <a: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2</m:t>
                        </m:r>
                      </m:sub>
                    </m:sSub>
                    <m:r>
                      <a:rPr lang="en-US" sz="3200" i="1">
                        <a:latin typeface="Cambria Math" panose="02040503050406030204" pitchFamily="18" charset="0"/>
                      </a:rPr>
                      <m:t>=0</m:t>
                    </m:r>
                  </m:oMath>
                </a14:m>
                <a:r>
                  <a:rPr lang="en-US" sz="3200" dirty="0"/>
                  <a: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𝑦</m:t>
                        </m:r>
                      </m:e>
                      <m:sub>
                        <m:r>
                          <a:rPr lang="en-US" sz="3200" i="1">
                            <a:latin typeface="Cambria Math" panose="02040503050406030204" pitchFamily="18" charset="0"/>
                          </a:rPr>
                          <m:t>3</m:t>
                        </m:r>
                      </m:sub>
                    </m:sSub>
                    <m:r>
                      <a:rPr lang="en-US" sz="3200" i="1">
                        <a:latin typeface="Cambria Math" panose="02040503050406030204" pitchFamily="18" charset="0"/>
                      </a:rPr>
                      <m:t>=0</m:t>
                    </m:r>
                  </m:oMath>
                </a14:m>
                <a:endParaRPr lang="en-US" sz="3200" dirty="0"/>
              </a:p>
            </p:txBody>
          </p:sp>
        </mc:Choice>
        <mc:Fallback xmlns="">
          <p:sp>
            <p:nvSpPr>
              <p:cNvPr id="14" name="TextBox 13">
                <a:extLst>
                  <a:ext uri="{FF2B5EF4-FFF2-40B4-BE49-F238E27FC236}">
                    <a16:creationId xmlns:a16="http://schemas.microsoft.com/office/drawing/2014/main" id="{567D4E69-9F76-684B-96D3-F550A9D9E19A}"/>
                  </a:ext>
                </a:extLst>
              </p:cNvPr>
              <p:cNvSpPr txBox="1">
                <a:spLocks noRot="1" noChangeAspect="1" noMove="1" noResize="1" noEditPoints="1" noAdjustHandles="1" noChangeArrowheads="1" noChangeShapeType="1" noTextEdit="1"/>
              </p:cNvSpPr>
              <p:nvPr/>
            </p:nvSpPr>
            <p:spPr>
              <a:xfrm>
                <a:off x="5457303" y="1694113"/>
                <a:ext cx="6063070" cy="584775"/>
              </a:xfrm>
              <a:prstGeom prst="rect">
                <a:avLst/>
              </a:prstGeom>
              <a:blipFill>
                <a:blip r:embed="rId8"/>
                <a:stretch>
                  <a:fillRect l="-835" b="-12766"/>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149B26A9-D926-B590-F286-2F273824DABE}"/>
              </a:ext>
            </a:extLst>
          </p:cNvPr>
          <p:cNvSpPr txBox="1"/>
          <p:nvPr/>
        </p:nvSpPr>
        <p:spPr>
          <a:xfrm>
            <a:off x="5457304" y="2391441"/>
            <a:ext cx="6264344" cy="584775"/>
          </a:xfrm>
          <a:prstGeom prst="rect">
            <a:avLst/>
          </a:prstGeom>
          <a:noFill/>
        </p:spPr>
        <p:txBody>
          <a:bodyPr wrap="none" rtlCol="0">
            <a:spAutoFit/>
          </a:bodyPr>
          <a:lstStyle/>
          <a:p>
            <a:r>
              <a:rPr lang="en-US" sz="3200" dirty="0"/>
              <a:t> (dies)	    (survives)       (survives)</a:t>
            </a:r>
          </a:p>
        </p:txBody>
      </p:sp>
    </p:spTree>
    <p:extLst>
      <p:ext uri="{BB962C8B-B14F-4D97-AF65-F5344CB8AC3E}">
        <p14:creationId xmlns:p14="http://schemas.microsoft.com/office/powerpoint/2010/main" val="141965487"/>
      </p:ext>
    </p:extLst>
  </p:cSld>
  <p:clrMapOvr>
    <a:masterClrMapping/>
  </p:clrMapOvr>
  <mc:AlternateContent xmlns:mc="http://schemas.openxmlformats.org/markup-compatibility/2006" xmlns:p14="http://schemas.microsoft.com/office/powerpoint/2010/main">
    <mc:Choice Requires="p14">
      <p:transition spd="slow" p14:dur="2000" advTm="36435"/>
    </mc:Choice>
    <mc:Fallback xmlns="">
      <p:transition spd="slow" advTm="36435"/>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718"/>
            <a:ext cx="12192000" cy="743871"/>
          </a:xfrm>
        </p:spPr>
        <p:txBody>
          <a:bodyPr>
            <a:noAutofit/>
          </a:bodyPr>
          <a:lstStyle/>
          <a:p>
            <a:pPr algn="ctr">
              <a:spcAft>
                <a:spcPts val="1200"/>
              </a:spcAft>
            </a:pPr>
            <a:r>
              <a:rPr lang="en-US" dirty="0"/>
              <a:t>Likelihood from first principles</a:t>
            </a:r>
            <a:endParaRPr lang="en-US" sz="2400" dirty="0"/>
          </a:p>
        </p:txBody>
      </p:sp>
      <mc:AlternateContent xmlns:mc="http://schemas.openxmlformats.org/markup-compatibility/2006">
        <mc:Choice xmlns:a14="http://schemas.microsoft.com/office/drawing/2010/main" Requires="a14">
          <p:sp>
            <p:nvSpPr>
              <p:cNvPr id="6" name="TextBox 5"/>
              <p:cNvSpPr txBox="1"/>
              <p:nvPr/>
            </p:nvSpPr>
            <p:spPr>
              <a:xfrm>
                <a:off x="6569732" y="1902689"/>
                <a:ext cx="4631666" cy="4677819"/>
              </a:xfrm>
              <a:prstGeom prst="rect">
                <a:avLst/>
              </a:prstGeom>
              <a:noFill/>
            </p:spPr>
            <p:txBody>
              <a:bodyPr wrap="square" rtlCol="0">
                <a:spAutoFit/>
              </a:bodyPr>
              <a:lstStyle/>
              <a:p>
                <a:r>
                  <a:rPr lang="en-US" sz="1600" dirty="0">
                    <a:latin typeface="Cambria Math" panose="02040503050406030204" pitchFamily="18" charset="0"/>
                  </a:rPr>
                  <a:t>The predicted probability of </a:t>
                </a:r>
                <a14:m>
                  <m:oMath xmlns:m="http://schemas.openxmlformats.org/officeDocument/2006/math">
                    <m:r>
                      <a:rPr lang="en-US" sz="1600" i="1" dirty="0">
                        <a:latin typeface="Cambria Math" panose="02040503050406030204" pitchFamily="18" charset="0"/>
                      </a:rPr>
                      <m:t>𝑦</m:t>
                    </m:r>
                    <m:r>
                      <a:rPr lang="en-US" sz="1600" i="1" baseline="-25000" dirty="0" err="1">
                        <a:latin typeface="Cambria Math" panose="02040503050406030204" pitchFamily="18" charset="0"/>
                      </a:rPr>
                      <m:t>𝑖</m:t>
                    </m:r>
                  </m:oMath>
                </a14:m>
                <a:r>
                  <a:rPr lang="en-US" sz="1600" dirty="0">
                    <a:latin typeface="Cambria Math" panose="02040503050406030204" pitchFamily="18" charset="0"/>
                  </a:rPr>
                  <a:t> is:</a:t>
                </a:r>
              </a:p>
              <a:p>
                <a:endParaRPr lang="en-US" sz="1600" dirty="0">
                  <a:latin typeface="Cambria Math" panose="02040503050406030204" pitchFamily="18" charset="0"/>
                </a:endParaRPr>
              </a:p>
              <a:p>
                <a:r>
                  <a:rPr lang="en-US" sz="1600" dirty="0"/>
                  <a:t>	       </a:t>
                </a:r>
                <a14:m>
                  <m:oMath xmlns:m="http://schemas.openxmlformats.org/officeDocument/2006/math">
                    <m:r>
                      <a:rPr lang="en-US" sz="1600" b="0" i="1" dirty="0" smtClean="0">
                        <a:latin typeface="Cambria Math" panose="02040503050406030204" pitchFamily="18" charset="0"/>
                      </a:rPr>
                      <m:t>𝜎</m:t>
                    </m:r>
                    <m:r>
                      <a:rPr lang="en-US" sz="1600" b="0" i="1" dirty="0" smtClean="0">
                        <a:latin typeface="Cambria Math" panose="02040503050406030204" pitchFamily="18" charset="0"/>
                      </a:rPr>
                      <m:t>(</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𝑧</m:t>
                        </m:r>
                      </m:e>
                      <m:sub>
                        <m:r>
                          <a:rPr lang="en-US" sz="1600" b="0" i="1" dirty="0" smtClean="0">
                            <a:latin typeface="Cambria Math" panose="02040503050406030204" pitchFamily="18" charset="0"/>
                          </a:rPr>
                          <m:t>𝑖</m:t>
                        </m:r>
                      </m:sub>
                    </m:sSub>
                    <m:r>
                      <a:rPr lang="en-US" sz="1600" b="0" i="1" dirty="0" smtClean="0">
                        <a:latin typeface="Cambria Math" panose="02040503050406030204" pitchFamily="18" charset="0"/>
                      </a:rPr>
                      <m:t>)</m:t>
                    </m:r>
                  </m:oMath>
                </a14:m>
                <a:r>
                  <a:rPr lang="en-US" sz="1600" dirty="0">
                    <a:latin typeface="Cambria Math" panose="02040503050406030204" pitchFamily="18" charset="0"/>
                  </a:rPr>
                  <a:t>	        	if   </a:t>
                </a:r>
                <a14:m>
                  <m:oMath xmlns:m="http://schemas.openxmlformats.org/officeDocument/2006/math">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𝑦</m:t>
                        </m:r>
                      </m:e>
                      <m:sub>
                        <m:r>
                          <a:rPr lang="en-US" sz="1600" b="0" i="1" dirty="0" smtClean="0">
                            <a:latin typeface="Cambria Math" panose="02040503050406030204" pitchFamily="18" charset="0"/>
                          </a:rPr>
                          <m:t>𝑖</m:t>
                        </m:r>
                      </m:sub>
                    </m:sSub>
                    <m:r>
                      <a:rPr lang="en-US" sz="1600" i="1" dirty="0">
                        <a:latin typeface="Cambria Math" panose="02040503050406030204" pitchFamily="18" charset="0"/>
                      </a:rPr>
                      <m:t>=1</m:t>
                    </m:r>
                  </m:oMath>
                </a14:m>
                <a:endParaRPr lang="en-US" sz="1600" dirty="0">
                  <a:latin typeface="Cambria Math" panose="02040503050406030204" pitchFamily="18" charset="0"/>
                </a:endParaRPr>
              </a:p>
              <a:p>
                <a:r>
                  <a:rPr lang="en-US" sz="1600" dirty="0"/>
                  <a:t>	       </a:t>
                </a:r>
                <a14:m>
                  <m:oMath xmlns:m="http://schemas.openxmlformats.org/officeDocument/2006/math">
                    <m:r>
                      <a:rPr lang="en-US" sz="1600" i="1" dirty="0">
                        <a:latin typeface="Cambria Math" panose="02040503050406030204" pitchFamily="18" charset="0"/>
                      </a:rPr>
                      <m:t>1−</m:t>
                    </m:r>
                    <m:r>
                      <a:rPr lang="en-US" sz="1600" b="0" i="1" dirty="0" smtClean="0">
                        <a:latin typeface="Cambria Math" panose="02040503050406030204" pitchFamily="18" charset="0"/>
                      </a:rPr>
                      <m:t>𝜎</m:t>
                    </m:r>
                    <m:r>
                      <a:rPr lang="en-US" sz="1600" b="0" i="1" dirty="0" smtClean="0">
                        <a:latin typeface="Cambria Math" panose="02040503050406030204" pitchFamily="18" charset="0"/>
                      </a:rPr>
                      <m:t>(</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𝑧</m:t>
                        </m:r>
                      </m:e>
                      <m:sub>
                        <m:r>
                          <a:rPr lang="en-US" sz="1600" b="0" i="1" dirty="0" smtClean="0">
                            <a:latin typeface="Cambria Math" panose="02040503050406030204" pitchFamily="18" charset="0"/>
                          </a:rPr>
                          <m:t>𝑖</m:t>
                        </m:r>
                      </m:sub>
                    </m:sSub>
                    <m:r>
                      <a:rPr lang="en-US" sz="1600" b="0" i="1" dirty="0" smtClean="0">
                        <a:latin typeface="Cambria Math" panose="02040503050406030204" pitchFamily="18" charset="0"/>
                      </a:rPr>
                      <m:t>)</m:t>
                    </m:r>
                  </m:oMath>
                </a14:m>
                <a:r>
                  <a:rPr lang="en-US" sz="1600" dirty="0">
                    <a:latin typeface="Cambria Math" panose="02040503050406030204" pitchFamily="18" charset="0"/>
                  </a:rPr>
                  <a:t>	if   </a:t>
                </a:r>
                <a14:m>
                  <m:oMath xmlns:m="http://schemas.openxmlformats.org/officeDocument/2006/math">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𝑦</m:t>
                        </m:r>
                      </m:e>
                      <m:sub>
                        <m:r>
                          <a:rPr lang="en-US" sz="1600" b="0" i="1" dirty="0" smtClean="0">
                            <a:latin typeface="Cambria Math" panose="02040503050406030204" pitchFamily="18" charset="0"/>
                          </a:rPr>
                          <m:t>𝑖</m:t>
                        </m:r>
                      </m:sub>
                    </m:sSub>
                    <m:r>
                      <a:rPr lang="en-US" sz="1600" i="1" dirty="0">
                        <a:latin typeface="Cambria Math" panose="02040503050406030204" pitchFamily="18" charset="0"/>
                      </a:rPr>
                      <m:t>=0</m:t>
                    </m:r>
                  </m:oMath>
                </a14:m>
                <a:endParaRPr lang="en-US" sz="1600" baseline="-25000" dirty="0"/>
              </a:p>
              <a:p>
                <a:endParaRPr lang="en-US" sz="1600" baseline="-25000" dirty="0"/>
              </a:p>
              <a:p>
                <a:r>
                  <a:rPr lang="en-US" sz="1600" dirty="0">
                    <a:latin typeface="Cambria Math" panose="02040503050406030204" pitchFamily="18" charset="0"/>
                  </a:rPr>
                  <a:t>Written more compactly:</a:t>
                </a:r>
              </a:p>
              <a:p>
                <a:endParaRPr lang="en-US" sz="1600" dirty="0">
                  <a:latin typeface="Cambria Math" panose="02040503050406030204" pitchFamily="18" charset="0"/>
                </a:endParaRPr>
              </a:p>
              <a:p>
                <a:r>
                  <a:rPr lang="en-US" sz="1600" dirty="0">
                    <a:latin typeface="Cambria Math" panose="02040503050406030204" pitchFamily="18" charset="0"/>
                  </a:rPr>
                  <a:t>	 </a:t>
                </a:r>
                <a14:m>
                  <m:oMath xmlns:m="http://schemas.openxmlformats.org/officeDocument/2006/math">
                    <m:r>
                      <a:rPr lang="en-US" sz="1600" b="0" i="1" dirty="0" smtClean="0">
                        <a:latin typeface="Cambria Math" panose="02040503050406030204" pitchFamily="18" charset="0"/>
                      </a:rPr>
                      <m:t>𝜎</m:t>
                    </m:r>
                    <m:sSup>
                      <m:sSupPr>
                        <m:ctrlPr>
                          <a:rPr lang="en-US" sz="1600" b="0" i="1" dirty="0" smtClean="0">
                            <a:latin typeface="Cambria Math" panose="02040503050406030204" pitchFamily="18" charset="0"/>
                          </a:rPr>
                        </m:ctrlPr>
                      </m:sSupPr>
                      <m:e>
                        <m:d>
                          <m:dPr>
                            <m:ctrlPr>
                              <a:rPr lang="en-US" sz="1600" b="0" i="1" dirty="0" smtClean="0">
                                <a:latin typeface="Cambria Math" panose="02040503050406030204" pitchFamily="18" charset="0"/>
                              </a:rPr>
                            </m:ctrlPr>
                          </m:dPr>
                          <m:e>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𝑧</m:t>
                                </m:r>
                              </m:e>
                              <m:sub>
                                <m:r>
                                  <a:rPr lang="en-US" sz="1600" b="0" i="1" dirty="0" smtClean="0">
                                    <a:latin typeface="Cambria Math" panose="02040503050406030204" pitchFamily="18" charset="0"/>
                                  </a:rPr>
                                  <m:t>𝑖</m:t>
                                </m:r>
                              </m:sub>
                            </m:sSub>
                          </m:e>
                        </m:d>
                      </m:e>
                      <m:sup>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𝑦</m:t>
                            </m:r>
                          </m:e>
                          <m:sub>
                            <m:r>
                              <a:rPr lang="en-US" sz="1600" b="0" i="1" dirty="0" smtClean="0">
                                <a:latin typeface="Cambria Math" panose="02040503050406030204" pitchFamily="18" charset="0"/>
                              </a:rPr>
                              <m:t>𝑖</m:t>
                            </m:r>
                          </m:sub>
                        </m:sSub>
                      </m:sup>
                    </m:sSup>
                    <m:sSup>
                      <m:sSupPr>
                        <m:ctrlPr>
                          <a:rPr lang="en-US" sz="1600" i="1" dirty="0">
                            <a:latin typeface="Cambria Math" panose="02040503050406030204" pitchFamily="18" charset="0"/>
                          </a:rPr>
                        </m:ctrlPr>
                      </m:sSupPr>
                      <m:e>
                        <m:d>
                          <m:dPr>
                            <m:ctrlPr>
                              <a:rPr lang="en-US" sz="1600" i="1" dirty="0">
                                <a:latin typeface="Cambria Math" panose="02040503050406030204" pitchFamily="18" charset="0"/>
                              </a:rPr>
                            </m:ctrlPr>
                          </m:dPr>
                          <m:e>
                            <m:r>
                              <a:rPr lang="en-US" sz="1600" i="1" dirty="0">
                                <a:latin typeface="Cambria Math" panose="02040503050406030204" pitchFamily="18" charset="0"/>
                              </a:rPr>
                              <m:t>1−</m:t>
                            </m:r>
                            <m:r>
                              <a:rPr lang="en-US" sz="1600" b="0" i="1" dirty="0" smtClean="0">
                                <a:latin typeface="Cambria Math" panose="02040503050406030204" pitchFamily="18" charset="0"/>
                              </a:rPr>
                              <m:t>𝜎</m:t>
                            </m:r>
                            <m:r>
                              <a:rPr lang="en-US" sz="1600" b="0" i="1" dirty="0" smtClean="0">
                                <a:latin typeface="Cambria Math" panose="02040503050406030204" pitchFamily="18" charset="0"/>
                              </a:rPr>
                              <m:t>(</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𝑧</m:t>
                                </m:r>
                              </m:e>
                              <m:sub>
                                <m:r>
                                  <a:rPr lang="en-US" sz="1600" b="0" i="1" dirty="0" smtClean="0">
                                    <a:latin typeface="Cambria Math" panose="02040503050406030204" pitchFamily="18" charset="0"/>
                                  </a:rPr>
                                  <m:t>𝑖</m:t>
                                </m:r>
                              </m:sub>
                            </m:sSub>
                            <m:r>
                              <a:rPr lang="en-US" sz="1600" b="0" i="1" dirty="0" smtClean="0">
                                <a:latin typeface="Cambria Math" panose="02040503050406030204" pitchFamily="18" charset="0"/>
                              </a:rPr>
                              <m:t>)</m:t>
                            </m:r>
                          </m:e>
                        </m:d>
                      </m:e>
                      <m:sup>
                        <m:r>
                          <a:rPr lang="en-US" sz="1600" i="1" dirty="0">
                            <a:latin typeface="Cambria Math" panose="02040503050406030204" pitchFamily="18" charset="0"/>
                          </a:rPr>
                          <m:t>1−</m:t>
                        </m:r>
                        <m:sSub>
                          <m:sSubPr>
                            <m:ctrlPr>
                              <a:rPr lang="en-US" sz="1600" i="1" dirty="0">
                                <a:latin typeface="Cambria Math" panose="02040503050406030204" pitchFamily="18" charset="0"/>
                              </a:rPr>
                            </m:ctrlPr>
                          </m:sSubPr>
                          <m:e>
                            <m:r>
                              <a:rPr lang="en-US" sz="1600" i="1" dirty="0">
                                <a:latin typeface="Cambria Math" panose="02040503050406030204" pitchFamily="18" charset="0"/>
                              </a:rPr>
                              <m:t>𝑦</m:t>
                            </m:r>
                          </m:e>
                          <m:sub>
                            <m:r>
                              <a:rPr lang="en-US" sz="1600" i="1" dirty="0">
                                <a:latin typeface="Cambria Math" panose="02040503050406030204" pitchFamily="18" charset="0"/>
                              </a:rPr>
                              <m:t>𝑖</m:t>
                            </m:r>
                          </m:sub>
                        </m:sSub>
                      </m:sup>
                    </m:sSup>
                  </m:oMath>
                </a14:m>
                <a:endParaRPr lang="en-US" sz="1600" baseline="-25000" dirty="0"/>
              </a:p>
              <a:p>
                <a:endParaRPr lang="en-US" sz="1600" baseline="-25000" dirty="0"/>
              </a:p>
              <a:p>
                <a:r>
                  <a:rPr lang="en-US" sz="1600" dirty="0">
                    <a:latin typeface="Cambria Math" panose="02040503050406030204" pitchFamily="18" charset="0"/>
                  </a:rPr>
                  <a:t>Multiply over all observations:</a:t>
                </a:r>
                <a:endParaRPr lang="en-US" sz="16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nary>
                        <m:naryPr>
                          <m:chr m:val="∏"/>
                          <m:ctrlPr>
                            <a:rPr lang="en-US" sz="1600" i="1">
                              <a:latin typeface="Cambria Math" panose="02040503050406030204" pitchFamily="18" charset="0"/>
                            </a:rPr>
                          </m:ctrlPr>
                        </m:naryPr>
                        <m:sub>
                          <m:r>
                            <m:rPr>
                              <m:brk m:alnAt="23"/>
                            </m:rPr>
                            <a:rPr lang="en-US" sz="1600" i="1">
                              <a:latin typeface="Cambria Math" panose="02040503050406030204" pitchFamily="18" charset="0"/>
                            </a:rPr>
                            <m:t>𝑖</m:t>
                          </m:r>
                          <m:r>
                            <a:rPr lang="en-US" sz="1600" i="1">
                              <a:latin typeface="Cambria Math" panose="02040503050406030204" pitchFamily="18" charset="0"/>
                            </a:rPr>
                            <m:t>=1</m:t>
                          </m:r>
                        </m:sub>
                        <m:sup>
                          <m:r>
                            <a:rPr lang="en-US" sz="1600" i="1">
                              <a:latin typeface="Cambria Math" panose="02040503050406030204" pitchFamily="18" charset="0"/>
                            </a:rPr>
                            <m:t>𝑁</m:t>
                          </m:r>
                        </m:sup>
                        <m:e>
                          <m:r>
                            <a:rPr lang="en-US" sz="1600" b="0" i="1" dirty="0" smtClean="0">
                              <a:latin typeface="Cambria Math" panose="02040503050406030204" pitchFamily="18" charset="0"/>
                            </a:rPr>
                            <m:t>𝜎</m:t>
                          </m:r>
                          <m:sSup>
                            <m:sSupPr>
                              <m:ctrlPr>
                                <a:rPr lang="en-US" sz="1600" b="0" i="1" dirty="0" smtClean="0">
                                  <a:latin typeface="Cambria Math" panose="02040503050406030204" pitchFamily="18" charset="0"/>
                                </a:rPr>
                              </m:ctrlPr>
                            </m:sSupPr>
                            <m:e>
                              <m:d>
                                <m:dPr>
                                  <m:ctrlPr>
                                    <a:rPr lang="en-US" sz="1600" b="0" i="1" dirty="0" smtClean="0">
                                      <a:latin typeface="Cambria Math" panose="02040503050406030204" pitchFamily="18" charset="0"/>
                                    </a:rPr>
                                  </m:ctrlPr>
                                </m:dPr>
                                <m:e>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𝑧</m:t>
                                      </m:r>
                                    </m:e>
                                    <m:sub>
                                      <m:r>
                                        <a:rPr lang="en-US" sz="1600" b="0" i="1" dirty="0" smtClean="0">
                                          <a:latin typeface="Cambria Math" panose="02040503050406030204" pitchFamily="18" charset="0"/>
                                        </a:rPr>
                                        <m:t>𝑖</m:t>
                                      </m:r>
                                    </m:sub>
                                  </m:sSub>
                                </m:e>
                              </m:d>
                            </m:e>
                            <m:sup>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𝑦</m:t>
                                  </m:r>
                                </m:e>
                                <m:sub>
                                  <m:r>
                                    <a:rPr lang="en-US" sz="1600" b="0" i="1" dirty="0" smtClean="0">
                                      <a:latin typeface="Cambria Math" panose="02040503050406030204" pitchFamily="18" charset="0"/>
                                    </a:rPr>
                                    <m:t>𝑖</m:t>
                                  </m:r>
                                </m:sub>
                              </m:sSub>
                            </m:sup>
                          </m:sSup>
                          <m:sSup>
                            <m:sSupPr>
                              <m:ctrlPr>
                                <a:rPr lang="en-US" sz="1600" i="1" dirty="0">
                                  <a:latin typeface="Cambria Math" panose="02040503050406030204" pitchFamily="18" charset="0"/>
                                </a:rPr>
                              </m:ctrlPr>
                            </m:sSupPr>
                            <m:e>
                              <m:d>
                                <m:dPr>
                                  <m:ctrlPr>
                                    <a:rPr lang="en-US" sz="1600" i="1" dirty="0">
                                      <a:latin typeface="Cambria Math" panose="02040503050406030204" pitchFamily="18" charset="0"/>
                                    </a:rPr>
                                  </m:ctrlPr>
                                </m:dPr>
                                <m:e>
                                  <m:r>
                                    <a:rPr lang="en-US" sz="1600" i="1" dirty="0">
                                      <a:latin typeface="Cambria Math" panose="02040503050406030204" pitchFamily="18" charset="0"/>
                                    </a:rPr>
                                    <m:t>1−</m:t>
                                  </m:r>
                                  <m:r>
                                    <a:rPr lang="en-US" sz="1600" b="0" i="1" dirty="0" smtClean="0">
                                      <a:latin typeface="Cambria Math" panose="02040503050406030204" pitchFamily="18" charset="0"/>
                                    </a:rPr>
                                    <m:t>𝜎</m:t>
                                  </m:r>
                                  <m:r>
                                    <a:rPr lang="en-US" sz="1600" b="0" i="1" dirty="0" smtClean="0">
                                      <a:latin typeface="Cambria Math" panose="02040503050406030204" pitchFamily="18" charset="0"/>
                                    </a:rPr>
                                    <m:t>(</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𝑧</m:t>
                                      </m:r>
                                    </m:e>
                                    <m:sub>
                                      <m:r>
                                        <a:rPr lang="en-US" sz="1600" b="0" i="1" dirty="0" smtClean="0">
                                          <a:latin typeface="Cambria Math" panose="02040503050406030204" pitchFamily="18" charset="0"/>
                                        </a:rPr>
                                        <m:t>𝑖</m:t>
                                      </m:r>
                                    </m:sub>
                                  </m:sSub>
                                  <m:r>
                                    <a:rPr lang="en-US" sz="1600" b="0" i="1" dirty="0" smtClean="0">
                                      <a:latin typeface="Cambria Math" panose="02040503050406030204" pitchFamily="18" charset="0"/>
                                    </a:rPr>
                                    <m:t>)</m:t>
                                  </m:r>
                                </m:e>
                              </m:d>
                            </m:e>
                            <m:sup>
                              <m:r>
                                <a:rPr lang="en-US" sz="1600" i="1" dirty="0">
                                  <a:latin typeface="Cambria Math" panose="02040503050406030204" pitchFamily="18" charset="0"/>
                                </a:rPr>
                                <m:t>1−</m:t>
                              </m:r>
                              <m:sSub>
                                <m:sSubPr>
                                  <m:ctrlPr>
                                    <a:rPr lang="en-US" sz="1600" i="1" dirty="0">
                                      <a:latin typeface="Cambria Math" panose="02040503050406030204" pitchFamily="18" charset="0"/>
                                    </a:rPr>
                                  </m:ctrlPr>
                                </m:sSubPr>
                                <m:e>
                                  <m:r>
                                    <a:rPr lang="en-US" sz="1600" i="1" dirty="0">
                                      <a:latin typeface="Cambria Math" panose="02040503050406030204" pitchFamily="18" charset="0"/>
                                    </a:rPr>
                                    <m:t>𝑦</m:t>
                                  </m:r>
                                </m:e>
                                <m:sub>
                                  <m:r>
                                    <a:rPr lang="en-US" sz="1600" i="1" dirty="0">
                                      <a:latin typeface="Cambria Math" panose="02040503050406030204" pitchFamily="18" charset="0"/>
                                    </a:rPr>
                                    <m:t>𝑖</m:t>
                                  </m:r>
                                </m:sub>
                              </m:sSub>
                            </m:sup>
                          </m:sSup>
                        </m:e>
                      </m:nary>
                    </m:oMath>
                  </m:oMathPara>
                </a14:m>
                <a:endParaRPr lang="en-US" sz="1600" baseline="-25000" dirty="0"/>
              </a:p>
              <a:p>
                <a:r>
                  <a:rPr lang="en-US" sz="1600" dirty="0">
                    <a:latin typeface="Cambria Math" panose="02040503050406030204" pitchFamily="18" charset="0"/>
                  </a:rPr>
                  <a:t>For numerical stability, use the </a:t>
                </a:r>
                <a:r>
                  <a:rPr lang="en-US" sz="1600" i="1" dirty="0">
                    <a:latin typeface="Cambria Math" panose="02040503050406030204" pitchFamily="18" charset="0"/>
                  </a:rPr>
                  <a:t>log-likelihood</a:t>
                </a:r>
                <a:r>
                  <a:rPr lang="en-US" sz="1600" dirty="0">
                    <a:latin typeface="Cambria Math" panose="02040503050406030204" pitchFamily="18" charset="0"/>
                  </a:rPr>
                  <a:t>:</a:t>
                </a:r>
                <a:endParaRPr lang="en-US" sz="16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nary>
                        <m:naryPr>
                          <m:chr m:val="∑"/>
                          <m:ctrlPr>
                            <a:rPr lang="en-US" sz="1600" i="1">
                              <a:latin typeface="Cambria Math" panose="02040503050406030204" pitchFamily="18" charset="0"/>
                            </a:rPr>
                          </m:ctrlPr>
                        </m:naryPr>
                        <m:sub>
                          <m:r>
                            <m:rPr>
                              <m:brk m:alnAt="23"/>
                            </m:rPr>
                            <a:rPr lang="en-US" sz="1600" i="1">
                              <a:latin typeface="Cambria Math" panose="02040503050406030204" pitchFamily="18" charset="0"/>
                            </a:rPr>
                            <m:t>𝑖</m:t>
                          </m:r>
                          <m:r>
                            <a:rPr lang="en-US" sz="1600" i="1">
                              <a:latin typeface="Cambria Math" panose="02040503050406030204" pitchFamily="18" charset="0"/>
                            </a:rPr>
                            <m:t>=1</m:t>
                          </m:r>
                        </m:sub>
                        <m:sup>
                          <m:r>
                            <a:rPr lang="en-US" sz="1600" i="1">
                              <a:latin typeface="Cambria Math" panose="02040503050406030204" pitchFamily="18" charset="0"/>
                            </a:rPr>
                            <m:t>𝑁</m:t>
                          </m:r>
                        </m:sup>
                        <m:e>
                          <m:sSub>
                            <m:sSubPr>
                              <m:ctrlPr>
                                <a:rPr lang="en-US" sz="1600" i="1">
                                  <a:latin typeface="Cambria Math" panose="02040503050406030204" pitchFamily="18" charset="0"/>
                                </a:rPr>
                              </m:ctrlPr>
                            </m:sSubPr>
                            <m:e>
                              <m:r>
                                <a:rPr lang="en-US" sz="1600" i="1">
                                  <a:latin typeface="Cambria Math" panose="02040503050406030204" pitchFamily="18" charset="0"/>
                                </a:rPr>
                                <m:t>𝑦</m:t>
                              </m:r>
                            </m:e>
                            <m:sub>
                              <m:r>
                                <a:rPr lang="en-US" sz="1600" i="1">
                                  <a:latin typeface="Cambria Math" panose="02040503050406030204" pitchFamily="18" charset="0"/>
                                </a:rPr>
                                <m:t>𝑖</m:t>
                              </m:r>
                            </m:sub>
                          </m:sSub>
                          <m:func>
                            <m:funcPr>
                              <m:ctrlPr>
                                <a:rPr lang="en-US" sz="1600" i="1">
                                  <a:latin typeface="Cambria Math" panose="02040503050406030204" pitchFamily="18" charset="0"/>
                                </a:rPr>
                              </m:ctrlPr>
                            </m:funcPr>
                            <m:fName>
                              <m:r>
                                <m:rPr>
                                  <m:sty m:val="p"/>
                                </m:rPr>
                                <a:rPr lang="en-US" sz="1600">
                                  <a:latin typeface="Cambria Math" panose="02040503050406030204" pitchFamily="18" charset="0"/>
                                </a:rPr>
                                <m:t>log</m:t>
                              </m:r>
                            </m:fName>
                            <m:e>
                              <m:r>
                                <a:rPr lang="en-US" sz="1600" i="1">
                                  <a:latin typeface="Cambria Math" panose="02040503050406030204" pitchFamily="18" charset="0"/>
                                </a:rPr>
                                <m:t>𝜎</m:t>
                              </m:r>
                              <m:d>
                                <m:dPr>
                                  <m:ctrlPr>
                                    <a:rPr lang="en-US" sz="1600" i="1">
                                      <a:latin typeface="Cambria Math" panose="02040503050406030204" pitchFamily="18" charset="0"/>
                                    </a:rPr>
                                  </m:ctrlPr>
                                </m:dPr>
                                <m:e>
                                  <m:r>
                                    <a:rPr lang="en-US" sz="1600" i="1">
                                      <a:latin typeface="Cambria Math" panose="02040503050406030204" pitchFamily="18" charset="0"/>
                                    </a:rPr>
                                    <m:t>𝑧</m:t>
                                  </m:r>
                                  <m:r>
                                    <a:rPr lang="en-US" sz="1600" i="1" baseline="-25000">
                                      <a:latin typeface="Cambria Math" panose="02040503050406030204" pitchFamily="18" charset="0"/>
                                    </a:rPr>
                                    <m:t>𝑖</m:t>
                                  </m:r>
                                </m:e>
                              </m:d>
                            </m:e>
                          </m:func>
                          <m:r>
                            <a:rPr lang="en-US" sz="1600" i="1">
                              <a:latin typeface="Cambria Math" panose="02040503050406030204" pitchFamily="18" charset="0"/>
                            </a:rPr>
                            <m:t>+(1−</m:t>
                          </m:r>
                          <m:sSub>
                            <m:sSubPr>
                              <m:ctrlPr>
                                <a:rPr lang="en-US" sz="1600" i="1">
                                  <a:latin typeface="Cambria Math" panose="02040503050406030204" pitchFamily="18" charset="0"/>
                                </a:rPr>
                              </m:ctrlPr>
                            </m:sSubPr>
                            <m:e>
                              <m:r>
                                <a:rPr lang="en-US" sz="1600" i="1">
                                  <a:latin typeface="Cambria Math" panose="02040503050406030204" pitchFamily="18" charset="0"/>
                                </a:rPr>
                                <m:t>𝑦</m:t>
                              </m:r>
                            </m:e>
                            <m:sub>
                              <m:r>
                                <a:rPr lang="en-US" sz="1600" i="1">
                                  <a:latin typeface="Cambria Math" panose="02040503050406030204" pitchFamily="18" charset="0"/>
                                </a:rPr>
                                <m:t>𝑖</m:t>
                              </m:r>
                            </m:sub>
                          </m:sSub>
                          <m:r>
                            <a:rPr lang="en-US" sz="1600" i="1">
                              <a:latin typeface="Cambria Math" panose="02040503050406030204" pitchFamily="18" charset="0"/>
                            </a:rPr>
                            <m:t>)</m:t>
                          </m:r>
                          <m:func>
                            <m:funcPr>
                              <m:ctrlPr>
                                <a:rPr lang="en-US" sz="1600" i="1">
                                  <a:latin typeface="Cambria Math" panose="02040503050406030204" pitchFamily="18" charset="0"/>
                                </a:rPr>
                              </m:ctrlPr>
                            </m:funcPr>
                            <m:fName>
                              <m:r>
                                <m:rPr>
                                  <m:sty m:val="p"/>
                                </m:rPr>
                                <a:rPr lang="en-US" sz="1600">
                                  <a:latin typeface="Cambria Math" panose="02040503050406030204" pitchFamily="18" charset="0"/>
                                </a:rPr>
                                <m:t>log</m:t>
                              </m:r>
                            </m:fName>
                            <m:e>
                              <m:d>
                                <m:dPr>
                                  <m:ctrlPr>
                                    <a:rPr lang="en-US" sz="1600" i="1">
                                      <a:latin typeface="Cambria Math" panose="02040503050406030204" pitchFamily="18" charset="0"/>
                                    </a:rPr>
                                  </m:ctrlPr>
                                </m:dPr>
                                <m:e>
                                  <m:r>
                                    <a:rPr lang="en-US" sz="1600" i="1">
                                      <a:latin typeface="Cambria Math" panose="02040503050406030204" pitchFamily="18" charset="0"/>
                                    </a:rPr>
                                    <m:t>1−</m:t>
                                  </m:r>
                                  <m:r>
                                    <a:rPr lang="en-US" sz="1600" i="1">
                                      <a:latin typeface="Cambria Math" panose="02040503050406030204" pitchFamily="18" charset="0"/>
                                    </a:rPr>
                                    <m:t>𝜎</m:t>
                                  </m:r>
                                  <m:d>
                                    <m:dPr>
                                      <m:ctrlPr>
                                        <a:rPr lang="en-US" sz="1600" i="1">
                                          <a:latin typeface="Cambria Math" panose="02040503050406030204" pitchFamily="18" charset="0"/>
                                        </a:rPr>
                                      </m:ctrlPr>
                                    </m:dPr>
                                    <m:e>
                                      <m:r>
                                        <a:rPr lang="en-US" sz="1600" i="1">
                                          <a:latin typeface="Cambria Math" panose="02040503050406030204" pitchFamily="18" charset="0"/>
                                        </a:rPr>
                                        <m:t>𝑧</m:t>
                                      </m:r>
                                      <m:r>
                                        <a:rPr lang="en-US" sz="1600" i="1" baseline="-25000">
                                          <a:latin typeface="Cambria Math" panose="02040503050406030204" pitchFamily="18" charset="0"/>
                                        </a:rPr>
                                        <m:t>𝑖</m:t>
                                      </m:r>
                                    </m:e>
                                  </m:d>
                                </m:e>
                              </m:d>
                            </m:e>
                          </m:func>
                        </m:e>
                      </m:nary>
                    </m:oMath>
                  </m:oMathPara>
                </a14:m>
                <a:endParaRPr lang="en-US" sz="1600" baseline="-25000" dirty="0"/>
              </a:p>
              <a:p>
                <a:pPr/>
                <a:endParaRPr lang="en-US" sz="1600" baseline="-25000" dirty="0"/>
              </a:p>
              <a:p>
                <a:pPr/>
                <a:r>
                  <a:rPr lang="en-US" sz="1600" dirty="0">
                    <a:latin typeface="Cambria Math" panose="02040503050406030204" pitchFamily="18" charset="0"/>
                    <a:ea typeface="Cambria Math" panose="02040503050406030204" pitchFamily="18" charset="0"/>
                  </a:rPr>
                  <a:t>By convention, minimize the negative log-likelihood</a:t>
                </a:r>
              </a:p>
            </p:txBody>
          </p:sp>
        </mc:Choice>
        <mc:Fallback>
          <p:sp>
            <p:nvSpPr>
              <p:cNvPr id="6" name="TextBox 5"/>
              <p:cNvSpPr txBox="1">
                <a:spLocks noRot="1" noChangeAspect="1" noMove="1" noResize="1" noEditPoints="1" noAdjustHandles="1" noChangeArrowheads="1" noChangeShapeType="1" noTextEdit="1"/>
              </p:cNvSpPr>
              <p:nvPr/>
            </p:nvSpPr>
            <p:spPr>
              <a:xfrm>
                <a:off x="6569732" y="1902689"/>
                <a:ext cx="4631666" cy="4677819"/>
              </a:xfrm>
              <a:prstGeom prst="rect">
                <a:avLst/>
              </a:prstGeom>
              <a:blipFill>
                <a:blip r:embed="rId3"/>
                <a:stretch>
                  <a:fillRect l="-4384" t="-271" b="-113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876299" y="1076751"/>
                <a:ext cx="10439403" cy="461665"/>
              </a:xfrm>
              <a:prstGeom prst="rect">
                <a:avLst/>
              </a:prstGeom>
            </p:spPr>
            <p:txBody>
              <a:bodyPr wrap="square">
                <a:spAutoFit/>
              </a:bodyPr>
              <a:lstStyle/>
              <a:p>
                <a:pPr algn="ctr"/>
                <a:r>
                  <a:rPr lang="en-US" sz="2400" dirty="0"/>
                  <a:t>Probability of all the events </a:t>
                </a:r>
                <a14:m>
                  <m:oMath xmlns:m="http://schemas.openxmlformats.org/officeDocument/2006/math">
                    <m:r>
                      <a:rPr lang="en-US" sz="2400" i="1" dirty="0">
                        <a:latin typeface="Cambria Math" panose="02040503050406030204" pitchFamily="18" charset="0"/>
                      </a:rPr>
                      <m:t>𝑦</m:t>
                    </m:r>
                    <m:r>
                      <a:rPr lang="en-US" sz="2400" i="1" baseline="-25000" dirty="0">
                        <a:latin typeface="Cambria Math" panose="02040503050406030204" pitchFamily="18" charset="0"/>
                      </a:rPr>
                      <m:t>1</m:t>
                    </m:r>
                    <m:r>
                      <a:rPr lang="en-US" sz="2400" i="1" dirty="0">
                        <a:latin typeface="Cambria Math" panose="02040503050406030204" pitchFamily="18" charset="0"/>
                      </a:rPr>
                      <m:t>,…,</m:t>
                    </m:r>
                    <m:r>
                      <a:rPr lang="en-US" sz="2400" i="1" dirty="0" err="1">
                        <a:latin typeface="Cambria Math" panose="02040503050406030204" pitchFamily="18" charset="0"/>
                      </a:rPr>
                      <m:t>𝑦</m:t>
                    </m:r>
                    <m:r>
                      <a:rPr lang="en-US" sz="2400" i="1" baseline="-25000" dirty="0" err="1">
                        <a:latin typeface="Cambria Math" panose="02040503050406030204" pitchFamily="18" charset="0"/>
                      </a:rPr>
                      <m:t>𝑁</m:t>
                    </m:r>
                    <m:r>
                      <a:rPr lang="en-US" sz="2400" i="1" dirty="0">
                        <a:latin typeface="Cambria Math" panose="02040503050406030204" pitchFamily="18" charset="0"/>
                      </a:rPr>
                      <m:t> </m:t>
                    </m:r>
                  </m:oMath>
                </a14:m>
                <a:r>
                  <a:rPr lang="en-US" sz="2400" dirty="0"/>
                  <a:t>given our current model parameters</a:t>
                </a:r>
              </a:p>
            </p:txBody>
          </p:sp>
        </mc:Choice>
        <mc:Fallback xmlns="">
          <p:sp>
            <p:nvSpPr>
              <p:cNvPr id="8" name="Rectangle 7"/>
              <p:cNvSpPr>
                <a:spLocks noRot="1" noChangeAspect="1" noMove="1" noResize="1" noEditPoints="1" noAdjustHandles="1" noChangeArrowheads="1" noChangeShapeType="1" noTextEdit="1"/>
              </p:cNvSpPr>
              <p:nvPr/>
            </p:nvSpPr>
            <p:spPr>
              <a:xfrm>
                <a:off x="876299" y="1076751"/>
                <a:ext cx="10439403" cy="461665"/>
              </a:xfrm>
              <a:prstGeom prst="rect">
                <a:avLst/>
              </a:prstGeom>
              <a:blipFill>
                <a:blip r:embed="rId6"/>
                <a:stretch>
                  <a:fillRect t="-5405" b="-29730"/>
                </a:stretch>
              </a:blipFill>
            </p:spPr>
            <p:txBody>
              <a:bodyPr/>
              <a:lstStyle/>
              <a:p>
                <a:r>
                  <a:rPr lang="en-US">
                    <a:noFill/>
                  </a:rPr>
                  <a:t> </a:t>
                </a:r>
              </a:p>
            </p:txBody>
          </p:sp>
        </mc:Fallback>
      </mc:AlternateContent>
      <p:sp>
        <p:nvSpPr>
          <p:cNvPr id="4" name="Left Brace 3">
            <a:extLst>
              <a:ext uri="{FF2B5EF4-FFF2-40B4-BE49-F238E27FC236}">
                <a16:creationId xmlns:a16="http://schemas.microsoft.com/office/drawing/2014/main" id="{B113A61A-754C-B748-B970-1A528394ED72}"/>
              </a:ext>
            </a:extLst>
          </p:cNvPr>
          <p:cNvSpPr/>
          <p:nvPr/>
        </p:nvSpPr>
        <p:spPr>
          <a:xfrm>
            <a:off x="7616861" y="2442064"/>
            <a:ext cx="197116" cy="457252"/>
          </a:xfrm>
          <a:prstGeom prst="leftBrace">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2400"/>
          </a:p>
        </p:txBody>
      </p:sp>
      <mc:AlternateContent xmlns:mc="http://schemas.openxmlformats.org/markup-compatibility/2006">
        <mc:Choice xmlns:a14="http://schemas.microsoft.com/office/drawing/2010/main" Requires="a14">
          <p:sp>
            <p:nvSpPr>
              <p:cNvPr id="7" name="Oval 6">
                <a:extLst>
                  <a:ext uri="{FF2B5EF4-FFF2-40B4-BE49-F238E27FC236}">
                    <a16:creationId xmlns:a16="http://schemas.microsoft.com/office/drawing/2014/main" id="{0F284553-ADAA-BF3B-6172-DD51D3701BFD}"/>
                  </a:ext>
                </a:extLst>
              </p:cNvPr>
              <p:cNvSpPr/>
              <p:nvPr/>
            </p:nvSpPr>
            <p:spPr>
              <a:xfrm>
                <a:off x="1207257" y="2346997"/>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m:rPr>
                              <m:sty m:val="p"/>
                            </m:rPr>
                            <a:rPr lang="en-US" b="0" i="0" dirty="0" smtClean="0">
                              <a:solidFill>
                                <a:schemeClr val="tx1"/>
                              </a:solidFill>
                              <a:latin typeface="Cambria Math" panose="02040503050406030204" pitchFamily="18" charset="0"/>
                            </a:rPr>
                            <m:t>x</m:t>
                          </m:r>
                        </m:e>
                        <m:sub>
                          <m:r>
                            <a:rPr lang="en-US" i="1" dirty="0"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p:sp>
            <p:nvSpPr>
              <p:cNvPr id="7" name="Oval 6">
                <a:extLst>
                  <a:ext uri="{FF2B5EF4-FFF2-40B4-BE49-F238E27FC236}">
                    <a16:creationId xmlns:a16="http://schemas.microsoft.com/office/drawing/2014/main" id="{0F284553-ADAA-BF3B-6172-DD51D3701BFD}"/>
                  </a:ext>
                </a:extLst>
              </p:cNvPr>
              <p:cNvSpPr>
                <a:spLocks noRot="1" noChangeAspect="1" noMove="1" noResize="1" noEditPoints="1" noAdjustHandles="1" noChangeArrowheads="1" noChangeShapeType="1" noTextEdit="1"/>
              </p:cNvSpPr>
              <p:nvPr/>
            </p:nvSpPr>
            <p:spPr>
              <a:xfrm>
                <a:off x="1207257" y="2346997"/>
                <a:ext cx="914400" cy="914400"/>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Oval 8">
                <a:extLst>
                  <a:ext uri="{FF2B5EF4-FFF2-40B4-BE49-F238E27FC236}">
                    <a16:creationId xmlns:a16="http://schemas.microsoft.com/office/drawing/2014/main" id="{231AF180-8B47-1DC4-BE23-FBD759E16FD8}"/>
                  </a:ext>
                </a:extLst>
              </p:cNvPr>
              <p:cNvSpPr/>
              <p:nvPr/>
            </p:nvSpPr>
            <p:spPr>
              <a:xfrm>
                <a:off x="1207257" y="4022261"/>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m:rPr>
                              <m:sty m:val="p"/>
                            </m:rPr>
                            <a:rPr lang="en-US" b="0" i="0" dirty="0" smtClean="0">
                              <a:solidFill>
                                <a:schemeClr val="tx1"/>
                              </a:solidFill>
                              <a:latin typeface="Cambria Math" panose="02040503050406030204" pitchFamily="18" charset="0"/>
                            </a:rPr>
                            <m:t>x</m:t>
                          </m:r>
                        </m:e>
                        <m:sub>
                          <m:r>
                            <a:rPr lang="en-US" b="0" i="1" dirty="0" smtClean="0">
                              <a:solidFill>
                                <a:schemeClr val="tx1"/>
                              </a:solidFill>
                              <a:latin typeface="Cambria Math" panose="02040503050406030204" pitchFamily="18" charset="0"/>
                            </a:rPr>
                            <m:t>𝑚</m:t>
                          </m:r>
                        </m:sub>
                      </m:sSub>
                    </m:oMath>
                  </m:oMathPara>
                </a14:m>
                <a:endParaRPr lang="en-US" dirty="0">
                  <a:solidFill>
                    <a:schemeClr val="tx1"/>
                  </a:solidFill>
                </a:endParaRPr>
              </a:p>
            </p:txBody>
          </p:sp>
        </mc:Choice>
        <mc:Fallback>
          <p:sp>
            <p:nvSpPr>
              <p:cNvPr id="9" name="Oval 8">
                <a:extLst>
                  <a:ext uri="{FF2B5EF4-FFF2-40B4-BE49-F238E27FC236}">
                    <a16:creationId xmlns:a16="http://schemas.microsoft.com/office/drawing/2014/main" id="{231AF180-8B47-1DC4-BE23-FBD759E16FD8}"/>
                  </a:ext>
                </a:extLst>
              </p:cNvPr>
              <p:cNvSpPr>
                <a:spLocks noRot="1" noChangeAspect="1" noMove="1" noResize="1" noEditPoints="1" noAdjustHandles="1" noChangeArrowheads="1" noChangeShapeType="1" noTextEdit="1"/>
              </p:cNvSpPr>
              <p:nvPr/>
            </p:nvSpPr>
            <p:spPr>
              <a:xfrm>
                <a:off x="1207257" y="4022261"/>
                <a:ext cx="914400" cy="914400"/>
              </a:xfrm>
              <a:prstGeom prst="ellipse">
                <a:avLst/>
              </a:prstGeom>
              <a:blipFill>
                <a:blip r:embed="rId8"/>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D908C310-5C44-8D9B-FEE3-86850AE78717}"/>
              </a:ext>
            </a:extLst>
          </p:cNvPr>
          <p:cNvSpPr txBox="1"/>
          <p:nvPr/>
        </p:nvSpPr>
        <p:spPr>
          <a:xfrm rot="5400000">
            <a:off x="1526234" y="3457163"/>
            <a:ext cx="381836" cy="369332"/>
          </a:xfrm>
          <a:prstGeom prst="rect">
            <a:avLst/>
          </a:prstGeom>
          <a:noFill/>
        </p:spPr>
        <p:txBody>
          <a:bodyPr wrap="none" rtlCol="0">
            <a:spAutoFit/>
          </a:bodyPr>
          <a:lstStyle/>
          <a:p>
            <a:r>
              <a:rPr lang="en-US" dirty="0"/>
              <a:t>…</a:t>
            </a:r>
          </a:p>
        </p:txBody>
      </p:sp>
      <p:cxnSp>
        <p:nvCxnSpPr>
          <p:cNvPr id="11" name="Straight Arrow Connector 10">
            <a:extLst>
              <a:ext uri="{FF2B5EF4-FFF2-40B4-BE49-F238E27FC236}">
                <a16:creationId xmlns:a16="http://schemas.microsoft.com/office/drawing/2014/main" id="{163AE5F8-25FB-5DCF-4EE9-8EDB5F04B245}"/>
              </a:ext>
            </a:extLst>
          </p:cNvPr>
          <p:cNvCxnSpPr>
            <a:cxnSpLocks/>
            <a:stCxn id="7" idx="6"/>
            <a:endCxn id="21" idx="1"/>
          </p:cNvCxnSpPr>
          <p:nvPr/>
        </p:nvCxnSpPr>
        <p:spPr>
          <a:xfrm>
            <a:off x="2121657" y="2804197"/>
            <a:ext cx="1214267" cy="50808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E31D8782-0A31-19E4-AAD7-2A12C8878D87}"/>
              </a:ext>
            </a:extLst>
          </p:cNvPr>
          <p:cNvCxnSpPr>
            <a:cxnSpLocks/>
            <a:endCxn id="21" idx="3"/>
          </p:cNvCxnSpPr>
          <p:nvPr/>
        </p:nvCxnSpPr>
        <p:spPr>
          <a:xfrm flipV="1">
            <a:off x="2121657" y="3958864"/>
            <a:ext cx="1214267" cy="5166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D258E377-FD06-5C59-B2B8-82D0FF616935}"/>
              </a:ext>
            </a:extLst>
          </p:cNvPr>
          <p:cNvCxnSpPr>
            <a:cxnSpLocks/>
            <a:stCxn id="10" idx="0"/>
          </p:cNvCxnSpPr>
          <p:nvPr/>
        </p:nvCxnSpPr>
        <p:spPr>
          <a:xfrm>
            <a:off x="1901818" y="3641829"/>
            <a:ext cx="131610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FE93265A-6BBB-A10C-BEF2-211FE8616C26}"/>
                  </a:ext>
                </a:extLst>
              </p:cNvPr>
              <p:cNvSpPr txBox="1"/>
              <p:nvPr/>
            </p:nvSpPr>
            <p:spPr>
              <a:xfrm>
                <a:off x="2294436" y="2665697"/>
                <a:ext cx="83465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oMath>
                  </m:oMathPara>
                </a14:m>
                <a:endParaRPr lang="en-US" dirty="0"/>
              </a:p>
            </p:txBody>
          </p:sp>
        </mc:Choice>
        <mc:Fallback>
          <p:sp>
            <p:nvSpPr>
              <p:cNvPr id="14" name="TextBox 13">
                <a:extLst>
                  <a:ext uri="{FF2B5EF4-FFF2-40B4-BE49-F238E27FC236}">
                    <a16:creationId xmlns:a16="http://schemas.microsoft.com/office/drawing/2014/main" id="{FE93265A-6BBB-A10C-BEF2-211FE8616C26}"/>
                  </a:ext>
                </a:extLst>
              </p:cNvPr>
              <p:cNvSpPr txBox="1">
                <a:spLocks noRot="1" noChangeAspect="1" noMove="1" noResize="1" noEditPoints="1" noAdjustHandles="1" noChangeArrowheads="1" noChangeShapeType="1" noTextEdit="1"/>
              </p:cNvSpPr>
              <p:nvPr/>
            </p:nvSpPr>
            <p:spPr>
              <a:xfrm>
                <a:off x="2294436" y="2665697"/>
                <a:ext cx="834656" cy="276999"/>
              </a:xfrm>
              <a:prstGeom prst="rect">
                <a:avLst/>
              </a:prstGeom>
              <a:blipFill>
                <a:blip r:embed="rId9"/>
                <a:stretch>
                  <a:fillRect b="-1304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236AA5D4-EAA1-3F82-ED4B-178BE5B4F162}"/>
                  </a:ext>
                </a:extLst>
              </p:cNvPr>
              <p:cNvSpPr txBox="1"/>
              <p:nvPr/>
            </p:nvSpPr>
            <p:spPr>
              <a:xfrm>
                <a:off x="2294436" y="4337049"/>
                <a:ext cx="83465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𝑚</m:t>
                          </m:r>
                        </m:sub>
                      </m:sSub>
                    </m:oMath>
                  </m:oMathPara>
                </a14:m>
                <a:endParaRPr lang="en-US" dirty="0"/>
              </a:p>
            </p:txBody>
          </p:sp>
        </mc:Choice>
        <mc:Fallback>
          <p:sp>
            <p:nvSpPr>
              <p:cNvPr id="15" name="TextBox 14">
                <a:extLst>
                  <a:ext uri="{FF2B5EF4-FFF2-40B4-BE49-F238E27FC236}">
                    <a16:creationId xmlns:a16="http://schemas.microsoft.com/office/drawing/2014/main" id="{236AA5D4-EAA1-3F82-ED4B-178BE5B4F162}"/>
                  </a:ext>
                </a:extLst>
              </p:cNvPr>
              <p:cNvSpPr txBox="1">
                <a:spLocks noRot="1" noChangeAspect="1" noMove="1" noResize="1" noEditPoints="1" noAdjustHandles="1" noChangeArrowheads="1" noChangeShapeType="1" noTextEdit="1"/>
              </p:cNvSpPr>
              <p:nvPr/>
            </p:nvSpPr>
            <p:spPr>
              <a:xfrm>
                <a:off x="2294436" y="4337049"/>
                <a:ext cx="834656" cy="276999"/>
              </a:xfrm>
              <a:prstGeom prst="rect">
                <a:avLst/>
              </a:prstGeom>
              <a:blipFill>
                <a:blip r:embed="rId10"/>
                <a:stretch>
                  <a:fillRect b="-8696"/>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A444B6A4-2B1F-64AB-C693-0D5F0BF66316}"/>
              </a:ext>
            </a:extLst>
          </p:cNvPr>
          <p:cNvSpPr txBox="1"/>
          <p:nvPr/>
        </p:nvSpPr>
        <p:spPr>
          <a:xfrm>
            <a:off x="3105738" y="4092775"/>
            <a:ext cx="622286" cy="369332"/>
          </a:xfrm>
          <a:prstGeom prst="rect">
            <a:avLst/>
          </a:prstGeom>
          <a:noFill/>
        </p:spPr>
        <p:txBody>
          <a:bodyPr wrap="none" rtlCol="0">
            <a:spAutoFit/>
          </a:bodyPr>
          <a:lstStyle/>
          <a:p>
            <a:r>
              <a:rPr lang="en-US" dirty="0"/>
              <a:t>sum</a:t>
            </a: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4B7B0CFE-CA77-A90D-EDD7-14CA20C21368}"/>
                  </a:ext>
                </a:extLst>
              </p:cNvPr>
              <p:cNvSpPr txBox="1"/>
              <p:nvPr/>
            </p:nvSpPr>
            <p:spPr>
              <a:xfrm>
                <a:off x="3774172" y="4092775"/>
                <a:ext cx="1351524" cy="923330"/>
              </a:xfrm>
              <a:prstGeom prst="rect">
                <a:avLst/>
              </a:prstGeom>
              <a:noFill/>
            </p:spPr>
            <p:txBody>
              <a:bodyPr wrap="none" rtlCol="0">
                <a:spAutoFit/>
              </a:bodyPr>
              <a:lstStyle/>
              <a:p>
                <a:r>
                  <a:rPr lang="en-US" dirty="0"/>
                  <a:t>sigmoid</a:t>
                </a:r>
              </a:p>
              <a:p>
                <a:r>
                  <a:rPr lang="en-US" dirty="0"/>
                  <a:t>(aka logistic)</a:t>
                </a:r>
              </a:p>
              <a:p>
                <a:r>
                  <a:rPr lang="en-US" dirty="0"/>
                  <a:t>function </a:t>
                </a:r>
                <a14:m>
                  <m:oMath xmlns:m="http://schemas.openxmlformats.org/officeDocument/2006/math">
                    <m:r>
                      <a:rPr lang="en-US" b="0" i="1" smtClean="0">
                        <a:latin typeface="Cambria Math" panose="02040503050406030204" pitchFamily="18" charset="0"/>
                      </a:rPr>
                      <m:t>𝜎</m:t>
                    </m:r>
                  </m:oMath>
                </a14:m>
                <a:endParaRPr lang="en-US" dirty="0"/>
              </a:p>
            </p:txBody>
          </p:sp>
        </mc:Choice>
        <mc:Fallback>
          <p:sp>
            <p:nvSpPr>
              <p:cNvPr id="17" name="TextBox 16">
                <a:extLst>
                  <a:ext uri="{FF2B5EF4-FFF2-40B4-BE49-F238E27FC236}">
                    <a16:creationId xmlns:a16="http://schemas.microsoft.com/office/drawing/2014/main" id="{4B7B0CFE-CA77-A90D-EDD7-14CA20C21368}"/>
                  </a:ext>
                </a:extLst>
              </p:cNvPr>
              <p:cNvSpPr txBox="1">
                <a:spLocks noRot="1" noChangeAspect="1" noMove="1" noResize="1" noEditPoints="1" noAdjustHandles="1" noChangeArrowheads="1" noChangeShapeType="1" noTextEdit="1"/>
              </p:cNvSpPr>
              <p:nvPr/>
            </p:nvSpPr>
            <p:spPr>
              <a:xfrm>
                <a:off x="3774172" y="4092775"/>
                <a:ext cx="1351524" cy="923330"/>
              </a:xfrm>
              <a:prstGeom prst="rect">
                <a:avLst/>
              </a:prstGeom>
              <a:blipFill>
                <a:blip r:embed="rId11"/>
                <a:stretch>
                  <a:fillRect l="-3738" t="-2703" r="-9346" b="-94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E940E499-899C-1A28-1D27-3A0172D7201B}"/>
                  </a:ext>
                </a:extLst>
              </p:cNvPr>
              <p:cNvSpPr txBox="1"/>
              <p:nvPr/>
            </p:nvSpPr>
            <p:spPr>
              <a:xfrm>
                <a:off x="4538606" y="3457163"/>
                <a:ext cx="13221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=1|</m:t>
                      </m:r>
                      <m:r>
                        <a:rPr lang="en-US" b="1" i="1" smtClean="0">
                          <a:latin typeface="Cambria Math" panose="02040503050406030204" pitchFamily="18" charset="0"/>
                        </a:rPr>
                        <m:t>𝒙</m:t>
                      </m:r>
                      <m:r>
                        <a:rPr lang="en-US" b="0" i="1" smtClean="0">
                          <a:latin typeface="Cambria Math" panose="02040503050406030204" pitchFamily="18" charset="0"/>
                        </a:rPr>
                        <m:t>)</m:t>
                      </m:r>
                    </m:oMath>
                  </m:oMathPara>
                </a14:m>
                <a:endParaRPr lang="en-US" dirty="0"/>
              </a:p>
            </p:txBody>
          </p:sp>
        </mc:Choice>
        <mc:Fallback>
          <p:sp>
            <p:nvSpPr>
              <p:cNvPr id="18" name="TextBox 17">
                <a:extLst>
                  <a:ext uri="{FF2B5EF4-FFF2-40B4-BE49-F238E27FC236}">
                    <a16:creationId xmlns:a16="http://schemas.microsoft.com/office/drawing/2014/main" id="{E940E499-899C-1A28-1D27-3A0172D7201B}"/>
                  </a:ext>
                </a:extLst>
              </p:cNvPr>
              <p:cNvSpPr txBox="1">
                <a:spLocks noRot="1" noChangeAspect="1" noMove="1" noResize="1" noEditPoints="1" noAdjustHandles="1" noChangeArrowheads="1" noChangeShapeType="1" noTextEdit="1"/>
              </p:cNvSpPr>
              <p:nvPr/>
            </p:nvSpPr>
            <p:spPr>
              <a:xfrm>
                <a:off x="4538606" y="3457163"/>
                <a:ext cx="1322157" cy="369332"/>
              </a:xfrm>
              <a:prstGeom prst="rect">
                <a:avLst/>
              </a:prstGeom>
              <a:blipFill>
                <a:blip r:embed="rId12"/>
                <a:stretch>
                  <a:fillRect b="-13333"/>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4CD3A470-DFAF-2AA2-B364-50E4173DFB28}"/>
              </a:ext>
            </a:extLst>
          </p:cNvPr>
          <p:cNvCxnSpPr>
            <a:cxnSpLocks/>
          </p:cNvCxnSpPr>
          <p:nvPr/>
        </p:nvCxnSpPr>
        <p:spPr>
          <a:xfrm>
            <a:off x="4112751" y="3652169"/>
            <a:ext cx="4896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20" name="Group 19">
            <a:extLst>
              <a:ext uri="{FF2B5EF4-FFF2-40B4-BE49-F238E27FC236}">
                <a16:creationId xmlns:a16="http://schemas.microsoft.com/office/drawing/2014/main" id="{BADC0F8A-7477-A8D8-D54D-D47AFC773FA1}"/>
              </a:ext>
            </a:extLst>
          </p:cNvPr>
          <p:cNvGrpSpPr/>
          <p:nvPr/>
        </p:nvGrpSpPr>
        <p:grpSpPr>
          <a:xfrm>
            <a:off x="3202013" y="3178375"/>
            <a:ext cx="995337" cy="914400"/>
            <a:chOff x="7496986" y="1328396"/>
            <a:chExt cx="995337" cy="914400"/>
          </a:xfrm>
        </p:grpSpPr>
        <mc:AlternateContent xmlns:mc="http://schemas.openxmlformats.org/markup-compatibility/2006" xmlns:a14="http://schemas.microsoft.com/office/drawing/2010/main">
          <mc:Choice Requires="a14">
            <p:sp>
              <p:nvSpPr>
                <p:cNvPr id="21" name="Oval 20">
                  <a:extLst>
                    <a:ext uri="{FF2B5EF4-FFF2-40B4-BE49-F238E27FC236}">
                      <a16:creationId xmlns:a16="http://schemas.microsoft.com/office/drawing/2014/main" id="{EBD7860C-4423-A7A0-642F-1A1DA5949C5D}"/>
                    </a:ext>
                  </a:extLst>
                </p:cNvPr>
                <p:cNvSpPr/>
                <p:nvPr/>
              </p:nvSpPr>
              <p:spPr>
                <a:xfrm>
                  <a:off x="7496986" y="1328396"/>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m:rPr>
                            <m:sty m:val="p"/>
                          </m:rPr>
                          <a:rPr lang="en-US" sz="3600" i="0" dirty="0" smtClean="0">
                            <a:solidFill>
                              <a:schemeClr val="tx1"/>
                            </a:solidFill>
                            <a:latin typeface="Cambria Math" panose="02040503050406030204" pitchFamily="18" charset="0"/>
                          </a:rPr>
                          <m:t>Σ</m:t>
                        </m:r>
                        <m:r>
                          <a:rPr lang="en-US" sz="3600" b="0" i="1" dirty="0" smtClean="0">
                            <a:solidFill>
                              <a:schemeClr val="tx1"/>
                            </a:solidFill>
                            <a:latin typeface="Cambria Math" panose="02040503050406030204" pitchFamily="18" charset="0"/>
                          </a:rPr>
                          <m:t>  </m:t>
                        </m:r>
                      </m:oMath>
                    </m:oMathPara>
                  </a14:m>
                  <a:endParaRPr/>
                </a:p>
              </p:txBody>
            </p:sp>
          </mc:Choice>
          <mc:Fallback xmlns="">
            <p:sp>
              <p:nvSpPr>
                <p:cNvPr id="3" name="Oval 2">
                  <a:extLst>
                    <a:ext uri="{FF2B5EF4-FFF2-40B4-BE49-F238E27FC236}">
                      <a16:creationId xmlns:a16="http://schemas.microsoft.com/office/drawing/2014/main" id="{3BEED852-2CF5-3701-F283-AF1857749F48}"/>
                    </a:ext>
                  </a:extLst>
                </p:cNvPr>
                <p:cNvSpPr>
                  <a:spLocks noRot="1" noChangeAspect="1" noMove="1" noResize="1" noEditPoints="1" noAdjustHandles="1" noChangeArrowheads="1" noChangeShapeType="1" noTextEdit="1"/>
                </p:cNvSpPr>
                <p:nvPr/>
              </p:nvSpPr>
              <p:spPr>
                <a:xfrm>
                  <a:off x="7496986" y="1328396"/>
                  <a:ext cx="914400" cy="914400"/>
                </a:xfrm>
                <a:prstGeom prst="ellipse">
                  <a:avLst/>
                </a:prstGeom>
                <a:blipFill>
                  <a:blip r:embed="rId13"/>
                  <a:stretch>
                    <a:fillRect r="-9459" b="-10811"/>
                  </a:stretch>
                </a:blipFill>
              </p:spPr>
              <p:txBody>
                <a:bodyPr/>
                <a:lstStyle/>
                <a:p>
                  <a:r>
                    <a:rPr lang="en-US">
                      <a:noFill/>
                    </a:rPr>
                    <a:t> </a:t>
                  </a:r>
                </a:p>
              </p:txBody>
            </p:sp>
          </mc:Fallback>
        </mc:AlternateContent>
        <p:cxnSp>
          <p:nvCxnSpPr>
            <p:cNvPr id="22" name="Straight Connector 21">
              <a:extLst>
                <a:ext uri="{FF2B5EF4-FFF2-40B4-BE49-F238E27FC236}">
                  <a16:creationId xmlns:a16="http://schemas.microsoft.com/office/drawing/2014/main" id="{713C1861-D23C-F428-BDC0-2A25E2B39517}"/>
                </a:ext>
              </a:extLst>
            </p:cNvPr>
            <p:cNvCxnSpPr>
              <a:cxnSpLocks/>
            </p:cNvCxnSpPr>
            <p:nvPr/>
          </p:nvCxnSpPr>
          <p:spPr>
            <a:xfrm>
              <a:off x="8022997" y="1328396"/>
              <a:ext cx="0" cy="9144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56B1E42B-3BB0-86D0-12FA-195B1C9161F2}"/>
                </a:ext>
              </a:extLst>
            </p:cNvPr>
            <p:cNvPicPr>
              <a:picLocks noChangeAspect="1"/>
            </p:cNvPicPr>
            <p:nvPr/>
          </p:nvPicPr>
          <p:blipFill>
            <a:blip r:embed="rId14"/>
            <a:stretch>
              <a:fillRect/>
            </a:stretch>
          </p:blipFill>
          <p:spPr>
            <a:xfrm>
              <a:off x="7919179" y="1594886"/>
              <a:ext cx="573144" cy="382096"/>
            </a:xfrm>
            <a:prstGeom prst="rect">
              <a:avLst/>
            </a:prstGeom>
          </p:spPr>
        </p:pic>
      </p:grpSp>
    </p:spTree>
    <p:extLst>
      <p:ext uri="{BB962C8B-B14F-4D97-AF65-F5344CB8AC3E}">
        <p14:creationId xmlns:p14="http://schemas.microsoft.com/office/powerpoint/2010/main" val="138766342"/>
      </p:ext>
    </p:extLst>
  </p:cSld>
  <p:clrMapOvr>
    <a:masterClrMapping/>
  </p:clrMapOvr>
  <mc:AlternateContent xmlns:mc="http://schemas.openxmlformats.org/markup-compatibility/2006" xmlns:p14="http://schemas.microsoft.com/office/powerpoint/2010/main">
    <mc:Choice Requires="p14">
      <p:transition spd="slow" p14:dur="2000" advTm="71113"/>
    </mc:Choice>
    <mc:Fallback xmlns="">
      <p:transition spd="slow" advTm="71113"/>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CAD49-F1E4-F167-F5FE-345F8BD1A6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35E34A-D89D-8EF1-6D4C-1249FDC3F6B8}"/>
              </a:ext>
            </a:extLst>
          </p:cNvPr>
          <p:cNvSpPr>
            <a:spLocks noGrp="1"/>
          </p:cNvSpPr>
          <p:nvPr>
            <p:ph type="title"/>
          </p:nvPr>
        </p:nvSpPr>
        <p:spPr>
          <a:xfrm>
            <a:off x="0" y="160718"/>
            <a:ext cx="12192000" cy="743871"/>
          </a:xfrm>
        </p:spPr>
        <p:txBody>
          <a:bodyPr>
            <a:noAutofit/>
          </a:bodyPr>
          <a:lstStyle/>
          <a:p>
            <a:pPr algn="ctr">
              <a:spcAft>
                <a:spcPts val="1200"/>
              </a:spcAft>
            </a:pPr>
            <a:r>
              <a:rPr lang="en-US" dirty="0"/>
              <a:t>Likelihood from first principles</a:t>
            </a:r>
            <a:endParaRPr lang="en-US" sz="2400" dirty="0"/>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75401B4B-2B7B-88B5-98C3-679FC7C6C667}"/>
                  </a:ext>
                </a:extLst>
              </p:cNvPr>
              <p:cNvSpPr txBox="1"/>
              <p:nvPr/>
            </p:nvSpPr>
            <p:spPr>
              <a:xfrm>
                <a:off x="6569732" y="1902689"/>
                <a:ext cx="4631666" cy="4677819"/>
              </a:xfrm>
              <a:prstGeom prst="rect">
                <a:avLst/>
              </a:prstGeom>
              <a:noFill/>
            </p:spPr>
            <p:txBody>
              <a:bodyPr wrap="square" rtlCol="0">
                <a:spAutoFit/>
              </a:bodyPr>
              <a:lstStyle/>
              <a:p>
                <a:r>
                  <a:rPr lang="en-US" sz="1600" dirty="0">
                    <a:latin typeface="Cambria Math" panose="02040503050406030204" pitchFamily="18" charset="0"/>
                  </a:rPr>
                  <a:t>The predicted probability of </a:t>
                </a:r>
                <a14:m>
                  <m:oMath xmlns:m="http://schemas.openxmlformats.org/officeDocument/2006/math">
                    <m:r>
                      <a:rPr lang="en-US" sz="1600" i="1" dirty="0">
                        <a:latin typeface="Cambria Math" panose="02040503050406030204" pitchFamily="18" charset="0"/>
                      </a:rPr>
                      <m:t>𝑦</m:t>
                    </m:r>
                    <m:r>
                      <a:rPr lang="en-US" sz="1600" i="1" baseline="-25000" dirty="0" err="1">
                        <a:latin typeface="Cambria Math" panose="02040503050406030204" pitchFamily="18" charset="0"/>
                      </a:rPr>
                      <m:t>𝑖</m:t>
                    </m:r>
                  </m:oMath>
                </a14:m>
                <a:r>
                  <a:rPr lang="en-US" sz="1600" dirty="0">
                    <a:latin typeface="Cambria Math" panose="02040503050406030204" pitchFamily="18" charset="0"/>
                  </a:rPr>
                  <a:t> is:</a:t>
                </a:r>
              </a:p>
              <a:p>
                <a:endParaRPr lang="en-US" sz="1600" dirty="0">
                  <a:latin typeface="Cambria Math" panose="02040503050406030204" pitchFamily="18" charset="0"/>
                </a:endParaRPr>
              </a:p>
              <a:p>
                <a:r>
                  <a:rPr lang="en-US" sz="1600" dirty="0"/>
                  <a:t>	       </a:t>
                </a:r>
                <a14:m>
                  <m:oMath xmlns:m="http://schemas.openxmlformats.org/officeDocument/2006/math">
                    <m:r>
                      <a:rPr lang="en-US" sz="1600" b="0" i="1" dirty="0" smtClean="0">
                        <a:latin typeface="Cambria Math" panose="02040503050406030204" pitchFamily="18" charset="0"/>
                      </a:rPr>
                      <m:t>𝜎</m:t>
                    </m:r>
                    <m:r>
                      <a:rPr lang="en-US" sz="1600" b="0" i="1" dirty="0" smtClean="0">
                        <a:latin typeface="Cambria Math" panose="02040503050406030204" pitchFamily="18" charset="0"/>
                      </a:rPr>
                      <m:t>(</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𝑧</m:t>
                        </m:r>
                      </m:e>
                      <m:sub>
                        <m:r>
                          <a:rPr lang="en-US" sz="1600" b="0" i="1" dirty="0" smtClean="0">
                            <a:latin typeface="Cambria Math" panose="02040503050406030204" pitchFamily="18" charset="0"/>
                          </a:rPr>
                          <m:t>𝑖</m:t>
                        </m:r>
                      </m:sub>
                    </m:sSub>
                    <m:r>
                      <a:rPr lang="en-US" sz="1600" b="0" i="1" dirty="0" smtClean="0">
                        <a:latin typeface="Cambria Math" panose="02040503050406030204" pitchFamily="18" charset="0"/>
                      </a:rPr>
                      <m:t>)</m:t>
                    </m:r>
                  </m:oMath>
                </a14:m>
                <a:r>
                  <a:rPr lang="en-US" sz="1600" dirty="0">
                    <a:latin typeface="Cambria Math" panose="02040503050406030204" pitchFamily="18" charset="0"/>
                  </a:rPr>
                  <a:t>	        	if   </a:t>
                </a:r>
                <a14:m>
                  <m:oMath xmlns:m="http://schemas.openxmlformats.org/officeDocument/2006/math">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𝑦</m:t>
                        </m:r>
                      </m:e>
                      <m:sub>
                        <m:r>
                          <a:rPr lang="en-US" sz="1600" b="0" i="1" dirty="0" smtClean="0">
                            <a:latin typeface="Cambria Math" panose="02040503050406030204" pitchFamily="18" charset="0"/>
                          </a:rPr>
                          <m:t>𝑖</m:t>
                        </m:r>
                      </m:sub>
                    </m:sSub>
                    <m:r>
                      <a:rPr lang="en-US" sz="1600" i="1" dirty="0">
                        <a:latin typeface="Cambria Math" panose="02040503050406030204" pitchFamily="18" charset="0"/>
                      </a:rPr>
                      <m:t>=1</m:t>
                    </m:r>
                  </m:oMath>
                </a14:m>
                <a:endParaRPr lang="en-US" sz="1600" dirty="0">
                  <a:latin typeface="Cambria Math" panose="02040503050406030204" pitchFamily="18" charset="0"/>
                </a:endParaRPr>
              </a:p>
              <a:p>
                <a:r>
                  <a:rPr lang="en-US" sz="1600" dirty="0"/>
                  <a:t>	       </a:t>
                </a:r>
                <a14:m>
                  <m:oMath xmlns:m="http://schemas.openxmlformats.org/officeDocument/2006/math">
                    <m:r>
                      <a:rPr lang="en-US" sz="1600" i="1" dirty="0">
                        <a:latin typeface="Cambria Math" panose="02040503050406030204" pitchFamily="18" charset="0"/>
                      </a:rPr>
                      <m:t>1−</m:t>
                    </m:r>
                    <m:r>
                      <a:rPr lang="en-US" sz="1600" b="0" i="1" dirty="0" smtClean="0">
                        <a:latin typeface="Cambria Math" panose="02040503050406030204" pitchFamily="18" charset="0"/>
                      </a:rPr>
                      <m:t>𝜎</m:t>
                    </m:r>
                    <m:r>
                      <a:rPr lang="en-US" sz="1600" b="0" i="1" dirty="0" smtClean="0">
                        <a:latin typeface="Cambria Math" panose="02040503050406030204" pitchFamily="18" charset="0"/>
                      </a:rPr>
                      <m:t>(</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𝑧</m:t>
                        </m:r>
                      </m:e>
                      <m:sub>
                        <m:r>
                          <a:rPr lang="en-US" sz="1600" b="0" i="1" dirty="0" smtClean="0">
                            <a:latin typeface="Cambria Math" panose="02040503050406030204" pitchFamily="18" charset="0"/>
                          </a:rPr>
                          <m:t>𝑖</m:t>
                        </m:r>
                      </m:sub>
                    </m:sSub>
                    <m:r>
                      <a:rPr lang="en-US" sz="1600" b="0" i="1" dirty="0" smtClean="0">
                        <a:latin typeface="Cambria Math" panose="02040503050406030204" pitchFamily="18" charset="0"/>
                      </a:rPr>
                      <m:t>)</m:t>
                    </m:r>
                  </m:oMath>
                </a14:m>
                <a:r>
                  <a:rPr lang="en-US" sz="1600" dirty="0">
                    <a:latin typeface="Cambria Math" panose="02040503050406030204" pitchFamily="18" charset="0"/>
                  </a:rPr>
                  <a:t>	if   </a:t>
                </a:r>
                <a14:m>
                  <m:oMath xmlns:m="http://schemas.openxmlformats.org/officeDocument/2006/math">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𝑦</m:t>
                        </m:r>
                      </m:e>
                      <m:sub>
                        <m:r>
                          <a:rPr lang="en-US" sz="1600" b="0" i="1" dirty="0" smtClean="0">
                            <a:latin typeface="Cambria Math" panose="02040503050406030204" pitchFamily="18" charset="0"/>
                          </a:rPr>
                          <m:t>𝑖</m:t>
                        </m:r>
                      </m:sub>
                    </m:sSub>
                    <m:r>
                      <a:rPr lang="en-US" sz="1600" i="1" dirty="0">
                        <a:latin typeface="Cambria Math" panose="02040503050406030204" pitchFamily="18" charset="0"/>
                      </a:rPr>
                      <m:t>=0</m:t>
                    </m:r>
                  </m:oMath>
                </a14:m>
                <a:endParaRPr lang="en-US" sz="1600" baseline="-25000" dirty="0"/>
              </a:p>
              <a:p>
                <a:endParaRPr lang="en-US" sz="1600" baseline="-25000" dirty="0"/>
              </a:p>
              <a:p>
                <a:r>
                  <a:rPr lang="en-US" sz="1600" dirty="0">
                    <a:latin typeface="Cambria Math" panose="02040503050406030204" pitchFamily="18" charset="0"/>
                  </a:rPr>
                  <a:t>Written more compactly:</a:t>
                </a:r>
              </a:p>
              <a:p>
                <a:endParaRPr lang="en-US" sz="1600" dirty="0">
                  <a:latin typeface="Cambria Math" panose="02040503050406030204" pitchFamily="18" charset="0"/>
                </a:endParaRPr>
              </a:p>
              <a:p>
                <a:r>
                  <a:rPr lang="en-US" sz="1600" dirty="0">
                    <a:latin typeface="Cambria Math" panose="02040503050406030204" pitchFamily="18" charset="0"/>
                  </a:rPr>
                  <a:t>	 </a:t>
                </a:r>
                <a14:m>
                  <m:oMath xmlns:m="http://schemas.openxmlformats.org/officeDocument/2006/math">
                    <m:r>
                      <a:rPr lang="en-US" sz="1600" b="0" i="1" dirty="0" smtClean="0">
                        <a:latin typeface="Cambria Math" panose="02040503050406030204" pitchFamily="18" charset="0"/>
                      </a:rPr>
                      <m:t>𝜎</m:t>
                    </m:r>
                    <m:sSup>
                      <m:sSupPr>
                        <m:ctrlPr>
                          <a:rPr lang="en-US" sz="1600" b="0" i="1" dirty="0" smtClean="0">
                            <a:latin typeface="Cambria Math" panose="02040503050406030204" pitchFamily="18" charset="0"/>
                          </a:rPr>
                        </m:ctrlPr>
                      </m:sSupPr>
                      <m:e>
                        <m:d>
                          <m:dPr>
                            <m:ctrlPr>
                              <a:rPr lang="en-US" sz="1600" b="0" i="1" dirty="0" smtClean="0">
                                <a:latin typeface="Cambria Math" panose="02040503050406030204" pitchFamily="18" charset="0"/>
                              </a:rPr>
                            </m:ctrlPr>
                          </m:dPr>
                          <m:e>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𝑧</m:t>
                                </m:r>
                              </m:e>
                              <m:sub>
                                <m:r>
                                  <a:rPr lang="en-US" sz="1600" b="0" i="1" dirty="0" smtClean="0">
                                    <a:latin typeface="Cambria Math" panose="02040503050406030204" pitchFamily="18" charset="0"/>
                                  </a:rPr>
                                  <m:t>𝑖</m:t>
                                </m:r>
                              </m:sub>
                            </m:sSub>
                          </m:e>
                        </m:d>
                      </m:e>
                      <m:sup>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𝑦</m:t>
                            </m:r>
                          </m:e>
                          <m:sub>
                            <m:r>
                              <a:rPr lang="en-US" sz="1600" b="0" i="1" dirty="0" smtClean="0">
                                <a:latin typeface="Cambria Math" panose="02040503050406030204" pitchFamily="18" charset="0"/>
                              </a:rPr>
                              <m:t>𝑖</m:t>
                            </m:r>
                          </m:sub>
                        </m:sSub>
                      </m:sup>
                    </m:sSup>
                    <m:sSup>
                      <m:sSupPr>
                        <m:ctrlPr>
                          <a:rPr lang="en-US" sz="1600" i="1" dirty="0">
                            <a:latin typeface="Cambria Math" panose="02040503050406030204" pitchFamily="18" charset="0"/>
                          </a:rPr>
                        </m:ctrlPr>
                      </m:sSupPr>
                      <m:e>
                        <m:d>
                          <m:dPr>
                            <m:ctrlPr>
                              <a:rPr lang="en-US" sz="1600" i="1" dirty="0">
                                <a:latin typeface="Cambria Math" panose="02040503050406030204" pitchFamily="18" charset="0"/>
                              </a:rPr>
                            </m:ctrlPr>
                          </m:dPr>
                          <m:e>
                            <m:r>
                              <a:rPr lang="en-US" sz="1600" i="1" dirty="0">
                                <a:latin typeface="Cambria Math" panose="02040503050406030204" pitchFamily="18" charset="0"/>
                              </a:rPr>
                              <m:t>1−</m:t>
                            </m:r>
                            <m:r>
                              <a:rPr lang="en-US" sz="1600" b="0" i="1" dirty="0" smtClean="0">
                                <a:latin typeface="Cambria Math" panose="02040503050406030204" pitchFamily="18" charset="0"/>
                              </a:rPr>
                              <m:t>𝜎</m:t>
                            </m:r>
                            <m:r>
                              <a:rPr lang="en-US" sz="1600" b="0" i="1" dirty="0" smtClean="0">
                                <a:latin typeface="Cambria Math" panose="02040503050406030204" pitchFamily="18" charset="0"/>
                              </a:rPr>
                              <m:t>(</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𝑧</m:t>
                                </m:r>
                              </m:e>
                              <m:sub>
                                <m:r>
                                  <a:rPr lang="en-US" sz="1600" b="0" i="1" dirty="0" smtClean="0">
                                    <a:latin typeface="Cambria Math" panose="02040503050406030204" pitchFamily="18" charset="0"/>
                                  </a:rPr>
                                  <m:t>𝑖</m:t>
                                </m:r>
                              </m:sub>
                            </m:sSub>
                            <m:r>
                              <a:rPr lang="en-US" sz="1600" b="0" i="1" dirty="0" smtClean="0">
                                <a:latin typeface="Cambria Math" panose="02040503050406030204" pitchFamily="18" charset="0"/>
                              </a:rPr>
                              <m:t>)</m:t>
                            </m:r>
                          </m:e>
                        </m:d>
                      </m:e>
                      <m:sup>
                        <m:r>
                          <a:rPr lang="en-US" sz="1600" i="1" dirty="0">
                            <a:latin typeface="Cambria Math" panose="02040503050406030204" pitchFamily="18" charset="0"/>
                          </a:rPr>
                          <m:t>1−</m:t>
                        </m:r>
                        <m:sSub>
                          <m:sSubPr>
                            <m:ctrlPr>
                              <a:rPr lang="en-US" sz="1600" i="1" dirty="0">
                                <a:latin typeface="Cambria Math" panose="02040503050406030204" pitchFamily="18" charset="0"/>
                              </a:rPr>
                            </m:ctrlPr>
                          </m:sSubPr>
                          <m:e>
                            <m:r>
                              <a:rPr lang="en-US" sz="1600" i="1" dirty="0">
                                <a:latin typeface="Cambria Math" panose="02040503050406030204" pitchFamily="18" charset="0"/>
                              </a:rPr>
                              <m:t>𝑦</m:t>
                            </m:r>
                          </m:e>
                          <m:sub>
                            <m:r>
                              <a:rPr lang="en-US" sz="1600" i="1" dirty="0">
                                <a:latin typeface="Cambria Math" panose="02040503050406030204" pitchFamily="18" charset="0"/>
                              </a:rPr>
                              <m:t>𝑖</m:t>
                            </m:r>
                          </m:sub>
                        </m:sSub>
                      </m:sup>
                    </m:sSup>
                  </m:oMath>
                </a14:m>
                <a:endParaRPr lang="en-US" sz="1600" baseline="-25000" dirty="0"/>
              </a:p>
              <a:p>
                <a:endParaRPr lang="en-US" sz="1600" baseline="-25000" dirty="0"/>
              </a:p>
              <a:p>
                <a:r>
                  <a:rPr lang="en-US" sz="1600" dirty="0">
                    <a:latin typeface="Cambria Math" panose="02040503050406030204" pitchFamily="18" charset="0"/>
                  </a:rPr>
                  <a:t>Multiply over all observations:</a:t>
                </a:r>
                <a:endParaRPr lang="en-US" sz="16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nary>
                        <m:naryPr>
                          <m:chr m:val="∏"/>
                          <m:ctrlPr>
                            <a:rPr lang="en-US" sz="1600" i="1">
                              <a:latin typeface="Cambria Math" panose="02040503050406030204" pitchFamily="18" charset="0"/>
                            </a:rPr>
                          </m:ctrlPr>
                        </m:naryPr>
                        <m:sub>
                          <m:r>
                            <m:rPr>
                              <m:brk m:alnAt="23"/>
                            </m:rPr>
                            <a:rPr lang="en-US" sz="1600" i="1">
                              <a:latin typeface="Cambria Math" panose="02040503050406030204" pitchFamily="18" charset="0"/>
                            </a:rPr>
                            <m:t>𝑖</m:t>
                          </m:r>
                          <m:r>
                            <a:rPr lang="en-US" sz="1600" i="1">
                              <a:latin typeface="Cambria Math" panose="02040503050406030204" pitchFamily="18" charset="0"/>
                            </a:rPr>
                            <m:t>=1</m:t>
                          </m:r>
                        </m:sub>
                        <m:sup>
                          <m:r>
                            <a:rPr lang="en-US" sz="1600" i="1">
                              <a:latin typeface="Cambria Math" panose="02040503050406030204" pitchFamily="18" charset="0"/>
                            </a:rPr>
                            <m:t>𝑁</m:t>
                          </m:r>
                        </m:sup>
                        <m:e>
                          <m:r>
                            <a:rPr lang="en-US" sz="1600" b="0" i="1" dirty="0" smtClean="0">
                              <a:latin typeface="Cambria Math" panose="02040503050406030204" pitchFamily="18" charset="0"/>
                            </a:rPr>
                            <m:t>𝜎</m:t>
                          </m:r>
                          <m:sSup>
                            <m:sSupPr>
                              <m:ctrlPr>
                                <a:rPr lang="en-US" sz="1600" b="0" i="1" dirty="0" smtClean="0">
                                  <a:latin typeface="Cambria Math" panose="02040503050406030204" pitchFamily="18" charset="0"/>
                                </a:rPr>
                              </m:ctrlPr>
                            </m:sSupPr>
                            <m:e>
                              <m:d>
                                <m:dPr>
                                  <m:ctrlPr>
                                    <a:rPr lang="en-US" sz="1600" b="0" i="1" dirty="0" smtClean="0">
                                      <a:latin typeface="Cambria Math" panose="02040503050406030204" pitchFamily="18" charset="0"/>
                                    </a:rPr>
                                  </m:ctrlPr>
                                </m:dPr>
                                <m:e>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𝑧</m:t>
                                      </m:r>
                                    </m:e>
                                    <m:sub>
                                      <m:r>
                                        <a:rPr lang="en-US" sz="1600" b="0" i="1" dirty="0" smtClean="0">
                                          <a:latin typeface="Cambria Math" panose="02040503050406030204" pitchFamily="18" charset="0"/>
                                        </a:rPr>
                                        <m:t>𝑖</m:t>
                                      </m:r>
                                    </m:sub>
                                  </m:sSub>
                                </m:e>
                              </m:d>
                            </m:e>
                            <m:sup>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𝑦</m:t>
                                  </m:r>
                                </m:e>
                                <m:sub>
                                  <m:r>
                                    <a:rPr lang="en-US" sz="1600" b="0" i="1" dirty="0" smtClean="0">
                                      <a:latin typeface="Cambria Math" panose="02040503050406030204" pitchFamily="18" charset="0"/>
                                    </a:rPr>
                                    <m:t>𝑖</m:t>
                                  </m:r>
                                </m:sub>
                              </m:sSub>
                            </m:sup>
                          </m:sSup>
                          <m:sSup>
                            <m:sSupPr>
                              <m:ctrlPr>
                                <a:rPr lang="en-US" sz="1600" i="1" dirty="0">
                                  <a:latin typeface="Cambria Math" panose="02040503050406030204" pitchFamily="18" charset="0"/>
                                </a:rPr>
                              </m:ctrlPr>
                            </m:sSupPr>
                            <m:e>
                              <m:d>
                                <m:dPr>
                                  <m:ctrlPr>
                                    <a:rPr lang="en-US" sz="1600" i="1" dirty="0">
                                      <a:latin typeface="Cambria Math" panose="02040503050406030204" pitchFamily="18" charset="0"/>
                                    </a:rPr>
                                  </m:ctrlPr>
                                </m:dPr>
                                <m:e>
                                  <m:r>
                                    <a:rPr lang="en-US" sz="1600" i="1" dirty="0">
                                      <a:latin typeface="Cambria Math" panose="02040503050406030204" pitchFamily="18" charset="0"/>
                                    </a:rPr>
                                    <m:t>1−</m:t>
                                  </m:r>
                                  <m:r>
                                    <a:rPr lang="en-US" sz="1600" b="0" i="1" dirty="0" smtClean="0">
                                      <a:latin typeface="Cambria Math" panose="02040503050406030204" pitchFamily="18" charset="0"/>
                                    </a:rPr>
                                    <m:t>𝜎</m:t>
                                  </m:r>
                                  <m:r>
                                    <a:rPr lang="en-US" sz="1600" b="0" i="1" dirty="0" smtClean="0">
                                      <a:latin typeface="Cambria Math" panose="02040503050406030204" pitchFamily="18" charset="0"/>
                                    </a:rPr>
                                    <m:t>(</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𝑧</m:t>
                                      </m:r>
                                    </m:e>
                                    <m:sub>
                                      <m:r>
                                        <a:rPr lang="en-US" sz="1600" b="0" i="1" dirty="0" smtClean="0">
                                          <a:latin typeface="Cambria Math" panose="02040503050406030204" pitchFamily="18" charset="0"/>
                                        </a:rPr>
                                        <m:t>𝑖</m:t>
                                      </m:r>
                                    </m:sub>
                                  </m:sSub>
                                  <m:r>
                                    <a:rPr lang="en-US" sz="1600" b="0" i="1" dirty="0" smtClean="0">
                                      <a:latin typeface="Cambria Math" panose="02040503050406030204" pitchFamily="18" charset="0"/>
                                    </a:rPr>
                                    <m:t>)</m:t>
                                  </m:r>
                                </m:e>
                              </m:d>
                            </m:e>
                            <m:sup>
                              <m:r>
                                <a:rPr lang="en-US" sz="1600" i="1" dirty="0">
                                  <a:latin typeface="Cambria Math" panose="02040503050406030204" pitchFamily="18" charset="0"/>
                                </a:rPr>
                                <m:t>1−</m:t>
                              </m:r>
                              <m:sSub>
                                <m:sSubPr>
                                  <m:ctrlPr>
                                    <a:rPr lang="en-US" sz="1600" i="1" dirty="0">
                                      <a:latin typeface="Cambria Math" panose="02040503050406030204" pitchFamily="18" charset="0"/>
                                    </a:rPr>
                                  </m:ctrlPr>
                                </m:sSubPr>
                                <m:e>
                                  <m:r>
                                    <a:rPr lang="en-US" sz="1600" i="1" dirty="0">
                                      <a:latin typeface="Cambria Math" panose="02040503050406030204" pitchFamily="18" charset="0"/>
                                    </a:rPr>
                                    <m:t>𝑦</m:t>
                                  </m:r>
                                </m:e>
                                <m:sub>
                                  <m:r>
                                    <a:rPr lang="en-US" sz="1600" i="1" dirty="0">
                                      <a:latin typeface="Cambria Math" panose="02040503050406030204" pitchFamily="18" charset="0"/>
                                    </a:rPr>
                                    <m:t>𝑖</m:t>
                                  </m:r>
                                </m:sub>
                              </m:sSub>
                            </m:sup>
                          </m:sSup>
                        </m:e>
                      </m:nary>
                    </m:oMath>
                  </m:oMathPara>
                </a14:m>
                <a:endParaRPr lang="en-US" sz="1600" baseline="-25000" dirty="0"/>
              </a:p>
              <a:p>
                <a:r>
                  <a:rPr lang="en-US" sz="1600" dirty="0">
                    <a:latin typeface="Cambria Math" panose="02040503050406030204" pitchFamily="18" charset="0"/>
                  </a:rPr>
                  <a:t>For numerical stability, use the </a:t>
                </a:r>
                <a:r>
                  <a:rPr lang="en-US" sz="1600" i="1" dirty="0">
                    <a:latin typeface="Cambria Math" panose="02040503050406030204" pitchFamily="18" charset="0"/>
                  </a:rPr>
                  <a:t>log-likelihood</a:t>
                </a:r>
                <a:r>
                  <a:rPr lang="en-US" sz="1600" dirty="0">
                    <a:latin typeface="Cambria Math" panose="02040503050406030204" pitchFamily="18" charset="0"/>
                  </a:rPr>
                  <a:t>:</a:t>
                </a:r>
                <a:endParaRPr lang="en-US" sz="16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nary>
                        <m:naryPr>
                          <m:chr m:val="∑"/>
                          <m:ctrlPr>
                            <a:rPr lang="en-US" sz="1600" i="1">
                              <a:latin typeface="Cambria Math" panose="02040503050406030204" pitchFamily="18" charset="0"/>
                            </a:rPr>
                          </m:ctrlPr>
                        </m:naryPr>
                        <m:sub>
                          <m:r>
                            <m:rPr>
                              <m:brk m:alnAt="23"/>
                            </m:rPr>
                            <a:rPr lang="en-US" sz="1600" i="1">
                              <a:latin typeface="Cambria Math" panose="02040503050406030204" pitchFamily="18" charset="0"/>
                            </a:rPr>
                            <m:t>𝑖</m:t>
                          </m:r>
                          <m:r>
                            <a:rPr lang="en-US" sz="1600" i="1">
                              <a:latin typeface="Cambria Math" panose="02040503050406030204" pitchFamily="18" charset="0"/>
                            </a:rPr>
                            <m:t>=1</m:t>
                          </m:r>
                        </m:sub>
                        <m:sup>
                          <m:r>
                            <a:rPr lang="en-US" sz="1600" i="1">
                              <a:latin typeface="Cambria Math" panose="02040503050406030204" pitchFamily="18" charset="0"/>
                            </a:rPr>
                            <m:t>𝑁</m:t>
                          </m:r>
                        </m:sup>
                        <m:e>
                          <m:sSub>
                            <m:sSubPr>
                              <m:ctrlPr>
                                <a:rPr lang="en-US" sz="1600" i="1">
                                  <a:latin typeface="Cambria Math" panose="02040503050406030204" pitchFamily="18" charset="0"/>
                                </a:rPr>
                              </m:ctrlPr>
                            </m:sSubPr>
                            <m:e>
                              <m:r>
                                <a:rPr lang="en-US" sz="1600" i="1">
                                  <a:latin typeface="Cambria Math" panose="02040503050406030204" pitchFamily="18" charset="0"/>
                                </a:rPr>
                                <m:t>𝑦</m:t>
                              </m:r>
                            </m:e>
                            <m:sub>
                              <m:r>
                                <a:rPr lang="en-US" sz="1600" i="1">
                                  <a:latin typeface="Cambria Math" panose="02040503050406030204" pitchFamily="18" charset="0"/>
                                </a:rPr>
                                <m:t>𝑖</m:t>
                              </m:r>
                            </m:sub>
                          </m:sSub>
                          <m:func>
                            <m:funcPr>
                              <m:ctrlPr>
                                <a:rPr lang="en-US" sz="1600" i="1">
                                  <a:latin typeface="Cambria Math" panose="02040503050406030204" pitchFamily="18" charset="0"/>
                                </a:rPr>
                              </m:ctrlPr>
                            </m:funcPr>
                            <m:fName>
                              <m:r>
                                <m:rPr>
                                  <m:sty m:val="p"/>
                                </m:rPr>
                                <a:rPr lang="en-US" sz="1600">
                                  <a:latin typeface="Cambria Math" panose="02040503050406030204" pitchFamily="18" charset="0"/>
                                </a:rPr>
                                <m:t>log</m:t>
                              </m:r>
                            </m:fName>
                            <m:e>
                              <m:r>
                                <a:rPr lang="en-US" sz="1600" i="1">
                                  <a:latin typeface="Cambria Math" panose="02040503050406030204" pitchFamily="18" charset="0"/>
                                </a:rPr>
                                <m:t>𝜎</m:t>
                              </m:r>
                              <m:d>
                                <m:dPr>
                                  <m:ctrlPr>
                                    <a:rPr lang="en-US" sz="1600" i="1">
                                      <a:latin typeface="Cambria Math" panose="02040503050406030204" pitchFamily="18" charset="0"/>
                                    </a:rPr>
                                  </m:ctrlPr>
                                </m:dPr>
                                <m:e>
                                  <m:r>
                                    <a:rPr lang="en-US" sz="1600" i="1">
                                      <a:latin typeface="Cambria Math" panose="02040503050406030204" pitchFamily="18" charset="0"/>
                                    </a:rPr>
                                    <m:t>𝑧</m:t>
                                  </m:r>
                                  <m:r>
                                    <a:rPr lang="en-US" sz="1600" i="1" baseline="-25000">
                                      <a:latin typeface="Cambria Math" panose="02040503050406030204" pitchFamily="18" charset="0"/>
                                    </a:rPr>
                                    <m:t>𝑖</m:t>
                                  </m:r>
                                </m:e>
                              </m:d>
                            </m:e>
                          </m:func>
                          <m:r>
                            <a:rPr lang="en-US" sz="1600" i="1">
                              <a:latin typeface="Cambria Math" panose="02040503050406030204" pitchFamily="18" charset="0"/>
                            </a:rPr>
                            <m:t>+(1−</m:t>
                          </m:r>
                          <m:sSub>
                            <m:sSubPr>
                              <m:ctrlPr>
                                <a:rPr lang="en-US" sz="1600" i="1">
                                  <a:latin typeface="Cambria Math" panose="02040503050406030204" pitchFamily="18" charset="0"/>
                                </a:rPr>
                              </m:ctrlPr>
                            </m:sSubPr>
                            <m:e>
                              <m:r>
                                <a:rPr lang="en-US" sz="1600" i="1">
                                  <a:latin typeface="Cambria Math" panose="02040503050406030204" pitchFamily="18" charset="0"/>
                                </a:rPr>
                                <m:t>𝑦</m:t>
                              </m:r>
                            </m:e>
                            <m:sub>
                              <m:r>
                                <a:rPr lang="en-US" sz="1600" i="1">
                                  <a:latin typeface="Cambria Math" panose="02040503050406030204" pitchFamily="18" charset="0"/>
                                </a:rPr>
                                <m:t>𝑖</m:t>
                              </m:r>
                            </m:sub>
                          </m:sSub>
                          <m:r>
                            <a:rPr lang="en-US" sz="1600" i="1">
                              <a:latin typeface="Cambria Math" panose="02040503050406030204" pitchFamily="18" charset="0"/>
                            </a:rPr>
                            <m:t>)</m:t>
                          </m:r>
                          <m:func>
                            <m:funcPr>
                              <m:ctrlPr>
                                <a:rPr lang="en-US" sz="1600" i="1">
                                  <a:latin typeface="Cambria Math" panose="02040503050406030204" pitchFamily="18" charset="0"/>
                                </a:rPr>
                              </m:ctrlPr>
                            </m:funcPr>
                            <m:fName>
                              <m:r>
                                <m:rPr>
                                  <m:sty m:val="p"/>
                                </m:rPr>
                                <a:rPr lang="en-US" sz="1600">
                                  <a:latin typeface="Cambria Math" panose="02040503050406030204" pitchFamily="18" charset="0"/>
                                </a:rPr>
                                <m:t>log</m:t>
                              </m:r>
                            </m:fName>
                            <m:e>
                              <m:d>
                                <m:dPr>
                                  <m:ctrlPr>
                                    <a:rPr lang="en-US" sz="1600" i="1">
                                      <a:latin typeface="Cambria Math" panose="02040503050406030204" pitchFamily="18" charset="0"/>
                                    </a:rPr>
                                  </m:ctrlPr>
                                </m:dPr>
                                <m:e>
                                  <m:r>
                                    <a:rPr lang="en-US" sz="1600" i="1">
                                      <a:latin typeface="Cambria Math" panose="02040503050406030204" pitchFamily="18" charset="0"/>
                                    </a:rPr>
                                    <m:t>1−</m:t>
                                  </m:r>
                                  <m:r>
                                    <a:rPr lang="en-US" sz="1600" i="1">
                                      <a:latin typeface="Cambria Math" panose="02040503050406030204" pitchFamily="18" charset="0"/>
                                    </a:rPr>
                                    <m:t>𝜎</m:t>
                                  </m:r>
                                  <m:d>
                                    <m:dPr>
                                      <m:ctrlPr>
                                        <a:rPr lang="en-US" sz="1600" i="1">
                                          <a:latin typeface="Cambria Math" panose="02040503050406030204" pitchFamily="18" charset="0"/>
                                        </a:rPr>
                                      </m:ctrlPr>
                                    </m:dPr>
                                    <m:e>
                                      <m:r>
                                        <a:rPr lang="en-US" sz="1600" i="1">
                                          <a:latin typeface="Cambria Math" panose="02040503050406030204" pitchFamily="18" charset="0"/>
                                        </a:rPr>
                                        <m:t>𝑧</m:t>
                                      </m:r>
                                      <m:r>
                                        <a:rPr lang="en-US" sz="1600" i="1" baseline="-25000">
                                          <a:latin typeface="Cambria Math" panose="02040503050406030204" pitchFamily="18" charset="0"/>
                                        </a:rPr>
                                        <m:t>𝑖</m:t>
                                      </m:r>
                                    </m:e>
                                  </m:d>
                                </m:e>
                              </m:d>
                            </m:e>
                          </m:func>
                        </m:e>
                      </m:nary>
                    </m:oMath>
                  </m:oMathPara>
                </a14:m>
                <a:endParaRPr lang="en-US" sz="1600" baseline="-25000" dirty="0"/>
              </a:p>
              <a:p>
                <a:pPr/>
                <a:endParaRPr lang="en-US" sz="1600" baseline="-25000" dirty="0"/>
              </a:p>
              <a:p>
                <a:pPr/>
                <a:r>
                  <a:rPr lang="en-US" sz="1600" dirty="0">
                    <a:latin typeface="Cambria Math" panose="02040503050406030204" pitchFamily="18" charset="0"/>
                    <a:ea typeface="Cambria Math" panose="02040503050406030204" pitchFamily="18" charset="0"/>
                  </a:rPr>
                  <a:t>By convention, minimize the negative log-likelihood</a:t>
                </a:r>
              </a:p>
            </p:txBody>
          </p:sp>
        </mc:Choice>
        <mc:Fallback>
          <p:sp>
            <p:nvSpPr>
              <p:cNvPr id="6" name="TextBox 5">
                <a:extLst>
                  <a:ext uri="{FF2B5EF4-FFF2-40B4-BE49-F238E27FC236}">
                    <a16:creationId xmlns:a16="http://schemas.microsoft.com/office/drawing/2014/main" id="{75401B4B-2B7B-88B5-98C3-679FC7C6C667}"/>
                  </a:ext>
                </a:extLst>
              </p:cNvPr>
              <p:cNvSpPr txBox="1">
                <a:spLocks noRot="1" noChangeAspect="1" noMove="1" noResize="1" noEditPoints="1" noAdjustHandles="1" noChangeArrowheads="1" noChangeShapeType="1" noTextEdit="1"/>
              </p:cNvSpPr>
              <p:nvPr/>
            </p:nvSpPr>
            <p:spPr>
              <a:xfrm>
                <a:off x="6569732" y="1902689"/>
                <a:ext cx="4631666" cy="4677819"/>
              </a:xfrm>
              <a:prstGeom prst="rect">
                <a:avLst/>
              </a:prstGeom>
              <a:blipFill>
                <a:blip r:embed="rId3"/>
                <a:stretch>
                  <a:fillRect l="-4384" t="-271" b="-113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0E859F0-B462-E362-5924-86853C9187C8}"/>
                  </a:ext>
                </a:extLst>
              </p:cNvPr>
              <p:cNvSpPr/>
              <p:nvPr/>
            </p:nvSpPr>
            <p:spPr>
              <a:xfrm>
                <a:off x="876299" y="1076751"/>
                <a:ext cx="10439403" cy="461665"/>
              </a:xfrm>
              <a:prstGeom prst="rect">
                <a:avLst/>
              </a:prstGeom>
            </p:spPr>
            <p:txBody>
              <a:bodyPr wrap="square">
                <a:spAutoFit/>
              </a:bodyPr>
              <a:lstStyle/>
              <a:p>
                <a:pPr algn="ctr"/>
                <a:r>
                  <a:rPr lang="en-US" sz="2400" dirty="0"/>
                  <a:t>Probability of all the events </a:t>
                </a:r>
                <a14:m>
                  <m:oMath xmlns:m="http://schemas.openxmlformats.org/officeDocument/2006/math">
                    <m:r>
                      <a:rPr lang="en-US" sz="2400" i="1" dirty="0">
                        <a:latin typeface="Cambria Math" panose="02040503050406030204" pitchFamily="18" charset="0"/>
                      </a:rPr>
                      <m:t>𝑦</m:t>
                    </m:r>
                    <m:r>
                      <a:rPr lang="en-US" sz="2400" i="1" baseline="-25000" dirty="0">
                        <a:latin typeface="Cambria Math" panose="02040503050406030204" pitchFamily="18" charset="0"/>
                      </a:rPr>
                      <m:t>1</m:t>
                    </m:r>
                    <m:r>
                      <a:rPr lang="en-US" sz="2400" i="1" dirty="0">
                        <a:latin typeface="Cambria Math" panose="02040503050406030204" pitchFamily="18" charset="0"/>
                      </a:rPr>
                      <m:t>,…,</m:t>
                    </m:r>
                    <m:r>
                      <a:rPr lang="en-US" sz="2400" i="1" dirty="0" err="1">
                        <a:latin typeface="Cambria Math" panose="02040503050406030204" pitchFamily="18" charset="0"/>
                      </a:rPr>
                      <m:t>𝑦</m:t>
                    </m:r>
                    <m:r>
                      <a:rPr lang="en-US" sz="2400" i="1" baseline="-25000" dirty="0" err="1">
                        <a:latin typeface="Cambria Math" panose="02040503050406030204" pitchFamily="18" charset="0"/>
                      </a:rPr>
                      <m:t>𝑁</m:t>
                    </m:r>
                    <m:r>
                      <a:rPr lang="en-US" sz="2400" i="1" dirty="0">
                        <a:latin typeface="Cambria Math" panose="02040503050406030204" pitchFamily="18" charset="0"/>
                      </a:rPr>
                      <m:t> </m:t>
                    </m:r>
                  </m:oMath>
                </a14:m>
                <a:r>
                  <a:rPr lang="en-US" sz="2400" dirty="0"/>
                  <a:t>given our current model parameters</a:t>
                </a:r>
              </a:p>
            </p:txBody>
          </p:sp>
        </mc:Choice>
        <mc:Fallback xmlns="">
          <p:sp>
            <p:nvSpPr>
              <p:cNvPr id="8" name="Rectangle 7"/>
              <p:cNvSpPr>
                <a:spLocks noRot="1" noChangeAspect="1" noMove="1" noResize="1" noEditPoints="1" noAdjustHandles="1" noChangeArrowheads="1" noChangeShapeType="1" noTextEdit="1"/>
              </p:cNvSpPr>
              <p:nvPr/>
            </p:nvSpPr>
            <p:spPr>
              <a:xfrm>
                <a:off x="876299" y="1076751"/>
                <a:ext cx="10439403" cy="461665"/>
              </a:xfrm>
              <a:prstGeom prst="rect">
                <a:avLst/>
              </a:prstGeom>
              <a:blipFill>
                <a:blip r:embed="rId6"/>
                <a:stretch>
                  <a:fillRect t="-5405" b="-29730"/>
                </a:stretch>
              </a:blipFill>
            </p:spPr>
            <p:txBody>
              <a:bodyPr/>
              <a:lstStyle/>
              <a:p>
                <a:r>
                  <a:rPr lang="en-US">
                    <a:noFill/>
                  </a:rPr>
                  <a:t> </a:t>
                </a:r>
              </a:p>
            </p:txBody>
          </p:sp>
        </mc:Fallback>
      </mc:AlternateContent>
      <p:sp>
        <p:nvSpPr>
          <p:cNvPr id="4" name="Left Brace 3">
            <a:extLst>
              <a:ext uri="{FF2B5EF4-FFF2-40B4-BE49-F238E27FC236}">
                <a16:creationId xmlns:a16="http://schemas.microsoft.com/office/drawing/2014/main" id="{C1BF26E0-EB13-DAE3-0D62-DE7A9D73D7B8}"/>
              </a:ext>
            </a:extLst>
          </p:cNvPr>
          <p:cNvSpPr/>
          <p:nvPr/>
        </p:nvSpPr>
        <p:spPr>
          <a:xfrm>
            <a:off x="7616861" y="2442064"/>
            <a:ext cx="197116" cy="457252"/>
          </a:xfrm>
          <a:prstGeom prst="leftBrace">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2400"/>
          </a:p>
        </p:txBody>
      </p:sp>
      <p:sp>
        <p:nvSpPr>
          <p:cNvPr id="3" name="TextBox 2">
            <a:extLst>
              <a:ext uri="{FF2B5EF4-FFF2-40B4-BE49-F238E27FC236}">
                <a16:creationId xmlns:a16="http://schemas.microsoft.com/office/drawing/2014/main" id="{613AC83A-A4AF-7016-3208-9F08A3EAA244}"/>
              </a:ext>
            </a:extLst>
          </p:cNvPr>
          <p:cNvSpPr txBox="1"/>
          <p:nvPr/>
        </p:nvSpPr>
        <p:spPr>
          <a:xfrm>
            <a:off x="958216" y="5532670"/>
            <a:ext cx="4631667" cy="379656"/>
          </a:xfrm>
          <a:prstGeom prst="rect">
            <a:avLst/>
          </a:prstGeom>
          <a:noFill/>
        </p:spPr>
        <p:txBody>
          <a:bodyPr wrap="square" rtlCol="0">
            <a:spAutoFit/>
          </a:bodyPr>
          <a:lstStyle/>
          <a:p>
            <a:pPr algn="ctr"/>
            <a:r>
              <a:rPr lang="en-US" sz="1867" dirty="0">
                <a:solidFill>
                  <a:schemeClr val="accent2"/>
                </a:solidFill>
                <a:latin typeface="Cambria Math" panose="02040503050406030204" pitchFamily="18" charset="0"/>
              </a:rPr>
              <a:t>“cross-entropy loss” or “log loss”</a:t>
            </a:r>
          </a:p>
        </p:txBody>
      </p:sp>
      <p:pic>
        <p:nvPicPr>
          <p:cNvPr id="5" name="Picture 4">
            <a:extLst>
              <a:ext uri="{FF2B5EF4-FFF2-40B4-BE49-F238E27FC236}">
                <a16:creationId xmlns:a16="http://schemas.microsoft.com/office/drawing/2014/main" id="{22746F79-834A-64ED-0E43-B3FB81470591}"/>
              </a:ext>
            </a:extLst>
          </p:cNvPr>
          <p:cNvPicPr>
            <a:picLocks noChangeAspect="1"/>
          </p:cNvPicPr>
          <p:nvPr/>
        </p:nvPicPr>
        <p:blipFill>
          <a:blip r:embed="rId7"/>
          <a:stretch>
            <a:fillRect/>
          </a:stretch>
        </p:blipFill>
        <p:spPr>
          <a:xfrm>
            <a:off x="452101" y="1547700"/>
            <a:ext cx="5643899" cy="3762600"/>
          </a:xfrm>
          <a:prstGeom prst="rect">
            <a:avLst/>
          </a:prstGeom>
        </p:spPr>
      </p:pic>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18F1023E-17F8-2F96-CE89-66B3BCFAC93A}"/>
                  </a:ext>
                </a:extLst>
              </p:cNvPr>
              <p:cNvSpPr txBox="1"/>
              <p:nvPr/>
            </p:nvSpPr>
            <p:spPr>
              <a:xfrm>
                <a:off x="1122923" y="6104900"/>
                <a:ext cx="4302252" cy="404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i="1">
                              <a:latin typeface="Cambria Math" panose="02040503050406030204" pitchFamily="18" charset="0"/>
                            </a:rPr>
                            <m:t>𝑦</m:t>
                          </m:r>
                        </m:e>
                        <m:sub>
                          <m:r>
                            <a:rPr lang="en-US" sz="1800" i="1">
                              <a:latin typeface="Cambria Math" panose="02040503050406030204" pitchFamily="18" charset="0"/>
                            </a:rPr>
                            <m:t>𝑖</m:t>
                          </m:r>
                        </m:sub>
                      </m:sSub>
                      <m:func>
                        <m:funcPr>
                          <m:ctrlPr>
                            <a:rPr lang="en-US" sz="1800" i="1">
                              <a:latin typeface="Cambria Math" panose="02040503050406030204" pitchFamily="18" charset="0"/>
                            </a:rPr>
                          </m:ctrlPr>
                        </m:funcPr>
                        <m:fName>
                          <m:r>
                            <m:rPr>
                              <m:sty m:val="p"/>
                            </m:rPr>
                            <a:rPr lang="en-US" sz="1800">
                              <a:latin typeface="Cambria Math" panose="02040503050406030204" pitchFamily="18" charset="0"/>
                            </a:rPr>
                            <m:t>log</m:t>
                          </m:r>
                        </m:fName>
                        <m:e>
                          <m:r>
                            <a:rPr lang="en-US" sz="1800" i="1">
                              <a:latin typeface="Cambria Math" panose="02040503050406030204" pitchFamily="18" charset="0"/>
                            </a:rPr>
                            <m:t>𝜎</m:t>
                          </m:r>
                          <m:d>
                            <m:dPr>
                              <m:ctrlPr>
                                <a:rPr lang="en-US" sz="1800" i="1">
                                  <a:latin typeface="Cambria Math" panose="02040503050406030204" pitchFamily="18" charset="0"/>
                                </a:rPr>
                              </m:ctrlPr>
                            </m:dPr>
                            <m:e>
                              <m:r>
                                <a:rPr lang="en-US" sz="1800" i="1">
                                  <a:latin typeface="Cambria Math" panose="02040503050406030204" pitchFamily="18" charset="0"/>
                                </a:rPr>
                                <m:t>𝑧</m:t>
                              </m:r>
                              <m:r>
                                <a:rPr lang="en-US" sz="1800" i="1" baseline="-25000">
                                  <a:latin typeface="Cambria Math" panose="02040503050406030204" pitchFamily="18" charset="0"/>
                                </a:rPr>
                                <m:t>𝑖</m:t>
                              </m:r>
                            </m:e>
                          </m:d>
                        </m:e>
                      </m:func>
                      <m:r>
                        <a:rPr lang="en-US" sz="1800" i="1">
                          <a:latin typeface="Cambria Math" panose="02040503050406030204" pitchFamily="18" charset="0"/>
                        </a:rPr>
                        <m:t>+(1−</m:t>
                      </m:r>
                      <m:sSub>
                        <m:sSubPr>
                          <m:ctrlPr>
                            <a:rPr lang="en-US" sz="1800" i="1">
                              <a:latin typeface="Cambria Math" panose="02040503050406030204" pitchFamily="18" charset="0"/>
                            </a:rPr>
                          </m:ctrlPr>
                        </m:sSubPr>
                        <m:e>
                          <m:r>
                            <a:rPr lang="en-US" sz="1800" i="1">
                              <a:latin typeface="Cambria Math" panose="02040503050406030204" pitchFamily="18" charset="0"/>
                            </a:rPr>
                            <m:t>𝑦</m:t>
                          </m:r>
                        </m:e>
                        <m:sub>
                          <m:r>
                            <a:rPr lang="en-US" sz="1800" i="1">
                              <a:latin typeface="Cambria Math" panose="02040503050406030204" pitchFamily="18" charset="0"/>
                            </a:rPr>
                            <m:t>𝑖</m:t>
                          </m:r>
                        </m:sub>
                      </m:sSub>
                      <m:r>
                        <a:rPr lang="en-US" sz="1800" i="1">
                          <a:latin typeface="Cambria Math" panose="02040503050406030204" pitchFamily="18" charset="0"/>
                        </a:rPr>
                        <m:t>)</m:t>
                      </m:r>
                      <m:func>
                        <m:funcPr>
                          <m:ctrlPr>
                            <a:rPr lang="en-US" sz="1800" i="1">
                              <a:latin typeface="Cambria Math" panose="02040503050406030204" pitchFamily="18" charset="0"/>
                            </a:rPr>
                          </m:ctrlPr>
                        </m:funcPr>
                        <m:fName>
                          <m:r>
                            <m:rPr>
                              <m:sty m:val="p"/>
                            </m:rPr>
                            <a:rPr lang="en-US" sz="1800">
                              <a:latin typeface="Cambria Math" panose="02040503050406030204" pitchFamily="18" charset="0"/>
                            </a:rPr>
                            <m:t>log</m:t>
                          </m:r>
                        </m:fName>
                        <m:e>
                          <m:d>
                            <m:dPr>
                              <m:ctrlPr>
                                <a:rPr lang="en-US" sz="1800" i="1">
                                  <a:latin typeface="Cambria Math" panose="02040503050406030204" pitchFamily="18" charset="0"/>
                                </a:rPr>
                              </m:ctrlPr>
                            </m:dPr>
                            <m:e>
                              <m:r>
                                <a:rPr lang="en-US" sz="1800" i="1">
                                  <a:latin typeface="Cambria Math" panose="02040503050406030204" pitchFamily="18" charset="0"/>
                                </a:rPr>
                                <m:t>1−</m:t>
                              </m:r>
                              <m:r>
                                <a:rPr lang="en-US" sz="1800" i="1">
                                  <a:latin typeface="Cambria Math" panose="02040503050406030204" pitchFamily="18" charset="0"/>
                                </a:rPr>
                                <m:t>𝜎</m:t>
                              </m:r>
                              <m:d>
                                <m:dPr>
                                  <m:ctrlPr>
                                    <a:rPr lang="en-US" sz="1800" i="1">
                                      <a:latin typeface="Cambria Math" panose="02040503050406030204" pitchFamily="18" charset="0"/>
                                    </a:rPr>
                                  </m:ctrlPr>
                                </m:dPr>
                                <m:e>
                                  <m:r>
                                    <a:rPr lang="en-US" sz="1800" i="1">
                                      <a:latin typeface="Cambria Math" panose="02040503050406030204" pitchFamily="18" charset="0"/>
                                    </a:rPr>
                                    <m:t>𝑧</m:t>
                                  </m:r>
                                  <m:r>
                                    <a:rPr lang="en-US" sz="1800" i="1" baseline="-25000">
                                      <a:latin typeface="Cambria Math" panose="02040503050406030204" pitchFamily="18" charset="0"/>
                                    </a:rPr>
                                    <m:t>𝑖</m:t>
                                  </m:r>
                                </m:e>
                              </m:d>
                            </m:e>
                          </m:d>
                        </m:e>
                      </m:func>
                    </m:oMath>
                  </m:oMathPara>
                </a14:m>
                <a:endParaRPr lang="en-US" dirty="0"/>
              </a:p>
            </p:txBody>
          </p:sp>
        </mc:Choice>
        <mc:Fallback>
          <p:sp>
            <p:nvSpPr>
              <p:cNvPr id="24" name="TextBox 23">
                <a:extLst>
                  <a:ext uri="{FF2B5EF4-FFF2-40B4-BE49-F238E27FC236}">
                    <a16:creationId xmlns:a16="http://schemas.microsoft.com/office/drawing/2014/main" id="{18F1023E-17F8-2F96-CE89-66B3BCFAC93A}"/>
                  </a:ext>
                </a:extLst>
              </p:cNvPr>
              <p:cNvSpPr txBox="1">
                <a:spLocks noRot="1" noChangeAspect="1" noMove="1" noResize="1" noEditPoints="1" noAdjustHandles="1" noChangeArrowheads="1" noChangeShapeType="1" noTextEdit="1"/>
              </p:cNvSpPr>
              <p:nvPr/>
            </p:nvSpPr>
            <p:spPr>
              <a:xfrm>
                <a:off x="1122923" y="6104900"/>
                <a:ext cx="4302252" cy="404983"/>
              </a:xfrm>
              <a:prstGeom prst="rect">
                <a:avLst/>
              </a:prstGeom>
              <a:blipFill>
                <a:blip r:embed="rId8"/>
                <a:stretch>
                  <a:fillRect b="-9091"/>
                </a:stretch>
              </a:blipFill>
            </p:spPr>
            <p:txBody>
              <a:bodyPr/>
              <a:lstStyle/>
              <a:p>
                <a:r>
                  <a:rPr lang="en-US">
                    <a:noFill/>
                  </a:rPr>
                  <a:t> </a:t>
                </a:r>
              </a:p>
            </p:txBody>
          </p:sp>
        </mc:Fallback>
      </mc:AlternateContent>
    </p:spTree>
    <p:extLst>
      <p:ext uri="{BB962C8B-B14F-4D97-AF65-F5344CB8AC3E}">
        <p14:creationId xmlns:p14="http://schemas.microsoft.com/office/powerpoint/2010/main" val="2890764861"/>
      </p:ext>
    </p:extLst>
  </p:cSld>
  <p:clrMapOvr>
    <a:masterClrMapping/>
  </p:clrMapOvr>
  <mc:AlternateContent xmlns:mc="http://schemas.openxmlformats.org/markup-compatibility/2006" xmlns:p14="http://schemas.microsoft.com/office/powerpoint/2010/main">
    <mc:Choice Requires="p14">
      <p:transition spd="slow" p14:dur="2000" advTm="71113"/>
    </mc:Choice>
    <mc:Fallback xmlns="">
      <p:transition spd="slow" advTm="71113"/>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58ECE-786D-5498-9D64-2C4532140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755522-0102-4168-5AC1-70F9EEFBAE80}"/>
              </a:ext>
            </a:extLst>
          </p:cNvPr>
          <p:cNvSpPr>
            <a:spLocks noGrp="1"/>
          </p:cNvSpPr>
          <p:nvPr>
            <p:ph type="title"/>
          </p:nvPr>
        </p:nvSpPr>
        <p:spPr>
          <a:xfrm>
            <a:off x="0" y="160718"/>
            <a:ext cx="12192000" cy="743871"/>
          </a:xfrm>
        </p:spPr>
        <p:txBody>
          <a:bodyPr>
            <a:noAutofit/>
          </a:bodyPr>
          <a:lstStyle/>
          <a:p>
            <a:pPr algn="ctr">
              <a:spcAft>
                <a:spcPts val="1200"/>
              </a:spcAft>
            </a:pPr>
            <a:r>
              <a:rPr lang="en-US" dirty="0"/>
              <a:t>Likelihood from first principles</a:t>
            </a:r>
            <a:endParaRPr lang="en-US" sz="2400" dirty="0"/>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218E8A5E-3C09-E95E-63CD-8BF9BDA0B12A}"/>
                  </a:ext>
                </a:extLst>
              </p:cNvPr>
              <p:cNvSpPr/>
              <p:nvPr/>
            </p:nvSpPr>
            <p:spPr>
              <a:xfrm>
                <a:off x="876299" y="1076751"/>
                <a:ext cx="10439403" cy="461665"/>
              </a:xfrm>
              <a:prstGeom prst="rect">
                <a:avLst/>
              </a:prstGeom>
            </p:spPr>
            <p:txBody>
              <a:bodyPr wrap="square">
                <a:spAutoFit/>
              </a:bodyPr>
              <a:lstStyle/>
              <a:p>
                <a:pPr algn="ctr"/>
                <a:r>
                  <a:rPr lang="en-US" sz="2400" dirty="0"/>
                  <a:t>Probability of all the events </a:t>
                </a:r>
                <a14:m>
                  <m:oMath xmlns:m="http://schemas.openxmlformats.org/officeDocument/2006/math">
                    <m:r>
                      <a:rPr lang="en-US" sz="2400" i="1" dirty="0">
                        <a:latin typeface="Cambria Math" panose="02040503050406030204" pitchFamily="18" charset="0"/>
                      </a:rPr>
                      <m:t>𝑦</m:t>
                    </m:r>
                    <m:r>
                      <a:rPr lang="en-US" sz="2400" i="1" baseline="-25000" dirty="0">
                        <a:latin typeface="Cambria Math" panose="02040503050406030204" pitchFamily="18" charset="0"/>
                      </a:rPr>
                      <m:t>1</m:t>
                    </m:r>
                    <m:r>
                      <a:rPr lang="en-US" sz="2400" i="1" dirty="0">
                        <a:latin typeface="Cambria Math" panose="02040503050406030204" pitchFamily="18" charset="0"/>
                      </a:rPr>
                      <m:t>,…,</m:t>
                    </m:r>
                    <m:r>
                      <a:rPr lang="en-US" sz="2400" i="1" dirty="0" err="1">
                        <a:latin typeface="Cambria Math" panose="02040503050406030204" pitchFamily="18" charset="0"/>
                      </a:rPr>
                      <m:t>𝑦</m:t>
                    </m:r>
                    <m:r>
                      <a:rPr lang="en-US" sz="2400" i="1" baseline="-25000" dirty="0" err="1">
                        <a:latin typeface="Cambria Math" panose="02040503050406030204" pitchFamily="18" charset="0"/>
                      </a:rPr>
                      <m:t>𝑁</m:t>
                    </m:r>
                    <m:r>
                      <a:rPr lang="en-US" sz="2400" i="1" dirty="0">
                        <a:latin typeface="Cambria Math" panose="02040503050406030204" pitchFamily="18" charset="0"/>
                      </a:rPr>
                      <m:t> </m:t>
                    </m:r>
                  </m:oMath>
                </a14:m>
                <a:r>
                  <a:rPr lang="en-US" sz="2400" dirty="0"/>
                  <a:t>given our current model parameters</a:t>
                </a:r>
              </a:p>
            </p:txBody>
          </p:sp>
        </mc:Choice>
        <mc:Fallback xmlns="">
          <p:sp>
            <p:nvSpPr>
              <p:cNvPr id="8" name="Rectangle 7"/>
              <p:cNvSpPr>
                <a:spLocks noRot="1" noChangeAspect="1" noMove="1" noResize="1" noEditPoints="1" noAdjustHandles="1" noChangeArrowheads="1" noChangeShapeType="1" noTextEdit="1"/>
              </p:cNvSpPr>
              <p:nvPr/>
            </p:nvSpPr>
            <p:spPr>
              <a:xfrm>
                <a:off x="876299" y="1076751"/>
                <a:ext cx="10439403" cy="461665"/>
              </a:xfrm>
              <a:prstGeom prst="rect">
                <a:avLst/>
              </a:prstGeom>
              <a:blipFill>
                <a:blip r:embed="rId6"/>
                <a:stretch>
                  <a:fillRect t="-5405" b="-29730"/>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0D6230B7-1CF4-EEA5-DC77-4A7A0F0E13F6}"/>
              </a:ext>
            </a:extLst>
          </p:cNvPr>
          <p:cNvSpPr txBox="1"/>
          <p:nvPr/>
        </p:nvSpPr>
        <p:spPr>
          <a:xfrm>
            <a:off x="958216" y="5532670"/>
            <a:ext cx="4631667" cy="379656"/>
          </a:xfrm>
          <a:prstGeom prst="rect">
            <a:avLst/>
          </a:prstGeom>
          <a:noFill/>
        </p:spPr>
        <p:txBody>
          <a:bodyPr wrap="square" rtlCol="0">
            <a:spAutoFit/>
          </a:bodyPr>
          <a:lstStyle/>
          <a:p>
            <a:pPr algn="ctr"/>
            <a:r>
              <a:rPr lang="en-US" sz="1867" dirty="0">
                <a:solidFill>
                  <a:schemeClr val="accent2"/>
                </a:solidFill>
                <a:latin typeface="Cambria Math" panose="02040503050406030204" pitchFamily="18" charset="0"/>
              </a:rPr>
              <a:t>“cross-entropy loss” or “log loss”</a:t>
            </a:r>
          </a:p>
        </p:txBody>
      </p:sp>
      <p:pic>
        <p:nvPicPr>
          <p:cNvPr id="5" name="Picture 4">
            <a:extLst>
              <a:ext uri="{FF2B5EF4-FFF2-40B4-BE49-F238E27FC236}">
                <a16:creationId xmlns:a16="http://schemas.microsoft.com/office/drawing/2014/main" id="{294C0D3C-61AE-3DE3-0F40-A8860206A3A4}"/>
              </a:ext>
            </a:extLst>
          </p:cNvPr>
          <p:cNvPicPr>
            <a:picLocks noChangeAspect="1"/>
          </p:cNvPicPr>
          <p:nvPr/>
        </p:nvPicPr>
        <p:blipFill>
          <a:blip r:embed="rId7"/>
          <a:stretch>
            <a:fillRect/>
          </a:stretch>
        </p:blipFill>
        <p:spPr>
          <a:xfrm>
            <a:off x="452101" y="1547700"/>
            <a:ext cx="5643899" cy="3762600"/>
          </a:xfrm>
          <a:prstGeom prst="rect">
            <a:avLst/>
          </a:prstGeom>
        </p:spPr>
      </p:pic>
      <p:sp>
        <p:nvSpPr>
          <p:cNvPr id="7" name="TextBox 6">
            <a:extLst>
              <a:ext uri="{FF2B5EF4-FFF2-40B4-BE49-F238E27FC236}">
                <a16:creationId xmlns:a16="http://schemas.microsoft.com/office/drawing/2014/main" id="{EE0D5DE1-079C-0822-45C2-D5D05F74FBB0}"/>
              </a:ext>
            </a:extLst>
          </p:cNvPr>
          <p:cNvSpPr txBox="1"/>
          <p:nvPr/>
        </p:nvSpPr>
        <p:spPr>
          <a:xfrm>
            <a:off x="6803136" y="1929384"/>
            <a:ext cx="4512566" cy="923330"/>
          </a:xfrm>
          <a:prstGeom prst="rect">
            <a:avLst/>
          </a:prstGeom>
          <a:noFill/>
        </p:spPr>
        <p:txBody>
          <a:bodyPr wrap="square" rtlCol="0">
            <a:spAutoFit/>
          </a:bodyPr>
          <a:lstStyle/>
          <a:p>
            <a:r>
              <a:rPr lang="en-US" u="sng" dirty="0"/>
              <a:t>Notes on this loss:</a:t>
            </a:r>
          </a:p>
          <a:p>
            <a:endParaRPr lang="en-US" dirty="0"/>
          </a:p>
          <a:p>
            <a:pPr marL="285750" indent="-285750">
              <a:buFont typeface="Arial" panose="020B0604020202020204" pitchFamily="34" charset="0"/>
              <a:buChar char="•"/>
            </a:pPr>
            <a:r>
              <a:rPr lang="en-US" dirty="0"/>
              <a:t>Not just for logistic regression</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7FDFF2F7-DA7F-4BFD-F48F-ECEB8A6F9516}"/>
                  </a:ext>
                </a:extLst>
              </p:cNvPr>
              <p:cNvSpPr txBox="1"/>
              <p:nvPr/>
            </p:nvSpPr>
            <p:spPr>
              <a:xfrm>
                <a:off x="1122923" y="6104900"/>
                <a:ext cx="4302252" cy="404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i="1">
                              <a:latin typeface="Cambria Math" panose="02040503050406030204" pitchFamily="18" charset="0"/>
                            </a:rPr>
                            <m:t>𝑦</m:t>
                          </m:r>
                        </m:e>
                        <m:sub>
                          <m:r>
                            <a:rPr lang="en-US" sz="1800" i="1">
                              <a:latin typeface="Cambria Math" panose="02040503050406030204" pitchFamily="18" charset="0"/>
                            </a:rPr>
                            <m:t>𝑖</m:t>
                          </m:r>
                        </m:sub>
                      </m:sSub>
                      <m:func>
                        <m:funcPr>
                          <m:ctrlPr>
                            <a:rPr lang="en-US" sz="1800" i="1">
                              <a:latin typeface="Cambria Math" panose="02040503050406030204" pitchFamily="18" charset="0"/>
                            </a:rPr>
                          </m:ctrlPr>
                        </m:funcPr>
                        <m:fName>
                          <m:r>
                            <m:rPr>
                              <m:sty m:val="p"/>
                            </m:rPr>
                            <a:rPr lang="en-US" sz="1800">
                              <a:latin typeface="Cambria Math" panose="02040503050406030204" pitchFamily="18" charset="0"/>
                            </a:rPr>
                            <m:t>log</m:t>
                          </m:r>
                        </m:fName>
                        <m:e>
                          <m:r>
                            <a:rPr lang="en-US" sz="1800" i="1">
                              <a:latin typeface="Cambria Math" panose="02040503050406030204" pitchFamily="18" charset="0"/>
                            </a:rPr>
                            <m:t>𝜎</m:t>
                          </m:r>
                          <m:d>
                            <m:dPr>
                              <m:ctrlPr>
                                <a:rPr lang="en-US" sz="1800" i="1">
                                  <a:latin typeface="Cambria Math" panose="02040503050406030204" pitchFamily="18" charset="0"/>
                                </a:rPr>
                              </m:ctrlPr>
                            </m:dPr>
                            <m:e>
                              <m:r>
                                <a:rPr lang="en-US" sz="1800" i="1">
                                  <a:latin typeface="Cambria Math" panose="02040503050406030204" pitchFamily="18" charset="0"/>
                                </a:rPr>
                                <m:t>𝑧</m:t>
                              </m:r>
                              <m:r>
                                <a:rPr lang="en-US" sz="1800" i="1" baseline="-25000">
                                  <a:latin typeface="Cambria Math" panose="02040503050406030204" pitchFamily="18" charset="0"/>
                                </a:rPr>
                                <m:t>𝑖</m:t>
                              </m:r>
                            </m:e>
                          </m:d>
                        </m:e>
                      </m:func>
                      <m:r>
                        <a:rPr lang="en-US" sz="1800" i="1">
                          <a:latin typeface="Cambria Math" panose="02040503050406030204" pitchFamily="18" charset="0"/>
                        </a:rPr>
                        <m:t>+(1−</m:t>
                      </m:r>
                      <m:sSub>
                        <m:sSubPr>
                          <m:ctrlPr>
                            <a:rPr lang="en-US" sz="1800" i="1">
                              <a:latin typeface="Cambria Math" panose="02040503050406030204" pitchFamily="18" charset="0"/>
                            </a:rPr>
                          </m:ctrlPr>
                        </m:sSubPr>
                        <m:e>
                          <m:r>
                            <a:rPr lang="en-US" sz="1800" i="1">
                              <a:latin typeface="Cambria Math" panose="02040503050406030204" pitchFamily="18" charset="0"/>
                            </a:rPr>
                            <m:t>𝑦</m:t>
                          </m:r>
                        </m:e>
                        <m:sub>
                          <m:r>
                            <a:rPr lang="en-US" sz="1800" i="1">
                              <a:latin typeface="Cambria Math" panose="02040503050406030204" pitchFamily="18" charset="0"/>
                            </a:rPr>
                            <m:t>𝑖</m:t>
                          </m:r>
                        </m:sub>
                      </m:sSub>
                      <m:r>
                        <a:rPr lang="en-US" sz="1800" i="1">
                          <a:latin typeface="Cambria Math" panose="02040503050406030204" pitchFamily="18" charset="0"/>
                        </a:rPr>
                        <m:t>)</m:t>
                      </m:r>
                      <m:func>
                        <m:funcPr>
                          <m:ctrlPr>
                            <a:rPr lang="en-US" sz="1800" i="1">
                              <a:latin typeface="Cambria Math" panose="02040503050406030204" pitchFamily="18" charset="0"/>
                            </a:rPr>
                          </m:ctrlPr>
                        </m:funcPr>
                        <m:fName>
                          <m:r>
                            <m:rPr>
                              <m:sty m:val="p"/>
                            </m:rPr>
                            <a:rPr lang="en-US" sz="1800">
                              <a:latin typeface="Cambria Math" panose="02040503050406030204" pitchFamily="18" charset="0"/>
                            </a:rPr>
                            <m:t>log</m:t>
                          </m:r>
                        </m:fName>
                        <m:e>
                          <m:d>
                            <m:dPr>
                              <m:ctrlPr>
                                <a:rPr lang="en-US" sz="1800" i="1">
                                  <a:latin typeface="Cambria Math" panose="02040503050406030204" pitchFamily="18" charset="0"/>
                                </a:rPr>
                              </m:ctrlPr>
                            </m:dPr>
                            <m:e>
                              <m:r>
                                <a:rPr lang="en-US" sz="1800" i="1">
                                  <a:latin typeface="Cambria Math" panose="02040503050406030204" pitchFamily="18" charset="0"/>
                                </a:rPr>
                                <m:t>1−</m:t>
                              </m:r>
                              <m:r>
                                <a:rPr lang="en-US" sz="1800" i="1">
                                  <a:latin typeface="Cambria Math" panose="02040503050406030204" pitchFamily="18" charset="0"/>
                                </a:rPr>
                                <m:t>𝜎</m:t>
                              </m:r>
                              <m:d>
                                <m:dPr>
                                  <m:ctrlPr>
                                    <a:rPr lang="en-US" sz="1800" i="1">
                                      <a:latin typeface="Cambria Math" panose="02040503050406030204" pitchFamily="18" charset="0"/>
                                    </a:rPr>
                                  </m:ctrlPr>
                                </m:dPr>
                                <m:e>
                                  <m:r>
                                    <a:rPr lang="en-US" sz="1800" i="1">
                                      <a:latin typeface="Cambria Math" panose="02040503050406030204" pitchFamily="18" charset="0"/>
                                    </a:rPr>
                                    <m:t>𝑧</m:t>
                                  </m:r>
                                  <m:r>
                                    <a:rPr lang="en-US" sz="1800" i="1" baseline="-25000">
                                      <a:latin typeface="Cambria Math" panose="02040503050406030204" pitchFamily="18" charset="0"/>
                                    </a:rPr>
                                    <m:t>𝑖</m:t>
                                  </m:r>
                                </m:e>
                              </m:d>
                            </m:e>
                          </m:d>
                        </m:e>
                      </m:func>
                    </m:oMath>
                  </m:oMathPara>
                </a14:m>
                <a:endParaRPr lang="en-US" dirty="0"/>
              </a:p>
            </p:txBody>
          </p:sp>
        </mc:Choice>
        <mc:Fallback>
          <p:sp>
            <p:nvSpPr>
              <p:cNvPr id="10" name="TextBox 9">
                <a:extLst>
                  <a:ext uri="{FF2B5EF4-FFF2-40B4-BE49-F238E27FC236}">
                    <a16:creationId xmlns:a16="http://schemas.microsoft.com/office/drawing/2014/main" id="{7FDFF2F7-DA7F-4BFD-F48F-ECEB8A6F9516}"/>
                  </a:ext>
                </a:extLst>
              </p:cNvPr>
              <p:cNvSpPr txBox="1">
                <a:spLocks noRot="1" noChangeAspect="1" noMove="1" noResize="1" noEditPoints="1" noAdjustHandles="1" noChangeArrowheads="1" noChangeShapeType="1" noTextEdit="1"/>
              </p:cNvSpPr>
              <p:nvPr/>
            </p:nvSpPr>
            <p:spPr>
              <a:xfrm>
                <a:off x="1122923" y="6104900"/>
                <a:ext cx="4302252" cy="404983"/>
              </a:xfrm>
              <a:prstGeom prst="rect">
                <a:avLst/>
              </a:prstGeom>
              <a:blipFill>
                <a:blip r:embed="rId8"/>
                <a:stretch>
                  <a:fillRect b="-9091"/>
                </a:stretch>
              </a:blipFill>
            </p:spPr>
            <p:txBody>
              <a:bodyPr/>
              <a:lstStyle/>
              <a:p>
                <a:r>
                  <a:rPr lang="en-US">
                    <a:noFill/>
                  </a:rPr>
                  <a:t> </a:t>
                </a:r>
              </a:p>
            </p:txBody>
          </p:sp>
        </mc:Fallback>
      </mc:AlternateContent>
    </p:spTree>
    <p:extLst>
      <p:ext uri="{BB962C8B-B14F-4D97-AF65-F5344CB8AC3E}">
        <p14:creationId xmlns:p14="http://schemas.microsoft.com/office/powerpoint/2010/main" val="1376926307"/>
      </p:ext>
    </p:extLst>
  </p:cSld>
  <p:clrMapOvr>
    <a:masterClrMapping/>
  </p:clrMapOvr>
  <mc:AlternateContent xmlns:mc="http://schemas.openxmlformats.org/markup-compatibility/2006" xmlns:p14="http://schemas.microsoft.com/office/powerpoint/2010/main">
    <mc:Choice Requires="p14">
      <p:transition spd="slow" p14:dur="2000" advTm="71113"/>
    </mc:Choice>
    <mc:Fallback xmlns="">
      <p:transition spd="slow" advTm="71113"/>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66EF4-32A1-B23B-B606-26F95B13F6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014FB-E73C-C7F1-23F3-938A3E87440A}"/>
              </a:ext>
            </a:extLst>
          </p:cNvPr>
          <p:cNvSpPr>
            <a:spLocks noGrp="1"/>
          </p:cNvSpPr>
          <p:nvPr>
            <p:ph type="title"/>
          </p:nvPr>
        </p:nvSpPr>
        <p:spPr>
          <a:xfrm>
            <a:off x="0" y="160718"/>
            <a:ext cx="12192000" cy="743871"/>
          </a:xfrm>
        </p:spPr>
        <p:txBody>
          <a:bodyPr>
            <a:noAutofit/>
          </a:bodyPr>
          <a:lstStyle/>
          <a:p>
            <a:pPr algn="ctr">
              <a:spcAft>
                <a:spcPts val="1200"/>
              </a:spcAft>
            </a:pPr>
            <a:r>
              <a:rPr lang="en-US" dirty="0"/>
              <a:t>Likelihood from first principles</a:t>
            </a:r>
            <a:endParaRPr lang="en-US" sz="2400" dirty="0"/>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06AE1556-EE72-A0A8-C506-A6FC4692CC4D}"/>
                  </a:ext>
                </a:extLst>
              </p:cNvPr>
              <p:cNvSpPr/>
              <p:nvPr/>
            </p:nvSpPr>
            <p:spPr>
              <a:xfrm>
                <a:off x="876299" y="1076751"/>
                <a:ext cx="10439403" cy="461665"/>
              </a:xfrm>
              <a:prstGeom prst="rect">
                <a:avLst/>
              </a:prstGeom>
            </p:spPr>
            <p:txBody>
              <a:bodyPr wrap="square">
                <a:spAutoFit/>
              </a:bodyPr>
              <a:lstStyle/>
              <a:p>
                <a:pPr algn="ctr"/>
                <a:r>
                  <a:rPr lang="en-US" sz="2400" dirty="0"/>
                  <a:t>Probability of all the events </a:t>
                </a:r>
                <a14:m>
                  <m:oMath xmlns:m="http://schemas.openxmlformats.org/officeDocument/2006/math">
                    <m:r>
                      <a:rPr lang="en-US" sz="2400" i="1" dirty="0">
                        <a:latin typeface="Cambria Math" panose="02040503050406030204" pitchFamily="18" charset="0"/>
                      </a:rPr>
                      <m:t>𝑦</m:t>
                    </m:r>
                    <m:r>
                      <a:rPr lang="en-US" sz="2400" i="1" baseline="-25000" dirty="0">
                        <a:latin typeface="Cambria Math" panose="02040503050406030204" pitchFamily="18" charset="0"/>
                      </a:rPr>
                      <m:t>1</m:t>
                    </m:r>
                    <m:r>
                      <a:rPr lang="en-US" sz="2400" i="1" dirty="0">
                        <a:latin typeface="Cambria Math" panose="02040503050406030204" pitchFamily="18" charset="0"/>
                      </a:rPr>
                      <m:t>,…,</m:t>
                    </m:r>
                    <m:r>
                      <a:rPr lang="en-US" sz="2400" i="1" dirty="0" err="1">
                        <a:latin typeface="Cambria Math" panose="02040503050406030204" pitchFamily="18" charset="0"/>
                      </a:rPr>
                      <m:t>𝑦</m:t>
                    </m:r>
                    <m:r>
                      <a:rPr lang="en-US" sz="2400" i="1" baseline="-25000" dirty="0" err="1">
                        <a:latin typeface="Cambria Math" panose="02040503050406030204" pitchFamily="18" charset="0"/>
                      </a:rPr>
                      <m:t>𝑁</m:t>
                    </m:r>
                    <m:r>
                      <a:rPr lang="en-US" sz="2400" i="1" dirty="0">
                        <a:latin typeface="Cambria Math" panose="02040503050406030204" pitchFamily="18" charset="0"/>
                      </a:rPr>
                      <m:t> </m:t>
                    </m:r>
                  </m:oMath>
                </a14:m>
                <a:r>
                  <a:rPr lang="en-US" sz="2400" dirty="0"/>
                  <a:t>given our current model parameters</a:t>
                </a:r>
              </a:p>
            </p:txBody>
          </p:sp>
        </mc:Choice>
        <mc:Fallback xmlns="">
          <p:sp>
            <p:nvSpPr>
              <p:cNvPr id="8" name="Rectangle 7"/>
              <p:cNvSpPr>
                <a:spLocks noRot="1" noChangeAspect="1" noMove="1" noResize="1" noEditPoints="1" noAdjustHandles="1" noChangeArrowheads="1" noChangeShapeType="1" noTextEdit="1"/>
              </p:cNvSpPr>
              <p:nvPr/>
            </p:nvSpPr>
            <p:spPr>
              <a:xfrm>
                <a:off x="876299" y="1076751"/>
                <a:ext cx="10439403" cy="461665"/>
              </a:xfrm>
              <a:prstGeom prst="rect">
                <a:avLst/>
              </a:prstGeom>
              <a:blipFill>
                <a:blip r:embed="rId6"/>
                <a:stretch>
                  <a:fillRect t="-5405" b="-29730"/>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CB42D59C-B6AE-08FB-08FF-E193F3C0B54F}"/>
              </a:ext>
            </a:extLst>
          </p:cNvPr>
          <p:cNvSpPr txBox="1"/>
          <p:nvPr/>
        </p:nvSpPr>
        <p:spPr>
          <a:xfrm>
            <a:off x="958216" y="5532670"/>
            <a:ext cx="4631667" cy="379656"/>
          </a:xfrm>
          <a:prstGeom prst="rect">
            <a:avLst/>
          </a:prstGeom>
          <a:noFill/>
        </p:spPr>
        <p:txBody>
          <a:bodyPr wrap="square" rtlCol="0">
            <a:spAutoFit/>
          </a:bodyPr>
          <a:lstStyle/>
          <a:p>
            <a:pPr algn="ctr"/>
            <a:r>
              <a:rPr lang="en-US" sz="1867" dirty="0">
                <a:solidFill>
                  <a:schemeClr val="accent2"/>
                </a:solidFill>
                <a:latin typeface="Cambria Math" panose="02040503050406030204" pitchFamily="18" charset="0"/>
              </a:rPr>
              <a:t>“cross-entropy loss” or “log loss”</a:t>
            </a:r>
          </a:p>
        </p:txBody>
      </p:sp>
      <p:pic>
        <p:nvPicPr>
          <p:cNvPr id="5" name="Picture 4">
            <a:extLst>
              <a:ext uri="{FF2B5EF4-FFF2-40B4-BE49-F238E27FC236}">
                <a16:creationId xmlns:a16="http://schemas.microsoft.com/office/drawing/2014/main" id="{E6EF3355-02D6-16C7-81AF-4A606A37B259}"/>
              </a:ext>
            </a:extLst>
          </p:cNvPr>
          <p:cNvPicPr>
            <a:picLocks noChangeAspect="1"/>
          </p:cNvPicPr>
          <p:nvPr/>
        </p:nvPicPr>
        <p:blipFill>
          <a:blip r:embed="rId7"/>
          <a:stretch>
            <a:fillRect/>
          </a:stretch>
        </p:blipFill>
        <p:spPr>
          <a:xfrm>
            <a:off x="452101" y="1547700"/>
            <a:ext cx="5643899" cy="3762600"/>
          </a:xfrm>
          <a:prstGeom prst="rect">
            <a:avLst/>
          </a:prstGeom>
        </p:spPr>
      </p:pic>
      <p:sp>
        <p:nvSpPr>
          <p:cNvPr id="7" name="TextBox 6">
            <a:extLst>
              <a:ext uri="{FF2B5EF4-FFF2-40B4-BE49-F238E27FC236}">
                <a16:creationId xmlns:a16="http://schemas.microsoft.com/office/drawing/2014/main" id="{4A1BE3C5-9F1D-185F-0FA3-C5D9CAD889A8}"/>
              </a:ext>
            </a:extLst>
          </p:cNvPr>
          <p:cNvSpPr txBox="1"/>
          <p:nvPr/>
        </p:nvSpPr>
        <p:spPr>
          <a:xfrm>
            <a:off x="6803136" y="1929384"/>
            <a:ext cx="4512566" cy="1754326"/>
          </a:xfrm>
          <a:prstGeom prst="rect">
            <a:avLst/>
          </a:prstGeom>
          <a:noFill/>
        </p:spPr>
        <p:txBody>
          <a:bodyPr wrap="square" rtlCol="0">
            <a:spAutoFit/>
          </a:bodyPr>
          <a:lstStyle/>
          <a:p>
            <a:r>
              <a:rPr lang="en-US" u="sng" dirty="0"/>
              <a:t>Notes on this loss:</a:t>
            </a:r>
          </a:p>
          <a:p>
            <a:endParaRPr lang="en-US" dirty="0"/>
          </a:p>
          <a:p>
            <a:pPr marL="285750" indent="-285750">
              <a:buFont typeface="Arial" panose="020B0604020202020204" pitchFamily="34" charset="0"/>
              <a:buChar char="•"/>
            </a:pPr>
            <a:r>
              <a:rPr lang="en-US" dirty="0"/>
              <a:t>Not just for logistic regression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Consider the loss for confident incorrect predictions</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89F948EA-4595-04FF-93F4-524E39202843}"/>
                  </a:ext>
                </a:extLst>
              </p:cNvPr>
              <p:cNvSpPr txBox="1"/>
              <p:nvPr/>
            </p:nvSpPr>
            <p:spPr>
              <a:xfrm>
                <a:off x="1122923" y="6104900"/>
                <a:ext cx="4302252" cy="404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i="1">
                              <a:latin typeface="Cambria Math" panose="02040503050406030204" pitchFamily="18" charset="0"/>
                            </a:rPr>
                            <m:t>𝑦</m:t>
                          </m:r>
                        </m:e>
                        <m:sub>
                          <m:r>
                            <a:rPr lang="en-US" sz="1800" i="1">
                              <a:latin typeface="Cambria Math" panose="02040503050406030204" pitchFamily="18" charset="0"/>
                            </a:rPr>
                            <m:t>𝑖</m:t>
                          </m:r>
                        </m:sub>
                      </m:sSub>
                      <m:func>
                        <m:funcPr>
                          <m:ctrlPr>
                            <a:rPr lang="en-US" sz="1800" i="1">
                              <a:latin typeface="Cambria Math" panose="02040503050406030204" pitchFamily="18" charset="0"/>
                            </a:rPr>
                          </m:ctrlPr>
                        </m:funcPr>
                        <m:fName>
                          <m:r>
                            <m:rPr>
                              <m:sty m:val="p"/>
                            </m:rPr>
                            <a:rPr lang="en-US" sz="1800">
                              <a:latin typeface="Cambria Math" panose="02040503050406030204" pitchFamily="18" charset="0"/>
                            </a:rPr>
                            <m:t>log</m:t>
                          </m:r>
                        </m:fName>
                        <m:e>
                          <m:r>
                            <a:rPr lang="en-US" sz="1800" i="1">
                              <a:latin typeface="Cambria Math" panose="02040503050406030204" pitchFamily="18" charset="0"/>
                            </a:rPr>
                            <m:t>𝜎</m:t>
                          </m:r>
                          <m:d>
                            <m:dPr>
                              <m:ctrlPr>
                                <a:rPr lang="en-US" sz="1800" i="1">
                                  <a:latin typeface="Cambria Math" panose="02040503050406030204" pitchFamily="18" charset="0"/>
                                </a:rPr>
                              </m:ctrlPr>
                            </m:dPr>
                            <m:e>
                              <m:r>
                                <a:rPr lang="en-US" sz="1800" i="1">
                                  <a:latin typeface="Cambria Math" panose="02040503050406030204" pitchFamily="18" charset="0"/>
                                </a:rPr>
                                <m:t>𝑧</m:t>
                              </m:r>
                              <m:r>
                                <a:rPr lang="en-US" sz="1800" i="1" baseline="-25000">
                                  <a:latin typeface="Cambria Math" panose="02040503050406030204" pitchFamily="18" charset="0"/>
                                </a:rPr>
                                <m:t>𝑖</m:t>
                              </m:r>
                            </m:e>
                          </m:d>
                        </m:e>
                      </m:func>
                      <m:r>
                        <a:rPr lang="en-US" sz="1800" i="1">
                          <a:latin typeface="Cambria Math" panose="02040503050406030204" pitchFamily="18" charset="0"/>
                        </a:rPr>
                        <m:t>+(1−</m:t>
                      </m:r>
                      <m:sSub>
                        <m:sSubPr>
                          <m:ctrlPr>
                            <a:rPr lang="en-US" sz="1800" i="1">
                              <a:latin typeface="Cambria Math" panose="02040503050406030204" pitchFamily="18" charset="0"/>
                            </a:rPr>
                          </m:ctrlPr>
                        </m:sSubPr>
                        <m:e>
                          <m:r>
                            <a:rPr lang="en-US" sz="1800" i="1">
                              <a:latin typeface="Cambria Math" panose="02040503050406030204" pitchFamily="18" charset="0"/>
                            </a:rPr>
                            <m:t>𝑦</m:t>
                          </m:r>
                        </m:e>
                        <m:sub>
                          <m:r>
                            <a:rPr lang="en-US" sz="1800" i="1">
                              <a:latin typeface="Cambria Math" panose="02040503050406030204" pitchFamily="18" charset="0"/>
                            </a:rPr>
                            <m:t>𝑖</m:t>
                          </m:r>
                        </m:sub>
                      </m:sSub>
                      <m:r>
                        <a:rPr lang="en-US" sz="1800" i="1">
                          <a:latin typeface="Cambria Math" panose="02040503050406030204" pitchFamily="18" charset="0"/>
                        </a:rPr>
                        <m:t>)</m:t>
                      </m:r>
                      <m:func>
                        <m:funcPr>
                          <m:ctrlPr>
                            <a:rPr lang="en-US" sz="1800" i="1">
                              <a:latin typeface="Cambria Math" panose="02040503050406030204" pitchFamily="18" charset="0"/>
                            </a:rPr>
                          </m:ctrlPr>
                        </m:funcPr>
                        <m:fName>
                          <m:r>
                            <m:rPr>
                              <m:sty m:val="p"/>
                            </m:rPr>
                            <a:rPr lang="en-US" sz="1800">
                              <a:latin typeface="Cambria Math" panose="02040503050406030204" pitchFamily="18" charset="0"/>
                            </a:rPr>
                            <m:t>log</m:t>
                          </m:r>
                        </m:fName>
                        <m:e>
                          <m:d>
                            <m:dPr>
                              <m:ctrlPr>
                                <a:rPr lang="en-US" sz="1800" i="1">
                                  <a:latin typeface="Cambria Math" panose="02040503050406030204" pitchFamily="18" charset="0"/>
                                </a:rPr>
                              </m:ctrlPr>
                            </m:dPr>
                            <m:e>
                              <m:r>
                                <a:rPr lang="en-US" sz="1800" i="1">
                                  <a:latin typeface="Cambria Math" panose="02040503050406030204" pitchFamily="18" charset="0"/>
                                </a:rPr>
                                <m:t>1−</m:t>
                              </m:r>
                              <m:r>
                                <a:rPr lang="en-US" sz="1800" i="1">
                                  <a:latin typeface="Cambria Math" panose="02040503050406030204" pitchFamily="18" charset="0"/>
                                </a:rPr>
                                <m:t>𝜎</m:t>
                              </m:r>
                              <m:d>
                                <m:dPr>
                                  <m:ctrlPr>
                                    <a:rPr lang="en-US" sz="1800" i="1">
                                      <a:latin typeface="Cambria Math" panose="02040503050406030204" pitchFamily="18" charset="0"/>
                                    </a:rPr>
                                  </m:ctrlPr>
                                </m:dPr>
                                <m:e>
                                  <m:r>
                                    <a:rPr lang="en-US" sz="1800" i="1">
                                      <a:latin typeface="Cambria Math" panose="02040503050406030204" pitchFamily="18" charset="0"/>
                                    </a:rPr>
                                    <m:t>𝑧</m:t>
                                  </m:r>
                                  <m:r>
                                    <a:rPr lang="en-US" sz="1800" i="1" baseline="-25000">
                                      <a:latin typeface="Cambria Math" panose="02040503050406030204" pitchFamily="18" charset="0"/>
                                    </a:rPr>
                                    <m:t>𝑖</m:t>
                                  </m:r>
                                </m:e>
                              </m:d>
                            </m:e>
                          </m:d>
                        </m:e>
                      </m:func>
                    </m:oMath>
                  </m:oMathPara>
                </a14:m>
                <a:endParaRPr lang="en-US" dirty="0"/>
              </a:p>
            </p:txBody>
          </p:sp>
        </mc:Choice>
        <mc:Fallback>
          <p:sp>
            <p:nvSpPr>
              <p:cNvPr id="10" name="TextBox 9">
                <a:extLst>
                  <a:ext uri="{FF2B5EF4-FFF2-40B4-BE49-F238E27FC236}">
                    <a16:creationId xmlns:a16="http://schemas.microsoft.com/office/drawing/2014/main" id="{89F948EA-4595-04FF-93F4-524E39202843}"/>
                  </a:ext>
                </a:extLst>
              </p:cNvPr>
              <p:cNvSpPr txBox="1">
                <a:spLocks noRot="1" noChangeAspect="1" noMove="1" noResize="1" noEditPoints="1" noAdjustHandles="1" noChangeArrowheads="1" noChangeShapeType="1" noTextEdit="1"/>
              </p:cNvSpPr>
              <p:nvPr/>
            </p:nvSpPr>
            <p:spPr>
              <a:xfrm>
                <a:off x="1122923" y="6104900"/>
                <a:ext cx="4302252" cy="404983"/>
              </a:xfrm>
              <a:prstGeom prst="rect">
                <a:avLst/>
              </a:prstGeom>
              <a:blipFill>
                <a:blip r:embed="rId8"/>
                <a:stretch>
                  <a:fillRect b="-9091"/>
                </a:stretch>
              </a:blipFill>
            </p:spPr>
            <p:txBody>
              <a:bodyPr/>
              <a:lstStyle/>
              <a:p>
                <a:r>
                  <a:rPr lang="en-US">
                    <a:noFill/>
                  </a:rPr>
                  <a:t> </a:t>
                </a:r>
              </a:p>
            </p:txBody>
          </p:sp>
        </mc:Fallback>
      </mc:AlternateContent>
    </p:spTree>
    <p:extLst>
      <p:ext uri="{BB962C8B-B14F-4D97-AF65-F5344CB8AC3E}">
        <p14:creationId xmlns:p14="http://schemas.microsoft.com/office/powerpoint/2010/main" val="2724727007"/>
      </p:ext>
    </p:extLst>
  </p:cSld>
  <p:clrMapOvr>
    <a:masterClrMapping/>
  </p:clrMapOvr>
  <mc:AlternateContent xmlns:mc="http://schemas.openxmlformats.org/markup-compatibility/2006" xmlns:p14="http://schemas.microsoft.com/office/powerpoint/2010/main">
    <mc:Choice Requires="p14">
      <p:transition spd="slow" p14:dur="2000" advTm="71113"/>
    </mc:Choice>
    <mc:Fallback xmlns="">
      <p:transition spd="slow" advTm="71113"/>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CD94D-3211-DB84-39AC-AB4DBC0F21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D983B-D275-6F14-EB04-10B60D980CCF}"/>
              </a:ext>
            </a:extLst>
          </p:cNvPr>
          <p:cNvSpPr>
            <a:spLocks noGrp="1"/>
          </p:cNvSpPr>
          <p:nvPr>
            <p:ph type="title"/>
          </p:nvPr>
        </p:nvSpPr>
        <p:spPr>
          <a:xfrm>
            <a:off x="0" y="160718"/>
            <a:ext cx="12192000" cy="743871"/>
          </a:xfrm>
        </p:spPr>
        <p:txBody>
          <a:bodyPr>
            <a:noAutofit/>
          </a:bodyPr>
          <a:lstStyle/>
          <a:p>
            <a:pPr algn="ctr">
              <a:spcAft>
                <a:spcPts val="1200"/>
              </a:spcAft>
            </a:pPr>
            <a:r>
              <a:rPr lang="en-US" dirty="0"/>
              <a:t>Likelihood from first principles</a:t>
            </a:r>
            <a:endParaRPr lang="en-US" sz="2400" dirty="0"/>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BEC94897-9FB0-3196-EFF3-7D5083E8F7F9}"/>
                  </a:ext>
                </a:extLst>
              </p:cNvPr>
              <p:cNvSpPr/>
              <p:nvPr/>
            </p:nvSpPr>
            <p:spPr>
              <a:xfrm>
                <a:off x="876299" y="1076751"/>
                <a:ext cx="10439403" cy="461665"/>
              </a:xfrm>
              <a:prstGeom prst="rect">
                <a:avLst/>
              </a:prstGeom>
            </p:spPr>
            <p:txBody>
              <a:bodyPr wrap="square">
                <a:spAutoFit/>
              </a:bodyPr>
              <a:lstStyle/>
              <a:p>
                <a:pPr algn="ctr"/>
                <a:r>
                  <a:rPr lang="en-US" sz="2400" dirty="0"/>
                  <a:t>Probability of all the events </a:t>
                </a:r>
                <a14:m>
                  <m:oMath xmlns:m="http://schemas.openxmlformats.org/officeDocument/2006/math">
                    <m:r>
                      <a:rPr lang="en-US" sz="2400" i="1" dirty="0">
                        <a:latin typeface="Cambria Math" panose="02040503050406030204" pitchFamily="18" charset="0"/>
                      </a:rPr>
                      <m:t>𝑦</m:t>
                    </m:r>
                    <m:r>
                      <a:rPr lang="en-US" sz="2400" i="1" baseline="-25000" dirty="0">
                        <a:latin typeface="Cambria Math" panose="02040503050406030204" pitchFamily="18" charset="0"/>
                      </a:rPr>
                      <m:t>1</m:t>
                    </m:r>
                    <m:r>
                      <a:rPr lang="en-US" sz="2400" i="1" dirty="0">
                        <a:latin typeface="Cambria Math" panose="02040503050406030204" pitchFamily="18" charset="0"/>
                      </a:rPr>
                      <m:t>,…,</m:t>
                    </m:r>
                    <m:r>
                      <a:rPr lang="en-US" sz="2400" i="1" dirty="0" err="1">
                        <a:latin typeface="Cambria Math" panose="02040503050406030204" pitchFamily="18" charset="0"/>
                      </a:rPr>
                      <m:t>𝑦</m:t>
                    </m:r>
                    <m:r>
                      <a:rPr lang="en-US" sz="2400" i="1" baseline="-25000" dirty="0" err="1">
                        <a:latin typeface="Cambria Math" panose="02040503050406030204" pitchFamily="18" charset="0"/>
                      </a:rPr>
                      <m:t>𝑁</m:t>
                    </m:r>
                    <m:r>
                      <a:rPr lang="en-US" sz="2400" i="1" dirty="0">
                        <a:latin typeface="Cambria Math" panose="02040503050406030204" pitchFamily="18" charset="0"/>
                      </a:rPr>
                      <m:t> </m:t>
                    </m:r>
                  </m:oMath>
                </a14:m>
                <a:r>
                  <a:rPr lang="en-US" sz="2400" dirty="0"/>
                  <a:t>given our current model parameters</a:t>
                </a:r>
              </a:p>
            </p:txBody>
          </p:sp>
        </mc:Choice>
        <mc:Fallback xmlns="">
          <p:sp>
            <p:nvSpPr>
              <p:cNvPr id="8" name="Rectangle 7"/>
              <p:cNvSpPr>
                <a:spLocks noRot="1" noChangeAspect="1" noMove="1" noResize="1" noEditPoints="1" noAdjustHandles="1" noChangeArrowheads="1" noChangeShapeType="1" noTextEdit="1"/>
              </p:cNvSpPr>
              <p:nvPr/>
            </p:nvSpPr>
            <p:spPr>
              <a:xfrm>
                <a:off x="876299" y="1076751"/>
                <a:ext cx="10439403" cy="461665"/>
              </a:xfrm>
              <a:prstGeom prst="rect">
                <a:avLst/>
              </a:prstGeom>
              <a:blipFill>
                <a:blip r:embed="rId6"/>
                <a:stretch>
                  <a:fillRect t="-5405" b="-29730"/>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DC450293-D294-4009-0EFE-8663C798FD8C}"/>
              </a:ext>
            </a:extLst>
          </p:cNvPr>
          <p:cNvSpPr txBox="1"/>
          <p:nvPr/>
        </p:nvSpPr>
        <p:spPr>
          <a:xfrm>
            <a:off x="958216" y="5532670"/>
            <a:ext cx="4631667" cy="379656"/>
          </a:xfrm>
          <a:prstGeom prst="rect">
            <a:avLst/>
          </a:prstGeom>
          <a:noFill/>
        </p:spPr>
        <p:txBody>
          <a:bodyPr wrap="square" rtlCol="0">
            <a:spAutoFit/>
          </a:bodyPr>
          <a:lstStyle/>
          <a:p>
            <a:pPr algn="ctr"/>
            <a:r>
              <a:rPr lang="en-US" sz="1867" dirty="0">
                <a:solidFill>
                  <a:schemeClr val="accent2"/>
                </a:solidFill>
                <a:latin typeface="Cambria Math" panose="02040503050406030204" pitchFamily="18" charset="0"/>
              </a:rPr>
              <a:t>“cross-entropy loss” or “log loss”</a:t>
            </a:r>
          </a:p>
        </p:txBody>
      </p:sp>
      <p:pic>
        <p:nvPicPr>
          <p:cNvPr id="5" name="Picture 4">
            <a:extLst>
              <a:ext uri="{FF2B5EF4-FFF2-40B4-BE49-F238E27FC236}">
                <a16:creationId xmlns:a16="http://schemas.microsoft.com/office/drawing/2014/main" id="{D20FCD1F-0E7D-1D24-3099-2783978659ED}"/>
              </a:ext>
            </a:extLst>
          </p:cNvPr>
          <p:cNvPicPr>
            <a:picLocks noChangeAspect="1"/>
          </p:cNvPicPr>
          <p:nvPr/>
        </p:nvPicPr>
        <p:blipFill>
          <a:blip r:embed="rId7"/>
          <a:stretch>
            <a:fillRect/>
          </a:stretch>
        </p:blipFill>
        <p:spPr>
          <a:xfrm>
            <a:off x="452101" y="1547700"/>
            <a:ext cx="5643899" cy="3762600"/>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E640F20-05AE-2BDC-BFBC-35A5B1ABCE06}"/>
                  </a:ext>
                </a:extLst>
              </p:cNvPr>
              <p:cNvSpPr txBox="1"/>
              <p:nvPr/>
            </p:nvSpPr>
            <p:spPr>
              <a:xfrm>
                <a:off x="6803136" y="1929384"/>
                <a:ext cx="4512566" cy="2308324"/>
              </a:xfrm>
              <a:prstGeom prst="rect">
                <a:avLst/>
              </a:prstGeom>
              <a:noFill/>
            </p:spPr>
            <p:txBody>
              <a:bodyPr wrap="square" rtlCol="0">
                <a:spAutoFit/>
              </a:bodyPr>
              <a:lstStyle/>
              <a:p>
                <a:r>
                  <a:rPr lang="en-US" u="sng" dirty="0"/>
                  <a:t>Notes on this loss:</a:t>
                </a:r>
              </a:p>
              <a:p>
                <a:endParaRPr lang="en-US" dirty="0"/>
              </a:p>
              <a:p>
                <a:pPr marL="285750" indent="-285750">
                  <a:buFont typeface="Arial" panose="020B0604020202020204" pitchFamily="34" charset="0"/>
                  <a:buChar char="•"/>
                </a:pPr>
                <a:r>
                  <a:rPr lang="en-US" dirty="0"/>
                  <a:t>Not just for logistic regression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Consider the loss for confident incorrect predictions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Note that -</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r>
                          <a:rPr lang="en-US" i="1">
                            <a:latin typeface="Cambria Math" panose="02040503050406030204" pitchFamily="18" charset="0"/>
                          </a:rPr>
                          <m:t>𝜎</m:t>
                        </m:r>
                        <m:d>
                          <m:dPr>
                            <m:ctrlPr>
                              <a:rPr lang="en-US" i="1">
                                <a:latin typeface="Cambria Math" panose="02040503050406030204" pitchFamily="18" charset="0"/>
                              </a:rPr>
                            </m:ctrlPr>
                          </m:dPr>
                          <m:e>
                            <m:r>
                              <a:rPr lang="en-US" i="1">
                                <a:latin typeface="Cambria Math" panose="02040503050406030204" pitchFamily="18" charset="0"/>
                              </a:rPr>
                              <m:t>𝑧</m:t>
                            </m:r>
                          </m:e>
                        </m:d>
                      </m:e>
                    </m:func>
                  </m:oMath>
                </a14:m>
                <a:r>
                  <a:rPr lang="en-US" dirty="0"/>
                  <a:t> is strictly convex</a:t>
                </a:r>
              </a:p>
            </p:txBody>
          </p:sp>
        </mc:Choice>
        <mc:Fallback>
          <p:sp>
            <p:nvSpPr>
              <p:cNvPr id="7" name="TextBox 6">
                <a:extLst>
                  <a:ext uri="{FF2B5EF4-FFF2-40B4-BE49-F238E27FC236}">
                    <a16:creationId xmlns:a16="http://schemas.microsoft.com/office/drawing/2014/main" id="{1E640F20-05AE-2BDC-BFBC-35A5B1ABCE06}"/>
                  </a:ext>
                </a:extLst>
              </p:cNvPr>
              <p:cNvSpPr txBox="1">
                <a:spLocks noRot="1" noChangeAspect="1" noMove="1" noResize="1" noEditPoints="1" noAdjustHandles="1" noChangeArrowheads="1" noChangeShapeType="1" noTextEdit="1"/>
              </p:cNvSpPr>
              <p:nvPr/>
            </p:nvSpPr>
            <p:spPr>
              <a:xfrm>
                <a:off x="6803136" y="1929384"/>
                <a:ext cx="4512566" cy="2308324"/>
              </a:xfrm>
              <a:prstGeom prst="rect">
                <a:avLst/>
              </a:prstGeom>
              <a:blipFill>
                <a:blip r:embed="rId8"/>
                <a:stretch>
                  <a:fillRect l="-1124" t="-1648" r="-281" b="-329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D696A576-5E79-8FF1-91FC-1DB9320AFCC7}"/>
                  </a:ext>
                </a:extLst>
              </p:cNvPr>
              <p:cNvSpPr txBox="1"/>
              <p:nvPr/>
            </p:nvSpPr>
            <p:spPr>
              <a:xfrm>
                <a:off x="1122923" y="6104900"/>
                <a:ext cx="4302252" cy="404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i="1">
                              <a:latin typeface="Cambria Math" panose="02040503050406030204" pitchFamily="18" charset="0"/>
                            </a:rPr>
                            <m:t>𝑦</m:t>
                          </m:r>
                        </m:e>
                        <m:sub>
                          <m:r>
                            <a:rPr lang="en-US" sz="1800" i="1">
                              <a:latin typeface="Cambria Math" panose="02040503050406030204" pitchFamily="18" charset="0"/>
                            </a:rPr>
                            <m:t>𝑖</m:t>
                          </m:r>
                        </m:sub>
                      </m:sSub>
                      <m:func>
                        <m:funcPr>
                          <m:ctrlPr>
                            <a:rPr lang="en-US" sz="1800" i="1">
                              <a:latin typeface="Cambria Math" panose="02040503050406030204" pitchFamily="18" charset="0"/>
                            </a:rPr>
                          </m:ctrlPr>
                        </m:funcPr>
                        <m:fName>
                          <m:r>
                            <m:rPr>
                              <m:sty m:val="p"/>
                            </m:rPr>
                            <a:rPr lang="en-US" sz="1800">
                              <a:latin typeface="Cambria Math" panose="02040503050406030204" pitchFamily="18" charset="0"/>
                            </a:rPr>
                            <m:t>log</m:t>
                          </m:r>
                        </m:fName>
                        <m:e>
                          <m:r>
                            <a:rPr lang="en-US" sz="1800" i="1">
                              <a:latin typeface="Cambria Math" panose="02040503050406030204" pitchFamily="18" charset="0"/>
                            </a:rPr>
                            <m:t>𝜎</m:t>
                          </m:r>
                          <m:d>
                            <m:dPr>
                              <m:ctrlPr>
                                <a:rPr lang="en-US" sz="1800" i="1">
                                  <a:latin typeface="Cambria Math" panose="02040503050406030204" pitchFamily="18" charset="0"/>
                                </a:rPr>
                              </m:ctrlPr>
                            </m:dPr>
                            <m:e>
                              <m:r>
                                <a:rPr lang="en-US" sz="1800" i="1">
                                  <a:latin typeface="Cambria Math" panose="02040503050406030204" pitchFamily="18" charset="0"/>
                                </a:rPr>
                                <m:t>𝑧</m:t>
                              </m:r>
                              <m:r>
                                <a:rPr lang="en-US" sz="1800" i="1" baseline="-25000">
                                  <a:latin typeface="Cambria Math" panose="02040503050406030204" pitchFamily="18" charset="0"/>
                                </a:rPr>
                                <m:t>𝑖</m:t>
                              </m:r>
                            </m:e>
                          </m:d>
                        </m:e>
                      </m:func>
                      <m:r>
                        <a:rPr lang="en-US" sz="1800" i="1">
                          <a:latin typeface="Cambria Math" panose="02040503050406030204" pitchFamily="18" charset="0"/>
                        </a:rPr>
                        <m:t>+(1−</m:t>
                      </m:r>
                      <m:sSub>
                        <m:sSubPr>
                          <m:ctrlPr>
                            <a:rPr lang="en-US" sz="1800" i="1">
                              <a:latin typeface="Cambria Math" panose="02040503050406030204" pitchFamily="18" charset="0"/>
                            </a:rPr>
                          </m:ctrlPr>
                        </m:sSubPr>
                        <m:e>
                          <m:r>
                            <a:rPr lang="en-US" sz="1800" i="1">
                              <a:latin typeface="Cambria Math" panose="02040503050406030204" pitchFamily="18" charset="0"/>
                            </a:rPr>
                            <m:t>𝑦</m:t>
                          </m:r>
                        </m:e>
                        <m:sub>
                          <m:r>
                            <a:rPr lang="en-US" sz="1800" i="1">
                              <a:latin typeface="Cambria Math" panose="02040503050406030204" pitchFamily="18" charset="0"/>
                            </a:rPr>
                            <m:t>𝑖</m:t>
                          </m:r>
                        </m:sub>
                      </m:sSub>
                      <m:r>
                        <a:rPr lang="en-US" sz="1800" i="1">
                          <a:latin typeface="Cambria Math" panose="02040503050406030204" pitchFamily="18" charset="0"/>
                        </a:rPr>
                        <m:t>)</m:t>
                      </m:r>
                      <m:func>
                        <m:funcPr>
                          <m:ctrlPr>
                            <a:rPr lang="en-US" sz="1800" i="1">
                              <a:latin typeface="Cambria Math" panose="02040503050406030204" pitchFamily="18" charset="0"/>
                            </a:rPr>
                          </m:ctrlPr>
                        </m:funcPr>
                        <m:fName>
                          <m:r>
                            <m:rPr>
                              <m:sty m:val="p"/>
                            </m:rPr>
                            <a:rPr lang="en-US" sz="1800">
                              <a:latin typeface="Cambria Math" panose="02040503050406030204" pitchFamily="18" charset="0"/>
                            </a:rPr>
                            <m:t>log</m:t>
                          </m:r>
                        </m:fName>
                        <m:e>
                          <m:d>
                            <m:dPr>
                              <m:ctrlPr>
                                <a:rPr lang="en-US" sz="1800" i="1">
                                  <a:latin typeface="Cambria Math" panose="02040503050406030204" pitchFamily="18" charset="0"/>
                                </a:rPr>
                              </m:ctrlPr>
                            </m:dPr>
                            <m:e>
                              <m:r>
                                <a:rPr lang="en-US" sz="1800" i="1">
                                  <a:latin typeface="Cambria Math" panose="02040503050406030204" pitchFamily="18" charset="0"/>
                                </a:rPr>
                                <m:t>1−</m:t>
                              </m:r>
                              <m:r>
                                <a:rPr lang="en-US" sz="1800" i="1">
                                  <a:latin typeface="Cambria Math" panose="02040503050406030204" pitchFamily="18" charset="0"/>
                                </a:rPr>
                                <m:t>𝜎</m:t>
                              </m:r>
                              <m:d>
                                <m:dPr>
                                  <m:ctrlPr>
                                    <a:rPr lang="en-US" sz="1800" i="1">
                                      <a:latin typeface="Cambria Math" panose="02040503050406030204" pitchFamily="18" charset="0"/>
                                    </a:rPr>
                                  </m:ctrlPr>
                                </m:dPr>
                                <m:e>
                                  <m:r>
                                    <a:rPr lang="en-US" sz="1800" i="1">
                                      <a:latin typeface="Cambria Math" panose="02040503050406030204" pitchFamily="18" charset="0"/>
                                    </a:rPr>
                                    <m:t>𝑧</m:t>
                                  </m:r>
                                  <m:r>
                                    <a:rPr lang="en-US" sz="1800" i="1" baseline="-25000">
                                      <a:latin typeface="Cambria Math" panose="02040503050406030204" pitchFamily="18" charset="0"/>
                                    </a:rPr>
                                    <m:t>𝑖</m:t>
                                  </m:r>
                                </m:e>
                              </m:d>
                            </m:e>
                          </m:d>
                        </m:e>
                      </m:func>
                    </m:oMath>
                  </m:oMathPara>
                </a14:m>
                <a:endParaRPr lang="en-US" dirty="0"/>
              </a:p>
            </p:txBody>
          </p:sp>
        </mc:Choice>
        <mc:Fallback>
          <p:sp>
            <p:nvSpPr>
              <p:cNvPr id="10" name="TextBox 9">
                <a:extLst>
                  <a:ext uri="{FF2B5EF4-FFF2-40B4-BE49-F238E27FC236}">
                    <a16:creationId xmlns:a16="http://schemas.microsoft.com/office/drawing/2014/main" id="{D696A576-5E79-8FF1-91FC-1DB9320AFCC7}"/>
                  </a:ext>
                </a:extLst>
              </p:cNvPr>
              <p:cNvSpPr txBox="1">
                <a:spLocks noRot="1" noChangeAspect="1" noMove="1" noResize="1" noEditPoints="1" noAdjustHandles="1" noChangeArrowheads="1" noChangeShapeType="1" noTextEdit="1"/>
              </p:cNvSpPr>
              <p:nvPr/>
            </p:nvSpPr>
            <p:spPr>
              <a:xfrm>
                <a:off x="1122923" y="6104900"/>
                <a:ext cx="4302252" cy="404983"/>
              </a:xfrm>
              <a:prstGeom prst="rect">
                <a:avLst/>
              </a:prstGeom>
              <a:blipFill>
                <a:blip r:embed="rId9"/>
                <a:stretch>
                  <a:fillRect b="-9091"/>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453301E3-AAFB-B458-C241-F4C11ED14739}"/>
              </a:ext>
            </a:extLst>
          </p:cNvPr>
          <p:cNvPicPr>
            <a:picLocks noChangeAspect="1"/>
          </p:cNvPicPr>
          <p:nvPr/>
        </p:nvPicPr>
        <p:blipFill>
          <a:blip r:embed="rId10"/>
          <a:stretch>
            <a:fillRect/>
          </a:stretch>
        </p:blipFill>
        <p:spPr>
          <a:xfrm>
            <a:off x="7769209" y="4490254"/>
            <a:ext cx="2580783" cy="2084832"/>
          </a:xfrm>
          <a:prstGeom prst="rect">
            <a:avLst/>
          </a:prstGeom>
        </p:spPr>
      </p:pic>
    </p:spTree>
    <p:extLst>
      <p:ext uri="{BB962C8B-B14F-4D97-AF65-F5344CB8AC3E}">
        <p14:creationId xmlns:p14="http://schemas.microsoft.com/office/powerpoint/2010/main" val="3606251086"/>
      </p:ext>
    </p:extLst>
  </p:cSld>
  <p:clrMapOvr>
    <a:masterClrMapping/>
  </p:clrMapOvr>
  <mc:AlternateContent xmlns:mc="http://schemas.openxmlformats.org/markup-compatibility/2006" xmlns:p14="http://schemas.microsoft.com/office/powerpoint/2010/main">
    <mc:Choice Requires="p14">
      <p:transition spd="slow" p14:dur="2000" advTm="71113"/>
    </mc:Choice>
    <mc:Fallback xmlns="">
      <p:transition spd="slow" advTm="71113"/>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6066E-FE73-D133-4993-605A6EAA5C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144491-3987-44AD-F5B9-53309DCE4202}"/>
              </a:ext>
            </a:extLst>
          </p:cNvPr>
          <p:cNvSpPr>
            <a:spLocks noGrp="1"/>
          </p:cNvSpPr>
          <p:nvPr>
            <p:ph type="title"/>
          </p:nvPr>
        </p:nvSpPr>
        <p:spPr/>
        <p:txBody>
          <a:bodyPr/>
          <a:lstStyle/>
          <a:p>
            <a:r>
              <a:rPr lang="en-US" dirty="0"/>
              <a:t>Report back: choice of loss function</a:t>
            </a:r>
          </a:p>
        </p:txBody>
      </p:sp>
      <p:sp>
        <p:nvSpPr>
          <p:cNvPr id="5" name="Content Placeholder 4">
            <a:extLst>
              <a:ext uri="{FF2B5EF4-FFF2-40B4-BE49-F238E27FC236}">
                <a16:creationId xmlns:a16="http://schemas.microsoft.com/office/drawing/2014/main" id="{81CB632C-7ED3-57D2-F375-8C297F87A0D8}"/>
              </a:ext>
            </a:extLst>
          </p:cNvPr>
          <p:cNvSpPr>
            <a:spLocks noGrp="1"/>
          </p:cNvSpPr>
          <p:nvPr>
            <p:ph idx="1"/>
          </p:nvPr>
        </p:nvSpPr>
        <p:spPr/>
        <p:txBody>
          <a:bodyPr/>
          <a:lstStyle/>
          <a:p>
            <a:pPr marL="0" indent="0">
              <a:buNone/>
            </a:pPr>
            <a:r>
              <a:rPr lang="en-US" dirty="0"/>
              <a:t>Often we evaluate performance using the area under the ROC curve (AUC). Would it make sense to directly optimize this by using –AUC as our loss function? Why or why not?</a:t>
            </a:r>
          </a:p>
        </p:txBody>
      </p:sp>
    </p:spTree>
    <p:extLst>
      <p:ext uri="{BB962C8B-B14F-4D97-AF65-F5344CB8AC3E}">
        <p14:creationId xmlns:p14="http://schemas.microsoft.com/office/powerpoint/2010/main" val="1297693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2D4A8-B313-EAF2-34D0-440E5B009ACE}"/>
              </a:ext>
            </a:extLst>
          </p:cNvPr>
          <p:cNvSpPr>
            <a:spLocks noGrp="1"/>
          </p:cNvSpPr>
          <p:nvPr>
            <p:ph type="title"/>
          </p:nvPr>
        </p:nvSpPr>
        <p:spPr/>
        <p:txBody>
          <a:bodyPr/>
          <a:lstStyle/>
          <a:p>
            <a:r>
              <a:rPr lang="en-US" dirty="0"/>
              <a:t>An initial look at regularization</a:t>
            </a:r>
          </a:p>
        </p:txBody>
      </p:sp>
      <p:sp>
        <p:nvSpPr>
          <p:cNvPr id="3" name="Text Placeholder 2">
            <a:extLst>
              <a:ext uri="{FF2B5EF4-FFF2-40B4-BE49-F238E27FC236}">
                <a16:creationId xmlns:a16="http://schemas.microsoft.com/office/drawing/2014/main" id="{36BE6BE1-6CFA-D632-02B0-579A7368D37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1594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scatter chart&#10;&#10;Description automatically generated">
            <a:extLst>
              <a:ext uri="{FF2B5EF4-FFF2-40B4-BE49-F238E27FC236}">
                <a16:creationId xmlns:a16="http://schemas.microsoft.com/office/drawing/2014/main" id="{5E763400-AE94-171A-BA3B-BE4F0D29813A}"/>
              </a:ext>
            </a:extLst>
          </p:cNvPr>
          <p:cNvPicPr>
            <a:picLocks noChangeAspect="1"/>
          </p:cNvPicPr>
          <p:nvPr/>
        </p:nvPicPr>
        <p:blipFill>
          <a:blip r:embed="rId2"/>
          <a:stretch>
            <a:fillRect/>
          </a:stretch>
        </p:blipFill>
        <p:spPr>
          <a:xfrm>
            <a:off x="3652740" y="1027906"/>
            <a:ext cx="8288482" cy="5698331"/>
          </a:xfrm>
          <a:prstGeom prst="rect">
            <a:avLst/>
          </a:prstGeom>
        </p:spPr>
      </p:pic>
      <p:sp>
        <p:nvSpPr>
          <p:cNvPr id="2" name="Title 1">
            <a:extLst>
              <a:ext uri="{FF2B5EF4-FFF2-40B4-BE49-F238E27FC236}">
                <a16:creationId xmlns:a16="http://schemas.microsoft.com/office/drawing/2014/main" id="{8C20C5B8-6072-BDA4-7CF4-F24B0AFDA29E}"/>
              </a:ext>
            </a:extLst>
          </p:cNvPr>
          <p:cNvSpPr>
            <a:spLocks noGrp="1"/>
          </p:cNvSpPr>
          <p:nvPr>
            <p:ph type="title"/>
          </p:nvPr>
        </p:nvSpPr>
        <p:spPr>
          <a:xfrm>
            <a:off x="838200" y="365125"/>
            <a:ext cx="10822858" cy="1325563"/>
          </a:xfrm>
        </p:spPr>
        <p:txBody>
          <a:bodyPr/>
          <a:lstStyle/>
          <a:p>
            <a:r>
              <a:rPr lang="en-US" dirty="0"/>
              <a:t>Let’s teach a neural network to identify cancer</a:t>
            </a:r>
          </a:p>
        </p:txBody>
      </p:sp>
      <p:cxnSp>
        <p:nvCxnSpPr>
          <p:cNvPr id="7" name="Straight Connector 6">
            <a:extLst>
              <a:ext uri="{FF2B5EF4-FFF2-40B4-BE49-F238E27FC236}">
                <a16:creationId xmlns:a16="http://schemas.microsoft.com/office/drawing/2014/main" id="{F9E3F9F2-1FE3-3D75-F653-7F40408A1620}"/>
              </a:ext>
            </a:extLst>
          </p:cNvPr>
          <p:cNvCxnSpPr/>
          <p:nvPr/>
        </p:nvCxnSpPr>
        <p:spPr>
          <a:xfrm>
            <a:off x="5625281" y="1492357"/>
            <a:ext cx="4343400" cy="4769427"/>
          </a:xfrm>
          <a:prstGeom prst="line">
            <a:avLst/>
          </a:prstGeom>
          <a:ln w="38100">
            <a:solidFill>
              <a:srgbClr val="D53E8B"/>
            </a:solidFill>
          </a:ln>
        </p:spPr>
        <p:style>
          <a:lnRef idx="3">
            <a:schemeClr val="accent4"/>
          </a:lnRef>
          <a:fillRef idx="0">
            <a:schemeClr val="accent4"/>
          </a:fillRef>
          <a:effectRef idx="2">
            <a:schemeClr val="accent4"/>
          </a:effectRef>
          <a:fontRef idx="minor">
            <a:schemeClr val="tx1"/>
          </a:fontRef>
        </p:style>
      </p:cxnSp>
      <p:sp>
        <p:nvSpPr>
          <p:cNvPr id="8" name="TextBox 7">
            <a:extLst>
              <a:ext uri="{FF2B5EF4-FFF2-40B4-BE49-F238E27FC236}">
                <a16:creationId xmlns:a16="http://schemas.microsoft.com/office/drawing/2014/main" id="{AD498A56-DC87-59BF-E86B-9520BA279774}"/>
              </a:ext>
            </a:extLst>
          </p:cNvPr>
          <p:cNvSpPr txBox="1"/>
          <p:nvPr/>
        </p:nvSpPr>
        <p:spPr>
          <a:xfrm>
            <a:off x="838200" y="2025445"/>
            <a:ext cx="2495748" cy="923330"/>
          </a:xfrm>
          <a:prstGeom prst="rect">
            <a:avLst/>
          </a:prstGeom>
          <a:noFill/>
        </p:spPr>
        <p:txBody>
          <a:bodyPr wrap="none" rtlCol="0">
            <a:spAutoFit/>
          </a:bodyPr>
          <a:lstStyle/>
          <a:p>
            <a:r>
              <a:rPr lang="en-US" dirty="0">
                <a:solidFill>
                  <a:srgbClr val="D53E8B"/>
                </a:solidFill>
              </a:rPr>
              <a:t>Initial decision boundary</a:t>
            </a:r>
          </a:p>
          <a:p>
            <a:endParaRPr lang="en-US" dirty="0"/>
          </a:p>
          <a:p>
            <a:r>
              <a:rPr lang="en-US" dirty="0"/>
              <a:t>(epoch 0)</a:t>
            </a:r>
          </a:p>
        </p:txBody>
      </p:sp>
    </p:spTree>
    <p:extLst>
      <p:ext uri="{BB962C8B-B14F-4D97-AF65-F5344CB8AC3E}">
        <p14:creationId xmlns:p14="http://schemas.microsoft.com/office/powerpoint/2010/main" val="18798401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scatter chart&#10;&#10;Description automatically generated">
            <a:extLst>
              <a:ext uri="{FF2B5EF4-FFF2-40B4-BE49-F238E27FC236}">
                <a16:creationId xmlns:a16="http://schemas.microsoft.com/office/drawing/2014/main" id="{5E763400-AE94-171A-BA3B-BE4F0D29813A}"/>
              </a:ext>
            </a:extLst>
          </p:cNvPr>
          <p:cNvPicPr>
            <a:picLocks noChangeAspect="1"/>
          </p:cNvPicPr>
          <p:nvPr/>
        </p:nvPicPr>
        <p:blipFill>
          <a:blip r:embed="rId2"/>
          <a:stretch>
            <a:fillRect/>
          </a:stretch>
        </p:blipFill>
        <p:spPr>
          <a:xfrm>
            <a:off x="3652740" y="1027906"/>
            <a:ext cx="8288482" cy="5698331"/>
          </a:xfrm>
          <a:prstGeom prst="rect">
            <a:avLst/>
          </a:prstGeom>
        </p:spPr>
      </p:pic>
      <p:sp>
        <p:nvSpPr>
          <p:cNvPr id="2" name="Title 1">
            <a:extLst>
              <a:ext uri="{FF2B5EF4-FFF2-40B4-BE49-F238E27FC236}">
                <a16:creationId xmlns:a16="http://schemas.microsoft.com/office/drawing/2014/main" id="{8C20C5B8-6072-BDA4-7CF4-F24B0AFDA29E}"/>
              </a:ext>
            </a:extLst>
          </p:cNvPr>
          <p:cNvSpPr>
            <a:spLocks noGrp="1"/>
          </p:cNvSpPr>
          <p:nvPr>
            <p:ph type="title"/>
          </p:nvPr>
        </p:nvSpPr>
        <p:spPr>
          <a:xfrm>
            <a:off x="838200" y="365125"/>
            <a:ext cx="10685206" cy="1325563"/>
          </a:xfrm>
        </p:spPr>
        <p:txBody>
          <a:bodyPr/>
          <a:lstStyle/>
          <a:p>
            <a:r>
              <a:rPr lang="en-US" dirty="0"/>
              <a:t>Let’s teach a neural network to identify cancer</a:t>
            </a:r>
          </a:p>
        </p:txBody>
      </p:sp>
      <p:sp>
        <p:nvSpPr>
          <p:cNvPr id="8" name="TextBox 7">
            <a:extLst>
              <a:ext uri="{FF2B5EF4-FFF2-40B4-BE49-F238E27FC236}">
                <a16:creationId xmlns:a16="http://schemas.microsoft.com/office/drawing/2014/main" id="{AD498A56-DC87-59BF-E86B-9520BA279774}"/>
              </a:ext>
            </a:extLst>
          </p:cNvPr>
          <p:cNvSpPr txBox="1"/>
          <p:nvPr/>
        </p:nvSpPr>
        <p:spPr>
          <a:xfrm>
            <a:off x="838200" y="2025445"/>
            <a:ext cx="2781274" cy="1477328"/>
          </a:xfrm>
          <a:prstGeom prst="rect">
            <a:avLst/>
          </a:prstGeom>
          <a:noFill/>
        </p:spPr>
        <p:txBody>
          <a:bodyPr wrap="none" rtlCol="0">
            <a:spAutoFit/>
          </a:bodyPr>
          <a:lstStyle/>
          <a:p>
            <a:r>
              <a:rPr lang="en-US" dirty="0">
                <a:solidFill>
                  <a:srgbClr val="D53E8B"/>
                </a:solidFill>
              </a:rPr>
              <a:t>Updated decision boundary</a:t>
            </a:r>
          </a:p>
          <a:p>
            <a:endParaRPr lang="en-US" dirty="0"/>
          </a:p>
          <a:p>
            <a:r>
              <a:rPr lang="en-US" dirty="0"/>
              <a:t>(epoch 1)</a:t>
            </a:r>
          </a:p>
          <a:p>
            <a:endParaRPr lang="en-US" dirty="0"/>
          </a:p>
          <a:p>
            <a:r>
              <a:rPr lang="en-US" u="sng" dirty="0"/>
              <a:t>Sure.</a:t>
            </a:r>
          </a:p>
        </p:txBody>
      </p:sp>
      <p:sp>
        <p:nvSpPr>
          <p:cNvPr id="10" name="Freeform 9">
            <a:extLst>
              <a:ext uri="{FF2B5EF4-FFF2-40B4-BE49-F238E27FC236}">
                <a16:creationId xmlns:a16="http://schemas.microsoft.com/office/drawing/2014/main" id="{22EC904E-4913-FE93-B1F4-8154B5457682}"/>
              </a:ext>
            </a:extLst>
          </p:cNvPr>
          <p:cNvSpPr/>
          <p:nvPr/>
        </p:nvSpPr>
        <p:spPr>
          <a:xfrm>
            <a:off x="4493342" y="2231923"/>
            <a:ext cx="6683477" cy="3470787"/>
          </a:xfrm>
          <a:custGeom>
            <a:avLst/>
            <a:gdLst>
              <a:gd name="connsiteX0" fmla="*/ 0 w 6223819"/>
              <a:gd name="connsiteY0" fmla="*/ 2910349 h 2910349"/>
              <a:gd name="connsiteX1" fmla="*/ 78658 w 6223819"/>
              <a:gd name="connsiteY1" fmla="*/ 2851355 h 2910349"/>
              <a:gd name="connsiteX2" fmla="*/ 137651 w 6223819"/>
              <a:gd name="connsiteY2" fmla="*/ 2792362 h 2910349"/>
              <a:gd name="connsiteX3" fmla="*/ 196645 w 6223819"/>
              <a:gd name="connsiteY3" fmla="*/ 2753033 h 2910349"/>
              <a:gd name="connsiteX4" fmla="*/ 226142 w 6223819"/>
              <a:gd name="connsiteY4" fmla="*/ 2733368 h 2910349"/>
              <a:gd name="connsiteX5" fmla="*/ 265471 w 6223819"/>
              <a:gd name="connsiteY5" fmla="*/ 2694039 h 2910349"/>
              <a:gd name="connsiteX6" fmla="*/ 294967 w 6223819"/>
              <a:gd name="connsiteY6" fmla="*/ 2674375 h 2910349"/>
              <a:gd name="connsiteX7" fmla="*/ 334296 w 6223819"/>
              <a:gd name="connsiteY7" fmla="*/ 2644878 h 2910349"/>
              <a:gd name="connsiteX8" fmla="*/ 363793 w 6223819"/>
              <a:gd name="connsiteY8" fmla="*/ 2625213 h 2910349"/>
              <a:gd name="connsiteX9" fmla="*/ 442451 w 6223819"/>
              <a:gd name="connsiteY9" fmla="*/ 2576052 h 2910349"/>
              <a:gd name="connsiteX10" fmla="*/ 471948 w 6223819"/>
              <a:gd name="connsiteY10" fmla="*/ 2556388 h 2910349"/>
              <a:gd name="connsiteX11" fmla="*/ 511277 w 6223819"/>
              <a:gd name="connsiteY11" fmla="*/ 2526891 h 2910349"/>
              <a:gd name="connsiteX12" fmla="*/ 550606 w 6223819"/>
              <a:gd name="connsiteY12" fmla="*/ 2517059 h 2910349"/>
              <a:gd name="connsiteX13" fmla="*/ 629264 w 6223819"/>
              <a:gd name="connsiteY13" fmla="*/ 2477730 h 2910349"/>
              <a:gd name="connsiteX14" fmla="*/ 658761 w 6223819"/>
              <a:gd name="connsiteY14" fmla="*/ 2467897 h 2910349"/>
              <a:gd name="connsiteX15" fmla="*/ 707922 w 6223819"/>
              <a:gd name="connsiteY15" fmla="*/ 2438400 h 2910349"/>
              <a:gd name="connsiteX16" fmla="*/ 737419 w 6223819"/>
              <a:gd name="connsiteY16" fmla="*/ 2428568 h 2910349"/>
              <a:gd name="connsiteX17" fmla="*/ 766916 w 6223819"/>
              <a:gd name="connsiteY17" fmla="*/ 2408904 h 2910349"/>
              <a:gd name="connsiteX18" fmla="*/ 796412 w 6223819"/>
              <a:gd name="connsiteY18" fmla="*/ 2399071 h 2910349"/>
              <a:gd name="connsiteX19" fmla="*/ 875071 w 6223819"/>
              <a:gd name="connsiteY19" fmla="*/ 2359742 h 2910349"/>
              <a:gd name="connsiteX20" fmla="*/ 904567 w 6223819"/>
              <a:gd name="connsiteY20" fmla="*/ 2349910 h 2910349"/>
              <a:gd name="connsiteX21" fmla="*/ 934064 w 6223819"/>
              <a:gd name="connsiteY21" fmla="*/ 2330246 h 2910349"/>
              <a:gd name="connsiteX22" fmla="*/ 973393 w 6223819"/>
              <a:gd name="connsiteY22" fmla="*/ 2310581 h 2910349"/>
              <a:gd name="connsiteX23" fmla="*/ 1002890 w 6223819"/>
              <a:gd name="connsiteY23" fmla="*/ 2290917 h 2910349"/>
              <a:gd name="connsiteX24" fmla="*/ 1061883 w 6223819"/>
              <a:gd name="connsiteY24" fmla="*/ 2271252 h 2910349"/>
              <a:gd name="connsiteX25" fmla="*/ 1101212 w 6223819"/>
              <a:gd name="connsiteY25" fmla="*/ 2251588 h 2910349"/>
              <a:gd name="connsiteX26" fmla="*/ 1130709 w 6223819"/>
              <a:gd name="connsiteY26" fmla="*/ 2231923 h 2910349"/>
              <a:gd name="connsiteX27" fmla="*/ 1160206 w 6223819"/>
              <a:gd name="connsiteY27" fmla="*/ 2222091 h 2910349"/>
              <a:gd name="connsiteX28" fmla="*/ 1189703 w 6223819"/>
              <a:gd name="connsiteY28" fmla="*/ 2192594 h 2910349"/>
              <a:gd name="connsiteX29" fmla="*/ 1219200 w 6223819"/>
              <a:gd name="connsiteY29" fmla="*/ 2182762 h 2910349"/>
              <a:gd name="connsiteX30" fmla="*/ 1268361 w 6223819"/>
              <a:gd name="connsiteY30" fmla="*/ 2153265 h 2910349"/>
              <a:gd name="connsiteX31" fmla="*/ 1347019 w 6223819"/>
              <a:gd name="connsiteY31" fmla="*/ 2113936 h 2910349"/>
              <a:gd name="connsiteX32" fmla="*/ 1415845 w 6223819"/>
              <a:gd name="connsiteY32" fmla="*/ 2074607 h 2910349"/>
              <a:gd name="connsiteX33" fmla="*/ 1533832 w 6223819"/>
              <a:gd name="connsiteY33" fmla="*/ 2005781 h 2910349"/>
              <a:gd name="connsiteX34" fmla="*/ 1573161 w 6223819"/>
              <a:gd name="connsiteY34" fmla="*/ 1986117 h 2910349"/>
              <a:gd name="connsiteX35" fmla="*/ 1612490 w 6223819"/>
              <a:gd name="connsiteY35" fmla="*/ 1966452 h 2910349"/>
              <a:gd name="connsiteX36" fmla="*/ 1681316 w 6223819"/>
              <a:gd name="connsiteY36" fmla="*/ 1936955 h 2910349"/>
              <a:gd name="connsiteX37" fmla="*/ 1779638 w 6223819"/>
              <a:gd name="connsiteY37" fmla="*/ 1887794 h 2910349"/>
              <a:gd name="connsiteX38" fmla="*/ 1809135 w 6223819"/>
              <a:gd name="connsiteY38" fmla="*/ 1877962 h 2910349"/>
              <a:gd name="connsiteX39" fmla="*/ 1877961 w 6223819"/>
              <a:gd name="connsiteY39" fmla="*/ 1838633 h 2910349"/>
              <a:gd name="connsiteX40" fmla="*/ 1917290 w 6223819"/>
              <a:gd name="connsiteY40" fmla="*/ 1828800 h 2910349"/>
              <a:gd name="connsiteX41" fmla="*/ 1986116 w 6223819"/>
              <a:gd name="connsiteY41" fmla="*/ 1799304 h 2910349"/>
              <a:gd name="connsiteX42" fmla="*/ 2035277 w 6223819"/>
              <a:gd name="connsiteY42" fmla="*/ 1779639 h 2910349"/>
              <a:gd name="connsiteX43" fmla="*/ 2074606 w 6223819"/>
              <a:gd name="connsiteY43" fmla="*/ 1750142 h 2910349"/>
              <a:gd name="connsiteX44" fmla="*/ 2133600 w 6223819"/>
              <a:gd name="connsiteY44" fmla="*/ 1720646 h 2910349"/>
              <a:gd name="connsiteX45" fmla="*/ 2202425 w 6223819"/>
              <a:gd name="connsiteY45" fmla="*/ 1681317 h 2910349"/>
              <a:gd name="connsiteX46" fmla="*/ 2271251 w 6223819"/>
              <a:gd name="connsiteY46" fmla="*/ 1641988 h 2910349"/>
              <a:gd name="connsiteX47" fmla="*/ 2300748 w 6223819"/>
              <a:gd name="connsiteY47" fmla="*/ 1632155 h 2910349"/>
              <a:gd name="connsiteX48" fmla="*/ 2369574 w 6223819"/>
              <a:gd name="connsiteY48" fmla="*/ 1592826 h 2910349"/>
              <a:gd name="connsiteX49" fmla="*/ 2438400 w 6223819"/>
              <a:gd name="connsiteY49" fmla="*/ 1543665 h 2910349"/>
              <a:gd name="connsiteX50" fmla="*/ 2517058 w 6223819"/>
              <a:gd name="connsiteY50" fmla="*/ 1504336 h 2910349"/>
              <a:gd name="connsiteX51" fmla="*/ 2566219 w 6223819"/>
              <a:gd name="connsiteY51" fmla="*/ 1474839 h 2910349"/>
              <a:gd name="connsiteX52" fmla="*/ 2595716 w 6223819"/>
              <a:gd name="connsiteY52" fmla="*/ 1455175 h 2910349"/>
              <a:gd name="connsiteX53" fmla="*/ 2625212 w 6223819"/>
              <a:gd name="connsiteY53" fmla="*/ 1445342 h 2910349"/>
              <a:gd name="connsiteX54" fmla="*/ 2664542 w 6223819"/>
              <a:gd name="connsiteY54" fmla="*/ 1415846 h 2910349"/>
              <a:gd name="connsiteX55" fmla="*/ 2694038 w 6223819"/>
              <a:gd name="connsiteY55" fmla="*/ 1406013 h 2910349"/>
              <a:gd name="connsiteX56" fmla="*/ 2733367 w 6223819"/>
              <a:gd name="connsiteY56" fmla="*/ 1386349 h 2910349"/>
              <a:gd name="connsiteX57" fmla="*/ 2821858 w 6223819"/>
              <a:gd name="connsiteY57" fmla="*/ 1327355 h 2910349"/>
              <a:gd name="connsiteX58" fmla="*/ 2930012 w 6223819"/>
              <a:gd name="connsiteY58" fmla="*/ 1278194 h 2910349"/>
              <a:gd name="connsiteX59" fmla="*/ 2969342 w 6223819"/>
              <a:gd name="connsiteY59" fmla="*/ 1248697 h 2910349"/>
              <a:gd name="connsiteX60" fmla="*/ 3008671 w 6223819"/>
              <a:gd name="connsiteY60" fmla="*/ 1238865 h 2910349"/>
              <a:gd name="connsiteX61" fmla="*/ 3038167 w 6223819"/>
              <a:gd name="connsiteY61" fmla="*/ 1229033 h 2910349"/>
              <a:gd name="connsiteX62" fmla="*/ 3106993 w 6223819"/>
              <a:gd name="connsiteY62" fmla="*/ 1189704 h 2910349"/>
              <a:gd name="connsiteX63" fmla="*/ 3175819 w 6223819"/>
              <a:gd name="connsiteY63" fmla="*/ 1170039 h 2910349"/>
              <a:gd name="connsiteX64" fmla="*/ 3234812 w 6223819"/>
              <a:gd name="connsiteY64" fmla="*/ 1150375 h 2910349"/>
              <a:gd name="connsiteX65" fmla="*/ 3274142 w 6223819"/>
              <a:gd name="connsiteY65" fmla="*/ 1130710 h 2910349"/>
              <a:gd name="connsiteX66" fmla="*/ 3303638 w 6223819"/>
              <a:gd name="connsiteY66" fmla="*/ 1111046 h 2910349"/>
              <a:gd name="connsiteX67" fmla="*/ 3372464 w 6223819"/>
              <a:gd name="connsiteY67" fmla="*/ 1091381 h 2910349"/>
              <a:gd name="connsiteX68" fmla="*/ 3421625 w 6223819"/>
              <a:gd name="connsiteY68" fmla="*/ 1061884 h 2910349"/>
              <a:gd name="connsiteX69" fmla="*/ 3480619 w 6223819"/>
              <a:gd name="connsiteY69" fmla="*/ 1042220 h 2910349"/>
              <a:gd name="connsiteX70" fmla="*/ 3519948 w 6223819"/>
              <a:gd name="connsiteY70" fmla="*/ 1022555 h 2910349"/>
              <a:gd name="connsiteX71" fmla="*/ 3618271 w 6223819"/>
              <a:gd name="connsiteY71" fmla="*/ 983226 h 2910349"/>
              <a:gd name="connsiteX72" fmla="*/ 3657600 w 6223819"/>
              <a:gd name="connsiteY72" fmla="*/ 963562 h 2910349"/>
              <a:gd name="connsiteX73" fmla="*/ 3726425 w 6223819"/>
              <a:gd name="connsiteY73" fmla="*/ 943897 h 2910349"/>
              <a:gd name="connsiteX74" fmla="*/ 3814916 w 6223819"/>
              <a:gd name="connsiteY74" fmla="*/ 904568 h 2910349"/>
              <a:gd name="connsiteX75" fmla="*/ 3913238 w 6223819"/>
              <a:gd name="connsiteY75" fmla="*/ 875071 h 2910349"/>
              <a:gd name="connsiteX76" fmla="*/ 3952567 w 6223819"/>
              <a:gd name="connsiteY76" fmla="*/ 855407 h 2910349"/>
              <a:gd name="connsiteX77" fmla="*/ 4001729 w 6223819"/>
              <a:gd name="connsiteY77" fmla="*/ 825910 h 2910349"/>
              <a:gd name="connsiteX78" fmla="*/ 4041058 w 6223819"/>
              <a:gd name="connsiteY78" fmla="*/ 816078 h 2910349"/>
              <a:gd name="connsiteX79" fmla="*/ 4070554 w 6223819"/>
              <a:gd name="connsiteY79" fmla="*/ 806246 h 2910349"/>
              <a:gd name="connsiteX80" fmla="*/ 4100051 w 6223819"/>
              <a:gd name="connsiteY80" fmla="*/ 786581 h 2910349"/>
              <a:gd name="connsiteX81" fmla="*/ 4188542 w 6223819"/>
              <a:gd name="connsiteY81" fmla="*/ 757084 h 2910349"/>
              <a:gd name="connsiteX82" fmla="*/ 4237703 w 6223819"/>
              <a:gd name="connsiteY82" fmla="*/ 727588 h 2910349"/>
              <a:gd name="connsiteX83" fmla="*/ 4365522 w 6223819"/>
              <a:gd name="connsiteY83" fmla="*/ 678426 h 2910349"/>
              <a:gd name="connsiteX84" fmla="*/ 4424516 w 6223819"/>
              <a:gd name="connsiteY84" fmla="*/ 639097 h 2910349"/>
              <a:gd name="connsiteX85" fmla="*/ 4454012 w 6223819"/>
              <a:gd name="connsiteY85" fmla="*/ 629265 h 2910349"/>
              <a:gd name="connsiteX86" fmla="*/ 4542503 w 6223819"/>
              <a:gd name="connsiteY86" fmla="*/ 589936 h 2910349"/>
              <a:gd name="connsiteX87" fmla="*/ 4591664 w 6223819"/>
              <a:gd name="connsiteY87" fmla="*/ 580104 h 2910349"/>
              <a:gd name="connsiteX88" fmla="*/ 4660490 w 6223819"/>
              <a:gd name="connsiteY88" fmla="*/ 540775 h 2910349"/>
              <a:gd name="connsiteX89" fmla="*/ 4689987 w 6223819"/>
              <a:gd name="connsiteY89" fmla="*/ 530942 h 2910349"/>
              <a:gd name="connsiteX90" fmla="*/ 4758812 w 6223819"/>
              <a:gd name="connsiteY90" fmla="*/ 501446 h 2910349"/>
              <a:gd name="connsiteX91" fmla="*/ 4827638 w 6223819"/>
              <a:gd name="connsiteY91" fmla="*/ 481781 h 2910349"/>
              <a:gd name="connsiteX92" fmla="*/ 4896464 w 6223819"/>
              <a:gd name="connsiteY92" fmla="*/ 452284 h 2910349"/>
              <a:gd name="connsiteX93" fmla="*/ 4994787 w 6223819"/>
              <a:gd name="connsiteY93" fmla="*/ 422788 h 2910349"/>
              <a:gd name="connsiteX94" fmla="*/ 5093109 w 6223819"/>
              <a:gd name="connsiteY94" fmla="*/ 383459 h 2910349"/>
              <a:gd name="connsiteX95" fmla="*/ 5152103 w 6223819"/>
              <a:gd name="connsiteY95" fmla="*/ 373626 h 2910349"/>
              <a:gd name="connsiteX96" fmla="*/ 5201264 w 6223819"/>
              <a:gd name="connsiteY96" fmla="*/ 353962 h 2910349"/>
              <a:gd name="connsiteX97" fmla="*/ 5260258 w 6223819"/>
              <a:gd name="connsiteY97" fmla="*/ 334297 h 2910349"/>
              <a:gd name="connsiteX98" fmla="*/ 5348748 w 6223819"/>
              <a:gd name="connsiteY98" fmla="*/ 285136 h 2910349"/>
              <a:gd name="connsiteX99" fmla="*/ 5397909 w 6223819"/>
              <a:gd name="connsiteY99" fmla="*/ 265471 h 2910349"/>
              <a:gd name="connsiteX100" fmla="*/ 5447071 w 6223819"/>
              <a:gd name="connsiteY100" fmla="*/ 255639 h 2910349"/>
              <a:gd name="connsiteX101" fmla="*/ 5476567 w 6223819"/>
              <a:gd name="connsiteY101" fmla="*/ 245807 h 2910349"/>
              <a:gd name="connsiteX102" fmla="*/ 5506064 w 6223819"/>
              <a:gd name="connsiteY102" fmla="*/ 226142 h 2910349"/>
              <a:gd name="connsiteX103" fmla="*/ 5614219 w 6223819"/>
              <a:gd name="connsiteY103" fmla="*/ 186813 h 2910349"/>
              <a:gd name="connsiteX104" fmla="*/ 5643716 w 6223819"/>
              <a:gd name="connsiteY104" fmla="*/ 176981 h 2910349"/>
              <a:gd name="connsiteX105" fmla="*/ 5673212 w 6223819"/>
              <a:gd name="connsiteY105" fmla="*/ 167149 h 2910349"/>
              <a:gd name="connsiteX106" fmla="*/ 5712542 w 6223819"/>
              <a:gd name="connsiteY106" fmla="*/ 157317 h 2910349"/>
              <a:gd name="connsiteX107" fmla="*/ 5761703 w 6223819"/>
              <a:gd name="connsiteY107" fmla="*/ 137652 h 2910349"/>
              <a:gd name="connsiteX108" fmla="*/ 5850193 w 6223819"/>
              <a:gd name="connsiteY108" fmla="*/ 127820 h 2910349"/>
              <a:gd name="connsiteX109" fmla="*/ 5968180 w 6223819"/>
              <a:gd name="connsiteY109" fmla="*/ 98323 h 2910349"/>
              <a:gd name="connsiteX110" fmla="*/ 6046838 w 6223819"/>
              <a:gd name="connsiteY110" fmla="*/ 78659 h 2910349"/>
              <a:gd name="connsiteX111" fmla="*/ 6086167 w 6223819"/>
              <a:gd name="connsiteY111" fmla="*/ 58994 h 2910349"/>
              <a:gd name="connsiteX112" fmla="*/ 6115664 w 6223819"/>
              <a:gd name="connsiteY112" fmla="*/ 49162 h 2910349"/>
              <a:gd name="connsiteX113" fmla="*/ 6145161 w 6223819"/>
              <a:gd name="connsiteY113" fmla="*/ 29497 h 2910349"/>
              <a:gd name="connsiteX114" fmla="*/ 6204154 w 6223819"/>
              <a:gd name="connsiteY114" fmla="*/ 9833 h 2910349"/>
              <a:gd name="connsiteX115" fmla="*/ 6223819 w 6223819"/>
              <a:gd name="connsiteY115" fmla="*/ 0 h 2910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6223819" h="2910349">
                <a:moveTo>
                  <a:pt x="0" y="2910349"/>
                </a:moveTo>
                <a:cubicBezTo>
                  <a:pt x="26219" y="2890684"/>
                  <a:pt x="53774" y="2872684"/>
                  <a:pt x="78658" y="2851355"/>
                </a:cubicBezTo>
                <a:cubicBezTo>
                  <a:pt x="99773" y="2833257"/>
                  <a:pt x="114512" y="2807788"/>
                  <a:pt x="137651" y="2792362"/>
                </a:cubicBezTo>
                <a:lnTo>
                  <a:pt x="196645" y="2753033"/>
                </a:lnTo>
                <a:cubicBezTo>
                  <a:pt x="206477" y="2746478"/>
                  <a:pt x="217786" y="2741724"/>
                  <a:pt x="226142" y="2733368"/>
                </a:cubicBezTo>
                <a:cubicBezTo>
                  <a:pt x="239252" y="2720258"/>
                  <a:pt x="251394" y="2706105"/>
                  <a:pt x="265471" y="2694039"/>
                </a:cubicBezTo>
                <a:cubicBezTo>
                  <a:pt x="274443" y="2686349"/>
                  <a:pt x="285351" y="2681243"/>
                  <a:pt x="294967" y="2674375"/>
                </a:cubicBezTo>
                <a:cubicBezTo>
                  <a:pt x="308302" y="2664850"/>
                  <a:pt x="320961" y="2654403"/>
                  <a:pt x="334296" y="2644878"/>
                </a:cubicBezTo>
                <a:cubicBezTo>
                  <a:pt x="343912" y="2638009"/>
                  <a:pt x="354177" y="2632081"/>
                  <a:pt x="363793" y="2625213"/>
                </a:cubicBezTo>
                <a:cubicBezTo>
                  <a:pt x="457780" y="2558080"/>
                  <a:pt x="350064" y="2628844"/>
                  <a:pt x="442451" y="2576052"/>
                </a:cubicBezTo>
                <a:cubicBezTo>
                  <a:pt x="452711" y="2570189"/>
                  <a:pt x="462332" y="2563256"/>
                  <a:pt x="471948" y="2556388"/>
                </a:cubicBezTo>
                <a:cubicBezTo>
                  <a:pt x="485283" y="2546863"/>
                  <a:pt x="496620" y="2534220"/>
                  <a:pt x="511277" y="2526891"/>
                </a:cubicBezTo>
                <a:cubicBezTo>
                  <a:pt x="523363" y="2520848"/>
                  <a:pt x="537496" y="2520336"/>
                  <a:pt x="550606" y="2517059"/>
                </a:cubicBezTo>
                <a:cubicBezTo>
                  <a:pt x="576825" y="2503949"/>
                  <a:pt x="601454" y="2487000"/>
                  <a:pt x="629264" y="2477730"/>
                </a:cubicBezTo>
                <a:cubicBezTo>
                  <a:pt x="639096" y="2474452"/>
                  <a:pt x="649491" y="2472532"/>
                  <a:pt x="658761" y="2467897"/>
                </a:cubicBezTo>
                <a:cubicBezTo>
                  <a:pt x="675854" y="2459350"/>
                  <a:pt x="690829" y="2446946"/>
                  <a:pt x="707922" y="2438400"/>
                </a:cubicBezTo>
                <a:cubicBezTo>
                  <a:pt x="717192" y="2433765"/>
                  <a:pt x="728149" y="2433203"/>
                  <a:pt x="737419" y="2428568"/>
                </a:cubicBezTo>
                <a:cubicBezTo>
                  <a:pt x="747988" y="2423283"/>
                  <a:pt x="756347" y="2414189"/>
                  <a:pt x="766916" y="2408904"/>
                </a:cubicBezTo>
                <a:cubicBezTo>
                  <a:pt x="776186" y="2404269"/>
                  <a:pt x="786977" y="2403360"/>
                  <a:pt x="796412" y="2399071"/>
                </a:cubicBezTo>
                <a:cubicBezTo>
                  <a:pt x="823099" y="2386940"/>
                  <a:pt x="847261" y="2369012"/>
                  <a:pt x="875071" y="2359742"/>
                </a:cubicBezTo>
                <a:cubicBezTo>
                  <a:pt x="884903" y="2356465"/>
                  <a:pt x="895297" y="2354545"/>
                  <a:pt x="904567" y="2349910"/>
                </a:cubicBezTo>
                <a:cubicBezTo>
                  <a:pt x="915136" y="2344625"/>
                  <a:pt x="923804" y="2336109"/>
                  <a:pt x="934064" y="2330246"/>
                </a:cubicBezTo>
                <a:cubicBezTo>
                  <a:pt x="946790" y="2322974"/>
                  <a:pt x="960667" y="2317853"/>
                  <a:pt x="973393" y="2310581"/>
                </a:cubicBezTo>
                <a:cubicBezTo>
                  <a:pt x="983653" y="2304718"/>
                  <a:pt x="992092" y="2295716"/>
                  <a:pt x="1002890" y="2290917"/>
                </a:cubicBezTo>
                <a:cubicBezTo>
                  <a:pt x="1021832" y="2282499"/>
                  <a:pt x="1043343" y="2280522"/>
                  <a:pt x="1061883" y="2271252"/>
                </a:cubicBezTo>
                <a:cubicBezTo>
                  <a:pt x="1074993" y="2264697"/>
                  <a:pt x="1088486" y="2258860"/>
                  <a:pt x="1101212" y="2251588"/>
                </a:cubicBezTo>
                <a:cubicBezTo>
                  <a:pt x="1111472" y="2245725"/>
                  <a:pt x="1120140" y="2237208"/>
                  <a:pt x="1130709" y="2231923"/>
                </a:cubicBezTo>
                <a:cubicBezTo>
                  <a:pt x="1139979" y="2227288"/>
                  <a:pt x="1150374" y="2225368"/>
                  <a:pt x="1160206" y="2222091"/>
                </a:cubicBezTo>
                <a:cubicBezTo>
                  <a:pt x="1170038" y="2212259"/>
                  <a:pt x="1178133" y="2200307"/>
                  <a:pt x="1189703" y="2192594"/>
                </a:cubicBezTo>
                <a:cubicBezTo>
                  <a:pt x="1198327" y="2186845"/>
                  <a:pt x="1209930" y="2187397"/>
                  <a:pt x="1219200" y="2182762"/>
                </a:cubicBezTo>
                <a:cubicBezTo>
                  <a:pt x="1236293" y="2174216"/>
                  <a:pt x="1251535" y="2162325"/>
                  <a:pt x="1268361" y="2153265"/>
                </a:cubicBezTo>
                <a:cubicBezTo>
                  <a:pt x="1294171" y="2139367"/>
                  <a:pt x="1323568" y="2131525"/>
                  <a:pt x="1347019" y="2113936"/>
                </a:cubicBezTo>
                <a:cubicBezTo>
                  <a:pt x="1394639" y="2078220"/>
                  <a:pt x="1370802" y="2089621"/>
                  <a:pt x="1415845" y="2074607"/>
                </a:cubicBezTo>
                <a:cubicBezTo>
                  <a:pt x="1478624" y="2027522"/>
                  <a:pt x="1440518" y="2052437"/>
                  <a:pt x="1533832" y="2005781"/>
                </a:cubicBezTo>
                <a:lnTo>
                  <a:pt x="1573161" y="1986117"/>
                </a:lnTo>
                <a:cubicBezTo>
                  <a:pt x="1586271" y="1979562"/>
                  <a:pt x="1598585" y="1971087"/>
                  <a:pt x="1612490" y="1966452"/>
                </a:cubicBezTo>
                <a:cubicBezTo>
                  <a:pt x="1641167" y="1956893"/>
                  <a:pt x="1653542" y="1954314"/>
                  <a:pt x="1681316" y="1936955"/>
                </a:cubicBezTo>
                <a:cubicBezTo>
                  <a:pt x="1761186" y="1887037"/>
                  <a:pt x="1674794" y="1922742"/>
                  <a:pt x="1779638" y="1887794"/>
                </a:cubicBezTo>
                <a:lnTo>
                  <a:pt x="1809135" y="1877962"/>
                </a:lnTo>
                <a:cubicBezTo>
                  <a:pt x="1833588" y="1861659"/>
                  <a:pt x="1849444" y="1849327"/>
                  <a:pt x="1877961" y="1838633"/>
                </a:cubicBezTo>
                <a:cubicBezTo>
                  <a:pt x="1890614" y="1833888"/>
                  <a:pt x="1904297" y="1832512"/>
                  <a:pt x="1917290" y="1828800"/>
                </a:cubicBezTo>
                <a:cubicBezTo>
                  <a:pt x="1959701" y="1816682"/>
                  <a:pt x="1938919" y="1820281"/>
                  <a:pt x="1986116" y="1799304"/>
                </a:cubicBezTo>
                <a:cubicBezTo>
                  <a:pt x="2002244" y="1792136"/>
                  <a:pt x="2019849" y="1788210"/>
                  <a:pt x="2035277" y="1779639"/>
                </a:cubicBezTo>
                <a:cubicBezTo>
                  <a:pt x="2049602" y="1771681"/>
                  <a:pt x="2060554" y="1758573"/>
                  <a:pt x="2074606" y="1750142"/>
                </a:cubicBezTo>
                <a:cubicBezTo>
                  <a:pt x="2093459" y="1738831"/>
                  <a:pt x="2114747" y="1731957"/>
                  <a:pt x="2133600" y="1720646"/>
                </a:cubicBezTo>
                <a:cubicBezTo>
                  <a:pt x="2208010" y="1676001"/>
                  <a:pt x="2140440" y="1701979"/>
                  <a:pt x="2202425" y="1681317"/>
                </a:cubicBezTo>
                <a:cubicBezTo>
                  <a:pt x="2232051" y="1661566"/>
                  <a:pt x="2236318" y="1656959"/>
                  <a:pt x="2271251" y="1641988"/>
                </a:cubicBezTo>
                <a:cubicBezTo>
                  <a:pt x="2280777" y="1637905"/>
                  <a:pt x="2290916" y="1635433"/>
                  <a:pt x="2300748" y="1632155"/>
                </a:cubicBezTo>
                <a:cubicBezTo>
                  <a:pt x="2395844" y="1560835"/>
                  <a:pt x="2294504" y="1630361"/>
                  <a:pt x="2369574" y="1592826"/>
                </a:cubicBezTo>
                <a:cubicBezTo>
                  <a:pt x="2396811" y="1579208"/>
                  <a:pt x="2411661" y="1559263"/>
                  <a:pt x="2438400" y="1543665"/>
                </a:cubicBezTo>
                <a:cubicBezTo>
                  <a:pt x="2463721" y="1528894"/>
                  <a:pt x="2491921" y="1519418"/>
                  <a:pt x="2517058" y="1504336"/>
                </a:cubicBezTo>
                <a:cubicBezTo>
                  <a:pt x="2533445" y="1494504"/>
                  <a:pt x="2550013" y="1484967"/>
                  <a:pt x="2566219" y="1474839"/>
                </a:cubicBezTo>
                <a:cubicBezTo>
                  <a:pt x="2576240" y="1468576"/>
                  <a:pt x="2585147" y="1460460"/>
                  <a:pt x="2595716" y="1455175"/>
                </a:cubicBezTo>
                <a:cubicBezTo>
                  <a:pt x="2604986" y="1450540"/>
                  <a:pt x="2615380" y="1448620"/>
                  <a:pt x="2625212" y="1445342"/>
                </a:cubicBezTo>
                <a:cubicBezTo>
                  <a:pt x="2638322" y="1435510"/>
                  <a:pt x="2650314" y="1423976"/>
                  <a:pt x="2664542" y="1415846"/>
                </a:cubicBezTo>
                <a:cubicBezTo>
                  <a:pt x="2673540" y="1410704"/>
                  <a:pt x="2684512" y="1410096"/>
                  <a:pt x="2694038" y="1406013"/>
                </a:cubicBezTo>
                <a:cubicBezTo>
                  <a:pt x="2707510" y="1400239"/>
                  <a:pt x="2720938" y="1394117"/>
                  <a:pt x="2733367" y="1386349"/>
                </a:cubicBezTo>
                <a:cubicBezTo>
                  <a:pt x="2799242" y="1345178"/>
                  <a:pt x="2745516" y="1365526"/>
                  <a:pt x="2821858" y="1327355"/>
                </a:cubicBezTo>
                <a:cubicBezTo>
                  <a:pt x="2900981" y="1287794"/>
                  <a:pt x="2843338" y="1330199"/>
                  <a:pt x="2930012" y="1278194"/>
                </a:cubicBezTo>
                <a:cubicBezTo>
                  <a:pt x="2944064" y="1269763"/>
                  <a:pt x="2954685" y="1256026"/>
                  <a:pt x="2969342" y="1248697"/>
                </a:cubicBezTo>
                <a:cubicBezTo>
                  <a:pt x="2981429" y="1242654"/>
                  <a:pt x="2995678" y="1242577"/>
                  <a:pt x="3008671" y="1238865"/>
                </a:cubicBezTo>
                <a:cubicBezTo>
                  <a:pt x="3018636" y="1236018"/>
                  <a:pt x="3028897" y="1233668"/>
                  <a:pt x="3038167" y="1229033"/>
                </a:cubicBezTo>
                <a:cubicBezTo>
                  <a:pt x="3061801" y="1217216"/>
                  <a:pt x="3083359" y="1201521"/>
                  <a:pt x="3106993" y="1189704"/>
                </a:cubicBezTo>
                <a:cubicBezTo>
                  <a:pt x="3123520" y="1181440"/>
                  <a:pt x="3160060" y="1174767"/>
                  <a:pt x="3175819" y="1170039"/>
                </a:cubicBezTo>
                <a:cubicBezTo>
                  <a:pt x="3195673" y="1164083"/>
                  <a:pt x="3215567" y="1158073"/>
                  <a:pt x="3234812" y="1150375"/>
                </a:cubicBezTo>
                <a:cubicBezTo>
                  <a:pt x="3248421" y="1144931"/>
                  <a:pt x="3261416" y="1137982"/>
                  <a:pt x="3274142" y="1130710"/>
                </a:cubicBezTo>
                <a:cubicBezTo>
                  <a:pt x="3284402" y="1124847"/>
                  <a:pt x="3292777" y="1115701"/>
                  <a:pt x="3303638" y="1111046"/>
                </a:cubicBezTo>
                <a:cubicBezTo>
                  <a:pt x="3347724" y="1092152"/>
                  <a:pt x="3334210" y="1110508"/>
                  <a:pt x="3372464" y="1091381"/>
                </a:cubicBezTo>
                <a:cubicBezTo>
                  <a:pt x="3389557" y="1082835"/>
                  <a:pt x="3404227" y="1069792"/>
                  <a:pt x="3421625" y="1061884"/>
                </a:cubicBezTo>
                <a:cubicBezTo>
                  <a:pt x="3440495" y="1053307"/>
                  <a:pt x="3461373" y="1049918"/>
                  <a:pt x="3480619" y="1042220"/>
                </a:cubicBezTo>
                <a:cubicBezTo>
                  <a:pt x="3494228" y="1036777"/>
                  <a:pt x="3506476" y="1028329"/>
                  <a:pt x="3519948" y="1022555"/>
                </a:cubicBezTo>
                <a:cubicBezTo>
                  <a:pt x="3552393" y="1008650"/>
                  <a:pt x="3586698" y="999012"/>
                  <a:pt x="3618271" y="983226"/>
                </a:cubicBezTo>
                <a:cubicBezTo>
                  <a:pt x="3631381" y="976671"/>
                  <a:pt x="3644128" y="969336"/>
                  <a:pt x="3657600" y="963562"/>
                </a:cubicBezTo>
                <a:cubicBezTo>
                  <a:pt x="3677346" y="955100"/>
                  <a:pt x="3706470" y="948886"/>
                  <a:pt x="3726425" y="943897"/>
                </a:cubicBezTo>
                <a:cubicBezTo>
                  <a:pt x="3799590" y="889022"/>
                  <a:pt x="3728813" y="933268"/>
                  <a:pt x="3814916" y="904568"/>
                </a:cubicBezTo>
                <a:cubicBezTo>
                  <a:pt x="3929244" y="866460"/>
                  <a:pt x="3762030" y="900274"/>
                  <a:pt x="3913238" y="875071"/>
                </a:cubicBezTo>
                <a:cubicBezTo>
                  <a:pt x="3926348" y="868516"/>
                  <a:pt x="3939754" y="862525"/>
                  <a:pt x="3952567" y="855407"/>
                </a:cubicBezTo>
                <a:cubicBezTo>
                  <a:pt x="3969273" y="846126"/>
                  <a:pt x="3984265" y="833672"/>
                  <a:pt x="4001729" y="825910"/>
                </a:cubicBezTo>
                <a:cubicBezTo>
                  <a:pt x="4014077" y="820422"/>
                  <a:pt x="4028065" y="819790"/>
                  <a:pt x="4041058" y="816078"/>
                </a:cubicBezTo>
                <a:cubicBezTo>
                  <a:pt x="4051023" y="813231"/>
                  <a:pt x="4060722" y="809523"/>
                  <a:pt x="4070554" y="806246"/>
                </a:cubicBezTo>
                <a:cubicBezTo>
                  <a:pt x="4080386" y="799691"/>
                  <a:pt x="4089482" y="791866"/>
                  <a:pt x="4100051" y="786581"/>
                </a:cubicBezTo>
                <a:cubicBezTo>
                  <a:pt x="4137073" y="768070"/>
                  <a:pt x="4150991" y="766472"/>
                  <a:pt x="4188542" y="757084"/>
                </a:cubicBezTo>
                <a:cubicBezTo>
                  <a:pt x="4204929" y="747252"/>
                  <a:pt x="4220610" y="736134"/>
                  <a:pt x="4237703" y="727588"/>
                </a:cubicBezTo>
                <a:cubicBezTo>
                  <a:pt x="4312953" y="689963"/>
                  <a:pt x="4215800" y="778240"/>
                  <a:pt x="4365522" y="678426"/>
                </a:cubicBezTo>
                <a:cubicBezTo>
                  <a:pt x="4385187" y="665316"/>
                  <a:pt x="4403856" y="650575"/>
                  <a:pt x="4424516" y="639097"/>
                </a:cubicBezTo>
                <a:cubicBezTo>
                  <a:pt x="4433576" y="634064"/>
                  <a:pt x="4444486" y="633348"/>
                  <a:pt x="4454012" y="629265"/>
                </a:cubicBezTo>
                <a:cubicBezTo>
                  <a:pt x="4499203" y="609897"/>
                  <a:pt x="4491683" y="605182"/>
                  <a:pt x="4542503" y="589936"/>
                </a:cubicBezTo>
                <a:cubicBezTo>
                  <a:pt x="4558510" y="585134"/>
                  <a:pt x="4575277" y="583381"/>
                  <a:pt x="4591664" y="580104"/>
                </a:cubicBezTo>
                <a:cubicBezTo>
                  <a:pt x="4621290" y="560353"/>
                  <a:pt x="4625557" y="555746"/>
                  <a:pt x="4660490" y="540775"/>
                </a:cubicBezTo>
                <a:cubicBezTo>
                  <a:pt x="4670016" y="536692"/>
                  <a:pt x="4680364" y="534791"/>
                  <a:pt x="4689987" y="530942"/>
                </a:cubicBezTo>
                <a:cubicBezTo>
                  <a:pt x="4713162" y="521672"/>
                  <a:pt x="4735637" y="510716"/>
                  <a:pt x="4758812" y="501446"/>
                </a:cubicBezTo>
                <a:cubicBezTo>
                  <a:pt x="4782328" y="492040"/>
                  <a:pt x="4802767" y="487999"/>
                  <a:pt x="4827638" y="481781"/>
                </a:cubicBezTo>
                <a:cubicBezTo>
                  <a:pt x="4879482" y="447220"/>
                  <a:pt x="4832974" y="473448"/>
                  <a:pt x="4896464" y="452284"/>
                </a:cubicBezTo>
                <a:cubicBezTo>
                  <a:pt x="4993472" y="419948"/>
                  <a:pt x="4897706" y="442204"/>
                  <a:pt x="4994787" y="422788"/>
                </a:cubicBezTo>
                <a:cubicBezTo>
                  <a:pt x="5035475" y="402443"/>
                  <a:pt x="5044507" y="395610"/>
                  <a:pt x="5093109" y="383459"/>
                </a:cubicBezTo>
                <a:cubicBezTo>
                  <a:pt x="5112450" y="378624"/>
                  <a:pt x="5132438" y="376904"/>
                  <a:pt x="5152103" y="373626"/>
                </a:cubicBezTo>
                <a:cubicBezTo>
                  <a:pt x="5168490" y="367071"/>
                  <a:pt x="5184677" y="359994"/>
                  <a:pt x="5201264" y="353962"/>
                </a:cubicBezTo>
                <a:cubicBezTo>
                  <a:pt x="5220744" y="346878"/>
                  <a:pt x="5241012" y="341995"/>
                  <a:pt x="5260258" y="334297"/>
                </a:cubicBezTo>
                <a:cubicBezTo>
                  <a:pt x="5307608" y="315357"/>
                  <a:pt x="5298847" y="310087"/>
                  <a:pt x="5348748" y="285136"/>
                </a:cubicBezTo>
                <a:cubicBezTo>
                  <a:pt x="5364534" y="277243"/>
                  <a:pt x="5381004" y="270543"/>
                  <a:pt x="5397909" y="265471"/>
                </a:cubicBezTo>
                <a:cubicBezTo>
                  <a:pt x="5413916" y="260669"/>
                  <a:pt x="5430858" y="259692"/>
                  <a:pt x="5447071" y="255639"/>
                </a:cubicBezTo>
                <a:cubicBezTo>
                  <a:pt x="5457125" y="253125"/>
                  <a:pt x="5466735" y="249084"/>
                  <a:pt x="5476567" y="245807"/>
                </a:cubicBezTo>
                <a:cubicBezTo>
                  <a:pt x="5486399" y="239252"/>
                  <a:pt x="5495495" y="231427"/>
                  <a:pt x="5506064" y="226142"/>
                </a:cubicBezTo>
                <a:cubicBezTo>
                  <a:pt x="5533421" y="212463"/>
                  <a:pt x="5586693" y="195988"/>
                  <a:pt x="5614219" y="186813"/>
                </a:cubicBezTo>
                <a:lnTo>
                  <a:pt x="5643716" y="176981"/>
                </a:lnTo>
                <a:cubicBezTo>
                  <a:pt x="5653548" y="173704"/>
                  <a:pt x="5663158" y="169662"/>
                  <a:pt x="5673212" y="167149"/>
                </a:cubicBezTo>
                <a:cubicBezTo>
                  <a:pt x="5686322" y="163872"/>
                  <a:pt x="5699722" y="161590"/>
                  <a:pt x="5712542" y="157317"/>
                </a:cubicBezTo>
                <a:cubicBezTo>
                  <a:pt x="5729286" y="151736"/>
                  <a:pt x="5744445" y="141350"/>
                  <a:pt x="5761703" y="137652"/>
                </a:cubicBezTo>
                <a:cubicBezTo>
                  <a:pt x="5790722" y="131433"/>
                  <a:pt x="5820696" y="131097"/>
                  <a:pt x="5850193" y="127820"/>
                </a:cubicBezTo>
                <a:cubicBezTo>
                  <a:pt x="5961135" y="90839"/>
                  <a:pt x="5856969" y="122153"/>
                  <a:pt x="5968180" y="98323"/>
                </a:cubicBezTo>
                <a:cubicBezTo>
                  <a:pt x="5994606" y="92660"/>
                  <a:pt x="6046838" y="78659"/>
                  <a:pt x="6046838" y="78659"/>
                </a:cubicBezTo>
                <a:cubicBezTo>
                  <a:pt x="6059948" y="72104"/>
                  <a:pt x="6072695" y="64768"/>
                  <a:pt x="6086167" y="58994"/>
                </a:cubicBezTo>
                <a:cubicBezTo>
                  <a:pt x="6095693" y="54911"/>
                  <a:pt x="6106394" y="53797"/>
                  <a:pt x="6115664" y="49162"/>
                </a:cubicBezTo>
                <a:cubicBezTo>
                  <a:pt x="6126233" y="43877"/>
                  <a:pt x="6134362" y="34296"/>
                  <a:pt x="6145161" y="29497"/>
                </a:cubicBezTo>
                <a:cubicBezTo>
                  <a:pt x="6164102" y="21079"/>
                  <a:pt x="6185615" y="19103"/>
                  <a:pt x="6204154" y="9833"/>
                </a:cubicBezTo>
                <a:lnTo>
                  <a:pt x="6223819" y="0"/>
                </a:lnTo>
              </a:path>
            </a:pathLst>
          </a:custGeom>
          <a:noFill/>
          <a:ln w="38100">
            <a:solidFill>
              <a:srgbClr val="D53E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3168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scatter chart&#10;&#10;Description automatically generated">
            <a:extLst>
              <a:ext uri="{FF2B5EF4-FFF2-40B4-BE49-F238E27FC236}">
                <a16:creationId xmlns:a16="http://schemas.microsoft.com/office/drawing/2014/main" id="{5E763400-AE94-171A-BA3B-BE4F0D29813A}"/>
              </a:ext>
            </a:extLst>
          </p:cNvPr>
          <p:cNvPicPr>
            <a:picLocks noChangeAspect="1"/>
          </p:cNvPicPr>
          <p:nvPr/>
        </p:nvPicPr>
        <p:blipFill>
          <a:blip r:embed="rId2"/>
          <a:stretch>
            <a:fillRect/>
          </a:stretch>
        </p:blipFill>
        <p:spPr>
          <a:xfrm>
            <a:off x="3652740" y="1027906"/>
            <a:ext cx="8288482" cy="5698331"/>
          </a:xfrm>
          <a:prstGeom prst="rect">
            <a:avLst/>
          </a:prstGeom>
        </p:spPr>
      </p:pic>
      <p:sp>
        <p:nvSpPr>
          <p:cNvPr id="2" name="Title 1">
            <a:extLst>
              <a:ext uri="{FF2B5EF4-FFF2-40B4-BE49-F238E27FC236}">
                <a16:creationId xmlns:a16="http://schemas.microsoft.com/office/drawing/2014/main" id="{8C20C5B8-6072-BDA4-7CF4-F24B0AFDA29E}"/>
              </a:ext>
            </a:extLst>
          </p:cNvPr>
          <p:cNvSpPr>
            <a:spLocks noGrp="1"/>
          </p:cNvSpPr>
          <p:nvPr>
            <p:ph type="title"/>
          </p:nvPr>
        </p:nvSpPr>
        <p:spPr>
          <a:xfrm>
            <a:off x="838200" y="365125"/>
            <a:ext cx="10734368" cy="1325563"/>
          </a:xfrm>
        </p:spPr>
        <p:txBody>
          <a:bodyPr/>
          <a:lstStyle/>
          <a:p>
            <a:r>
              <a:rPr lang="en-US" dirty="0"/>
              <a:t>Let’s teach a neural network to identify cancer</a:t>
            </a:r>
          </a:p>
        </p:txBody>
      </p:sp>
      <p:sp>
        <p:nvSpPr>
          <p:cNvPr id="8" name="TextBox 7">
            <a:extLst>
              <a:ext uri="{FF2B5EF4-FFF2-40B4-BE49-F238E27FC236}">
                <a16:creationId xmlns:a16="http://schemas.microsoft.com/office/drawing/2014/main" id="{AD498A56-DC87-59BF-E86B-9520BA279774}"/>
              </a:ext>
            </a:extLst>
          </p:cNvPr>
          <p:cNvSpPr txBox="1"/>
          <p:nvPr/>
        </p:nvSpPr>
        <p:spPr>
          <a:xfrm>
            <a:off x="838200" y="2025445"/>
            <a:ext cx="2781274" cy="1477328"/>
          </a:xfrm>
          <a:prstGeom prst="rect">
            <a:avLst/>
          </a:prstGeom>
          <a:noFill/>
        </p:spPr>
        <p:txBody>
          <a:bodyPr wrap="none" rtlCol="0">
            <a:spAutoFit/>
          </a:bodyPr>
          <a:lstStyle/>
          <a:p>
            <a:r>
              <a:rPr lang="en-US" dirty="0">
                <a:solidFill>
                  <a:srgbClr val="D53E8B"/>
                </a:solidFill>
              </a:rPr>
              <a:t>Updated decision boundary</a:t>
            </a:r>
          </a:p>
          <a:p>
            <a:endParaRPr lang="en-US" dirty="0"/>
          </a:p>
          <a:p>
            <a:r>
              <a:rPr lang="en-US" dirty="0"/>
              <a:t>(epoch 4)</a:t>
            </a:r>
          </a:p>
          <a:p>
            <a:endParaRPr lang="en-US" dirty="0"/>
          </a:p>
          <a:p>
            <a:r>
              <a:rPr lang="en-US" u="sng" dirty="0"/>
              <a:t>Wow!</a:t>
            </a:r>
          </a:p>
        </p:txBody>
      </p:sp>
      <p:sp>
        <p:nvSpPr>
          <p:cNvPr id="3" name="Freeform 2">
            <a:extLst>
              <a:ext uri="{FF2B5EF4-FFF2-40B4-BE49-F238E27FC236}">
                <a16:creationId xmlns:a16="http://schemas.microsoft.com/office/drawing/2014/main" id="{C918B72D-4C14-58A8-79FC-00159F0E3BD8}"/>
              </a:ext>
            </a:extLst>
          </p:cNvPr>
          <p:cNvSpPr/>
          <p:nvPr/>
        </p:nvSpPr>
        <p:spPr>
          <a:xfrm>
            <a:off x="4945626" y="2565807"/>
            <a:ext cx="6086168" cy="3274554"/>
          </a:xfrm>
          <a:custGeom>
            <a:avLst/>
            <a:gdLst>
              <a:gd name="connsiteX0" fmla="*/ 0 w 6086168"/>
              <a:gd name="connsiteY0" fmla="*/ 3274554 h 3274554"/>
              <a:gd name="connsiteX1" fmla="*/ 78658 w 6086168"/>
              <a:gd name="connsiteY1" fmla="*/ 3245058 h 3274554"/>
              <a:gd name="connsiteX2" fmla="*/ 108155 w 6086168"/>
              <a:gd name="connsiteY2" fmla="*/ 3235225 h 3274554"/>
              <a:gd name="connsiteX3" fmla="*/ 167148 w 6086168"/>
              <a:gd name="connsiteY3" fmla="*/ 3176232 h 3274554"/>
              <a:gd name="connsiteX4" fmla="*/ 226142 w 6086168"/>
              <a:gd name="connsiteY4" fmla="*/ 3136903 h 3274554"/>
              <a:gd name="connsiteX5" fmla="*/ 255639 w 6086168"/>
              <a:gd name="connsiteY5" fmla="*/ 3117238 h 3274554"/>
              <a:gd name="connsiteX6" fmla="*/ 353961 w 6086168"/>
              <a:gd name="connsiteY6" fmla="*/ 3028748 h 3274554"/>
              <a:gd name="connsiteX7" fmla="*/ 403122 w 6086168"/>
              <a:gd name="connsiteY7" fmla="*/ 2950090 h 3274554"/>
              <a:gd name="connsiteX8" fmla="*/ 442451 w 6086168"/>
              <a:gd name="connsiteY8" fmla="*/ 2891096 h 3274554"/>
              <a:gd name="connsiteX9" fmla="*/ 481780 w 6086168"/>
              <a:gd name="connsiteY9" fmla="*/ 2832103 h 3274554"/>
              <a:gd name="connsiteX10" fmla="*/ 501445 w 6086168"/>
              <a:gd name="connsiteY10" fmla="*/ 2802606 h 3274554"/>
              <a:gd name="connsiteX11" fmla="*/ 560439 w 6086168"/>
              <a:gd name="connsiteY11" fmla="*/ 2694451 h 3274554"/>
              <a:gd name="connsiteX12" fmla="*/ 570271 w 6086168"/>
              <a:gd name="connsiteY12" fmla="*/ 2664954 h 3274554"/>
              <a:gd name="connsiteX13" fmla="*/ 609600 w 6086168"/>
              <a:gd name="connsiteY13" fmla="*/ 2605961 h 3274554"/>
              <a:gd name="connsiteX14" fmla="*/ 629264 w 6086168"/>
              <a:gd name="connsiteY14" fmla="*/ 2576464 h 3274554"/>
              <a:gd name="connsiteX15" fmla="*/ 648929 w 6086168"/>
              <a:gd name="connsiteY15" fmla="*/ 2537135 h 3274554"/>
              <a:gd name="connsiteX16" fmla="*/ 668593 w 6086168"/>
              <a:gd name="connsiteY16" fmla="*/ 2507638 h 3274554"/>
              <a:gd name="connsiteX17" fmla="*/ 678426 w 6086168"/>
              <a:gd name="connsiteY17" fmla="*/ 2478141 h 3274554"/>
              <a:gd name="connsiteX18" fmla="*/ 698090 w 6086168"/>
              <a:gd name="connsiteY18" fmla="*/ 2428980 h 3274554"/>
              <a:gd name="connsiteX19" fmla="*/ 757084 w 6086168"/>
              <a:gd name="connsiteY19" fmla="*/ 2320825 h 3274554"/>
              <a:gd name="connsiteX20" fmla="*/ 786580 w 6086168"/>
              <a:gd name="connsiteY20" fmla="*/ 2261832 h 3274554"/>
              <a:gd name="connsiteX21" fmla="*/ 806245 w 6086168"/>
              <a:gd name="connsiteY21" fmla="*/ 2212670 h 3274554"/>
              <a:gd name="connsiteX22" fmla="*/ 884903 w 6086168"/>
              <a:gd name="connsiteY22" fmla="*/ 2104516 h 3274554"/>
              <a:gd name="connsiteX23" fmla="*/ 924232 w 6086168"/>
              <a:gd name="connsiteY23" fmla="*/ 2025858 h 3274554"/>
              <a:gd name="connsiteX24" fmla="*/ 973393 w 6086168"/>
              <a:gd name="connsiteY24" fmla="*/ 1947199 h 3274554"/>
              <a:gd name="connsiteX25" fmla="*/ 993058 w 6086168"/>
              <a:gd name="connsiteY25" fmla="*/ 1907870 h 3274554"/>
              <a:gd name="connsiteX26" fmla="*/ 1002890 w 6086168"/>
              <a:gd name="connsiteY26" fmla="*/ 1878374 h 3274554"/>
              <a:gd name="connsiteX27" fmla="*/ 1012722 w 6086168"/>
              <a:gd name="connsiteY27" fmla="*/ 1839045 h 3274554"/>
              <a:gd name="connsiteX28" fmla="*/ 1032387 w 6086168"/>
              <a:gd name="connsiteY28" fmla="*/ 1809548 h 3274554"/>
              <a:gd name="connsiteX29" fmla="*/ 1052051 w 6086168"/>
              <a:gd name="connsiteY29" fmla="*/ 1750554 h 3274554"/>
              <a:gd name="connsiteX30" fmla="*/ 1061884 w 6086168"/>
              <a:gd name="connsiteY30" fmla="*/ 1711225 h 3274554"/>
              <a:gd name="connsiteX31" fmla="*/ 1091380 w 6086168"/>
              <a:gd name="connsiteY31" fmla="*/ 1681728 h 3274554"/>
              <a:gd name="connsiteX32" fmla="*/ 1150374 w 6086168"/>
              <a:gd name="connsiteY32" fmla="*/ 1573574 h 3274554"/>
              <a:gd name="connsiteX33" fmla="*/ 1209368 w 6086168"/>
              <a:gd name="connsiteY33" fmla="*/ 1445754 h 3274554"/>
              <a:gd name="connsiteX34" fmla="*/ 1248697 w 6086168"/>
              <a:gd name="connsiteY34" fmla="*/ 1376928 h 3274554"/>
              <a:gd name="connsiteX35" fmla="*/ 1258529 w 6086168"/>
              <a:gd name="connsiteY35" fmla="*/ 1347432 h 3274554"/>
              <a:gd name="connsiteX36" fmla="*/ 1278193 w 6086168"/>
              <a:gd name="connsiteY36" fmla="*/ 1317935 h 3274554"/>
              <a:gd name="connsiteX37" fmla="*/ 1288026 w 6086168"/>
              <a:gd name="connsiteY37" fmla="*/ 1288438 h 3274554"/>
              <a:gd name="connsiteX38" fmla="*/ 1307690 w 6086168"/>
              <a:gd name="connsiteY38" fmla="*/ 1249109 h 3274554"/>
              <a:gd name="connsiteX39" fmla="*/ 1337187 w 6086168"/>
              <a:gd name="connsiteY39" fmla="*/ 1190116 h 3274554"/>
              <a:gd name="connsiteX40" fmla="*/ 1356851 w 6086168"/>
              <a:gd name="connsiteY40" fmla="*/ 1150787 h 3274554"/>
              <a:gd name="connsiteX41" fmla="*/ 1386348 w 6086168"/>
              <a:gd name="connsiteY41" fmla="*/ 1121290 h 3274554"/>
              <a:gd name="connsiteX42" fmla="*/ 1415845 w 6086168"/>
              <a:gd name="connsiteY42" fmla="*/ 1081961 h 3274554"/>
              <a:gd name="connsiteX43" fmla="*/ 1435509 w 6086168"/>
              <a:gd name="connsiteY43" fmla="*/ 1052464 h 3274554"/>
              <a:gd name="connsiteX44" fmla="*/ 1465006 w 6086168"/>
              <a:gd name="connsiteY44" fmla="*/ 1022967 h 3274554"/>
              <a:gd name="connsiteX45" fmla="*/ 1504335 w 6086168"/>
              <a:gd name="connsiteY45" fmla="*/ 973806 h 3274554"/>
              <a:gd name="connsiteX46" fmla="*/ 1533832 w 6086168"/>
              <a:gd name="connsiteY46" fmla="*/ 944309 h 3274554"/>
              <a:gd name="connsiteX47" fmla="*/ 1602658 w 6086168"/>
              <a:gd name="connsiteY47" fmla="*/ 895148 h 3274554"/>
              <a:gd name="connsiteX48" fmla="*/ 1632155 w 6086168"/>
              <a:gd name="connsiteY48" fmla="*/ 885316 h 3274554"/>
              <a:gd name="connsiteX49" fmla="*/ 1661651 w 6086168"/>
              <a:gd name="connsiteY49" fmla="*/ 865651 h 3274554"/>
              <a:gd name="connsiteX50" fmla="*/ 1691148 w 6086168"/>
              <a:gd name="connsiteY50" fmla="*/ 855819 h 3274554"/>
              <a:gd name="connsiteX51" fmla="*/ 1779639 w 6086168"/>
              <a:gd name="connsiteY51" fmla="*/ 836154 h 3274554"/>
              <a:gd name="connsiteX52" fmla="*/ 1858297 w 6086168"/>
              <a:gd name="connsiteY52" fmla="*/ 816490 h 3274554"/>
              <a:gd name="connsiteX53" fmla="*/ 1887793 w 6086168"/>
              <a:gd name="connsiteY53" fmla="*/ 806658 h 3274554"/>
              <a:gd name="connsiteX54" fmla="*/ 1976284 w 6086168"/>
              <a:gd name="connsiteY54" fmla="*/ 796825 h 3274554"/>
              <a:gd name="connsiteX55" fmla="*/ 2330245 w 6086168"/>
              <a:gd name="connsiteY55" fmla="*/ 806658 h 3274554"/>
              <a:gd name="connsiteX56" fmla="*/ 2359742 w 6086168"/>
              <a:gd name="connsiteY56" fmla="*/ 816490 h 3274554"/>
              <a:gd name="connsiteX57" fmla="*/ 2399071 w 6086168"/>
              <a:gd name="connsiteY57" fmla="*/ 826322 h 3274554"/>
              <a:gd name="connsiteX58" fmla="*/ 2467897 w 6086168"/>
              <a:gd name="connsiteY58" fmla="*/ 855819 h 3274554"/>
              <a:gd name="connsiteX59" fmla="*/ 2507226 w 6086168"/>
              <a:gd name="connsiteY59" fmla="*/ 875483 h 3274554"/>
              <a:gd name="connsiteX60" fmla="*/ 2536722 w 6086168"/>
              <a:gd name="connsiteY60" fmla="*/ 885316 h 3274554"/>
              <a:gd name="connsiteX61" fmla="*/ 2605548 w 6086168"/>
              <a:gd name="connsiteY61" fmla="*/ 914812 h 3274554"/>
              <a:gd name="connsiteX62" fmla="*/ 2684206 w 6086168"/>
              <a:gd name="connsiteY62" fmla="*/ 954141 h 3274554"/>
              <a:gd name="connsiteX63" fmla="*/ 2753032 w 6086168"/>
              <a:gd name="connsiteY63" fmla="*/ 993470 h 3274554"/>
              <a:gd name="connsiteX64" fmla="*/ 2831690 w 6086168"/>
              <a:gd name="connsiteY64" fmla="*/ 1032799 h 3274554"/>
              <a:gd name="connsiteX65" fmla="*/ 2880851 w 6086168"/>
              <a:gd name="connsiteY65" fmla="*/ 1072128 h 3274554"/>
              <a:gd name="connsiteX66" fmla="*/ 2910348 w 6086168"/>
              <a:gd name="connsiteY66" fmla="*/ 1101625 h 3274554"/>
              <a:gd name="connsiteX67" fmla="*/ 2969342 w 6086168"/>
              <a:gd name="connsiteY67" fmla="*/ 1140954 h 3274554"/>
              <a:gd name="connsiteX68" fmla="*/ 2989006 w 6086168"/>
              <a:gd name="connsiteY68" fmla="*/ 1170451 h 3274554"/>
              <a:gd name="connsiteX69" fmla="*/ 3057832 w 6086168"/>
              <a:gd name="connsiteY69" fmla="*/ 1209780 h 3274554"/>
              <a:gd name="connsiteX70" fmla="*/ 3116826 w 6086168"/>
              <a:gd name="connsiteY70" fmla="*/ 1249109 h 3274554"/>
              <a:gd name="connsiteX71" fmla="*/ 3185651 w 6086168"/>
              <a:gd name="connsiteY71" fmla="*/ 1298270 h 3274554"/>
              <a:gd name="connsiteX72" fmla="*/ 3215148 w 6086168"/>
              <a:gd name="connsiteY72" fmla="*/ 1317935 h 3274554"/>
              <a:gd name="connsiteX73" fmla="*/ 3283974 w 6086168"/>
              <a:gd name="connsiteY73" fmla="*/ 1367096 h 3274554"/>
              <a:gd name="connsiteX74" fmla="*/ 3323303 w 6086168"/>
              <a:gd name="connsiteY74" fmla="*/ 1386761 h 3274554"/>
              <a:gd name="connsiteX75" fmla="*/ 3352800 w 6086168"/>
              <a:gd name="connsiteY75" fmla="*/ 1406425 h 3274554"/>
              <a:gd name="connsiteX76" fmla="*/ 3431458 w 6086168"/>
              <a:gd name="connsiteY76" fmla="*/ 1445754 h 3274554"/>
              <a:gd name="connsiteX77" fmla="*/ 3470787 w 6086168"/>
              <a:gd name="connsiteY77" fmla="*/ 1465419 h 3274554"/>
              <a:gd name="connsiteX78" fmla="*/ 3500284 w 6086168"/>
              <a:gd name="connsiteY78" fmla="*/ 1485083 h 3274554"/>
              <a:gd name="connsiteX79" fmla="*/ 3539613 w 6086168"/>
              <a:gd name="connsiteY79" fmla="*/ 1504748 h 3274554"/>
              <a:gd name="connsiteX80" fmla="*/ 3598606 w 6086168"/>
              <a:gd name="connsiteY80" fmla="*/ 1544077 h 3274554"/>
              <a:gd name="connsiteX81" fmla="*/ 3706761 w 6086168"/>
              <a:gd name="connsiteY81" fmla="*/ 1583406 h 3274554"/>
              <a:gd name="connsiteX82" fmla="*/ 3736258 w 6086168"/>
              <a:gd name="connsiteY82" fmla="*/ 1593238 h 3274554"/>
              <a:gd name="connsiteX83" fmla="*/ 3785419 w 6086168"/>
              <a:gd name="connsiteY83" fmla="*/ 1603070 h 3274554"/>
              <a:gd name="connsiteX84" fmla="*/ 3844413 w 6086168"/>
              <a:gd name="connsiteY84" fmla="*/ 1622735 h 3274554"/>
              <a:gd name="connsiteX85" fmla="*/ 4050890 w 6086168"/>
              <a:gd name="connsiteY85" fmla="*/ 1612903 h 3274554"/>
              <a:gd name="connsiteX86" fmla="*/ 4168877 w 6086168"/>
              <a:gd name="connsiteY86" fmla="*/ 1544077 h 3274554"/>
              <a:gd name="connsiteX87" fmla="*/ 4237703 w 6086168"/>
              <a:gd name="connsiteY87" fmla="*/ 1485083 h 3274554"/>
              <a:gd name="connsiteX88" fmla="*/ 4277032 w 6086168"/>
              <a:gd name="connsiteY88" fmla="*/ 1426090 h 3274554"/>
              <a:gd name="connsiteX89" fmla="*/ 4306529 w 6086168"/>
              <a:gd name="connsiteY89" fmla="*/ 1367096 h 3274554"/>
              <a:gd name="connsiteX90" fmla="*/ 4336026 w 6086168"/>
              <a:gd name="connsiteY90" fmla="*/ 1268774 h 3274554"/>
              <a:gd name="connsiteX91" fmla="*/ 4345858 w 6086168"/>
              <a:gd name="connsiteY91" fmla="*/ 1131122 h 3274554"/>
              <a:gd name="connsiteX92" fmla="*/ 4365522 w 6086168"/>
              <a:gd name="connsiteY92" fmla="*/ 1062296 h 3274554"/>
              <a:gd name="connsiteX93" fmla="*/ 4375355 w 6086168"/>
              <a:gd name="connsiteY93" fmla="*/ 1013135 h 3274554"/>
              <a:gd name="connsiteX94" fmla="*/ 4385187 w 6086168"/>
              <a:gd name="connsiteY94" fmla="*/ 983638 h 3274554"/>
              <a:gd name="connsiteX95" fmla="*/ 4395019 w 6086168"/>
              <a:gd name="connsiteY95" fmla="*/ 944309 h 3274554"/>
              <a:gd name="connsiteX96" fmla="*/ 4404851 w 6086168"/>
              <a:gd name="connsiteY96" fmla="*/ 895148 h 3274554"/>
              <a:gd name="connsiteX97" fmla="*/ 4444180 w 6086168"/>
              <a:gd name="connsiteY97" fmla="*/ 826322 h 3274554"/>
              <a:gd name="connsiteX98" fmla="*/ 4463845 w 6086168"/>
              <a:gd name="connsiteY98" fmla="*/ 786993 h 3274554"/>
              <a:gd name="connsiteX99" fmla="*/ 4513006 w 6086168"/>
              <a:gd name="connsiteY99" fmla="*/ 718167 h 3274554"/>
              <a:gd name="connsiteX100" fmla="*/ 4542503 w 6086168"/>
              <a:gd name="connsiteY100" fmla="*/ 698503 h 3274554"/>
              <a:gd name="connsiteX101" fmla="*/ 4581832 w 6086168"/>
              <a:gd name="connsiteY101" fmla="*/ 639509 h 3274554"/>
              <a:gd name="connsiteX102" fmla="*/ 4601497 w 6086168"/>
              <a:gd name="connsiteY102" fmla="*/ 610012 h 3274554"/>
              <a:gd name="connsiteX103" fmla="*/ 4650658 w 6086168"/>
              <a:gd name="connsiteY103" fmla="*/ 560851 h 3274554"/>
              <a:gd name="connsiteX104" fmla="*/ 4670322 w 6086168"/>
              <a:gd name="connsiteY104" fmla="*/ 531354 h 3274554"/>
              <a:gd name="connsiteX105" fmla="*/ 4807974 w 6086168"/>
              <a:gd name="connsiteY105" fmla="*/ 433032 h 3274554"/>
              <a:gd name="connsiteX106" fmla="*/ 4837471 w 6086168"/>
              <a:gd name="connsiteY106" fmla="*/ 413367 h 3274554"/>
              <a:gd name="connsiteX107" fmla="*/ 4866968 w 6086168"/>
              <a:gd name="connsiteY107" fmla="*/ 403535 h 3274554"/>
              <a:gd name="connsiteX108" fmla="*/ 4955458 w 6086168"/>
              <a:gd name="connsiteY108" fmla="*/ 354374 h 3274554"/>
              <a:gd name="connsiteX109" fmla="*/ 5053780 w 6086168"/>
              <a:gd name="connsiteY109" fmla="*/ 315045 h 3274554"/>
              <a:gd name="connsiteX110" fmla="*/ 5102942 w 6086168"/>
              <a:gd name="connsiteY110" fmla="*/ 285548 h 3274554"/>
              <a:gd name="connsiteX111" fmla="*/ 5191432 w 6086168"/>
              <a:gd name="connsiteY111" fmla="*/ 256051 h 3274554"/>
              <a:gd name="connsiteX112" fmla="*/ 5220929 w 6086168"/>
              <a:gd name="connsiteY112" fmla="*/ 246219 h 3274554"/>
              <a:gd name="connsiteX113" fmla="*/ 5358580 w 6086168"/>
              <a:gd name="connsiteY113" fmla="*/ 187225 h 3274554"/>
              <a:gd name="connsiteX114" fmla="*/ 5447071 w 6086168"/>
              <a:gd name="connsiteY114" fmla="*/ 157728 h 3274554"/>
              <a:gd name="connsiteX115" fmla="*/ 5506064 w 6086168"/>
              <a:gd name="connsiteY115" fmla="*/ 147896 h 3274554"/>
              <a:gd name="connsiteX116" fmla="*/ 5565058 w 6086168"/>
              <a:gd name="connsiteY116" fmla="*/ 128232 h 3274554"/>
              <a:gd name="connsiteX117" fmla="*/ 5604387 w 6086168"/>
              <a:gd name="connsiteY117" fmla="*/ 118399 h 3274554"/>
              <a:gd name="connsiteX118" fmla="*/ 5653548 w 6086168"/>
              <a:gd name="connsiteY118" fmla="*/ 108567 h 3274554"/>
              <a:gd name="connsiteX119" fmla="*/ 5702709 w 6086168"/>
              <a:gd name="connsiteY119" fmla="*/ 88903 h 3274554"/>
              <a:gd name="connsiteX120" fmla="*/ 5810864 w 6086168"/>
              <a:gd name="connsiteY120" fmla="*/ 59406 h 3274554"/>
              <a:gd name="connsiteX121" fmla="*/ 5860026 w 6086168"/>
              <a:gd name="connsiteY121" fmla="*/ 39741 h 3274554"/>
              <a:gd name="connsiteX122" fmla="*/ 5987845 w 6086168"/>
              <a:gd name="connsiteY122" fmla="*/ 20077 h 3274554"/>
              <a:gd name="connsiteX123" fmla="*/ 6066503 w 6086168"/>
              <a:gd name="connsiteY123" fmla="*/ 412 h 3274554"/>
              <a:gd name="connsiteX124" fmla="*/ 6086168 w 6086168"/>
              <a:gd name="connsiteY124" fmla="*/ 412 h 327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6086168" h="3274554">
                <a:moveTo>
                  <a:pt x="0" y="3274554"/>
                </a:moveTo>
                <a:lnTo>
                  <a:pt x="78658" y="3245058"/>
                </a:lnTo>
                <a:cubicBezTo>
                  <a:pt x="88398" y="3241516"/>
                  <a:pt x="99974" y="3241588"/>
                  <a:pt x="108155" y="3235225"/>
                </a:cubicBezTo>
                <a:cubicBezTo>
                  <a:pt x="130106" y="3218152"/>
                  <a:pt x="144009" y="3191658"/>
                  <a:pt x="167148" y="3176232"/>
                </a:cubicBezTo>
                <a:lnTo>
                  <a:pt x="226142" y="3136903"/>
                </a:lnTo>
                <a:lnTo>
                  <a:pt x="255639" y="3117238"/>
                </a:lnTo>
                <a:cubicBezTo>
                  <a:pt x="298076" y="3088946"/>
                  <a:pt x="315369" y="3080204"/>
                  <a:pt x="353961" y="3028748"/>
                </a:cubicBezTo>
                <a:cubicBezTo>
                  <a:pt x="422430" y="2937456"/>
                  <a:pt x="349138" y="3040065"/>
                  <a:pt x="403122" y="2950090"/>
                </a:cubicBezTo>
                <a:cubicBezTo>
                  <a:pt x="415281" y="2929824"/>
                  <a:pt x="429341" y="2910761"/>
                  <a:pt x="442451" y="2891096"/>
                </a:cubicBezTo>
                <a:lnTo>
                  <a:pt x="481780" y="2832103"/>
                </a:lnTo>
                <a:cubicBezTo>
                  <a:pt x="488335" y="2822271"/>
                  <a:pt x="496160" y="2813175"/>
                  <a:pt x="501445" y="2802606"/>
                </a:cubicBezTo>
                <a:cubicBezTo>
                  <a:pt x="546059" y="2713379"/>
                  <a:pt x="524513" y="2748339"/>
                  <a:pt x="560439" y="2694451"/>
                </a:cubicBezTo>
                <a:cubicBezTo>
                  <a:pt x="563716" y="2684619"/>
                  <a:pt x="565238" y="2674014"/>
                  <a:pt x="570271" y="2664954"/>
                </a:cubicBezTo>
                <a:cubicBezTo>
                  <a:pt x="581748" y="2644294"/>
                  <a:pt x="596490" y="2625625"/>
                  <a:pt x="609600" y="2605961"/>
                </a:cubicBezTo>
                <a:cubicBezTo>
                  <a:pt x="616155" y="2596129"/>
                  <a:pt x="623979" y="2587033"/>
                  <a:pt x="629264" y="2576464"/>
                </a:cubicBezTo>
                <a:cubicBezTo>
                  <a:pt x="635819" y="2563354"/>
                  <a:pt x="641657" y="2549861"/>
                  <a:pt x="648929" y="2537135"/>
                </a:cubicBezTo>
                <a:cubicBezTo>
                  <a:pt x="654792" y="2526875"/>
                  <a:pt x="663308" y="2518207"/>
                  <a:pt x="668593" y="2507638"/>
                </a:cubicBezTo>
                <a:cubicBezTo>
                  <a:pt x="673228" y="2498368"/>
                  <a:pt x="674787" y="2487845"/>
                  <a:pt x="678426" y="2478141"/>
                </a:cubicBezTo>
                <a:cubicBezTo>
                  <a:pt x="684623" y="2461615"/>
                  <a:pt x="690694" y="2445005"/>
                  <a:pt x="698090" y="2428980"/>
                </a:cubicBezTo>
                <a:cubicBezTo>
                  <a:pt x="731550" y="2356483"/>
                  <a:pt x="725655" y="2367968"/>
                  <a:pt x="757084" y="2320825"/>
                </a:cubicBezTo>
                <a:cubicBezTo>
                  <a:pt x="781796" y="2246686"/>
                  <a:pt x="748462" y="2338068"/>
                  <a:pt x="786580" y="2261832"/>
                </a:cubicBezTo>
                <a:cubicBezTo>
                  <a:pt x="794473" y="2246046"/>
                  <a:pt x="797877" y="2228210"/>
                  <a:pt x="806245" y="2212670"/>
                </a:cubicBezTo>
                <a:cubicBezTo>
                  <a:pt x="845817" y="2139178"/>
                  <a:pt x="841169" y="2148249"/>
                  <a:pt x="884903" y="2104516"/>
                </a:cubicBezTo>
                <a:cubicBezTo>
                  <a:pt x="898013" y="2078297"/>
                  <a:pt x="907971" y="2050249"/>
                  <a:pt x="924232" y="2025858"/>
                </a:cubicBezTo>
                <a:cubicBezTo>
                  <a:pt x="944726" y="1995118"/>
                  <a:pt x="953621" y="1982789"/>
                  <a:pt x="973393" y="1947199"/>
                </a:cubicBezTo>
                <a:cubicBezTo>
                  <a:pt x="980511" y="1934386"/>
                  <a:pt x="987284" y="1921342"/>
                  <a:pt x="993058" y="1907870"/>
                </a:cubicBezTo>
                <a:cubicBezTo>
                  <a:pt x="997141" y="1898344"/>
                  <a:pt x="1000043" y="1888339"/>
                  <a:pt x="1002890" y="1878374"/>
                </a:cubicBezTo>
                <a:cubicBezTo>
                  <a:pt x="1006602" y="1865381"/>
                  <a:pt x="1007399" y="1851466"/>
                  <a:pt x="1012722" y="1839045"/>
                </a:cubicBezTo>
                <a:cubicBezTo>
                  <a:pt x="1017377" y="1828183"/>
                  <a:pt x="1025832" y="1819380"/>
                  <a:pt x="1032387" y="1809548"/>
                </a:cubicBezTo>
                <a:cubicBezTo>
                  <a:pt x="1038942" y="1789883"/>
                  <a:pt x="1047023" y="1770663"/>
                  <a:pt x="1052051" y="1750554"/>
                </a:cubicBezTo>
                <a:cubicBezTo>
                  <a:pt x="1055329" y="1737444"/>
                  <a:pt x="1055180" y="1722958"/>
                  <a:pt x="1061884" y="1711225"/>
                </a:cubicBezTo>
                <a:cubicBezTo>
                  <a:pt x="1068783" y="1699152"/>
                  <a:pt x="1081548" y="1691560"/>
                  <a:pt x="1091380" y="1681728"/>
                </a:cubicBezTo>
                <a:cubicBezTo>
                  <a:pt x="1117681" y="1602826"/>
                  <a:pt x="1098096" y="1638921"/>
                  <a:pt x="1150374" y="1573574"/>
                </a:cubicBezTo>
                <a:cubicBezTo>
                  <a:pt x="1166722" y="1524529"/>
                  <a:pt x="1173501" y="1499554"/>
                  <a:pt x="1209368" y="1445754"/>
                </a:cubicBezTo>
                <a:cubicBezTo>
                  <a:pt x="1229117" y="1416130"/>
                  <a:pt x="1233727" y="1411858"/>
                  <a:pt x="1248697" y="1376928"/>
                </a:cubicBezTo>
                <a:cubicBezTo>
                  <a:pt x="1252780" y="1367402"/>
                  <a:pt x="1253894" y="1356702"/>
                  <a:pt x="1258529" y="1347432"/>
                </a:cubicBezTo>
                <a:cubicBezTo>
                  <a:pt x="1263814" y="1336863"/>
                  <a:pt x="1272908" y="1328504"/>
                  <a:pt x="1278193" y="1317935"/>
                </a:cubicBezTo>
                <a:cubicBezTo>
                  <a:pt x="1282828" y="1308665"/>
                  <a:pt x="1283943" y="1297964"/>
                  <a:pt x="1288026" y="1288438"/>
                </a:cubicBezTo>
                <a:cubicBezTo>
                  <a:pt x="1293800" y="1274966"/>
                  <a:pt x="1301916" y="1262581"/>
                  <a:pt x="1307690" y="1249109"/>
                </a:cubicBezTo>
                <a:cubicBezTo>
                  <a:pt x="1346318" y="1158975"/>
                  <a:pt x="1283201" y="1284590"/>
                  <a:pt x="1337187" y="1190116"/>
                </a:cubicBezTo>
                <a:cubicBezTo>
                  <a:pt x="1344459" y="1177390"/>
                  <a:pt x="1348332" y="1162714"/>
                  <a:pt x="1356851" y="1150787"/>
                </a:cubicBezTo>
                <a:cubicBezTo>
                  <a:pt x="1364933" y="1139472"/>
                  <a:pt x="1377299" y="1131847"/>
                  <a:pt x="1386348" y="1121290"/>
                </a:cubicBezTo>
                <a:cubicBezTo>
                  <a:pt x="1397013" y="1108848"/>
                  <a:pt x="1406320" y="1095296"/>
                  <a:pt x="1415845" y="1081961"/>
                </a:cubicBezTo>
                <a:cubicBezTo>
                  <a:pt x="1422713" y="1072345"/>
                  <a:pt x="1427944" y="1061542"/>
                  <a:pt x="1435509" y="1052464"/>
                </a:cubicBezTo>
                <a:cubicBezTo>
                  <a:pt x="1444411" y="1041782"/>
                  <a:pt x="1455174" y="1032799"/>
                  <a:pt x="1465006" y="1022967"/>
                </a:cubicBezTo>
                <a:cubicBezTo>
                  <a:pt x="1481148" y="974544"/>
                  <a:pt x="1463283" y="1008016"/>
                  <a:pt x="1504335" y="973806"/>
                </a:cubicBezTo>
                <a:cubicBezTo>
                  <a:pt x="1515017" y="964904"/>
                  <a:pt x="1523275" y="953358"/>
                  <a:pt x="1533832" y="944309"/>
                </a:cubicBezTo>
                <a:cubicBezTo>
                  <a:pt x="1540070" y="938962"/>
                  <a:pt x="1590205" y="901374"/>
                  <a:pt x="1602658" y="895148"/>
                </a:cubicBezTo>
                <a:cubicBezTo>
                  <a:pt x="1611928" y="890513"/>
                  <a:pt x="1622323" y="888593"/>
                  <a:pt x="1632155" y="885316"/>
                </a:cubicBezTo>
                <a:cubicBezTo>
                  <a:pt x="1641987" y="878761"/>
                  <a:pt x="1651082" y="870936"/>
                  <a:pt x="1661651" y="865651"/>
                </a:cubicBezTo>
                <a:cubicBezTo>
                  <a:pt x="1670921" y="861016"/>
                  <a:pt x="1681183" y="858666"/>
                  <a:pt x="1691148" y="855819"/>
                </a:cubicBezTo>
                <a:cubicBezTo>
                  <a:pt x="1738839" y="842193"/>
                  <a:pt x="1726936" y="848316"/>
                  <a:pt x="1779639" y="836154"/>
                </a:cubicBezTo>
                <a:cubicBezTo>
                  <a:pt x="1805973" y="830077"/>
                  <a:pt x="1832658" y="825036"/>
                  <a:pt x="1858297" y="816490"/>
                </a:cubicBezTo>
                <a:cubicBezTo>
                  <a:pt x="1868129" y="813213"/>
                  <a:pt x="1877570" y="808362"/>
                  <a:pt x="1887793" y="806658"/>
                </a:cubicBezTo>
                <a:cubicBezTo>
                  <a:pt x="1917068" y="801779"/>
                  <a:pt x="1946787" y="800103"/>
                  <a:pt x="1976284" y="796825"/>
                </a:cubicBezTo>
                <a:cubicBezTo>
                  <a:pt x="2094271" y="800103"/>
                  <a:pt x="2212367" y="800613"/>
                  <a:pt x="2330245" y="806658"/>
                </a:cubicBezTo>
                <a:cubicBezTo>
                  <a:pt x="2340596" y="807189"/>
                  <a:pt x="2349777" y="813643"/>
                  <a:pt x="2359742" y="816490"/>
                </a:cubicBezTo>
                <a:cubicBezTo>
                  <a:pt x="2372735" y="820202"/>
                  <a:pt x="2385961" y="823045"/>
                  <a:pt x="2399071" y="826322"/>
                </a:cubicBezTo>
                <a:cubicBezTo>
                  <a:pt x="2529480" y="891528"/>
                  <a:pt x="2366647" y="812427"/>
                  <a:pt x="2467897" y="855819"/>
                </a:cubicBezTo>
                <a:cubicBezTo>
                  <a:pt x="2481369" y="861593"/>
                  <a:pt x="2493754" y="869709"/>
                  <a:pt x="2507226" y="875483"/>
                </a:cubicBezTo>
                <a:cubicBezTo>
                  <a:pt x="2516752" y="879566"/>
                  <a:pt x="2527196" y="881233"/>
                  <a:pt x="2536722" y="885316"/>
                </a:cubicBezTo>
                <a:cubicBezTo>
                  <a:pt x="2621752" y="921758"/>
                  <a:pt x="2536385" y="891759"/>
                  <a:pt x="2605548" y="914812"/>
                </a:cubicBezTo>
                <a:cubicBezTo>
                  <a:pt x="2657784" y="949636"/>
                  <a:pt x="2612045" y="922069"/>
                  <a:pt x="2684206" y="954141"/>
                </a:cubicBezTo>
                <a:cubicBezTo>
                  <a:pt x="2768705" y="991696"/>
                  <a:pt x="2683444" y="955513"/>
                  <a:pt x="2753032" y="993470"/>
                </a:cubicBezTo>
                <a:cubicBezTo>
                  <a:pt x="2778767" y="1007507"/>
                  <a:pt x="2831690" y="1032799"/>
                  <a:pt x="2831690" y="1032799"/>
                </a:cubicBezTo>
                <a:cubicBezTo>
                  <a:pt x="2875671" y="1098769"/>
                  <a:pt x="2823861" y="1034134"/>
                  <a:pt x="2880851" y="1072128"/>
                </a:cubicBezTo>
                <a:cubicBezTo>
                  <a:pt x="2892421" y="1079841"/>
                  <a:pt x="2899372" y="1093088"/>
                  <a:pt x="2910348" y="1101625"/>
                </a:cubicBezTo>
                <a:cubicBezTo>
                  <a:pt x="2929004" y="1116135"/>
                  <a:pt x="2969342" y="1140954"/>
                  <a:pt x="2969342" y="1140954"/>
                </a:cubicBezTo>
                <a:cubicBezTo>
                  <a:pt x="2975897" y="1150786"/>
                  <a:pt x="2980650" y="1162095"/>
                  <a:pt x="2989006" y="1170451"/>
                </a:cubicBezTo>
                <a:cubicBezTo>
                  <a:pt x="3006014" y="1187459"/>
                  <a:pt x="3038551" y="1198211"/>
                  <a:pt x="3057832" y="1209780"/>
                </a:cubicBezTo>
                <a:cubicBezTo>
                  <a:pt x="3078098" y="1221939"/>
                  <a:pt x="3097161" y="1235999"/>
                  <a:pt x="3116826" y="1249109"/>
                </a:cubicBezTo>
                <a:cubicBezTo>
                  <a:pt x="3186314" y="1295435"/>
                  <a:pt x="3100317" y="1237318"/>
                  <a:pt x="3185651" y="1298270"/>
                </a:cubicBezTo>
                <a:cubicBezTo>
                  <a:pt x="3195267" y="1305138"/>
                  <a:pt x="3205532" y="1311066"/>
                  <a:pt x="3215148" y="1317935"/>
                </a:cubicBezTo>
                <a:cubicBezTo>
                  <a:pt x="3236260" y="1333015"/>
                  <a:pt x="3260795" y="1353851"/>
                  <a:pt x="3283974" y="1367096"/>
                </a:cubicBezTo>
                <a:cubicBezTo>
                  <a:pt x="3296700" y="1374368"/>
                  <a:pt x="3310577" y="1379489"/>
                  <a:pt x="3323303" y="1386761"/>
                </a:cubicBezTo>
                <a:cubicBezTo>
                  <a:pt x="3333563" y="1392624"/>
                  <a:pt x="3342426" y="1400767"/>
                  <a:pt x="3352800" y="1406425"/>
                </a:cubicBezTo>
                <a:cubicBezTo>
                  <a:pt x="3378535" y="1420462"/>
                  <a:pt x="3405239" y="1432644"/>
                  <a:pt x="3431458" y="1445754"/>
                </a:cubicBezTo>
                <a:cubicBezTo>
                  <a:pt x="3444568" y="1452309"/>
                  <a:pt x="3458591" y="1457289"/>
                  <a:pt x="3470787" y="1465419"/>
                </a:cubicBezTo>
                <a:cubicBezTo>
                  <a:pt x="3480619" y="1471974"/>
                  <a:pt x="3490024" y="1479220"/>
                  <a:pt x="3500284" y="1485083"/>
                </a:cubicBezTo>
                <a:cubicBezTo>
                  <a:pt x="3513010" y="1492355"/>
                  <a:pt x="3527045" y="1497207"/>
                  <a:pt x="3539613" y="1504748"/>
                </a:cubicBezTo>
                <a:cubicBezTo>
                  <a:pt x="3559879" y="1516908"/>
                  <a:pt x="3576663" y="1535300"/>
                  <a:pt x="3598606" y="1544077"/>
                </a:cubicBezTo>
                <a:cubicBezTo>
                  <a:pt x="3667006" y="1571436"/>
                  <a:pt x="3631033" y="1558163"/>
                  <a:pt x="3706761" y="1583406"/>
                </a:cubicBezTo>
                <a:cubicBezTo>
                  <a:pt x="3716593" y="1586683"/>
                  <a:pt x="3726095" y="1591205"/>
                  <a:pt x="3736258" y="1593238"/>
                </a:cubicBezTo>
                <a:cubicBezTo>
                  <a:pt x="3752645" y="1596515"/>
                  <a:pt x="3769296" y="1598673"/>
                  <a:pt x="3785419" y="1603070"/>
                </a:cubicBezTo>
                <a:cubicBezTo>
                  <a:pt x="3805417" y="1608524"/>
                  <a:pt x="3844413" y="1622735"/>
                  <a:pt x="3844413" y="1622735"/>
                </a:cubicBezTo>
                <a:cubicBezTo>
                  <a:pt x="3913239" y="1619458"/>
                  <a:pt x="3982206" y="1618398"/>
                  <a:pt x="4050890" y="1612903"/>
                </a:cubicBezTo>
                <a:cubicBezTo>
                  <a:pt x="4103966" y="1608657"/>
                  <a:pt x="4123182" y="1578348"/>
                  <a:pt x="4168877" y="1544077"/>
                </a:cubicBezTo>
                <a:cubicBezTo>
                  <a:pt x="4193507" y="1525605"/>
                  <a:pt x="4218531" y="1509733"/>
                  <a:pt x="4237703" y="1485083"/>
                </a:cubicBezTo>
                <a:cubicBezTo>
                  <a:pt x="4252213" y="1466428"/>
                  <a:pt x="4269559" y="1448511"/>
                  <a:pt x="4277032" y="1426090"/>
                </a:cubicBezTo>
                <a:cubicBezTo>
                  <a:pt x="4290601" y="1385382"/>
                  <a:pt x="4281115" y="1405216"/>
                  <a:pt x="4306529" y="1367096"/>
                </a:cubicBezTo>
                <a:cubicBezTo>
                  <a:pt x="4330466" y="1295283"/>
                  <a:pt x="4321165" y="1328212"/>
                  <a:pt x="4336026" y="1268774"/>
                </a:cubicBezTo>
                <a:cubicBezTo>
                  <a:pt x="4339303" y="1222890"/>
                  <a:pt x="4339353" y="1176661"/>
                  <a:pt x="4345858" y="1131122"/>
                </a:cubicBezTo>
                <a:cubicBezTo>
                  <a:pt x="4349232" y="1107502"/>
                  <a:pt x="4359735" y="1085444"/>
                  <a:pt x="4365522" y="1062296"/>
                </a:cubicBezTo>
                <a:cubicBezTo>
                  <a:pt x="4369575" y="1046083"/>
                  <a:pt x="4371302" y="1029348"/>
                  <a:pt x="4375355" y="1013135"/>
                </a:cubicBezTo>
                <a:cubicBezTo>
                  <a:pt x="4377869" y="1003080"/>
                  <a:pt x="4382340" y="993603"/>
                  <a:pt x="4385187" y="983638"/>
                </a:cubicBezTo>
                <a:cubicBezTo>
                  <a:pt x="4388899" y="970645"/>
                  <a:pt x="4392088" y="957500"/>
                  <a:pt x="4395019" y="944309"/>
                </a:cubicBezTo>
                <a:cubicBezTo>
                  <a:pt x="4398644" y="927995"/>
                  <a:pt x="4399566" y="911002"/>
                  <a:pt x="4404851" y="895148"/>
                </a:cubicBezTo>
                <a:cubicBezTo>
                  <a:pt x="4416734" y="859500"/>
                  <a:pt x="4426921" y="856526"/>
                  <a:pt x="4444180" y="826322"/>
                </a:cubicBezTo>
                <a:cubicBezTo>
                  <a:pt x="4451452" y="813596"/>
                  <a:pt x="4456573" y="799719"/>
                  <a:pt x="4463845" y="786993"/>
                </a:cubicBezTo>
                <a:cubicBezTo>
                  <a:pt x="4471290" y="773963"/>
                  <a:pt x="4505968" y="725205"/>
                  <a:pt x="4513006" y="718167"/>
                </a:cubicBezTo>
                <a:cubicBezTo>
                  <a:pt x="4521362" y="709811"/>
                  <a:pt x="4532671" y="705058"/>
                  <a:pt x="4542503" y="698503"/>
                </a:cubicBezTo>
                <a:cubicBezTo>
                  <a:pt x="4559781" y="646666"/>
                  <a:pt x="4540915" y="688609"/>
                  <a:pt x="4581832" y="639509"/>
                </a:cubicBezTo>
                <a:cubicBezTo>
                  <a:pt x="4589397" y="630431"/>
                  <a:pt x="4593715" y="618905"/>
                  <a:pt x="4601497" y="610012"/>
                </a:cubicBezTo>
                <a:cubicBezTo>
                  <a:pt x="4616758" y="592571"/>
                  <a:pt x="4635397" y="578292"/>
                  <a:pt x="4650658" y="560851"/>
                </a:cubicBezTo>
                <a:cubicBezTo>
                  <a:pt x="4658439" y="551958"/>
                  <a:pt x="4661966" y="539710"/>
                  <a:pt x="4670322" y="531354"/>
                </a:cubicBezTo>
                <a:cubicBezTo>
                  <a:pt x="4701058" y="500618"/>
                  <a:pt x="4779912" y="451740"/>
                  <a:pt x="4807974" y="433032"/>
                </a:cubicBezTo>
                <a:cubicBezTo>
                  <a:pt x="4817806" y="426477"/>
                  <a:pt x="4826260" y="417104"/>
                  <a:pt x="4837471" y="413367"/>
                </a:cubicBezTo>
                <a:cubicBezTo>
                  <a:pt x="4847303" y="410090"/>
                  <a:pt x="4857698" y="408170"/>
                  <a:pt x="4866968" y="403535"/>
                </a:cubicBezTo>
                <a:cubicBezTo>
                  <a:pt x="4941570" y="366234"/>
                  <a:pt x="4889163" y="382786"/>
                  <a:pt x="4955458" y="354374"/>
                </a:cubicBezTo>
                <a:cubicBezTo>
                  <a:pt x="4987903" y="340469"/>
                  <a:pt x="5023512" y="333206"/>
                  <a:pt x="5053780" y="315045"/>
                </a:cubicBezTo>
                <a:cubicBezTo>
                  <a:pt x="5070167" y="305213"/>
                  <a:pt x="5085376" y="293076"/>
                  <a:pt x="5102942" y="285548"/>
                </a:cubicBezTo>
                <a:cubicBezTo>
                  <a:pt x="5131520" y="273300"/>
                  <a:pt x="5161935" y="265883"/>
                  <a:pt x="5191432" y="256051"/>
                </a:cubicBezTo>
                <a:cubicBezTo>
                  <a:pt x="5201264" y="252774"/>
                  <a:pt x="5211659" y="250854"/>
                  <a:pt x="5220929" y="246219"/>
                </a:cubicBezTo>
                <a:cubicBezTo>
                  <a:pt x="5273240" y="220063"/>
                  <a:pt x="5291419" y="209612"/>
                  <a:pt x="5358580" y="187225"/>
                </a:cubicBezTo>
                <a:cubicBezTo>
                  <a:pt x="5388077" y="177393"/>
                  <a:pt x="5417028" y="165739"/>
                  <a:pt x="5447071" y="157728"/>
                </a:cubicBezTo>
                <a:cubicBezTo>
                  <a:pt x="5466333" y="152591"/>
                  <a:pt x="5486724" y="152731"/>
                  <a:pt x="5506064" y="147896"/>
                </a:cubicBezTo>
                <a:cubicBezTo>
                  <a:pt x="5526173" y="142869"/>
                  <a:pt x="5545204" y="134188"/>
                  <a:pt x="5565058" y="128232"/>
                </a:cubicBezTo>
                <a:cubicBezTo>
                  <a:pt x="5578001" y="124349"/>
                  <a:pt x="5591196" y="121331"/>
                  <a:pt x="5604387" y="118399"/>
                </a:cubicBezTo>
                <a:cubicBezTo>
                  <a:pt x="5620701" y="114774"/>
                  <a:pt x="5637541" y="113369"/>
                  <a:pt x="5653548" y="108567"/>
                </a:cubicBezTo>
                <a:cubicBezTo>
                  <a:pt x="5670453" y="103496"/>
                  <a:pt x="5686122" y="94935"/>
                  <a:pt x="5702709" y="88903"/>
                </a:cubicBezTo>
                <a:cubicBezTo>
                  <a:pt x="5763699" y="66725"/>
                  <a:pt x="5752549" y="71069"/>
                  <a:pt x="5810864" y="59406"/>
                </a:cubicBezTo>
                <a:cubicBezTo>
                  <a:pt x="5827251" y="52851"/>
                  <a:pt x="5843121" y="44813"/>
                  <a:pt x="5860026" y="39741"/>
                </a:cubicBezTo>
                <a:cubicBezTo>
                  <a:pt x="5892198" y="30089"/>
                  <a:pt x="5960434" y="23503"/>
                  <a:pt x="5987845" y="20077"/>
                </a:cubicBezTo>
                <a:cubicBezTo>
                  <a:pt x="6022156" y="8640"/>
                  <a:pt x="6024980" y="6344"/>
                  <a:pt x="6066503" y="412"/>
                </a:cubicBezTo>
                <a:cubicBezTo>
                  <a:pt x="6072992" y="-515"/>
                  <a:pt x="6079613" y="412"/>
                  <a:pt x="6086168" y="412"/>
                </a:cubicBezTo>
              </a:path>
            </a:pathLst>
          </a:custGeom>
          <a:noFill/>
          <a:ln w="38100">
            <a:solidFill>
              <a:srgbClr val="D53E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40982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scatter chart&#10;&#10;Description automatically generated">
            <a:extLst>
              <a:ext uri="{FF2B5EF4-FFF2-40B4-BE49-F238E27FC236}">
                <a16:creationId xmlns:a16="http://schemas.microsoft.com/office/drawing/2014/main" id="{5E763400-AE94-171A-BA3B-BE4F0D29813A}"/>
              </a:ext>
            </a:extLst>
          </p:cNvPr>
          <p:cNvPicPr>
            <a:picLocks noChangeAspect="1"/>
          </p:cNvPicPr>
          <p:nvPr/>
        </p:nvPicPr>
        <p:blipFill>
          <a:blip r:embed="rId2"/>
          <a:stretch>
            <a:fillRect/>
          </a:stretch>
        </p:blipFill>
        <p:spPr>
          <a:xfrm>
            <a:off x="3652740" y="1027906"/>
            <a:ext cx="8288482" cy="5698331"/>
          </a:xfrm>
          <a:prstGeom prst="rect">
            <a:avLst/>
          </a:prstGeom>
        </p:spPr>
      </p:pic>
      <p:sp>
        <p:nvSpPr>
          <p:cNvPr id="2" name="Title 1">
            <a:extLst>
              <a:ext uri="{FF2B5EF4-FFF2-40B4-BE49-F238E27FC236}">
                <a16:creationId xmlns:a16="http://schemas.microsoft.com/office/drawing/2014/main" id="{8C20C5B8-6072-BDA4-7CF4-F24B0AFDA29E}"/>
              </a:ext>
            </a:extLst>
          </p:cNvPr>
          <p:cNvSpPr>
            <a:spLocks noGrp="1"/>
          </p:cNvSpPr>
          <p:nvPr>
            <p:ph type="title"/>
          </p:nvPr>
        </p:nvSpPr>
        <p:spPr>
          <a:xfrm>
            <a:off x="838200" y="365125"/>
            <a:ext cx="10891684" cy="1325563"/>
          </a:xfrm>
        </p:spPr>
        <p:txBody>
          <a:bodyPr/>
          <a:lstStyle/>
          <a:p>
            <a:r>
              <a:rPr lang="en-US" dirty="0"/>
              <a:t>Let’s teach a neural network to identify cancer</a:t>
            </a:r>
          </a:p>
        </p:txBody>
      </p:sp>
      <p:sp>
        <p:nvSpPr>
          <p:cNvPr id="8" name="TextBox 7">
            <a:extLst>
              <a:ext uri="{FF2B5EF4-FFF2-40B4-BE49-F238E27FC236}">
                <a16:creationId xmlns:a16="http://schemas.microsoft.com/office/drawing/2014/main" id="{AD498A56-DC87-59BF-E86B-9520BA279774}"/>
              </a:ext>
            </a:extLst>
          </p:cNvPr>
          <p:cNvSpPr txBox="1"/>
          <p:nvPr/>
        </p:nvSpPr>
        <p:spPr>
          <a:xfrm>
            <a:off x="838200" y="2025445"/>
            <a:ext cx="3075039" cy="2031325"/>
          </a:xfrm>
          <a:prstGeom prst="rect">
            <a:avLst/>
          </a:prstGeom>
          <a:noFill/>
        </p:spPr>
        <p:txBody>
          <a:bodyPr wrap="square" rtlCol="0">
            <a:spAutoFit/>
          </a:bodyPr>
          <a:lstStyle/>
          <a:p>
            <a:r>
              <a:rPr lang="en-US" dirty="0">
                <a:solidFill>
                  <a:srgbClr val="D53E8B"/>
                </a:solidFill>
              </a:rPr>
              <a:t>Updated decision boundary</a:t>
            </a:r>
          </a:p>
          <a:p>
            <a:endParaRPr lang="en-US" dirty="0"/>
          </a:p>
          <a:p>
            <a:r>
              <a:rPr lang="en-US" dirty="0"/>
              <a:t>(epoch 23)</a:t>
            </a:r>
          </a:p>
          <a:p>
            <a:endParaRPr lang="en-US" dirty="0"/>
          </a:p>
          <a:p>
            <a:r>
              <a:rPr lang="en-US" u="sng" dirty="0"/>
              <a:t>Hmm…</a:t>
            </a:r>
          </a:p>
          <a:p>
            <a:endParaRPr lang="en-US" u="sng" dirty="0"/>
          </a:p>
          <a:p>
            <a:r>
              <a:rPr lang="en-US" dirty="0"/>
              <a:t>It doesn’t know when to stop.</a:t>
            </a:r>
          </a:p>
        </p:txBody>
      </p:sp>
      <p:sp>
        <p:nvSpPr>
          <p:cNvPr id="6" name="Freeform 5">
            <a:extLst>
              <a:ext uri="{FF2B5EF4-FFF2-40B4-BE49-F238E27FC236}">
                <a16:creationId xmlns:a16="http://schemas.microsoft.com/office/drawing/2014/main" id="{1376D06B-2386-8FA4-248D-26749FF2E271}"/>
              </a:ext>
            </a:extLst>
          </p:cNvPr>
          <p:cNvSpPr/>
          <p:nvPr/>
        </p:nvSpPr>
        <p:spPr>
          <a:xfrm>
            <a:off x="4746812" y="1848971"/>
            <a:ext cx="5183841" cy="4134970"/>
          </a:xfrm>
          <a:custGeom>
            <a:avLst/>
            <a:gdLst>
              <a:gd name="connsiteX0" fmla="*/ 0 w 5183841"/>
              <a:gd name="connsiteY0" fmla="*/ 4134970 h 4134970"/>
              <a:gd name="connsiteX1" fmla="*/ 47064 w 5183841"/>
              <a:gd name="connsiteY1" fmla="*/ 4114800 h 4134970"/>
              <a:gd name="connsiteX2" fmla="*/ 87406 w 5183841"/>
              <a:gd name="connsiteY2" fmla="*/ 4094629 h 4134970"/>
              <a:gd name="connsiteX3" fmla="*/ 181535 w 5183841"/>
              <a:gd name="connsiteY3" fmla="*/ 4040841 h 4134970"/>
              <a:gd name="connsiteX4" fmla="*/ 221876 w 5183841"/>
              <a:gd name="connsiteY4" fmla="*/ 4027394 h 4134970"/>
              <a:gd name="connsiteX5" fmla="*/ 262217 w 5183841"/>
              <a:gd name="connsiteY5" fmla="*/ 4007223 h 4134970"/>
              <a:gd name="connsiteX6" fmla="*/ 309282 w 5183841"/>
              <a:gd name="connsiteY6" fmla="*/ 3987053 h 4134970"/>
              <a:gd name="connsiteX7" fmla="*/ 389964 w 5183841"/>
              <a:gd name="connsiteY7" fmla="*/ 3939988 h 4134970"/>
              <a:gd name="connsiteX8" fmla="*/ 437029 w 5183841"/>
              <a:gd name="connsiteY8" fmla="*/ 3913094 h 4134970"/>
              <a:gd name="connsiteX9" fmla="*/ 510988 w 5183841"/>
              <a:gd name="connsiteY9" fmla="*/ 3866029 h 4134970"/>
              <a:gd name="connsiteX10" fmla="*/ 544606 w 5183841"/>
              <a:gd name="connsiteY10" fmla="*/ 3832411 h 4134970"/>
              <a:gd name="connsiteX11" fmla="*/ 578223 w 5183841"/>
              <a:gd name="connsiteY11" fmla="*/ 3812241 h 4134970"/>
              <a:gd name="connsiteX12" fmla="*/ 625288 w 5183841"/>
              <a:gd name="connsiteY12" fmla="*/ 3758453 h 4134970"/>
              <a:gd name="connsiteX13" fmla="*/ 645459 w 5183841"/>
              <a:gd name="connsiteY13" fmla="*/ 3745005 h 4134970"/>
              <a:gd name="connsiteX14" fmla="*/ 692523 w 5183841"/>
              <a:gd name="connsiteY14" fmla="*/ 3697941 h 4134970"/>
              <a:gd name="connsiteX15" fmla="*/ 692523 w 5183841"/>
              <a:gd name="connsiteY15" fmla="*/ 3697941 h 4134970"/>
              <a:gd name="connsiteX16" fmla="*/ 759759 w 5183841"/>
              <a:gd name="connsiteY16" fmla="*/ 3610535 h 4134970"/>
              <a:gd name="connsiteX17" fmla="*/ 779929 w 5183841"/>
              <a:gd name="connsiteY17" fmla="*/ 3583641 h 4134970"/>
              <a:gd name="connsiteX18" fmla="*/ 826994 w 5183841"/>
              <a:gd name="connsiteY18" fmla="*/ 3529853 h 4134970"/>
              <a:gd name="connsiteX19" fmla="*/ 847164 w 5183841"/>
              <a:gd name="connsiteY19" fmla="*/ 3502958 h 4134970"/>
              <a:gd name="connsiteX20" fmla="*/ 860612 w 5183841"/>
              <a:gd name="connsiteY20" fmla="*/ 3489511 h 4134970"/>
              <a:gd name="connsiteX21" fmla="*/ 874059 w 5183841"/>
              <a:gd name="connsiteY21" fmla="*/ 3469341 h 4134970"/>
              <a:gd name="connsiteX22" fmla="*/ 914400 w 5183841"/>
              <a:gd name="connsiteY22" fmla="*/ 3415553 h 4134970"/>
              <a:gd name="connsiteX23" fmla="*/ 927847 w 5183841"/>
              <a:gd name="connsiteY23" fmla="*/ 3395382 h 4134970"/>
              <a:gd name="connsiteX24" fmla="*/ 948017 w 5183841"/>
              <a:gd name="connsiteY24" fmla="*/ 3368488 h 4134970"/>
              <a:gd name="connsiteX25" fmla="*/ 961464 w 5183841"/>
              <a:gd name="connsiteY25" fmla="*/ 3341594 h 4134970"/>
              <a:gd name="connsiteX26" fmla="*/ 981635 w 5183841"/>
              <a:gd name="connsiteY26" fmla="*/ 3314700 h 4134970"/>
              <a:gd name="connsiteX27" fmla="*/ 1001806 w 5183841"/>
              <a:gd name="connsiteY27" fmla="*/ 3281082 h 4134970"/>
              <a:gd name="connsiteX28" fmla="*/ 1021976 w 5183841"/>
              <a:gd name="connsiteY28" fmla="*/ 3254188 h 4134970"/>
              <a:gd name="connsiteX29" fmla="*/ 1042147 w 5183841"/>
              <a:gd name="connsiteY29" fmla="*/ 3207123 h 4134970"/>
              <a:gd name="connsiteX30" fmla="*/ 1095935 w 5183841"/>
              <a:gd name="connsiteY30" fmla="*/ 3119717 h 4134970"/>
              <a:gd name="connsiteX31" fmla="*/ 1102659 w 5183841"/>
              <a:gd name="connsiteY31" fmla="*/ 3099547 h 4134970"/>
              <a:gd name="connsiteX32" fmla="*/ 1129553 w 5183841"/>
              <a:gd name="connsiteY32" fmla="*/ 3052482 h 4134970"/>
              <a:gd name="connsiteX33" fmla="*/ 1156447 w 5183841"/>
              <a:gd name="connsiteY33" fmla="*/ 2965076 h 4134970"/>
              <a:gd name="connsiteX34" fmla="*/ 1176617 w 5183841"/>
              <a:gd name="connsiteY34" fmla="*/ 2884394 h 4134970"/>
              <a:gd name="connsiteX35" fmla="*/ 1183341 w 5183841"/>
              <a:gd name="connsiteY35" fmla="*/ 2857500 h 4134970"/>
              <a:gd name="connsiteX36" fmla="*/ 1190064 w 5183841"/>
              <a:gd name="connsiteY36" fmla="*/ 2830605 h 4134970"/>
              <a:gd name="connsiteX37" fmla="*/ 1203512 w 5183841"/>
              <a:gd name="connsiteY37" fmla="*/ 2810435 h 4134970"/>
              <a:gd name="connsiteX38" fmla="*/ 1203512 w 5183841"/>
              <a:gd name="connsiteY38" fmla="*/ 2494429 h 4134970"/>
              <a:gd name="connsiteX39" fmla="*/ 1196788 w 5183841"/>
              <a:gd name="connsiteY39" fmla="*/ 2474258 h 4134970"/>
              <a:gd name="connsiteX40" fmla="*/ 1163170 w 5183841"/>
              <a:gd name="connsiteY40" fmla="*/ 2433917 h 4134970"/>
              <a:gd name="connsiteX41" fmla="*/ 1143000 w 5183841"/>
              <a:gd name="connsiteY41" fmla="*/ 2427194 h 4134970"/>
              <a:gd name="connsiteX42" fmla="*/ 1122829 w 5183841"/>
              <a:gd name="connsiteY42" fmla="*/ 2413747 h 4134970"/>
              <a:gd name="connsiteX43" fmla="*/ 1082488 w 5183841"/>
              <a:gd name="connsiteY43" fmla="*/ 2400300 h 4134970"/>
              <a:gd name="connsiteX44" fmla="*/ 1062317 w 5183841"/>
              <a:gd name="connsiteY44" fmla="*/ 2386853 h 4134970"/>
              <a:gd name="connsiteX45" fmla="*/ 1021976 w 5183841"/>
              <a:gd name="connsiteY45" fmla="*/ 2366682 h 4134970"/>
              <a:gd name="connsiteX46" fmla="*/ 1001806 w 5183841"/>
              <a:gd name="connsiteY46" fmla="*/ 2346511 h 4134970"/>
              <a:gd name="connsiteX47" fmla="*/ 988359 w 5183841"/>
              <a:gd name="connsiteY47" fmla="*/ 2326341 h 4134970"/>
              <a:gd name="connsiteX48" fmla="*/ 948017 w 5183841"/>
              <a:gd name="connsiteY48" fmla="*/ 2299447 h 4134970"/>
              <a:gd name="connsiteX49" fmla="*/ 921123 w 5183841"/>
              <a:gd name="connsiteY49" fmla="*/ 2259105 h 4134970"/>
              <a:gd name="connsiteX50" fmla="*/ 907676 w 5183841"/>
              <a:gd name="connsiteY50" fmla="*/ 2218764 h 4134970"/>
              <a:gd name="connsiteX51" fmla="*/ 921123 w 5183841"/>
              <a:gd name="connsiteY51" fmla="*/ 2144805 h 4134970"/>
              <a:gd name="connsiteX52" fmla="*/ 948017 w 5183841"/>
              <a:gd name="connsiteY52" fmla="*/ 2104464 h 4134970"/>
              <a:gd name="connsiteX53" fmla="*/ 1001806 w 5183841"/>
              <a:gd name="connsiteY53" fmla="*/ 2111188 h 4134970"/>
              <a:gd name="connsiteX54" fmla="*/ 1021976 w 5183841"/>
              <a:gd name="connsiteY54" fmla="*/ 2117911 h 4134970"/>
              <a:gd name="connsiteX55" fmla="*/ 1048870 w 5183841"/>
              <a:gd name="connsiteY55" fmla="*/ 2178423 h 4134970"/>
              <a:gd name="connsiteX56" fmla="*/ 1069041 w 5183841"/>
              <a:gd name="connsiteY56" fmla="*/ 2218764 h 4134970"/>
              <a:gd name="connsiteX57" fmla="*/ 1082488 w 5183841"/>
              <a:gd name="connsiteY57" fmla="*/ 2265829 h 4134970"/>
              <a:gd name="connsiteX58" fmla="*/ 1129553 w 5183841"/>
              <a:gd name="connsiteY58" fmla="*/ 2326341 h 4134970"/>
              <a:gd name="connsiteX59" fmla="*/ 1163170 w 5183841"/>
              <a:gd name="connsiteY59" fmla="*/ 2359958 h 4134970"/>
              <a:gd name="connsiteX60" fmla="*/ 1176617 w 5183841"/>
              <a:gd name="connsiteY60" fmla="*/ 2380129 h 4134970"/>
              <a:gd name="connsiteX61" fmla="*/ 1196788 w 5183841"/>
              <a:gd name="connsiteY61" fmla="*/ 2386853 h 4134970"/>
              <a:gd name="connsiteX62" fmla="*/ 1216959 w 5183841"/>
              <a:gd name="connsiteY62" fmla="*/ 2400300 h 4134970"/>
              <a:gd name="connsiteX63" fmla="*/ 1257300 w 5183841"/>
              <a:gd name="connsiteY63" fmla="*/ 2413747 h 4134970"/>
              <a:gd name="connsiteX64" fmla="*/ 1317812 w 5183841"/>
              <a:gd name="connsiteY64" fmla="*/ 2433917 h 4134970"/>
              <a:gd name="connsiteX65" fmla="*/ 1358153 w 5183841"/>
              <a:gd name="connsiteY65" fmla="*/ 2447364 h 4134970"/>
              <a:gd name="connsiteX66" fmla="*/ 1425388 w 5183841"/>
              <a:gd name="connsiteY66" fmla="*/ 2467535 h 4134970"/>
              <a:gd name="connsiteX67" fmla="*/ 1445559 w 5183841"/>
              <a:gd name="connsiteY67" fmla="*/ 2474258 h 4134970"/>
              <a:gd name="connsiteX68" fmla="*/ 1485900 w 5183841"/>
              <a:gd name="connsiteY68" fmla="*/ 2494429 h 4134970"/>
              <a:gd name="connsiteX69" fmla="*/ 1532964 w 5183841"/>
              <a:gd name="connsiteY69" fmla="*/ 2528047 h 4134970"/>
              <a:gd name="connsiteX70" fmla="*/ 1546412 w 5183841"/>
              <a:gd name="connsiteY70" fmla="*/ 2548217 h 4134970"/>
              <a:gd name="connsiteX71" fmla="*/ 1566582 w 5183841"/>
              <a:gd name="connsiteY71" fmla="*/ 2561664 h 4134970"/>
              <a:gd name="connsiteX72" fmla="*/ 1606923 w 5183841"/>
              <a:gd name="connsiteY72" fmla="*/ 2602005 h 4134970"/>
              <a:gd name="connsiteX73" fmla="*/ 1620370 w 5183841"/>
              <a:gd name="connsiteY73" fmla="*/ 2615453 h 4134970"/>
              <a:gd name="connsiteX74" fmla="*/ 1687606 w 5183841"/>
              <a:gd name="connsiteY74" fmla="*/ 2689411 h 4134970"/>
              <a:gd name="connsiteX75" fmla="*/ 1707776 w 5183841"/>
              <a:gd name="connsiteY75" fmla="*/ 2709582 h 4134970"/>
              <a:gd name="connsiteX76" fmla="*/ 1734670 w 5183841"/>
              <a:gd name="connsiteY76" fmla="*/ 2743200 h 4134970"/>
              <a:gd name="connsiteX77" fmla="*/ 1741394 w 5183841"/>
              <a:gd name="connsiteY77" fmla="*/ 2763370 h 4134970"/>
              <a:gd name="connsiteX78" fmla="*/ 1761564 w 5183841"/>
              <a:gd name="connsiteY78" fmla="*/ 2776817 h 4134970"/>
              <a:gd name="connsiteX79" fmla="*/ 1795182 w 5183841"/>
              <a:gd name="connsiteY79" fmla="*/ 2803711 h 4134970"/>
              <a:gd name="connsiteX80" fmla="*/ 1835523 w 5183841"/>
              <a:gd name="connsiteY80" fmla="*/ 2817158 h 4134970"/>
              <a:gd name="connsiteX81" fmla="*/ 1882588 w 5183841"/>
              <a:gd name="connsiteY81" fmla="*/ 2830605 h 4134970"/>
              <a:gd name="connsiteX82" fmla="*/ 1969994 w 5183841"/>
              <a:gd name="connsiteY82" fmla="*/ 2823882 h 4134970"/>
              <a:gd name="connsiteX83" fmla="*/ 1990164 w 5183841"/>
              <a:gd name="connsiteY83" fmla="*/ 2817158 h 4134970"/>
              <a:gd name="connsiteX84" fmla="*/ 2003612 w 5183841"/>
              <a:gd name="connsiteY84" fmla="*/ 2776817 h 4134970"/>
              <a:gd name="connsiteX85" fmla="*/ 2017059 w 5183841"/>
              <a:gd name="connsiteY85" fmla="*/ 2736476 h 4134970"/>
              <a:gd name="connsiteX86" fmla="*/ 2023782 w 5183841"/>
              <a:gd name="connsiteY86" fmla="*/ 2716305 h 4134970"/>
              <a:gd name="connsiteX87" fmla="*/ 2030506 w 5183841"/>
              <a:gd name="connsiteY87" fmla="*/ 2675964 h 4134970"/>
              <a:gd name="connsiteX88" fmla="*/ 2023782 w 5183841"/>
              <a:gd name="connsiteY88" fmla="*/ 2575111 h 4134970"/>
              <a:gd name="connsiteX89" fmla="*/ 2010335 w 5183841"/>
              <a:gd name="connsiteY89" fmla="*/ 2548217 h 4134970"/>
              <a:gd name="connsiteX90" fmla="*/ 1990164 w 5183841"/>
              <a:gd name="connsiteY90" fmla="*/ 2514600 h 4134970"/>
              <a:gd name="connsiteX91" fmla="*/ 1956547 w 5183841"/>
              <a:gd name="connsiteY91" fmla="*/ 2467535 h 4134970"/>
              <a:gd name="connsiteX92" fmla="*/ 1929653 w 5183841"/>
              <a:gd name="connsiteY92" fmla="*/ 2440641 h 4134970"/>
              <a:gd name="connsiteX93" fmla="*/ 1916206 w 5183841"/>
              <a:gd name="connsiteY93" fmla="*/ 2420470 h 4134970"/>
              <a:gd name="connsiteX94" fmla="*/ 1896035 w 5183841"/>
              <a:gd name="connsiteY94" fmla="*/ 2393576 h 4134970"/>
              <a:gd name="connsiteX95" fmla="*/ 1875864 w 5183841"/>
              <a:gd name="connsiteY95" fmla="*/ 2373405 h 4134970"/>
              <a:gd name="connsiteX96" fmla="*/ 1855694 w 5183841"/>
              <a:gd name="connsiteY96" fmla="*/ 2346511 h 4134970"/>
              <a:gd name="connsiteX97" fmla="*/ 1842247 w 5183841"/>
              <a:gd name="connsiteY97" fmla="*/ 2326341 h 4134970"/>
              <a:gd name="connsiteX98" fmla="*/ 1801906 w 5183841"/>
              <a:gd name="connsiteY98" fmla="*/ 2286000 h 4134970"/>
              <a:gd name="connsiteX99" fmla="*/ 1795182 w 5183841"/>
              <a:gd name="connsiteY99" fmla="*/ 2265829 h 4134970"/>
              <a:gd name="connsiteX100" fmla="*/ 1754841 w 5183841"/>
              <a:gd name="connsiteY100" fmla="*/ 2232211 h 4134970"/>
              <a:gd name="connsiteX101" fmla="*/ 1741394 w 5183841"/>
              <a:gd name="connsiteY101" fmla="*/ 2212041 h 4134970"/>
              <a:gd name="connsiteX102" fmla="*/ 1721223 w 5183841"/>
              <a:gd name="connsiteY102" fmla="*/ 2198594 h 4134970"/>
              <a:gd name="connsiteX103" fmla="*/ 1701053 w 5183841"/>
              <a:gd name="connsiteY103" fmla="*/ 2164976 h 4134970"/>
              <a:gd name="connsiteX104" fmla="*/ 1680882 w 5183841"/>
              <a:gd name="connsiteY104" fmla="*/ 2144805 h 4134970"/>
              <a:gd name="connsiteX105" fmla="*/ 1667435 w 5183841"/>
              <a:gd name="connsiteY105" fmla="*/ 2124635 h 4134970"/>
              <a:gd name="connsiteX106" fmla="*/ 1647264 w 5183841"/>
              <a:gd name="connsiteY106" fmla="*/ 2104464 h 4134970"/>
              <a:gd name="connsiteX107" fmla="*/ 1633817 w 5183841"/>
              <a:gd name="connsiteY107" fmla="*/ 2084294 h 4134970"/>
              <a:gd name="connsiteX108" fmla="*/ 1586753 w 5183841"/>
              <a:gd name="connsiteY108" fmla="*/ 2023782 h 4134970"/>
              <a:gd name="connsiteX109" fmla="*/ 1573306 w 5183841"/>
              <a:gd name="connsiteY109" fmla="*/ 1983441 h 4134970"/>
              <a:gd name="connsiteX110" fmla="*/ 1559859 w 5183841"/>
              <a:gd name="connsiteY110" fmla="*/ 1909482 h 4134970"/>
              <a:gd name="connsiteX111" fmla="*/ 1566582 w 5183841"/>
              <a:gd name="connsiteY111" fmla="*/ 1801905 h 4134970"/>
              <a:gd name="connsiteX112" fmla="*/ 1600200 w 5183841"/>
              <a:gd name="connsiteY112" fmla="*/ 1768288 h 4134970"/>
              <a:gd name="connsiteX113" fmla="*/ 1620370 w 5183841"/>
              <a:gd name="connsiteY113" fmla="*/ 1748117 h 4134970"/>
              <a:gd name="connsiteX114" fmla="*/ 1660712 w 5183841"/>
              <a:gd name="connsiteY114" fmla="*/ 1727947 h 4134970"/>
              <a:gd name="connsiteX115" fmla="*/ 1701053 w 5183841"/>
              <a:gd name="connsiteY115" fmla="*/ 1701053 h 4134970"/>
              <a:gd name="connsiteX116" fmla="*/ 1721223 w 5183841"/>
              <a:gd name="connsiteY116" fmla="*/ 1694329 h 4134970"/>
              <a:gd name="connsiteX117" fmla="*/ 1741394 w 5183841"/>
              <a:gd name="connsiteY117" fmla="*/ 1680882 h 4134970"/>
              <a:gd name="connsiteX118" fmla="*/ 1781735 w 5183841"/>
              <a:gd name="connsiteY118" fmla="*/ 1667435 h 4134970"/>
              <a:gd name="connsiteX119" fmla="*/ 1842247 w 5183841"/>
              <a:gd name="connsiteY119" fmla="*/ 1653988 h 4134970"/>
              <a:gd name="connsiteX120" fmla="*/ 1869141 w 5183841"/>
              <a:gd name="connsiteY120" fmla="*/ 1640541 h 4134970"/>
              <a:gd name="connsiteX121" fmla="*/ 1969994 w 5183841"/>
              <a:gd name="connsiteY121" fmla="*/ 1627094 h 4134970"/>
              <a:gd name="connsiteX122" fmla="*/ 2117912 w 5183841"/>
              <a:gd name="connsiteY122" fmla="*/ 1633817 h 4134970"/>
              <a:gd name="connsiteX123" fmla="*/ 2151529 w 5183841"/>
              <a:gd name="connsiteY123" fmla="*/ 1687605 h 4134970"/>
              <a:gd name="connsiteX124" fmla="*/ 2158253 w 5183841"/>
              <a:gd name="connsiteY124" fmla="*/ 1707776 h 4134970"/>
              <a:gd name="connsiteX125" fmla="*/ 2138082 w 5183841"/>
              <a:gd name="connsiteY125" fmla="*/ 1808629 h 4134970"/>
              <a:gd name="connsiteX126" fmla="*/ 2111188 w 5183841"/>
              <a:gd name="connsiteY126" fmla="*/ 1848970 h 4134970"/>
              <a:gd name="connsiteX127" fmla="*/ 2091017 w 5183841"/>
              <a:gd name="connsiteY127" fmla="*/ 1862417 h 4134970"/>
              <a:gd name="connsiteX128" fmla="*/ 2057400 w 5183841"/>
              <a:gd name="connsiteY128" fmla="*/ 1896035 h 4134970"/>
              <a:gd name="connsiteX129" fmla="*/ 2043953 w 5183841"/>
              <a:gd name="connsiteY129" fmla="*/ 1916205 h 4134970"/>
              <a:gd name="connsiteX130" fmla="*/ 2003612 w 5183841"/>
              <a:gd name="connsiteY130" fmla="*/ 1969994 h 4134970"/>
              <a:gd name="connsiteX131" fmla="*/ 1990164 w 5183841"/>
              <a:gd name="connsiteY131" fmla="*/ 2010335 h 4134970"/>
              <a:gd name="connsiteX132" fmla="*/ 1996888 w 5183841"/>
              <a:gd name="connsiteY132" fmla="*/ 2131358 h 4134970"/>
              <a:gd name="connsiteX133" fmla="*/ 2017059 w 5183841"/>
              <a:gd name="connsiteY133" fmla="*/ 2151529 h 4134970"/>
              <a:gd name="connsiteX134" fmla="*/ 2037229 w 5183841"/>
              <a:gd name="connsiteY134" fmla="*/ 2164976 h 4134970"/>
              <a:gd name="connsiteX135" fmla="*/ 2070847 w 5183841"/>
              <a:gd name="connsiteY135" fmla="*/ 2171700 h 4134970"/>
              <a:gd name="connsiteX136" fmla="*/ 2097741 w 5183841"/>
              <a:gd name="connsiteY136" fmla="*/ 2178423 h 4134970"/>
              <a:gd name="connsiteX137" fmla="*/ 2151529 w 5183841"/>
              <a:gd name="connsiteY137" fmla="*/ 2171700 h 4134970"/>
              <a:gd name="connsiteX138" fmla="*/ 2171700 w 5183841"/>
              <a:gd name="connsiteY138" fmla="*/ 2164976 h 4134970"/>
              <a:gd name="connsiteX139" fmla="*/ 2225488 w 5183841"/>
              <a:gd name="connsiteY139" fmla="*/ 2158253 h 4134970"/>
              <a:gd name="connsiteX140" fmla="*/ 2265829 w 5183841"/>
              <a:gd name="connsiteY140" fmla="*/ 2144805 h 4134970"/>
              <a:gd name="connsiteX141" fmla="*/ 2279276 w 5183841"/>
              <a:gd name="connsiteY141" fmla="*/ 2124635 h 4134970"/>
              <a:gd name="connsiteX142" fmla="*/ 2319617 w 5183841"/>
              <a:gd name="connsiteY142" fmla="*/ 2104464 h 4134970"/>
              <a:gd name="connsiteX143" fmla="*/ 2359959 w 5183841"/>
              <a:gd name="connsiteY143" fmla="*/ 2084294 h 4134970"/>
              <a:gd name="connsiteX144" fmla="*/ 2420470 w 5183841"/>
              <a:gd name="connsiteY144" fmla="*/ 2091017 h 4134970"/>
              <a:gd name="connsiteX145" fmla="*/ 2460812 w 5183841"/>
              <a:gd name="connsiteY145" fmla="*/ 2117911 h 4134970"/>
              <a:gd name="connsiteX146" fmla="*/ 2480982 w 5183841"/>
              <a:gd name="connsiteY146" fmla="*/ 2191870 h 4134970"/>
              <a:gd name="connsiteX147" fmla="*/ 2480982 w 5183841"/>
              <a:gd name="connsiteY147" fmla="*/ 2333064 h 4134970"/>
              <a:gd name="connsiteX148" fmla="*/ 2487706 w 5183841"/>
              <a:gd name="connsiteY148" fmla="*/ 2353235 h 4134970"/>
              <a:gd name="connsiteX149" fmla="*/ 2514600 w 5183841"/>
              <a:gd name="connsiteY149" fmla="*/ 2386853 h 4134970"/>
              <a:gd name="connsiteX150" fmla="*/ 2541494 w 5183841"/>
              <a:gd name="connsiteY150" fmla="*/ 2393576 h 4134970"/>
              <a:gd name="connsiteX151" fmla="*/ 2561664 w 5183841"/>
              <a:gd name="connsiteY151" fmla="*/ 2400300 h 4134970"/>
              <a:gd name="connsiteX152" fmla="*/ 2615453 w 5183841"/>
              <a:gd name="connsiteY152" fmla="*/ 2393576 h 4134970"/>
              <a:gd name="connsiteX153" fmla="*/ 2662517 w 5183841"/>
              <a:gd name="connsiteY153" fmla="*/ 2366682 h 4134970"/>
              <a:gd name="connsiteX154" fmla="*/ 2675964 w 5183841"/>
              <a:gd name="connsiteY154" fmla="*/ 2346511 h 4134970"/>
              <a:gd name="connsiteX155" fmla="*/ 2689412 w 5183841"/>
              <a:gd name="connsiteY155" fmla="*/ 2306170 h 4134970"/>
              <a:gd name="connsiteX156" fmla="*/ 2682688 w 5183841"/>
              <a:gd name="connsiteY156" fmla="*/ 2212041 h 4134970"/>
              <a:gd name="connsiteX157" fmla="*/ 2669241 w 5183841"/>
              <a:gd name="connsiteY157" fmla="*/ 2171700 h 4134970"/>
              <a:gd name="connsiteX158" fmla="*/ 2662517 w 5183841"/>
              <a:gd name="connsiteY158" fmla="*/ 2151529 h 4134970"/>
              <a:gd name="connsiteX159" fmla="*/ 2642347 w 5183841"/>
              <a:gd name="connsiteY159" fmla="*/ 2131358 h 4134970"/>
              <a:gd name="connsiteX160" fmla="*/ 2628900 w 5183841"/>
              <a:gd name="connsiteY160" fmla="*/ 2111188 h 4134970"/>
              <a:gd name="connsiteX161" fmla="*/ 2608729 w 5183841"/>
              <a:gd name="connsiteY161" fmla="*/ 2084294 h 4134970"/>
              <a:gd name="connsiteX162" fmla="*/ 2595282 w 5183841"/>
              <a:gd name="connsiteY162" fmla="*/ 2064123 h 4134970"/>
              <a:gd name="connsiteX163" fmla="*/ 2561664 w 5183841"/>
              <a:gd name="connsiteY163" fmla="*/ 2030505 h 4134970"/>
              <a:gd name="connsiteX164" fmla="*/ 2528047 w 5183841"/>
              <a:gd name="connsiteY164" fmla="*/ 1990164 h 4134970"/>
              <a:gd name="connsiteX165" fmla="*/ 2494429 w 5183841"/>
              <a:gd name="connsiteY165" fmla="*/ 1956547 h 4134970"/>
              <a:gd name="connsiteX166" fmla="*/ 2474259 w 5183841"/>
              <a:gd name="connsiteY166" fmla="*/ 1916205 h 4134970"/>
              <a:gd name="connsiteX167" fmla="*/ 2454088 w 5183841"/>
              <a:gd name="connsiteY167" fmla="*/ 1875864 h 4134970"/>
              <a:gd name="connsiteX168" fmla="*/ 2454088 w 5183841"/>
              <a:gd name="connsiteY168" fmla="*/ 1754841 h 4134970"/>
              <a:gd name="connsiteX169" fmla="*/ 2474259 w 5183841"/>
              <a:gd name="connsiteY169" fmla="*/ 1734670 h 4134970"/>
              <a:gd name="connsiteX170" fmla="*/ 2507876 w 5183841"/>
              <a:gd name="connsiteY170" fmla="*/ 1701053 h 4134970"/>
              <a:gd name="connsiteX171" fmla="*/ 2575112 w 5183841"/>
              <a:gd name="connsiteY171" fmla="*/ 1680882 h 4134970"/>
              <a:gd name="connsiteX172" fmla="*/ 2642347 w 5183841"/>
              <a:gd name="connsiteY172" fmla="*/ 1667435 h 4134970"/>
              <a:gd name="connsiteX173" fmla="*/ 2749923 w 5183841"/>
              <a:gd name="connsiteY173" fmla="*/ 1694329 h 4134970"/>
              <a:gd name="connsiteX174" fmla="*/ 2770094 w 5183841"/>
              <a:gd name="connsiteY174" fmla="*/ 1701053 h 4134970"/>
              <a:gd name="connsiteX175" fmla="*/ 2817159 w 5183841"/>
              <a:gd name="connsiteY175" fmla="*/ 1721223 h 4134970"/>
              <a:gd name="connsiteX176" fmla="*/ 2850776 w 5183841"/>
              <a:gd name="connsiteY176" fmla="*/ 1727947 h 4134970"/>
              <a:gd name="connsiteX177" fmla="*/ 2877670 w 5183841"/>
              <a:gd name="connsiteY177" fmla="*/ 1734670 h 4134970"/>
              <a:gd name="connsiteX178" fmla="*/ 2931459 w 5183841"/>
              <a:gd name="connsiteY178" fmla="*/ 1741394 h 4134970"/>
              <a:gd name="connsiteX179" fmla="*/ 2951629 w 5183841"/>
              <a:gd name="connsiteY179" fmla="*/ 1748117 h 4134970"/>
              <a:gd name="connsiteX180" fmla="*/ 2998694 w 5183841"/>
              <a:gd name="connsiteY180" fmla="*/ 1801905 h 4134970"/>
              <a:gd name="connsiteX181" fmla="*/ 3012141 w 5183841"/>
              <a:gd name="connsiteY181" fmla="*/ 1822076 h 4134970"/>
              <a:gd name="connsiteX182" fmla="*/ 2991970 w 5183841"/>
              <a:gd name="connsiteY182" fmla="*/ 1896035 h 4134970"/>
              <a:gd name="connsiteX183" fmla="*/ 2978523 w 5183841"/>
              <a:gd name="connsiteY183" fmla="*/ 1916205 h 4134970"/>
              <a:gd name="connsiteX184" fmla="*/ 2951629 w 5183841"/>
              <a:gd name="connsiteY184" fmla="*/ 1949823 h 4134970"/>
              <a:gd name="connsiteX185" fmla="*/ 2938182 w 5183841"/>
              <a:gd name="connsiteY185" fmla="*/ 1976717 h 4134970"/>
              <a:gd name="connsiteX186" fmla="*/ 2931459 w 5183841"/>
              <a:gd name="connsiteY186" fmla="*/ 1996888 h 4134970"/>
              <a:gd name="connsiteX187" fmla="*/ 2918012 w 5183841"/>
              <a:gd name="connsiteY187" fmla="*/ 2017058 h 4134970"/>
              <a:gd name="connsiteX188" fmla="*/ 2911288 w 5183841"/>
              <a:gd name="connsiteY188" fmla="*/ 2043953 h 4134970"/>
              <a:gd name="connsiteX189" fmla="*/ 2904564 w 5183841"/>
              <a:gd name="connsiteY189" fmla="*/ 2064123 h 4134970"/>
              <a:gd name="connsiteX190" fmla="*/ 2911288 w 5183841"/>
              <a:gd name="connsiteY190" fmla="*/ 2131358 h 4134970"/>
              <a:gd name="connsiteX191" fmla="*/ 2918012 w 5183841"/>
              <a:gd name="connsiteY191" fmla="*/ 2151529 h 4134970"/>
              <a:gd name="connsiteX192" fmla="*/ 2958353 w 5183841"/>
              <a:gd name="connsiteY192" fmla="*/ 2171700 h 4134970"/>
              <a:gd name="connsiteX193" fmla="*/ 2998694 w 5183841"/>
              <a:gd name="connsiteY193" fmla="*/ 2158253 h 4134970"/>
              <a:gd name="connsiteX194" fmla="*/ 3032312 w 5183841"/>
              <a:gd name="connsiteY194" fmla="*/ 2131358 h 4134970"/>
              <a:gd name="connsiteX195" fmla="*/ 3059206 w 5183841"/>
              <a:gd name="connsiteY195" fmla="*/ 2097741 h 4134970"/>
              <a:gd name="connsiteX196" fmla="*/ 3099547 w 5183841"/>
              <a:gd name="connsiteY196" fmla="*/ 2064123 h 4134970"/>
              <a:gd name="connsiteX197" fmla="*/ 3139888 w 5183841"/>
              <a:gd name="connsiteY197" fmla="*/ 2050676 h 4134970"/>
              <a:gd name="connsiteX198" fmla="*/ 3180229 w 5183841"/>
              <a:gd name="connsiteY198" fmla="*/ 2057400 h 4134970"/>
              <a:gd name="connsiteX199" fmla="*/ 3220570 w 5183841"/>
              <a:gd name="connsiteY199" fmla="*/ 2084294 h 4134970"/>
              <a:gd name="connsiteX200" fmla="*/ 3254188 w 5183841"/>
              <a:gd name="connsiteY200" fmla="*/ 2124635 h 4134970"/>
              <a:gd name="connsiteX201" fmla="*/ 3267635 w 5183841"/>
              <a:gd name="connsiteY201" fmla="*/ 2144805 h 4134970"/>
              <a:gd name="connsiteX202" fmla="*/ 3281082 w 5183841"/>
              <a:gd name="connsiteY202" fmla="*/ 2158253 h 4134970"/>
              <a:gd name="connsiteX203" fmla="*/ 3307976 w 5183841"/>
              <a:gd name="connsiteY203" fmla="*/ 2198594 h 4134970"/>
              <a:gd name="connsiteX204" fmla="*/ 3321423 w 5183841"/>
              <a:gd name="connsiteY204" fmla="*/ 2218764 h 4134970"/>
              <a:gd name="connsiteX205" fmla="*/ 3341594 w 5183841"/>
              <a:gd name="connsiteY205" fmla="*/ 2232211 h 4134970"/>
              <a:gd name="connsiteX206" fmla="*/ 3355041 w 5183841"/>
              <a:gd name="connsiteY206" fmla="*/ 2252382 h 4134970"/>
              <a:gd name="connsiteX207" fmla="*/ 3388659 w 5183841"/>
              <a:gd name="connsiteY207" fmla="*/ 2292723 h 4134970"/>
              <a:gd name="connsiteX208" fmla="*/ 3415553 w 5183841"/>
              <a:gd name="connsiteY208" fmla="*/ 2333064 h 4134970"/>
              <a:gd name="connsiteX209" fmla="*/ 3429000 w 5183841"/>
              <a:gd name="connsiteY209" fmla="*/ 2353235 h 4134970"/>
              <a:gd name="connsiteX210" fmla="*/ 3449170 w 5183841"/>
              <a:gd name="connsiteY210" fmla="*/ 2359958 h 4134970"/>
              <a:gd name="connsiteX211" fmla="*/ 3462617 w 5183841"/>
              <a:gd name="connsiteY211" fmla="*/ 2380129 h 4134970"/>
              <a:gd name="connsiteX212" fmla="*/ 3482788 w 5183841"/>
              <a:gd name="connsiteY212" fmla="*/ 2386853 h 4134970"/>
              <a:gd name="connsiteX213" fmla="*/ 3523129 w 5183841"/>
              <a:gd name="connsiteY213" fmla="*/ 2413747 h 4134970"/>
              <a:gd name="connsiteX214" fmla="*/ 3583641 w 5183841"/>
              <a:gd name="connsiteY214" fmla="*/ 2460811 h 4134970"/>
              <a:gd name="connsiteX215" fmla="*/ 3603812 w 5183841"/>
              <a:gd name="connsiteY215" fmla="*/ 2474258 h 4134970"/>
              <a:gd name="connsiteX216" fmla="*/ 3623982 w 5183841"/>
              <a:gd name="connsiteY216" fmla="*/ 2487705 h 4134970"/>
              <a:gd name="connsiteX217" fmla="*/ 3664323 w 5183841"/>
              <a:gd name="connsiteY217" fmla="*/ 2501153 h 4134970"/>
              <a:gd name="connsiteX218" fmla="*/ 3691217 w 5183841"/>
              <a:gd name="connsiteY218" fmla="*/ 2514600 h 4134970"/>
              <a:gd name="connsiteX219" fmla="*/ 3745006 w 5183841"/>
              <a:gd name="connsiteY219" fmla="*/ 2528047 h 4134970"/>
              <a:gd name="connsiteX220" fmla="*/ 3771900 w 5183841"/>
              <a:gd name="connsiteY220" fmla="*/ 2534770 h 4134970"/>
              <a:gd name="connsiteX221" fmla="*/ 3839135 w 5183841"/>
              <a:gd name="connsiteY221" fmla="*/ 2554941 h 4134970"/>
              <a:gd name="connsiteX222" fmla="*/ 3906370 w 5183841"/>
              <a:gd name="connsiteY222" fmla="*/ 2561664 h 4134970"/>
              <a:gd name="connsiteX223" fmla="*/ 3946712 w 5183841"/>
              <a:gd name="connsiteY223" fmla="*/ 2581835 h 4134970"/>
              <a:gd name="connsiteX224" fmla="*/ 3953435 w 5183841"/>
              <a:gd name="connsiteY224" fmla="*/ 2602005 h 4134970"/>
              <a:gd name="connsiteX225" fmla="*/ 3966882 w 5183841"/>
              <a:gd name="connsiteY225" fmla="*/ 2615453 h 4134970"/>
              <a:gd name="connsiteX226" fmla="*/ 3993776 w 5183841"/>
              <a:gd name="connsiteY226" fmla="*/ 2662517 h 4134970"/>
              <a:gd name="connsiteX227" fmla="*/ 4013947 w 5183841"/>
              <a:gd name="connsiteY227" fmla="*/ 2682688 h 4134970"/>
              <a:gd name="connsiteX228" fmla="*/ 4034117 w 5183841"/>
              <a:gd name="connsiteY228" fmla="*/ 2723029 h 4134970"/>
              <a:gd name="connsiteX229" fmla="*/ 4040841 w 5183841"/>
              <a:gd name="connsiteY229" fmla="*/ 2743200 h 4134970"/>
              <a:gd name="connsiteX230" fmla="*/ 4061012 w 5183841"/>
              <a:gd name="connsiteY230" fmla="*/ 2756647 h 4134970"/>
              <a:gd name="connsiteX231" fmla="*/ 4074459 w 5183841"/>
              <a:gd name="connsiteY231" fmla="*/ 2796988 h 4134970"/>
              <a:gd name="connsiteX232" fmla="*/ 4081182 w 5183841"/>
              <a:gd name="connsiteY232" fmla="*/ 2817158 h 4134970"/>
              <a:gd name="connsiteX233" fmla="*/ 4087906 w 5183841"/>
              <a:gd name="connsiteY233" fmla="*/ 2844053 h 4134970"/>
              <a:gd name="connsiteX234" fmla="*/ 4114800 w 5183841"/>
              <a:gd name="connsiteY234" fmla="*/ 2891117 h 4134970"/>
              <a:gd name="connsiteX235" fmla="*/ 4128247 w 5183841"/>
              <a:gd name="connsiteY235" fmla="*/ 2931458 h 4134970"/>
              <a:gd name="connsiteX236" fmla="*/ 4148417 w 5183841"/>
              <a:gd name="connsiteY236" fmla="*/ 2944905 h 4134970"/>
              <a:gd name="connsiteX237" fmla="*/ 4175312 w 5183841"/>
              <a:gd name="connsiteY237" fmla="*/ 2971800 h 4134970"/>
              <a:gd name="connsiteX238" fmla="*/ 4235823 w 5183841"/>
              <a:gd name="connsiteY238" fmla="*/ 2985247 h 4134970"/>
              <a:gd name="connsiteX239" fmla="*/ 4289612 w 5183841"/>
              <a:gd name="connsiteY239" fmla="*/ 2965076 h 4134970"/>
              <a:gd name="connsiteX240" fmla="*/ 4309782 w 5183841"/>
              <a:gd name="connsiteY240" fmla="*/ 2897841 h 4134970"/>
              <a:gd name="connsiteX241" fmla="*/ 4303059 w 5183841"/>
              <a:gd name="connsiteY241" fmla="*/ 2850776 h 4134970"/>
              <a:gd name="connsiteX242" fmla="*/ 4282888 w 5183841"/>
              <a:gd name="connsiteY242" fmla="*/ 2790264 h 4134970"/>
              <a:gd name="connsiteX243" fmla="*/ 4262717 w 5183841"/>
              <a:gd name="connsiteY243" fmla="*/ 2776817 h 4134970"/>
              <a:gd name="connsiteX244" fmla="*/ 4249270 w 5183841"/>
              <a:gd name="connsiteY244" fmla="*/ 2756647 h 4134970"/>
              <a:gd name="connsiteX245" fmla="*/ 4208929 w 5183841"/>
              <a:gd name="connsiteY245" fmla="*/ 2729753 h 4134970"/>
              <a:gd name="connsiteX246" fmla="*/ 4188759 w 5183841"/>
              <a:gd name="connsiteY246" fmla="*/ 2716305 h 4134970"/>
              <a:gd name="connsiteX247" fmla="*/ 4161864 w 5183841"/>
              <a:gd name="connsiteY247" fmla="*/ 2689411 h 4134970"/>
              <a:gd name="connsiteX248" fmla="*/ 4155141 w 5183841"/>
              <a:gd name="connsiteY248" fmla="*/ 2669241 h 4134970"/>
              <a:gd name="connsiteX249" fmla="*/ 4188759 w 5183841"/>
              <a:gd name="connsiteY249" fmla="*/ 2595282 h 4134970"/>
              <a:gd name="connsiteX250" fmla="*/ 4202206 w 5183841"/>
              <a:gd name="connsiteY250" fmla="*/ 2575111 h 4134970"/>
              <a:gd name="connsiteX251" fmla="*/ 4229100 w 5183841"/>
              <a:gd name="connsiteY251" fmla="*/ 2561664 h 4134970"/>
              <a:gd name="connsiteX252" fmla="*/ 4249270 w 5183841"/>
              <a:gd name="connsiteY252" fmla="*/ 2548217 h 4134970"/>
              <a:gd name="connsiteX253" fmla="*/ 4329953 w 5183841"/>
              <a:gd name="connsiteY253" fmla="*/ 2528047 h 4134970"/>
              <a:gd name="connsiteX254" fmla="*/ 4383741 w 5183841"/>
              <a:gd name="connsiteY254" fmla="*/ 2514600 h 4134970"/>
              <a:gd name="connsiteX255" fmla="*/ 4430806 w 5183841"/>
              <a:gd name="connsiteY255" fmla="*/ 2507876 h 4134970"/>
              <a:gd name="connsiteX256" fmla="*/ 4477870 w 5183841"/>
              <a:gd name="connsiteY256" fmla="*/ 2494429 h 4134970"/>
              <a:gd name="connsiteX257" fmla="*/ 4531659 w 5183841"/>
              <a:gd name="connsiteY257" fmla="*/ 2480982 h 4134970"/>
              <a:gd name="connsiteX258" fmla="*/ 4585447 w 5183841"/>
              <a:gd name="connsiteY258" fmla="*/ 2454088 h 4134970"/>
              <a:gd name="connsiteX259" fmla="*/ 4612341 w 5183841"/>
              <a:gd name="connsiteY259" fmla="*/ 2447364 h 4134970"/>
              <a:gd name="connsiteX260" fmla="*/ 4659406 w 5183841"/>
              <a:gd name="connsiteY260" fmla="*/ 2420470 h 4134970"/>
              <a:gd name="connsiteX261" fmla="*/ 4693023 w 5183841"/>
              <a:gd name="connsiteY261" fmla="*/ 2373405 h 4134970"/>
              <a:gd name="connsiteX262" fmla="*/ 4713194 w 5183841"/>
              <a:gd name="connsiteY262" fmla="*/ 2299447 h 4134970"/>
              <a:gd name="connsiteX263" fmla="*/ 4719917 w 5183841"/>
              <a:gd name="connsiteY263" fmla="*/ 2272553 h 4134970"/>
              <a:gd name="connsiteX264" fmla="*/ 4726641 w 5183841"/>
              <a:gd name="connsiteY264" fmla="*/ 2252382 h 4134970"/>
              <a:gd name="connsiteX265" fmla="*/ 4733364 w 5183841"/>
              <a:gd name="connsiteY265" fmla="*/ 2218764 h 4134970"/>
              <a:gd name="connsiteX266" fmla="*/ 4713194 w 5183841"/>
              <a:gd name="connsiteY266" fmla="*/ 2124635 h 4134970"/>
              <a:gd name="connsiteX267" fmla="*/ 4706470 w 5183841"/>
              <a:gd name="connsiteY267" fmla="*/ 2104464 h 4134970"/>
              <a:gd name="connsiteX268" fmla="*/ 4693023 w 5183841"/>
              <a:gd name="connsiteY268" fmla="*/ 2084294 h 4134970"/>
              <a:gd name="connsiteX269" fmla="*/ 4652682 w 5183841"/>
              <a:gd name="connsiteY269" fmla="*/ 2070847 h 4134970"/>
              <a:gd name="connsiteX270" fmla="*/ 4632512 w 5183841"/>
              <a:gd name="connsiteY270" fmla="*/ 2057400 h 4134970"/>
              <a:gd name="connsiteX271" fmla="*/ 4558553 w 5183841"/>
              <a:gd name="connsiteY271" fmla="*/ 2077570 h 4134970"/>
              <a:gd name="connsiteX272" fmla="*/ 4531659 w 5183841"/>
              <a:gd name="connsiteY272" fmla="*/ 2138082 h 4134970"/>
              <a:gd name="connsiteX273" fmla="*/ 4524935 w 5183841"/>
              <a:gd name="connsiteY273" fmla="*/ 2158253 h 4134970"/>
              <a:gd name="connsiteX274" fmla="*/ 4511488 w 5183841"/>
              <a:gd name="connsiteY274" fmla="*/ 2178423 h 4134970"/>
              <a:gd name="connsiteX275" fmla="*/ 4491317 w 5183841"/>
              <a:gd name="connsiteY275" fmla="*/ 2238935 h 4134970"/>
              <a:gd name="connsiteX276" fmla="*/ 4477870 w 5183841"/>
              <a:gd name="connsiteY276" fmla="*/ 2272553 h 4134970"/>
              <a:gd name="connsiteX277" fmla="*/ 4464423 w 5183841"/>
              <a:gd name="connsiteY277" fmla="*/ 2312894 h 4134970"/>
              <a:gd name="connsiteX278" fmla="*/ 4437529 w 5183841"/>
              <a:gd name="connsiteY278" fmla="*/ 2353235 h 4134970"/>
              <a:gd name="connsiteX279" fmla="*/ 4377017 w 5183841"/>
              <a:gd name="connsiteY279" fmla="*/ 2400300 h 4134970"/>
              <a:gd name="connsiteX280" fmla="*/ 4356847 w 5183841"/>
              <a:gd name="connsiteY280" fmla="*/ 2407023 h 4134970"/>
              <a:gd name="connsiteX281" fmla="*/ 4336676 w 5183841"/>
              <a:gd name="connsiteY281" fmla="*/ 2420470 h 4134970"/>
              <a:gd name="connsiteX282" fmla="*/ 4276164 w 5183841"/>
              <a:gd name="connsiteY282" fmla="*/ 2433917 h 4134970"/>
              <a:gd name="connsiteX283" fmla="*/ 4242547 w 5183841"/>
              <a:gd name="connsiteY283" fmla="*/ 2440641 h 4134970"/>
              <a:gd name="connsiteX284" fmla="*/ 4161864 w 5183841"/>
              <a:gd name="connsiteY284" fmla="*/ 2420470 h 4134970"/>
              <a:gd name="connsiteX285" fmla="*/ 4148417 w 5183841"/>
              <a:gd name="connsiteY285" fmla="*/ 2380129 h 4134970"/>
              <a:gd name="connsiteX286" fmla="*/ 4175312 w 5183841"/>
              <a:gd name="connsiteY286" fmla="*/ 2319617 h 4134970"/>
              <a:gd name="connsiteX287" fmla="*/ 4195482 w 5183841"/>
              <a:gd name="connsiteY287" fmla="*/ 2279276 h 4134970"/>
              <a:gd name="connsiteX288" fmla="*/ 4215653 w 5183841"/>
              <a:gd name="connsiteY288" fmla="*/ 2265829 h 4134970"/>
              <a:gd name="connsiteX289" fmla="*/ 4249270 w 5183841"/>
              <a:gd name="connsiteY289" fmla="*/ 2225488 h 4134970"/>
              <a:gd name="connsiteX290" fmla="*/ 4262717 w 5183841"/>
              <a:gd name="connsiteY290" fmla="*/ 2205317 h 4134970"/>
              <a:gd name="connsiteX291" fmla="*/ 4255994 w 5183841"/>
              <a:gd name="connsiteY291" fmla="*/ 2178423 h 4134970"/>
              <a:gd name="connsiteX292" fmla="*/ 4235823 w 5183841"/>
              <a:gd name="connsiteY292" fmla="*/ 2171700 h 4134970"/>
              <a:gd name="connsiteX293" fmla="*/ 4175312 w 5183841"/>
              <a:gd name="connsiteY293" fmla="*/ 2178423 h 4134970"/>
              <a:gd name="connsiteX294" fmla="*/ 4128247 w 5183841"/>
              <a:gd name="connsiteY294" fmla="*/ 2164976 h 4134970"/>
              <a:gd name="connsiteX295" fmla="*/ 4121523 w 5183841"/>
              <a:gd name="connsiteY295" fmla="*/ 2144805 h 4134970"/>
              <a:gd name="connsiteX296" fmla="*/ 4141694 w 5183841"/>
              <a:gd name="connsiteY296" fmla="*/ 2104464 h 4134970"/>
              <a:gd name="connsiteX297" fmla="*/ 4161864 w 5183841"/>
              <a:gd name="connsiteY297" fmla="*/ 2097741 h 4134970"/>
              <a:gd name="connsiteX298" fmla="*/ 4215653 w 5183841"/>
              <a:gd name="connsiteY298" fmla="*/ 2091017 h 4134970"/>
              <a:gd name="connsiteX299" fmla="*/ 4255994 w 5183841"/>
              <a:gd name="connsiteY299" fmla="*/ 2084294 h 4134970"/>
              <a:gd name="connsiteX300" fmla="*/ 4289612 w 5183841"/>
              <a:gd name="connsiteY300" fmla="*/ 2064123 h 4134970"/>
              <a:gd name="connsiteX301" fmla="*/ 4309782 w 5183841"/>
              <a:gd name="connsiteY301" fmla="*/ 2057400 h 4134970"/>
              <a:gd name="connsiteX302" fmla="*/ 4336676 w 5183841"/>
              <a:gd name="connsiteY302" fmla="*/ 2023782 h 4134970"/>
              <a:gd name="connsiteX303" fmla="*/ 4363570 w 5183841"/>
              <a:gd name="connsiteY303" fmla="*/ 1983441 h 4134970"/>
              <a:gd name="connsiteX304" fmla="*/ 4370294 w 5183841"/>
              <a:gd name="connsiteY304" fmla="*/ 1956547 h 4134970"/>
              <a:gd name="connsiteX305" fmla="*/ 4390464 w 5183841"/>
              <a:gd name="connsiteY305" fmla="*/ 1943100 h 4134970"/>
              <a:gd name="connsiteX306" fmla="*/ 4403912 w 5183841"/>
              <a:gd name="connsiteY306" fmla="*/ 1929653 h 4134970"/>
              <a:gd name="connsiteX307" fmla="*/ 4410635 w 5183841"/>
              <a:gd name="connsiteY307" fmla="*/ 1909482 h 4134970"/>
              <a:gd name="connsiteX308" fmla="*/ 4437529 w 5183841"/>
              <a:gd name="connsiteY308" fmla="*/ 1869141 h 4134970"/>
              <a:gd name="connsiteX309" fmla="*/ 4450976 w 5183841"/>
              <a:gd name="connsiteY309" fmla="*/ 1828800 h 4134970"/>
              <a:gd name="connsiteX310" fmla="*/ 4457700 w 5183841"/>
              <a:gd name="connsiteY310" fmla="*/ 1801905 h 4134970"/>
              <a:gd name="connsiteX311" fmla="*/ 4484594 w 5183841"/>
              <a:gd name="connsiteY311" fmla="*/ 1754841 h 4134970"/>
              <a:gd name="connsiteX312" fmla="*/ 4498041 w 5183841"/>
              <a:gd name="connsiteY312" fmla="*/ 1667435 h 4134970"/>
              <a:gd name="connsiteX313" fmla="*/ 4504764 w 5183841"/>
              <a:gd name="connsiteY313" fmla="*/ 1627094 h 4134970"/>
              <a:gd name="connsiteX314" fmla="*/ 4511488 w 5183841"/>
              <a:gd name="connsiteY314" fmla="*/ 1546411 h 4134970"/>
              <a:gd name="connsiteX315" fmla="*/ 4531659 w 5183841"/>
              <a:gd name="connsiteY315" fmla="*/ 1418664 h 4134970"/>
              <a:gd name="connsiteX316" fmla="*/ 4538382 w 5183841"/>
              <a:gd name="connsiteY316" fmla="*/ 1391770 h 4134970"/>
              <a:gd name="connsiteX317" fmla="*/ 4565276 w 5183841"/>
              <a:gd name="connsiteY317" fmla="*/ 1364876 h 4134970"/>
              <a:gd name="connsiteX318" fmla="*/ 4598894 w 5183841"/>
              <a:gd name="connsiteY318" fmla="*/ 1317811 h 4134970"/>
              <a:gd name="connsiteX319" fmla="*/ 4605617 w 5183841"/>
              <a:gd name="connsiteY319" fmla="*/ 1290917 h 4134970"/>
              <a:gd name="connsiteX320" fmla="*/ 4625788 w 5183841"/>
              <a:gd name="connsiteY320" fmla="*/ 1243853 h 4134970"/>
              <a:gd name="connsiteX321" fmla="*/ 4639235 w 5183841"/>
              <a:gd name="connsiteY321" fmla="*/ 1176617 h 4134970"/>
              <a:gd name="connsiteX322" fmla="*/ 4625788 w 5183841"/>
              <a:gd name="connsiteY322" fmla="*/ 974911 h 4134970"/>
              <a:gd name="connsiteX323" fmla="*/ 4612341 w 5183841"/>
              <a:gd name="connsiteY323" fmla="*/ 934570 h 4134970"/>
              <a:gd name="connsiteX324" fmla="*/ 4605617 w 5183841"/>
              <a:gd name="connsiteY324" fmla="*/ 914400 h 4134970"/>
              <a:gd name="connsiteX325" fmla="*/ 4585447 w 5183841"/>
              <a:gd name="connsiteY325" fmla="*/ 894229 h 4134970"/>
              <a:gd name="connsiteX326" fmla="*/ 4572000 w 5183841"/>
              <a:gd name="connsiteY326" fmla="*/ 874058 h 4134970"/>
              <a:gd name="connsiteX327" fmla="*/ 4531659 w 5183841"/>
              <a:gd name="connsiteY327" fmla="*/ 847164 h 4134970"/>
              <a:gd name="connsiteX328" fmla="*/ 4511488 w 5183841"/>
              <a:gd name="connsiteY328" fmla="*/ 826994 h 4134970"/>
              <a:gd name="connsiteX329" fmla="*/ 4491317 w 5183841"/>
              <a:gd name="connsiteY329" fmla="*/ 820270 h 4134970"/>
              <a:gd name="connsiteX330" fmla="*/ 4450976 w 5183841"/>
              <a:gd name="connsiteY330" fmla="*/ 793376 h 4134970"/>
              <a:gd name="connsiteX331" fmla="*/ 4410635 w 5183841"/>
              <a:gd name="connsiteY331" fmla="*/ 779929 h 4134970"/>
              <a:gd name="connsiteX332" fmla="*/ 4350123 w 5183841"/>
              <a:gd name="connsiteY332" fmla="*/ 739588 h 4134970"/>
              <a:gd name="connsiteX333" fmla="*/ 4329953 w 5183841"/>
              <a:gd name="connsiteY333" fmla="*/ 726141 h 4134970"/>
              <a:gd name="connsiteX334" fmla="*/ 4309782 w 5183841"/>
              <a:gd name="connsiteY334" fmla="*/ 719417 h 4134970"/>
              <a:gd name="connsiteX335" fmla="*/ 4235823 w 5183841"/>
              <a:gd name="connsiteY335" fmla="*/ 672353 h 4134970"/>
              <a:gd name="connsiteX336" fmla="*/ 4195482 w 5183841"/>
              <a:gd name="connsiteY336" fmla="*/ 645458 h 4134970"/>
              <a:gd name="connsiteX337" fmla="*/ 4148417 w 5183841"/>
              <a:gd name="connsiteY337" fmla="*/ 632011 h 4134970"/>
              <a:gd name="connsiteX338" fmla="*/ 4121523 w 5183841"/>
              <a:gd name="connsiteY338" fmla="*/ 618564 h 4134970"/>
              <a:gd name="connsiteX339" fmla="*/ 4101353 w 5183841"/>
              <a:gd name="connsiteY339" fmla="*/ 611841 h 4134970"/>
              <a:gd name="connsiteX340" fmla="*/ 4074459 w 5183841"/>
              <a:gd name="connsiteY340" fmla="*/ 598394 h 4134970"/>
              <a:gd name="connsiteX341" fmla="*/ 4040841 w 5183841"/>
              <a:gd name="connsiteY341" fmla="*/ 591670 h 4134970"/>
              <a:gd name="connsiteX342" fmla="*/ 4000500 w 5183841"/>
              <a:gd name="connsiteY342" fmla="*/ 578223 h 4134970"/>
              <a:gd name="connsiteX343" fmla="*/ 3980329 w 5183841"/>
              <a:gd name="connsiteY343" fmla="*/ 571500 h 4134970"/>
              <a:gd name="connsiteX344" fmla="*/ 3913094 w 5183841"/>
              <a:gd name="connsiteY344" fmla="*/ 558053 h 4134970"/>
              <a:gd name="connsiteX345" fmla="*/ 3516406 w 5183841"/>
              <a:gd name="connsiteY345" fmla="*/ 564776 h 4134970"/>
              <a:gd name="connsiteX346" fmla="*/ 3200400 w 5183841"/>
              <a:gd name="connsiteY346" fmla="*/ 551329 h 4134970"/>
              <a:gd name="connsiteX347" fmla="*/ 3160059 w 5183841"/>
              <a:gd name="connsiteY347" fmla="*/ 537882 h 4134970"/>
              <a:gd name="connsiteX348" fmla="*/ 3106270 w 5183841"/>
              <a:gd name="connsiteY348" fmla="*/ 524435 h 4134970"/>
              <a:gd name="connsiteX349" fmla="*/ 3065929 w 5183841"/>
              <a:gd name="connsiteY349" fmla="*/ 510988 h 4134970"/>
              <a:gd name="connsiteX350" fmla="*/ 3045759 w 5183841"/>
              <a:gd name="connsiteY350" fmla="*/ 497541 h 4134970"/>
              <a:gd name="connsiteX351" fmla="*/ 3039035 w 5183841"/>
              <a:gd name="connsiteY351" fmla="*/ 470647 h 4134970"/>
              <a:gd name="connsiteX352" fmla="*/ 3025588 w 5183841"/>
              <a:gd name="connsiteY352" fmla="*/ 443753 h 4134970"/>
              <a:gd name="connsiteX353" fmla="*/ 3032312 w 5183841"/>
              <a:gd name="connsiteY353" fmla="*/ 336176 h 4134970"/>
              <a:gd name="connsiteX354" fmla="*/ 3039035 w 5183841"/>
              <a:gd name="connsiteY354" fmla="*/ 316005 h 4134970"/>
              <a:gd name="connsiteX355" fmla="*/ 3079376 w 5183841"/>
              <a:gd name="connsiteY355" fmla="*/ 289111 h 4134970"/>
              <a:gd name="connsiteX356" fmla="*/ 3119717 w 5183841"/>
              <a:gd name="connsiteY356" fmla="*/ 275664 h 4134970"/>
              <a:gd name="connsiteX357" fmla="*/ 3301253 w 5183841"/>
              <a:gd name="connsiteY357" fmla="*/ 289111 h 4134970"/>
              <a:gd name="connsiteX358" fmla="*/ 3348317 w 5183841"/>
              <a:gd name="connsiteY358" fmla="*/ 302558 h 4134970"/>
              <a:gd name="connsiteX359" fmla="*/ 3375212 w 5183841"/>
              <a:gd name="connsiteY359" fmla="*/ 309282 h 4134970"/>
              <a:gd name="connsiteX360" fmla="*/ 3402106 w 5183841"/>
              <a:gd name="connsiteY360" fmla="*/ 329453 h 4134970"/>
              <a:gd name="connsiteX361" fmla="*/ 3462617 w 5183841"/>
              <a:gd name="connsiteY361" fmla="*/ 349623 h 4134970"/>
              <a:gd name="connsiteX362" fmla="*/ 3482788 w 5183841"/>
              <a:gd name="connsiteY362" fmla="*/ 356347 h 4134970"/>
              <a:gd name="connsiteX363" fmla="*/ 3502959 w 5183841"/>
              <a:gd name="connsiteY363" fmla="*/ 369794 h 4134970"/>
              <a:gd name="connsiteX364" fmla="*/ 3550023 w 5183841"/>
              <a:gd name="connsiteY364" fmla="*/ 383241 h 4134970"/>
              <a:gd name="connsiteX365" fmla="*/ 3570194 w 5183841"/>
              <a:gd name="connsiteY365" fmla="*/ 389964 h 4134970"/>
              <a:gd name="connsiteX366" fmla="*/ 3590364 w 5183841"/>
              <a:gd name="connsiteY366" fmla="*/ 403411 h 4134970"/>
              <a:gd name="connsiteX367" fmla="*/ 3657600 w 5183841"/>
              <a:gd name="connsiteY367" fmla="*/ 416858 h 4134970"/>
              <a:gd name="connsiteX368" fmla="*/ 3711388 w 5183841"/>
              <a:gd name="connsiteY368" fmla="*/ 437029 h 4134970"/>
              <a:gd name="connsiteX369" fmla="*/ 3758453 w 5183841"/>
              <a:gd name="connsiteY369" fmla="*/ 450476 h 4134970"/>
              <a:gd name="connsiteX370" fmla="*/ 3785347 w 5183841"/>
              <a:gd name="connsiteY370" fmla="*/ 457200 h 4134970"/>
              <a:gd name="connsiteX371" fmla="*/ 3812241 w 5183841"/>
              <a:gd name="connsiteY371" fmla="*/ 470647 h 4134970"/>
              <a:gd name="connsiteX372" fmla="*/ 3866029 w 5183841"/>
              <a:gd name="connsiteY372" fmla="*/ 484094 h 4134970"/>
              <a:gd name="connsiteX373" fmla="*/ 3886200 w 5183841"/>
              <a:gd name="connsiteY373" fmla="*/ 490817 h 4134970"/>
              <a:gd name="connsiteX374" fmla="*/ 3919817 w 5183841"/>
              <a:gd name="connsiteY374" fmla="*/ 497541 h 4134970"/>
              <a:gd name="connsiteX375" fmla="*/ 3939988 w 5183841"/>
              <a:gd name="connsiteY375" fmla="*/ 504264 h 4134970"/>
              <a:gd name="connsiteX376" fmla="*/ 3966882 w 5183841"/>
              <a:gd name="connsiteY376" fmla="*/ 510988 h 4134970"/>
              <a:gd name="connsiteX377" fmla="*/ 4020670 w 5183841"/>
              <a:gd name="connsiteY377" fmla="*/ 531158 h 4134970"/>
              <a:gd name="connsiteX378" fmla="*/ 4074459 w 5183841"/>
              <a:gd name="connsiteY378" fmla="*/ 537882 h 4134970"/>
              <a:gd name="connsiteX379" fmla="*/ 4114800 w 5183841"/>
              <a:gd name="connsiteY379" fmla="*/ 544605 h 4134970"/>
              <a:gd name="connsiteX380" fmla="*/ 4161864 w 5183841"/>
              <a:gd name="connsiteY380" fmla="*/ 551329 h 4134970"/>
              <a:gd name="connsiteX381" fmla="*/ 4202206 w 5183841"/>
              <a:gd name="connsiteY381" fmla="*/ 558053 h 4134970"/>
              <a:gd name="connsiteX382" fmla="*/ 4316506 w 5183841"/>
              <a:gd name="connsiteY382" fmla="*/ 571500 h 4134970"/>
              <a:gd name="connsiteX383" fmla="*/ 4444253 w 5183841"/>
              <a:gd name="connsiteY383" fmla="*/ 584947 h 4134970"/>
              <a:gd name="connsiteX384" fmla="*/ 4666129 w 5183841"/>
              <a:gd name="connsiteY384" fmla="*/ 578223 h 4134970"/>
              <a:gd name="connsiteX385" fmla="*/ 4766982 w 5183841"/>
              <a:gd name="connsiteY385" fmla="*/ 551329 h 4134970"/>
              <a:gd name="connsiteX386" fmla="*/ 4847664 w 5183841"/>
              <a:gd name="connsiteY386" fmla="*/ 497541 h 4134970"/>
              <a:gd name="connsiteX387" fmla="*/ 4881282 w 5183841"/>
              <a:gd name="connsiteY387" fmla="*/ 463923 h 4134970"/>
              <a:gd name="connsiteX388" fmla="*/ 4982135 w 5183841"/>
              <a:gd name="connsiteY388" fmla="*/ 383241 h 4134970"/>
              <a:gd name="connsiteX389" fmla="*/ 5056094 w 5183841"/>
              <a:gd name="connsiteY389" fmla="*/ 289111 h 4134970"/>
              <a:gd name="connsiteX390" fmla="*/ 5089712 w 5183841"/>
              <a:gd name="connsiteY390" fmla="*/ 242047 h 4134970"/>
              <a:gd name="connsiteX391" fmla="*/ 5116606 w 5183841"/>
              <a:gd name="connsiteY391" fmla="*/ 208429 h 4134970"/>
              <a:gd name="connsiteX392" fmla="*/ 5150223 w 5183841"/>
              <a:gd name="connsiteY392" fmla="*/ 147917 h 4134970"/>
              <a:gd name="connsiteX393" fmla="*/ 5163670 w 5183841"/>
              <a:gd name="connsiteY393" fmla="*/ 127747 h 4134970"/>
              <a:gd name="connsiteX394" fmla="*/ 5170394 w 5183841"/>
              <a:gd name="connsiteY394" fmla="*/ 94129 h 4134970"/>
              <a:gd name="connsiteX395" fmla="*/ 5183841 w 5183841"/>
              <a:gd name="connsiteY395" fmla="*/ 53788 h 4134970"/>
              <a:gd name="connsiteX396" fmla="*/ 5170394 w 5183841"/>
              <a:gd name="connsiteY396" fmla="*/ 0 h 4134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Lst>
            <a:rect l="l" t="t" r="r" b="b"/>
            <a:pathLst>
              <a:path w="5183841" h="4134970">
                <a:moveTo>
                  <a:pt x="0" y="4134970"/>
                </a:moveTo>
                <a:cubicBezTo>
                  <a:pt x="15688" y="4128247"/>
                  <a:pt x="31798" y="4122433"/>
                  <a:pt x="47064" y="4114800"/>
                </a:cubicBezTo>
                <a:cubicBezTo>
                  <a:pt x="99203" y="4088731"/>
                  <a:pt x="36703" y="4111531"/>
                  <a:pt x="87406" y="4094629"/>
                </a:cubicBezTo>
                <a:cubicBezTo>
                  <a:pt x="120526" y="4069788"/>
                  <a:pt x="135177" y="4056294"/>
                  <a:pt x="181535" y="4040841"/>
                </a:cubicBezTo>
                <a:cubicBezTo>
                  <a:pt x="194982" y="4036359"/>
                  <a:pt x="208792" y="4032846"/>
                  <a:pt x="221876" y="4027394"/>
                </a:cubicBezTo>
                <a:cubicBezTo>
                  <a:pt x="235754" y="4021612"/>
                  <a:pt x="248566" y="4013523"/>
                  <a:pt x="262217" y="4007223"/>
                </a:cubicBezTo>
                <a:cubicBezTo>
                  <a:pt x="277714" y="4000070"/>
                  <a:pt x="293785" y="3994206"/>
                  <a:pt x="309282" y="3987053"/>
                </a:cubicBezTo>
                <a:cubicBezTo>
                  <a:pt x="366763" y="3960523"/>
                  <a:pt x="334227" y="3974287"/>
                  <a:pt x="389964" y="3939988"/>
                </a:cubicBezTo>
                <a:cubicBezTo>
                  <a:pt x="405353" y="3930518"/>
                  <a:pt x="421611" y="3922516"/>
                  <a:pt x="437029" y="3913094"/>
                </a:cubicBezTo>
                <a:cubicBezTo>
                  <a:pt x="461963" y="3897856"/>
                  <a:pt x="490325" y="3886692"/>
                  <a:pt x="510988" y="3866029"/>
                </a:cubicBezTo>
                <a:cubicBezTo>
                  <a:pt x="522194" y="3854823"/>
                  <a:pt x="532231" y="3842311"/>
                  <a:pt x="544606" y="3832411"/>
                </a:cubicBezTo>
                <a:cubicBezTo>
                  <a:pt x="554810" y="3824248"/>
                  <a:pt x="567908" y="3820264"/>
                  <a:pt x="578223" y="3812241"/>
                </a:cubicBezTo>
                <a:cubicBezTo>
                  <a:pt x="625358" y="3775580"/>
                  <a:pt x="586623" y="3797118"/>
                  <a:pt x="625288" y="3758453"/>
                </a:cubicBezTo>
                <a:cubicBezTo>
                  <a:pt x="631002" y="3752739"/>
                  <a:pt x="639452" y="3750411"/>
                  <a:pt x="645459" y="3745005"/>
                </a:cubicBezTo>
                <a:cubicBezTo>
                  <a:pt x="661950" y="3730163"/>
                  <a:pt x="676835" y="3713629"/>
                  <a:pt x="692523" y="3697941"/>
                </a:cubicBezTo>
                <a:lnTo>
                  <a:pt x="692523" y="3697941"/>
                </a:lnTo>
                <a:cubicBezTo>
                  <a:pt x="789405" y="3568765"/>
                  <a:pt x="688172" y="3702575"/>
                  <a:pt x="759759" y="3610535"/>
                </a:cubicBezTo>
                <a:cubicBezTo>
                  <a:pt x="766639" y="3601690"/>
                  <a:pt x="773049" y="3592486"/>
                  <a:pt x="779929" y="3583641"/>
                </a:cubicBezTo>
                <a:cubicBezTo>
                  <a:pt x="866991" y="3471702"/>
                  <a:pt x="760745" y="3607145"/>
                  <a:pt x="826994" y="3529853"/>
                </a:cubicBezTo>
                <a:cubicBezTo>
                  <a:pt x="834287" y="3521345"/>
                  <a:pt x="839990" y="3511567"/>
                  <a:pt x="847164" y="3502958"/>
                </a:cubicBezTo>
                <a:cubicBezTo>
                  <a:pt x="851222" y="3498088"/>
                  <a:pt x="856652" y="3494461"/>
                  <a:pt x="860612" y="3489511"/>
                </a:cubicBezTo>
                <a:cubicBezTo>
                  <a:pt x="865660" y="3483201"/>
                  <a:pt x="869306" y="3475876"/>
                  <a:pt x="874059" y="3469341"/>
                </a:cubicBezTo>
                <a:cubicBezTo>
                  <a:pt x="887241" y="3451216"/>
                  <a:pt x="901968" y="3434201"/>
                  <a:pt x="914400" y="3415553"/>
                </a:cubicBezTo>
                <a:cubicBezTo>
                  <a:pt x="918882" y="3408829"/>
                  <a:pt x="923150" y="3401958"/>
                  <a:pt x="927847" y="3395382"/>
                </a:cubicBezTo>
                <a:cubicBezTo>
                  <a:pt x="934360" y="3386263"/>
                  <a:pt x="942078" y="3377990"/>
                  <a:pt x="948017" y="3368488"/>
                </a:cubicBezTo>
                <a:cubicBezTo>
                  <a:pt x="953329" y="3359989"/>
                  <a:pt x="956152" y="3350093"/>
                  <a:pt x="961464" y="3341594"/>
                </a:cubicBezTo>
                <a:cubicBezTo>
                  <a:pt x="967403" y="3332091"/>
                  <a:pt x="975419" y="3324024"/>
                  <a:pt x="981635" y="3314700"/>
                </a:cubicBezTo>
                <a:cubicBezTo>
                  <a:pt x="988884" y="3303827"/>
                  <a:pt x="994557" y="3291956"/>
                  <a:pt x="1001806" y="3281082"/>
                </a:cubicBezTo>
                <a:cubicBezTo>
                  <a:pt x="1008022" y="3271758"/>
                  <a:pt x="1016037" y="3263690"/>
                  <a:pt x="1021976" y="3254188"/>
                </a:cubicBezTo>
                <a:cubicBezTo>
                  <a:pt x="1046168" y="3215480"/>
                  <a:pt x="1026897" y="3240674"/>
                  <a:pt x="1042147" y="3207123"/>
                </a:cubicBezTo>
                <a:cubicBezTo>
                  <a:pt x="1068446" y="3149265"/>
                  <a:pt x="1061539" y="3162713"/>
                  <a:pt x="1095935" y="3119717"/>
                </a:cubicBezTo>
                <a:cubicBezTo>
                  <a:pt x="1098176" y="3112994"/>
                  <a:pt x="1099489" y="3105886"/>
                  <a:pt x="1102659" y="3099547"/>
                </a:cubicBezTo>
                <a:cubicBezTo>
                  <a:pt x="1126913" y="3051040"/>
                  <a:pt x="1105983" y="3111406"/>
                  <a:pt x="1129553" y="3052482"/>
                </a:cubicBezTo>
                <a:cubicBezTo>
                  <a:pt x="1137704" y="3032104"/>
                  <a:pt x="1151141" y="2984974"/>
                  <a:pt x="1156447" y="2965076"/>
                </a:cubicBezTo>
                <a:cubicBezTo>
                  <a:pt x="1156474" y="2964976"/>
                  <a:pt x="1173243" y="2897891"/>
                  <a:pt x="1176617" y="2884394"/>
                </a:cubicBezTo>
                <a:lnTo>
                  <a:pt x="1183341" y="2857500"/>
                </a:lnTo>
                <a:cubicBezTo>
                  <a:pt x="1185582" y="2848535"/>
                  <a:pt x="1184938" y="2838294"/>
                  <a:pt x="1190064" y="2830605"/>
                </a:cubicBezTo>
                <a:lnTo>
                  <a:pt x="1203512" y="2810435"/>
                </a:lnTo>
                <a:cubicBezTo>
                  <a:pt x="1224635" y="2683690"/>
                  <a:pt x="1215356" y="2754991"/>
                  <a:pt x="1203512" y="2494429"/>
                </a:cubicBezTo>
                <a:cubicBezTo>
                  <a:pt x="1203190" y="2487349"/>
                  <a:pt x="1199958" y="2480597"/>
                  <a:pt x="1196788" y="2474258"/>
                </a:cubicBezTo>
                <a:cubicBezTo>
                  <a:pt x="1190587" y="2461855"/>
                  <a:pt x="1174322" y="2441352"/>
                  <a:pt x="1163170" y="2433917"/>
                </a:cubicBezTo>
                <a:cubicBezTo>
                  <a:pt x="1157273" y="2429986"/>
                  <a:pt x="1149723" y="2429435"/>
                  <a:pt x="1143000" y="2427194"/>
                </a:cubicBezTo>
                <a:cubicBezTo>
                  <a:pt x="1136276" y="2422712"/>
                  <a:pt x="1130213" y="2417029"/>
                  <a:pt x="1122829" y="2413747"/>
                </a:cubicBezTo>
                <a:cubicBezTo>
                  <a:pt x="1109876" y="2407990"/>
                  <a:pt x="1082488" y="2400300"/>
                  <a:pt x="1082488" y="2400300"/>
                </a:cubicBezTo>
                <a:cubicBezTo>
                  <a:pt x="1075764" y="2395818"/>
                  <a:pt x="1069545" y="2390467"/>
                  <a:pt x="1062317" y="2386853"/>
                </a:cubicBezTo>
                <a:cubicBezTo>
                  <a:pt x="1031998" y="2371693"/>
                  <a:pt x="1050875" y="2390765"/>
                  <a:pt x="1021976" y="2366682"/>
                </a:cubicBezTo>
                <a:cubicBezTo>
                  <a:pt x="1014671" y="2360595"/>
                  <a:pt x="1007893" y="2353816"/>
                  <a:pt x="1001806" y="2346511"/>
                </a:cubicBezTo>
                <a:cubicBezTo>
                  <a:pt x="996633" y="2340303"/>
                  <a:pt x="994440" y="2331662"/>
                  <a:pt x="988359" y="2326341"/>
                </a:cubicBezTo>
                <a:cubicBezTo>
                  <a:pt x="976196" y="2315699"/>
                  <a:pt x="948017" y="2299447"/>
                  <a:pt x="948017" y="2299447"/>
                </a:cubicBezTo>
                <a:cubicBezTo>
                  <a:pt x="939052" y="2286000"/>
                  <a:pt x="926234" y="2274437"/>
                  <a:pt x="921123" y="2259105"/>
                </a:cubicBezTo>
                <a:lnTo>
                  <a:pt x="907676" y="2218764"/>
                </a:lnTo>
                <a:cubicBezTo>
                  <a:pt x="909141" y="2207049"/>
                  <a:pt x="911094" y="2162857"/>
                  <a:pt x="921123" y="2144805"/>
                </a:cubicBezTo>
                <a:cubicBezTo>
                  <a:pt x="928971" y="2130677"/>
                  <a:pt x="948017" y="2104464"/>
                  <a:pt x="948017" y="2104464"/>
                </a:cubicBezTo>
                <a:cubicBezTo>
                  <a:pt x="965947" y="2106705"/>
                  <a:pt x="984028" y="2107956"/>
                  <a:pt x="1001806" y="2111188"/>
                </a:cubicBezTo>
                <a:cubicBezTo>
                  <a:pt x="1008779" y="2112456"/>
                  <a:pt x="1016442" y="2113484"/>
                  <a:pt x="1021976" y="2117911"/>
                </a:cubicBezTo>
                <a:cubicBezTo>
                  <a:pt x="1036505" y="2129534"/>
                  <a:pt x="1044761" y="2166097"/>
                  <a:pt x="1048870" y="2178423"/>
                </a:cubicBezTo>
                <a:cubicBezTo>
                  <a:pt x="1058149" y="2206259"/>
                  <a:pt x="1051663" y="2192698"/>
                  <a:pt x="1069041" y="2218764"/>
                </a:cubicBezTo>
                <a:cubicBezTo>
                  <a:pt x="1070625" y="2225099"/>
                  <a:pt x="1078102" y="2257934"/>
                  <a:pt x="1082488" y="2265829"/>
                </a:cubicBezTo>
                <a:cubicBezTo>
                  <a:pt x="1116473" y="2327002"/>
                  <a:pt x="1096885" y="2287140"/>
                  <a:pt x="1129553" y="2326341"/>
                </a:cubicBezTo>
                <a:cubicBezTo>
                  <a:pt x="1157568" y="2359958"/>
                  <a:pt x="1126191" y="2335305"/>
                  <a:pt x="1163170" y="2359958"/>
                </a:cubicBezTo>
                <a:cubicBezTo>
                  <a:pt x="1167652" y="2366682"/>
                  <a:pt x="1170307" y="2375081"/>
                  <a:pt x="1176617" y="2380129"/>
                </a:cubicBezTo>
                <a:cubicBezTo>
                  <a:pt x="1182151" y="2384557"/>
                  <a:pt x="1190449" y="2383683"/>
                  <a:pt x="1196788" y="2386853"/>
                </a:cubicBezTo>
                <a:cubicBezTo>
                  <a:pt x="1204016" y="2390467"/>
                  <a:pt x="1209575" y="2397018"/>
                  <a:pt x="1216959" y="2400300"/>
                </a:cubicBezTo>
                <a:cubicBezTo>
                  <a:pt x="1229912" y="2406057"/>
                  <a:pt x="1243853" y="2409265"/>
                  <a:pt x="1257300" y="2413747"/>
                </a:cubicBezTo>
                <a:lnTo>
                  <a:pt x="1317812" y="2433917"/>
                </a:lnTo>
                <a:lnTo>
                  <a:pt x="1358153" y="2447364"/>
                </a:lnTo>
                <a:cubicBezTo>
                  <a:pt x="1398802" y="2457527"/>
                  <a:pt x="1376274" y="2451164"/>
                  <a:pt x="1425388" y="2467535"/>
                </a:cubicBezTo>
                <a:lnTo>
                  <a:pt x="1445559" y="2474258"/>
                </a:lnTo>
                <a:cubicBezTo>
                  <a:pt x="1503362" y="2512794"/>
                  <a:pt x="1430228" y="2466592"/>
                  <a:pt x="1485900" y="2494429"/>
                </a:cubicBezTo>
                <a:cubicBezTo>
                  <a:pt x="1493536" y="2498247"/>
                  <a:pt x="1529918" y="2525001"/>
                  <a:pt x="1532964" y="2528047"/>
                </a:cubicBezTo>
                <a:cubicBezTo>
                  <a:pt x="1538678" y="2533761"/>
                  <a:pt x="1540698" y="2542503"/>
                  <a:pt x="1546412" y="2548217"/>
                </a:cubicBezTo>
                <a:cubicBezTo>
                  <a:pt x="1552126" y="2553931"/>
                  <a:pt x="1560543" y="2556296"/>
                  <a:pt x="1566582" y="2561664"/>
                </a:cubicBezTo>
                <a:cubicBezTo>
                  <a:pt x="1580795" y="2574298"/>
                  <a:pt x="1593476" y="2588558"/>
                  <a:pt x="1606923" y="2602005"/>
                </a:cubicBezTo>
                <a:cubicBezTo>
                  <a:pt x="1611405" y="2606488"/>
                  <a:pt x="1616566" y="2610382"/>
                  <a:pt x="1620370" y="2615453"/>
                </a:cubicBezTo>
                <a:cubicBezTo>
                  <a:pt x="1653855" y="2660098"/>
                  <a:pt x="1632614" y="2634419"/>
                  <a:pt x="1687606" y="2689411"/>
                </a:cubicBezTo>
                <a:lnTo>
                  <a:pt x="1707776" y="2709582"/>
                </a:lnTo>
                <a:cubicBezTo>
                  <a:pt x="1724677" y="2760281"/>
                  <a:pt x="1699914" y="2699755"/>
                  <a:pt x="1734670" y="2743200"/>
                </a:cubicBezTo>
                <a:cubicBezTo>
                  <a:pt x="1739097" y="2748734"/>
                  <a:pt x="1736967" y="2757836"/>
                  <a:pt x="1741394" y="2763370"/>
                </a:cubicBezTo>
                <a:cubicBezTo>
                  <a:pt x="1746442" y="2769680"/>
                  <a:pt x="1755254" y="2771769"/>
                  <a:pt x="1761564" y="2776817"/>
                </a:cubicBezTo>
                <a:cubicBezTo>
                  <a:pt x="1779025" y="2790785"/>
                  <a:pt x="1771906" y="2793366"/>
                  <a:pt x="1795182" y="2803711"/>
                </a:cubicBezTo>
                <a:cubicBezTo>
                  <a:pt x="1808135" y="2809468"/>
                  <a:pt x="1822076" y="2812676"/>
                  <a:pt x="1835523" y="2817158"/>
                </a:cubicBezTo>
                <a:cubicBezTo>
                  <a:pt x="1864464" y="2826805"/>
                  <a:pt x="1848813" y="2822162"/>
                  <a:pt x="1882588" y="2830605"/>
                </a:cubicBezTo>
                <a:cubicBezTo>
                  <a:pt x="1911723" y="2828364"/>
                  <a:pt x="1940998" y="2827506"/>
                  <a:pt x="1969994" y="2823882"/>
                </a:cubicBezTo>
                <a:cubicBezTo>
                  <a:pt x="1977026" y="2823003"/>
                  <a:pt x="1986045" y="2822925"/>
                  <a:pt x="1990164" y="2817158"/>
                </a:cubicBezTo>
                <a:cubicBezTo>
                  <a:pt x="1998403" y="2805624"/>
                  <a:pt x="1999129" y="2790264"/>
                  <a:pt x="2003612" y="2776817"/>
                </a:cubicBezTo>
                <a:lnTo>
                  <a:pt x="2017059" y="2736476"/>
                </a:lnTo>
                <a:cubicBezTo>
                  <a:pt x="2019300" y="2729752"/>
                  <a:pt x="2022617" y="2723296"/>
                  <a:pt x="2023782" y="2716305"/>
                </a:cubicBezTo>
                <a:lnTo>
                  <a:pt x="2030506" y="2675964"/>
                </a:lnTo>
                <a:cubicBezTo>
                  <a:pt x="2028265" y="2642346"/>
                  <a:pt x="2029037" y="2608391"/>
                  <a:pt x="2023782" y="2575111"/>
                </a:cubicBezTo>
                <a:cubicBezTo>
                  <a:pt x="2022219" y="2565211"/>
                  <a:pt x="2014283" y="2557429"/>
                  <a:pt x="2010335" y="2548217"/>
                </a:cubicBezTo>
                <a:cubicBezTo>
                  <a:pt x="1991473" y="2504205"/>
                  <a:pt x="2017689" y="2549005"/>
                  <a:pt x="1990164" y="2514600"/>
                </a:cubicBezTo>
                <a:cubicBezTo>
                  <a:pt x="1956682" y="2472748"/>
                  <a:pt x="2000729" y="2518029"/>
                  <a:pt x="1956547" y="2467535"/>
                </a:cubicBezTo>
                <a:cubicBezTo>
                  <a:pt x="1948199" y="2457994"/>
                  <a:pt x="1937904" y="2450267"/>
                  <a:pt x="1929653" y="2440641"/>
                </a:cubicBezTo>
                <a:cubicBezTo>
                  <a:pt x="1924394" y="2434506"/>
                  <a:pt x="1920903" y="2427046"/>
                  <a:pt x="1916206" y="2420470"/>
                </a:cubicBezTo>
                <a:cubicBezTo>
                  <a:pt x="1909693" y="2411351"/>
                  <a:pt x="1903328" y="2402084"/>
                  <a:pt x="1896035" y="2393576"/>
                </a:cubicBezTo>
                <a:cubicBezTo>
                  <a:pt x="1889847" y="2386356"/>
                  <a:pt x="1882052" y="2380625"/>
                  <a:pt x="1875864" y="2373405"/>
                </a:cubicBezTo>
                <a:cubicBezTo>
                  <a:pt x="1868571" y="2364897"/>
                  <a:pt x="1862207" y="2355629"/>
                  <a:pt x="1855694" y="2346511"/>
                </a:cubicBezTo>
                <a:cubicBezTo>
                  <a:pt x="1850997" y="2339936"/>
                  <a:pt x="1847615" y="2332380"/>
                  <a:pt x="1842247" y="2326341"/>
                </a:cubicBezTo>
                <a:cubicBezTo>
                  <a:pt x="1829613" y="2312128"/>
                  <a:pt x="1801906" y="2286000"/>
                  <a:pt x="1801906" y="2286000"/>
                </a:cubicBezTo>
                <a:cubicBezTo>
                  <a:pt x="1799665" y="2279276"/>
                  <a:pt x="1799113" y="2271726"/>
                  <a:pt x="1795182" y="2265829"/>
                </a:cubicBezTo>
                <a:cubicBezTo>
                  <a:pt x="1784827" y="2250296"/>
                  <a:pt x="1769726" y="2242134"/>
                  <a:pt x="1754841" y="2232211"/>
                </a:cubicBezTo>
                <a:cubicBezTo>
                  <a:pt x="1750359" y="2225488"/>
                  <a:pt x="1747108" y="2217755"/>
                  <a:pt x="1741394" y="2212041"/>
                </a:cubicBezTo>
                <a:cubicBezTo>
                  <a:pt x="1735680" y="2206327"/>
                  <a:pt x="1726482" y="2204729"/>
                  <a:pt x="1721223" y="2198594"/>
                </a:cubicBezTo>
                <a:cubicBezTo>
                  <a:pt x="1712718" y="2188672"/>
                  <a:pt x="1708894" y="2175431"/>
                  <a:pt x="1701053" y="2164976"/>
                </a:cubicBezTo>
                <a:cubicBezTo>
                  <a:pt x="1695348" y="2157369"/>
                  <a:pt x="1686969" y="2152110"/>
                  <a:pt x="1680882" y="2144805"/>
                </a:cubicBezTo>
                <a:cubicBezTo>
                  <a:pt x="1675709" y="2138597"/>
                  <a:pt x="1672608" y="2130843"/>
                  <a:pt x="1667435" y="2124635"/>
                </a:cubicBezTo>
                <a:cubicBezTo>
                  <a:pt x="1661348" y="2117330"/>
                  <a:pt x="1653351" y="2111769"/>
                  <a:pt x="1647264" y="2104464"/>
                </a:cubicBezTo>
                <a:cubicBezTo>
                  <a:pt x="1642091" y="2098256"/>
                  <a:pt x="1638990" y="2090502"/>
                  <a:pt x="1633817" y="2084294"/>
                </a:cubicBezTo>
                <a:cubicBezTo>
                  <a:pt x="1614481" y="2061091"/>
                  <a:pt x="1598081" y="2057765"/>
                  <a:pt x="1586753" y="2023782"/>
                </a:cubicBezTo>
                <a:cubicBezTo>
                  <a:pt x="1582271" y="2010335"/>
                  <a:pt x="1576086" y="1997340"/>
                  <a:pt x="1573306" y="1983441"/>
                </a:cubicBezTo>
                <a:cubicBezTo>
                  <a:pt x="1563908" y="1936455"/>
                  <a:pt x="1568461" y="1961095"/>
                  <a:pt x="1559859" y="1909482"/>
                </a:cubicBezTo>
                <a:cubicBezTo>
                  <a:pt x="1562100" y="1873623"/>
                  <a:pt x="1560979" y="1837394"/>
                  <a:pt x="1566582" y="1801905"/>
                </a:cubicBezTo>
                <a:cubicBezTo>
                  <a:pt x="1569570" y="1782980"/>
                  <a:pt x="1588247" y="1778249"/>
                  <a:pt x="1600200" y="1768288"/>
                </a:cubicBezTo>
                <a:cubicBezTo>
                  <a:pt x="1607505" y="1762201"/>
                  <a:pt x="1613065" y="1754204"/>
                  <a:pt x="1620370" y="1748117"/>
                </a:cubicBezTo>
                <a:cubicBezTo>
                  <a:pt x="1637748" y="1733635"/>
                  <a:pt x="1640496" y="1734685"/>
                  <a:pt x="1660712" y="1727947"/>
                </a:cubicBezTo>
                <a:cubicBezTo>
                  <a:pt x="1674159" y="1718982"/>
                  <a:pt x="1685721" y="1706164"/>
                  <a:pt x="1701053" y="1701053"/>
                </a:cubicBezTo>
                <a:cubicBezTo>
                  <a:pt x="1707776" y="1698812"/>
                  <a:pt x="1714884" y="1697499"/>
                  <a:pt x="1721223" y="1694329"/>
                </a:cubicBezTo>
                <a:cubicBezTo>
                  <a:pt x="1728451" y="1690715"/>
                  <a:pt x="1734010" y="1684164"/>
                  <a:pt x="1741394" y="1680882"/>
                </a:cubicBezTo>
                <a:cubicBezTo>
                  <a:pt x="1754347" y="1675125"/>
                  <a:pt x="1768288" y="1671917"/>
                  <a:pt x="1781735" y="1667435"/>
                </a:cubicBezTo>
                <a:cubicBezTo>
                  <a:pt x="1814841" y="1656399"/>
                  <a:pt x="1794911" y="1661877"/>
                  <a:pt x="1842247" y="1653988"/>
                </a:cubicBezTo>
                <a:cubicBezTo>
                  <a:pt x="1851212" y="1649506"/>
                  <a:pt x="1859929" y="1644489"/>
                  <a:pt x="1869141" y="1640541"/>
                </a:cubicBezTo>
                <a:cubicBezTo>
                  <a:pt x="1902289" y="1626335"/>
                  <a:pt x="1930323" y="1630400"/>
                  <a:pt x="1969994" y="1627094"/>
                </a:cubicBezTo>
                <a:cubicBezTo>
                  <a:pt x="2019300" y="1629335"/>
                  <a:pt x="2068907" y="1627937"/>
                  <a:pt x="2117912" y="1633817"/>
                </a:cubicBezTo>
                <a:cubicBezTo>
                  <a:pt x="2143808" y="1636924"/>
                  <a:pt x="2146170" y="1671527"/>
                  <a:pt x="2151529" y="1687605"/>
                </a:cubicBezTo>
                <a:lnTo>
                  <a:pt x="2158253" y="1707776"/>
                </a:lnTo>
                <a:cubicBezTo>
                  <a:pt x="2155653" y="1731179"/>
                  <a:pt x="2153974" y="1784792"/>
                  <a:pt x="2138082" y="1808629"/>
                </a:cubicBezTo>
                <a:cubicBezTo>
                  <a:pt x="2129117" y="1822076"/>
                  <a:pt x="2124635" y="1840005"/>
                  <a:pt x="2111188" y="1848970"/>
                </a:cubicBezTo>
                <a:lnTo>
                  <a:pt x="2091017" y="1862417"/>
                </a:lnTo>
                <a:cubicBezTo>
                  <a:pt x="2055160" y="1916203"/>
                  <a:pt x="2102220" y="1851215"/>
                  <a:pt x="2057400" y="1896035"/>
                </a:cubicBezTo>
                <a:cubicBezTo>
                  <a:pt x="2051686" y="1901749"/>
                  <a:pt x="2049001" y="1909895"/>
                  <a:pt x="2043953" y="1916205"/>
                </a:cubicBezTo>
                <a:cubicBezTo>
                  <a:pt x="2025750" y="1938959"/>
                  <a:pt x="2017015" y="1929788"/>
                  <a:pt x="2003612" y="1969994"/>
                </a:cubicBezTo>
                <a:lnTo>
                  <a:pt x="1990164" y="2010335"/>
                </a:lnTo>
                <a:cubicBezTo>
                  <a:pt x="1992405" y="2050676"/>
                  <a:pt x="1989328" y="2091668"/>
                  <a:pt x="1996888" y="2131358"/>
                </a:cubicBezTo>
                <a:cubicBezTo>
                  <a:pt x="1998667" y="2140699"/>
                  <a:pt x="2009754" y="2145442"/>
                  <a:pt x="2017059" y="2151529"/>
                </a:cubicBezTo>
                <a:cubicBezTo>
                  <a:pt x="2023267" y="2156702"/>
                  <a:pt x="2029663" y="2162139"/>
                  <a:pt x="2037229" y="2164976"/>
                </a:cubicBezTo>
                <a:cubicBezTo>
                  <a:pt x="2047929" y="2168989"/>
                  <a:pt x="2059691" y="2169221"/>
                  <a:pt x="2070847" y="2171700"/>
                </a:cubicBezTo>
                <a:cubicBezTo>
                  <a:pt x="2079867" y="2173705"/>
                  <a:pt x="2088776" y="2176182"/>
                  <a:pt x="2097741" y="2178423"/>
                </a:cubicBezTo>
                <a:cubicBezTo>
                  <a:pt x="2115670" y="2176182"/>
                  <a:pt x="2133752" y="2174932"/>
                  <a:pt x="2151529" y="2171700"/>
                </a:cubicBezTo>
                <a:cubicBezTo>
                  <a:pt x="2158502" y="2170432"/>
                  <a:pt x="2164727" y="2166244"/>
                  <a:pt x="2171700" y="2164976"/>
                </a:cubicBezTo>
                <a:cubicBezTo>
                  <a:pt x="2189477" y="2161744"/>
                  <a:pt x="2207559" y="2160494"/>
                  <a:pt x="2225488" y="2158253"/>
                </a:cubicBezTo>
                <a:cubicBezTo>
                  <a:pt x="2238935" y="2153770"/>
                  <a:pt x="2257966" y="2156599"/>
                  <a:pt x="2265829" y="2144805"/>
                </a:cubicBezTo>
                <a:cubicBezTo>
                  <a:pt x="2270311" y="2138082"/>
                  <a:pt x="2273562" y="2130349"/>
                  <a:pt x="2279276" y="2124635"/>
                </a:cubicBezTo>
                <a:cubicBezTo>
                  <a:pt x="2298544" y="2105368"/>
                  <a:pt x="2297745" y="2115400"/>
                  <a:pt x="2319617" y="2104464"/>
                </a:cubicBezTo>
                <a:cubicBezTo>
                  <a:pt x="2371741" y="2078401"/>
                  <a:pt x="2309269" y="2101189"/>
                  <a:pt x="2359959" y="2084294"/>
                </a:cubicBezTo>
                <a:cubicBezTo>
                  <a:pt x="2380129" y="2086535"/>
                  <a:pt x="2401217" y="2084599"/>
                  <a:pt x="2420470" y="2091017"/>
                </a:cubicBezTo>
                <a:cubicBezTo>
                  <a:pt x="2435802" y="2096128"/>
                  <a:pt x="2460812" y="2117911"/>
                  <a:pt x="2460812" y="2117911"/>
                </a:cubicBezTo>
                <a:cubicBezTo>
                  <a:pt x="2477873" y="2169094"/>
                  <a:pt x="2471479" y="2144354"/>
                  <a:pt x="2480982" y="2191870"/>
                </a:cubicBezTo>
                <a:cubicBezTo>
                  <a:pt x="2475465" y="2269120"/>
                  <a:pt x="2468635" y="2271327"/>
                  <a:pt x="2480982" y="2333064"/>
                </a:cubicBezTo>
                <a:cubicBezTo>
                  <a:pt x="2482372" y="2340014"/>
                  <a:pt x="2484536" y="2346896"/>
                  <a:pt x="2487706" y="2353235"/>
                </a:cubicBezTo>
                <a:cubicBezTo>
                  <a:pt x="2490872" y="2359567"/>
                  <a:pt x="2506263" y="2382685"/>
                  <a:pt x="2514600" y="2386853"/>
                </a:cubicBezTo>
                <a:cubicBezTo>
                  <a:pt x="2522865" y="2390986"/>
                  <a:pt x="2532609" y="2391037"/>
                  <a:pt x="2541494" y="2393576"/>
                </a:cubicBezTo>
                <a:cubicBezTo>
                  <a:pt x="2548308" y="2395523"/>
                  <a:pt x="2554941" y="2398059"/>
                  <a:pt x="2561664" y="2400300"/>
                </a:cubicBezTo>
                <a:cubicBezTo>
                  <a:pt x="2579594" y="2398059"/>
                  <a:pt x="2597923" y="2397958"/>
                  <a:pt x="2615453" y="2393576"/>
                </a:cubicBezTo>
                <a:cubicBezTo>
                  <a:pt x="2629102" y="2390164"/>
                  <a:pt x="2650512" y="2374685"/>
                  <a:pt x="2662517" y="2366682"/>
                </a:cubicBezTo>
                <a:cubicBezTo>
                  <a:pt x="2666999" y="2359958"/>
                  <a:pt x="2672682" y="2353895"/>
                  <a:pt x="2675964" y="2346511"/>
                </a:cubicBezTo>
                <a:cubicBezTo>
                  <a:pt x="2681721" y="2333558"/>
                  <a:pt x="2689412" y="2306170"/>
                  <a:pt x="2689412" y="2306170"/>
                </a:cubicBezTo>
                <a:cubicBezTo>
                  <a:pt x="2687171" y="2274794"/>
                  <a:pt x="2687354" y="2243149"/>
                  <a:pt x="2682688" y="2212041"/>
                </a:cubicBezTo>
                <a:cubicBezTo>
                  <a:pt x="2680585" y="2198023"/>
                  <a:pt x="2673723" y="2185147"/>
                  <a:pt x="2669241" y="2171700"/>
                </a:cubicBezTo>
                <a:cubicBezTo>
                  <a:pt x="2667000" y="2164976"/>
                  <a:pt x="2667528" y="2156541"/>
                  <a:pt x="2662517" y="2151529"/>
                </a:cubicBezTo>
                <a:cubicBezTo>
                  <a:pt x="2655794" y="2144805"/>
                  <a:pt x="2648434" y="2138663"/>
                  <a:pt x="2642347" y="2131358"/>
                </a:cubicBezTo>
                <a:cubicBezTo>
                  <a:pt x="2637174" y="2125150"/>
                  <a:pt x="2633597" y="2117763"/>
                  <a:pt x="2628900" y="2111188"/>
                </a:cubicBezTo>
                <a:cubicBezTo>
                  <a:pt x="2622387" y="2102069"/>
                  <a:pt x="2615242" y="2093413"/>
                  <a:pt x="2608729" y="2084294"/>
                </a:cubicBezTo>
                <a:cubicBezTo>
                  <a:pt x="2604032" y="2077718"/>
                  <a:pt x="2600603" y="2070204"/>
                  <a:pt x="2595282" y="2064123"/>
                </a:cubicBezTo>
                <a:cubicBezTo>
                  <a:pt x="2584846" y="2052196"/>
                  <a:pt x="2570455" y="2043691"/>
                  <a:pt x="2561664" y="2030505"/>
                </a:cubicBezTo>
                <a:cubicBezTo>
                  <a:pt x="2528278" y="1980427"/>
                  <a:pt x="2571187" y="2041933"/>
                  <a:pt x="2528047" y="1990164"/>
                </a:cubicBezTo>
                <a:cubicBezTo>
                  <a:pt x="2500035" y="1956549"/>
                  <a:pt x="2531407" y="1981198"/>
                  <a:pt x="2494429" y="1956547"/>
                </a:cubicBezTo>
                <a:cubicBezTo>
                  <a:pt x="2477534" y="1905857"/>
                  <a:pt x="2500322" y="1968329"/>
                  <a:pt x="2474259" y="1916205"/>
                </a:cubicBezTo>
                <a:cubicBezTo>
                  <a:pt x="2446422" y="1860532"/>
                  <a:pt x="2492626" y="1933672"/>
                  <a:pt x="2454088" y="1875864"/>
                </a:cubicBezTo>
                <a:cubicBezTo>
                  <a:pt x="2446285" y="1829049"/>
                  <a:pt x="2439584" y="1809227"/>
                  <a:pt x="2454088" y="1754841"/>
                </a:cubicBezTo>
                <a:cubicBezTo>
                  <a:pt x="2456538" y="1745653"/>
                  <a:pt x="2468172" y="1741975"/>
                  <a:pt x="2474259" y="1734670"/>
                </a:cubicBezTo>
                <a:cubicBezTo>
                  <a:pt x="2491397" y="1714105"/>
                  <a:pt x="2481774" y="1712654"/>
                  <a:pt x="2507876" y="1701053"/>
                </a:cubicBezTo>
                <a:cubicBezTo>
                  <a:pt x="2523612" y="1694059"/>
                  <a:pt x="2556221" y="1684930"/>
                  <a:pt x="2575112" y="1680882"/>
                </a:cubicBezTo>
                <a:cubicBezTo>
                  <a:pt x="2597460" y="1676093"/>
                  <a:pt x="2642347" y="1667435"/>
                  <a:pt x="2642347" y="1667435"/>
                </a:cubicBezTo>
                <a:cubicBezTo>
                  <a:pt x="2723477" y="1683661"/>
                  <a:pt x="2687902" y="1673655"/>
                  <a:pt x="2749923" y="1694329"/>
                </a:cubicBezTo>
                <a:cubicBezTo>
                  <a:pt x="2756647" y="1696570"/>
                  <a:pt x="2763755" y="1697883"/>
                  <a:pt x="2770094" y="1701053"/>
                </a:cubicBezTo>
                <a:cubicBezTo>
                  <a:pt x="2789342" y="1710677"/>
                  <a:pt x="2797369" y="1716275"/>
                  <a:pt x="2817159" y="1721223"/>
                </a:cubicBezTo>
                <a:cubicBezTo>
                  <a:pt x="2828245" y="1723995"/>
                  <a:pt x="2839621" y="1725468"/>
                  <a:pt x="2850776" y="1727947"/>
                </a:cubicBezTo>
                <a:cubicBezTo>
                  <a:pt x="2859796" y="1729952"/>
                  <a:pt x="2868555" y="1733151"/>
                  <a:pt x="2877670" y="1734670"/>
                </a:cubicBezTo>
                <a:cubicBezTo>
                  <a:pt x="2895493" y="1737641"/>
                  <a:pt x="2913529" y="1739153"/>
                  <a:pt x="2931459" y="1741394"/>
                </a:cubicBezTo>
                <a:cubicBezTo>
                  <a:pt x="2938182" y="1743635"/>
                  <a:pt x="2945290" y="1744948"/>
                  <a:pt x="2951629" y="1748117"/>
                </a:cubicBezTo>
                <a:cubicBezTo>
                  <a:pt x="2979644" y="1762124"/>
                  <a:pt x="2978523" y="1771649"/>
                  <a:pt x="2998694" y="1801905"/>
                </a:cubicBezTo>
                <a:lnTo>
                  <a:pt x="3012141" y="1822076"/>
                </a:lnTo>
                <a:cubicBezTo>
                  <a:pt x="3008533" y="1840117"/>
                  <a:pt x="3001718" y="1881413"/>
                  <a:pt x="2991970" y="1896035"/>
                </a:cubicBezTo>
                <a:cubicBezTo>
                  <a:pt x="2987488" y="1902758"/>
                  <a:pt x="2983571" y="1909895"/>
                  <a:pt x="2978523" y="1916205"/>
                </a:cubicBezTo>
                <a:cubicBezTo>
                  <a:pt x="2956439" y="1943811"/>
                  <a:pt x="2972319" y="1913615"/>
                  <a:pt x="2951629" y="1949823"/>
                </a:cubicBezTo>
                <a:cubicBezTo>
                  <a:pt x="2946656" y="1958525"/>
                  <a:pt x="2942130" y="1967505"/>
                  <a:pt x="2938182" y="1976717"/>
                </a:cubicBezTo>
                <a:cubicBezTo>
                  <a:pt x="2935390" y="1983231"/>
                  <a:pt x="2934628" y="1990549"/>
                  <a:pt x="2931459" y="1996888"/>
                </a:cubicBezTo>
                <a:cubicBezTo>
                  <a:pt x="2927845" y="2004115"/>
                  <a:pt x="2922494" y="2010335"/>
                  <a:pt x="2918012" y="2017058"/>
                </a:cubicBezTo>
                <a:cubicBezTo>
                  <a:pt x="2915771" y="2026023"/>
                  <a:pt x="2913827" y="2035068"/>
                  <a:pt x="2911288" y="2043953"/>
                </a:cubicBezTo>
                <a:cubicBezTo>
                  <a:pt x="2909341" y="2050767"/>
                  <a:pt x="2904564" y="2057036"/>
                  <a:pt x="2904564" y="2064123"/>
                </a:cubicBezTo>
                <a:cubicBezTo>
                  <a:pt x="2904564" y="2086646"/>
                  <a:pt x="2907863" y="2109096"/>
                  <a:pt x="2911288" y="2131358"/>
                </a:cubicBezTo>
                <a:cubicBezTo>
                  <a:pt x="2912366" y="2138363"/>
                  <a:pt x="2913585" y="2145995"/>
                  <a:pt x="2918012" y="2151529"/>
                </a:cubicBezTo>
                <a:cubicBezTo>
                  <a:pt x="2927491" y="2163378"/>
                  <a:pt x="2945066" y="2167271"/>
                  <a:pt x="2958353" y="2171700"/>
                </a:cubicBezTo>
                <a:cubicBezTo>
                  <a:pt x="2971800" y="2167218"/>
                  <a:pt x="2988672" y="2168276"/>
                  <a:pt x="2998694" y="2158253"/>
                </a:cubicBezTo>
                <a:cubicBezTo>
                  <a:pt x="3017855" y="2139091"/>
                  <a:pt x="3006866" y="2148321"/>
                  <a:pt x="3032312" y="2131358"/>
                </a:cubicBezTo>
                <a:cubicBezTo>
                  <a:pt x="3043349" y="2098245"/>
                  <a:pt x="3031133" y="2121136"/>
                  <a:pt x="3059206" y="2097741"/>
                </a:cubicBezTo>
                <a:cubicBezTo>
                  <a:pt x="3077304" y="2082659"/>
                  <a:pt x="3078081" y="2073663"/>
                  <a:pt x="3099547" y="2064123"/>
                </a:cubicBezTo>
                <a:cubicBezTo>
                  <a:pt x="3112500" y="2058366"/>
                  <a:pt x="3139888" y="2050676"/>
                  <a:pt x="3139888" y="2050676"/>
                </a:cubicBezTo>
                <a:cubicBezTo>
                  <a:pt x="3153335" y="2052917"/>
                  <a:pt x="3167645" y="2052157"/>
                  <a:pt x="3180229" y="2057400"/>
                </a:cubicBezTo>
                <a:cubicBezTo>
                  <a:pt x="3195147" y="2063616"/>
                  <a:pt x="3220570" y="2084294"/>
                  <a:pt x="3220570" y="2084294"/>
                </a:cubicBezTo>
                <a:cubicBezTo>
                  <a:pt x="3253956" y="2134371"/>
                  <a:pt x="3211047" y="2072867"/>
                  <a:pt x="3254188" y="2124635"/>
                </a:cubicBezTo>
                <a:cubicBezTo>
                  <a:pt x="3259361" y="2130843"/>
                  <a:pt x="3262587" y="2138495"/>
                  <a:pt x="3267635" y="2144805"/>
                </a:cubicBezTo>
                <a:cubicBezTo>
                  <a:pt x="3271595" y="2149755"/>
                  <a:pt x="3277279" y="2153182"/>
                  <a:pt x="3281082" y="2158253"/>
                </a:cubicBezTo>
                <a:cubicBezTo>
                  <a:pt x="3290779" y="2171182"/>
                  <a:pt x="3299011" y="2185147"/>
                  <a:pt x="3307976" y="2198594"/>
                </a:cubicBezTo>
                <a:cubicBezTo>
                  <a:pt x="3312458" y="2205317"/>
                  <a:pt x="3314700" y="2214282"/>
                  <a:pt x="3321423" y="2218764"/>
                </a:cubicBezTo>
                <a:lnTo>
                  <a:pt x="3341594" y="2232211"/>
                </a:lnTo>
                <a:cubicBezTo>
                  <a:pt x="3346076" y="2238935"/>
                  <a:pt x="3349868" y="2246174"/>
                  <a:pt x="3355041" y="2252382"/>
                </a:cubicBezTo>
                <a:cubicBezTo>
                  <a:pt x="3398186" y="2304157"/>
                  <a:pt x="3355270" y="2242640"/>
                  <a:pt x="3388659" y="2292723"/>
                </a:cubicBezTo>
                <a:cubicBezTo>
                  <a:pt x="3400474" y="2328172"/>
                  <a:pt x="3387572" y="2299488"/>
                  <a:pt x="3415553" y="2333064"/>
                </a:cubicBezTo>
                <a:cubicBezTo>
                  <a:pt x="3420726" y="2339272"/>
                  <a:pt x="3422690" y="2348187"/>
                  <a:pt x="3429000" y="2353235"/>
                </a:cubicBezTo>
                <a:cubicBezTo>
                  <a:pt x="3434534" y="2357662"/>
                  <a:pt x="3442447" y="2357717"/>
                  <a:pt x="3449170" y="2359958"/>
                </a:cubicBezTo>
                <a:cubicBezTo>
                  <a:pt x="3453652" y="2366682"/>
                  <a:pt x="3456307" y="2375081"/>
                  <a:pt x="3462617" y="2380129"/>
                </a:cubicBezTo>
                <a:cubicBezTo>
                  <a:pt x="3468151" y="2384557"/>
                  <a:pt x="3476593" y="2383411"/>
                  <a:pt x="3482788" y="2386853"/>
                </a:cubicBezTo>
                <a:cubicBezTo>
                  <a:pt x="3496915" y="2394702"/>
                  <a:pt x="3511701" y="2402320"/>
                  <a:pt x="3523129" y="2413747"/>
                </a:cubicBezTo>
                <a:cubicBezTo>
                  <a:pt x="3554728" y="2445344"/>
                  <a:pt x="3535389" y="2428643"/>
                  <a:pt x="3583641" y="2460811"/>
                </a:cubicBezTo>
                <a:lnTo>
                  <a:pt x="3603812" y="2474258"/>
                </a:lnTo>
                <a:cubicBezTo>
                  <a:pt x="3610535" y="2478740"/>
                  <a:pt x="3616316" y="2485150"/>
                  <a:pt x="3623982" y="2487705"/>
                </a:cubicBezTo>
                <a:cubicBezTo>
                  <a:pt x="3637429" y="2492188"/>
                  <a:pt x="3651645" y="2494814"/>
                  <a:pt x="3664323" y="2501153"/>
                </a:cubicBezTo>
                <a:cubicBezTo>
                  <a:pt x="3673288" y="2505635"/>
                  <a:pt x="3681709" y="2511431"/>
                  <a:pt x="3691217" y="2514600"/>
                </a:cubicBezTo>
                <a:cubicBezTo>
                  <a:pt x="3708750" y="2520444"/>
                  <a:pt x="3727076" y="2523565"/>
                  <a:pt x="3745006" y="2528047"/>
                </a:cubicBezTo>
                <a:cubicBezTo>
                  <a:pt x="3753971" y="2530288"/>
                  <a:pt x="3763134" y="2531848"/>
                  <a:pt x="3771900" y="2534770"/>
                </a:cubicBezTo>
                <a:cubicBezTo>
                  <a:pt x="3785931" y="2539447"/>
                  <a:pt x="3821357" y="2552401"/>
                  <a:pt x="3839135" y="2554941"/>
                </a:cubicBezTo>
                <a:cubicBezTo>
                  <a:pt x="3861432" y="2558126"/>
                  <a:pt x="3883958" y="2559423"/>
                  <a:pt x="3906370" y="2561664"/>
                </a:cubicBezTo>
                <a:cubicBezTo>
                  <a:pt x="3919657" y="2566093"/>
                  <a:pt x="3937233" y="2569987"/>
                  <a:pt x="3946712" y="2581835"/>
                </a:cubicBezTo>
                <a:cubicBezTo>
                  <a:pt x="3951139" y="2587369"/>
                  <a:pt x="3949789" y="2595928"/>
                  <a:pt x="3953435" y="2602005"/>
                </a:cubicBezTo>
                <a:cubicBezTo>
                  <a:pt x="3956696" y="2607441"/>
                  <a:pt x="3962922" y="2610503"/>
                  <a:pt x="3966882" y="2615453"/>
                </a:cubicBezTo>
                <a:cubicBezTo>
                  <a:pt x="4009240" y="2668402"/>
                  <a:pt x="3947751" y="2598082"/>
                  <a:pt x="3993776" y="2662517"/>
                </a:cubicBezTo>
                <a:cubicBezTo>
                  <a:pt x="3999303" y="2670255"/>
                  <a:pt x="4007223" y="2675964"/>
                  <a:pt x="4013947" y="2682688"/>
                </a:cubicBezTo>
                <a:cubicBezTo>
                  <a:pt x="4030844" y="2733381"/>
                  <a:pt x="4008052" y="2670899"/>
                  <a:pt x="4034117" y="2723029"/>
                </a:cubicBezTo>
                <a:cubicBezTo>
                  <a:pt x="4037287" y="2729368"/>
                  <a:pt x="4036413" y="2737666"/>
                  <a:pt x="4040841" y="2743200"/>
                </a:cubicBezTo>
                <a:cubicBezTo>
                  <a:pt x="4045889" y="2749510"/>
                  <a:pt x="4054288" y="2752165"/>
                  <a:pt x="4061012" y="2756647"/>
                </a:cubicBezTo>
                <a:lnTo>
                  <a:pt x="4074459" y="2796988"/>
                </a:lnTo>
                <a:cubicBezTo>
                  <a:pt x="4076700" y="2803711"/>
                  <a:pt x="4079463" y="2810283"/>
                  <a:pt x="4081182" y="2817158"/>
                </a:cubicBezTo>
                <a:cubicBezTo>
                  <a:pt x="4083423" y="2826123"/>
                  <a:pt x="4084661" y="2835400"/>
                  <a:pt x="4087906" y="2844053"/>
                </a:cubicBezTo>
                <a:cubicBezTo>
                  <a:pt x="4095218" y="2863552"/>
                  <a:pt x="4103653" y="2874396"/>
                  <a:pt x="4114800" y="2891117"/>
                </a:cubicBezTo>
                <a:cubicBezTo>
                  <a:pt x="4119282" y="2904564"/>
                  <a:pt x="4116453" y="2923595"/>
                  <a:pt x="4128247" y="2931458"/>
                </a:cubicBezTo>
                <a:cubicBezTo>
                  <a:pt x="4134970" y="2935940"/>
                  <a:pt x="4142282" y="2939646"/>
                  <a:pt x="4148417" y="2944905"/>
                </a:cubicBezTo>
                <a:cubicBezTo>
                  <a:pt x="4158043" y="2953156"/>
                  <a:pt x="4163284" y="2967791"/>
                  <a:pt x="4175312" y="2971800"/>
                </a:cubicBezTo>
                <a:cubicBezTo>
                  <a:pt x="4208415" y="2982834"/>
                  <a:pt x="4188491" y="2977358"/>
                  <a:pt x="4235823" y="2985247"/>
                </a:cubicBezTo>
                <a:cubicBezTo>
                  <a:pt x="4249382" y="2982535"/>
                  <a:pt x="4279719" y="2980904"/>
                  <a:pt x="4289612" y="2965076"/>
                </a:cubicBezTo>
                <a:cubicBezTo>
                  <a:pt x="4296434" y="2954162"/>
                  <a:pt x="4305846" y="2913588"/>
                  <a:pt x="4309782" y="2897841"/>
                </a:cubicBezTo>
                <a:cubicBezTo>
                  <a:pt x="4307541" y="2882153"/>
                  <a:pt x="4305469" y="2866439"/>
                  <a:pt x="4303059" y="2850776"/>
                </a:cubicBezTo>
                <a:cubicBezTo>
                  <a:pt x="4298961" y="2824142"/>
                  <a:pt x="4301552" y="2808928"/>
                  <a:pt x="4282888" y="2790264"/>
                </a:cubicBezTo>
                <a:cubicBezTo>
                  <a:pt x="4277174" y="2784550"/>
                  <a:pt x="4269441" y="2781299"/>
                  <a:pt x="4262717" y="2776817"/>
                </a:cubicBezTo>
                <a:cubicBezTo>
                  <a:pt x="4258235" y="2770094"/>
                  <a:pt x="4255351" y="2761968"/>
                  <a:pt x="4249270" y="2756647"/>
                </a:cubicBezTo>
                <a:cubicBezTo>
                  <a:pt x="4237107" y="2746005"/>
                  <a:pt x="4222376" y="2738718"/>
                  <a:pt x="4208929" y="2729753"/>
                </a:cubicBezTo>
                <a:cubicBezTo>
                  <a:pt x="4202206" y="2725271"/>
                  <a:pt x="4194473" y="2722019"/>
                  <a:pt x="4188759" y="2716305"/>
                </a:cubicBezTo>
                <a:lnTo>
                  <a:pt x="4161864" y="2689411"/>
                </a:lnTo>
                <a:cubicBezTo>
                  <a:pt x="4159623" y="2682688"/>
                  <a:pt x="4155141" y="2676328"/>
                  <a:pt x="4155141" y="2669241"/>
                </a:cubicBezTo>
                <a:cubicBezTo>
                  <a:pt x="4155141" y="2634613"/>
                  <a:pt x="4169515" y="2624148"/>
                  <a:pt x="4188759" y="2595282"/>
                </a:cubicBezTo>
                <a:cubicBezTo>
                  <a:pt x="4193241" y="2588558"/>
                  <a:pt x="4194978" y="2578725"/>
                  <a:pt x="4202206" y="2575111"/>
                </a:cubicBezTo>
                <a:cubicBezTo>
                  <a:pt x="4211171" y="2570629"/>
                  <a:pt x="4220398" y="2566637"/>
                  <a:pt x="4229100" y="2561664"/>
                </a:cubicBezTo>
                <a:cubicBezTo>
                  <a:pt x="4236116" y="2557655"/>
                  <a:pt x="4241886" y="2551499"/>
                  <a:pt x="4249270" y="2548217"/>
                </a:cubicBezTo>
                <a:cubicBezTo>
                  <a:pt x="4288513" y="2530776"/>
                  <a:pt x="4289125" y="2536796"/>
                  <a:pt x="4329953" y="2528047"/>
                </a:cubicBezTo>
                <a:cubicBezTo>
                  <a:pt x="4348024" y="2524175"/>
                  <a:pt x="4365446" y="2517214"/>
                  <a:pt x="4383741" y="2514600"/>
                </a:cubicBezTo>
                <a:cubicBezTo>
                  <a:pt x="4399429" y="2512359"/>
                  <a:pt x="4415214" y="2510711"/>
                  <a:pt x="4430806" y="2507876"/>
                </a:cubicBezTo>
                <a:cubicBezTo>
                  <a:pt x="4476932" y="2499490"/>
                  <a:pt x="4439457" y="2504033"/>
                  <a:pt x="4477870" y="2494429"/>
                </a:cubicBezTo>
                <a:lnTo>
                  <a:pt x="4531659" y="2480982"/>
                </a:lnTo>
                <a:cubicBezTo>
                  <a:pt x="4556366" y="2464510"/>
                  <a:pt x="4552549" y="2465054"/>
                  <a:pt x="4585447" y="2454088"/>
                </a:cubicBezTo>
                <a:cubicBezTo>
                  <a:pt x="4594213" y="2451166"/>
                  <a:pt x="4603689" y="2450609"/>
                  <a:pt x="4612341" y="2447364"/>
                </a:cubicBezTo>
                <a:cubicBezTo>
                  <a:pt x="4631839" y="2440052"/>
                  <a:pt x="4642686" y="2431617"/>
                  <a:pt x="4659406" y="2420470"/>
                </a:cubicBezTo>
                <a:cubicBezTo>
                  <a:pt x="4662116" y="2416857"/>
                  <a:pt x="4689448" y="2381449"/>
                  <a:pt x="4693023" y="2373405"/>
                </a:cubicBezTo>
                <a:cubicBezTo>
                  <a:pt x="4707014" y="2341924"/>
                  <a:pt x="4706164" y="2331080"/>
                  <a:pt x="4713194" y="2299447"/>
                </a:cubicBezTo>
                <a:cubicBezTo>
                  <a:pt x="4715199" y="2290427"/>
                  <a:pt x="4717378" y="2281438"/>
                  <a:pt x="4719917" y="2272553"/>
                </a:cubicBezTo>
                <a:cubicBezTo>
                  <a:pt x="4721864" y="2265738"/>
                  <a:pt x="4724922" y="2259258"/>
                  <a:pt x="4726641" y="2252382"/>
                </a:cubicBezTo>
                <a:cubicBezTo>
                  <a:pt x="4729413" y="2241295"/>
                  <a:pt x="4731123" y="2229970"/>
                  <a:pt x="4733364" y="2218764"/>
                </a:cubicBezTo>
                <a:cubicBezTo>
                  <a:pt x="4724883" y="2150913"/>
                  <a:pt x="4732355" y="2182116"/>
                  <a:pt x="4713194" y="2124635"/>
                </a:cubicBezTo>
                <a:cubicBezTo>
                  <a:pt x="4710953" y="2117911"/>
                  <a:pt x="4710401" y="2110361"/>
                  <a:pt x="4706470" y="2104464"/>
                </a:cubicBezTo>
                <a:cubicBezTo>
                  <a:pt x="4701988" y="2097741"/>
                  <a:pt x="4699875" y="2088577"/>
                  <a:pt x="4693023" y="2084294"/>
                </a:cubicBezTo>
                <a:cubicBezTo>
                  <a:pt x="4681003" y="2076782"/>
                  <a:pt x="4652682" y="2070847"/>
                  <a:pt x="4652682" y="2070847"/>
                </a:cubicBezTo>
                <a:cubicBezTo>
                  <a:pt x="4645959" y="2066365"/>
                  <a:pt x="4640559" y="2058132"/>
                  <a:pt x="4632512" y="2057400"/>
                </a:cubicBezTo>
                <a:cubicBezTo>
                  <a:pt x="4588319" y="2053382"/>
                  <a:pt x="4585880" y="2059351"/>
                  <a:pt x="4558553" y="2077570"/>
                </a:cubicBezTo>
                <a:cubicBezTo>
                  <a:pt x="4537243" y="2109535"/>
                  <a:pt x="4547662" y="2090074"/>
                  <a:pt x="4531659" y="2138082"/>
                </a:cubicBezTo>
                <a:cubicBezTo>
                  <a:pt x="4529418" y="2144806"/>
                  <a:pt x="4528866" y="2152356"/>
                  <a:pt x="4524935" y="2158253"/>
                </a:cubicBezTo>
                <a:cubicBezTo>
                  <a:pt x="4520453" y="2164976"/>
                  <a:pt x="4514770" y="2171039"/>
                  <a:pt x="4511488" y="2178423"/>
                </a:cubicBezTo>
                <a:cubicBezTo>
                  <a:pt x="4498057" y="2208643"/>
                  <a:pt x="4501395" y="2213740"/>
                  <a:pt x="4491317" y="2238935"/>
                </a:cubicBezTo>
                <a:cubicBezTo>
                  <a:pt x="4486835" y="2250141"/>
                  <a:pt x="4481995" y="2261210"/>
                  <a:pt x="4477870" y="2272553"/>
                </a:cubicBezTo>
                <a:cubicBezTo>
                  <a:pt x="4473026" y="2285874"/>
                  <a:pt x="4472286" y="2301100"/>
                  <a:pt x="4464423" y="2312894"/>
                </a:cubicBezTo>
                <a:cubicBezTo>
                  <a:pt x="4455458" y="2326341"/>
                  <a:pt x="4448957" y="2341807"/>
                  <a:pt x="4437529" y="2353235"/>
                </a:cubicBezTo>
                <a:cubicBezTo>
                  <a:pt x="4420126" y="2370638"/>
                  <a:pt x="4401142" y="2392259"/>
                  <a:pt x="4377017" y="2400300"/>
                </a:cubicBezTo>
                <a:lnTo>
                  <a:pt x="4356847" y="2407023"/>
                </a:lnTo>
                <a:cubicBezTo>
                  <a:pt x="4350123" y="2411505"/>
                  <a:pt x="4343904" y="2416856"/>
                  <a:pt x="4336676" y="2420470"/>
                </a:cubicBezTo>
                <a:cubicBezTo>
                  <a:pt x="4319737" y="2428940"/>
                  <a:pt x="4292404" y="2430964"/>
                  <a:pt x="4276164" y="2433917"/>
                </a:cubicBezTo>
                <a:cubicBezTo>
                  <a:pt x="4264921" y="2435961"/>
                  <a:pt x="4253753" y="2438400"/>
                  <a:pt x="4242547" y="2440641"/>
                </a:cubicBezTo>
                <a:cubicBezTo>
                  <a:pt x="4232346" y="2439508"/>
                  <a:pt x="4175691" y="2442593"/>
                  <a:pt x="4161864" y="2420470"/>
                </a:cubicBezTo>
                <a:cubicBezTo>
                  <a:pt x="4154352" y="2408450"/>
                  <a:pt x="4148417" y="2380129"/>
                  <a:pt x="4148417" y="2380129"/>
                </a:cubicBezTo>
                <a:cubicBezTo>
                  <a:pt x="4164419" y="2332122"/>
                  <a:pt x="4154001" y="2351582"/>
                  <a:pt x="4175312" y="2319617"/>
                </a:cubicBezTo>
                <a:cubicBezTo>
                  <a:pt x="4180780" y="2303212"/>
                  <a:pt x="4182448" y="2292310"/>
                  <a:pt x="4195482" y="2279276"/>
                </a:cubicBezTo>
                <a:cubicBezTo>
                  <a:pt x="4201196" y="2273562"/>
                  <a:pt x="4208929" y="2270311"/>
                  <a:pt x="4215653" y="2265829"/>
                </a:cubicBezTo>
                <a:cubicBezTo>
                  <a:pt x="4249040" y="2215747"/>
                  <a:pt x="4206130" y="2277257"/>
                  <a:pt x="4249270" y="2225488"/>
                </a:cubicBezTo>
                <a:cubicBezTo>
                  <a:pt x="4254443" y="2219280"/>
                  <a:pt x="4258235" y="2212041"/>
                  <a:pt x="4262717" y="2205317"/>
                </a:cubicBezTo>
                <a:cubicBezTo>
                  <a:pt x="4260476" y="2196352"/>
                  <a:pt x="4261767" y="2185639"/>
                  <a:pt x="4255994" y="2178423"/>
                </a:cubicBezTo>
                <a:cubicBezTo>
                  <a:pt x="4251567" y="2172889"/>
                  <a:pt x="4242910" y="2171700"/>
                  <a:pt x="4235823" y="2171700"/>
                </a:cubicBezTo>
                <a:cubicBezTo>
                  <a:pt x="4215529" y="2171700"/>
                  <a:pt x="4195482" y="2176182"/>
                  <a:pt x="4175312" y="2178423"/>
                </a:cubicBezTo>
                <a:cubicBezTo>
                  <a:pt x="4175077" y="2178364"/>
                  <a:pt x="4131464" y="2168193"/>
                  <a:pt x="4128247" y="2164976"/>
                </a:cubicBezTo>
                <a:cubicBezTo>
                  <a:pt x="4123236" y="2159964"/>
                  <a:pt x="4123764" y="2151529"/>
                  <a:pt x="4121523" y="2144805"/>
                </a:cubicBezTo>
                <a:cubicBezTo>
                  <a:pt x="4125952" y="2131518"/>
                  <a:pt x="4129846" y="2113942"/>
                  <a:pt x="4141694" y="2104464"/>
                </a:cubicBezTo>
                <a:cubicBezTo>
                  <a:pt x="4147228" y="2100037"/>
                  <a:pt x="4154891" y="2099009"/>
                  <a:pt x="4161864" y="2097741"/>
                </a:cubicBezTo>
                <a:cubicBezTo>
                  <a:pt x="4179642" y="2094509"/>
                  <a:pt x="4197765" y="2093572"/>
                  <a:pt x="4215653" y="2091017"/>
                </a:cubicBezTo>
                <a:cubicBezTo>
                  <a:pt x="4229148" y="2089089"/>
                  <a:pt x="4242547" y="2086535"/>
                  <a:pt x="4255994" y="2084294"/>
                </a:cubicBezTo>
                <a:cubicBezTo>
                  <a:pt x="4313136" y="2065245"/>
                  <a:pt x="4243461" y="2091813"/>
                  <a:pt x="4289612" y="2064123"/>
                </a:cubicBezTo>
                <a:cubicBezTo>
                  <a:pt x="4295689" y="2060477"/>
                  <a:pt x="4303059" y="2059641"/>
                  <a:pt x="4309782" y="2057400"/>
                </a:cubicBezTo>
                <a:cubicBezTo>
                  <a:pt x="4347053" y="2032553"/>
                  <a:pt x="4317572" y="2058169"/>
                  <a:pt x="4336676" y="2023782"/>
                </a:cubicBezTo>
                <a:cubicBezTo>
                  <a:pt x="4344524" y="2009654"/>
                  <a:pt x="4363570" y="1983441"/>
                  <a:pt x="4363570" y="1983441"/>
                </a:cubicBezTo>
                <a:cubicBezTo>
                  <a:pt x="4365811" y="1974476"/>
                  <a:pt x="4365168" y="1964236"/>
                  <a:pt x="4370294" y="1956547"/>
                </a:cubicBezTo>
                <a:cubicBezTo>
                  <a:pt x="4374776" y="1949824"/>
                  <a:pt x="4384154" y="1948148"/>
                  <a:pt x="4390464" y="1943100"/>
                </a:cubicBezTo>
                <a:cubicBezTo>
                  <a:pt x="4395414" y="1939140"/>
                  <a:pt x="4399429" y="1934135"/>
                  <a:pt x="4403912" y="1929653"/>
                </a:cubicBezTo>
                <a:cubicBezTo>
                  <a:pt x="4406153" y="1922929"/>
                  <a:pt x="4407193" y="1915677"/>
                  <a:pt x="4410635" y="1909482"/>
                </a:cubicBezTo>
                <a:cubicBezTo>
                  <a:pt x="4418483" y="1895354"/>
                  <a:pt x="4432418" y="1884473"/>
                  <a:pt x="4437529" y="1869141"/>
                </a:cubicBezTo>
                <a:cubicBezTo>
                  <a:pt x="4442011" y="1855694"/>
                  <a:pt x="4447538" y="1842551"/>
                  <a:pt x="4450976" y="1828800"/>
                </a:cubicBezTo>
                <a:cubicBezTo>
                  <a:pt x="4453217" y="1819835"/>
                  <a:pt x="4454455" y="1810558"/>
                  <a:pt x="4457700" y="1801905"/>
                </a:cubicBezTo>
                <a:cubicBezTo>
                  <a:pt x="4465012" y="1782406"/>
                  <a:pt x="4473447" y="1771562"/>
                  <a:pt x="4484594" y="1754841"/>
                </a:cubicBezTo>
                <a:cubicBezTo>
                  <a:pt x="4501364" y="1654215"/>
                  <a:pt x="4480738" y="1779904"/>
                  <a:pt x="4498041" y="1667435"/>
                </a:cubicBezTo>
                <a:cubicBezTo>
                  <a:pt x="4500114" y="1653961"/>
                  <a:pt x="4503259" y="1640643"/>
                  <a:pt x="4504764" y="1627094"/>
                </a:cubicBezTo>
                <a:cubicBezTo>
                  <a:pt x="4507744" y="1600271"/>
                  <a:pt x="4508034" y="1573177"/>
                  <a:pt x="4511488" y="1546411"/>
                </a:cubicBezTo>
                <a:cubicBezTo>
                  <a:pt x="4517005" y="1503656"/>
                  <a:pt x="4524273" y="1461136"/>
                  <a:pt x="4531659" y="1418664"/>
                </a:cubicBezTo>
                <a:cubicBezTo>
                  <a:pt x="4533242" y="1409560"/>
                  <a:pt x="4533485" y="1399606"/>
                  <a:pt x="4538382" y="1391770"/>
                </a:cubicBezTo>
                <a:cubicBezTo>
                  <a:pt x="4545101" y="1381019"/>
                  <a:pt x="4556927" y="1374417"/>
                  <a:pt x="4565276" y="1364876"/>
                </a:cubicBezTo>
                <a:cubicBezTo>
                  <a:pt x="4576955" y="1351529"/>
                  <a:pt x="4588851" y="1332876"/>
                  <a:pt x="4598894" y="1317811"/>
                </a:cubicBezTo>
                <a:cubicBezTo>
                  <a:pt x="4601135" y="1308846"/>
                  <a:pt x="4601977" y="1299410"/>
                  <a:pt x="4605617" y="1290917"/>
                </a:cubicBezTo>
                <a:cubicBezTo>
                  <a:pt x="4628653" y="1237165"/>
                  <a:pt x="4612000" y="1308197"/>
                  <a:pt x="4625788" y="1243853"/>
                </a:cubicBezTo>
                <a:cubicBezTo>
                  <a:pt x="4630577" y="1221505"/>
                  <a:pt x="4639235" y="1176617"/>
                  <a:pt x="4639235" y="1176617"/>
                </a:cubicBezTo>
                <a:cubicBezTo>
                  <a:pt x="4638093" y="1149219"/>
                  <a:pt x="4639806" y="1030981"/>
                  <a:pt x="4625788" y="974911"/>
                </a:cubicBezTo>
                <a:cubicBezTo>
                  <a:pt x="4622350" y="961160"/>
                  <a:pt x="4616823" y="948017"/>
                  <a:pt x="4612341" y="934570"/>
                </a:cubicBezTo>
                <a:cubicBezTo>
                  <a:pt x="4610100" y="927847"/>
                  <a:pt x="4610628" y="919411"/>
                  <a:pt x="4605617" y="914400"/>
                </a:cubicBezTo>
                <a:cubicBezTo>
                  <a:pt x="4598894" y="907676"/>
                  <a:pt x="4591534" y="901534"/>
                  <a:pt x="4585447" y="894229"/>
                </a:cubicBezTo>
                <a:cubicBezTo>
                  <a:pt x="4580274" y="888021"/>
                  <a:pt x="4578081" y="879379"/>
                  <a:pt x="4572000" y="874058"/>
                </a:cubicBezTo>
                <a:cubicBezTo>
                  <a:pt x="4559837" y="863416"/>
                  <a:pt x="4543087" y="858591"/>
                  <a:pt x="4531659" y="847164"/>
                </a:cubicBezTo>
                <a:cubicBezTo>
                  <a:pt x="4524935" y="840441"/>
                  <a:pt x="4519400" y="832268"/>
                  <a:pt x="4511488" y="826994"/>
                </a:cubicBezTo>
                <a:cubicBezTo>
                  <a:pt x="4505591" y="823063"/>
                  <a:pt x="4497512" y="823712"/>
                  <a:pt x="4491317" y="820270"/>
                </a:cubicBezTo>
                <a:cubicBezTo>
                  <a:pt x="4477190" y="812421"/>
                  <a:pt x="4466308" y="798487"/>
                  <a:pt x="4450976" y="793376"/>
                </a:cubicBezTo>
                <a:cubicBezTo>
                  <a:pt x="4437529" y="788894"/>
                  <a:pt x="4422429" y="787792"/>
                  <a:pt x="4410635" y="779929"/>
                </a:cubicBezTo>
                <a:lnTo>
                  <a:pt x="4350123" y="739588"/>
                </a:lnTo>
                <a:cubicBezTo>
                  <a:pt x="4343400" y="735106"/>
                  <a:pt x="4337619" y="728696"/>
                  <a:pt x="4329953" y="726141"/>
                </a:cubicBezTo>
                <a:lnTo>
                  <a:pt x="4309782" y="719417"/>
                </a:lnTo>
                <a:cubicBezTo>
                  <a:pt x="4260660" y="670295"/>
                  <a:pt x="4329272" y="734655"/>
                  <a:pt x="4235823" y="672353"/>
                </a:cubicBezTo>
                <a:cubicBezTo>
                  <a:pt x="4222376" y="663388"/>
                  <a:pt x="4211161" y="649377"/>
                  <a:pt x="4195482" y="645458"/>
                </a:cubicBezTo>
                <a:cubicBezTo>
                  <a:pt x="4181829" y="642045"/>
                  <a:pt x="4161925" y="637800"/>
                  <a:pt x="4148417" y="632011"/>
                </a:cubicBezTo>
                <a:cubicBezTo>
                  <a:pt x="4139205" y="628063"/>
                  <a:pt x="4130735" y="622512"/>
                  <a:pt x="4121523" y="618564"/>
                </a:cubicBezTo>
                <a:cubicBezTo>
                  <a:pt x="4115009" y="615772"/>
                  <a:pt x="4107867" y="614633"/>
                  <a:pt x="4101353" y="611841"/>
                </a:cubicBezTo>
                <a:cubicBezTo>
                  <a:pt x="4092141" y="607893"/>
                  <a:pt x="4083967" y="601564"/>
                  <a:pt x="4074459" y="598394"/>
                </a:cubicBezTo>
                <a:cubicBezTo>
                  <a:pt x="4063618" y="594780"/>
                  <a:pt x="4051866" y="594677"/>
                  <a:pt x="4040841" y="591670"/>
                </a:cubicBezTo>
                <a:cubicBezTo>
                  <a:pt x="4027166" y="587940"/>
                  <a:pt x="4013947" y="582705"/>
                  <a:pt x="4000500" y="578223"/>
                </a:cubicBezTo>
                <a:cubicBezTo>
                  <a:pt x="3993776" y="575982"/>
                  <a:pt x="3987205" y="573219"/>
                  <a:pt x="3980329" y="571500"/>
                </a:cubicBezTo>
                <a:cubicBezTo>
                  <a:pt x="3940210" y="561469"/>
                  <a:pt x="3962550" y="566295"/>
                  <a:pt x="3913094" y="558053"/>
                </a:cubicBezTo>
                <a:lnTo>
                  <a:pt x="3516406" y="564776"/>
                </a:lnTo>
                <a:cubicBezTo>
                  <a:pt x="3293610" y="564776"/>
                  <a:pt x="3329068" y="567414"/>
                  <a:pt x="3200400" y="551329"/>
                </a:cubicBezTo>
                <a:cubicBezTo>
                  <a:pt x="3186953" y="546847"/>
                  <a:pt x="3173810" y="541320"/>
                  <a:pt x="3160059" y="537882"/>
                </a:cubicBezTo>
                <a:cubicBezTo>
                  <a:pt x="3142129" y="533400"/>
                  <a:pt x="3123803" y="530279"/>
                  <a:pt x="3106270" y="524435"/>
                </a:cubicBezTo>
                <a:lnTo>
                  <a:pt x="3065929" y="510988"/>
                </a:lnTo>
                <a:cubicBezTo>
                  <a:pt x="3059206" y="506506"/>
                  <a:pt x="3050241" y="504264"/>
                  <a:pt x="3045759" y="497541"/>
                </a:cubicBezTo>
                <a:cubicBezTo>
                  <a:pt x="3040633" y="489852"/>
                  <a:pt x="3042280" y="479299"/>
                  <a:pt x="3039035" y="470647"/>
                </a:cubicBezTo>
                <a:cubicBezTo>
                  <a:pt x="3035516" y="461262"/>
                  <a:pt x="3030070" y="452718"/>
                  <a:pt x="3025588" y="443753"/>
                </a:cubicBezTo>
                <a:cubicBezTo>
                  <a:pt x="3027829" y="407894"/>
                  <a:pt x="3028551" y="371908"/>
                  <a:pt x="3032312" y="336176"/>
                </a:cubicBezTo>
                <a:cubicBezTo>
                  <a:pt x="3033054" y="329128"/>
                  <a:pt x="3034024" y="321017"/>
                  <a:pt x="3039035" y="316005"/>
                </a:cubicBezTo>
                <a:cubicBezTo>
                  <a:pt x="3050463" y="304577"/>
                  <a:pt x="3064044" y="294222"/>
                  <a:pt x="3079376" y="289111"/>
                </a:cubicBezTo>
                <a:lnTo>
                  <a:pt x="3119717" y="275664"/>
                </a:lnTo>
                <a:cubicBezTo>
                  <a:pt x="3182620" y="278975"/>
                  <a:pt x="3240276" y="278948"/>
                  <a:pt x="3301253" y="289111"/>
                </a:cubicBezTo>
                <a:cubicBezTo>
                  <a:pt x="3326466" y="293313"/>
                  <a:pt x="3325943" y="296166"/>
                  <a:pt x="3348317" y="302558"/>
                </a:cubicBezTo>
                <a:cubicBezTo>
                  <a:pt x="3357202" y="305097"/>
                  <a:pt x="3366247" y="307041"/>
                  <a:pt x="3375212" y="309282"/>
                </a:cubicBezTo>
                <a:cubicBezTo>
                  <a:pt x="3384177" y="316006"/>
                  <a:pt x="3392083" y="324441"/>
                  <a:pt x="3402106" y="329453"/>
                </a:cubicBezTo>
                <a:cubicBezTo>
                  <a:pt x="3402113" y="329456"/>
                  <a:pt x="3452528" y="346260"/>
                  <a:pt x="3462617" y="349623"/>
                </a:cubicBezTo>
                <a:cubicBezTo>
                  <a:pt x="3469341" y="351864"/>
                  <a:pt x="3476891" y="352416"/>
                  <a:pt x="3482788" y="356347"/>
                </a:cubicBezTo>
                <a:cubicBezTo>
                  <a:pt x="3489512" y="360829"/>
                  <a:pt x="3495456" y="366793"/>
                  <a:pt x="3502959" y="369794"/>
                </a:cubicBezTo>
                <a:cubicBezTo>
                  <a:pt x="3518108" y="375854"/>
                  <a:pt x="3534395" y="378553"/>
                  <a:pt x="3550023" y="383241"/>
                </a:cubicBezTo>
                <a:cubicBezTo>
                  <a:pt x="3556811" y="385277"/>
                  <a:pt x="3563470" y="387723"/>
                  <a:pt x="3570194" y="389964"/>
                </a:cubicBezTo>
                <a:cubicBezTo>
                  <a:pt x="3576917" y="394446"/>
                  <a:pt x="3582641" y="401035"/>
                  <a:pt x="3590364" y="403411"/>
                </a:cubicBezTo>
                <a:cubicBezTo>
                  <a:pt x="3612209" y="410133"/>
                  <a:pt x="3657600" y="416858"/>
                  <a:pt x="3657600" y="416858"/>
                </a:cubicBezTo>
                <a:cubicBezTo>
                  <a:pt x="3679842" y="425755"/>
                  <a:pt x="3690312" y="430706"/>
                  <a:pt x="3711388" y="437029"/>
                </a:cubicBezTo>
                <a:cubicBezTo>
                  <a:pt x="3727016" y="441717"/>
                  <a:pt x="3742712" y="446183"/>
                  <a:pt x="3758453" y="450476"/>
                </a:cubicBezTo>
                <a:cubicBezTo>
                  <a:pt x="3767368" y="452907"/>
                  <a:pt x="3776695" y="453955"/>
                  <a:pt x="3785347" y="457200"/>
                </a:cubicBezTo>
                <a:cubicBezTo>
                  <a:pt x="3794732" y="460719"/>
                  <a:pt x="3802733" y="467478"/>
                  <a:pt x="3812241" y="470647"/>
                </a:cubicBezTo>
                <a:cubicBezTo>
                  <a:pt x="3829774" y="476491"/>
                  <a:pt x="3848496" y="478250"/>
                  <a:pt x="3866029" y="484094"/>
                </a:cubicBezTo>
                <a:cubicBezTo>
                  <a:pt x="3872753" y="486335"/>
                  <a:pt x="3879324" y="489098"/>
                  <a:pt x="3886200" y="490817"/>
                </a:cubicBezTo>
                <a:cubicBezTo>
                  <a:pt x="3897286" y="493589"/>
                  <a:pt x="3908731" y="494769"/>
                  <a:pt x="3919817" y="497541"/>
                </a:cubicBezTo>
                <a:cubicBezTo>
                  <a:pt x="3926693" y="499260"/>
                  <a:pt x="3933173" y="502317"/>
                  <a:pt x="3939988" y="504264"/>
                </a:cubicBezTo>
                <a:cubicBezTo>
                  <a:pt x="3948873" y="506803"/>
                  <a:pt x="3958230" y="507743"/>
                  <a:pt x="3966882" y="510988"/>
                </a:cubicBezTo>
                <a:cubicBezTo>
                  <a:pt x="4007251" y="526127"/>
                  <a:pt x="3979249" y="524255"/>
                  <a:pt x="4020670" y="531158"/>
                </a:cubicBezTo>
                <a:cubicBezTo>
                  <a:pt x="4038493" y="534129"/>
                  <a:pt x="4056571" y="535327"/>
                  <a:pt x="4074459" y="537882"/>
                </a:cubicBezTo>
                <a:cubicBezTo>
                  <a:pt x="4087954" y="539810"/>
                  <a:pt x="4101326" y="542532"/>
                  <a:pt x="4114800" y="544605"/>
                </a:cubicBezTo>
                <a:cubicBezTo>
                  <a:pt x="4130463" y="547015"/>
                  <a:pt x="4146201" y="548919"/>
                  <a:pt x="4161864" y="551329"/>
                </a:cubicBezTo>
                <a:cubicBezTo>
                  <a:pt x="4175338" y="553402"/>
                  <a:pt x="4188710" y="556125"/>
                  <a:pt x="4202206" y="558053"/>
                </a:cubicBezTo>
                <a:cubicBezTo>
                  <a:pt x="4234519" y="562669"/>
                  <a:pt x="4284775" y="567974"/>
                  <a:pt x="4316506" y="571500"/>
                </a:cubicBezTo>
                <a:cubicBezTo>
                  <a:pt x="4368035" y="584381"/>
                  <a:pt x="4363537" y="584947"/>
                  <a:pt x="4444253" y="584947"/>
                </a:cubicBezTo>
                <a:cubicBezTo>
                  <a:pt x="4518246" y="584947"/>
                  <a:pt x="4592170" y="580464"/>
                  <a:pt x="4666129" y="578223"/>
                </a:cubicBezTo>
                <a:cubicBezTo>
                  <a:pt x="4726072" y="558242"/>
                  <a:pt x="4692633" y="567851"/>
                  <a:pt x="4766982" y="551329"/>
                </a:cubicBezTo>
                <a:cubicBezTo>
                  <a:pt x="4786761" y="538967"/>
                  <a:pt x="4826916" y="515984"/>
                  <a:pt x="4847664" y="497541"/>
                </a:cubicBezTo>
                <a:cubicBezTo>
                  <a:pt x="4859509" y="487012"/>
                  <a:pt x="4868096" y="472714"/>
                  <a:pt x="4881282" y="463923"/>
                </a:cubicBezTo>
                <a:cubicBezTo>
                  <a:pt x="4916794" y="440249"/>
                  <a:pt x="4954979" y="415828"/>
                  <a:pt x="4982135" y="383241"/>
                </a:cubicBezTo>
                <a:cubicBezTo>
                  <a:pt x="5022755" y="334498"/>
                  <a:pt x="5014657" y="345616"/>
                  <a:pt x="5056094" y="289111"/>
                </a:cubicBezTo>
                <a:cubicBezTo>
                  <a:pt x="5067495" y="273564"/>
                  <a:pt x="5077668" y="257102"/>
                  <a:pt x="5089712" y="242047"/>
                </a:cubicBezTo>
                <a:cubicBezTo>
                  <a:pt x="5098677" y="230841"/>
                  <a:pt x="5108377" y="220186"/>
                  <a:pt x="5116606" y="208429"/>
                </a:cubicBezTo>
                <a:cubicBezTo>
                  <a:pt x="5142735" y="171101"/>
                  <a:pt x="5130316" y="182753"/>
                  <a:pt x="5150223" y="147917"/>
                </a:cubicBezTo>
                <a:cubicBezTo>
                  <a:pt x="5154232" y="140901"/>
                  <a:pt x="5159188" y="134470"/>
                  <a:pt x="5163670" y="127747"/>
                </a:cubicBezTo>
                <a:cubicBezTo>
                  <a:pt x="5165911" y="116541"/>
                  <a:pt x="5167387" y="105154"/>
                  <a:pt x="5170394" y="94129"/>
                </a:cubicBezTo>
                <a:cubicBezTo>
                  <a:pt x="5174124" y="80454"/>
                  <a:pt x="5183841" y="53788"/>
                  <a:pt x="5183841" y="53788"/>
                </a:cubicBezTo>
                <a:cubicBezTo>
                  <a:pt x="5176293" y="8504"/>
                  <a:pt x="5183213" y="25640"/>
                  <a:pt x="5170394" y="0"/>
                </a:cubicBezTo>
              </a:path>
            </a:pathLst>
          </a:custGeom>
          <a:noFill/>
          <a:ln w="38100">
            <a:solidFill>
              <a:srgbClr val="D53E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37624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scatter chart&#10;&#10;Description automatically generated">
            <a:extLst>
              <a:ext uri="{FF2B5EF4-FFF2-40B4-BE49-F238E27FC236}">
                <a16:creationId xmlns:a16="http://schemas.microsoft.com/office/drawing/2014/main" id="{5E763400-AE94-171A-BA3B-BE4F0D29813A}"/>
              </a:ext>
            </a:extLst>
          </p:cNvPr>
          <p:cNvPicPr>
            <a:picLocks noChangeAspect="1"/>
          </p:cNvPicPr>
          <p:nvPr/>
        </p:nvPicPr>
        <p:blipFill>
          <a:blip r:embed="rId3"/>
          <a:stretch>
            <a:fillRect/>
          </a:stretch>
        </p:blipFill>
        <p:spPr>
          <a:xfrm>
            <a:off x="3652740" y="1027906"/>
            <a:ext cx="8288482" cy="5698331"/>
          </a:xfrm>
          <a:prstGeom prst="rect">
            <a:avLst/>
          </a:prstGeom>
        </p:spPr>
      </p:pic>
      <p:sp>
        <p:nvSpPr>
          <p:cNvPr id="2" name="Title 1">
            <a:extLst>
              <a:ext uri="{FF2B5EF4-FFF2-40B4-BE49-F238E27FC236}">
                <a16:creationId xmlns:a16="http://schemas.microsoft.com/office/drawing/2014/main" id="{8C20C5B8-6072-BDA4-7CF4-F24B0AFDA29E}"/>
              </a:ext>
            </a:extLst>
          </p:cNvPr>
          <p:cNvSpPr>
            <a:spLocks noGrp="1"/>
          </p:cNvSpPr>
          <p:nvPr>
            <p:ph type="title"/>
          </p:nvPr>
        </p:nvSpPr>
        <p:spPr>
          <a:xfrm>
            <a:off x="838200" y="365125"/>
            <a:ext cx="10891684" cy="1325563"/>
          </a:xfrm>
        </p:spPr>
        <p:txBody>
          <a:bodyPr/>
          <a:lstStyle/>
          <a:p>
            <a:r>
              <a:rPr lang="en-US" dirty="0"/>
              <a:t>We need a strategy to decide when to stop.</a:t>
            </a:r>
          </a:p>
        </p:txBody>
      </p:sp>
      <p:sp>
        <p:nvSpPr>
          <p:cNvPr id="8" name="TextBox 7">
            <a:extLst>
              <a:ext uri="{FF2B5EF4-FFF2-40B4-BE49-F238E27FC236}">
                <a16:creationId xmlns:a16="http://schemas.microsoft.com/office/drawing/2014/main" id="{AD498A56-DC87-59BF-E86B-9520BA279774}"/>
              </a:ext>
            </a:extLst>
          </p:cNvPr>
          <p:cNvSpPr txBox="1"/>
          <p:nvPr/>
        </p:nvSpPr>
        <p:spPr>
          <a:xfrm>
            <a:off x="838200" y="2025445"/>
            <a:ext cx="3212690" cy="2031325"/>
          </a:xfrm>
          <a:prstGeom prst="rect">
            <a:avLst/>
          </a:prstGeom>
          <a:noFill/>
        </p:spPr>
        <p:txBody>
          <a:bodyPr wrap="square" rtlCol="0">
            <a:spAutoFit/>
          </a:bodyPr>
          <a:lstStyle/>
          <a:p>
            <a:r>
              <a:rPr lang="en-US" dirty="0"/>
              <a:t>Strategy 1:</a:t>
            </a:r>
          </a:p>
          <a:p>
            <a:r>
              <a:rPr lang="en-US" i="1" dirty="0"/>
              <a:t>Penalize complexity</a:t>
            </a:r>
          </a:p>
          <a:p>
            <a:r>
              <a:rPr lang="en-US" dirty="0"/>
              <a:t>(regularization)</a:t>
            </a:r>
          </a:p>
          <a:p>
            <a:endParaRPr lang="en-US" i="1" dirty="0"/>
          </a:p>
          <a:p>
            <a:r>
              <a:rPr lang="en-US" dirty="0"/>
              <a:t>We could quantify how curvy the line is and add that value to the loss.</a:t>
            </a:r>
          </a:p>
        </p:txBody>
      </p:sp>
      <p:sp>
        <p:nvSpPr>
          <p:cNvPr id="6" name="Freeform 5">
            <a:extLst>
              <a:ext uri="{FF2B5EF4-FFF2-40B4-BE49-F238E27FC236}">
                <a16:creationId xmlns:a16="http://schemas.microsoft.com/office/drawing/2014/main" id="{1376D06B-2386-8FA4-248D-26749FF2E271}"/>
              </a:ext>
            </a:extLst>
          </p:cNvPr>
          <p:cNvSpPr/>
          <p:nvPr/>
        </p:nvSpPr>
        <p:spPr>
          <a:xfrm>
            <a:off x="4746812" y="1848971"/>
            <a:ext cx="5183841" cy="4134970"/>
          </a:xfrm>
          <a:custGeom>
            <a:avLst/>
            <a:gdLst>
              <a:gd name="connsiteX0" fmla="*/ 0 w 5183841"/>
              <a:gd name="connsiteY0" fmla="*/ 4134970 h 4134970"/>
              <a:gd name="connsiteX1" fmla="*/ 47064 w 5183841"/>
              <a:gd name="connsiteY1" fmla="*/ 4114800 h 4134970"/>
              <a:gd name="connsiteX2" fmla="*/ 87406 w 5183841"/>
              <a:gd name="connsiteY2" fmla="*/ 4094629 h 4134970"/>
              <a:gd name="connsiteX3" fmla="*/ 181535 w 5183841"/>
              <a:gd name="connsiteY3" fmla="*/ 4040841 h 4134970"/>
              <a:gd name="connsiteX4" fmla="*/ 221876 w 5183841"/>
              <a:gd name="connsiteY4" fmla="*/ 4027394 h 4134970"/>
              <a:gd name="connsiteX5" fmla="*/ 262217 w 5183841"/>
              <a:gd name="connsiteY5" fmla="*/ 4007223 h 4134970"/>
              <a:gd name="connsiteX6" fmla="*/ 309282 w 5183841"/>
              <a:gd name="connsiteY6" fmla="*/ 3987053 h 4134970"/>
              <a:gd name="connsiteX7" fmla="*/ 389964 w 5183841"/>
              <a:gd name="connsiteY7" fmla="*/ 3939988 h 4134970"/>
              <a:gd name="connsiteX8" fmla="*/ 437029 w 5183841"/>
              <a:gd name="connsiteY8" fmla="*/ 3913094 h 4134970"/>
              <a:gd name="connsiteX9" fmla="*/ 510988 w 5183841"/>
              <a:gd name="connsiteY9" fmla="*/ 3866029 h 4134970"/>
              <a:gd name="connsiteX10" fmla="*/ 544606 w 5183841"/>
              <a:gd name="connsiteY10" fmla="*/ 3832411 h 4134970"/>
              <a:gd name="connsiteX11" fmla="*/ 578223 w 5183841"/>
              <a:gd name="connsiteY11" fmla="*/ 3812241 h 4134970"/>
              <a:gd name="connsiteX12" fmla="*/ 625288 w 5183841"/>
              <a:gd name="connsiteY12" fmla="*/ 3758453 h 4134970"/>
              <a:gd name="connsiteX13" fmla="*/ 645459 w 5183841"/>
              <a:gd name="connsiteY13" fmla="*/ 3745005 h 4134970"/>
              <a:gd name="connsiteX14" fmla="*/ 692523 w 5183841"/>
              <a:gd name="connsiteY14" fmla="*/ 3697941 h 4134970"/>
              <a:gd name="connsiteX15" fmla="*/ 692523 w 5183841"/>
              <a:gd name="connsiteY15" fmla="*/ 3697941 h 4134970"/>
              <a:gd name="connsiteX16" fmla="*/ 759759 w 5183841"/>
              <a:gd name="connsiteY16" fmla="*/ 3610535 h 4134970"/>
              <a:gd name="connsiteX17" fmla="*/ 779929 w 5183841"/>
              <a:gd name="connsiteY17" fmla="*/ 3583641 h 4134970"/>
              <a:gd name="connsiteX18" fmla="*/ 826994 w 5183841"/>
              <a:gd name="connsiteY18" fmla="*/ 3529853 h 4134970"/>
              <a:gd name="connsiteX19" fmla="*/ 847164 w 5183841"/>
              <a:gd name="connsiteY19" fmla="*/ 3502958 h 4134970"/>
              <a:gd name="connsiteX20" fmla="*/ 860612 w 5183841"/>
              <a:gd name="connsiteY20" fmla="*/ 3489511 h 4134970"/>
              <a:gd name="connsiteX21" fmla="*/ 874059 w 5183841"/>
              <a:gd name="connsiteY21" fmla="*/ 3469341 h 4134970"/>
              <a:gd name="connsiteX22" fmla="*/ 914400 w 5183841"/>
              <a:gd name="connsiteY22" fmla="*/ 3415553 h 4134970"/>
              <a:gd name="connsiteX23" fmla="*/ 927847 w 5183841"/>
              <a:gd name="connsiteY23" fmla="*/ 3395382 h 4134970"/>
              <a:gd name="connsiteX24" fmla="*/ 948017 w 5183841"/>
              <a:gd name="connsiteY24" fmla="*/ 3368488 h 4134970"/>
              <a:gd name="connsiteX25" fmla="*/ 961464 w 5183841"/>
              <a:gd name="connsiteY25" fmla="*/ 3341594 h 4134970"/>
              <a:gd name="connsiteX26" fmla="*/ 981635 w 5183841"/>
              <a:gd name="connsiteY26" fmla="*/ 3314700 h 4134970"/>
              <a:gd name="connsiteX27" fmla="*/ 1001806 w 5183841"/>
              <a:gd name="connsiteY27" fmla="*/ 3281082 h 4134970"/>
              <a:gd name="connsiteX28" fmla="*/ 1021976 w 5183841"/>
              <a:gd name="connsiteY28" fmla="*/ 3254188 h 4134970"/>
              <a:gd name="connsiteX29" fmla="*/ 1042147 w 5183841"/>
              <a:gd name="connsiteY29" fmla="*/ 3207123 h 4134970"/>
              <a:gd name="connsiteX30" fmla="*/ 1095935 w 5183841"/>
              <a:gd name="connsiteY30" fmla="*/ 3119717 h 4134970"/>
              <a:gd name="connsiteX31" fmla="*/ 1102659 w 5183841"/>
              <a:gd name="connsiteY31" fmla="*/ 3099547 h 4134970"/>
              <a:gd name="connsiteX32" fmla="*/ 1129553 w 5183841"/>
              <a:gd name="connsiteY32" fmla="*/ 3052482 h 4134970"/>
              <a:gd name="connsiteX33" fmla="*/ 1156447 w 5183841"/>
              <a:gd name="connsiteY33" fmla="*/ 2965076 h 4134970"/>
              <a:gd name="connsiteX34" fmla="*/ 1176617 w 5183841"/>
              <a:gd name="connsiteY34" fmla="*/ 2884394 h 4134970"/>
              <a:gd name="connsiteX35" fmla="*/ 1183341 w 5183841"/>
              <a:gd name="connsiteY35" fmla="*/ 2857500 h 4134970"/>
              <a:gd name="connsiteX36" fmla="*/ 1190064 w 5183841"/>
              <a:gd name="connsiteY36" fmla="*/ 2830605 h 4134970"/>
              <a:gd name="connsiteX37" fmla="*/ 1203512 w 5183841"/>
              <a:gd name="connsiteY37" fmla="*/ 2810435 h 4134970"/>
              <a:gd name="connsiteX38" fmla="*/ 1203512 w 5183841"/>
              <a:gd name="connsiteY38" fmla="*/ 2494429 h 4134970"/>
              <a:gd name="connsiteX39" fmla="*/ 1196788 w 5183841"/>
              <a:gd name="connsiteY39" fmla="*/ 2474258 h 4134970"/>
              <a:gd name="connsiteX40" fmla="*/ 1163170 w 5183841"/>
              <a:gd name="connsiteY40" fmla="*/ 2433917 h 4134970"/>
              <a:gd name="connsiteX41" fmla="*/ 1143000 w 5183841"/>
              <a:gd name="connsiteY41" fmla="*/ 2427194 h 4134970"/>
              <a:gd name="connsiteX42" fmla="*/ 1122829 w 5183841"/>
              <a:gd name="connsiteY42" fmla="*/ 2413747 h 4134970"/>
              <a:gd name="connsiteX43" fmla="*/ 1082488 w 5183841"/>
              <a:gd name="connsiteY43" fmla="*/ 2400300 h 4134970"/>
              <a:gd name="connsiteX44" fmla="*/ 1062317 w 5183841"/>
              <a:gd name="connsiteY44" fmla="*/ 2386853 h 4134970"/>
              <a:gd name="connsiteX45" fmla="*/ 1021976 w 5183841"/>
              <a:gd name="connsiteY45" fmla="*/ 2366682 h 4134970"/>
              <a:gd name="connsiteX46" fmla="*/ 1001806 w 5183841"/>
              <a:gd name="connsiteY46" fmla="*/ 2346511 h 4134970"/>
              <a:gd name="connsiteX47" fmla="*/ 988359 w 5183841"/>
              <a:gd name="connsiteY47" fmla="*/ 2326341 h 4134970"/>
              <a:gd name="connsiteX48" fmla="*/ 948017 w 5183841"/>
              <a:gd name="connsiteY48" fmla="*/ 2299447 h 4134970"/>
              <a:gd name="connsiteX49" fmla="*/ 921123 w 5183841"/>
              <a:gd name="connsiteY49" fmla="*/ 2259105 h 4134970"/>
              <a:gd name="connsiteX50" fmla="*/ 907676 w 5183841"/>
              <a:gd name="connsiteY50" fmla="*/ 2218764 h 4134970"/>
              <a:gd name="connsiteX51" fmla="*/ 921123 w 5183841"/>
              <a:gd name="connsiteY51" fmla="*/ 2144805 h 4134970"/>
              <a:gd name="connsiteX52" fmla="*/ 948017 w 5183841"/>
              <a:gd name="connsiteY52" fmla="*/ 2104464 h 4134970"/>
              <a:gd name="connsiteX53" fmla="*/ 1001806 w 5183841"/>
              <a:gd name="connsiteY53" fmla="*/ 2111188 h 4134970"/>
              <a:gd name="connsiteX54" fmla="*/ 1021976 w 5183841"/>
              <a:gd name="connsiteY54" fmla="*/ 2117911 h 4134970"/>
              <a:gd name="connsiteX55" fmla="*/ 1048870 w 5183841"/>
              <a:gd name="connsiteY55" fmla="*/ 2178423 h 4134970"/>
              <a:gd name="connsiteX56" fmla="*/ 1069041 w 5183841"/>
              <a:gd name="connsiteY56" fmla="*/ 2218764 h 4134970"/>
              <a:gd name="connsiteX57" fmla="*/ 1082488 w 5183841"/>
              <a:gd name="connsiteY57" fmla="*/ 2265829 h 4134970"/>
              <a:gd name="connsiteX58" fmla="*/ 1129553 w 5183841"/>
              <a:gd name="connsiteY58" fmla="*/ 2326341 h 4134970"/>
              <a:gd name="connsiteX59" fmla="*/ 1163170 w 5183841"/>
              <a:gd name="connsiteY59" fmla="*/ 2359958 h 4134970"/>
              <a:gd name="connsiteX60" fmla="*/ 1176617 w 5183841"/>
              <a:gd name="connsiteY60" fmla="*/ 2380129 h 4134970"/>
              <a:gd name="connsiteX61" fmla="*/ 1196788 w 5183841"/>
              <a:gd name="connsiteY61" fmla="*/ 2386853 h 4134970"/>
              <a:gd name="connsiteX62" fmla="*/ 1216959 w 5183841"/>
              <a:gd name="connsiteY62" fmla="*/ 2400300 h 4134970"/>
              <a:gd name="connsiteX63" fmla="*/ 1257300 w 5183841"/>
              <a:gd name="connsiteY63" fmla="*/ 2413747 h 4134970"/>
              <a:gd name="connsiteX64" fmla="*/ 1317812 w 5183841"/>
              <a:gd name="connsiteY64" fmla="*/ 2433917 h 4134970"/>
              <a:gd name="connsiteX65" fmla="*/ 1358153 w 5183841"/>
              <a:gd name="connsiteY65" fmla="*/ 2447364 h 4134970"/>
              <a:gd name="connsiteX66" fmla="*/ 1425388 w 5183841"/>
              <a:gd name="connsiteY66" fmla="*/ 2467535 h 4134970"/>
              <a:gd name="connsiteX67" fmla="*/ 1445559 w 5183841"/>
              <a:gd name="connsiteY67" fmla="*/ 2474258 h 4134970"/>
              <a:gd name="connsiteX68" fmla="*/ 1485900 w 5183841"/>
              <a:gd name="connsiteY68" fmla="*/ 2494429 h 4134970"/>
              <a:gd name="connsiteX69" fmla="*/ 1532964 w 5183841"/>
              <a:gd name="connsiteY69" fmla="*/ 2528047 h 4134970"/>
              <a:gd name="connsiteX70" fmla="*/ 1546412 w 5183841"/>
              <a:gd name="connsiteY70" fmla="*/ 2548217 h 4134970"/>
              <a:gd name="connsiteX71" fmla="*/ 1566582 w 5183841"/>
              <a:gd name="connsiteY71" fmla="*/ 2561664 h 4134970"/>
              <a:gd name="connsiteX72" fmla="*/ 1606923 w 5183841"/>
              <a:gd name="connsiteY72" fmla="*/ 2602005 h 4134970"/>
              <a:gd name="connsiteX73" fmla="*/ 1620370 w 5183841"/>
              <a:gd name="connsiteY73" fmla="*/ 2615453 h 4134970"/>
              <a:gd name="connsiteX74" fmla="*/ 1687606 w 5183841"/>
              <a:gd name="connsiteY74" fmla="*/ 2689411 h 4134970"/>
              <a:gd name="connsiteX75" fmla="*/ 1707776 w 5183841"/>
              <a:gd name="connsiteY75" fmla="*/ 2709582 h 4134970"/>
              <a:gd name="connsiteX76" fmla="*/ 1734670 w 5183841"/>
              <a:gd name="connsiteY76" fmla="*/ 2743200 h 4134970"/>
              <a:gd name="connsiteX77" fmla="*/ 1741394 w 5183841"/>
              <a:gd name="connsiteY77" fmla="*/ 2763370 h 4134970"/>
              <a:gd name="connsiteX78" fmla="*/ 1761564 w 5183841"/>
              <a:gd name="connsiteY78" fmla="*/ 2776817 h 4134970"/>
              <a:gd name="connsiteX79" fmla="*/ 1795182 w 5183841"/>
              <a:gd name="connsiteY79" fmla="*/ 2803711 h 4134970"/>
              <a:gd name="connsiteX80" fmla="*/ 1835523 w 5183841"/>
              <a:gd name="connsiteY80" fmla="*/ 2817158 h 4134970"/>
              <a:gd name="connsiteX81" fmla="*/ 1882588 w 5183841"/>
              <a:gd name="connsiteY81" fmla="*/ 2830605 h 4134970"/>
              <a:gd name="connsiteX82" fmla="*/ 1969994 w 5183841"/>
              <a:gd name="connsiteY82" fmla="*/ 2823882 h 4134970"/>
              <a:gd name="connsiteX83" fmla="*/ 1990164 w 5183841"/>
              <a:gd name="connsiteY83" fmla="*/ 2817158 h 4134970"/>
              <a:gd name="connsiteX84" fmla="*/ 2003612 w 5183841"/>
              <a:gd name="connsiteY84" fmla="*/ 2776817 h 4134970"/>
              <a:gd name="connsiteX85" fmla="*/ 2017059 w 5183841"/>
              <a:gd name="connsiteY85" fmla="*/ 2736476 h 4134970"/>
              <a:gd name="connsiteX86" fmla="*/ 2023782 w 5183841"/>
              <a:gd name="connsiteY86" fmla="*/ 2716305 h 4134970"/>
              <a:gd name="connsiteX87" fmla="*/ 2030506 w 5183841"/>
              <a:gd name="connsiteY87" fmla="*/ 2675964 h 4134970"/>
              <a:gd name="connsiteX88" fmla="*/ 2023782 w 5183841"/>
              <a:gd name="connsiteY88" fmla="*/ 2575111 h 4134970"/>
              <a:gd name="connsiteX89" fmla="*/ 2010335 w 5183841"/>
              <a:gd name="connsiteY89" fmla="*/ 2548217 h 4134970"/>
              <a:gd name="connsiteX90" fmla="*/ 1990164 w 5183841"/>
              <a:gd name="connsiteY90" fmla="*/ 2514600 h 4134970"/>
              <a:gd name="connsiteX91" fmla="*/ 1956547 w 5183841"/>
              <a:gd name="connsiteY91" fmla="*/ 2467535 h 4134970"/>
              <a:gd name="connsiteX92" fmla="*/ 1929653 w 5183841"/>
              <a:gd name="connsiteY92" fmla="*/ 2440641 h 4134970"/>
              <a:gd name="connsiteX93" fmla="*/ 1916206 w 5183841"/>
              <a:gd name="connsiteY93" fmla="*/ 2420470 h 4134970"/>
              <a:gd name="connsiteX94" fmla="*/ 1896035 w 5183841"/>
              <a:gd name="connsiteY94" fmla="*/ 2393576 h 4134970"/>
              <a:gd name="connsiteX95" fmla="*/ 1875864 w 5183841"/>
              <a:gd name="connsiteY95" fmla="*/ 2373405 h 4134970"/>
              <a:gd name="connsiteX96" fmla="*/ 1855694 w 5183841"/>
              <a:gd name="connsiteY96" fmla="*/ 2346511 h 4134970"/>
              <a:gd name="connsiteX97" fmla="*/ 1842247 w 5183841"/>
              <a:gd name="connsiteY97" fmla="*/ 2326341 h 4134970"/>
              <a:gd name="connsiteX98" fmla="*/ 1801906 w 5183841"/>
              <a:gd name="connsiteY98" fmla="*/ 2286000 h 4134970"/>
              <a:gd name="connsiteX99" fmla="*/ 1795182 w 5183841"/>
              <a:gd name="connsiteY99" fmla="*/ 2265829 h 4134970"/>
              <a:gd name="connsiteX100" fmla="*/ 1754841 w 5183841"/>
              <a:gd name="connsiteY100" fmla="*/ 2232211 h 4134970"/>
              <a:gd name="connsiteX101" fmla="*/ 1741394 w 5183841"/>
              <a:gd name="connsiteY101" fmla="*/ 2212041 h 4134970"/>
              <a:gd name="connsiteX102" fmla="*/ 1721223 w 5183841"/>
              <a:gd name="connsiteY102" fmla="*/ 2198594 h 4134970"/>
              <a:gd name="connsiteX103" fmla="*/ 1701053 w 5183841"/>
              <a:gd name="connsiteY103" fmla="*/ 2164976 h 4134970"/>
              <a:gd name="connsiteX104" fmla="*/ 1680882 w 5183841"/>
              <a:gd name="connsiteY104" fmla="*/ 2144805 h 4134970"/>
              <a:gd name="connsiteX105" fmla="*/ 1667435 w 5183841"/>
              <a:gd name="connsiteY105" fmla="*/ 2124635 h 4134970"/>
              <a:gd name="connsiteX106" fmla="*/ 1647264 w 5183841"/>
              <a:gd name="connsiteY106" fmla="*/ 2104464 h 4134970"/>
              <a:gd name="connsiteX107" fmla="*/ 1633817 w 5183841"/>
              <a:gd name="connsiteY107" fmla="*/ 2084294 h 4134970"/>
              <a:gd name="connsiteX108" fmla="*/ 1586753 w 5183841"/>
              <a:gd name="connsiteY108" fmla="*/ 2023782 h 4134970"/>
              <a:gd name="connsiteX109" fmla="*/ 1573306 w 5183841"/>
              <a:gd name="connsiteY109" fmla="*/ 1983441 h 4134970"/>
              <a:gd name="connsiteX110" fmla="*/ 1559859 w 5183841"/>
              <a:gd name="connsiteY110" fmla="*/ 1909482 h 4134970"/>
              <a:gd name="connsiteX111" fmla="*/ 1566582 w 5183841"/>
              <a:gd name="connsiteY111" fmla="*/ 1801905 h 4134970"/>
              <a:gd name="connsiteX112" fmla="*/ 1600200 w 5183841"/>
              <a:gd name="connsiteY112" fmla="*/ 1768288 h 4134970"/>
              <a:gd name="connsiteX113" fmla="*/ 1620370 w 5183841"/>
              <a:gd name="connsiteY113" fmla="*/ 1748117 h 4134970"/>
              <a:gd name="connsiteX114" fmla="*/ 1660712 w 5183841"/>
              <a:gd name="connsiteY114" fmla="*/ 1727947 h 4134970"/>
              <a:gd name="connsiteX115" fmla="*/ 1701053 w 5183841"/>
              <a:gd name="connsiteY115" fmla="*/ 1701053 h 4134970"/>
              <a:gd name="connsiteX116" fmla="*/ 1721223 w 5183841"/>
              <a:gd name="connsiteY116" fmla="*/ 1694329 h 4134970"/>
              <a:gd name="connsiteX117" fmla="*/ 1741394 w 5183841"/>
              <a:gd name="connsiteY117" fmla="*/ 1680882 h 4134970"/>
              <a:gd name="connsiteX118" fmla="*/ 1781735 w 5183841"/>
              <a:gd name="connsiteY118" fmla="*/ 1667435 h 4134970"/>
              <a:gd name="connsiteX119" fmla="*/ 1842247 w 5183841"/>
              <a:gd name="connsiteY119" fmla="*/ 1653988 h 4134970"/>
              <a:gd name="connsiteX120" fmla="*/ 1869141 w 5183841"/>
              <a:gd name="connsiteY120" fmla="*/ 1640541 h 4134970"/>
              <a:gd name="connsiteX121" fmla="*/ 1969994 w 5183841"/>
              <a:gd name="connsiteY121" fmla="*/ 1627094 h 4134970"/>
              <a:gd name="connsiteX122" fmla="*/ 2117912 w 5183841"/>
              <a:gd name="connsiteY122" fmla="*/ 1633817 h 4134970"/>
              <a:gd name="connsiteX123" fmla="*/ 2151529 w 5183841"/>
              <a:gd name="connsiteY123" fmla="*/ 1687605 h 4134970"/>
              <a:gd name="connsiteX124" fmla="*/ 2158253 w 5183841"/>
              <a:gd name="connsiteY124" fmla="*/ 1707776 h 4134970"/>
              <a:gd name="connsiteX125" fmla="*/ 2138082 w 5183841"/>
              <a:gd name="connsiteY125" fmla="*/ 1808629 h 4134970"/>
              <a:gd name="connsiteX126" fmla="*/ 2111188 w 5183841"/>
              <a:gd name="connsiteY126" fmla="*/ 1848970 h 4134970"/>
              <a:gd name="connsiteX127" fmla="*/ 2091017 w 5183841"/>
              <a:gd name="connsiteY127" fmla="*/ 1862417 h 4134970"/>
              <a:gd name="connsiteX128" fmla="*/ 2057400 w 5183841"/>
              <a:gd name="connsiteY128" fmla="*/ 1896035 h 4134970"/>
              <a:gd name="connsiteX129" fmla="*/ 2043953 w 5183841"/>
              <a:gd name="connsiteY129" fmla="*/ 1916205 h 4134970"/>
              <a:gd name="connsiteX130" fmla="*/ 2003612 w 5183841"/>
              <a:gd name="connsiteY130" fmla="*/ 1969994 h 4134970"/>
              <a:gd name="connsiteX131" fmla="*/ 1990164 w 5183841"/>
              <a:gd name="connsiteY131" fmla="*/ 2010335 h 4134970"/>
              <a:gd name="connsiteX132" fmla="*/ 1996888 w 5183841"/>
              <a:gd name="connsiteY132" fmla="*/ 2131358 h 4134970"/>
              <a:gd name="connsiteX133" fmla="*/ 2017059 w 5183841"/>
              <a:gd name="connsiteY133" fmla="*/ 2151529 h 4134970"/>
              <a:gd name="connsiteX134" fmla="*/ 2037229 w 5183841"/>
              <a:gd name="connsiteY134" fmla="*/ 2164976 h 4134970"/>
              <a:gd name="connsiteX135" fmla="*/ 2070847 w 5183841"/>
              <a:gd name="connsiteY135" fmla="*/ 2171700 h 4134970"/>
              <a:gd name="connsiteX136" fmla="*/ 2097741 w 5183841"/>
              <a:gd name="connsiteY136" fmla="*/ 2178423 h 4134970"/>
              <a:gd name="connsiteX137" fmla="*/ 2151529 w 5183841"/>
              <a:gd name="connsiteY137" fmla="*/ 2171700 h 4134970"/>
              <a:gd name="connsiteX138" fmla="*/ 2171700 w 5183841"/>
              <a:gd name="connsiteY138" fmla="*/ 2164976 h 4134970"/>
              <a:gd name="connsiteX139" fmla="*/ 2225488 w 5183841"/>
              <a:gd name="connsiteY139" fmla="*/ 2158253 h 4134970"/>
              <a:gd name="connsiteX140" fmla="*/ 2265829 w 5183841"/>
              <a:gd name="connsiteY140" fmla="*/ 2144805 h 4134970"/>
              <a:gd name="connsiteX141" fmla="*/ 2279276 w 5183841"/>
              <a:gd name="connsiteY141" fmla="*/ 2124635 h 4134970"/>
              <a:gd name="connsiteX142" fmla="*/ 2319617 w 5183841"/>
              <a:gd name="connsiteY142" fmla="*/ 2104464 h 4134970"/>
              <a:gd name="connsiteX143" fmla="*/ 2359959 w 5183841"/>
              <a:gd name="connsiteY143" fmla="*/ 2084294 h 4134970"/>
              <a:gd name="connsiteX144" fmla="*/ 2420470 w 5183841"/>
              <a:gd name="connsiteY144" fmla="*/ 2091017 h 4134970"/>
              <a:gd name="connsiteX145" fmla="*/ 2460812 w 5183841"/>
              <a:gd name="connsiteY145" fmla="*/ 2117911 h 4134970"/>
              <a:gd name="connsiteX146" fmla="*/ 2480982 w 5183841"/>
              <a:gd name="connsiteY146" fmla="*/ 2191870 h 4134970"/>
              <a:gd name="connsiteX147" fmla="*/ 2480982 w 5183841"/>
              <a:gd name="connsiteY147" fmla="*/ 2333064 h 4134970"/>
              <a:gd name="connsiteX148" fmla="*/ 2487706 w 5183841"/>
              <a:gd name="connsiteY148" fmla="*/ 2353235 h 4134970"/>
              <a:gd name="connsiteX149" fmla="*/ 2514600 w 5183841"/>
              <a:gd name="connsiteY149" fmla="*/ 2386853 h 4134970"/>
              <a:gd name="connsiteX150" fmla="*/ 2541494 w 5183841"/>
              <a:gd name="connsiteY150" fmla="*/ 2393576 h 4134970"/>
              <a:gd name="connsiteX151" fmla="*/ 2561664 w 5183841"/>
              <a:gd name="connsiteY151" fmla="*/ 2400300 h 4134970"/>
              <a:gd name="connsiteX152" fmla="*/ 2615453 w 5183841"/>
              <a:gd name="connsiteY152" fmla="*/ 2393576 h 4134970"/>
              <a:gd name="connsiteX153" fmla="*/ 2662517 w 5183841"/>
              <a:gd name="connsiteY153" fmla="*/ 2366682 h 4134970"/>
              <a:gd name="connsiteX154" fmla="*/ 2675964 w 5183841"/>
              <a:gd name="connsiteY154" fmla="*/ 2346511 h 4134970"/>
              <a:gd name="connsiteX155" fmla="*/ 2689412 w 5183841"/>
              <a:gd name="connsiteY155" fmla="*/ 2306170 h 4134970"/>
              <a:gd name="connsiteX156" fmla="*/ 2682688 w 5183841"/>
              <a:gd name="connsiteY156" fmla="*/ 2212041 h 4134970"/>
              <a:gd name="connsiteX157" fmla="*/ 2669241 w 5183841"/>
              <a:gd name="connsiteY157" fmla="*/ 2171700 h 4134970"/>
              <a:gd name="connsiteX158" fmla="*/ 2662517 w 5183841"/>
              <a:gd name="connsiteY158" fmla="*/ 2151529 h 4134970"/>
              <a:gd name="connsiteX159" fmla="*/ 2642347 w 5183841"/>
              <a:gd name="connsiteY159" fmla="*/ 2131358 h 4134970"/>
              <a:gd name="connsiteX160" fmla="*/ 2628900 w 5183841"/>
              <a:gd name="connsiteY160" fmla="*/ 2111188 h 4134970"/>
              <a:gd name="connsiteX161" fmla="*/ 2608729 w 5183841"/>
              <a:gd name="connsiteY161" fmla="*/ 2084294 h 4134970"/>
              <a:gd name="connsiteX162" fmla="*/ 2595282 w 5183841"/>
              <a:gd name="connsiteY162" fmla="*/ 2064123 h 4134970"/>
              <a:gd name="connsiteX163" fmla="*/ 2561664 w 5183841"/>
              <a:gd name="connsiteY163" fmla="*/ 2030505 h 4134970"/>
              <a:gd name="connsiteX164" fmla="*/ 2528047 w 5183841"/>
              <a:gd name="connsiteY164" fmla="*/ 1990164 h 4134970"/>
              <a:gd name="connsiteX165" fmla="*/ 2494429 w 5183841"/>
              <a:gd name="connsiteY165" fmla="*/ 1956547 h 4134970"/>
              <a:gd name="connsiteX166" fmla="*/ 2474259 w 5183841"/>
              <a:gd name="connsiteY166" fmla="*/ 1916205 h 4134970"/>
              <a:gd name="connsiteX167" fmla="*/ 2454088 w 5183841"/>
              <a:gd name="connsiteY167" fmla="*/ 1875864 h 4134970"/>
              <a:gd name="connsiteX168" fmla="*/ 2454088 w 5183841"/>
              <a:gd name="connsiteY168" fmla="*/ 1754841 h 4134970"/>
              <a:gd name="connsiteX169" fmla="*/ 2474259 w 5183841"/>
              <a:gd name="connsiteY169" fmla="*/ 1734670 h 4134970"/>
              <a:gd name="connsiteX170" fmla="*/ 2507876 w 5183841"/>
              <a:gd name="connsiteY170" fmla="*/ 1701053 h 4134970"/>
              <a:gd name="connsiteX171" fmla="*/ 2575112 w 5183841"/>
              <a:gd name="connsiteY171" fmla="*/ 1680882 h 4134970"/>
              <a:gd name="connsiteX172" fmla="*/ 2642347 w 5183841"/>
              <a:gd name="connsiteY172" fmla="*/ 1667435 h 4134970"/>
              <a:gd name="connsiteX173" fmla="*/ 2749923 w 5183841"/>
              <a:gd name="connsiteY173" fmla="*/ 1694329 h 4134970"/>
              <a:gd name="connsiteX174" fmla="*/ 2770094 w 5183841"/>
              <a:gd name="connsiteY174" fmla="*/ 1701053 h 4134970"/>
              <a:gd name="connsiteX175" fmla="*/ 2817159 w 5183841"/>
              <a:gd name="connsiteY175" fmla="*/ 1721223 h 4134970"/>
              <a:gd name="connsiteX176" fmla="*/ 2850776 w 5183841"/>
              <a:gd name="connsiteY176" fmla="*/ 1727947 h 4134970"/>
              <a:gd name="connsiteX177" fmla="*/ 2877670 w 5183841"/>
              <a:gd name="connsiteY177" fmla="*/ 1734670 h 4134970"/>
              <a:gd name="connsiteX178" fmla="*/ 2931459 w 5183841"/>
              <a:gd name="connsiteY178" fmla="*/ 1741394 h 4134970"/>
              <a:gd name="connsiteX179" fmla="*/ 2951629 w 5183841"/>
              <a:gd name="connsiteY179" fmla="*/ 1748117 h 4134970"/>
              <a:gd name="connsiteX180" fmla="*/ 2998694 w 5183841"/>
              <a:gd name="connsiteY180" fmla="*/ 1801905 h 4134970"/>
              <a:gd name="connsiteX181" fmla="*/ 3012141 w 5183841"/>
              <a:gd name="connsiteY181" fmla="*/ 1822076 h 4134970"/>
              <a:gd name="connsiteX182" fmla="*/ 2991970 w 5183841"/>
              <a:gd name="connsiteY182" fmla="*/ 1896035 h 4134970"/>
              <a:gd name="connsiteX183" fmla="*/ 2978523 w 5183841"/>
              <a:gd name="connsiteY183" fmla="*/ 1916205 h 4134970"/>
              <a:gd name="connsiteX184" fmla="*/ 2951629 w 5183841"/>
              <a:gd name="connsiteY184" fmla="*/ 1949823 h 4134970"/>
              <a:gd name="connsiteX185" fmla="*/ 2938182 w 5183841"/>
              <a:gd name="connsiteY185" fmla="*/ 1976717 h 4134970"/>
              <a:gd name="connsiteX186" fmla="*/ 2931459 w 5183841"/>
              <a:gd name="connsiteY186" fmla="*/ 1996888 h 4134970"/>
              <a:gd name="connsiteX187" fmla="*/ 2918012 w 5183841"/>
              <a:gd name="connsiteY187" fmla="*/ 2017058 h 4134970"/>
              <a:gd name="connsiteX188" fmla="*/ 2911288 w 5183841"/>
              <a:gd name="connsiteY188" fmla="*/ 2043953 h 4134970"/>
              <a:gd name="connsiteX189" fmla="*/ 2904564 w 5183841"/>
              <a:gd name="connsiteY189" fmla="*/ 2064123 h 4134970"/>
              <a:gd name="connsiteX190" fmla="*/ 2911288 w 5183841"/>
              <a:gd name="connsiteY190" fmla="*/ 2131358 h 4134970"/>
              <a:gd name="connsiteX191" fmla="*/ 2918012 w 5183841"/>
              <a:gd name="connsiteY191" fmla="*/ 2151529 h 4134970"/>
              <a:gd name="connsiteX192" fmla="*/ 2958353 w 5183841"/>
              <a:gd name="connsiteY192" fmla="*/ 2171700 h 4134970"/>
              <a:gd name="connsiteX193" fmla="*/ 2998694 w 5183841"/>
              <a:gd name="connsiteY193" fmla="*/ 2158253 h 4134970"/>
              <a:gd name="connsiteX194" fmla="*/ 3032312 w 5183841"/>
              <a:gd name="connsiteY194" fmla="*/ 2131358 h 4134970"/>
              <a:gd name="connsiteX195" fmla="*/ 3059206 w 5183841"/>
              <a:gd name="connsiteY195" fmla="*/ 2097741 h 4134970"/>
              <a:gd name="connsiteX196" fmla="*/ 3099547 w 5183841"/>
              <a:gd name="connsiteY196" fmla="*/ 2064123 h 4134970"/>
              <a:gd name="connsiteX197" fmla="*/ 3139888 w 5183841"/>
              <a:gd name="connsiteY197" fmla="*/ 2050676 h 4134970"/>
              <a:gd name="connsiteX198" fmla="*/ 3180229 w 5183841"/>
              <a:gd name="connsiteY198" fmla="*/ 2057400 h 4134970"/>
              <a:gd name="connsiteX199" fmla="*/ 3220570 w 5183841"/>
              <a:gd name="connsiteY199" fmla="*/ 2084294 h 4134970"/>
              <a:gd name="connsiteX200" fmla="*/ 3254188 w 5183841"/>
              <a:gd name="connsiteY200" fmla="*/ 2124635 h 4134970"/>
              <a:gd name="connsiteX201" fmla="*/ 3267635 w 5183841"/>
              <a:gd name="connsiteY201" fmla="*/ 2144805 h 4134970"/>
              <a:gd name="connsiteX202" fmla="*/ 3281082 w 5183841"/>
              <a:gd name="connsiteY202" fmla="*/ 2158253 h 4134970"/>
              <a:gd name="connsiteX203" fmla="*/ 3307976 w 5183841"/>
              <a:gd name="connsiteY203" fmla="*/ 2198594 h 4134970"/>
              <a:gd name="connsiteX204" fmla="*/ 3321423 w 5183841"/>
              <a:gd name="connsiteY204" fmla="*/ 2218764 h 4134970"/>
              <a:gd name="connsiteX205" fmla="*/ 3341594 w 5183841"/>
              <a:gd name="connsiteY205" fmla="*/ 2232211 h 4134970"/>
              <a:gd name="connsiteX206" fmla="*/ 3355041 w 5183841"/>
              <a:gd name="connsiteY206" fmla="*/ 2252382 h 4134970"/>
              <a:gd name="connsiteX207" fmla="*/ 3388659 w 5183841"/>
              <a:gd name="connsiteY207" fmla="*/ 2292723 h 4134970"/>
              <a:gd name="connsiteX208" fmla="*/ 3415553 w 5183841"/>
              <a:gd name="connsiteY208" fmla="*/ 2333064 h 4134970"/>
              <a:gd name="connsiteX209" fmla="*/ 3429000 w 5183841"/>
              <a:gd name="connsiteY209" fmla="*/ 2353235 h 4134970"/>
              <a:gd name="connsiteX210" fmla="*/ 3449170 w 5183841"/>
              <a:gd name="connsiteY210" fmla="*/ 2359958 h 4134970"/>
              <a:gd name="connsiteX211" fmla="*/ 3462617 w 5183841"/>
              <a:gd name="connsiteY211" fmla="*/ 2380129 h 4134970"/>
              <a:gd name="connsiteX212" fmla="*/ 3482788 w 5183841"/>
              <a:gd name="connsiteY212" fmla="*/ 2386853 h 4134970"/>
              <a:gd name="connsiteX213" fmla="*/ 3523129 w 5183841"/>
              <a:gd name="connsiteY213" fmla="*/ 2413747 h 4134970"/>
              <a:gd name="connsiteX214" fmla="*/ 3583641 w 5183841"/>
              <a:gd name="connsiteY214" fmla="*/ 2460811 h 4134970"/>
              <a:gd name="connsiteX215" fmla="*/ 3603812 w 5183841"/>
              <a:gd name="connsiteY215" fmla="*/ 2474258 h 4134970"/>
              <a:gd name="connsiteX216" fmla="*/ 3623982 w 5183841"/>
              <a:gd name="connsiteY216" fmla="*/ 2487705 h 4134970"/>
              <a:gd name="connsiteX217" fmla="*/ 3664323 w 5183841"/>
              <a:gd name="connsiteY217" fmla="*/ 2501153 h 4134970"/>
              <a:gd name="connsiteX218" fmla="*/ 3691217 w 5183841"/>
              <a:gd name="connsiteY218" fmla="*/ 2514600 h 4134970"/>
              <a:gd name="connsiteX219" fmla="*/ 3745006 w 5183841"/>
              <a:gd name="connsiteY219" fmla="*/ 2528047 h 4134970"/>
              <a:gd name="connsiteX220" fmla="*/ 3771900 w 5183841"/>
              <a:gd name="connsiteY220" fmla="*/ 2534770 h 4134970"/>
              <a:gd name="connsiteX221" fmla="*/ 3839135 w 5183841"/>
              <a:gd name="connsiteY221" fmla="*/ 2554941 h 4134970"/>
              <a:gd name="connsiteX222" fmla="*/ 3906370 w 5183841"/>
              <a:gd name="connsiteY222" fmla="*/ 2561664 h 4134970"/>
              <a:gd name="connsiteX223" fmla="*/ 3946712 w 5183841"/>
              <a:gd name="connsiteY223" fmla="*/ 2581835 h 4134970"/>
              <a:gd name="connsiteX224" fmla="*/ 3953435 w 5183841"/>
              <a:gd name="connsiteY224" fmla="*/ 2602005 h 4134970"/>
              <a:gd name="connsiteX225" fmla="*/ 3966882 w 5183841"/>
              <a:gd name="connsiteY225" fmla="*/ 2615453 h 4134970"/>
              <a:gd name="connsiteX226" fmla="*/ 3993776 w 5183841"/>
              <a:gd name="connsiteY226" fmla="*/ 2662517 h 4134970"/>
              <a:gd name="connsiteX227" fmla="*/ 4013947 w 5183841"/>
              <a:gd name="connsiteY227" fmla="*/ 2682688 h 4134970"/>
              <a:gd name="connsiteX228" fmla="*/ 4034117 w 5183841"/>
              <a:gd name="connsiteY228" fmla="*/ 2723029 h 4134970"/>
              <a:gd name="connsiteX229" fmla="*/ 4040841 w 5183841"/>
              <a:gd name="connsiteY229" fmla="*/ 2743200 h 4134970"/>
              <a:gd name="connsiteX230" fmla="*/ 4061012 w 5183841"/>
              <a:gd name="connsiteY230" fmla="*/ 2756647 h 4134970"/>
              <a:gd name="connsiteX231" fmla="*/ 4074459 w 5183841"/>
              <a:gd name="connsiteY231" fmla="*/ 2796988 h 4134970"/>
              <a:gd name="connsiteX232" fmla="*/ 4081182 w 5183841"/>
              <a:gd name="connsiteY232" fmla="*/ 2817158 h 4134970"/>
              <a:gd name="connsiteX233" fmla="*/ 4087906 w 5183841"/>
              <a:gd name="connsiteY233" fmla="*/ 2844053 h 4134970"/>
              <a:gd name="connsiteX234" fmla="*/ 4114800 w 5183841"/>
              <a:gd name="connsiteY234" fmla="*/ 2891117 h 4134970"/>
              <a:gd name="connsiteX235" fmla="*/ 4128247 w 5183841"/>
              <a:gd name="connsiteY235" fmla="*/ 2931458 h 4134970"/>
              <a:gd name="connsiteX236" fmla="*/ 4148417 w 5183841"/>
              <a:gd name="connsiteY236" fmla="*/ 2944905 h 4134970"/>
              <a:gd name="connsiteX237" fmla="*/ 4175312 w 5183841"/>
              <a:gd name="connsiteY237" fmla="*/ 2971800 h 4134970"/>
              <a:gd name="connsiteX238" fmla="*/ 4235823 w 5183841"/>
              <a:gd name="connsiteY238" fmla="*/ 2985247 h 4134970"/>
              <a:gd name="connsiteX239" fmla="*/ 4289612 w 5183841"/>
              <a:gd name="connsiteY239" fmla="*/ 2965076 h 4134970"/>
              <a:gd name="connsiteX240" fmla="*/ 4309782 w 5183841"/>
              <a:gd name="connsiteY240" fmla="*/ 2897841 h 4134970"/>
              <a:gd name="connsiteX241" fmla="*/ 4303059 w 5183841"/>
              <a:gd name="connsiteY241" fmla="*/ 2850776 h 4134970"/>
              <a:gd name="connsiteX242" fmla="*/ 4282888 w 5183841"/>
              <a:gd name="connsiteY242" fmla="*/ 2790264 h 4134970"/>
              <a:gd name="connsiteX243" fmla="*/ 4262717 w 5183841"/>
              <a:gd name="connsiteY243" fmla="*/ 2776817 h 4134970"/>
              <a:gd name="connsiteX244" fmla="*/ 4249270 w 5183841"/>
              <a:gd name="connsiteY244" fmla="*/ 2756647 h 4134970"/>
              <a:gd name="connsiteX245" fmla="*/ 4208929 w 5183841"/>
              <a:gd name="connsiteY245" fmla="*/ 2729753 h 4134970"/>
              <a:gd name="connsiteX246" fmla="*/ 4188759 w 5183841"/>
              <a:gd name="connsiteY246" fmla="*/ 2716305 h 4134970"/>
              <a:gd name="connsiteX247" fmla="*/ 4161864 w 5183841"/>
              <a:gd name="connsiteY247" fmla="*/ 2689411 h 4134970"/>
              <a:gd name="connsiteX248" fmla="*/ 4155141 w 5183841"/>
              <a:gd name="connsiteY248" fmla="*/ 2669241 h 4134970"/>
              <a:gd name="connsiteX249" fmla="*/ 4188759 w 5183841"/>
              <a:gd name="connsiteY249" fmla="*/ 2595282 h 4134970"/>
              <a:gd name="connsiteX250" fmla="*/ 4202206 w 5183841"/>
              <a:gd name="connsiteY250" fmla="*/ 2575111 h 4134970"/>
              <a:gd name="connsiteX251" fmla="*/ 4229100 w 5183841"/>
              <a:gd name="connsiteY251" fmla="*/ 2561664 h 4134970"/>
              <a:gd name="connsiteX252" fmla="*/ 4249270 w 5183841"/>
              <a:gd name="connsiteY252" fmla="*/ 2548217 h 4134970"/>
              <a:gd name="connsiteX253" fmla="*/ 4329953 w 5183841"/>
              <a:gd name="connsiteY253" fmla="*/ 2528047 h 4134970"/>
              <a:gd name="connsiteX254" fmla="*/ 4383741 w 5183841"/>
              <a:gd name="connsiteY254" fmla="*/ 2514600 h 4134970"/>
              <a:gd name="connsiteX255" fmla="*/ 4430806 w 5183841"/>
              <a:gd name="connsiteY255" fmla="*/ 2507876 h 4134970"/>
              <a:gd name="connsiteX256" fmla="*/ 4477870 w 5183841"/>
              <a:gd name="connsiteY256" fmla="*/ 2494429 h 4134970"/>
              <a:gd name="connsiteX257" fmla="*/ 4531659 w 5183841"/>
              <a:gd name="connsiteY257" fmla="*/ 2480982 h 4134970"/>
              <a:gd name="connsiteX258" fmla="*/ 4585447 w 5183841"/>
              <a:gd name="connsiteY258" fmla="*/ 2454088 h 4134970"/>
              <a:gd name="connsiteX259" fmla="*/ 4612341 w 5183841"/>
              <a:gd name="connsiteY259" fmla="*/ 2447364 h 4134970"/>
              <a:gd name="connsiteX260" fmla="*/ 4659406 w 5183841"/>
              <a:gd name="connsiteY260" fmla="*/ 2420470 h 4134970"/>
              <a:gd name="connsiteX261" fmla="*/ 4693023 w 5183841"/>
              <a:gd name="connsiteY261" fmla="*/ 2373405 h 4134970"/>
              <a:gd name="connsiteX262" fmla="*/ 4713194 w 5183841"/>
              <a:gd name="connsiteY262" fmla="*/ 2299447 h 4134970"/>
              <a:gd name="connsiteX263" fmla="*/ 4719917 w 5183841"/>
              <a:gd name="connsiteY263" fmla="*/ 2272553 h 4134970"/>
              <a:gd name="connsiteX264" fmla="*/ 4726641 w 5183841"/>
              <a:gd name="connsiteY264" fmla="*/ 2252382 h 4134970"/>
              <a:gd name="connsiteX265" fmla="*/ 4733364 w 5183841"/>
              <a:gd name="connsiteY265" fmla="*/ 2218764 h 4134970"/>
              <a:gd name="connsiteX266" fmla="*/ 4713194 w 5183841"/>
              <a:gd name="connsiteY266" fmla="*/ 2124635 h 4134970"/>
              <a:gd name="connsiteX267" fmla="*/ 4706470 w 5183841"/>
              <a:gd name="connsiteY267" fmla="*/ 2104464 h 4134970"/>
              <a:gd name="connsiteX268" fmla="*/ 4693023 w 5183841"/>
              <a:gd name="connsiteY268" fmla="*/ 2084294 h 4134970"/>
              <a:gd name="connsiteX269" fmla="*/ 4652682 w 5183841"/>
              <a:gd name="connsiteY269" fmla="*/ 2070847 h 4134970"/>
              <a:gd name="connsiteX270" fmla="*/ 4632512 w 5183841"/>
              <a:gd name="connsiteY270" fmla="*/ 2057400 h 4134970"/>
              <a:gd name="connsiteX271" fmla="*/ 4558553 w 5183841"/>
              <a:gd name="connsiteY271" fmla="*/ 2077570 h 4134970"/>
              <a:gd name="connsiteX272" fmla="*/ 4531659 w 5183841"/>
              <a:gd name="connsiteY272" fmla="*/ 2138082 h 4134970"/>
              <a:gd name="connsiteX273" fmla="*/ 4524935 w 5183841"/>
              <a:gd name="connsiteY273" fmla="*/ 2158253 h 4134970"/>
              <a:gd name="connsiteX274" fmla="*/ 4511488 w 5183841"/>
              <a:gd name="connsiteY274" fmla="*/ 2178423 h 4134970"/>
              <a:gd name="connsiteX275" fmla="*/ 4491317 w 5183841"/>
              <a:gd name="connsiteY275" fmla="*/ 2238935 h 4134970"/>
              <a:gd name="connsiteX276" fmla="*/ 4477870 w 5183841"/>
              <a:gd name="connsiteY276" fmla="*/ 2272553 h 4134970"/>
              <a:gd name="connsiteX277" fmla="*/ 4464423 w 5183841"/>
              <a:gd name="connsiteY277" fmla="*/ 2312894 h 4134970"/>
              <a:gd name="connsiteX278" fmla="*/ 4437529 w 5183841"/>
              <a:gd name="connsiteY278" fmla="*/ 2353235 h 4134970"/>
              <a:gd name="connsiteX279" fmla="*/ 4377017 w 5183841"/>
              <a:gd name="connsiteY279" fmla="*/ 2400300 h 4134970"/>
              <a:gd name="connsiteX280" fmla="*/ 4356847 w 5183841"/>
              <a:gd name="connsiteY280" fmla="*/ 2407023 h 4134970"/>
              <a:gd name="connsiteX281" fmla="*/ 4336676 w 5183841"/>
              <a:gd name="connsiteY281" fmla="*/ 2420470 h 4134970"/>
              <a:gd name="connsiteX282" fmla="*/ 4276164 w 5183841"/>
              <a:gd name="connsiteY282" fmla="*/ 2433917 h 4134970"/>
              <a:gd name="connsiteX283" fmla="*/ 4242547 w 5183841"/>
              <a:gd name="connsiteY283" fmla="*/ 2440641 h 4134970"/>
              <a:gd name="connsiteX284" fmla="*/ 4161864 w 5183841"/>
              <a:gd name="connsiteY284" fmla="*/ 2420470 h 4134970"/>
              <a:gd name="connsiteX285" fmla="*/ 4148417 w 5183841"/>
              <a:gd name="connsiteY285" fmla="*/ 2380129 h 4134970"/>
              <a:gd name="connsiteX286" fmla="*/ 4175312 w 5183841"/>
              <a:gd name="connsiteY286" fmla="*/ 2319617 h 4134970"/>
              <a:gd name="connsiteX287" fmla="*/ 4195482 w 5183841"/>
              <a:gd name="connsiteY287" fmla="*/ 2279276 h 4134970"/>
              <a:gd name="connsiteX288" fmla="*/ 4215653 w 5183841"/>
              <a:gd name="connsiteY288" fmla="*/ 2265829 h 4134970"/>
              <a:gd name="connsiteX289" fmla="*/ 4249270 w 5183841"/>
              <a:gd name="connsiteY289" fmla="*/ 2225488 h 4134970"/>
              <a:gd name="connsiteX290" fmla="*/ 4262717 w 5183841"/>
              <a:gd name="connsiteY290" fmla="*/ 2205317 h 4134970"/>
              <a:gd name="connsiteX291" fmla="*/ 4255994 w 5183841"/>
              <a:gd name="connsiteY291" fmla="*/ 2178423 h 4134970"/>
              <a:gd name="connsiteX292" fmla="*/ 4235823 w 5183841"/>
              <a:gd name="connsiteY292" fmla="*/ 2171700 h 4134970"/>
              <a:gd name="connsiteX293" fmla="*/ 4175312 w 5183841"/>
              <a:gd name="connsiteY293" fmla="*/ 2178423 h 4134970"/>
              <a:gd name="connsiteX294" fmla="*/ 4128247 w 5183841"/>
              <a:gd name="connsiteY294" fmla="*/ 2164976 h 4134970"/>
              <a:gd name="connsiteX295" fmla="*/ 4121523 w 5183841"/>
              <a:gd name="connsiteY295" fmla="*/ 2144805 h 4134970"/>
              <a:gd name="connsiteX296" fmla="*/ 4141694 w 5183841"/>
              <a:gd name="connsiteY296" fmla="*/ 2104464 h 4134970"/>
              <a:gd name="connsiteX297" fmla="*/ 4161864 w 5183841"/>
              <a:gd name="connsiteY297" fmla="*/ 2097741 h 4134970"/>
              <a:gd name="connsiteX298" fmla="*/ 4215653 w 5183841"/>
              <a:gd name="connsiteY298" fmla="*/ 2091017 h 4134970"/>
              <a:gd name="connsiteX299" fmla="*/ 4255994 w 5183841"/>
              <a:gd name="connsiteY299" fmla="*/ 2084294 h 4134970"/>
              <a:gd name="connsiteX300" fmla="*/ 4289612 w 5183841"/>
              <a:gd name="connsiteY300" fmla="*/ 2064123 h 4134970"/>
              <a:gd name="connsiteX301" fmla="*/ 4309782 w 5183841"/>
              <a:gd name="connsiteY301" fmla="*/ 2057400 h 4134970"/>
              <a:gd name="connsiteX302" fmla="*/ 4336676 w 5183841"/>
              <a:gd name="connsiteY302" fmla="*/ 2023782 h 4134970"/>
              <a:gd name="connsiteX303" fmla="*/ 4363570 w 5183841"/>
              <a:gd name="connsiteY303" fmla="*/ 1983441 h 4134970"/>
              <a:gd name="connsiteX304" fmla="*/ 4370294 w 5183841"/>
              <a:gd name="connsiteY304" fmla="*/ 1956547 h 4134970"/>
              <a:gd name="connsiteX305" fmla="*/ 4390464 w 5183841"/>
              <a:gd name="connsiteY305" fmla="*/ 1943100 h 4134970"/>
              <a:gd name="connsiteX306" fmla="*/ 4403912 w 5183841"/>
              <a:gd name="connsiteY306" fmla="*/ 1929653 h 4134970"/>
              <a:gd name="connsiteX307" fmla="*/ 4410635 w 5183841"/>
              <a:gd name="connsiteY307" fmla="*/ 1909482 h 4134970"/>
              <a:gd name="connsiteX308" fmla="*/ 4437529 w 5183841"/>
              <a:gd name="connsiteY308" fmla="*/ 1869141 h 4134970"/>
              <a:gd name="connsiteX309" fmla="*/ 4450976 w 5183841"/>
              <a:gd name="connsiteY309" fmla="*/ 1828800 h 4134970"/>
              <a:gd name="connsiteX310" fmla="*/ 4457700 w 5183841"/>
              <a:gd name="connsiteY310" fmla="*/ 1801905 h 4134970"/>
              <a:gd name="connsiteX311" fmla="*/ 4484594 w 5183841"/>
              <a:gd name="connsiteY311" fmla="*/ 1754841 h 4134970"/>
              <a:gd name="connsiteX312" fmla="*/ 4498041 w 5183841"/>
              <a:gd name="connsiteY312" fmla="*/ 1667435 h 4134970"/>
              <a:gd name="connsiteX313" fmla="*/ 4504764 w 5183841"/>
              <a:gd name="connsiteY313" fmla="*/ 1627094 h 4134970"/>
              <a:gd name="connsiteX314" fmla="*/ 4511488 w 5183841"/>
              <a:gd name="connsiteY314" fmla="*/ 1546411 h 4134970"/>
              <a:gd name="connsiteX315" fmla="*/ 4531659 w 5183841"/>
              <a:gd name="connsiteY315" fmla="*/ 1418664 h 4134970"/>
              <a:gd name="connsiteX316" fmla="*/ 4538382 w 5183841"/>
              <a:gd name="connsiteY316" fmla="*/ 1391770 h 4134970"/>
              <a:gd name="connsiteX317" fmla="*/ 4565276 w 5183841"/>
              <a:gd name="connsiteY317" fmla="*/ 1364876 h 4134970"/>
              <a:gd name="connsiteX318" fmla="*/ 4598894 w 5183841"/>
              <a:gd name="connsiteY318" fmla="*/ 1317811 h 4134970"/>
              <a:gd name="connsiteX319" fmla="*/ 4605617 w 5183841"/>
              <a:gd name="connsiteY319" fmla="*/ 1290917 h 4134970"/>
              <a:gd name="connsiteX320" fmla="*/ 4625788 w 5183841"/>
              <a:gd name="connsiteY320" fmla="*/ 1243853 h 4134970"/>
              <a:gd name="connsiteX321" fmla="*/ 4639235 w 5183841"/>
              <a:gd name="connsiteY321" fmla="*/ 1176617 h 4134970"/>
              <a:gd name="connsiteX322" fmla="*/ 4625788 w 5183841"/>
              <a:gd name="connsiteY322" fmla="*/ 974911 h 4134970"/>
              <a:gd name="connsiteX323" fmla="*/ 4612341 w 5183841"/>
              <a:gd name="connsiteY323" fmla="*/ 934570 h 4134970"/>
              <a:gd name="connsiteX324" fmla="*/ 4605617 w 5183841"/>
              <a:gd name="connsiteY324" fmla="*/ 914400 h 4134970"/>
              <a:gd name="connsiteX325" fmla="*/ 4585447 w 5183841"/>
              <a:gd name="connsiteY325" fmla="*/ 894229 h 4134970"/>
              <a:gd name="connsiteX326" fmla="*/ 4572000 w 5183841"/>
              <a:gd name="connsiteY326" fmla="*/ 874058 h 4134970"/>
              <a:gd name="connsiteX327" fmla="*/ 4531659 w 5183841"/>
              <a:gd name="connsiteY327" fmla="*/ 847164 h 4134970"/>
              <a:gd name="connsiteX328" fmla="*/ 4511488 w 5183841"/>
              <a:gd name="connsiteY328" fmla="*/ 826994 h 4134970"/>
              <a:gd name="connsiteX329" fmla="*/ 4491317 w 5183841"/>
              <a:gd name="connsiteY329" fmla="*/ 820270 h 4134970"/>
              <a:gd name="connsiteX330" fmla="*/ 4450976 w 5183841"/>
              <a:gd name="connsiteY330" fmla="*/ 793376 h 4134970"/>
              <a:gd name="connsiteX331" fmla="*/ 4410635 w 5183841"/>
              <a:gd name="connsiteY331" fmla="*/ 779929 h 4134970"/>
              <a:gd name="connsiteX332" fmla="*/ 4350123 w 5183841"/>
              <a:gd name="connsiteY332" fmla="*/ 739588 h 4134970"/>
              <a:gd name="connsiteX333" fmla="*/ 4329953 w 5183841"/>
              <a:gd name="connsiteY333" fmla="*/ 726141 h 4134970"/>
              <a:gd name="connsiteX334" fmla="*/ 4309782 w 5183841"/>
              <a:gd name="connsiteY334" fmla="*/ 719417 h 4134970"/>
              <a:gd name="connsiteX335" fmla="*/ 4235823 w 5183841"/>
              <a:gd name="connsiteY335" fmla="*/ 672353 h 4134970"/>
              <a:gd name="connsiteX336" fmla="*/ 4195482 w 5183841"/>
              <a:gd name="connsiteY336" fmla="*/ 645458 h 4134970"/>
              <a:gd name="connsiteX337" fmla="*/ 4148417 w 5183841"/>
              <a:gd name="connsiteY337" fmla="*/ 632011 h 4134970"/>
              <a:gd name="connsiteX338" fmla="*/ 4121523 w 5183841"/>
              <a:gd name="connsiteY338" fmla="*/ 618564 h 4134970"/>
              <a:gd name="connsiteX339" fmla="*/ 4101353 w 5183841"/>
              <a:gd name="connsiteY339" fmla="*/ 611841 h 4134970"/>
              <a:gd name="connsiteX340" fmla="*/ 4074459 w 5183841"/>
              <a:gd name="connsiteY340" fmla="*/ 598394 h 4134970"/>
              <a:gd name="connsiteX341" fmla="*/ 4040841 w 5183841"/>
              <a:gd name="connsiteY341" fmla="*/ 591670 h 4134970"/>
              <a:gd name="connsiteX342" fmla="*/ 4000500 w 5183841"/>
              <a:gd name="connsiteY342" fmla="*/ 578223 h 4134970"/>
              <a:gd name="connsiteX343" fmla="*/ 3980329 w 5183841"/>
              <a:gd name="connsiteY343" fmla="*/ 571500 h 4134970"/>
              <a:gd name="connsiteX344" fmla="*/ 3913094 w 5183841"/>
              <a:gd name="connsiteY344" fmla="*/ 558053 h 4134970"/>
              <a:gd name="connsiteX345" fmla="*/ 3516406 w 5183841"/>
              <a:gd name="connsiteY345" fmla="*/ 564776 h 4134970"/>
              <a:gd name="connsiteX346" fmla="*/ 3200400 w 5183841"/>
              <a:gd name="connsiteY346" fmla="*/ 551329 h 4134970"/>
              <a:gd name="connsiteX347" fmla="*/ 3160059 w 5183841"/>
              <a:gd name="connsiteY347" fmla="*/ 537882 h 4134970"/>
              <a:gd name="connsiteX348" fmla="*/ 3106270 w 5183841"/>
              <a:gd name="connsiteY348" fmla="*/ 524435 h 4134970"/>
              <a:gd name="connsiteX349" fmla="*/ 3065929 w 5183841"/>
              <a:gd name="connsiteY349" fmla="*/ 510988 h 4134970"/>
              <a:gd name="connsiteX350" fmla="*/ 3045759 w 5183841"/>
              <a:gd name="connsiteY350" fmla="*/ 497541 h 4134970"/>
              <a:gd name="connsiteX351" fmla="*/ 3039035 w 5183841"/>
              <a:gd name="connsiteY351" fmla="*/ 470647 h 4134970"/>
              <a:gd name="connsiteX352" fmla="*/ 3025588 w 5183841"/>
              <a:gd name="connsiteY352" fmla="*/ 443753 h 4134970"/>
              <a:gd name="connsiteX353" fmla="*/ 3032312 w 5183841"/>
              <a:gd name="connsiteY353" fmla="*/ 336176 h 4134970"/>
              <a:gd name="connsiteX354" fmla="*/ 3039035 w 5183841"/>
              <a:gd name="connsiteY354" fmla="*/ 316005 h 4134970"/>
              <a:gd name="connsiteX355" fmla="*/ 3079376 w 5183841"/>
              <a:gd name="connsiteY355" fmla="*/ 289111 h 4134970"/>
              <a:gd name="connsiteX356" fmla="*/ 3119717 w 5183841"/>
              <a:gd name="connsiteY356" fmla="*/ 275664 h 4134970"/>
              <a:gd name="connsiteX357" fmla="*/ 3301253 w 5183841"/>
              <a:gd name="connsiteY357" fmla="*/ 289111 h 4134970"/>
              <a:gd name="connsiteX358" fmla="*/ 3348317 w 5183841"/>
              <a:gd name="connsiteY358" fmla="*/ 302558 h 4134970"/>
              <a:gd name="connsiteX359" fmla="*/ 3375212 w 5183841"/>
              <a:gd name="connsiteY359" fmla="*/ 309282 h 4134970"/>
              <a:gd name="connsiteX360" fmla="*/ 3402106 w 5183841"/>
              <a:gd name="connsiteY360" fmla="*/ 329453 h 4134970"/>
              <a:gd name="connsiteX361" fmla="*/ 3462617 w 5183841"/>
              <a:gd name="connsiteY361" fmla="*/ 349623 h 4134970"/>
              <a:gd name="connsiteX362" fmla="*/ 3482788 w 5183841"/>
              <a:gd name="connsiteY362" fmla="*/ 356347 h 4134970"/>
              <a:gd name="connsiteX363" fmla="*/ 3502959 w 5183841"/>
              <a:gd name="connsiteY363" fmla="*/ 369794 h 4134970"/>
              <a:gd name="connsiteX364" fmla="*/ 3550023 w 5183841"/>
              <a:gd name="connsiteY364" fmla="*/ 383241 h 4134970"/>
              <a:gd name="connsiteX365" fmla="*/ 3570194 w 5183841"/>
              <a:gd name="connsiteY365" fmla="*/ 389964 h 4134970"/>
              <a:gd name="connsiteX366" fmla="*/ 3590364 w 5183841"/>
              <a:gd name="connsiteY366" fmla="*/ 403411 h 4134970"/>
              <a:gd name="connsiteX367" fmla="*/ 3657600 w 5183841"/>
              <a:gd name="connsiteY367" fmla="*/ 416858 h 4134970"/>
              <a:gd name="connsiteX368" fmla="*/ 3711388 w 5183841"/>
              <a:gd name="connsiteY368" fmla="*/ 437029 h 4134970"/>
              <a:gd name="connsiteX369" fmla="*/ 3758453 w 5183841"/>
              <a:gd name="connsiteY369" fmla="*/ 450476 h 4134970"/>
              <a:gd name="connsiteX370" fmla="*/ 3785347 w 5183841"/>
              <a:gd name="connsiteY370" fmla="*/ 457200 h 4134970"/>
              <a:gd name="connsiteX371" fmla="*/ 3812241 w 5183841"/>
              <a:gd name="connsiteY371" fmla="*/ 470647 h 4134970"/>
              <a:gd name="connsiteX372" fmla="*/ 3866029 w 5183841"/>
              <a:gd name="connsiteY372" fmla="*/ 484094 h 4134970"/>
              <a:gd name="connsiteX373" fmla="*/ 3886200 w 5183841"/>
              <a:gd name="connsiteY373" fmla="*/ 490817 h 4134970"/>
              <a:gd name="connsiteX374" fmla="*/ 3919817 w 5183841"/>
              <a:gd name="connsiteY374" fmla="*/ 497541 h 4134970"/>
              <a:gd name="connsiteX375" fmla="*/ 3939988 w 5183841"/>
              <a:gd name="connsiteY375" fmla="*/ 504264 h 4134970"/>
              <a:gd name="connsiteX376" fmla="*/ 3966882 w 5183841"/>
              <a:gd name="connsiteY376" fmla="*/ 510988 h 4134970"/>
              <a:gd name="connsiteX377" fmla="*/ 4020670 w 5183841"/>
              <a:gd name="connsiteY377" fmla="*/ 531158 h 4134970"/>
              <a:gd name="connsiteX378" fmla="*/ 4074459 w 5183841"/>
              <a:gd name="connsiteY378" fmla="*/ 537882 h 4134970"/>
              <a:gd name="connsiteX379" fmla="*/ 4114800 w 5183841"/>
              <a:gd name="connsiteY379" fmla="*/ 544605 h 4134970"/>
              <a:gd name="connsiteX380" fmla="*/ 4161864 w 5183841"/>
              <a:gd name="connsiteY380" fmla="*/ 551329 h 4134970"/>
              <a:gd name="connsiteX381" fmla="*/ 4202206 w 5183841"/>
              <a:gd name="connsiteY381" fmla="*/ 558053 h 4134970"/>
              <a:gd name="connsiteX382" fmla="*/ 4316506 w 5183841"/>
              <a:gd name="connsiteY382" fmla="*/ 571500 h 4134970"/>
              <a:gd name="connsiteX383" fmla="*/ 4444253 w 5183841"/>
              <a:gd name="connsiteY383" fmla="*/ 584947 h 4134970"/>
              <a:gd name="connsiteX384" fmla="*/ 4666129 w 5183841"/>
              <a:gd name="connsiteY384" fmla="*/ 578223 h 4134970"/>
              <a:gd name="connsiteX385" fmla="*/ 4766982 w 5183841"/>
              <a:gd name="connsiteY385" fmla="*/ 551329 h 4134970"/>
              <a:gd name="connsiteX386" fmla="*/ 4847664 w 5183841"/>
              <a:gd name="connsiteY386" fmla="*/ 497541 h 4134970"/>
              <a:gd name="connsiteX387" fmla="*/ 4881282 w 5183841"/>
              <a:gd name="connsiteY387" fmla="*/ 463923 h 4134970"/>
              <a:gd name="connsiteX388" fmla="*/ 4982135 w 5183841"/>
              <a:gd name="connsiteY388" fmla="*/ 383241 h 4134970"/>
              <a:gd name="connsiteX389" fmla="*/ 5056094 w 5183841"/>
              <a:gd name="connsiteY389" fmla="*/ 289111 h 4134970"/>
              <a:gd name="connsiteX390" fmla="*/ 5089712 w 5183841"/>
              <a:gd name="connsiteY390" fmla="*/ 242047 h 4134970"/>
              <a:gd name="connsiteX391" fmla="*/ 5116606 w 5183841"/>
              <a:gd name="connsiteY391" fmla="*/ 208429 h 4134970"/>
              <a:gd name="connsiteX392" fmla="*/ 5150223 w 5183841"/>
              <a:gd name="connsiteY392" fmla="*/ 147917 h 4134970"/>
              <a:gd name="connsiteX393" fmla="*/ 5163670 w 5183841"/>
              <a:gd name="connsiteY393" fmla="*/ 127747 h 4134970"/>
              <a:gd name="connsiteX394" fmla="*/ 5170394 w 5183841"/>
              <a:gd name="connsiteY394" fmla="*/ 94129 h 4134970"/>
              <a:gd name="connsiteX395" fmla="*/ 5183841 w 5183841"/>
              <a:gd name="connsiteY395" fmla="*/ 53788 h 4134970"/>
              <a:gd name="connsiteX396" fmla="*/ 5170394 w 5183841"/>
              <a:gd name="connsiteY396" fmla="*/ 0 h 4134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Lst>
            <a:rect l="l" t="t" r="r" b="b"/>
            <a:pathLst>
              <a:path w="5183841" h="4134970">
                <a:moveTo>
                  <a:pt x="0" y="4134970"/>
                </a:moveTo>
                <a:cubicBezTo>
                  <a:pt x="15688" y="4128247"/>
                  <a:pt x="31798" y="4122433"/>
                  <a:pt x="47064" y="4114800"/>
                </a:cubicBezTo>
                <a:cubicBezTo>
                  <a:pt x="99203" y="4088731"/>
                  <a:pt x="36703" y="4111531"/>
                  <a:pt x="87406" y="4094629"/>
                </a:cubicBezTo>
                <a:cubicBezTo>
                  <a:pt x="120526" y="4069788"/>
                  <a:pt x="135177" y="4056294"/>
                  <a:pt x="181535" y="4040841"/>
                </a:cubicBezTo>
                <a:cubicBezTo>
                  <a:pt x="194982" y="4036359"/>
                  <a:pt x="208792" y="4032846"/>
                  <a:pt x="221876" y="4027394"/>
                </a:cubicBezTo>
                <a:cubicBezTo>
                  <a:pt x="235754" y="4021612"/>
                  <a:pt x="248566" y="4013523"/>
                  <a:pt x="262217" y="4007223"/>
                </a:cubicBezTo>
                <a:cubicBezTo>
                  <a:pt x="277714" y="4000070"/>
                  <a:pt x="293785" y="3994206"/>
                  <a:pt x="309282" y="3987053"/>
                </a:cubicBezTo>
                <a:cubicBezTo>
                  <a:pt x="366763" y="3960523"/>
                  <a:pt x="334227" y="3974287"/>
                  <a:pt x="389964" y="3939988"/>
                </a:cubicBezTo>
                <a:cubicBezTo>
                  <a:pt x="405353" y="3930518"/>
                  <a:pt x="421611" y="3922516"/>
                  <a:pt x="437029" y="3913094"/>
                </a:cubicBezTo>
                <a:cubicBezTo>
                  <a:pt x="461963" y="3897856"/>
                  <a:pt x="490325" y="3886692"/>
                  <a:pt x="510988" y="3866029"/>
                </a:cubicBezTo>
                <a:cubicBezTo>
                  <a:pt x="522194" y="3854823"/>
                  <a:pt x="532231" y="3842311"/>
                  <a:pt x="544606" y="3832411"/>
                </a:cubicBezTo>
                <a:cubicBezTo>
                  <a:pt x="554810" y="3824248"/>
                  <a:pt x="567908" y="3820264"/>
                  <a:pt x="578223" y="3812241"/>
                </a:cubicBezTo>
                <a:cubicBezTo>
                  <a:pt x="625358" y="3775580"/>
                  <a:pt x="586623" y="3797118"/>
                  <a:pt x="625288" y="3758453"/>
                </a:cubicBezTo>
                <a:cubicBezTo>
                  <a:pt x="631002" y="3752739"/>
                  <a:pt x="639452" y="3750411"/>
                  <a:pt x="645459" y="3745005"/>
                </a:cubicBezTo>
                <a:cubicBezTo>
                  <a:pt x="661950" y="3730163"/>
                  <a:pt x="676835" y="3713629"/>
                  <a:pt x="692523" y="3697941"/>
                </a:cubicBezTo>
                <a:lnTo>
                  <a:pt x="692523" y="3697941"/>
                </a:lnTo>
                <a:cubicBezTo>
                  <a:pt x="789405" y="3568765"/>
                  <a:pt x="688172" y="3702575"/>
                  <a:pt x="759759" y="3610535"/>
                </a:cubicBezTo>
                <a:cubicBezTo>
                  <a:pt x="766639" y="3601690"/>
                  <a:pt x="773049" y="3592486"/>
                  <a:pt x="779929" y="3583641"/>
                </a:cubicBezTo>
                <a:cubicBezTo>
                  <a:pt x="866991" y="3471702"/>
                  <a:pt x="760745" y="3607145"/>
                  <a:pt x="826994" y="3529853"/>
                </a:cubicBezTo>
                <a:cubicBezTo>
                  <a:pt x="834287" y="3521345"/>
                  <a:pt x="839990" y="3511567"/>
                  <a:pt x="847164" y="3502958"/>
                </a:cubicBezTo>
                <a:cubicBezTo>
                  <a:pt x="851222" y="3498088"/>
                  <a:pt x="856652" y="3494461"/>
                  <a:pt x="860612" y="3489511"/>
                </a:cubicBezTo>
                <a:cubicBezTo>
                  <a:pt x="865660" y="3483201"/>
                  <a:pt x="869306" y="3475876"/>
                  <a:pt x="874059" y="3469341"/>
                </a:cubicBezTo>
                <a:cubicBezTo>
                  <a:pt x="887241" y="3451216"/>
                  <a:pt x="901968" y="3434201"/>
                  <a:pt x="914400" y="3415553"/>
                </a:cubicBezTo>
                <a:cubicBezTo>
                  <a:pt x="918882" y="3408829"/>
                  <a:pt x="923150" y="3401958"/>
                  <a:pt x="927847" y="3395382"/>
                </a:cubicBezTo>
                <a:cubicBezTo>
                  <a:pt x="934360" y="3386263"/>
                  <a:pt x="942078" y="3377990"/>
                  <a:pt x="948017" y="3368488"/>
                </a:cubicBezTo>
                <a:cubicBezTo>
                  <a:pt x="953329" y="3359989"/>
                  <a:pt x="956152" y="3350093"/>
                  <a:pt x="961464" y="3341594"/>
                </a:cubicBezTo>
                <a:cubicBezTo>
                  <a:pt x="967403" y="3332091"/>
                  <a:pt x="975419" y="3324024"/>
                  <a:pt x="981635" y="3314700"/>
                </a:cubicBezTo>
                <a:cubicBezTo>
                  <a:pt x="988884" y="3303827"/>
                  <a:pt x="994557" y="3291956"/>
                  <a:pt x="1001806" y="3281082"/>
                </a:cubicBezTo>
                <a:cubicBezTo>
                  <a:pt x="1008022" y="3271758"/>
                  <a:pt x="1016037" y="3263690"/>
                  <a:pt x="1021976" y="3254188"/>
                </a:cubicBezTo>
                <a:cubicBezTo>
                  <a:pt x="1046168" y="3215480"/>
                  <a:pt x="1026897" y="3240674"/>
                  <a:pt x="1042147" y="3207123"/>
                </a:cubicBezTo>
                <a:cubicBezTo>
                  <a:pt x="1068446" y="3149265"/>
                  <a:pt x="1061539" y="3162713"/>
                  <a:pt x="1095935" y="3119717"/>
                </a:cubicBezTo>
                <a:cubicBezTo>
                  <a:pt x="1098176" y="3112994"/>
                  <a:pt x="1099489" y="3105886"/>
                  <a:pt x="1102659" y="3099547"/>
                </a:cubicBezTo>
                <a:cubicBezTo>
                  <a:pt x="1126913" y="3051040"/>
                  <a:pt x="1105983" y="3111406"/>
                  <a:pt x="1129553" y="3052482"/>
                </a:cubicBezTo>
                <a:cubicBezTo>
                  <a:pt x="1137704" y="3032104"/>
                  <a:pt x="1151141" y="2984974"/>
                  <a:pt x="1156447" y="2965076"/>
                </a:cubicBezTo>
                <a:cubicBezTo>
                  <a:pt x="1156474" y="2964976"/>
                  <a:pt x="1173243" y="2897891"/>
                  <a:pt x="1176617" y="2884394"/>
                </a:cubicBezTo>
                <a:lnTo>
                  <a:pt x="1183341" y="2857500"/>
                </a:lnTo>
                <a:cubicBezTo>
                  <a:pt x="1185582" y="2848535"/>
                  <a:pt x="1184938" y="2838294"/>
                  <a:pt x="1190064" y="2830605"/>
                </a:cubicBezTo>
                <a:lnTo>
                  <a:pt x="1203512" y="2810435"/>
                </a:lnTo>
                <a:cubicBezTo>
                  <a:pt x="1224635" y="2683690"/>
                  <a:pt x="1215356" y="2754991"/>
                  <a:pt x="1203512" y="2494429"/>
                </a:cubicBezTo>
                <a:cubicBezTo>
                  <a:pt x="1203190" y="2487349"/>
                  <a:pt x="1199958" y="2480597"/>
                  <a:pt x="1196788" y="2474258"/>
                </a:cubicBezTo>
                <a:cubicBezTo>
                  <a:pt x="1190587" y="2461855"/>
                  <a:pt x="1174322" y="2441352"/>
                  <a:pt x="1163170" y="2433917"/>
                </a:cubicBezTo>
                <a:cubicBezTo>
                  <a:pt x="1157273" y="2429986"/>
                  <a:pt x="1149723" y="2429435"/>
                  <a:pt x="1143000" y="2427194"/>
                </a:cubicBezTo>
                <a:cubicBezTo>
                  <a:pt x="1136276" y="2422712"/>
                  <a:pt x="1130213" y="2417029"/>
                  <a:pt x="1122829" y="2413747"/>
                </a:cubicBezTo>
                <a:cubicBezTo>
                  <a:pt x="1109876" y="2407990"/>
                  <a:pt x="1082488" y="2400300"/>
                  <a:pt x="1082488" y="2400300"/>
                </a:cubicBezTo>
                <a:cubicBezTo>
                  <a:pt x="1075764" y="2395818"/>
                  <a:pt x="1069545" y="2390467"/>
                  <a:pt x="1062317" y="2386853"/>
                </a:cubicBezTo>
                <a:cubicBezTo>
                  <a:pt x="1031998" y="2371693"/>
                  <a:pt x="1050875" y="2390765"/>
                  <a:pt x="1021976" y="2366682"/>
                </a:cubicBezTo>
                <a:cubicBezTo>
                  <a:pt x="1014671" y="2360595"/>
                  <a:pt x="1007893" y="2353816"/>
                  <a:pt x="1001806" y="2346511"/>
                </a:cubicBezTo>
                <a:cubicBezTo>
                  <a:pt x="996633" y="2340303"/>
                  <a:pt x="994440" y="2331662"/>
                  <a:pt x="988359" y="2326341"/>
                </a:cubicBezTo>
                <a:cubicBezTo>
                  <a:pt x="976196" y="2315699"/>
                  <a:pt x="948017" y="2299447"/>
                  <a:pt x="948017" y="2299447"/>
                </a:cubicBezTo>
                <a:cubicBezTo>
                  <a:pt x="939052" y="2286000"/>
                  <a:pt x="926234" y="2274437"/>
                  <a:pt x="921123" y="2259105"/>
                </a:cubicBezTo>
                <a:lnTo>
                  <a:pt x="907676" y="2218764"/>
                </a:lnTo>
                <a:cubicBezTo>
                  <a:pt x="909141" y="2207049"/>
                  <a:pt x="911094" y="2162857"/>
                  <a:pt x="921123" y="2144805"/>
                </a:cubicBezTo>
                <a:cubicBezTo>
                  <a:pt x="928971" y="2130677"/>
                  <a:pt x="948017" y="2104464"/>
                  <a:pt x="948017" y="2104464"/>
                </a:cubicBezTo>
                <a:cubicBezTo>
                  <a:pt x="965947" y="2106705"/>
                  <a:pt x="984028" y="2107956"/>
                  <a:pt x="1001806" y="2111188"/>
                </a:cubicBezTo>
                <a:cubicBezTo>
                  <a:pt x="1008779" y="2112456"/>
                  <a:pt x="1016442" y="2113484"/>
                  <a:pt x="1021976" y="2117911"/>
                </a:cubicBezTo>
                <a:cubicBezTo>
                  <a:pt x="1036505" y="2129534"/>
                  <a:pt x="1044761" y="2166097"/>
                  <a:pt x="1048870" y="2178423"/>
                </a:cubicBezTo>
                <a:cubicBezTo>
                  <a:pt x="1058149" y="2206259"/>
                  <a:pt x="1051663" y="2192698"/>
                  <a:pt x="1069041" y="2218764"/>
                </a:cubicBezTo>
                <a:cubicBezTo>
                  <a:pt x="1070625" y="2225099"/>
                  <a:pt x="1078102" y="2257934"/>
                  <a:pt x="1082488" y="2265829"/>
                </a:cubicBezTo>
                <a:cubicBezTo>
                  <a:pt x="1116473" y="2327002"/>
                  <a:pt x="1096885" y="2287140"/>
                  <a:pt x="1129553" y="2326341"/>
                </a:cubicBezTo>
                <a:cubicBezTo>
                  <a:pt x="1157568" y="2359958"/>
                  <a:pt x="1126191" y="2335305"/>
                  <a:pt x="1163170" y="2359958"/>
                </a:cubicBezTo>
                <a:cubicBezTo>
                  <a:pt x="1167652" y="2366682"/>
                  <a:pt x="1170307" y="2375081"/>
                  <a:pt x="1176617" y="2380129"/>
                </a:cubicBezTo>
                <a:cubicBezTo>
                  <a:pt x="1182151" y="2384557"/>
                  <a:pt x="1190449" y="2383683"/>
                  <a:pt x="1196788" y="2386853"/>
                </a:cubicBezTo>
                <a:cubicBezTo>
                  <a:pt x="1204016" y="2390467"/>
                  <a:pt x="1209575" y="2397018"/>
                  <a:pt x="1216959" y="2400300"/>
                </a:cubicBezTo>
                <a:cubicBezTo>
                  <a:pt x="1229912" y="2406057"/>
                  <a:pt x="1243853" y="2409265"/>
                  <a:pt x="1257300" y="2413747"/>
                </a:cubicBezTo>
                <a:lnTo>
                  <a:pt x="1317812" y="2433917"/>
                </a:lnTo>
                <a:lnTo>
                  <a:pt x="1358153" y="2447364"/>
                </a:lnTo>
                <a:cubicBezTo>
                  <a:pt x="1398802" y="2457527"/>
                  <a:pt x="1376274" y="2451164"/>
                  <a:pt x="1425388" y="2467535"/>
                </a:cubicBezTo>
                <a:lnTo>
                  <a:pt x="1445559" y="2474258"/>
                </a:lnTo>
                <a:cubicBezTo>
                  <a:pt x="1503362" y="2512794"/>
                  <a:pt x="1430228" y="2466592"/>
                  <a:pt x="1485900" y="2494429"/>
                </a:cubicBezTo>
                <a:cubicBezTo>
                  <a:pt x="1493536" y="2498247"/>
                  <a:pt x="1529918" y="2525001"/>
                  <a:pt x="1532964" y="2528047"/>
                </a:cubicBezTo>
                <a:cubicBezTo>
                  <a:pt x="1538678" y="2533761"/>
                  <a:pt x="1540698" y="2542503"/>
                  <a:pt x="1546412" y="2548217"/>
                </a:cubicBezTo>
                <a:cubicBezTo>
                  <a:pt x="1552126" y="2553931"/>
                  <a:pt x="1560543" y="2556296"/>
                  <a:pt x="1566582" y="2561664"/>
                </a:cubicBezTo>
                <a:cubicBezTo>
                  <a:pt x="1580795" y="2574298"/>
                  <a:pt x="1593476" y="2588558"/>
                  <a:pt x="1606923" y="2602005"/>
                </a:cubicBezTo>
                <a:cubicBezTo>
                  <a:pt x="1611405" y="2606488"/>
                  <a:pt x="1616566" y="2610382"/>
                  <a:pt x="1620370" y="2615453"/>
                </a:cubicBezTo>
                <a:cubicBezTo>
                  <a:pt x="1653855" y="2660098"/>
                  <a:pt x="1632614" y="2634419"/>
                  <a:pt x="1687606" y="2689411"/>
                </a:cubicBezTo>
                <a:lnTo>
                  <a:pt x="1707776" y="2709582"/>
                </a:lnTo>
                <a:cubicBezTo>
                  <a:pt x="1724677" y="2760281"/>
                  <a:pt x="1699914" y="2699755"/>
                  <a:pt x="1734670" y="2743200"/>
                </a:cubicBezTo>
                <a:cubicBezTo>
                  <a:pt x="1739097" y="2748734"/>
                  <a:pt x="1736967" y="2757836"/>
                  <a:pt x="1741394" y="2763370"/>
                </a:cubicBezTo>
                <a:cubicBezTo>
                  <a:pt x="1746442" y="2769680"/>
                  <a:pt x="1755254" y="2771769"/>
                  <a:pt x="1761564" y="2776817"/>
                </a:cubicBezTo>
                <a:cubicBezTo>
                  <a:pt x="1779025" y="2790785"/>
                  <a:pt x="1771906" y="2793366"/>
                  <a:pt x="1795182" y="2803711"/>
                </a:cubicBezTo>
                <a:cubicBezTo>
                  <a:pt x="1808135" y="2809468"/>
                  <a:pt x="1822076" y="2812676"/>
                  <a:pt x="1835523" y="2817158"/>
                </a:cubicBezTo>
                <a:cubicBezTo>
                  <a:pt x="1864464" y="2826805"/>
                  <a:pt x="1848813" y="2822162"/>
                  <a:pt x="1882588" y="2830605"/>
                </a:cubicBezTo>
                <a:cubicBezTo>
                  <a:pt x="1911723" y="2828364"/>
                  <a:pt x="1940998" y="2827506"/>
                  <a:pt x="1969994" y="2823882"/>
                </a:cubicBezTo>
                <a:cubicBezTo>
                  <a:pt x="1977026" y="2823003"/>
                  <a:pt x="1986045" y="2822925"/>
                  <a:pt x="1990164" y="2817158"/>
                </a:cubicBezTo>
                <a:cubicBezTo>
                  <a:pt x="1998403" y="2805624"/>
                  <a:pt x="1999129" y="2790264"/>
                  <a:pt x="2003612" y="2776817"/>
                </a:cubicBezTo>
                <a:lnTo>
                  <a:pt x="2017059" y="2736476"/>
                </a:lnTo>
                <a:cubicBezTo>
                  <a:pt x="2019300" y="2729752"/>
                  <a:pt x="2022617" y="2723296"/>
                  <a:pt x="2023782" y="2716305"/>
                </a:cubicBezTo>
                <a:lnTo>
                  <a:pt x="2030506" y="2675964"/>
                </a:lnTo>
                <a:cubicBezTo>
                  <a:pt x="2028265" y="2642346"/>
                  <a:pt x="2029037" y="2608391"/>
                  <a:pt x="2023782" y="2575111"/>
                </a:cubicBezTo>
                <a:cubicBezTo>
                  <a:pt x="2022219" y="2565211"/>
                  <a:pt x="2014283" y="2557429"/>
                  <a:pt x="2010335" y="2548217"/>
                </a:cubicBezTo>
                <a:cubicBezTo>
                  <a:pt x="1991473" y="2504205"/>
                  <a:pt x="2017689" y="2549005"/>
                  <a:pt x="1990164" y="2514600"/>
                </a:cubicBezTo>
                <a:cubicBezTo>
                  <a:pt x="1956682" y="2472748"/>
                  <a:pt x="2000729" y="2518029"/>
                  <a:pt x="1956547" y="2467535"/>
                </a:cubicBezTo>
                <a:cubicBezTo>
                  <a:pt x="1948199" y="2457994"/>
                  <a:pt x="1937904" y="2450267"/>
                  <a:pt x="1929653" y="2440641"/>
                </a:cubicBezTo>
                <a:cubicBezTo>
                  <a:pt x="1924394" y="2434506"/>
                  <a:pt x="1920903" y="2427046"/>
                  <a:pt x="1916206" y="2420470"/>
                </a:cubicBezTo>
                <a:cubicBezTo>
                  <a:pt x="1909693" y="2411351"/>
                  <a:pt x="1903328" y="2402084"/>
                  <a:pt x="1896035" y="2393576"/>
                </a:cubicBezTo>
                <a:cubicBezTo>
                  <a:pt x="1889847" y="2386356"/>
                  <a:pt x="1882052" y="2380625"/>
                  <a:pt x="1875864" y="2373405"/>
                </a:cubicBezTo>
                <a:cubicBezTo>
                  <a:pt x="1868571" y="2364897"/>
                  <a:pt x="1862207" y="2355629"/>
                  <a:pt x="1855694" y="2346511"/>
                </a:cubicBezTo>
                <a:cubicBezTo>
                  <a:pt x="1850997" y="2339936"/>
                  <a:pt x="1847615" y="2332380"/>
                  <a:pt x="1842247" y="2326341"/>
                </a:cubicBezTo>
                <a:cubicBezTo>
                  <a:pt x="1829613" y="2312128"/>
                  <a:pt x="1801906" y="2286000"/>
                  <a:pt x="1801906" y="2286000"/>
                </a:cubicBezTo>
                <a:cubicBezTo>
                  <a:pt x="1799665" y="2279276"/>
                  <a:pt x="1799113" y="2271726"/>
                  <a:pt x="1795182" y="2265829"/>
                </a:cubicBezTo>
                <a:cubicBezTo>
                  <a:pt x="1784827" y="2250296"/>
                  <a:pt x="1769726" y="2242134"/>
                  <a:pt x="1754841" y="2232211"/>
                </a:cubicBezTo>
                <a:cubicBezTo>
                  <a:pt x="1750359" y="2225488"/>
                  <a:pt x="1747108" y="2217755"/>
                  <a:pt x="1741394" y="2212041"/>
                </a:cubicBezTo>
                <a:cubicBezTo>
                  <a:pt x="1735680" y="2206327"/>
                  <a:pt x="1726482" y="2204729"/>
                  <a:pt x="1721223" y="2198594"/>
                </a:cubicBezTo>
                <a:cubicBezTo>
                  <a:pt x="1712718" y="2188672"/>
                  <a:pt x="1708894" y="2175431"/>
                  <a:pt x="1701053" y="2164976"/>
                </a:cubicBezTo>
                <a:cubicBezTo>
                  <a:pt x="1695348" y="2157369"/>
                  <a:pt x="1686969" y="2152110"/>
                  <a:pt x="1680882" y="2144805"/>
                </a:cubicBezTo>
                <a:cubicBezTo>
                  <a:pt x="1675709" y="2138597"/>
                  <a:pt x="1672608" y="2130843"/>
                  <a:pt x="1667435" y="2124635"/>
                </a:cubicBezTo>
                <a:cubicBezTo>
                  <a:pt x="1661348" y="2117330"/>
                  <a:pt x="1653351" y="2111769"/>
                  <a:pt x="1647264" y="2104464"/>
                </a:cubicBezTo>
                <a:cubicBezTo>
                  <a:pt x="1642091" y="2098256"/>
                  <a:pt x="1638990" y="2090502"/>
                  <a:pt x="1633817" y="2084294"/>
                </a:cubicBezTo>
                <a:cubicBezTo>
                  <a:pt x="1614481" y="2061091"/>
                  <a:pt x="1598081" y="2057765"/>
                  <a:pt x="1586753" y="2023782"/>
                </a:cubicBezTo>
                <a:cubicBezTo>
                  <a:pt x="1582271" y="2010335"/>
                  <a:pt x="1576086" y="1997340"/>
                  <a:pt x="1573306" y="1983441"/>
                </a:cubicBezTo>
                <a:cubicBezTo>
                  <a:pt x="1563908" y="1936455"/>
                  <a:pt x="1568461" y="1961095"/>
                  <a:pt x="1559859" y="1909482"/>
                </a:cubicBezTo>
                <a:cubicBezTo>
                  <a:pt x="1562100" y="1873623"/>
                  <a:pt x="1560979" y="1837394"/>
                  <a:pt x="1566582" y="1801905"/>
                </a:cubicBezTo>
                <a:cubicBezTo>
                  <a:pt x="1569570" y="1782980"/>
                  <a:pt x="1588247" y="1778249"/>
                  <a:pt x="1600200" y="1768288"/>
                </a:cubicBezTo>
                <a:cubicBezTo>
                  <a:pt x="1607505" y="1762201"/>
                  <a:pt x="1613065" y="1754204"/>
                  <a:pt x="1620370" y="1748117"/>
                </a:cubicBezTo>
                <a:cubicBezTo>
                  <a:pt x="1637748" y="1733635"/>
                  <a:pt x="1640496" y="1734685"/>
                  <a:pt x="1660712" y="1727947"/>
                </a:cubicBezTo>
                <a:cubicBezTo>
                  <a:pt x="1674159" y="1718982"/>
                  <a:pt x="1685721" y="1706164"/>
                  <a:pt x="1701053" y="1701053"/>
                </a:cubicBezTo>
                <a:cubicBezTo>
                  <a:pt x="1707776" y="1698812"/>
                  <a:pt x="1714884" y="1697499"/>
                  <a:pt x="1721223" y="1694329"/>
                </a:cubicBezTo>
                <a:cubicBezTo>
                  <a:pt x="1728451" y="1690715"/>
                  <a:pt x="1734010" y="1684164"/>
                  <a:pt x="1741394" y="1680882"/>
                </a:cubicBezTo>
                <a:cubicBezTo>
                  <a:pt x="1754347" y="1675125"/>
                  <a:pt x="1768288" y="1671917"/>
                  <a:pt x="1781735" y="1667435"/>
                </a:cubicBezTo>
                <a:cubicBezTo>
                  <a:pt x="1814841" y="1656399"/>
                  <a:pt x="1794911" y="1661877"/>
                  <a:pt x="1842247" y="1653988"/>
                </a:cubicBezTo>
                <a:cubicBezTo>
                  <a:pt x="1851212" y="1649506"/>
                  <a:pt x="1859929" y="1644489"/>
                  <a:pt x="1869141" y="1640541"/>
                </a:cubicBezTo>
                <a:cubicBezTo>
                  <a:pt x="1902289" y="1626335"/>
                  <a:pt x="1930323" y="1630400"/>
                  <a:pt x="1969994" y="1627094"/>
                </a:cubicBezTo>
                <a:cubicBezTo>
                  <a:pt x="2019300" y="1629335"/>
                  <a:pt x="2068907" y="1627937"/>
                  <a:pt x="2117912" y="1633817"/>
                </a:cubicBezTo>
                <a:cubicBezTo>
                  <a:pt x="2143808" y="1636924"/>
                  <a:pt x="2146170" y="1671527"/>
                  <a:pt x="2151529" y="1687605"/>
                </a:cubicBezTo>
                <a:lnTo>
                  <a:pt x="2158253" y="1707776"/>
                </a:lnTo>
                <a:cubicBezTo>
                  <a:pt x="2155653" y="1731179"/>
                  <a:pt x="2153974" y="1784792"/>
                  <a:pt x="2138082" y="1808629"/>
                </a:cubicBezTo>
                <a:cubicBezTo>
                  <a:pt x="2129117" y="1822076"/>
                  <a:pt x="2124635" y="1840005"/>
                  <a:pt x="2111188" y="1848970"/>
                </a:cubicBezTo>
                <a:lnTo>
                  <a:pt x="2091017" y="1862417"/>
                </a:lnTo>
                <a:cubicBezTo>
                  <a:pt x="2055160" y="1916203"/>
                  <a:pt x="2102220" y="1851215"/>
                  <a:pt x="2057400" y="1896035"/>
                </a:cubicBezTo>
                <a:cubicBezTo>
                  <a:pt x="2051686" y="1901749"/>
                  <a:pt x="2049001" y="1909895"/>
                  <a:pt x="2043953" y="1916205"/>
                </a:cubicBezTo>
                <a:cubicBezTo>
                  <a:pt x="2025750" y="1938959"/>
                  <a:pt x="2017015" y="1929788"/>
                  <a:pt x="2003612" y="1969994"/>
                </a:cubicBezTo>
                <a:lnTo>
                  <a:pt x="1990164" y="2010335"/>
                </a:lnTo>
                <a:cubicBezTo>
                  <a:pt x="1992405" y="2050676"/>
                  <a:pt x="1989328" y="2091668"/>
                  <a:pt x="1996888" y="2131358"/>
                </a:cubicBezTo>
                <a:cubicBezTo>
                  <a:pt x="1998667" y="2140699"/>
                  <a:pt x="2009754" y="2145442"/>
                  <a:pt x="2017059" y="2151529"/>
                </a:cubicBezTo>
                <a:cubicBezTo>
                  <a:pt x="2023267" y="2156702"/>
                  <a:pt x="2029663" y="2162139"/>
                  <a:pt x="2037229" y="2164976"/>
                </a:cubicBezTo>
                <a:cubicBezTo>
                  <a:pt x="2047929" y="2168989"/>
                  <a:pt x="2059691" y="2169221"/>
                  <a:pt x="2070847" y="2171700"/>
                </a:cubicBezTo>
                <a:cubicBezTo>
                  <a:pt x="2079867" y="2173705"/>
                  <a:pt x="2088776" y="2176182"/>
                  <a:pt x="2097741" y="2178423"/>
                </a:cubicBezTo>
                <a:cubicBezTo>
                  <a:pt x="2115670" y="2176182"/>
                  <a:pt x="2133752" y="2174932"/>
                  <a:pt x="2151529" y="2171700"/>
                </a:cubicBezTo>
                <a:cubicBezTo>
                  <a:pt x="2158502" y="2170432"/>
                  <a:pt x="2164727" y="2166244"/>
                  <a:pt x="2171700" y="2164976"/>
                </a:cubicBezTo>
                <a:cubicBezTo>
                  <a:pt x="2189477" y="2161744"/>
                  <a:pt x="2207559" y="2160494"/>
                  <a:pt x="2225488" y="2158253"/>
                </a:cubicBezTo>
                <a:cubicBezTo>
                  <a:pt x="2238935" y="2153770"/>
                  <a:pt x="2257966" y="2156599"/>
                  <a:pt x="2265829" y="2144805"/>
                </a:cubicBezTo>
                <a:cubicBezTo>
                  <a:pt x="2270311" y="2138082"/>
                  <a:pt x="2273562" y="2130349"/>
                  <a:pt x="2279276" y="2124635"/>
                </a:cubicBezTo>
                <a:cubicBezTo>
                  <a:pt x="2298544" y="2105368"/>
                  <a:pt x="2297745" y="2115400"/>
                  <a:pt x="2319617" y="2104464"/>
                </a:cubicBezTo>
                <a:cubicBezTo>
                  <a:pt x="2371741" y="2078401"/>
                  <a:pt x="2309269" y="2101189"/>
                  <a:pt x="2359959" y="2084294"/>
                </a:cubicBezTo>
                <a:cubicBezTo>
                  <a:pt x="2380129" y="2086535"/>
                  <a:pt x="2401217" y="2084599"/>
                  <a:pt x="2420470" y="2091017"/>
                </a:cubicBezTo>
                <a:cubicBezTo>
                  <a:pt x="2435802" y="2096128"/>
                  <a:pt x="2460812" y="2117911"/>
                  <a:pt x="2460812" y="2117911"/>
                </a:cubicBezTo>
                <a:cubicBezTo>
                  <a:pt x="2477873" y="2169094"/>
                  <a:pt x="2471479" y="2144354"/>
                  <a:pt x="2480982" y="2191870"/>
                </a:cubicBezTo>
                <a:cubicBezTo>
                  <a:pt x="2475465" y="2269120"/>
                  <a:pt x="2468635" y="2271327"/>
                  <a:pt x="2480982" y="2333064"/>
                </a:cubicBezTo>
                <a:cubicBezTo>
                  <a:pt x="2482372" y="2340014"/>
                  <a:pt x="2484536" y="2346896"/>
                  <a:pt x="2487706" y="2353235"/>
                </a:cubicBezTo>
                <a:cubicBezTo>
                  <a:pt x="2490872" y="2359567"/>
                  <a:pt x="2506263" y="2382685"/>
                  <a:pt x="2514600" y="2386853"/>
                </a:cubicBezTo>
                <a:cubicBezTo>
                  <a:pt x="2522865" y="2390986"/>
                  <a:pt x="2532609" y="2391037"/>
                  <a:pt x="2541494" y="2393576"/>
                </a:cubicBezTo>
                <a:cubicBezTo>
                  <a:pt x="2548308" y="2395523"/>
                  <a:pt x="2554941" y="2398059"/>
                  <a:pt x="2561664" y="2400300"/>
                </a:cubicBezTo>
                <a:cubicBezTo>
                  <a:pt x="2579594" y="2398059"/>
                  <a:pt x="2597923" y="2397958"/>
                  <a:pt x="2615453" y="2393576"/>
                </a:cubicBezTo>
                <a:cubicBezTo>
                  <a:pt x="2629102" y="2390164"/>
                  <a:pt x="2650512" y="2374685"/>
                  <a:pt x="2662517" y="2366682"/>
                </a:cubicBezTo>
                <a:cubicBezTo>
                  <a:pt x="2666999" y="2359958"/>
                  <a:pt x="2672682" y="2353895"/>
                  <a:pt x="2675964" y="2346511"/>
                </a:cubicBezTo>
                <a:cubicBezTo>
                  <a:pt x="2681721" y="2333558"/>
                  <a:pt x="2689412" y="2306170"/>
                  <a:pt x="2689412" y="2306170"/>
                </a:cubicBezTo>
                <a:cubicBezTo>
                  <a:pt x="2687171" y="2274794"/>
                  <a:pt x="2687354" y="2243149"/>
                  <a:pt x="2682688" y="2212041"/>
                </a:cubicBezTo>
                <a:cubicBezTo>
                  <a:pt x="2680585" y="2198023"/>
                  <a:pt x="2673723" y="2185147"/>
                  <a:pt x="2669241" y="2171700"/>
                </a:cubicBezTo>
                <a:cubicBezTo>
                  <a:pt x="2667000" y="2164976"/>
                  <a:pt x="2667528" y="2156541"/>
                  <a:pt x="2662517" y="2151529"/>
                </a:cubicBezTo>
                <a:cubicBezTo>
                  <a:pt x="2655794" y="2144805"/>
                  <a:pt x="2648434" y="2138663"/>
                  <a:pt x="2642347" y="2131358"/>
                </a:cubicBezTo>
                <a:cubicBezTo>
                  <a:pt x="2637174" y="2125150"/>
                  <a:pt x="2633597" y="2117763"/>
                  <a:pt x="2628900" y="2111188"/>
                </a:cubicBezTo>
                <a:cubicBezTo>
                  <a:pt x="2622387" y="2102069"/>
                  <a:pt x="2615242" y="2093413"/>
                  <a:pt x="2608729" y="2084294"/>
                </a:cubicBezTo>
                <a:cubicBezTo>
                  <a:pt x="2604032" y="2077718"/>
                  <a:pt x="2600603" y="2070204"/>
                  <a:pt x="2595282" y="2064123"/>
                </a:cubicBezTo>
                <a:cubicBezTo>
                  <a:pt x="2584846" y="2052196"/>
                  <a:pt x="2570455" y="2043691"/>
                  <a:pt x="2561664" y="2030505"/>
                </a:cubicBezTo>
                <a:cubicBezTo>
                  <a:pt x="2528278" y="1980427"/>
                  <a:pt x="2571187" y="2041933"/>
                  <a:pt x="2528047" y="1990164"/>
                </a:cubicBezTo>
                <a:cubicBezTo>
                  <a:pt x="2500035" y="1956549"/>
                  <a:pt x="2531407" y="1981198"/>
                  <a:pt x="2494429" y="1956547"/>
                </a:cubicBezTo>
                <a:cubicBezTo>
                  <a:pt x="2477534" y="1905857"/>
                  <a:pt x="2500322" y="1968329"/>
                  <a:pt x="2474259" y="1916205"/>
                </a:cubicBezTo>
                <a:cubicBezTo>
                  <a:pt x="2446422" y="1860532"/>
                  <a:pt x="2492626" y="1933672"/>
                  <a:pt x="2454088" y="1875864"/>
                </a:cubicBezTo>
                <a:cubicBezTo>
                  <a:pt x="2446285" y="1829049"/>
                  <a:pt x="2439584" y="1809227"/>
                  <a:pt x="2454088" y="1754841"/>
                </a:cubicBezTo>
                <a:cubicBezTo>
                  <a:pt x="2456538" y="1745653"/>
                  <a:pt x="2468172" y="1741975"/>
                  <a:pt x="2474259" y="1734670"/>
                </a:cubicBezTo>
                <a:cubicBezTo>
                  <a:pt x="2491397" y="1714105"/>
                  <a:pt x="2481774" y="1712654"/>
                  <a:pt x="2507876" y="1701053"/>
                </a:cubicBezTo>
                <a:cubicBezTo>
                  <a:pt x="2523612" y="1694059"/>
                  <a:pt x="2556221" y="1684930"/>
                  <a:pt x="2575112" y="1680882"/>
                </a:cubicBezTo>
                <a:cubicBezTo>
                  <a:pt x="2597460" y="1676093"/>
                  <a:pt x="2642347" y="1667435"/>
                  <a:pt x="2642347" y="1667435"/>
                </a:cubicBezTo>
                <a:cubicBezTo>
                  <a:pt x="2723477" y="1683661"/>
                  <a:pt x="2687902" y="1673655"/>
                  <a:pt x="2749923" y="1694329"/>
                </a:cubicBezTo>
                <a:cubicBezTo>
                  <a:pt x="2756647" y="1696570"/>
                  <a:pt x="2763755" y="1697883"/>
                  <a:pt x="2770094" y="1701053"/>
                </a:cubicBezTo>
                <a:cubicBezTo>
                  <a:pt x="2789342" y="1710677"/>
                  <a:pt x="2797369" y="1716275"/>
                  <a:pt x="2817159" y="1721223"/>
                </a:cubicBezTo>
                <a:cubicBezTo>
                  <a:pt x="2828245" y="1723995"/>
                  <a:pt x="2839621" y="1725468"/>
                  <a:pt x="2850776" y="1727947"/>
                </a:cubicBezTo>
                <a:cubicBezTo>
                  <a:pt x="2859796" y="1729952"/>
                  <a:pt x="2868555" y="1733151"/>
                  <a:pt x="2877670" y="1734670"/>
                </a:cubicBezTo>
                <a:cubicBezTo>
                  <a:pt x="2895493" y="1737641"/>
                  <a:pt x="2913529" y="1739153"/>
                  <a:pt x="2931459" y="1741394"/>
                </a:cubicBezTo>
                <a:cubicBezTo>
                  <a:pt x="2938182" y="1743635"/>
                  <a:pt x="2945290" y="1744948"/>
                  <a:pt x="2951629" y="1748117"/>
                </a:cubicBezTo>
                <a:cubicBezTo>
                  <a:pt x="2979644" y="1762124"/>
                  <a:pt x="2978523" y="1771649"/>
                  <a:pt x="2998694" y="1801905"/>
                </a:cubicBezTo>
                <a:lnTo>
                  <a:pt x="3012141" y="1822076"/>
                </a:lnTo>
                <a:cubicBezTo>
                  <a:pt x="3008533" y="1840117"/>
                  <a:pt x="3001718" y="1881413"/>
                  <a:pt x="2991970" y="1896035"/>
                </a:cubicBezTo>
                <a:cubicBezTo>
                  <a:pt x="2987488" y="1902758"/>
                  <a:pt x="2983571" y="1909895"/>
                  <a:pt x="2978523" y="1916205"/>
                </a:cubicBezTo>
                <a:cubicBezTo>
                  <a:pt x="2956439" y="1943811"/>
                  <a:pt x="2972319" y="1913615"/>
                  <a:pt x="2951629" y="1949823"/>
                </a:cubicBezTo>
                <a:cubicBezTo>
                  <a:pt x="2946656" y="1958525"/>
                  <a:pt x="2942130" y="1967505"/>
                  <a:pt x="2938182" y="1976717"/>
                </a:cubicBezTo>
                <a:cubicBezTo>
                  <a:pt x="2935390" y="1983231"/>
                  <a:pt x="2934628" y="1990549"/>
                  <a:pt x="2931459" y="1996888"/>
                </a:cubicBezTo>
                <a:cubicBezTo>
                  <a:pt x="2927845" y="2004115"/>
                  <a:pt x="2922494" y="2010335"/>
                  <a:pt x="2918012" y="2017058"/>
                </a:cubicBezTo>
                <a:cubicBezTo>
                  <a:pt x="2915771" y="2026023"/>
                  <a:pt x="2913827" y="2035068"/>
                  <a:pt x="2911288" y="2043953"/>
                </a:cubicBezTo>
                <a:cubicBezTo>
                  <a:pt x="2909341" y="2050767"/>
                  <a:pt x="2904564" y="2057036"/>
                  <a:pt x="2904564" y="2064123"/>
                </a:cubicBezTo>
                <a:cubicBezTo>
                  <a:pt x="2904564" y="2086646"/>
                  <a:pt x="2907863" y="2109096"/>
                  <a:pt x="2911288" y="2131358"/>
                </a:cubicBezTo>
                <a:cubicBezTo>
                  <a:pt x="2912366" y="2138363"/>
                  <a:pt x="2913585" y="2145995"/>
                  <a:pt x="2918012" y="2151529"/>
                </a:cubicBezTo>
                <a:cubicBezTo>
                  <a:pt x="2927491" y="2163378"/>
                  <a:pt x="2945066" y="2167271"/>
                  <a:pt x="2958353" y="2171700"/>
                </a:cubicBezTo>
                <a:cubicBezTo>
                  <a:pt x="2971800" y="2167218"/>
                  <a:pt x="2988672" y="2168276"/>
                  <a:pt x="2998694" y="2158253"/>
                </a:cubicBezTo>
                <a:cubicBezTo>
                  <a:pt x="3017855" y="2139091"/>
                  <a:pt x="3006866" y="2148321"/>
                  <a:pt x="3032312" y="2131358"/>
                </a:cubicBezTo>
                <a:cubicBezTo>
                  <a:pt x="3043349" y="2098245"/>
                  <a:pt x="3031133" y="2121136"/>
                  <a:pt x="3059206" y="2097741"/>
                </a:cubicBezTo>
                <a:cubicBezTo>
                  <a:pt x="3077304" y="2082659"/>
                  <a:pt x="3078081" y="2073663"/>
                  <a:pt x="3099547" y="2064123"/>
                </a:cubicBezTo>
                <a:cubicBezTo>
                  <a:pt x="3112500" y="2058366"/>
                  <a:pt x="3139888" y="2050676"/>
                  <a:pt x="3139888" y="2050676"/>
                </a:cubicBezTo>
                <a:cubicBezTo>
                  <a:pt x="3153335" y="2052917"/>
                  <a:pt x="3167645" y="2052157"/>
                  <a:pt x="3180229" y="2057400"/>
                </a:cubicBezTo>
                <a:cubicBezTo>
                  <a:pt x="3195147" y="2063616"/>
                  <a:pt x="3220570" y="2084294"/>
                  <a:pt x="3220570" y="2084294"/>
                </a:cubicBezTo>
                <a:cubicBezTo>
                  <a:pt x="3253956" y="2134371"/>
                  <a:pt x="3211047" y="2072867"/>
                  <a:pt x="3254188" y="2124635"/>
                </a:cubicBezTo>
                <a:cubicBezTo>
                  <a:pt x="3259361" y="2130843"/>
                  <a:pt x="3262587" y="2138495"/>
                  <a:pt x="3267635" y="2144805"/>
                </a:cubicBezTo>
                <a:cubicBezTo>
                  <a:pt x="3271595" y="2149755"/>
                  <a:pt x="3277279" y="2153182"/>
                  <a:pt x="3281082" y="2158253"/>
                </a:cubicBezTo>
                <a:cubicBezTo>
                  <a:pt x="3290779" y="2171182"/>
                  <a:pt x="3299011" y="2185147"/>
                  <a:pt x="3307976" y="2198594"/>
                </a:cubicBezTo>
                <a:cubicBezTo>
                  <a:pt x="3312458" y="2205317"/>
                  <a:pt x="3314700" y="2214282"/>
                  <a:pt x="3321423" y="2218764"/>
                </a:cubicBezTo>
                <a:lnTo>
                  <a:pt x="3341594" y="2232211"/>
                </a:lnTo>
                <a:cubicBezTo>
                  <a:pt x="3346076" y="2238935"/>
                  <a:pt x="3349868" y="2246174"/>
                  <a:pt x="3355041" y="2252382"/>
                </a:cubicBezTo>
                <a:cubicBezTo>
                  <a:pt x="3398186" y="2304157"/>
                  <a:pt x="3355270" y="2242640"/>
                  <a:pt x="3388659" y="2292723"/>
                </a:cubicBezTo>
                <a:cubicBezTo>
                  <a:pt x="3400474" y="2328172"/>
                  <a:pt x="3387572" y="2299488"/>
                  <a:pt x="3415553" y="2333064"/>
                </a:cubicBezTo>
                <a:cubicBezTo>
                  <a:pt x="3420726" y="2339272"/>
                  <a:pt x="3422690" y="2348187"/>
                  <a:pt x="3429000" y="2353235"/>
                </a:cubicBezTo>
                <a:cubicBezTo>
                  <a:pt x="3434534" y="2357662"/>
                  <a:pt x="3442447" y="2357717"/>
                  <a:pt x="3449170" y="2359958"/>
                </a:cubicBezTo>
                <a:cubicBezTo>
                  <a:pt x="3453652" y="2366682"/>
                  <a:pt x="3456307" y="2375081"/>
                  <a:pt x="3462617" y="2380129"/>
                </a:cubicBezTo>
                <a:cubicBezTo>
                  <a:pt x="3468151" y="2384557"/>
                  <a:pt x="3476593" y="2383411"/>
                  <a:pt x="3482788" y="2386853"/>
                </a:cubicBezTo>
                <a:cubicBezTo>
                  <a:pt x="3496915" y="2394702"/>
                  <a:pt x="3511701" y="2402320"/>
                  <a:pt x="3523129" y="2413747"/>
                </a:cubicBezTo>
                <a:cubicBezTo>
                  <a:pt x="3554728" y="2445344"/>
                  <a:pt x="3535389" y="2428643"/>
                  <a:pt x="3583641" y="2460811"/>
                </a:cubicBezTo>
                <a:lnTo>
                  <a:pt x="3603812" y="2474258"/>
                </a:lnTo>
                <a:cubicBezTo>
                  <a:pt x="3610535" y="2478740"/>
                  <a:pt x="3616316" y="2485150"/>
                  <a:pt x="3623982" y="2487705"/>
                </a:cubicBezTo>
                <a:cubicBezTo>
                  <a:pt x="3637429" y="2492188"/>
                  <a:pt x="3651645" y="2494814"/>
                  <a:pt x="3664323" y="2501153"/>
                </a:cubicBezTo>
                <a:cubicBezTo>
                  <a:pt x="3673288" y="2505635"/>
                  <a:pt x="3681709" y="2511431"/>
                  <a:pt x="3691217" y="2514600"/>
                </a:cubicBezTo>
                <a:cubicBezTo>
                  <a:pt x="3708750" y="2520444"/>
                  <a:pt x="3727076" y="2523565"/>
                  <a:pt x="3745006" y="2528047"/>
                </a:cubicBezTo>
                <a:cubicBezTo>
                  <a:pt x="3753971" y="2530288"/>
                  <a:pt x="3763134" y="2531848"/>
                  <a:pt x="3771900" y="2534770"/>
                </a:cubicBezTo>
                <a:cubicBezTo>
                  <a:pt x="3785931" y="2539447"/>
                  <a:pt x="3821357" y="2552401"/>
                  <a:pt x="3839135" y="2554941"/>
                </a:cubicBezTo>
                <a:cubicBezTo>
                  <a:pt x="3861432" y="2558126"/>
                  <a:pt x="3883958" y="2559423"/>
                  <a:pt x="3906370" y="2561664"/>
                </a:cubicBezTo>
                <a:cubicBezTo>
                  <a:pt x="3919657" y="2566093"/>
                  <a:pt x="3937233" y="2569987"/>
                  <a:pt x="3946712" y="2581835"/>
                </a:cubicBezTo>
                <a:cubicBezTo>
                  <a:pt x="3951139" y="2587369"/>
                  <a:pt x="3949789" y="2595928"/>
                  <a:pt x="3953435" y="2602005"/>
                </a:cubicBezTo>
                <a:cubicBezTo>
                  <a:pt x="3956696" y="2607441"/>
                  <a:pt x="3962922" y="2610503"/>
                  <a:pt x="3966882" y="2615453"/>
                </a:cubicBezTo>
                <a:cubicBezTo>
                  <a:pt x="4009240" y="2668402"/>
                  <a:pt x="3947751" y="2598082"/>
                  <a:pt x="3993776" y="2662517"/>
                </a:cubicBezTo>
                <a:cubicBezTo>
                  <a:pt x="3999303" y="2670255"/>
                  <a:pt x="4007223" y="2675964"/>
                  <a:pt x="4013947" y="2682688"/>
                </a:cubicBezTo>
                <a:cubicBezTo>
                  <a:pt x="4030844" y="2733381"/>
                  <a:pt x="4008052" y="2670899"/>
                  <a:pt x="4034117" y="2723029"/>
                </a:cubicBezTo>
                <a:cubicBezTo>
                  <a:pt x="4037287" y="2729368"/>
                  <a:pt x="4036413" y="2737666"/>
                  <a:pt x="4040841" y="2743200"/>
                </a:cubicBezTo>
                <a:cubicBezTo>
                  <a:pt x="4045889" y="2749510"/>
                  <a:pt x="4054288" y="2752165"/>
                  <a:pt x="4061012" y="2756647"/>
                </a:cubicBezTo>
                <a:lnTo>
                  <a:pt x="4074459" y="2796988"/>
                </a:lnTo>
                <a:cubicBezTo>
                  <a:pt x="4076700" y="2803711"/>
                  <a:pt x="4079463" y="2810283"/>
                  <a:pt x="4081182" y="2817158"/>
                </a:cubicBezTo>
                <a:cubicBezTo>
                  <a:pt x="4083423" y="2826123"/>
                  <a:pt x="4084661" y="2835400"/>
                  <a:pt x="4087906" y="2844053"/>
                </a:cubicBezTo>
                <a:cubicBezTo>
                  <a:pt x="4095218" y="2863552"/>
                  <a:pt x="4103653" y="2874396"/>
                  <a:pt x="4114800" y="2891117"/>
                </a:cubicBezTo>
                <a:cubicBezTo>
                  <a:pt x="4119282" y="2904564"/>
                  <a:pt x="4116453" y="2923595"/>
                  <a:pt x="4128247" y="2931458"/>
                </a:cubicBezTo>
                <a:cubicBezTo>
                  <a:pt x="4134970" y="2935940"/>
                  <a:pt x="4142282" y="2939646"/>
                  <a:pt x="4148417" y="2944905"/>
                </a:cubicBezTo>
                <a:cubicBezTo>
                  <a:pt x="4158043" y="2953156"/>
                  <a:pt x="4163284" y="2967791"/>
                  <a:pt x="4175312" y="2971800"/>
                </a:cubicBezTo>
                <a:cubicBezTo>
                  <a:pt x="4208415" y="2982834"/>
                  <a:pt x="4188491" y="2977358"/>
                  <a:pt x="4235823" y="2985247"/>
                </a:cubicBezTo>
                <a:cubicBezTo>
                  <a:pt x="4249382" y="2982535"/>
                  <a:pt x="4279719" y="2980904"/>
                  <a:pt x="4289612" y="2965076"/>
                </a:cubicBezTo>
                <a:cubicBezTo>
                  <a:pt x="4296434" y="2954162"/>
                  <a:pt x="4305846" y="2913588"/>
                  <a:pt x="4309782" y="2897841"/>
                </a:cubicBezTo>
                <a:cubicBezTo>
                  <a:pt x="4307541" y="2882153"/>
                  <a:pt x="4305469" y="2866439"/>
                  <a:pt x="4303059" y="2850776"/>
                </a:cubicBezTo>
                <a:cubicBezTo>
                  <a:pt x="4298961" y="2824142"/>
                  <a:pt x="4301552" y="2808928"/>
                  <a:pt x="4282888" y="2790264"/>
                </a:cubicBezTo>
                <a:cubicBezTo>
                  <a:pt x="4277174" y="2784550"/>
                  <a:pt x="4269441" y="2781299"/>
                  <a:pt x="4262717" y="2776817"/>
                </a:cubicBezTo>
                <a:cubicBezTo>
                  <a:pt x="4258235" y="2770094"/>
                  <a:pt x="4255351" y="2761968"/>
                  <a:pt x="4249270" y="2756647"/>
                </a:cubicBezTo>
                <a:cubicBezTo>
                  <a:pt x="4237107" y="2746005"/>
                  <a:pt x="4222376" y="2738718"/>
                  <a:pt x="4208929" y="2729753"/>
                </a:cubicBezTo>
                <a:cubicBezTo>
                  <a:pt x="4202206" y="2725271"/>
                  <a:pt x="4194473" y="2722019"/>
                  <a:pt x="4188759" y="2716305"/>
                </a:cubicBezTo>
                <a:lnTo>
                  <a:pt x="4161864" y="2689411"/>
                </a:lnTo>
                <a:cubicBezTo>
                  <a:pt x="4159623" y="2682688"/>
                  <a:pt x="4155141" y="2676328"/>
                  <a:pt x="4155141" y="2669241"/>
                </a:cubicBezTo>
                <a:cubicBezTo>
                  <a:pt x="4155141" y="2634613"/>
                  <a:pt x="4169515" y="2624148"/>
                  <a:pt x="4188759" y="2595282"/>
                </a:cubicBezTo>
                <a:cubicBezTo>
                  <a:pt x="4193241" y="2588558"/>
                  <a:pt x="4194978" y="2578725"/>
                  <a:pt x="4202206" y="2575111"/>
                </a:cubicBezTo>
                <a:cubicBezTo>
                  <a:pt x="4211171" y="2570629"/>
                  <a:pt x="4220398" y="2566637"/>
                  <a:pt x="4229100" y="2561664"/>
                </a:cubicBezTo>
                <a:cubicBezTo>
                  <a:pt x="4236116" y="2557655"/>
                  <a:pt x="4241886" y="2551499"/>
                  <a:pt x="4249270" y="2548217"/>
                </a:cubicBezTo>
                <a:cubicBezTo>
                  <a:pt x="4288513" y="2530776"/>
                  <a:pt x="4289125" y="2536796"/>
                  <a:pt x="4329953" y="2528047"/>
                </a:cubicBezTo>
                <a:cubicBezTo>
                  <a:pt x="4348024" y="2524175"/>
                  <a:pt x="4365446" y="2517214"/>
                  <a:pt x="4383741" y="2514600"/>
                </a:cubicBezTo>
                <a:cubicBezTo>
                  <a:pt x="4399429" y="2512359"/>
                  <a:pt x="4415214" y="2510711"/>
                  <a:pt x="4430806" y="2507876"/>
                </a:cubicBezTo>
                <a:cubicBezTo>
                  <a:pt x="4476932" y="2499490"/>
                  <a:pt x="4439457" y="2504033"/>
                  <a:pt x="4477870" y="2494429"/>
                </a:cubicBezTo>
                <a:lnTo>
                  <a:pt x="4531659" y="2480982"/>
                </a:lnTo>
                <a:cubicBezTo>
                  <a:pt x="4556366" y="2464510"/>
                  <a:pt x="4552549" y="2465054"/>
                  <a:pt x="4585447" y="2454088"/>
                </a:cubicBezTo>
                <a:cubicBezTo>
                  <a:pt x="4594213" y="2451166"/>
                  <a:pt x="4603689" y="2450609"/>
                  <a:pt x="4612341" y="2447364"/>
                </a:cubicBezTo>
                <a:cubicBezTo>
                  <a:pt x="4631839" y="2440052"/>
                  <a:pt x="4642686" y="2431617"/>
                  <a:pt x="4659406" y="2420470"/>
                </a:cubicBezTo>
                <a:cubicBezTo>
                  <a:pt x="4662116" y="2416857"/>
                  <a:pt x="4689448" y="2381449"/>
                  <a:pt x="4693023" y="2373405"/>
                </a:cubicBezTo>
                <a:cubicBezTo>
                  <a:pt x="4707014" y="2341924"/>
                  <a:pt x="4706164" y="2331080"/>
                  <a:pt x="4713194" y="2299447"/>
                </a:cubicBezTo>
                <a:cubicBezTo>
                  <a:pt x="4715199" y="2290427"/>
                  <a:pt x="4717378" y="2281438"/>
                  <a:pt x="4719917" y="2272553"/>
                </a:cubicBezTo>
                <a:cubicBezTo>
                  <a:pt x="4721864" y="2265738"/>
                  <a:pt x="4724922" y="2259258"/>
                  <a:pt x="4726641" y="2252382"/>
                </a:cubicBezTo>
                <a:cubicBezTo>
                  <a:pt x="4729413" y="2241295"/>
                  <a:pt x="4731123" y="2229970"/>
                  <a:pt x="4733364" y="2218764"/>
                </a:cubicBezTo>
                <a:cubicBezTo>
                  <a:pt x="4724883" y="2150913"/>
                  <a:pt x="4732355" y="2182116"/>
                  <a:pt x="4713194" y="2124635"/>
                </a:cubicBezTo>
                <a:cubicBezTo>
                  <a:pt x="4710953" y="2117911"/>
                  <a:pt x="4710401" y="2110361"/>
                  <a:pt x="4706470" y="2104464"/>
                </a:cubicBezTo>
                <a:cubicBezTo>
                  <a:pt x="4701988" y="2097741"/>
                  <a:pt x="4699875" y="2088577"/>
                  <a:pt x="4693023" y="2084294"/>
                </a:cubicBezTo>
                <a:cubicBezTo>
                  <a:pt x="4681003" y="2076782"/>
                  <a:pt x="4652682" y="2070847"/>
                  <a:pt x="4652682" y="2070847"/>
                </a:cubicBezTo>
                <a:cubicBezTo>
                  <a:pt x="4645959" y="2066365"/>
                  <a:pt x="4640559" y="2058132"/>
                  <a:pt x="4632512" y="2057400"/>
                </a:cubicBezTo>
                <a:cubicBezTo>
                  <a:pt x="4588319" y="2053382"/>
                  <a:pt x="4585880" y="2059351"/>
                  <a:pt x="4558553" y="2077570"/>
                </a:cubicBezTo>
                <a:cubicBezTo>
                  <a:pt x="4537243" y="2109535"/>
                  <a:pt x="4547662" y="2090074"/>
                  <a:pt x="4531659" y="2138082"/>
                </a:cubicBezTo>
                <a:cubicBezTo>
                  <a:pt x="4529418" y="2144806"/>
                  <a:pt x="4528866" y="2152356"/>
                  <a:pt x="4524935" y="2158253"/>
                </a:cubicBezTo>
                <a:cubicBezTo>
                  <a:pt x="4520453" y="2164976"/>
                  <a:pt x="4514770" y="2171039"/>
                  <a:pt x="4511488" y="2178423"/>
                </a:cubicBezTo>
                <a:cubicBezTo>
                  <a:pt x="4498057" y="2208643"/>
                  <a:pt x="4501395" y="2213740"/>
                  <a:pt x="4491317" y="2238935"/>
                </a:cubicBezTo>
                <a:cubicBezTo>
                  <a:pt x="4486835" y="2250141"/>
                  <a:pt x="4481995" y="2261210"/>
                  <a:pt x="4477870" y="2272553"/>
                </a:cubicBezTo>
                <a:cubicBezTo>
                  <a:pt x="4473026" y="2285874"/>
                  <a:pt x="4472286" y="2301100"/>
                  <a:pt x="4464423" y="2312894"/>
                </a:cubicBezTo>
                <a:cubicBezTo>
                  <a:pt x="4455458" y="2326341"/>
                  <a:pt x="4448957" y="2341807"/>
                  <a:pt x="4437529" y="2353235"/>
                </a:cubicBezTo>
                <a:cubicBezTo>
                  <a:pt x="4420126" y="2370638"/>
                  <a:pt x="4401142" y="2392259"/>
                  <a:pt x="4377017" y="2400300"/>
                </a:cubicBezTo>
                <a:lnTo>
                  <a:pt x="4356847" y="2407023"/>
                </a:lnTo>
                <a:cubicBezTo>
                  <a:pt x="4350123" y="2411505"/>
                  <a:pt x="4343904" y="2416856"/>
                  <a:pt x="4336676" y="2420470"/>
                </a:cubicBezTo>
                <a:cubicBezTo>
                  <a:pt x="4319737" y="2428940"/>
                  <a:pt x="4292404" y="2430964"/>
                  <a:pt x="4276164" y="2433917"/>
                </a:cubicBezTo>
                <a:cubicBezTo>
                  <a:pt x="4264921" y="2435961"/>
                  <a:pt x="4253753" y="2438400"/>
                  <a:pt x="4242547" y="2440641"/>
                </a:cubicBezTo>
                <a:cubicBezTo>
                  <a:pt x="4232346" y="2439508"/>
                  <a:pt x="4175691" y="2442593"/>
                  <a:pt x="4161864" y="2420470"/>
                </a:cubicBezTo>
                <a:cubicBezTo>
                  <a:pt x="4154352" y="2408450"/>
                  <a:pt x="4148417" y="2380129"/>
                  <a:pt x="4148417" y="2380129"/>
                </a:cubicBezTo>
                <a:cubicBezTo>
                  <a:pt x="4164419" y="2332122"/>
                  <a:pt x="4154001" y="2351582"/>
                  <a:pt x="4175312" y="2319617"/>
                </a:cubicBezTo>
                <a:cubicBezTo>
                  <a:pt x="4180780" y="2303212"/>
                  <a:pt x="4182448" y="2292310"/>
                  <a:pt x="4195482" y="2279276"/>
                </a:cubicBezTo>
                <a:cubicBezTo>
                  <a:pt x="4201196" y="2273562"/>
                  <a:pt x="4208929" y="2270311"/>
                  <a:pt x="4215653" y="2265829"/>
                </a:cubicBezTo>
                <a:cubicBezTo>
                  <a:pt x="4249040" y="2215747"/>
                  <a:pt x="4206130" y="2277257"/>
                  <a:pt x="4249270" y="2225488"/>
                </a:cubicBezTo>
                <a:cubicBezTo>
                  <a:pt x="4254443" y="2219280"/>
                  <a:pt x="4258235" y="2212041"/>
                  <a:pt x="4262717" y="2205317"/>
                </a:cubicBezTo>
                <a:cubicBezTo>
                  <a:pt x="4260476" y="2196352"/>
                  <a:pt x="4261767" y="2185639"/>
                  <a:pt x="4255994" y="2178423"/>
                </a:cubicBezTo>
                <a:cubicBezTo>
                  <a:pt x="4251567" y="2172889"/>
                  <a:pt x="4242910" y="2171700"/>
                  <a:pt x="4235823" y="2171700"/>
                </a:cubicBezTo>
                <a:cubicBezTo>
                  <a:pt x="4215529" y="2171700"/>
                  <a:pt x="4195482" y="2176182"/>
                  <a:pt x="4175312" y="2178423"/>
                </a:cubicBezTo>
                <a:cubicBezTo>
                  <a:pt x="4175077" y="2178364"/>
                  <a:pt x="4131464" y="2168193"/>
                  <a:pt x="4128247" y="2164976"/>
                </a:cubicBezTo>
                <a:cubicBezTo>
                  <a:pt x="4123236" y="2159964"/>
                  <a:pt x="4123764" y="2151529"/>
                  <a:pt x="4121523" y="2144805"/>
                </a:cubicBezTo>
                <a:cubicBezTo>
                  <a:pt x="4125952" y="2131518"/>
                  <a:pt x="4129846" y="2113942"/>
                  <a:pt x="4141694" y="2104464"/>
                </a:cubicBezTo>
                <a:cubicBezTo>
                  <a:pt x="4147228" y="2100037"/>
                  <a:pt x="4154891" y="2099009"/>
                  <a:pt x="4161864" y="2097741"/>
                </a:cubicBezTo>
                <a:cubicBezTo>
                  <a:pt x="4179642" y="2094509"/>
                  <a:pt x="4197765" y="2093572"/>
                  <a:pt x="4215653" y="2091017"/>
                </a:cubicBezTo>
                <a:cubicBezTo>
                  <a:pt x="4229148" y="2089089"/>
                  <a:pt x="4242547" y="2086535"/>
                  <a:pt x="4255994" y="2084294"/>
                </a:cubicBezTo>
                <a:cubicBezTo>
                  <a:pt x="4313136" y="2065245"/>
                  <a:pt x="4243461" y="2091813"/>
                  <a:pt x="4289612" y="2064123"/>
                </a:cubicBezTo>
                <a:cubicBezTo>
                  <a:pt x="4295689" y="2060477"/>
                  <a:pt x="4303059" y="2059641"/>
                  <a:pt x="4309782" y="2057400"/>
                </a:cubicBezTo>
                <a:cubicBezTo>
                  <a:pt x="4347053" y="2032553"/>
                  <a:pt x="4317572" y="2058169"/>
                  <a:pt x="4336676" y="2023782"/>
                </a:cubicBezTo>
                <a:cubicBezTo>
                  <a:pt x="4344524" y="2009654"/>
                  <a:pt x="4363570" y="1983441"/>
                  <a:pt x="4363570" y="1983441"/>
                </a:cubicBezTo>
                <a:cubicBezTo>
                  <a:pt x="4365811" y="1974476"/>
                  <a:pt x="4365168" y="1964236"/>
                  <a:pt x="4370294" y="1956547"/>
                </a:cubicBezTo>
                <a:cubicBezTo>
                  <a:pt x="4374776" y="1949824"/>
                  <a:pt x="4384154" y="1948148"/>
                  <a:pt x="4390464" y="1943100"/>
                </a:cubicBezTo>
                <a:cubicBezTo>
                  <a:pt x="4395414" y="1939140"/>
                  <a:pt x="4399429" y="1934135"/>
                  <a:pt x="4403912" y="1929653"/>
                </a:cubicBezTo>
                <a:cubicBezTo>
                  <a:pt x="4406153" y="1922929"/>
                  <a:pt x="4407193" y="1915677"/>
                  <a:pt x="4410635" y="1909482"/>
                </a:cubicBezTo>
                <a:cubicBezTo>
                  <a:pt x="4418483" y="1895354"/>
                  <a:pt x="4432418" y="1884473"/>
                  <a:pt x="4437529" y="1869141"/>
                </a:cubicBezTo>
                <a:cubicBezTo>
                  <a:pt x="4442011" y="1855694"/>
                  <a:pt x="4447538" y="1842551"/>
                  <a:pt x="4450976" y="1828800"/>
                </a:cubicBezTo>
                <a:cubicBezTo>
                  <a:pt x="4453217" y="1819835"/>
                  <a:pt x="4454455" y="1810558"/>
                  <a:pt x="4457700" y="1801905"/>
                </a:cubicBezTo>
                <a:cubicBezTo>
                  <a:pt x="4465012" y="1782406"/>
                  <a:pt x="4473447" y="1771562"/>
                  <a:pt x="4484594" y="1754841"/>
                </a:cubicBezTo>
                <a:cubicBezTo>
                  <a:pt x="4501364" y="1654215"/>
                  <a:pt x="4480738" y="1779904"/>
                  <a:pt x="4498041" y="1667435"/>
                </a:cubicBezTo>
                <a:cubicBezTo>
                  <a:pt x="4500114" y="1653961"/>
                  <a:pt x="4503259" y="1640643"/>
                  <a:pt x="4504764" y="1627094"/>
                </a:cubicBezTo>
                <a:cubicBezTo>
                  <a:pt x="4507744" y="1600271"/>
                  <a:pt x="4508034" y="1573177"/>
                  <a:pt x="4511488" y="1546411"/>
                </a:cubicBezTo>
                <a:cubicBezTo>
                  <a:pt x="4517005" y="1503656"/>
                  <a:pt x="4524273" y="1461136"/>
                  <a:pt x="4531659" y="1418664"/>
                </a:cubicBezTo>
                <a:cubicBezTo>
                  <a:pt x="4533242" y="1409560"/>
                  <a:pt x="4533485" y="1399606"/>
                  <a:pt x="4538382" y="1391770"/>
                </a:cubicBezTo>
                <a:cubicBezTo>
                  <a:pt x="4545101" y="1381019"/>
                  <a:pt x="4556927" y="1374417"/>
                  <a:pt x="4565276" y="1364876"/>
                </a:cubicBezTo>
                <a:cubicBezTo>
                  <a:pt x="4576955" y="1351529"/>
                  <a:pt x="4588851" y="1332876"/>
                  <a:pt x="4598894" y="1317811"/>
                </a:cubicBezTo>
                <a:cubicBezTo>
                  <a:pt x="4601135" y="1308846"/>
                  <a:pt x="4601977" y="1299410"/>
                  <a:pt x="4605617" y="1290917"/>
                </a:cubicBezTo>
                <a:cubicBezTo>
                  <a:pt x="4628653" y="1237165"/>
                  <a:pt x="4612000" y="1308197"/>
                  <a:pt x="4625788" y="1243853"/>
                </a:cubicBezTo>
                <a:cubicBezTo>
                  <a:pt x="4630577" y="1221505"/>
                  <a:pt x="4639235" y="1176617"/>
                  <a:pt x="4639235" y="1176617"/>
                </a:cubicBezTo>
                <a:cubicBezTo>
                  <a:pt x="4638093" y="1149219"/>
                  <a:pt x="4639806" y="1030981"/>
                  <a:pt x="4625788" y="974911"/>
                </a:cubicBezTo>
                <a:cubicBezTo>
                  <a:pt x="4622350" y="961160"/>
                  <a:pt x="4616823" y="948017"/>
                  <a:pt x="4612341" y="934570"/>
                </a:cubicBezTo>
                <a:cubicBezTo>
                  <a:pt x="4610100" y="927847"/>
                  <a:pt x="4610628" y="919411"/>
                  <a:pt x="4605617" y="914400"/>
                </a:cubicBezTo>
                <a:cubicBezTo>
                  <a:pt x="4598894" y="907676"/>
                  <a:pt x="4591534" y="901534"/>
                  <a:pt x="4585447" y="894229"/>
                </a:cubicBezTo>
                <a:cubicBezTo>
                  <a:pt x="4580274" y="888021"/>
                  <a:pt x="4578081" y="879379"/>
                  <a:pt x="4572000" y="874058"/>
                </a:cubicBezTo>
                <a:cubicBezTo>
                  <a:pt x="4559837" y="863416"/>
                  <a:pt x="4543087" y="858591"/>
                  <a:pt x="4531659" y="847164"/>
                </a:cubicBezTo>
                <a:cubicBezTo>
                  <a:pt x="4524935" y="840441"/>
                  <a:pt x="4519400" y="832268"/>
                  <a:pt x="4511488" y="826994"/>
                </a:cubicBezTo>
                <a:cubicBezTo>
                  <a:pt x="4505591" y="823063"/>
                  <a:pt x="4497512" y="823712"/>
                  <a:pt x="4491317" y="820270"/>
                </a:cubicBezTo>
                <a:cubicBezTo>
                  <a:pt x="4477190" y="812421"/>
                  <a:pt x="4466308" y="798487"/>
                  <a:pt x="4450976" y="793376"/>
                </a:cubicBezTo>
                <a:cubicBezTo>
                  <a:pt x="4437529" y="788894"/>
                  <a:pt x="4422429" y="787792"/>
                  <a:pt x="4410635" y="779929"/>
                </a:cubicBezTo>
                <a:lnTo>
                  <a:pt x="4350123" y="739588"/>
                </a:lnTo>
                <a:cubicBezTo>
                  <a:pt x="4343400" y="735106"/>
                  <a:pt x="4337619" y="728696"/>
                  <a:pt x="4329953" y="726141"/>
                </a:cubicBezTo>
                <a:lnTo>
                  <a:pt x="4309782" y="719417"/>
                </a:lnTo>
                <a:cubicBezTo>
                  <a:pt x="4260660" y="670295"/>
                  <a:pt x="4329272" y="734655"/>
                  <a:pt x="4235823" y="672353"/>
                </a:cubicBezTo>
                <a:cubicBezTo>
                  <a:pt x="4222376" y="663388"/>
                  <a:pt x="4211161" y="649377"/>
                  <a:pt x="4195482" y="645458"/>
                </a:cubicBezTo>
                <a:cubicBezTo>
                  <a:pt x="4181829" y="642045"/>
                  <a:pt x="4161925" y="637800"/>
                  <a:pt x="4148417" y="632011"/>
                </a:cubicBezTo>
                <a:cubicBezTo>
                  <a:pt x="4139205" y="628063"/>
                  <a:pt x="4130735" y="622512"/>
                  <a:pt x="4121523" y="618564"/>
                </a:cubicBezTo>
                <a:cubicBezTo>
                  <a:pt x="4115009" y="615772"/>
                  <a:pt x="4107867" y="614633"/>
                  <a:pt x="4101353" y="611841"/>
                </a:cubicBezTo>
                <a:cubicBezTo>
                  <a:pt x="4092141" y="607893"/>
                  <a:pt x="4083967" y="601564"/>
                  <a:pt x="4074459" y="598394"/>
                </a:cubicBezTo>
                <a:cubicBezTo>
                  <a:pt x="4063618" y="594780"/>
                  <a:pt x="4051866" y="594677"/>
                  <a:pt x="4040841" y="591670"/>
                </a:cubicBezTo>
                <a:cubicBezTo>
                  <a:pt x="4027166" y="587940"/>
                  <a:pt x="4013947" y="582705"/>
                  <a:pt x="4000500" y="578223"/>
                </a:cubicBezTo>
                <a:cubicBezTo>
                  <a:pt x="3993776" y="575982"/>
                  <a:pt x="3987205" y="573219"/>
                  <a:pt x="3980329" y="571500"/>
                </a:cubicBezTo>
                <a:cubicBezTo>
                  <a:pt x="3940210" y="561469"/>
                  <a:pt x="3962550" y="566295"/>
                  <a:pt x="3913094" y="558053"/>
                </a:cubicBezTo>
                <a:lnTo>
                  <a:pt x="3516406" y="564776"/>
                </a:lnTo>
                <a:cubicBezTo>
                  <a:pt x="3293610" y="564776"/>
                  <a:pt x="3329068" y="567414"/>
                  <a:pt x="3200400" y="551329"/>
                </a:cubicBezTo>
                <a:cubicBezTo>
                  <a:pt x="3186953" y="546847"/>
                  <a:pt x="3173810" y="541320"/>
                  <a:pt x="3160059" y="537882"/>
                </a:cubicBezTo>
                <a:cubicBezTo>
                  <a:pt x="3142129" y="533400"/>
                  <a:pt x="3123803" y="530279"/>
                  <a:pt x="3106270" y="524435"/>
                </a:cubicBezTo>
                <a:lnTo>
                  <a:pt x="3065929" y="510988"/>
                </a:lnTo>
                <a:cubicBezTo>
                  <a:pt x="3059206" y="506506"/>
                  <a:pt x="3050241" y="504264"/>
                  <a:pt x="3045759" y="497541"/>
                </a:cubicBezTo>
                <a:cubicBezTo>
                  <a:pt x="3040633" y="489852"/>
                  <a:pt x="3042280" y="479299"/>
                  <a:pt x="3039035" y="470647"/>
                </a:cubicBezTo>
                <a:cubicBezTo>
                  <a:pt x="3035516" y="461262"/>
                  <a:pt x="3030070" y="452718"/>
                  <a:pt x="3025588" y="443753"/>
                </a:cubicBezTo>
                <a:cubicBezTo>
                  <a:pt x="3027829" y="407894"/>
                  <a:pt x="3028551" y="371908"/>
                  <a:pt x="3032312" y="336176"/>
                </a:cubicBezTo>
                <a:cubicBezTo>
                  <a:pt x="3033054" y="329128"/>
                  <a:pt x="3034024" y="321017"/>
                  <a:pt x="3039035" y="316005"/>
                </a:cubicBezTo>
                <a:cubicBezTo>
                  <a:pt x="3050463" y="304577"/>
                  <a:pt x="3064044" y="294222"/>
                  <a:pt x="3079376" y="289111"/>
                </a:cubicBezTo>
                <a:lnTo>
                  <a:pt x="3119717" y="275664"/>
                </a:lnTo>
                <a:cubicBezTo>
                  <a:pt x="3182620" y="278975"/>
                  <a:pt x="3240276" y="278948"/>
                  <a:pt x="3301253" y="289111"/>
                </a:cubicBezTo>
                <a:cubicBezTo>
                  <a:pt x="3326466" y="293313"/>
                  <a:pt x="3325943" y="296166"/>
                  <a:pt x="3348317" y="302558"/>
                </a:cubicBezTo>
                <a:cubicBezTo>
                  <a:pt x="3357202" y="305097"/>
                  <a:pt x="3366247" y="307041"/>
                  <a:pt x="3375212" y="309282"/>
                </a:cubicBezTo>
                <a:cubicBezTo>
                  <a:pt x="3384177" y="316006"/>
                  <a:pt x="3392083" y="324441"/>
                  <a:pt x="3402106" y="329453"/>
                </a:cubicBezTo>
                <a:cubicBezTo>
                  <a:pt x="3402113" y="329456"/>
                  <a:pt x="3452528" y="346260"/>
                  <a:pt x="3462617" y="349623"/>
                </a:cubicBezTo>
                <a:cubicBezTo>
                  <a:pt x="3469341" y="351864"/>
                  <a:pt x="3476891" y="352416"/>
                  <a:pt x="3482788" y="356347"/>
                </a:cubicBezTo>
                <a:cubicBezTo>
                  <a:pt x="3489512" y="360829"/>
                  <a:pt x="3495456" y="366793"/>
                  <a:pt x="3502959" y="369794"/>
                </a:cubicBezTo>
                <a:cubicBezTo>
                  <a:pt x="3518108" y="375854"/>
                  <a:pt x="3534395" y="378553"/>
                  <a:pt x="3550023" y="383241"/>
                </a:cubicBezTo>
                <a:cubicBezTo>
                  <a:pt x="3556811" y="385277"/>
                  <a:pt x="3563470" y="387723"/>
                  <a:pt x="3570194" y="389964"/>
                </a:cubicBezTo>
                <a:cubicBezTo>
                  <a:pt x="3576917" y="394446"/>
                  <a:pt x="3582641" y="401035"/>
                  <a:pt x="3590364" y="403411"/>
                </a:cubicBezTo>
                <a:cubicBezTo>
                  <a:pt x="3612209" y="410133"/>
                  <a:pt x="3657600" y="416858"/>
                  <a:pt x="3657600" y="416858"/>
                </a:cubicBezTo>
                <a:cubicBezTo>
                  <a:pt x="3679842" y="425755"/>
                  <a:pt x="3690312" y="430706"/>
                  <a:pt x="3711388" y="437029"/>
                </a:cubicBezTo>
                <a:cubicBezTo>
                  <a:pt x="3727016" y="441717"/>
                  <a:pt x="3742712" y="446183"/>
                  <a:pt x="3758453" y="450476"/>
                </a:cubicBezTo>
                <a:cubicBezTo>
                  <a:pt x="3767368" y="452907"/>
                  <a:pt x="3776695" y="453955"/>
                  <a:pt x="3785347" y="457200"/>
                </a:cubicBezTo>
                <a:cubicBezTo>
                  <a:pt x="3794732" y="460719"/>
                  <a:pt x="3802733" y="467478"/>
                  <a:pt x="3812241" y="470647"/>
                </a:cubicBezTo>
                <a:cubicBezTo>
                  <a:pt x="3829774" y="476491"/>
                  <a:pt x="3848496" y="478250"/>
                  <a:pt x="3866029" y="484094"/>
                </a:cubicBezTo>
                <a:cubicBezTo>
                  <a:pt x="3872753" y="486335"/>
                  <a:pt x="3879324" y="489098"/>
                  <a:pt x="3886200" y="490817"/>
                </a:cubicBezTo>
                <a:cubicBezTo>
                  <a:pt x="3897286" y="493589"/>
                  <a:pt x="3908731" y="494769"/>
                  <a:pt x="3919817" y="497541"/>
                </a:cubicBezTo>
                <a:cubicBezTo>
                  <a:pt x="3926693" y="499260"/>
                  <a:pt x="3933173" y="502317"/>
                  <a:pt x="3939988" y="504264"/>
                </a:cubicBezTo>
                <a:cubicBezTo>
                  <a:pt x="3948873" y="506803"/>
                  <a:pt x="3958230" y="507743"/>
                  <a:pt x="3966882" y="510988"/>
                </a:cubicBezTo>
                <a:cubicBezTo>
                  <a:pt x="4007251" y="526127"/>
                  <a:pt x="3979249" y="524255"/>
                  <a:pt x="4020670" y="531158"/>
                </a:cubicBezTo>
                <a:cubicBezTo>
                  <a:pt x="4038493" y="534129"/>
                  <a:pt x="4056571" y="535327"/>
                  <a:pt x="4074459" y="537882"/>
                </a:cubicBezTo>
                <a:cubicBezTo>
                  <a:pt x="4087954" y="539810"/>
                  <a:pt x="4101326" y="542532"/>
                  <a:pt x="4114800" y="544605"/>
                </a:cubicBezTo>
                <a:cubicBezTo>
                  <a:pt x="4130463" y="547015"/>
                  <a:pt x="4146201" y="548919"/>
                  <a:pt x="4161864" y="551329"/>
                </a:cubicBezTo>
                <a:cubicBezTo>
                  <a:pt x="4175338" y="553402"/>
                  <a:pt x="4188710" y="556125"/>
                  <a:pt x="4202206" y="558053"/>
                </a:cubicBezTo>
                <a:cubicBezTo>
                  <a:pt x="4234519" y="562669"/>
                  <a:pt x="4284775" y="567974"/>
                  <a:pt x="4316506" y="571500"/>
                </a:cubicBezTo>
                <a:cubicBezTo>
                  <a:pt x="4368035" y="584381"/>
                  <a:pt x="4363537" y="584947"/>
                  <a:pt x="4444253" y="584947"/>
                </a:cubicBezTo>
                <a:cubicBezTo>
                  <a:pt x="4518246" y="584947"/>
                  <a:pt x="4592170" y="580464"/>
                  <a:pt x="4666129" y="578223"/>
                </a:cubicBezTo>
                <a:cubicBezTo>
                  <a:pt x="4726072" y="558242"/>
                  <a:pt x="4692633" y="567851"/>
                  <a:pt x="4766982" y="551329"/>
                </a:cubicBezTo>
                <a:cubicBezTo>
                  <a:pt x="4786761" y="538967"/>
                  <a:pt x="4826916" y="515984"/>
                  <a:pt x="4847664" y="497541"/>
                </a:cubicBezTo>
                <a:cubicBezTo>
                  <a:pt x="4859509" y="487012"/>
                  <a:pt x="4868096" y="472714"/>
                  <a:pt x="4881282" y="463923"/>
                </a:cubicBezTo>
                <a:cubicBezTo>
                  <a:pt x="4916794" y="440249"/>
                  <a:pt x="4954979" y="415828"/>
                  <a:pt x="4982135" y="383241"/>
                </a:cubicBezTo>
                <a:cubicBezTo>
                  <a:pt x="5022755" y="334498"/>
                  <a:pt x="5014657" y="345616"/>
                  <a:pt x="5056094" y="289111"/>
                </a:cubicBezTo>
                <a:cubicBezTo>
                  <a:pt x="5067495" y="273564"/>
                  <a:pt x="5077668" y="257102"/>
                  <a:pt x="5089712" y="242047"/>
                </a:cubicBezTo>
                <a:cubicBezTo>
                  <a:pt x="5098677" y="230841"/>
                  <a:pt x="5108377" y="220186"/>
                  <a:pt x="5116606" y="208429"/>
                </a:cubicBezTo>
                <a:cubicBezTo>
                  <a:pt x="5142735" y="171101"/>
                  <a:pt x="5130316" y="182753"/>
                  <a:pt x="5150223" y="147917"/>
                </a:cubicBezTo>
                <a:cubicBezTo>
                  <a:pt x="5154232" y="140901"/>
                  <a:pt x="5159188" y="134470"/>
                  <a:pt x="5163670" y="127747"/>
                </a:cubicBezTo>
                <a:cubicBezTo>
                  <a:pt x="5165911" y="116541"/>
                  <a:pt x="5167387" y="105154"/>
                  <a:pt x="5170394" y="94129"/>
                </a:cubicBezTo>
                <a:cubicBezTo>
                  <a:pt x="5174124" y="80454"/>
                  <a:pt x="5183841" y="53788"/>
                  <a:pt x="5183841" y="53788"/>
                </a:cubicBezTo>
                <a:cubicBezTo>
                  <a:pt x="5176293" y="8504"/>
                  <a:pt x="5183213" y="25640"/>
                  <a:pt x="5170394" y="0"/>
                </a:cubicBezTo>
              </a:path>
            </a:pathLst>
          </a:custGeom>
          <a:noFill/>
          <a:ln w="38100">
            <a:solidFill>
              <a:srgbClr val="D53E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45451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E763400-AE94-171A-BA3B-BE4F0D29813A}"/>
              </a:ext>
            </a:extLst>
          </p:cNvPr>
          <p:cNvPicPr>
            <a:picLocks noChangeAspect="1"/>
          </p:cNvPicPr>
          <p:nvPr/>
        </p:nvPicPr>
        <p:blipFill>
          <a:blip r:embed="rId3"/>
          <a:srcRect/>
          <a:stretch/>
        </p:blipFill>
        <p:spPr>
          <a:xfrm>
            <a:off x="3652740" y="1027906"/>
            <a:ext cx="8288481" cy="5698331"/>
          </a:xfrm>
          <a:prstGeom prst="rect">
            <a:avLst/>
          </a:prstGeom>
        </p:spPr>
      </p:pic>
      <p:sp>
        <p:nvSpPr>
          <p:cNvPr id="2" name="Title 1">
            <a:extLst>
              <a:ext uri="{FF2B5EF4-FFF2-40B4-BE49-F238E27FC236}">
                <a16:creationId xmlns:a16="http://schemas.microsoft.com/office/drawing/2014/main" id="{8C20C5B8-6072-BDA4-7CF4-F24B0AFDA29E}"/>
              </a:ext>
            </a:extLst>
          </p:cNvPr>
          <p:cNvSpPr>
            <a:spLocks noGrp="1"/>
          </p:cNvSpPr>
          <p:nvPr>
            <p:ph type="title"/>
          </p:nvPr>
        </p:nvSpPr>
        <p:spPr>
          <a:xfrm>
            <a:off x="838200" y="365125"/>
            <a:ext cx="10891684" cy="1325563"/>
          </a:xfrm>
        </p:spPr>
        <p:txBody>
          <a:bodyPr/>
          <a:lstStyle/>
          <a:p>
            <a:r>
              <a:rPr lang="en-US" dirty="0"/>
              <a:t>We need a strategy to decide when to stop.</a:t>
            </a:r>
          </a:p>
        </p:txBody>
      </p:sp>
      <p:sp>
        <p:nvSpPr>
          <p:cNvPr id="8" name="TextBox 7">
            <a:extLst>
              <a:ext uri="{FF2B5EF4-FFF2-40B4-BE49-F238E27FC236}">
                <a16:creationId xmlns:a16="http://schemas.microsoft.com/office/drawing/2014/main" id="{AD498A56-DC87-59BF-E86B-9520BA279774}"/>
              </a:ext>
            </a:extLst>
          </p:cNvPr>
          <p:cNvSpPr txBox="1"/>
          <p:nvPr/>
        </p:nvSpPr>
        <p:spPr>
          <a:xfrm>
            <a:off x="838200" y="2025445"/>
            <a:ext cx="3212690" cy="2031325"/>
          </a:xfrm>
          <a:prstGeom prst="rect">
            <a:avLst/>
          </a:prstGeom>
          <a:noFill/>
        </p:spPr>
        <p:txBody>
          <a:bodyPr wrap="square" rtlCol="0">
            <a:spAutoFit/>
          </a:bodyPr>
          <a:lstStyle/>
          <a:p>
            <a:r>
              <a:rPr lang="en-US" dirty="0"/>
              <a:t>Strategy 2:</a:t>
            </a:r>
          </a:p>
          <a:p>
            <a:r>
              <a:rPr lang="en-US" i="1" dirty="0"/>
              <a:t>Keep checking the validation set</a:t>
            </a:r>
          </a:p>
          <a:p>
            <a:r>
              <a:rPr lang="en-US" dirty="0"/>
              <a:t>(early stopping)</a:t>
            </a:r>
          </a:p>
          <a:p>
            <a:endParaRPr lang="en-US" dirty="0"/>
          </a:p>
          <a:p>
            <a:r>
              <a:rPr lang="en-US" dirty="0"/>
              <a:t>When our boundary no longer works well on new data, we know we’ve gone too far.</a:t>
            </a:r>
          </a:p>
        </p:txBody>
      </p:sp>
      <p:sp>
        <p:nvSpPr>
          <p:cNvPr id="6" name="Freeform 5">
            <a:extLst>
              <a:ext uri="{FF2B5EF4-FFF2-40B4-BE49-F238E27FC236}">
                <a16:creationId xmlns:a16="http://schemas.microsoft.com/office/drawing/2014/main" id="{1376D06B-2386-8FA4-248D-26749FF2E271}"/>
              </a:ext>
            </a:extLst>
          </p:cNvPr>
          <p:cNvSpPr/>
          <p:nvPr/>
        </p:nvSpPr>
        <p:spPr>
          <a:xfrm>
            <a:off x="4746812" y="1848971"/>
            <a:ext cx="5183841" cy="4134970"/>
          </a:xfrm>
          <a:custGeom>
            <a:avLst/>
            <a:gdLst>
              <a:gd name="connsiteX0" fmla="*/ 0 w 5183841"/>
              <a:gd name="connsiteY0" fmla="*/ 4134970 h 4134970"/>
              <a:gd name="connsiteX1" fmla="*/ 47064 w 5183841"/>
              <a:gd name="connsiteY1" fmla="*/ 4114800 h 4134970"/>
              <a:gd name="connsiteX2" fmla="*/ 87406 w 5183841"/>
              <a:gd name="connsiteY2" fmla="*/ 4094629 h 4134970"/>
              <a:gd name="connsiteX3" fmla="*/ 181535 w 5183841"/>
              <a:gd name="connsiteY3" fmla="*/ 4040841 h 4134970"/>
              <a:gd name="connsiteX4" fmla="*/ 221876 w 5183841"/>
              <a:gd name="connsiteY4" fmla="*/ 4027394 h 4134970"/>
              <a:gd name="connsiteX5" fmla="*/ 262217 w 5183841"/>
              <a:gd name="connsiteY5" fmla="*/ 4007223 h 4134970"/>
              <a:gd name="connsiteX6" fmla="*/ 309282 w 5183841"/>
              <a:gd name="connsiteY6" fmla="*/ 3987053 h 4134970"/>
              <a:gd name="connsiteX7" fmla="*/ 389964 w 5183841"/>
              <a:gd name="connsiteY7" fmla="*/ 3939988 h 4134970"/>
              <a:gd name="connsiteX8" fmla="*/ 437029 w 5183841"/>
              <a:gd name="connsiteY8" fmla="*/ 3913094 h 4134970"/>
              <a:gd name="connsiteX9" fmla="*/ 510988 w 5183841"/>
              <a:gd name="connsiteY9" fmla="*/ 3866029 h 4134970"/>
              <a:gd name="connsiteX10" fmla="*/ 544606 w 5183841"/>
              <a:gd name="connsiteY10" fmla="*/ 3832411 h 4134970"/>
              <a:gd name="connsiteX11" fmla="*/ 578223 w 5183841"/>
              <a:gd name="connsiteY11" fmla="*/ 3812241 h 4134970"/>
              <a:gd name="connsiteX12" fmla="*/ 625288 w 5183841"/>
              <a:gd name="connsiteY12" fmla="*/ 3758453 h 4134970"/>
              <a:gd name="connsiteX13" fmla="*/ 645459 w 5183841"/>
              <a:gd name="connsiteY13" fmla="*/ 3745005 h 4134970"/>
              <a:gd name="connsiteX14" fmla="*/ 692523 w 5183841"/>
              <a:gd name="connsiteY14" fmla="*/ 3697941 h 4134970"/>
              <a:gd name="connsiteX15" fmla="*/ 692523 w 5183841"/>
              <a:gd name="connsiteY15" fmla="*/ 3697941 h 4134970"/>
              <a:gd name="connsiteX16" fmla="*/ 759759 w 5183841"/>
              <a:gd name="connsiteY16" fmla="*/ 3610535 h 4134970"/>
              <a:gd name="connsiteX17" fmla="*/ 779929 w 5183841"/>
              <a:gd name="connsiteY17" fmla="*/ 3583641 h 4134970"/>
              <a:gd name="connsiteX18" fmla="*/ 826994 w 5183841"/>
              <a:gd name="connsiteY18" fmla="*/ 3529853 h 4134970"/>
              <a:gd name="connsiteX19" fmla="*/ 847164 w 5183841"/>
              <a:gd name="connsiteY19" fmla="*/ 3502958 h 4134970"/>
              <a:gd name="connsiteX20" fmla="*/ 860612 w 5183841"/>
              <a:gd name="connsiteY20" fmla="*/ 3489511 h 4134970"/>
              <a:gd name="connsiteX21" fmla="*/ 874059 w 5183841"/>
              <a:gd name="connsiteY21" fmla="*/ 3469341 h 4134970"/>
              <a:gd name="connsiteX22" fmla="*/ 914400 w 5183841"/>
              <a:gd name="connsiteY22" fmla="*/ 3415553 h 4134970"/>
              <a:gd name="connsiteX23" fmla="*/ 927847 w 5183841"/>
              <a:gd name="connsiteY23" fmla="*/ 3395382 h 4134970"/>
              <a:gd name="connsiteX24" fmla="*/ 948017 w 5183841"/>
              <a:gd name="connsiteY24" fmla="*/ 3368488 h 4134970"/>
              <a:gd name="connsiteX25" fmla="*/ 961464 w 5183841"/>
              <a:gd name="connsiteY25" fmla="*/ 3341594 h 4134970"/>
              <a:gd name="connsiteX26" fmla="*/ 981635 w 5183841"/>
              <a:gd name="connsiteY26" fmla="*/ 3314700 h 4134970"/>
              <a:gd name="connsiteX27" fmla="*/ 1001806 w 5183841"/>
              <a:gd name="connsiteY27" fmla="*/ 3281082 h 4134970"/>
              <a:gd name="connsiteX28" fmla="*/ 1021976 w 5183841"/>
              <a:gd name="connsiteY28" fmla="*/ 3254188 h 4134970"/>
              <a:gd name="connsiteX29" fmla="*/ 1042147 w 5183841"/>
              <a:gd name="connsiteY29" fmla="*/ 3207123 h 4134970"/>
              <a:gd name="connsiteX30" fmla="*/ 1095935 w 5183841"/>
              <a:gd name="connsiteY30" fmla="*/ 3119717 h 4134970"/>
              <a:gd name="connsiteX31" fmla="*/ 1102659 w 5183841"/>
              <a:gd name="connsiteY31" fmla="*/ 3099547 h 4134970"/>
              <a:gd name="connsiteX32" fmla="*/ 1129553 w 5183841"/>
              <a:gd name="connsiteY32" fmla="*/ 3052482 h 4134970"/>
              <a:gd name="connsiteX33" fmla="*/ 1156447 w 5183841"/>
              <a:gd name="connsiteY33" fmla="*/ 2965076 h 4134970"/>
              <a:gd name="connsiteX34" fmla="*/ 1176617 w 5183841"/>
              <a:gd name="connsiteY34" fmla="*/ 2884394 h 4134970"/>
              <a:gd name="connsiteX35" fmla="*/ 1183341 w 5183841"/>
              <a:gd name="connsiteY35" fmla="*/ 2857500 h 4134970"/>
              <a:gd name="connsiteX36" fmla="*/ 1190064 w 5183841"/>
              <a:gd name="connsiteY36" fmla="*/ 2830605 h 4134970"/>
              <a:gd name="connsiteX37" fmla="*/ 1203512 w 5183841"/>
              <a:gd name="connsiteY37" fmla="*/ 2810435 h 4134970"/>
              <a:gd name="connsiteX38" fmla="*/ 1203512 w 5183841"/>
              <a:gd name="connsiteY38" fmla="*/ 2494429 h 4134970"/>
              <a:gd name="connsiteX39" fmla="*/ 1196788 w 5183841"/>
              <a:gd name="connsiteY39" fmla="*/ 2474258 h 4134970"/>
              <a:gd name="connsiteX40" fmla="*/ 1163170 w 5183841"/>
              <a:gd name="connsiteY40" fmla="*/ 2433917 h 4134970"/>
              <a:gd name="connsiteX41" fmla="*/ 1143000 w 5183841"/>
              <a:gd name="connsiteY41" fmla="*/ 2427194 h 4134970"/>
              <a:gd name="connsiteX42" fmla="*/ 1122829 w 5183841"/>
              <a:gd name="connsiteY42" fmla="*/ 2413747 h 4134970"/>
              <a:gd name="connsiteX43" fmla="*/ 1082488 w 5183841"/>
              <a:gd name="connsiteY43" fmla="*/ 2400300 h 4134970"/>
              <a:gd name="connsiteX44" fmla="*/ 1062317 w 5183841"/>
              <a:gd name="connsiteY44" fmla="*/ 2386853 h 4134970"/>
              <a:gd name="connsiteX45" fmla="*/ 1021976 w 5183841"/>
              <a:gd name="connsiteY45" fmla="*/ 2366682 h 4134970"/>
              <a:gd name="connsiteX46" fmla="*/ 1001806 w 5183841"/>
              <a:gd name="connsiteY46" fmla="*/ 2346511 h 4134970"/>
              <a:gd name="connsiteX47" fmla="*/ 988359 w 5183841"/>
              <a:gd name="connsiteY47" fmla="*/ 2326341 h 4134970"/>
              <a:gd name="connsiteX48" fmla="*/ 948017 w 5183841"/>
              <a:gd name="connsiteY48" fmla="*/ 2299447 h 4134970"/>
              <a:gd name="connsiteX49" fmla="*/ 921123 w 5183841"/>
              <a:gd name="connsiteY49" fmla="*/ 2259105 h 4134970"/>
              <a:gd name="connsiteX50" fmla="*/ 907676 w 5183841"/>
              <a:gd name="connsiteY50" fmla="*/ 2218764 h 4134970"/>
              <a:gd name="connsiteX51" fmla="*/ 921123 w 5183841"/>
              <a:gd name="connsiteY51" fmla="*/ 2144805 h 4134970"/>
              <a:gd name="connsiteX52" fmla="*/ 948017 w 5183841"/>
              <a:gd name="connsiteY52" fmla="*/ 2104464 h 4134970"/>
              <a:gd name="connsiteX53" fmla="*/ 1001806 w 5183841"/>
              <a:gd name="connsiteY53" fmla="*/ 2111188 h 4134970"/>
              <a:gd name="connsiteX54" fmla="*/ 1021976 w 5183841"/>
              <a:gd name="connsiteY54" fmla="*/ 2117911 h 4134970"/>
              <a:gd name="connsiteX55" fmla="*/ 1048870 w 5183841"/>
              <a:gd name="connsiteY55" fmla="*/ 2178423 h 4134970"/>
              <a:gd name="connsiteX56" fmla="*/ 1069041 w 5183841"/>
              <a:gd name="connsiteY56" fmla="*/ 2218764 h 4134970"/>
              <a:gd name="connsiteX57" fmla="*/ 1082488 w 5183841"/>
              <a:gd name="connsiteY57" fmla="*/ 2265829 h 4134970"/>
              <a:gd name="connsiteX58" fmla="*/ 1129553 w 5183841"/>
              <a:gd name="connsiteY58" fmla="*/ 2326341 h 4134970"/>
              <a:gd name="connsiteX59" fmla="*/ 1163170 w 5183841"/>
              <a:gd name="connsiteY59" fmla="*/ 2359958 h 4134970"/>
              <a:gd name="connsiteX60" fmla="*/ 1176617 w 5183841"/>
              <a:gd name="connsiteY60" fmla="*/ 2380129 h 4134970"/>
              <a:gd name="connsiteX61" fmla="*/ 1196788 w 5183841"/>
              <a:gd name="connsiteY61" fmla="*/ 2386853 h 4134970"/>
              <a:gd name="connsiteX62" fmla="*/ 1216959 w 5183841"/>
              <a:gd name="connsiteY62" fmla="*/ 2400300 h 4134970"/>
              <a:gd name="connsiteX63" fmla="*/ 1257300 w 5183841"/>
              <a:gd name="connsiteY63" fmla="*/ 2413747 h 4134970"/>
              <a:gd name="connsiteX64" fmla="*/ 1317812 w 5183841"/>
              <a:gd name="connsiteY64" fmla="*/ 2433917 h 4134970"/>
              <a:gd name="connsiteX65" fmla="*/ 1358153 w 5183841"/>
              <a:gd name="connsiteY65" fmla="*/ 2447364 h 4134970"/>
              <a:gd name="connsiteX66" fmla="*/ 1425388 w 5183841"/>
              <a:gd name="connsiteY66" fmla="*/ 2467535 h 4134970"/>
              <a:gd name="connsiteX67" fmla="*/ 1445559 w 5183841"/>
              <a:gd name="connsiteY67" fmla="*/ 2474258 h 4134970"/>
              <a:gd name="connsiteX68" fmla="*/ 1485900 w 5183841"/>
              <a:gd name="connsiteY68" fmla="*/ 2494429 h 4134970"/>
              <a:gd name="connsiteX69" fmla="*/ 1532964 w 5183841"/>
              <a:gd name="connsiteY69" fmla="*/ 2528047 h 4134970"/>
              <a:gd name="connsiteX70" fmla="*/ 1546412 w 5183841"/>
              <a:gd name="connsiteY70" fmla="*/ 2548217 h 4134970"/>
              <a:gd name="connsiteX71" fmla="*/ 1566582 w 5183841"/>
              <a:gd name="connsiteY71" fmla="*/ 2561664 h 4134970"/>
              <a:gd name="connsiteX72" fmla="*/ 1606923 w 5183841"/>
              <a:gd name="connsiteY72" fmla="*/ 2602005 h 4134970"/>
              <a:gd name="connsiteX73" fmla="*/ 1620370 w 5183841"/>
              <a:gd name="connsiteY73" fmla="*/ 2615453 h 4134970"/>
              <a:gd name="connsiteX74" fmla="*/ 1687606 w 5183841"/>
              <a:gd name="connsiteY74" fmla="*/ 2689411 h 4134970"/>
              <a:gd name="connsiteX75" fmla="*/ 1707776 w 5183841"/>
              <a:gd name="connsiteY75" fmla="*/ 2709582 h 4134970"/>
              <a:gd name="connsiteX76" fmla="*/ 1734670 w 5183841"/>
              <a:gd name="connsiteY76" fmla="*/ 2743200 h 4134970"/>
              <a:gd name="connsiteX77" fmla="*/ 1741394 w 5183841"/>
              <a:gd name="connsiteY77" fmla="*/ 2763370 h 4134970"/>
              <a:gd name="connsiteX78" fmla="*/ 1761564 w 5183841"/>
              <a:gd name="connsiteY78" fmla="*/ 2776817 h 4134970"/>
              <a:gd name="connsiteX79" fmla="*/ 1795182 w 5183841"/>
              <a:gd name="connsiteY79" fmla="*/ 2803711 h 4134970"/>
              <a:gd name="connsiteX80" fmla="*/ 1835523 w 5183841"/>
              <a:gd name="connsiteY80" fmla="*/ 2817158 h 4134970"/>
              <a:gd name="connsiteX81" fmla="*/ 1882588 w 5183841"/>
              <a:gd name="connsiteY81" fmla="*/ 2830605 h 4134970"/>
              <a:gd name="connsiteX82" fmla="*/ 1969994 w 5183841"/>
              <a:gd name="connsiteY82" fmla="*/ 2823882 h 4134970"/>
              <a:gd name="connsiteX83" fmla="*/ 1990164 w 5183841"/>
              <a:gd name="connsiteY83" fmla="*/ 2817158 h 4134970"/>
              <a:gd name="connsiteX84" fmla="*/ 2003612 w 5183841"/>
              <a:gd name="connsiteY84" fmla="*/ 2776817 h 4134970"/>
              <a:gd name="connsiteX85" fmla="*/ 2017059 w 5183841"/>
              <a:gd name="connsiteY85" fmla="*/ 2736476 h 4134970"/>
              <a:gd name="connsiteX86" fmla="*/ 2023782 w 5183841"/>
              <a:gd name="connsiteY86" fmla="*/ 2716305 h 4134970"/>
              <a:gd name="connsiteX87" fmla="*/ 2030506 w 5183841"/>
              <a:gd name="connsiteY87" fmla="*/ 2675964 h 4134970"/>
              <a:gd name="connsiteX88" fmla="*/ 2023782 w 5183841"/>
              <a:gd name="connsiteY88" fmla="*/ 2575111 h 4134970"/>
              <a:gd name="connsiteX89" fmla="*/ 2010335 w 5183841"/>
              <a:gd name="connsiteY89" fmla="*/ 2548217 h 4134970"/>
              <a:gd name="connsiteX90" fmla="*/ 1990164 w 5183841"/>
              <a:gd name="connsiteY90" fmla="*/ 2514600 h 4134970"/>
              <a:gd name="connsiteX91" fmla="*/ 1956547 w 5183841"/>
              <a:gd name="connsiteY91" fmla="*/ 2467535 h 4134970"/>
              <a:gd name="connsiteX92" fmla="*/ 1929653 w 5183841"/>
              <a:gd name="connsiteY92" fmla="*/ 2440641 h 4134970"/>
              <a:gd name="connsiteX93" fmla="*/ 1916206 w 5183841"/>
              <a:gd name="connsiteY93" fmla="*/ 2420470 h 4134970"/>
              <a:gd name="connsiteX94" fmla="*/ 1896035 w 5183841"/>
              <a:gd name="connsiteY94" fmla="*/ 2393576 h 4134970"/>
              <a:gd name="connsiteX95" fmla="*/ 1875864 w 5183841"/>
              <a:gd name="connsiteY95" fmla="*/ 2373405 h 4134970"/>
              <a:gd name="connsiteX96" fmla="*/ 1855694 w 5183841"/>
              <a:gd name="connsiteY96" fmla="*/ 2346511 h 4134970"/>
              <a:gd name="connsiteX97" fmla="*/ 1842247 w 5183841"/>
              <a:gd name="connsiteY97" fmla="*/ 2326341 h 4134970"/>
              <a:gd name="connsiteX98" fmla="*/ 1801906 w 5183841"/>
              <a:gd name="connsiteY98" fmla="*/ 2286000 h 4134970"/>
              <a:gd name="connsiteX99" fmla="*/ 1795182 w 5183841"/>
              <a:gd name="connsiteY99" fmla="*/ 2265829 h 4134970"/>
              <a:gd name="connsiteX100" fmla="*/ 1754841 w 5183841"/>
              <a:gd name="connsiteY100" fmla="*/ 2232211 h 4134970"/>
              <a:gd name="connsiteX101" fmla="*/ 1741394 w 5183841"/>
              <a:gd name="connsiteY101" fmla="*/ 2212041 h 4134970"/>
              <a:gd name="connsiteX102" fmla="*/ 1721223 w 5183841"/>
              <a:gd name="connsiteY102" fmla="*/ 2198594 h 4134970"/>
              <a:gd name="connsiteX103" fmla="*/ 1701053 w 5183841"/>
              <a:gd name="connsiteY103" fmla="*/ 2164976 h 4134970"/>
              <a:gd name="connsiteX104" fmla="*/ 1680882 w 5183841"/>
              <a:gd name="connsiteY104" fmla="*/ 2144805 h 4134970"/>
              <a:gd name="connsiteX105" fmla="*/ 1667435 w 5183841"/>
              <a:gd name="connsiteY105" fmla="*/ 2124635 h 4134970"/>
              <a:gd name="connsiteX106" fmla="*/ 1647264 w 5183841"/>
              <a:gd name="connsiteY106" fmla="*/ 2104464 h 4134970"/>
              <a:gd name="connsiteX107" fmla="*/ 1633817 w 5183841"/>
              <a:gd name="connsiteY107" fmla="*/ 2084294 h 4134970"/>
              <a:gd name="connsiteX108" fmla="*/ 1586753 w 5183841"/>
              <a:gd name="connsiteY108" fmla="*/ 2023782 h 4134970"/>
              <a:gd name="connsiteX109" fmla="*/ 1573306 w 5183841"/>
              <a:gd name="connsiteY109" fmla="*/ 1983441 h 4134970"/>
              <a:gd name="connsiteX110" fmla="*/ 1559859 w 5183841"/>
              <a:gd name="connsiteY110" fmla="*/ 1909482 h 4134970"/>
              <a:gd name="connsiteX111" fmla="*/ 1566582 w 5183841"/>
              <a:gd name="connsiteY111" fmla="*/ 1801905 h 4134970"/>
              <a:gd name="connsiteX112" fmla="*/ 1600200 w 5183841"/>
              <a:gd name="connsiteY112" fmla="*/ 1768288 h 4134970"/>
              <a:gd name="connsiteX113" fmla="*/ 1620370 w 5183841"/>
              <a:gd name="connsiteY113" fmla="*/ 1748117 h 4134970"/>
              <a:gd name="connsiteX114" fmla="*/ 1660712 w 5183841"/>
              <a:gd name="connsiteY114" fmla="*/ 1727947 h 4134970"/>
              <a:gd name="connsiteX115" fmla="*/ 1701053 w 5183841"/>
              <a:gd name="connsiteY115" fmla="*/ 1701053 h 4134970"/>
              <a:gd name="connsiteX116" fmla="*/ 1721223 w 5183841"/>
              <a:gd name="connsiteY116" fmla="*/ 1694329 h 4134970"/>
              <a:gd name="connsiteX117" fmla="*/ 1741394 w 5183841"/>
              <a:gd name="connsiteY117" fmla="*/ 1680882 h 4134970"/>
              <a:gd name="connsiteX118" fmla="*/ 1781735 w 5183841"/>
              <a:gd name="connsiteY118" fmla="*/ 1667435 h 4134970"/>
              <a:gd name="connsiteX119" fmla="*/ 1842247 w 5183841"/>
              <a:gd name="connsiteY119" fmla="*/ 1653988 h 4134970"/>
              <a:gd name="connsiteX120" fmla="*/ 1869141 w 5183841"/>
              <a:gd name="connsiteY120" fmla="*/ 1640541 h 4134970"/>
              <a:gd name="connsiteX121" fmla="*/ 1969994 w 5183841"/>
              <a:gd name="connsiteY121" fmla="*/ 1627094 h 4134970"/>
              <a:gd name="connsiteX122" fmla="*/ 2117912 w 5183841"/>
              <a:gd name="connsiteY122" fmla="*/ 1633817 h 4134970"/>
              <a:gd name="connsiteX123" fmla="*/ 2151529 w 5183841"/>
              <a:gd name="connsiteY123" fmla="*/ 1687605 h 4134970"/>
              <a:gd name="connsiteX124" fmla="*/ 2158253 w 5183841"/>
              <a:gd name="connsiteY124" fmla="*/ 1707776 h 4134970"/>
              <a:gd name="connsiteX125" fmla="*/ 2138082 w 5183841"/>
              <a:gd name="connsiteY125" fmla="*/ 1808629 h 4134970"/>
              <a:gd name="connsiteX126" fmla="*/ 2111188 w 5183841"/>
              <a:gd name="connsiteY126" fmla="*/ 1848970 h 4134970"/>
              <a:gd name="connsiteX127" fmla="*/ 2091017 w 5183841"/>
              <a:gd name="connsiteY127" fmla="*/ 1862417 h 4134970"/>
              <a:gd name="connsiteX128" fmla="*/ 2057400 w 5183841"/>
              <a:gd name="connsiteY128" fmla="*/ 1896035 h 4134970"/>
              <a:gd name="connsiteX129" fmla="*/ 2043953 w 5183841"/>
              <a:gd name="connsiteY129" fmla="*/ 1916205 h 4134970"/>
              <a:gd name="connsiteX130" fmla="*/ 2003612 w 5183841"/>
              <a:gd name="connsiteY130" fmla="*/ 1969994 h 4134970"/>
              <a:gd name="connsiteX131" fmla="*/ 1990164 w 5183841"/>
              <a:gd name="connsiteY131" fmla="*/ 2010335 h 4134970"/>
              <a:gd name="connsiteX132" fmla="*/ 1996888 w 5183841"/>
              <a:gd name="connsiteY132" fmla="*/ 2131358 h 4134970"/>
              <a:gd name="connsiteX133" fmla="*/ 2017059 w 5183841"/>
              <a:gd name="connsiteY133" fmla="*/ 2151529 h 4134970"/>
              <a:gd name="connsiteX134" fmla="*/ 2037229 w 5183841"/>
              <a:gd name="connsiteY134" fmla="*/ 2164976 h 4134970"/>
              <a:gd name="connsiteX135" fmla="*/ 2070847 w 5183841"/>
              <a:gd name="connsiteY135" fmla="*/ 2171700 h 4134970"/>
              <a:gd name="connsiteX136" fmla="*/ 2097741 w 5183841"/>
              <a:gd name="connsiteY136" fmla="*/ 2178423 h 4134970"/>
              <a:gd name="connsiteX137" fmla="*/ 2151529 w 5183841"/>
              <a:gd name="connsiteY137" fmla="*/ 2171700 h 4134970"/>
              <a:gd name="connsiteX138" fmla="*/ 2171700 w 5183841"/>
              <a:gd name="connsiteY138" fmla="*/ 2164976 h 4134970"/>
              <a:gd name="connsiteX139" fmla="*/ 2225488 w 5183841"/>
              <a:gd name="connsiteY139" fmla="*/ 2158253 h 4134970"/>
              <a:gd name="connsiteX140" fmla="*/ 2265829 w 5183841"/>
              <a:gd name="connsiteY140" fmla="*/ 2144805 h 4134970"/>
              <a:gd name="connsiteX141" fmla="*/ 2279276 w 5183841"/>
              <a:gd name="connsiteY141" fmla="*/ 2124635 h 4134970"/>
              <a:gd name="connsiteX142" fmla="*/ 2319617 w 5183841"/>
              <a:gd name="connsiteY142" fmla="*/ 2104464 h 4134970"/>
              <a:gd name="connsiteX143" fmla="*/ 2359959 w 5183841"/>
              <a:gd name="connsiteY143" fmla="*/ 2084294 h 4134970"/>
              <a:gd name="connsiteX144" fmla="*/ 2420470 w 5183841"/>
              <a:gd name="connsiteY144" fmla="*/ 2091017 h 4134970"/>
              <a:gd name="connsiteX145" fmla="*/ 2460812 w 5183841"/>
              <a:gd name="connsiteY145" fmla="*/ 2117911 h 4134970"/>
              <a:gd name="connsiteX146" fmla="*/ 2480982 w 5183841"/>
              <a:gd name="connsiteY146" fmla="*/ 2191870 h 4134970"/>
              <a:gd name="connsiteX147" fmla="*/ 2480982 w 5183841"/>
              <a:gd name="connsiteY147" fmla="*/ 2333064 h 4134970"/>
              <a:gd name="connsiteX148" fmla="*/ 2487706 w 5183841"/>
              <a:gd name="connsiteY148" fmla="*/ 2353235 h 4134970"/>
              <a:gd name="connsiteX149" fmla="*/ 2514600 w 5183841"/>
              <a:gd name="connsiteY149" fmla="*/ 2386853 h 4134970"/>
              <a:gd name="connsiteX150" fmla="*/ 2541494 w 5183841"/>
              <a:gd name="connsiteY150" fmla="*/ 2393576 h 4134970"/>
              <a:gd name="connsiteX151" fmla="*/ 2561664 w 5183841"/>
              <a:gd name="connsiteY151" fmla="*/ 2400300 h 4134970"/>
              <a:gd name="connsiteX152" fmla="*/ 2615453 w 5183841"/>
              <a:gd name="connsiteY152" fmla="*/ 2393576 h 4134970"/>
              <a:gd name="connsiteX153" fmla="*/ 2662517 w 5183841"/>
              <a:gd name="connsiteY153" fmla="*/ 2366682 h 4134970"/>
              <a:gd name="connsiteX154" fmla="*/ 2675964 w 5183841"/>
              <a:gd name="connsiteY154" fmla="*/ 2346511 h 4134970"/>
              <a:gd name="connsiteX155" fmla="*/ 2689412 w 5183841"/>
              <a:gd name="connsiteY155" fmla="*/ 2306170 h 4134970"/>
              <a:gd name="connsiteX156" fmla="*/ 2682688 w 5183841"/>
              <a:gd name="connsiteY156" fmla="*/ 2212041 h 4134970"/>
              <a:gd name="connsiteX157" fmla="*/ 2669241 w 5183841"/>
              <a:gd name="connsiteY157" fmla="*/ 2171700 h 4134970"/>
              <a:gd name="connsiteX158" fmla="*/ 2662517 w 5183841"/>
              <a:gd name="connsiteY158" fmla="*/ 2151529 h 4134970"/>
              <a:gd name="connsiteX159" fmla="*/ 2642347 w 5183841"/>
              <a:gd name="connsiteY159" fmla="*/ 2131358 h 4134970"/>
              <a:gd name="connsiteX160" fmla="*/ 2628900 w 5183841"/>
              <a:gd name="connsiteY160" fmla="*/ 2111188 h 4134970"/>
              <a:gd name="connsiteX161" fmla="*/ 2608729 w 5183841"/>
              <a:gd name="connsiteY161" fmla="*/ 2084294 h 4134970"/>
              <a:gd name="connsiteX162" fmla="*/ 2595282 w 5183841"/>
              <a:gd name="connsiteY162" fmla="*/ 2064123 h 4134970"/>
              <a:gd name="connsiteX163" fmla="*/ 2561664 w 5183841"/>
              <a:gd name="connsiteY163" fmla="*/ 2030505 h 4134970"/>
              <a:gd name="connsiteX164" fmla="*/ 2528047 w 5183841"/>
              <a:gd name="connsiteY164" fmla="*/ 1990164 h 4134970"/>
              <a:gd name="connsiteX165" fmla="*/ 2494429 w 5183841"/>
              <a:gd name="connsiteY165" fmla="*/ 1956547 h 4134970"/>
              <a:gd name="connsiteX166" fmla="*/ 2474259 w 5183841"/>
              <a:gd name="connsiteY166" fmla="*/ 1916205 h 4134970"/>
              <a:gd name="connsiteX167" fmla="*/ 2454088 w 5183841"/>
              <a:gd name="connsiteY167" fmla="*/ 1875864 h 4134970"/>
              <a:gd name="connsiteX168" fmla="*/ 2454088 w 5183841"/>
              <a:gd name="connsiteY168" fmla="*/ 1754841 h 4134970"/>
              <a:gd name="connsiteX169" fmla="*/ 2474259 w 5183841"/>
              <a:gd name="connsiteY169" fmla="*/ 1734670 h 4134970"/>
              <a:gd name="connsiteX170" fmla="*/ 2507876 w 5183841"/>
              <a:gd name="connsiteY170" fmla="*/ 1701053 h 4134970"/>
              <a:gd name="connsiteX171" fmla="*/ 2575112 w 5183841"/>
              <a:gd name="connsiteY171" fmla="*/ 1680882 h 4134970"/>
              <a:gd name="connsiteX172" fmla="*/ 2642347 w 5183841"/>
              <a:gd name="connsiteY172" fmla="*/ 1667435 h 4134970"/>
              <a:gd name="connsiteX173" fmla="*/ 2749923 w 5183841"/>
              <a:gd name="connsiteY173" fmla="*/ 1694329 h 4134970"/>
              <a:gd name="connsiteX174" fmla="*/ 2770094 w 5183841"/>
              <a:gd name="connsiteY174" fmla="*/ 1701053 h 4134970"/>
              <a:gd name="connsiteX175" fmla="*/ 2817159 w 5183841"/>
              <a:gd name="connsiteY175" fmla="*/ 1721223 h 4134970"/>
              <a:gd name="connsiteX176" fmla="*/ 2850776 w 5183841"/>
              <a:gd name="connsiteY176" fmla="*/ 1727947 h 4134970"/>
              <a:gd name="connsiteX177" fmla="*/ 2877670 w 5183841"/>
              <a:gd name="connsiteY177" fmla="*/ 1734670 h 4134970"/>
              <a:gd name="connsiteX178" fmla="*/ 2931459 w 5183841"/>
              <a:gd name="connsiteY178" fmla="*/ 1741394 h 4134970"/>
              <a:gd name="connsiteX179" fmla="*/ 2951629 w 5183841"/>
              <a:gd name="connsiteY179" fmla="*/ 1748117 h 4134970"/>
              <a:gd name="connsiteX180" fmla="*/ 2998694 w 5183841"/>
              <a:gd name="connsiteY180" fmla="*/ 1801905 h 4134970"/>
              <a:gd name="connsiteX181" fmla="*/ 3012141 w 5183841"/>
              <a:gd name="connsiteY181" fmla="*/ 1822076 h 4134970"/>
              <a:gd name="connsiteX182" fmla="*/ 2991970 w 5183841"/>
              <a:gd name="connsiteY182" fmla="*/ 1896035 h 4134970"/>
              <a:gd name="connsiteX183" fmla="*/ 2978523 w 5183841"/>
              <a:gd name="connsiteY183" fmla="*/ 1916205 h 4134970"/>
              <a:gd name="connsiteX184" fmla="*/ 2951629 w 5183841"/>
              <a:gd name="connsiteY184" fmla="*/ 1949823 h 4134970"/>
              <a:gd name="connsiteX185" fmla="*/ 2938182 w 5183841"/>
              <a:gd name="connsiteY185" fmla="*/ 1976717 h 4134970"/>
              <a:gd name="connsiteX186" fmla="*/ 2931459 w 5183841"/>
              <a:gd name="connsiteY186" fmla="*/ 1996888 h 4134970"/>
              <a:gd name="connsiteX187" fmla="*/ 2918012 w 5183841"/>
              <a:gd name="connsiteY187" fmla="*/ 2017058 h 4134970"/>
              <a:gd name="connsiteX188" fmla="*/ 2911288 w 5183841"/>
              <a:gd name="connsiteY188" fmla="*/ 2043953 h 4134970"/>
              <a:gd name="connsiteX189" fmla="*/ 2904564 w 5183841"/>
              <a:gd name="connsiteY189" fmla="*/ 2064123 h 4134970"/>
              <a:gd name="connsiteX190" fmla="*/ 2911288 w 5183841"/>
              <a:gd name="connsiteY190" fmla="*/ 2131358 h 4134970"/>
              <a:gd name="connsiteX191" fmla="*/ 2918012 w 5183841"/>
              <a:gd name="connsiteY191" fmla="*/ 2151529 h 4134970"/>
              <a:gd name="connsiteX192" fmla="*/ 2958353 w 5183841"/>
              <a:gd name="connsiteY192" fmla="*/ 2171700 h 4134970"/>
              <a:gd name="connsiteX193" fmla="*/ 2998694 w 5183841"/>
              <a:gd name="connsiteY193" fmla="*/ 2158253 h 4134970"/>
              <a:gd name="connsiteX194" fmla="*/ 3032312 w 5183841"/>
              <a:gd name="connsiteY194" fmla="*/ 2131358 h 4134970"/>
              <a:gd name="connsiteX195" fmla="*/ 3059206 w 5183841"/>
              <a:gd name="connsiteY195" fmla="*/ 2097741 h 4134970"/>
              <a:gd name="connsiteX196" fmla="*/ 3099547 w 5183841"/>
              <a:gd name="connsiteY196" fmla="*/ 2064123 h 4134970"/>
              <a:gd name="connsiteX197" fmla="*/ 3139888 w 5183841"/>
              <a:gd name="connsiteY197" fmla="*/ 2050676 h 4134970"/>
              <a:gd name="connsiteX198" fmla="*/ 3180229 w 5183841"/>
              <a:gd name="connsiteY198" fmla="*/ 2057400 h 4134970"/>
              <a:gd name="connsiteX199" fmla="*/ 3220570 w 5183841"/>
              <a:gd name="connsiteY199" fmla="*/ 2084294 h 4134970"/>
              <a:gd name="connsiteX200" fmla="*/ 3254188 w 5183841"/>
              <a:gd name="connsiteY200" fmla="*/ 2124635 h 4134970"/>
              <a:gd name="connsiteX201" fmla="*/ 3267635 w 5183841"/>
              <a:gd name="connsiteY201" fmla="*/ 2144805 h 4134970"/>
              <a:gd name="connsiteX202" fmla="*/ 3281082 w 5183841"/>
              <a:gd name="connsiteY202" fmla="*/ 2158253 h 4134970"/>
              <a:gd name="connsiteX203" fmla="*/ 3307976 w 5183841"/>
              <a:gd name="connsiteY203" fmla="*/ 2198594 h 4134970"/>
              <a:gd name="connsiteX204" fmla="*/ 3321423 w 5183841"/>
              <a:gd name="connsiteY204" fmla="*/ 2218764 h 4134970"/>
              <a:gd name="connsiteX205" fmla="*/ 3341594 w 5183841"/>
              <a:gd name="connsiteY205" fmla="*/ 2232211 h 4134970"/>
              <a:gd name="connsiteX206" fmla="*/ 3355041 w 5183841"/>
              <a:gd name="connsiteY206" fmla="*/ 2252382 h 4134970"/>
              <a:gd name="connsiteX207" fmla="*/ 3388659 w 5183841"/>
              <a:gd name="connsiteY207" fmla="*/ 2292723 h 4134970"/>
              <a:gd name="connsiteX208" fmla="*/ 3415553 w 5183841"/>
              <a:gd name="connsiteY208" fmla="*/ 2333064 h 4134970"/>
              <a:gd name="connsiteX209" fmla="*/ 3429000 w 5183841"/>
              <a:gd name="connsiteY209" fmla="*/ 2353235 h 4134970"/>
              <a:gd name="connsiteX210" fmla="*/ 3449170 w 5183841"/>
              <a:gd name="connsiteY210" fmla="*/ 2359958 h 4134970"/>
              <a:gd name="connsiteX211" fmla="*/ 3462617 w 5183841"/>
              <a:gd name="connsiteY211" fmla="*/ 2380129 h 4134970"/>
              <a:gd name="connsiteX212" fmla="*/ 3482788 w 5183841"/>
              <a:gd name="connsiteY212" fmla="*/ 2386853 h 4134970"/>
              <a:gd name="connsiteX213" fmla="*/ 3523129 w 5183841"/>
              <a:gd name="connsiteY213" fmla="*/ 2413747 h 4134970"/>
              <a:gd name="connsiteX214" fmla="*/ 3583641 w 5183841"/>
              <a:gd name="connsiteY214" fmla="*/ 2460811 h 4134970"/>
              <a:gd name="connsiteX215" fmla="*/ 3603812 w 5183841"/>
              <a:gd name="connsiteY215" fmla="*/ 2474258 h 4134970"/>
              <a:gd name="connsiteX216" fmla="*/ 3623982 w 5183841"/>
              <a:gd name="connsiteY216" fmla="*/ 2487705 h 4134970"/>
              <a:gd name="connsiteX217" fmla="*/ 3664323 w 5183841"/>
              <a:gd name="connsiteY217" fmla="*/ 2501153 h 4134970"/>
              <a:gd name="connsiteX218" fmla="*/ 3691217 w 5183841"/>
              <a:gd name="connsiteY218" fmla="*/ 2514600 h 4134970"/>
              <a:gd name="connsiteX219" fmla="*/ 3745006 w 5183841"/>
              <a:gd name="connsiteY219" fmla="*/ 2528047 h 4134970"/>
              <a:gd name="connsiteX220" fmla="*/ 3771900 w 5183841"/>
              <a:gd name="connsiteY220" fmla="*/ 2534770 h 4134970"/>
              <a:gd name="connsiteX221" fmla="*/ 3839135 w 5183841"/>
              <a:gd name="connsiteY221" fmla="*/ 2554941 h 4134970"/>
              <a:gd name="connsiteX222" fmla="*/ 3906370 w 5183841"/>
              <a:gd name="connsiteY222" fmla="*/ 2561664 h 4134970"/>
              <a:gd name="connsiteX223" fmla="*/ 3946712 w 5183841"/>
              <a:gd name="connsiteY223" fmla="*/ 2581835 h 4134970"/>
              <a:gd name="connsiteX224" fmla="*/ 3953435 w 5183841"/>
              <a:gd name="connsiteY224" fmla="*/ 2602005 h 4134970"/>
              <a:gd name="connsiteX225" fmla="*/ 3966882 w 5183841"/>
              <a:gd name="connsiteY225" fmla="*/ 2615453 h 4134970"/>
              <a:gd name="connsiteX226" fmla="*/ 3993776 w 5183841"/>
              <a:gd name="connsiteY226" fmla="*/ 2662517 h 4134970"/>
              <a:gd name="connsiteX227" fmla="*/ 4013947 w 5183841"/>
              <a:gd name="connsiteY227" fmla="*/ 2682688 h 4134970"/>
              <a:gd name="connsiteX228" fmla="*/ 4034117 w 5183841"/>
              <a:gd name="connsiteY228" fmla="*/ 2723029 h 4134970"/>
              <a:gd name="connsiteX229" fmla="*/ 4040841 w 5183841"/>
              <a:gd name="connsiteY229" fmla="*/ 2743200 h 4134970"/>
              <a:gd name="connsiteX230" fmla="*/ 4061012 w 5183841"/>
              <a:gd name="connsiteY230" fmla="*/ 2756647 h 4134970"/>
              <a:gd name="connsiteX231" fmla="*/ 4074459 w 5183841"/>
              <a:gd name="connsiteY231" fmla="*/ 2796988 h 4134970"/>
              <a:gd name="connsiteX232" fmla="*/ 4081182 w 5183841"/>
              <a:gd name="connsiteY232" fmla="*/ 2817158 h 4134970"/>
              <a:gd name="connsiteX233" fmla="*/ 4087906 w 5183841"/>
              <a:gd name="connsiteY233" fmla="*/ 2844053 h 4134970"/>
              <a:gd name="connsiteX234" fmla="*/ 4114800 w 5183841"/>
              <a:gd name="connsiteY234" fmla="*/ 2891117 h 4134970"/>
              <a:gd name="connsiteX235" fmla="*/ 4128247 w 5183841"/>
              <a:gd name="connsiteY235" fmla="*/ 2931458 h 4134970"/>
              <a:gd name="connsiteX236" fmla="*/ 4148417 w 5183841"/>
              <a:gd name="connsiteY236" fmla="*/ 2944905 h 4134970"/>
              <a:gd name="connsiteX237" fmla="*/ 4175312 w 5183841"/>
              <a:gd name="connsiteY237" fmla="*/ 2971800 h 4134970"/>
              <a:gd name="connsiteX238" fmla="*/ 4235823 w 5183841"/>
              <a:gd name="connsiteY238" fmla="*/ 2985247 h 4134970"/>
              <a:gd name="connsiteX239" fmla="*/ 4289612 w 5183841"/>
              <a:gd name="connsiteY239" fmla="*/ 2965076 h 4134970"/>
              <a:gd name="connsiteX240" fmla="*/ 4309782 w 5183841"/>
              <a:gd name="connsiteY240" fmla="*/ 2897841 h 4134970"/>
              <a:gd name="connsiteX241" fmla="*/ 4303059 w 5183841"/>
              <a:gd name="connsiteY241" fmla="*/ 2850776 h 4134970"/>
              <a:gd name="connsiteX242" fmla="*/ 4282888 w 5183841"/>
              <a:gd name="connsiteY242" fmla="*/ 2790264 h 4134970"/>
              <a:gd name="connsiteX243" fmla="*/ 4262717 w 5183841"/>
              <a:gd name="connsiteY243" fmla="*/ 2776817 h 4134970"/>
              <a:gd name="connsiteX244" fmla="*/ 4249270 w 5183841"/>
              <a:gd name="connsiteY244" fmla="*/ 2756647 h 4134970"/>
              <a:gd name="connsiteX245" fmla="*/ 4208929 w 5183841"/>
              <a:gd name="connsiteY245" fmla="*/ 2729753 h 4134970"/>
              <a:gd name="connsiteX246" fmla="*/ 4188759 w 5183841"/>
              <a:gd name="connsiteY246" fmla="*/ 2716305 h 4134970"/>
              <a:gd name="connsiteX247" fmla="*/ 4161864 w 5183841"/>
              <a:gd name="connsiteY247" fmla="*/ 2689411 h 4134970"/>
              <a:gd name="connsiteX248" fmla="*/ 4155141 w 5183841"/>
              <a:gd name="connsiteY248" fmla="*/ 2669241 h 4134970"/>
              <a:gd name="connsiteX249" fmla="*/ 4188759 w 5183841"/>
              <a:gd name="connsiteY249" fmla="*/ 2595282 h 4134970"/>
              <a:gd name="connsiteX250" fmla="*/ 4202206 w 5183841"/>
              <a:gd name="connsiteY250" fmla="*/ 2575111 h 4134970"/>
              <a:gd name="connsiteX251" fmla="*/ 4229100 w 5183841"/>
              <a:gd name="connsiteY251" fmla="*/ 2561664 h 4134970"/>
              <a:gd name="connsiteX252" fmla="*/ 4249270 w 5183841"/>
              <a:gd name="connsiteY252" fmla="*/ 2548217 h 4134970"/>
              <a:gd name="connsiteX253" fmla="*/ 4329953 w 5183841"/>
              <a:gd name="connsiteY253" fmla="*/ 2528047 h 4134970"/>
              <a:gd name="connsiteX254" fmla="*/ 4383741 w 5183841"/>
              <a:gd name="connsiteY254" fmla="*/ 2514600 h 4134970"/>
              <a:gd name="connsiteX255" fmla="*/ 4430806 w 5183841"/>
              <a:gd name="connsiteY255" fmla="*/ 2507876 h 4134970"/>
              <a:gd name="connsiteX256" fmla="*/ 4477870 w 5183841"/>
              <a:gd name="connsiteY256" fmla="*/ 2494429 h 4134970"/>
              <a:gd name="connsiteX257" fmla="*/ 4531659 w 5183841"/>
              <a:gd name="connsiteY257" fmla="*/ 2480982 h 4134970"/>
              <a:gd name="connsiteX258" fmla="*/ 4585447 w 5183841"/>
              <a:gd name="connsiteY258" fmla="*/ 2454088 h 4134970"/>
              <a:gd name="connsiteX259" fmla="*/ 4612341 w 5183841"/>
              <a:gd name="connsiteY259" fmla="*/ 2447364 h 4134970"/>
              <a:gd name="connsiteX260" fmla="*/ 4659406 w 5183841"/>
              <a:gd name="connsiteY260" fmla="*/ 2420470 h 4134970"/>
              <a:gd name="connsiteX261" fmla="*/ 4693023 w 5183841"/>
              <a:gd name="connsiteY261" fmla="*/ 2373405 h 4134970"/>
              <a:gd name="connsiteX262" fmla="*/ 4713194 w 5183841"/>
              <a:gd name="connsiteY262" fmla="*/ 2299447 h 4134970"/>
              <a:gd name="connsiteX263" fmla="*/ 4719917 w 5183841"/>
              <a:gd name="connsiteY263" fmla="*/ 2272553 h 4134970"/>
              <a:gd name="connsiteX264" fmla="*/ 4726641 w 5183841"/>
              <a:gd name="connsiteY264" fmla="*/ 2252382 h 4134970"/>
              <a:gd name="connsiteX265" fmla="*/ 4733364 w 5183841"/>
              <a:gd name="connsiteY265" fmla="*/ 2218764 h 4134970"/>
              <a:gd name="connsiteX266" fmla="*/ 4713194 w 5183841"/>
              <a:gd name="connsiteY266" fmla="*/ 2124635 h 4134970"/>
              <a:gd name="connsiteX267" fmla="*/ 4706470 w 5183841"/>
              <a:gd name="connsiteY267" fmla="*/ 2104464 h 4134970"/>
              <a:gd name="connsiteX268" fmla="*/ 4693023 w 5183841"/>
              <a:gd name="connsiteY268" fmla="*/ 2084294 h 4134970"/>
              <a:gd name="connsiteX269" fmla="*/ 4652682 w 5183841"/>
              <a:gd name="connsiteY269" fmla="*/ 2070847 h 4134970"/>
              <a:gd name="connsiteX270" fmla="*/ 4632512 w 5183841"/>
              <a:gd name="connsiteY270" fmla="*/ 2057400 h 4134970"/>
              <a:gd name="connsiteX271" fmla="*/ 4558553 w 5183841"/>
              <a:gd name="connsiteY271" fmla="*/ 2077570 h 4134970"/>
              <a:gd name="connsiteX272" fmla="*/ 4531659 w 5183841"/>
              <a:gd name="connsiteY272" fmla="*/ 2138082 h 4134970"/>
              <a:gd name="connsiteX273" fmla="*/ 4524935 w 5183841"/>
              <a:gd name="connsiteY273" fmla="*/ 2158253 h 4134970"/>
              <a:gd name="connsiteX274" fmla="*/ 4511488 w 5183841"/>
              <a:gd name="connsiteY274" fmla="*/ 2178423 h 4134970"/>
              <a:gd name="connsiteX275" fmla="*/ 4491317 w 5183841"/>
              <a:gd name="connsiteY275" fmla="*/ 2238935 h 4134970"/>
              <a:gd name="connsiteX276" fmla="*/ 4477870 w 5183841"/>
              <a:gd name="connsiteY276" fmla="*/ 2272553 h 4134970"/>
              <a:gd name="connsiteX277" fmla="*/ 4464423 w 5183841"/>
              <a:gd name="connsiteY277" fmla="*/ 2312894 h 4134970"/>
              <a:gd name="connsiteX278" fmla="*/ 4437529 w 5183841"/>
              <a:gd name="connsiteY278" fmla="*/ 2353235 h 4134970"/>
              <a:gd name="connsiteX279" fmla="*/ 4377017 w 5183841"/>
              <a:gd name="connsiteY279" fmla="*/ 2400300 h 4134970"/>
              <a:gd name="connsiteX280" fmla="*/ 4356847 w 5183841"/>
              <a:gd name="connsiteY280" fmla="*/ 2407023 h 4134970"/>
              <a:gd name="connsiteX281" fmla="*/ 4336676 w 5183841"/>
              <a:gd name="connsiteY281" fmla="*/ 2420470 h 4134970"/>
              <a:gd name="connsiteX282" fmla="*/ 4276164 w 5183841"/>
              <a:gd name="connsiteY282" fmla="*/ 2433917 h 4134970"/>
              <a:gd name="connsiteX283" fmla="*/ 4242547 w 5183841"/>
              <a:gd name="connsiteY283" fmla="*/ 2440641 h 4134970"/>
              <a:gd name="connsiteX284" fmla="*/ 4161864 w 5183841"/>
              <a:gd name="connsiteY284" fmla="*/ 2420470 h 4134970"/>
              <a:gd name="connsiteX285" fmla="*/ 4148417 w 5183841"/>
              <a:gd name="connsiteY285" fmla="*/ 2380129 h 4134970"/>
              <a:gd name="connsiteX286" fmla="*/ 4175312 w 5183841"/>
              <a:gd name="connsiteY286" fmla="*/ 2319617 h 4134970"/>
              <a:gd name="connsiteX287" fmla="*/ 4195482 w 5183841"/>
              <a:gd name="connsiteY287" fmla="*/ 2279276 h 4134970"/>
              <a:gd name="connsiteX288" fmla="*/ 4215653 w 5183841"/>
              <a:gd name="connsiteY288" fmla="*/ 2265829 h 4134970"/>
              <a:gd name="connsiteX289" fmla="*/ 4249270 w 5183841"/>
              <a:gd name="connsiteY289" fmla="*/ 2225488 h 4134970"/>
              <a:gd name="connsiteX290" fmla="*/ 4262717 w 5183841"/>
              <a:gd name="connsiteY290" fmla="*/ 2205317 h 4134970"/>
              <a:gd name="connsiteX291" fmla="*/ 4255994 w 5183841"/>
              <a:gd name="connsiteY291" fmla="*/ 2178423 h 4134970"/>
              <a:gd name="connsiteX292" fmla="*/ 4235823 w 5183841"/>
              <a:gd name="connsiteY292" fmla="*/ 2171700 h 4134970"/>
              <a:gd name="connsiteX293" fmla="*/ 4175312 w 5183841"/>
              <a:gd name="connsiteY293" fmla="*/ 2178423 h 4134970"/>
              <a:gd name="connsiteX294" fmla="*/ 4128247 w 5183841"/>
              <a:gd name="connsiteY294" fmla="*/ 2164976 h 4134970"/>
              <a:gd name="connsiteX295" fmla="*/ 4121523 w 5183841"/>
              <a:gd name="connsiteY295" fmla="*/ 2144805 h 4134970"/>
              <a:gd name="connsiteX296" fmla="*/ 4141694 w 5183841"/>
              <a:gd name="connsiteY296" fmla="*/ 2104464 h 4134970"/>
              <a:gd name="connsiteX297" fmla="*/ 4161864 w 5183841"/>
              <a:gd name="connsiteY297" fmla="*/ 2097741 h 4134970"/>
              <a:gd name="connsiteX298" fmla="*/ 4215653 w 5183841"/>
              <a:gd name="connsiteY298" fmla="*/ 2091017 h 4134970"/>
              <a:gd name="connsiteX299" fmla="*/ 4255994 w 5183841"/>
              <a:gd name="connsiteY299" fmla="*/ 2084294 h 4134970"/>
              <a:gd name="connsiteX300" fmla="*/ 4289612 w 5183841"/>
              <a:gd name="connsiteY300" fmla="*/ 2064123 h 4134970"/>
              <a:gd name="connsiteX301" fmla="*/ 4309782 w 5183841"/>
              <a:gd name="connsiteY301" fmla="*/ 2057400 h 4134970"/>
              <a:gd name="connsiteX302" fmla="*/ 4336676 w 5183841"/>
              <a:gd name="connsiteY302" fmla="*/ 2023782 h 4134970"/>
              <a:gd name="connsiteX303" fmla="*/ 4363570 w 5183841"/>
              <a:gd name="connsiteY303" fmla="*/ 1983441 h 4134970"/>
              <a:gd name="connsiteX304" fmla="*/ 4370294 w 5183841"/>
              <a:gd name="connsiteY304" fmla="*/ 1956547 h 4134970"/>
              <a:gd name="connsiteX305" fmla="*/ 4390464 w 5183841"/>
              <a:gd name="connsiteY305" fmla="*/ 1943100 h 4134970"/>
              <a:gd name="connsiteX306" fmla="*/ 4403912 w 5183841"/>
              <a:gd name="connsiteY306" fmla="*/ 1929653 h 4134970"/>
              <a:gd name="connsiteX307" fmla="*/ 4410635 w 5183841"/>
              <a:gd name="connsiteY307" fmla="*/ 1909482 h 4134970"/>
              <a:gd name="connsiteX308" fmla="*/ 4437529 w 5183841"/>
              <a:gd name="connsiteY308" fmla="*/ 1869141 h 4134970"/>
              <a:gd name="connsiteX309" fmla="*/ 4450976 w 5183841"/>
              <a:gd name="connsiteY309" fmla="*/ 1828800 h 4134970"/>
              <a:gd name="connsiteX310" fmla="*/ 4457700 w 5183841"/>
              <a:gd name="connsiteY310" fmla="*/ 1801905 h 4134970"/>
              <a:gd name="connsiteX311" fmla="*/ 4484594 w 5183841"/>
              <a:gd name="connsiteY311" fmla="*/ 1754841 h 4134970"/>
              <a:gd name="connsiteX312" fmla="*/ 4498041 w 5183841"/>
              <a:gd name="connsiteY312" fmla="*/ 1667435 h 4134970"/>
              <a:gd name="connsiteX313" fmla="*/ 4504764 w 5183841"/>
              <a:gd name="connsiteY313" fmla="*/ 1627094 h 4134970"/>
              <a:gd name="connsiteX314" fmla="*/ 4511488 w 5183841"/>
              <a:gd name="connsiteY314" fmla="*/ 1546411 h 4134970"/>
              <a:gd name="connsiteX315" fmla="*/ 4531659 w 5183841"/>
              <a:gd name="connsiteY315" fmla="*/ 1418664 h 4134970"/>
              <a:gd name="connsiteX316" fmla="*/ 4538382 w 5183841"/>
              <a:gd name="connsiteY316" fmla="*/ 1391770 h 4134970"/>
              <a:gd name="connsiteX317" fmla="*/ 4565276 w 5183841"/>
              <a:gd name="connsiteY317" fmla="*/ 1364876 h 4134970"/>
              <a:gd name="connsiteX318" fmla="*/ 4598894 w 5183841"/>
              <a:gd name="connsiteY318" fmla="*/ 1317811 h 4134970"/>
              <a:gd name="connsiteX319" fmla="*/ 4605617 w 5183841"/>
              <a:gd name="connsiteY319" fmla="*/ 1290917 h 4134970"/>
              <a:gd name="connsiteX320" fmla="*/ 4625788 w 5183841"/>
              <a:gd name="connsiteY320" fmla="*/ 1243853 h 4134970"/>
              <a:gd name="connsiteX321" fmla="*/ 4639235 w 5183841"/>
              <a:gd name="connsiteY321" fmla="*/ 1176617 h 4134970"/>
              <a:gd name="connsiteX322" fmla="*/ 4625788 w 5183841"/>
              <a:gd name="connsiteY322" fmla="*/ 974911 h 4134970"/>
              <a:gd name="connsiteX323" fmla="*/ 4612341 w 5183841"/>
              <a:gd name="connsiteY323" fmla="*/ 934570 h 4134970"/>
              <a:gd name="connsiteX324" fmla="*/ 4605617 w 5183841"/>
              <a:gd name="connsiteY324" fmla="*/ 914400 h 4134970"/>
              <a:gd name="connsiteX325" fmla="*/ 4585447 w 5183841"/>
              <a:gd name="connsiteY325" fmla="*/ 894229 h 4134970"/>
              <a:gd name="connsiteX326" fmla="*/ 4572000 w 5183841"/>
              <a:gd name="connsiteY326" fmla="*/ 874058 h 4134970"/>
              <a:gd name="connsiteX327" fmla="*/ 4531659 w 5183841"/>
              <a:gd name="connsiteY327" fmla="*/ 847164 h 4134970"/>
              <a:gd name="connsiteX328" fmla="*/ 4511488 w 5183841"/>
              <a:gd name="connsiteY328" fmla="*/ 826994 h 4134970"/>
              <a:gd name="connsiteX329" fmla="*/ 4491317 w 5183841"/>
              <a:gd name="connsiteY329" fmla="*/ 820270 h 4134970"/>
              <a:gd name="connsiteX330" fmla="*/ 4450976 w 5183841"/>
              <a:gd name="connsiteY330" fmla="*/ 793376 h 4134970"/>
              <a:gd name="connsiteX331" fmla="*/ 4410635 w 5183841"/>
              <a:gd name="connsiteY331" fmla="*/ 779929 h 4134970"/>
              <a:gd name="connsiteX332" fmla="*/ 4350123 w 5183841"/>
              <a:gd name="connsiteY332" fmla="*/ 739588 h 4134970"/>
              <a:gd name="connsiteX333" fmla="*/ 4329953 w 5183841"/>
              <a:gd name="connsiteY333" fmla="*/ 726141 h 4134970"/>
              <a:gd name="connsiteX334" fmla="*/ 4309782 w 5183841"/>
              <a:gd name="connsiteY334" fmla="*/ 719417 h 4134970"/>
              <a:gd name="connsiteX335" fmla="*/ 4235823 w 5183841"/>
              <a:gd name="connsiteY335" fmla="*/ 672353 h 4134970"/>
              <a:gd name="connsiteX336" fmla="*/ 4195482 w 5183841"/>
              <a:gd name="connsiteY336" fmla="*/ 645458 h 4134970"/>
              <a:gd name="connsiteX337" fmla="*/ 4148417 w 5183841"/>
              <a:gd name="connsiteY337" fmla="*/ 632011 h 4134970"/>
              <a:gd name="connsiteX338" fmla="*/ 4121523 w 5183841"/>
              <a:gd name="connsiteY338" fmla="*/ 618564 h 4134970"/>
              <a:gd name="connsiteX339" fmla="*/ 4101353 w 5183841"/>
              <a:gd name="connsiteY339" fmla="*/ 611841 h 4134970"/>
              <a:gd name="connsiteX340" fmla="*/ 4074459 w 5183841"/>
              <a:gd name="connsiteY340" fmla="*/ 598394 h 4134970"/>
              <a:gd name="connsiteX341" fmla="*/ 4040841 w 5183841"/>
              <a:gd name="connsiteY341" fmla="*/ 591670 h 4134970"/>
              <a:gd name="connsiteX342" fmla="*/ 4000500 w 5183841"/>
              <a:gd name="connsiteY342" fmla="*/ 578223 h 4134970"/>
              <a:gd name="connsiteX343" fmla="*/ 3980329 w 5183841"/>
              <a:gd name="connsiteY343" fmla="*/ 571500 h 4134970"/>
              <a:gd name="connsiteX344" fmla="*/ 3913094 w 5183841"/>
              <a:gd name="connsiteY344" fmla="*/ 558053 h 4134970"/>
              <a:gd name="connsiteX345" fmla="*/ 3516406 w 5183841"/>
              <a:gd name="connsiteY345" fmla="*/ 564776 h 4134970"/>
              <a:gd name="connsiteX346" fmla="*/ 3200400 w 5183841"/>
              <a:gd name="connsiteY346" fmla="*/ 551329 h 4134970"/>
              <a:gd name="connsiteX347" fmla="*/ 3160059 w 5183841"/>
              <a:gd name="connsiteY347" fmla="*/ 537882 h 4134970"/>
              <a:gd name="connsiteX348" fmla="*/ 3106270 w 5183841"/>
              <a:gd name="connsiteY348" fmla="*/ 524435 h 4134970"/>
              <a:gd name="connsiteX349" fmla="*/ 3065929 w 5183841"/>
              <a:gd name="connsiteY349" fmla="*/ 510988 h 4134970"/>
              <a:gd name="connsiteX350" fmla="*/ 3045759 w 5183841"/>
              <a:gd name="connsiteY350" fmla="*/ 497541 h 4134970"/>
              <a:gd name="connsiteX351" fmla="*/ 3039035 w 5183841"/>
              <a:gd name="connsiteY351" fmla="*/ 470647 h 4134970"/>
              <a:gd name="connsiteX352" fmla="*/ 3025588 w 5183841"/>
              <a:gd name="connsiteY352" fmla="*/ 443753 h 4134970"/>
              <a:gd name="connsiteX353" fmla="*/ 3032312 w 5183841"/>
              <a:gd name="connsiteY353" fmla="*/ 336176 h 4134970"/>
              <a:gd name="connsiteX354" fmla="*/ 3039035 w 5183841"/>
              <a:gd name="connsiteY354" fmla="*/ 316005 h 4134970"/>
              <a:gd name="connsiteX355" fmla="*/ 3079376 w 5183841"/>
              <a:gd name="connsiteY355" fmla="*/ 289111 h 4134970"/>
              <a:gd name="connsiteX356" fmla="*/ 3119717 w 5183841"/>
              <a:gd name="connsiteY356" fmla="*/ 275664 h 4134970"/>
              <a:gd name="connsiteX357" fmla="*/ 3301253 w 5183841"/>
              <a:gd name="connsiteY357" fmla="*/ 289111 h 4134970"/>
              <a:gd name="connsiteX358" fmla="*/ 3348317 w 5183841"/>
              <a:gd name="connsiteY358" fmla="*/ 302558 h 4134970"/>
              <a:gd name="connsiteX359" fmla="*/ 3375212 w 5183841"/>
              <a:gd name="connsiteY359" fmla="*/ 309282 h 4134970"/>
              <a:gd name="connsiteX360" fmla="*/ 3402106 w 5183841"/>
              <a:gd name="connsiteY360" fmla="*/ 329453 h 4134970"/>
              <a:gd name="connsiteX361" fmla="*/ 3462617 w 5183841"/>
              <a:gd name="connsiteY361" fmla="*/ 349623 h 4134970"/>
              <a:gd name="connsiteX362" fmla="*/ 3482788 w 5183841"/>
              <a:gd name="connsiteY362" fmla="*/ 356347 h 4134970"/>
              <a:gd name="connsiteX363" fmla="*/ 3502959 w 5183841"/>
              <a:gd name="connsiteY363" fmla="*/ 369794 h 4134970"/>
              <a:gd name="connsiteX364" fmla="*/ 3550023 w 5183841"/>
              <a:gd name="connsiteY364" fmla="*/ 383241 h 4134970"/>
              <a:gd name="connsiteX365" fmla="*/ 3570194 w 5183841"/>
              <a:gd name="connsiteY365" fmla="*/ 389964 h 4134970"/>
              <a:gd name="connsiteX366" fmla="*/ 3590364 w 5183841"/>
              <a:gd name="connsiteY366" fmla="*/ 403411 h 4134970"/>
              <a:gd name="connsiteX367" fmla="*/ 3657600 w 5183841"/>
              <a:gd name="connsiteY367" fmla="*/ 416858 h 4134970"/>
              <a:gd name="connsiteX368" fmla="*/ 3711388 w 5183841"/>
              <a:gd name="connsiteY368" fmla="*/ 437029 h 4134970"/>
              <a:gd name="connsiteX369" fmla="*/ 3758453 w 5183841"/>
              <a:gd name="connsiteY369" fmla="*/ 450476 h 4134970"/>
              <a:gd name="connsiteX370" fmla="*/ 3785347 w 5183841"/>
              <a:gd name="connsiteY370" fmla="*/ 457200 h 4134970"/>
              <a:gd name="connsiteX371" fmla="*/ 3812241 w 5183841"/>
              <a:gd name="connsiteY371" fmla="*/ 470647 h 4134970"/>
              <a:gd name="connsiteX372" fmla="*/ 3866029 w 5183841"/>
              <a:gd name="connsiteY372" fmla="*/ 484094 h 4134970"/>
              <a:gd name="connsiteX373" fmla="*/ 3886200 w 5183841"/>
              <a:gd name="connsiteY373" fmla="*/ 490817 h 4134970"/>
              <a:gd name="connsiteX374" fmla="*/ 3919817 w 5183841"/>
              <a:gd name="connsiteY374" fmla="*/ 497541 h 4134970"/>
              <a:gd name="connsiteX375" fmla="*/ 3939988 w 5183841"/>
              <a:gd name="connsiteY375" fmla="*/ 504264 h 4134970"/>
              <a:gd name="connsiteX376" fmla="*/ 3966882 w 5183841"/>
              <a:gd name="connsiteY376" fmla="*/ 510988 h 4134970"/>
              <a:gd name="connsiteX377" fmla="*/ 4020670 w 5183841"/>
              <a:gd name="connsiteY377" fmla="*/ 531158 h 4134970"/>
              <a:gd name="connsiteX378" fmla="*/ 4074459 w 5183841"/>
              <a:gd name="connsiteY378" fmla="*/ 537882 h 4134970"/>
              <a:gd name="connsiteX379" fmla="*/ 4114800 w 5183841"/>
              <a:gd name="connsiteY379" fmla="*/ 544605 h 4134970"/>
              <a:gd name="connsiteX380" fmla="*/ 4161864 w 5183841"/>
              <a:gd name="connsiteY380" fmla="*/ 551329 h 4134970"/>
              <a:gd name="connsiteX381" fmla="*/ 4202206 w 5183841"/>
              <a:gd name="connsiteY381" fmla="*/ 558053 h 4134970"/>
              <a:gd name="connsiteX382" fmla="*/ 4316506 w 5183841"/>
              <a:gd name="connsiteY382" fmla="*/ 571500 h 4134970"/>
              <a:gd name="connsiteX383" fmla="*/ 4444253 w 5183841"/>
              <a:gd name="connsiteY383" fmla="*/ 584947 h 4134970"/>
              <a:gd name="connsiteX384" fmla="*/ 4666129 w 5183841"/>
              <a:gd name="connsiteY384" fmla="*/ 578223 h 4134970"/>
              <a:gd name="connsiteX385" fmla="*/ 4766982 w 5183841"/>
              <a:gd name="connsiteY385" fmla="*/ 551329 h 4134970"/>
              <a:gd name="connsiteX386" fmla="*/ 4847664 w 5183841"/>
              <a:gd name="connsiteY386" fmla="*/ 497541 h 4134970"/>
              <a:gd name="connsiteX387" fmla="*/ 4881282 w 5183841"/>
              <a:gd name="connsiteY387" fmla="*/ 463923 h 4134970"/>
              <a:gd name="connsiteX388" fmla="*/ 4982135 w 5183841"/>
              <a:gd name="connsiteY388" fmla="*/ 383241 h 4134970"/>
              <a:gd name="connsiteX389" fmla="*/ 5056094 w 5183841"/>
              <a:gd name="connsiteY389" fmla="*/ 289111 h 4134970"/>
              <a:gd name="connsiteX390" fmla="*/ 5089712 w 5183841"/>
              <a:gd name="connsiteY390" fmla="*/ 242047 h 4134970"/>
              <a:gd name="connsiteX391" fmla="*/ 5116606 w 5183841"/>
              <a:gd name="connsiteY391" fmla="*/ 208429 h 4134970"/>
              <a:gd name="connsiteX392" fmla="*/ 5150223 w 5183841"/>
              <a:gd name="connsiteY392" fmla="*/ 147917 h 4134970"/>
              <a:gd name="connsiteX393" fmla="*/ 5163670 w 5183841"/>
              <a:gd name="connsiteY393" fmla="*/ 127747 h 4134970"/>
              <a:gd name="connsiteX394" fmla="*/ 5170394 w 5183841"/>
              <a:gd name="connsiteY394" fmla="*/ 94129 h 4134970"/>
              <a:gd name="connsiteX395" fmla="*/ 5183841 w 5183841"/>
              <a:gd name="connsiteY395" fmla="*/ 53788 h 4134970"/>
              <a:gd name="connsiteX396" fmla="*/ 5170394 w 5183841"/>
              <a:gd name="connsiteY396" fmla="*/ 0 h 4134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Lst>
            <a:rect l="l" t="t" r="r" b="b"/>
            <a:pathLst>
              <a:path w="5183841" h="4134970">
                <a:moveTo>
                  <a:pt x="0" y="4134970"/>
                </a:moveTo>
                <a:cubicBezTo>
                  <a:pt x="15688" y="4128247"/>
                  <a:pt x="31798" y="4122433"/>
                  <a:pt x="47064" y="4114800"/>
                </a:cubicBezTo>
                <a:cubicBezTo>
                  <a:pt x="99203" y="4088731"/>
                  <a:pt x="36703" y="4111531"/>
                  <a:pt x="87406" y="4094629"/>
                </a:cubicBezTo>
                <a:cubicBezTo>
                  <a:pt x="120526" y="4069788"/>
                  <a:pt x="135177" y="4056294"/>
                  <a:pt x="181535" y="4040841"/>
                </a:cubicBezTo>
                <a:cubicBezTo>
                  <a:pt x="194982" y="4036359"/>
                  <a:pt x="208792" y="4032846"/>
                  <a:pt x="221876" y="4027394"/>
                </a:cubicBezTo>
                <a:cubicBezTo>
                  <a:pt x="235754" y="4021612"/>
                  <a:pt x="248566" y="4013523"/>
                  <a:pt x="262217" y="4007223"/>
                </a:cubicBezTo>
                <a:cubicBezTo>
                  <a:pt x="277714" y="4000070"/>
                  <a:pt x="293785" y="3994206"/>
                  <a:pt x="309282" y="3987053"/>
                </a:cubicBezTo>
                <a:cubicBezTo>
                  <a:pt x="366763" y="3960523"/>
                  <a:pt x="334227" y="3974287"/>
                  <a:pt x="389964" y="3939988"/>
                </a:cubicBezTo>
                <a:cubicBezTo>
                  <a:pt x="405353" y="3930518"/>
                  <a:pt x="421611" y="3922516"/>
                  <a:pt x="437029" y="3913094"/>
                </a:cubicBezTo>
                <a:cubicBezTo>
                  <a:pt x="461963" y="3897856"/>
                  <a:pt x="490325" y="3886692"/>
                  <a:pt x="510988" y="3866029"/>
                </a:cubicBezTo>
                <a:cubicBezTo>
                  <a:pt x="522194" y="3854823"/>
                  <a:pt x="532231" y="3842311"/>
                  <a:pt x="544606" y="3832411"/>
                </a:cubicBezTo>
                <a:cubicBezTo>
                  <a:pt x="554810" y="3824248"/>
                  <a:pt x="567908" y="3820264"/>
                  <a:pt x="578223" y="3812241"/>
                </a:cubicBezTo>
                <a:cubicBezTo>
                  <a:pt x="625358" y="3775580"/>
                  <a:pt x="586623" y="3797118"/>
                  <a:pt x="625288" y="3758453"/>
                </a:cubicBezTo>
                <a:cubicBezTo>
                  <a:pt x="631002" y="3752739"/>
                  <a:pt x="639452" y="3750411"/>
                  <a:pt x="645459" y="3745005"/>
                </a:cubicBezTo>
                <a:cubicBezTo>
                  <a:pt x="661950" y="3730163"/>
                  <a:pt x="676835" y="3713629"/>
                  <a:pt x="692523" y="3697941"/>
                </a:cubicBezTo>
                <a:lnTo>
                  <a:pt x="692523" y="3697941"/>
                </a:lnTo>
                <a:cubicBezTo>
                  <a:pt x="789405" y="3568765"/>
                  <a:pt x="688172" y="3702575"/>
                  <a:pt x="759759" y="3610535"/>
                </a:cubicBezTo>
                <a:cubicBezTo>
                  <a:pt x="766639" y="3601690"/>
                  <a:pt x="773049" y="3592486"/>
                  <a:pt x="779929" y="3583641"/>
                </a:cubicBezTo>
                <a:cubicBezTo>
                  <a:pt x="866991" y="3471702"/>
                  <a:pt x="760745" y="3607145"/>
                  <a:pt x="826994" y="3529853"/>
                </a:cubicBezTo>
                <a:cubicBezTo>
                  <a:pt x="834287" y="3521345"/>
                  <a:pt x="839990" y="3511567"/>
                  <a:pt x="847164" y="3502958"/>
                </a:cubicBezTo>
                <a:cubicBezTo>
                  <a:pt x="851222" y="3498088"/>
                  <a:pt x="856652" y="3494461"/>
                  <a:pt x="860612" y="3489511"/>
                </a:cubicBezTo>
                <a:cubicBezTo>
                  <a:pt x="865660" y="3483201"/>
                  <a:pt x="869306" y="3475876"/>
                  <a:pt x="874059" y="3469341"/>
                </a:cubicBezTo>
                <a:cubicBezTo>
                  <a:pt x="887241" y="3451216"/>
                  <a:pt x="901968" y="3434201"/>
                  <a:pt x="914400" y="3415553"/>
                </a:cubicBezTo>
                <a:cubicBezTo>
                  <a:pt x="918882" y="3408829"/>
                  <a:pt x="923150" y="3401958"/>
                  <a:pt x="927847" y="3395382"/>
                </a:cubicBezTo>
                <a:cubicBezTo>
                  <a:pt x="934360" y="3386263"/>
                  <a:pt x="942078" y="3377990"/>
                  <a:pt x="948017" y="3368488"/>
                </a:cubicBezTo>
                <a:cubicBezTo>
                  <a:pt x="953329" y="3359989"/>
                  <a:pt x="956152" y="3350093"/>
                  <a:pt x="961464" y="3341594"/>
                </a:cubicBezTo>
                <a:cubicBezTo>
                  <a:pt x="967403" y="3332091"/>
                  <a:pt x="975419" y="3324024"/>
                  <a:pt x="981635" y="3314700"/>
                </a:cubicBezTo>
                <a:cubicBezTo>
                  <a:pt x="988884" y="3303827"/>
                  <a:pt x="994557" y="3291956"/>
                  <a:pt x="1001806" y="3281082"/>
                </a:cubicBezTo>
                <a:cubicBezTo>
                  <a:pt x="1008022" y="3271758"/>
                  <a:pt x="1016037" y="3263690"/>
                  <a:pt x="1021976" y="3254188"/>
                </a:cubicBezTo>
                <a:cubicBezTo>
                  <a:pt x="1046168" y="3215480"/>
                  <a:pt x="1026897" y="3240674"/>
                  <a:pt x="1042147" y="3207123"/>
                </a:cubicBezTo>
                <a:cubicBezTo>
                  <a:pt x="1068446" y="3149265"/>
                  <a:pt x="1061539" y="3162713"/>
                  <a:pt x="1095935" y="3119717"/>
                </a:cubicBezTo>
                <a:cubicBezTo>
                  <a:pt x="1098176" y="3112994"/>
                  <a:pt x="1099489" y="3105886"/>
                  <a:pt x="1102659" y="3099547"/>
                </a:cubicBezTo>
                <a:cubicBezTo>
                  <a:pt x="1126913" y="3051040"/>
                  <a:pt x="1105983" y="3111406"/>
                  <a:pt x="1129553" y="3052482"/>
                </a:cubicBezTo>
                <a:cubicBezTo>
                  <a:pt x="1137704" y="3032104"/>
                  <a:pt x="1151141" y="2984974"/>
                  <a:pt x="1156447" y="2965076"/>
                </a:cubicBezTo>
                <a:cubicBezTo>
                  <a:pt x="1156474" y="2964976"/>
                  <a:pt x="1173243" y="2897891"/>
                  <a:pt x="1176617" y="2884394"/>
                </a:cubicBezTo>
                <a:lnTo>
                  <a:pt x="1183341" y="2857500"/>
                </a:lnTo>
                <a:cubicBezTo>
                  <a:pt x="1185582" y="2848535"/>
                  <a:pt x="1184938" y="2838294"/>
                  <a:pt x="1190064" y="2830605"/>
                </a:cubicBezTo>
                <a:lnTo>
                  <a:pt x="1203512" y="2810435"/>
                </a:lnTo>
                <a:cubicBezTo>
                  <a:pt x="1224635" y="2683690"/>
                  <a:pt x="1215356" y="2754991"/>
                  <a:pt x="1203512" y="2494429"/>
                </a:cubicBezTo>
                <a:cubicBezTo>
                  <a:pt x="1203190" y="2487349"/>
                  <a:pt x="1199958" y="2480597"/>
                  <a:pt x="1196788" y="2474258"/>
                </a:cubicBezTo>
                <a:cubicBezTo>
                  <a:pt x="1190587" y="2461855"/>
                  <a:pt x="1174322" y="2441352"/>
                  <a:pt x="1163170" y="2433917"/>
                </a:cubicBezTo>
                <a:cubicBezTo>
                  <a:pt x="1157273" y="2429986"/>
                  <a:pt x="1149723" y="2429435"/>
                  <a:pt x="1143000" y="2427194"/>
                </a:cubicBezTo>
                <a:cubicBezTo>
                  <a:pt x="1136276" y="2422712"/>
                  <a:pt x="1130213" y="2417029"/>
                  <a:pt x="1122829" y="2413747"/>
                </a:cubicBezTo>
                <a:cubicBezTo>
                  <a:pt x="1109876" y="2407990"/>
                  <a:pt x="1082488" y="2400300"/>
                  <a:pt x="1082488" y="2400300"/>
                </a:cubicBezTo>
                <a:cubicBezTo>
                  <a:pt x="1075764" y="2395818"/>
                  <a:pt x="1069545" y="2390467"/>
                  <a:pt x="1062317" y="2386853"/>
                </a:cubicBezTo>
                <a:cubicBezTo>
                  <a:pt x="1031998" y="2371693"/>
                  <a:pt x="1050875" y="2390765"/>
                  <a:pt x="1021976" y="2366682"/>
                </a:cubicBezTo>
                <a:cubicBezTo>
                  <a:pt x="1014671" y="2360595"/>
                  <a:pt x="1007893" y="2353816"/>
                  <a:pt x="1001806" y="2346511"/>
                </a:cubicBezTo>
                <a:cubicBezTo>
                  <a:pt x="996633" y="2340303"/>
                  <a:pt x="994440" y="2331662"/>
                  <a:pt x="988359" y="2326341"/>
                </a:cubicBezTo>
                <a:cubicBezTo>
                  <a:pt x="976196" y="2315699"/>
                  <a:pt x="948017" y="2299447"/>
                  <a:pt x="948017" y="2299447"/>
                </a:cubicBezTo>
                <a:cubicBezTo>
                  <a:pt x="939052" y="2286000"/>
                  <a:pt x="926234" y="2274437"/>
                  <a:pt x="921123" y="2259105"/>
                </a:cubicBezTo>
                <a:lnTo>
                  <a:pt x="907676" y="2218764"/>
                </a:lnTo>
                <a:cubicBezTo>
                  <a:pt x="909141" y="2207049"/>
                  <a:pt x="911094" y="2162857"/>
                  <a:pt x="921123" y="2144805"/>
                </a:cubicBezTo>
                <a:cubicBezTo>
                  <a:pt x="928971" y="2130677"/>
                  <a:pt x="948017" y="2104464"/>
                  <a:pt x="948017" y="2104464"/>
                </a:cubicBezTo>
                <a:cubicBezTo>
                  <a:pt x="965947" y="2106705"/>
                  <a:pt x="984028" y="2107956"/>
                  <a:pt x="1001806" y="2111188"/>
                </a:cubicBezTo>
                <a:cubicBezTo>
                  <a:pt x="1008779" y="2112456"/>
                  <a:pt x="1016442" y="2113484"/>
                  <a:pt x="1021976" y="2117911"/>
                </a:cubicBezTo>
                <a:cubicBezTo>
                  <a:pt x="1036505" y="2129534"/>
                  <a:pt x="1044761" y="2166097"/>
                  <a:pt x="1048870" y="2178423"/>
                </a:cubicBezTo>
                <a:cubicBezTo>
                  <a:pt x="1058149" y="2206259"/>
                  <a:pt x="1051663" y="2192698"/>
                  <a:pt x="1069041" y="2218764"/>
                </a:cubicBezTo>
                <a:cubicBezTo>
                  <a:pt x="1070625" y="2225099"/>
                  <a:pt x="1078102" y="2257934"/>
                  <a:pt x="1082488" y="2265829"/>
                </a:cubicBezTo>
                <a:cubicBezTo>
                  <a:pt x="1116473" y="2327002"/>
                  <a:pt x="1096885" y="2287140"/>
                  <a:pt x="1129553" y="2326341"/>
                </a:cubicBezTo>
                <a:cubicBezTo>
                  <a:pt x="1157568" y="2359958"/>
                  <a:pt x="1126191" y="2335305"/>
                  <a:pt x="1163170" y="2359958"/>
                </a:cubicBezTo>
                <a:cubicBezTo>
                  <a:pt x="1167652" y="2366682"/>
                  <a:pt x="1170307" y="2375081"/>
                  <a:pt x="1176617" y="2380129"/>
                </a:cubicBezTo>
                <a:cubicBezTo>
                  <a:pt x="1182151" y="2384557"/>
                  <a:pt x="1190449" y="2383683"/>
                  <a:pt x="1196788" y="2386853"/>
                </a:cubicBezTo>
                <a:cubicBezTo>
                  <a:pt x="1204016" y="2390467"/>
                  <a:pt x="1209575" y="2397018"/>
                  <a:pt x="1216959" y="2400300"/>
                </a:cubicBezTo>
                <a:cubicBezTo>
                  <a:pt x="1229912" y="2406057"/>
                  <a:pt x="1243853" y="2409265"/>
                  <a:pt x="1257300" y="2413747"/>
                </a:cubicBezTo>
                <a:lnTo>
                  <a:pt x="1317812" y="2433917"/>
                </a:lnTo>
                <a:lnTo>
                  <a:pt x="1358153" y="2447364"/>
                </a:lnTo>
                <a:cubicBezTo>
                  <a:pt x="1398802" y="2457527"/>
                  <a:pt x="1376274" y="2451164"/>
                  <a:pt x="1425388" y="2467535"/>
                </a:cubicBezTo>
                <a:lnTo>
                  <a:pt x="1445559" y="2474258"/>
                </a:lnTo>
                <a:cubicBezTo>
                  <a:pt x="1503362" y="2512794"/>
                  <a:pt x="1430228" y="2466592"/>
                  <a:pt x="1485900" y="2494429"/>
                </a:cubicBezTo>
                <a:cubicBezTo>
                  <a:pt x="1493536" y="2498247"/>
                  <a:pt x="1529918" y="2525001"/>
                  <a:pt x="1532964" y="2528047"/>
                </a:cubicBezTo>
                <a:cubicBezTo>
                  <a:pt x="1538678" y="2533761"/>
                  <a:pt x="1540698" y="2542503"/>
                  <a:pt x="1546412" y="2548217"/>
                </a:cubicBezTo>
                <a:cubicBezTo>
                  <a:pt x="1552126" y="2553931"/>
                  <a:pt x="1560543" y="2556296"/>
                  <a:pt x="1566582" y="2561664"/>
                </a:cubicBezTo>
                <a:cubicBezTo>
                  <a:pt x="1580795" y="2574298"/>
                  <a:pt x="1593476" y="2588558"/>
                  <a:pt x="1606923" y="2602005"/>
                </a:cubicBezTo>
                <a:cubicBezTo>
                  <a:pt x="1611405" y="2606488"/>
                  <a:pt x="1616566" y="2610382"/>
                  <a:pt x="1620370" y="2615453"/>
                </a:cubicBezTo>
                <a:cubicBezTo>
                  <a:pt x="1653855" y="2660098"/>
                  <a:pt x="1632614" y="2634419"/>
                  <a:pt x="1687606" y="2689411"/>
                </a:cubicBezTo>
                <a:lnTo>
                  <a:pt x="1707776" y="2709582"/>
                </a:lnTo>
                <a:cubicBezTo>
                  <a:pt x="1724677" y="2760281"/>
                  <a:pt x="1699914" y="2699755"/>
                  <a:pt x="1734670" y="2743200"/>
                </a:cubicBezTo>
                <a:cubicBezTo>
                  <a:pt x="1739097" y="2748734"/>
                  <a:pt x="1736967" y="2757836"/>
                  <a:pt x="1741394" y="2763370"/>
                </a:cubicBezTo>
                <a:cubicBezTo>
                  <a:pt x="1746442" y="2769680"/>
                  <a:pt x="1755254" y="2771769"/>
                  <a:pt x="1761564" y="2776817"/>
                </a:cubicBezTo>
                <a:cubicBezTo>
                  <a:pt x="1779025" y="2790785"/>
                  <a:pt x="1771906" y="2793366"/>
                  <a:pt x="1795182" y="2803711"/>
                </a:cubicBezTo>
                <a:cubicBezTo>
                  <a:pt x="1808135" y="2809468"/>
                  <a:pt x="1822076" y="2812676"/>
                  <a:pt x="1835523" y="2817158"/>
                </a:cubicBezTo>
                <a:cubicBezTo>
                  <a:pt x="1864464" y="2826805"/>
                  <a:pt x="1848813" y="2822162"/>
                  <a:pt x="1882588" y="2830605"/>
                </a:cubicBezTo>
                <a:cubicBezTo>
                  <a:pt x="1911723" y="2828364"/>
                  <a:pt x="1940998" y="2827506"/>
                  <a:pt x="1969994" y="2823882"/>
                </a:cubicBezTo>
                <a:cubicBezTo>
                  <a:pt x="1977026" y="2823003"/>
                  <a:pt x="1986045" y="2822925"/>
                  <a:pt x="1990164" y="2817158"/>
                </a:cubicBezTo>
                <a:cubicBezTo>
                  <a:pt x="1998403" y="2805624"/>
                  <a:pt x="1999129" y="2790264"/>
                  <a:pt x="2003612" y="2776817"/>
                </a:cubicBezTo>
                <a:lnTo>
                  <a:pt x="2017059" y="2736476"/>
                </a:lnTo>
                <a:cubicBezTo>
                  <a:pt x="2019300" y="2729752"/>
                  <a:pt x="2022617" y="2723296"/>
                  <a:pt x="2023782" y="2716305"/>
                </a:cubicBezTo>
                <a:lnTo>
                  <a:pt x="2030506" y="2675964"/>
                </a:lnTo>
                <a:cubicBezTo>
                  <a:pt x="2028265" y="2642346"/>
                  <a:pt x="2029037" y="2608391"/>
                  <a:pt x="2023782" y="2575111"/>
                </a:cubicBezTo>
                <a:cubicBezTo>
                  <a:pt x="2022219" y="2565211"/>
                  <a:pt x="2014283" y="2557429"/>
                  <a:pt x="2010335" y="2548217"/>
                </a:cubicBezTo>
                <a:cubicBezTo>
                  <a:pt x="1991473" y="2504205"/>
                  <a:pt x="2017689" y="2549005"/>
                  <a:pt x="1990164" y="2514600"/>
                </a:cubicBezTo>
                <a:cubicBezTo>
                  <a:pt x="1956682" y="2472748"/>
                  <a:pt x="2000729" y="2518029"/>
                  <a:pt x="1956547" y="2467535"/>
                </a:cubicBezTo>
                <a:cubicBezTo>
                  <a:pt x="1948199" y="2457994"/>
                  <a:pt x="1937904" y="2450267"/>
                  <a:pt x="1929653" y="2440641"/>
                </a:cubicBezTo>
                <a:cubicBezTo>
                  <a:pt x="1924394" y="2434506"/>
                  <a:pt x="1920903" y="2427046"/>
                  <a:pt x="1916206" y="2420470"/>
                </a:cubicBezTo>
                <a:cubicBezTo>
                  <a:pt x="1909693" y="2411351"/>
                  <a:pt x="1903328" y="2402084"/>
                  <a:pt x="1896035" y="2393576"/>
                </a:cubicBezTo>
                <a:cubicBezTo>
                  <a:pt x="1889847" y="2386356"/>
                  <a:pt x="1882052" y="2380625"/>
                  <a:pt x="1875864" y="2373405"/>
                </a:cubicBezTo>
                <a:cubicBezTo>
                  <a:pt x="1868571" y="2364897"/>
                  <a:pt x="1862207" y="2355629"/>
                  <a:pt x="1855694" y="2346511"/>
                </a:cubicBezTo>
                <a:cubicBezTo>
                  <a:pt x="1850997" y="2339936"/>
                  <a:pt x="1847615" y="2332380"/>
                  <a:pt x="1842247" y="2326341"/>
                </a:cubicBezTo>
                <a:cubicBezTo>
                  <a:pt x="1829613" y="2312128"/>
                  <a:pt x="1801906" y="2286000"/>
                  <a:pt x="1801906" y="2286000"/>
                </a:cubicBezTo>
                <a:cubicBezTo>
                  <a:pt x="1799665" y="2279276"/>
                  <a:pt x="1799113" y="2271726"/>
                  <a:pt x="1795182" y="2265829"/>
                </a:cubicBezTo>
                <a:cubicBezTo>
                  <a:pt x="1784827" y="2250296"/>
                  <a:pt x="1769726" y="2242134"/>
                  <a:pt x="1754841" y="2232211"/>
                </a:cubicBezTo>
                <a:cubicBezTo>
                  <a:pt x="1750359" y="2225488"/>
                  <a:pt x="1747108" y="2217755"/>
                  <a:pt x="1741394" y="2212041"/>
                </a:cubicBezTo>
                <a:cubicBezTo>
                  <a:pt x="1735680" y="2206327"/>
                  <a:pt x="1726482" y="2204729"/>
                  <a:pt x="1721223" y="2198594"/>
                </a:cubicBezTo>
                <a:cubicBezTo>
                  <a:pt x="1712718" y="2188672"/>
                  <a:pt x="1708894" y="2175431"/>
                  <a:pt x="1701053" y="2164976"/>
                </a:cubicBezTo>
                <a:cubicBezTo>
                  <a:pt x="1695348" y="2157369"/>
                  <a:pt x="1686969" y="2152110"/>
                  <a:pt x="1680882" y="2144805"/>
                </a:cubicBezTo>
                <a:cubicBezTo>
                  <a:pt x="1675709" y="2138597"/>
                  <a:pt x="1672608" y="2130843"/>
                  <a:pt x="1667435" y="2124635"/>
                </a:cubicBezTo>
                <a:cubicBezTo>
                  <a:pt x="1661348" y="2117330"/>
                  <a:pt x="1653351" y="2111769"/>
                  <a:pt x="1647264" y="2104464"/>
                </a:cubicBezTo>
                <a:cubicBezTo>
                  <a:pt x="1642091" y="2098256"/>
                  <a:pt x="1638990" y="2090502"/>
                  <a:pt x="1633817" y="2084294"/>
                </a:cubicBezTo>
                <a:cubicBezTo>
                  <a:pt x="1614481" y="2061091"/>
                  <a:pt x="1598081" y="2057765"/>
                  <a:pt x="1586753" y="2023782"/>
                </a:cubicBezTo>
                <a:cubicBezTo>
                  <a:pt x="1582271" y="2010335"/>
                  <a:pt x="1576086" y="1997340"/>
                  <a:pt x="1573306" y="1983441"/>
                </a:cubicBezTo>
                <a:cubicBezTo>
                  <a:pt x="1563908" y="1936455"/>
                  <a:pt x="1568461" y="1961095"/>
                  <a:pt x="1559859" y="1909482"/>
                </a:cubicBezTo>
                <a:cubicBezTo>
                  <a:pt x="1562100" y="1873623"/>
                  <a:pt x="1560979" y="1837394"/>
                  <a:pt x="1566582" y="1801905"/>
                </a:cubicBezTo>
                <a:cubicBezTo>
                  <a:pt x="1569570" y="1782980"/>
                  <a:pt x="1588247" y="1778249"/>
                  <a:pt x="1600200" y="1768288"/>
                </a:cubicBezTo>
                <a:cubicBezTo>
                  <a:pt x="1607505" y="1762201"/>
                  <a:pt x="1613065" y="1754204"/>
                  <a:pt x="1620370" y="1748117"/>
                </a:cubicBezTo>
                <a:cubicBezTo>
                  <a:pt x="1637748" y="1733635"/>
                  <a:pt x="1640496" y="1734685"/>
                  <a:pt x="1660712" y="1727947"/>
                </a:cubicBezTo>
                <a:cubicBezTo>
                  <a:pt x="1674159" y="1718982"/>
                  <a:pt x="1685721" y="1706164"/>
                  <a:pt x="1701053" y="1701053"/>
                </a:cubicBezTo>
                <a:cubicBezTo>
                  <a:pt x="1707776" y="1698812"/>
                  <a:pt x="1714884" y="1697499"/>
                  <a:pt x="1721223" y="1694329"/>
                </a:cubicBezTo>
                <a:cubicBezTo>
                  <a:pt x="1728451" y="1690715"/>
                  <a:pt x="1734010" y="1684164"/>
                  <a:pt x="1741394" y="1680882"/>
                </a:cubicBezTo>
                <a:cubicBezTo>
                  <a:pt x="1754347" y="1675125"/>
                  <a:pt x="1768288" y="1671917"/>
                  <a:pt x="1781735" y="1667435"/>
                </a:cubicBezTo>
                <a:cubicBezTo>
                  <a:pt x="1814841" y="1656399"/>
                  <a:pt x="1794911" y="1661877"/>
                  <a:pt x="1842247" y="1653988"/>
                </a:cubicBezTo>
                <a:cubicBezTo>
                  <a:pt x="1851212" y="1649506"/>
                  <a:pt x="1859929" y="1644489"/>
                  <a:pt x="1869141" y="1640541"/>
                </a:cubicBezTo>
                <a:cubicBezTo>
                  <a:pt x="1902289" y="1626335"/>
                  <a:pt x="1930323" y="1630400"/>
                  <a:pt x="1969994" y="1627094"/>
                </a:cubicBezTo>
                <a:cubicBezTo>
                  <a:pt x="2019300" y="1629335"/>
                  <a:pt x="2068907" y="1627937"/>
                  <a:pt x="2117912" y="1633817"/>
                </a:cubicBezTo>
                <a:cubicBezTo>
                  <a:pt x="2143808" y="1636924"/>
                  <a:pt x="2146170" y="1671527"/>
                  <a:pt x="2151529" y="1687605"/>
                </a:cubicBezTo>
                <a:lnTo>
                  <a:pt x="2158253" y="1707776"/>
                </a:lnTo>
                <a:cubicBezTo>
                  <a:pt x="2155653" y="1731179"/>
                  <a:pt x="2153974" y="1784792"/>
                  <a:pt x="2138082" y="1808629"/>
                </a:cubicBezTo>
                <a:cubicBezTo>
                  <a:pt x="2129117" y="1822076"/>
                  <a:pt x="2124635" y="1840005"/>
                  <a:pt x="2111188" y="1848970"/>
                </a:cubicBezTo>
                <a:lnTo>
                  <a:pt x="2091017" y="1862417"/>
                </a:lnTo>
                <a:cubicBezTo>
                  <a:pt x="2055160" y="1916203"/>
                  <a:pt x="2102220" y="1851215"/>
                  <a:pt x="2057400" y="1896035"/>
                </a:cubicBezTo>
                <a:cubicBezTo>
                  <a:pt x="2051686" y="1901749"/>
                  <a:pt x="2049001" y="1909895"/>
                  <a:pt x="2043953" y="1916205"/>
                </a:cubicBezTo>
                <a:cubicBezTo>
                  <a:pt x="2025750" y="1938959"/>
                  <a:pt x="2017015" y="1929788"/>
                  <a:pt x="2003612" y="1969994"/>
                </a:cubicBezTo>
                <a:lnTo>
                  <a:pt x="1990164" y="2010335"/>
                </a:lnTo>
                <a:cubicBezTo>
                  <a:pt x="1992405" y="2050676"/>
                  <a:pt x="1989328" y="2091668"/>
                  <a:pt x="1996888" y="2131358"/>
                </a:cubicBezTo>
                <a:cubicBezTo>
                  <a:pt x="1998667" y="2140699"/>
                  <a:pt x="2009754" y="2145442"/>
                  <a:pt x="2017059" y="2151529"/>
                </a:cubicBezTo>
                <a:cubicBezTo>
                  <a:pt x="2023267" y="2156702"/>
                  <a:pt x="2029663" y="2162139"/>
                  <a:pt x="2037229" y="2164976"/>
                </a:cubicBezTo>
                <a:cubicBezTo>
                  <a:pt x="2047929" y="2168989"/>
                  <a:pt x="2059691" y="2169221"/>
                  <a:pt x="2070847" y="2171700"/>
                </a:cubicBezTo>
                <a:cubicBezTo>
                  <a:pt x="2079867" y="2173705"/>
                  <a:pt x="2088776" y="2176182"/>
                  <a:pt x="2097741" y="2178423"/>
                </a:cubicBezTo>
                <a:cubicBezTo>
                  <a:pt x="2115670" y="2176182"/>
                  <a:pt x="2133752" y="2174932"/>
                  <a:pt x="2151529" y="2171700"/>
                </a:cubicBezTo>
                <a:cubicBezTo>
                  <a:pt x="2158502" y="2170432"/>
                  <a:pt x="2164727" y="2166244"/>
                  <a:pt x="2171700" y="2164976"/>
                </a:cubicBezTo>
                <a:cubicBezTo>
                  <a:pt x="2189477" y="2161744"/>
                  <a:pt x="2207559" y="2160494"/>
                  <a:pt x="2225488" y="2158253"/>
                </a:cubicBezTo>
                <a:cubicBezTo>
                  <a:pt x="2238935" y="2153770"/>
                  <a:pt x="2257966" y="2156599"/>
                  <a:pt x="2265829" y="2144805"/>
                </a:cubicBezTo>
                <a:cubicBezTo>
                  <a:pt x="2270311" y="2138082"/>
                  <a:pt x="2273562" y="2130349"/>
                  <a:pt x="2279276" y="2124635"/>
                </a:cubicBezTo>
                <a:cubicBezTo>
                  <a:pt x="2298544" y="2105368"/>
                  <a:pt x="2297745" y="2115400"/>
                  <a:pt x="2319617" y="2104464"/>
                </a:cubicBezTo>
                <a:cubicBezTo>
                  <a:pt x="2371741" y="2078401"/>
                  <a:pt x="2309269" y="2101189"/>
                  <a:pt x="2359959" y="2084294"/>
                </a:cubicBezTo>
                <a:cubicBezTo>
                  <a:pt x="2380129" y="2086535"/>
                  <a:pt x="2401217" y="2084599"/>
                  <a:pt x="2420470" y="2091017"/>
                </a:cubicBezTo>
                <a:cubicBezTo>
                  <a:pt x="2435802" y="2096128"/>
                  <a:pt x="2460812" y="2117911"/>
                  <a:pt x="2460812" y="2117911"/>
                </a:cubicBezTo>
                <a:cubicBezTo>
                  <a:pt x="2477873" y="2169094"/>
                  <a:pt x="2471479" y="2144354"/>
                  <a:pt x="2480982" y="2191870"/>
                </a:cubicBezTo>
                <a:cubicBezTo>
                  <a:pt x="2475465" y="2269120"/>
                  <a:pt x="2468635" y="2271327"/>
                  <a:pt x="2480982" y="2333064"/>
                </a:cubicBezTo>
                <a:cubicBezTo>
                  <a:pt x="2482372" y="2340014"/>
                  <a:pt x="2484536" y="2346896"/>
                  <a:pt x="2487706" y="2353235"/>
                </a:cubicBezTo>
                <a:cubicBezTo>
                  <a:pt x="2490872" y="2359567"/>
                  <a:pt x="2506263" y="2382685"/>
                  <a:pt x="2514600" y="2386853"/>
                </a:cubicBezTo>
                <a:cubicBezTo>
                  <a:pt x="2522865" y="2390986"/>
                  <a:pt x="2532609" y="2391037"/>
                  <a:pt x="2541494" y="2393576"/>
                </a:cubicBezTo>
                <a:cubicBezTo>
                  <a:pt x="2548308" y="2395523"/>
                  <a:pt x="2554941" y="2398059"/>
                  <a:pt x="2561664" y="2400300"/>
                </a:cubicBezTo>
                <a:cubicBezTo>
                  <a:pt x="2579594" y="2398059"/>
                  <a:pt x="2597923" y="2397958"/>
                  <a:pt x="2615453" y="2393576"/>
                </a:cubicBezTo>
                <a:cubicBezTo>
                  <a:pt x="2629102" y="2390164"/>
                  <a:pt x="2650512" y="2374685"/>
                  <a:pt x="2662517" y="2366682"/>
                </a:cubicBezTo>
                <a:cubicBezTo>
                  <a:pt x="2666999" y="2359958"/>
                  <a:pt x="2672682" y="2353895"/>
                  <a:pt x="2675964" y="2346511"/>
                </a:cubicBezTo>
                <a:cubicBezTo>
                  <a:pt x="2681721" y="2333558"/>
                  <a:pt x="2689412" y="2306170"/>
                  <a:pt x="2689412" y="2306170"/>
                </a:cubicBezTo>
                <a:cubicBezTo>
                  <a:pt x="2687171" y="2274794"/>
                  <a:pt x="2687354" y="2243149"/>
                  <a:pt x="2682688" y="2212041"/>
                </a:cubicBezTo>
                <a:cubicBezTo>
                  <a:pt x="2680585" y="2198023"/>
                  <a:pt x="2673723" y="2185147"/>
                  <a:pt x="2669241" y="2171700"/>
                </a:cubicBezTo>
                <a:cubicBezTo>
                  <a:pt x="2667000" y="2164976"/>
                  <a:pt x="2667528" y="2156541"/>
                  <a:pt x="2662517" y="2151529"/>
                </a:cubicBezTo>
                <a:cubicBezTo>
                  <a:pt x="2655794" y="2144805"/>
                  <a:pt x="2648434" y="2138663"/>
                  <a:pt x="2642347" y="2131358"/>
                </a:cubicBezTo>
                <a:cubicBezTo>
                  <a:pt x="2637174" y="2125150"/>
                  <a:pt x="2633597" y="2117763"/>
                  <a:pt x="2628900" y="2111188"/>
                </a:cubicBezTo>
                <a:cubicBezTo>
                  <a:pt x="2622387" y="2102069"/>
                  <a:pt x="2615242" y="2093413"/>
                  <a:pt x="2608729" y="2084294"/>
                </a:cubicBezTo>
                <a:cubicBezTo>
                  <a:pt x="2604032" y="2077718"/>
                  <a:pt x="2600603" y="2070204"/>
                  <a:pt x="2595282" y="2064123"/>
                </a:cubicBezTo>
                <a:cubicBezTo>
                  <a:pt x="2584846" y="2052196"/>
                  <a:pt x="2570455" y="2043691"/>
                  <a:pt x="2561664" y="2030505"/>
                </a:cubicBezTo>
                <a:cubicBezTo>
                  <a:pt x="2528278" y="1980427"/>
                  <a:pt x="2571187" y="2041933"/>
                  <a:pt x="2528047" y="1990164"/>
                </a:cubicBezTo>
                <a:cubicBezTo>
                  <a:pt x="2500035" y="1956549"/>
                  <a:pt x="2531407" y="1981198"/>
                  <a:pt x="2494429" y="1956547"/>
                </a:cubicBezTo>
                <a:cubicBezTo>
                  <a:pt x="2477534" y="1905857"/>
                  <a:pt x="2500322" y="1968329"/>
                  <a:pt x="2474259" y="1916205"/>
                </a:cubicBezTo>
                <a:cubicBezTo>
                  <a:pt x="2446422" y="1860532"/>
                  <a:pt x="2492626" y="1933672"/>
                  <a:pt x="2454088" y="1875864"/>
                </a:cubicBezTo>
                <a:cubicBezTo>
                  <a:pt x="2446285" y="1829049"/>
                  <a:pt x="2439584" y="1809227"/>
                  <a:pt x="2454088" y="1754841"/>
                </a:cubicBezTo>
                <a:cubicBezTo>
                  <a:pt x="2456538" y="1745653"/>
                  <a:pt x="2468172" y="1741975"/>
                  <a:pt x="2474259" y="1734670"/>
                </a:cubicBezTo>
                <a:cubicBezTo>
                  <a:pt x="2491397" y="1714105"/>
                  <a:pt x="2481774" y="1712654"/>
                  <a:pt x="2507876" y="1701053"/>
                </a:cubicBezTo>
                <a:cubicBezTo>
                  <a:pt x="2523612" y="1694059"/>
                  <a:pt x="2556221" y="1684930"/>
                  <a:pt x="2575112" y="1680882"/>
                </a:cubicBezTo>
                <a:cubicBezTo>
                  <a:pt x="2597460" y="1676093"/>
                  <a:pt x="2642347" y="1667435"/>
                  <a:pt x="2642347" y="1667435"/>
                </a:cubicBezTo>
                <a:cubicBezTo>
                  <a:pt x="2723477" y="1683661"/>
                  <a:pt x="2687902" y="1673655"/>
                  <a:pt x="2749923" y="1694329"/>
                </a:cubicBezTo>
                <a:cubicBezTo>
                  <a:pt x="2756647" y="1696570"/>
                  <a:pt x="2763755" y="1697883"/>
                  <a:pt x="2770094" y="1701053"/>
                </a:cubicBezTo>
                <a:cubicBezTo>
                  <a:pt x="2789342" y="1710677"/>
                  <a:pt x="2797369" y="1716275"/>
                  <a:pt x="2817159" y="1721223"/>
                </a:cubicBezTo>
                <a:cubicBezTo>
                  <a:pt x="2828245" y="1723995"/>
                  <a:pt x="2839621" y="1725468"/>
                  <a:pt x="2850776" y="1727947"/>
                </a:cubicBezTo>
                <a:cubicBezTo>
                  <a:pt x="2859796" y="1729952"/>
                  <a:pt x="2868555" y="1733151"/>
                  <a:pt x="2877670" y="1734670"/>
                </a:cubicBezTo>
                <a:cubicBezTo>
                  <a:pt x="2895493" y="1737641"/>
                  <a:pt x="2913529" y="1739153"/>
                  <a:pt x="2931459" y="1741394"/>
                </a:cubicBezTo>
                <a:cubicBezTo>
                  <a:pt x="2938182" y="1743635"/>
                  <a:pt x="2945290" y="1744948"/>
                  <a:pt x="2951629" y="1748117"/>
                </a:cubicBezTo>
                <a:cubicBezTo>
                  <a:pt x="2979644" y="1762124"/>
                  <a:pt x="2978523" y="1771649"/>
                  <a:pt x="2998694" y="1801905"/>
                </a:cubicBezTo>
                <a:lnTo>
                  <a:pt x="3012141" y="1822076"/>
                </a:lnTo>
                <a:cubicBezTo>
                  <a:pt x="3008533" y="1840117"/>
                  <a:pt x="3001718" y="1881413"/>
                  <a:pt x="2991970" y="1896035"/>
                </a:cubicBezTo>
                <a:cubicBezTo>
                  <a:pt x="2987488" y="1902758"/>
                  <a:pt x="2983571" y="1909895"/>
                  <a:pt x="2978523" y="1916205"/>
                </a:cubicBezTo>
                <a:cubicBezTo>
                  <a:pt x="2956439" y="1943811"/>
                  <a:pt x="2972319" y="1913615"/>
                  <a:pt x="2951629" y="1949823"/>
                </a:cubicBezTo>
                <a:cubicBezTo>
                  <a:pt x="2946656" y="1958525"/>
                  <a:pt x="2942130" y="1967505"/>
                  <a:pt x="2938182" y="1976717"/>
                </a:cubicBezTo>
                <a:cubicBezTo>
                  <a:pt x="2935390" y="1983231"/>
                  <a:pt x="2934628" y="1990549"/>
                  <a:pt x="2931459" y="1996888"/>
                </a:cubicBezTo>
                <a:cubicBezTo>
                  <a:pt x="2927845" y="2004115"/>
                  <a:pt x="2922494" y="2010335"/>
                  <a:pt x="2918012" y="2017058"/>
                </a:cubicBezTo>
                <a:cubicBezTo>
                  <a:pt x="2915771" y="2026023"/>
                  <a:pt x="2913827" y="2035068"/>
                  <a:pt x="2911288" y="2043953"/>
                </a:cubicBezTo>
                <a:cubicBezTo>
                  <a:pt x="2909341" y="2050767"/>
                  <a:pt x="2904564" y="2057036"/>
                  <a:pt x="2904564" y="2064123"/>
                </a:cubicBezTo>
                <a:cubicBezTo>
                  <a:pt x="2904564" y="2086646"/>
                  <a:pt x="2907863" y="2109096"/>
                  <a:pt x="2911288" y="2131358"/>
                </a:cubicBezTo>
                <a:cubicBezTo>
                  <a:pt x="2912366" y="2138363"/>
                  <a:pt x="2913585" y="2145995"/>
                  <a:pt x="2918012" y="2151529"/>
                </a:cubicBezTo>
                <a:cubicBezTo>
                  <a:pt x="2927491" y="2163378"/>
                  <a:pt x="2945066" y="2167271"/>
                  <a:pt x="2958353" y="2171700"/>
                </a:cubicBezTo>
                <a:cubicBezTo>
                  <a:pt x="2971800" y="2167218"/>
                  <a:pt x="2988672" y="2168276"/>
                  <a:pt x="2998694" y="2158253"/>
                </a:cubicBezTo>
                <a:cubicBezTo>
                  <a:pt x="3017855" y="2139091"/>
                  <a:pt x="3006866" y="2148321"/>
                  <a:pt x="3032312" y="2131358"/>
                </a:cubicBezTo>
                <a:cubicBezTo>
                  <a:pt x="3043349" y="2098245"/>
                  <a:pt x="3031133" y="2121136"/>
                  <a:pt x="3059206" y="2097741"/>
                </a:cubicBezTo>
                <a:cubicBezTo>
                  <a:pt x="3077304" y="2082659"/>
                  <a:pt x="3078081" y="2073663"/>
                  <a:pt x="3099547" y="2064123"/>
                </a:cubicBezTo>
                <a:cubicBezTo>
                  <a:pt x="3112500" y="2058366"/>
                  <a:pt x="3139888" y="2050676"/>
                  <a:pt x="3139888" y="2050676"/>
                </a:cubicBezTo>
                <a:cubicBezTo>
                  <a:pt x="3153335" y="2052917"/>
                  <a:pt x="3167645" y="2052157"/>
                  <a:pt x="3180229" y="2057400"/>
                </a:cubicBezTo>
                <a:cubicBezTo>
                  <a:pt x="3195147" y="2063616"/>
                  <a:pt x="3220570" y="2084294"/>
                  <a:pt x="3220570" y="2084294"/>
                </a:cubicBezTo>
                <a:cubicBezTo>
                  <a:pt x="3253956" y="2134371"/>
                  <a:pt x="3211047" y="2072867"/>
                  <a:pt x="3254188" y="2124635"/>
                </a:cubicBezTo>
                <a:cubicBezTo>
                  <a:pt x="3259361" y="2130843"/>
                  <a:pt x="3262587" y="2138495"/>
                  <a:pt x="3267635" y="2144805"/>
                </a:cubicBezTo>
                <a:cubicBezTo>
                  <a:pt x="3271595" y="2149755"/>
                  <a:pt x="3277279" y="2153182"/>
                  <a:pt x="3281082" y="2158253"/>
                </a:cubicBezTo>
                <a:cubicBezTo>
                  <a:pt x="3290779" y="2171182"/>
                  <a:pt x="3299011" y="2185147"/>
                  <a:pt x="3307976" y="2198594"/>
                </a:cubicBezTo>
                <a:cubicBezTo>
                  <a:pt x="3312458" y="2205317"/>
                  <a:pt x="3314700" y="2214282"/>
                  <a:pt x="3321423" y="2218764"/>
                </a:cubicBezTo>
                <a:lnTo>
                  <a:pt x="3341594" y="2232211"/>
                </a:lnTo>
                <a:cubicBezTo>
                  <a:pt x="3346076" y="2238935"/>
                  <a:pt x="3349868" y="2246174"/>
                  <a:pt x="3355041" y="2252382"/>
                </a:cubicBezTo>
                <a:cubicBezTo>
                  <a:pt x="3398186" y="2304157"/>
                  <a:pt x="3355270" y="2242640"/>
                  <a:pt x="3388659" y="2292723"/>
                </a:cubicBezTo>
                <a:cubicBezTo>
                  <a:pt x="3400474" y="2328172"/>
                  <a:pt x="3387572" y="2299488"/>
                  <a:pt x="3415553" y="2333064"/>
                </a:cubicBezTo>
                <a:cubicBezTo>
                  <a:pt x="3420726" y="2339272"/>
                  <a:pt x="3422690" y="2348187"/>
                  <a:pt x="3429000" y="2353235"/>
                </a:cubicBezTo>
                <a:cubicBezTo>
                  <a:pt x="3434534" y="2357662"/>
                  <a:pt x="3442447" y="2357717"/>
                  <a:pt x="3449170" y="2359958"/>
                </a:cubicBezTo>
                <a:cubicBezTo>
                  <a:pt x="3453652" y="2366682"/>
                  <a:pt x="3456307" y="2375081"/>
                  <a:pt x="3462617" y="2380129"/>
                </a:cubicBezTo>
                <a:cubicBezTo>
                  <a:pt x="3468151" y="2384557"/>
                  <a:pt x="3476593" y="2383411"/>
                  <a:pt x="3482788" y="2386853"/>
                </a:cubicBezTo>
                <a:cubicBezTo>
                  <a:pt x="3496915" y="2394702"/>
                  <a:pt x="3511701" y="2402320"/>
                  <a:pt x="3523129" y="2413747"/>
                </a:cubicBezTo>
                <a:cubicBezTo>
                  <a:pt x="3554728" y="2445344"/>
                  <a:pt x="3535389" y="2428643"/>
                  <a:pt x="3583641" y="2460811"/>
                </a:cubicBezTo>
                <a:lnTo>
                  <a:pt x="3603812" y="2474258"/>
                </a:lnTo>
                <a:cubicBezTo>
                  <a:pt x="3610535" y="2478740"/>
                  <a:pt x="3616316" y="2485150"/>
                  <a:pt x="3623982" y="2487705"/>
                </a:cubicBezTo>
                <a:cubicBezTo>
                  <a:pt x="3637429" y="2492188"/>
                  <a:pt x="3651645" y="2494814"/>
                  <a:pt x="3664323" y="2501153"/>
                </a:cubicBezTo>
                <a:cubicBezTo>
                  <a:pt x="3673288" y="2505635"/>
                  <a:pt x="3681709" y="2511431"/>
                  <a:pt x="3691217" y="2514600"/>
                </a:cubicBezTo>
                <a:cubicBezTo>
                  <a:pt x="3708750" y="2520444"/>
                  <a:pt x="3727076" y="2523565"/>
                  <a:pt x="3745006" y="2528047"/>
                </a:cubicBezTo>
                <a:cubicBezTo>
                  <a:pt x="3753971" y="2530288"/>
                  <a:pt x="3763134" y="2531848"/>
                  <a:pt x="3771900" y="2534770"/>
                </a:cubicBezTo>
                <a:cubicBezTo>
                  <a:pt x="3785931" y="2539447"/>
                  <a:pt x="3821357" y="2552401"/>
                  <a:pt x="3839135" y="2554941"/>
                </a:cubicBezTo>
                <a:cubicBezTo>
                  <a:pt x="3861432" y="2558126"/>
                  <a:pt x="3883958" y="2559423"/>
                  <a:pt x="3906370" y="2561664"/>
                </a:cubicBezTo>
                <a:cubicBezTo>
                  <a:pt x="3919657" y="2566093"/>
                  <a:pt x="3937233" y="2569987"/>
                  <a:pt x="3946712" y="2581835"/>
                </a:cubicBezTo>
                <a:cubicBezTo>
                  <a:pt x="3951139" y="2587369"/>
                  <a:pt x="3949789" y="2595928"/>
                  <a:pt x="3953435" y="2602005"/>
                </a:cubicBezTo>
                <a:cubicBezTo>
                  <a:pt x="3956696" y="2607441"/>
                  <a:pt x="3962922" y="2610503"/>
                  <a:pt x="3966882" y="2615453"/>
                </a:cubicBezTo>
                <a:cubicBezTo>
                  <a:pt x="4009240" y="2668402"/>
                  <a:pt x="3947751" y="2598082"/>
                  <a:pt x="3993776" y="2662517"/>
                </a:cubicBezTo>
                <a:cubicBezTo>
                  <a:pt x="3999303" y="2670255"/>
                  <a:pt x="4007223" y="2675964"/>
                  <a:pt x="4013947" y="2682688"/>
                </a:cubicBezTo>
                <a:cubicBezTo>
                  <a:pt x="4030844" y="2733381"/>
                  <a:pt x="4008052" y="2670899"/>
                  <a:pt x="4034117" y="2723029"/>
                </a:cubicBezTo>
                <a:cubicBezTo>
                  <a:pt x="4037287" y="2729368"/>
                  <a:pt x="4036413" y="2737666"/>
                  <a:pt x="4040841" y="2743200"/>
                </a:cubicBezTo>
                <a:cubicBezTo>
                  <a:pt x="4045889" y="2749510"/>
                  <a:pt x="4054288" y="2752165"/>
                  <a:pt x="4061012" y="2756647"/>
                </a:cubicBezTo>
                <a:lnTo>
                  <a:pt x="4074459" y="2796988"/>
                </a:lnTo>
                <a:cubicBezTo>
                  <a:pt x="4076700" y="2803711"/>
                  <a:pt x="4079463" y="2810283"/>
                  <a:pt x="4081182" y="2817158"/>
                </a:cubicBezTo>
                <a:cubicBezTo>
                  <a:pt x="4083423" y="2826123"/>
                  <a:pt x="4084661" y="2835400"/>
                  <a:pt x="4087906" y="2844053"/>
                </a:cubicBezTo>
                <a:cubicBezTo>
                  <a:pt x="4095218" y="2863552"/>
                  <a:pt x="4103653" y="2874396"/>
                  <a:pt x="4114800" y="2891117"/>
                </a:cubicBezTo>
                <a:cubicBezTo>
                  <a:pt x="4119282" y="2904564"/>
                  <a:pt x="4116453" y="2923595"/>
                  <a:pt x="4128247" y="2931458"/>
                </a:cubicBezTo>
                <a:cubicBezTo>
                  <a:pt x="4134970" y="2935940"/>
                  <a:pt x="4142282" y="2939646"/>
                  <a:pt x="4148417" y="2944905"/>
                </a:cubicBezTo>
                <a:cubicBezTo>
                  <a:pt x="4158043" y="2953156"/>
                  <a:pt x="4163284" y="2967791"/>
                  <a:pt x="4175312" y="2971800"/>
                </a:cubicBezTo>
                <a:cubicBezTo>
                  <a:pt x="4208415" y="2982834"/>
                  <a:pt x="4188491" y="2977358"/>
                  <a:pt x="4235823" y="2985247"/>
                </a:cubicBezTo>
                <a:cubicBezTo>
                  <a:pt x="4249382" y="2982535"/>
                  <a:pt x="4279719" y="2980904"/>
                  <a:pt x="4289612" y="2965076"/>
                </a:cubicBezTo>
                <a:cubicBezTo>
                  <a:pt x="4296434" y="2954162"/>
                  <a:pt x="4305846" y="2913588"/>
                  <a:pt x="4309782" y="2897841"/>
                </a:cubicBezTo>
                <a:cubicBezTo>
                  <a:pt x="4307541" y="2882153"/>
                  <a:pt x="4305469" y="2866439"/>
                  <a:pt x="4303059" y="2850776"/>
                </a:cubicBezTo>
                <a:cubicBezTo>
                  <a:pt x="4298961" y="2824142"/>
                  <a:pt x="4301552" y="2808928"/>
                  <a:pt x="4282888" y="2790264"/>
                </a:cubicBezTo>
                <a:cubicBezTo>
                  <a:pt x="4277174" y="2784550"/>
                  <a:pt x="4269441" y="2781299"/>
                  <a:pt x="4262717" y="2776817"/>
                </a:cubicBezTo>
                <a:cubicBezTo>
                  <a:pt x="4258235" y="2770094"/>
                  <a:pt x="4255351" y="2761968"/>
                  <a:pt x="4249270" y="2756647"/>
                </a:cubicBezTo>
                <a:cubicBezTo>
                  <a:pt x="4237107" y="2746005"/>
                  <a:pt x="4222376" y="2738718"/>
                  <a:pt x="4208929" y="2729753"/>
                </a:cubicBezTo>
                <a:cubicBezTo>
                  <a:pt x="4202206" y="2725271"/>
                  <a:pt x="4194473" y="2722019"/>
                  <a:pt x="4188759" y="2716305"/>
                </a:cubicBezTo>
                <a:lnTo>
                  <a:pt x="4161864" y="2689411"/>
                </a:lnTo>
                <a:cubicBezTo>
                  <a:pt x="4159623" y="2682688"/>
                  <a:pt x="4155141" y="2676328"/>
                  <a:pt x="4155141" y="2669241"/>
                </a:cubicBezTo>
                <a:cubicBezTo>
                  <a:pt x="4155141" y="2634613"/>
                  <a:pt x="4169515" y="2624148"/>
                  <a:pt x="4188759" y="2595282"/>
                </a:cubicBezTo>
                <a:cubicBezTo>
                  <a:pt x="4193241" y="2588558"/>
                  <a:pt x="4194978" y="2578725"/>
                  <a:pt x="4202206" y="2575111"/>
                </a:cubicBezTo>
                <a:cubicBezTo>
                  <a:pt x="4211171" y="2570629"/>
                  <a:pt x="4220398" y="2566637"/>
                  <a:pt x="4229100" y="2561664"/>
                </a:cubicBezTo>
                <a:cubicBezTo>
                  <a:pt x="4236116" y="2557655"/>
                  <a:pt x="4241886" y="2551499"/>
                  <a:pt x="4249270" y="2548217"/>
                </a:cubicBezTo>
                <a:cubicBezTo>
                  <a:pt x="4288513" y="2530776"/>
                  <a:pt x="4289125" y="2536796"/>
                  <a:pt x="4329953" y="2528047"/>
                </a:cubicBezTo>
                <a:cubicBezTo>
                  <a:pt x="4348024" y="2524175"/>
                  <a:pt x="4365446" y="2517214"/>
                  <a:pt x="4383741" y="2514600"/>
                </a:cubicBezTo>
                <a:cubicBezTo>
                  <a:pt x="4399429" y="2512359"/>
                  <a:pt x="4415214" y="2510711"/>
                  <a:pt x="4430806" y="2507876"/>
                </a:cubicBezTo>
                <a:cubicBezTo>
                  <a:pt x="4476932" y="2499490"/>
                  <a:pt x="4439457" y="2504033"/>
                  <a:pt x="4477870" y="2494429"/>
                </a:cubicBezTo>
                <a:lnTo>
                  <a:pt x="4531659" y="2480982"/>
                </a:lnTo>
                <a:cubicBezTo>
                  <a:pt x="4556366" y="2464510"/>
                  <a:pt x="4552549" y="2465054"/>
                  <a:pt x="4585447" y="2454088"/>
                </a:cubicBezTo>
                <a:cubicBezTo>
                  <a:pt x="4594213" y="2451166"/>
                  <a:pt x="4603689" y="2450609"/>
                  <a:pt x="4612341" y="2447364"/>
                </a:cubicBezTo>
                <a:cubicBezTo>
                  <a:pt x="4631839" y="2440052"/>
                  <a:pt x="4642686" y="2431617"/>
                  <a:pt x="4659406" y="2420470"/>
                </a:cubicBezTo>
                <a:cubicBezTo>
                  <a:pt x="4662116" y="2416857"/>
                  <a:pt x="4689448" y="2381449"/>
                  <a:pt x="4693023" y="2373405"/>
                </a:cubicBezTo>
                <a:cubicBezTo>
                  <a:pt x="4707014" y="2341924"/>
                  <a:pt x="4706164" y="2331080"/>
                  <a:pt x="4713194" y="2299447"/>
                </a:cubicBezTo>
                <a:cubicBezTo>
                  <a:pt x="4715199" y="2290427"/>
                  <a:pt x="4717378" y="2281438"/>
                  <a:pt x="4719917" y="2272553"/>
                </a:cubicBezTo>
                <a:cubicBezTo>
                  <a:pt x="4721864" y="2265738"/>
                  <a:pt x="4724922" y="2259258"/>
                  <a:pt x="4726641" y="2252382"/>
                </a:cubicBezTo>
                <a:cubicBezTo>
                  <a:pt x="4729413" y="2241295"/>
                  <a:pt x="4731123" y="2229970"/>
                  <a:pt x="4733364" y="2218764"/>
                </a:cubicBezTo>
                <a:cubicBezTo>
                  <a:pt x="4724883" y="2150913"/>
                  <a:pt x="4732355" y="2182116"/>
                  <a:pt x="4713194" y="2124635"/>
                </a:cubicBezTo>
                <a:cubicBezTo>
                  <a:pt x="4710953" y="2117911"/>
                  <a:pt x="4710401" y="2110361"/>
                  <a:pt x="4706470" y="2104464"/>
                </a:cubicBezTo>
                <a:cubicBezTo>
                  <a:pt x="4701988" y="2097741"/>
                  <a:pt x="4699875" y="2088577"/>
                  <a:pt x="4693023" y="2084294"/>
                </a:cubicBezTo>
                <a:cubicBezTo>
                  <a:pt x="4681003" y="2076782"/>
                  <a:pt x="4652682" y="2070847"/>
                  <a:pt x="4652682" y="2070847"/>
                </a:cubicBezTo>
                <a:cubicBezTo>
                  <a:pt x="4645959" y="2066365"/>
                  <a:pt x="4640559" y="2058132"/>
                  <a:pt x="4632512" y="2057400"/>
                </a:cubicBezTo>
                <a:cubicBezTo>
                  <a:pt x="4588319" y="2053382"/>
                  <a:pt x="4585880" y="2059351"/>
                  <a:pt x="4558553" y="2077570"/>
                </a:cubicBezTo>
                <a:cubicBezTo>
                  <a:pt x="4537243" y="2109535"/>
                  <a:pt x="4547662" y="2090074"/>
                  <a:pt x="4531659" y="2138082"/>
                </a:cubicBezTo>
                <a:cubicBezTo>
                  <a:pt x="4529418" y="2144806"/>
                  <a:pt x="4528866" y="2152356"/>
                  <a:pt x="4524935" y="2158253"/>
                </a:cubicBezTo>
                <a:cubicBezTo>
                  <a:pt x="4520453" y="2164976"/>
                  <a:pt x="4514770" y="2171039"/>
                  <a:pt x="4511488" y="2178423"/>
                </a:cubicBezTo>
                <a:cubicBezTo>
                  <a:pt x="4498057" y="2208643"/>
                  <a:pt x="4501395" y="2213740"/>
                  <a:pt x="4491317" y="2238935"/>
                </a:cubicBezTo>
                <a:cubicBezTo>
                  <a:pt x="4486835" y="2250141"/>
                  <a:pt x="4481995" y="2261210"/>
                  <a:pt x="4477870" y="2272553"/>
                </a:cubicBezTo>
                <a:cubicBezTo>
                  <a:pt x="4473026" y="2285874"/>
                  <a:pt x="4472286" y="2301100"/>
                  <a:pt x="4464423" y="2312894"/>
                </a:cubicBezTo>
                <a:cubicBezTo>
                  <a:pt x="4455458" y="2326341"/>
                  <a:pt x="4448957" y="2341807"/>
                  <a:pt x="4437529" y="2353235"/>
                </a:cubicBezTo>
                <a:cubicBezTo>
                  <a:pt x="4420126" y="2370638"/>
                  <a:pt x="4401142" y="2392259"/>
                  <a:pt x="4377017" y="2400300"/>
                </a:cubicBezTo>
                <a:lnTo>
                  <a:pt x="4356847" y="2407023"/>
                </a:lnTo>
                <a:cubicBezTo>
                  <a:pt x="4350123" y="2411505"/>
                  <a:pt x="4343904" y="2416856"/>
                  <a:pt x="4336676" y="2420470"/>
                </a:cubicBezTo>
                <a:cubicBezTo>
                  <a:pt x="4319737" y="2428940"/>
                  <a:pt x="4292404" y="2430964"/>
                  <a:pt x="4276164" y="2433917"/>
                </a:cubicBezTo>
                <a:cubicBezTo>
                  <a:pt x="4264921" y="2435961"/>
                  <a:pt x="4253753" y="2438400"/>
                  <a:pt x="4242547" y="2440641"/>
                </a:cubicBezTo>
                <a:cubicBezTo>
                  <a:pt x="4232346" y="2439508"/>
                  <a:pt x="4175691" y="2442593"/>
                  <a:pt x="4161864" y="2420470"/>
                </a:cubicBezTo>
                <a:cubicBezTo>
                  <a:pt x="4154352" y="2408450"/>
                  <a:pt x="4148417" y="2380129"/>
                  <a:pt x="4148417" y="2380129"/>
                </a:cubicBezTo>
                <a:cubicBezTo>
                  <a:pt x="4164419" y="2332122"/>
                  <a:pt x="4154001" y="2351582"/>
                  <a:pt x="4175312" y="2319617"/>
                </a:cubicBezTo>
                <a:cubicBezTo>
                  <a:pt x="4180780" y="2303212"/>
                  <a:pt x="4182448" y="2292310"/>
                  <a:pt x="4195482" y="2279276"/>
                </a:cubicBezTo>
                <a:cubicBezTo>
                  <a:pt x="4201196" y="2273562"/>
                  <a:pt x="4208929" y="2270311"/>
                  <a:pt x="4215653" y="2265829"/>
                </a:cubicBezTo>
                <a:cubicBezTo>
                  <a:pt x="4249040" y="2215747"/>
                  <a:pt x="4206130" y="2277257"/>
                  <a:pt x="4249270" y="2225488"/>
                </a:cubicBezTo>
                <a:cubicBezTo>
                  <a:pt x="4254443" y="2219280"/>
                  <a:pt x="4258235" y="2212041"/>
                  <a:pt x="4262717" y="2205317"/>
                </a:cubicBezTo>
                <a:cubicBezTo>
                  <a:pt x="4260476" y="2196352"/>
                  <a:pt x="4261767" y="2185639"/>
                  <a:pt x="4255994" y="2178423"/>
                </a:cubicBezTo>
                <a:cubicBezTo>
                  <a:pt x="4251567" y="2172889"/>
                  <a:pt x="4242910" y="2171700"/>
                  <a:pt x="4235823" y="2171700"/>
                </a:cubicBezTo>
                <a:cubicBezTo>
                  <a:pt x="4215529" y="2171700"/>
                  <a:pt x="4195482" y="2176182"/>
                  <a:pt x="4175312" y="2178423"/>
                </a:cubicBezTo>
                <a:cubicBezTo>
                  <a:pt x="4175077" y="2178364"/>
                  <a:pt x="4131464" y="2168193"/>
                  <a:pt x="4128247" y="2164976"/>
                </a:cubicBezTo>
                <a:cubicBezTo>
                  <a:pt x="4123236" y="2159964"/>
                  <a:pt x="4123764" y="2151529"/>
                  <a:pt x="4121523" y="2144805"/>
                </a:cubicBezTo>
                <a:cubicBezTo>
                  <a:pt x="4125952" y="2131518"/>
                  <a:pt x="4129846" y="2113942"/>
                  <a:pt x="4141694" y="2104464"/>
                </a:cubicBezTo>
                <a:cubicBezTo>
                  <a:pt x="4147228" y="2100037"/>
                  <a:pt x="4154891" y="2099009"/>
                  <a:pt x="4161864" y="2097741"/>
                </a:cubicBezTo>
                <a:cubicBezTo>
                  <a:pt x="4179642" y="2094509"/>
                  <a:pt x="4197765" y="2093572"/>
                  <a:pt x="4215653" y="2091017"/>
                </a:cubicBezTo>
                <a:cubicBezTo>
                  <a:pt x="4229148" y="2089089"/>
                  <a:pt x="4242547" y="2086535"/>
                  <a:pt x="4255994" y="2084294"/>
                </a:cubicBezTo>
                <a:cubicBezTo>
                  <a:pt x="4313136" y="2065245"/>
                  <a:pt x="4243461" y="2091813"/>
                  <a:pt x="4289612" y="2064123"/>
                </a:cubicBezTo>
                <a:cubicBezTo>
                  <a:pt x="4295689" y="2060477"/>
                  <a:pt x="4303059" y="2059641"/>
                  <a:pt x="4309782" y="2057400"/>
                </a:cubicBezTo>
                <a:cubicBezTo>
                  <a:pt x="4347053" y="2032553"/>
                  <a:pt x="4317572" y="2058169"/>
                  <a:pt x="4336676" y="2023782"/>
                </a:cubicBezTo>
                <a:cubicBezTo>
                  <a:pt x="4344524" y="2009654"/>
                  <a:pt x="4363570" y="1983441"/>
                  <a:pt x="4363570" y="1983441"/>
                </a:cubicBezTo>
                <a:cubicBezTo>
                  <a:pt x="4365811" y="1974476"/>
                  <a:pt x="4365168" y="1964236"/>
                  <a:pt x="4370294" y="1956547"/>
                </a:cubicBezTo>
                <a:cubicBezTo>
                  <a:pt x="4374776" y="1949824"/>
                  <a:pt x="4384154" y="1948148"/>
                  <a:pt x="4390464" y="1943100"/>
                </a:cubicBezTo>
                <a:cubicBezTo>
                  <a:pt x="4395414" y="1939140"/>
                  <a:pt x="4399429" y="1934135"/>
                  <a:pt x="4403912" y="1929653"/>
                </a:cubicBezTo>
                <a:cubicBezTo>
                  <a:pt x="4406153" y="1922929"/>
                  <a:pt x="4407193" y="1915677"/>
                  <a:pt x="4410635" y="1909482"/>
                </a:cubicBezTo>
                <a:cubicBezTo>
                  <a:pt x="4418483" y="1895354"/>
                  <a:pt x="4432418" y="1884473"/>
                  <a:pt x="4437529" y="1869141"/>
                </a:cubicBezTo>
                <a:cubicBezTo>
                  <a:pt x="4442011" y="1855694"/>
                  <a:pt x="4447538" y="1842551"/>
                  <a:pt x="4450976" y="1828800"/>
                </a:cubicBezTo>
                <a:cubicBezTo>
                  <a:pt x="4453217" y="1819835"/>
                  <a:pt x="4454455" y="1810558"/>
                  <a:pt x="4457700" y="1801905"/>
                </a:cubicBezTo>
                <a:cubicBezTo>
                  <a:pt x="4465012" y="1782406"/>
                  <a:pt x="4473447" y="1771562"/>
                  <a:pt x="4484594" y="1754841"/>
                </a:cubicBezTo>
                <a:cubicBezTo>
                  <a:pt x="4501364" y="1654215"/>
                  <a:pt x="4480738" y="1779904"/>
                  <a:pt x="4498041" y="1667435"/>
                </a:cubicBezTo>
                <a:cubicBezTo>
                  <a:pt x="4500114" y="1653961"/>
                  <a:pt x="4503259" y="1640643"/>
                  <a:pt x="4504764" y="1627094"/>
                </a:cubicBezTo>
                <a:cubicBezTo>
                  <a:pt x="4507744" y="1600271"/>
                  <a:pt x="4508034" y="1573177"/>
                  <a:pt x="4511488" y="1546411"/>
                </a:cubicBezTo>
                <a:cubicBezTo>
                  <a:pt x="4517005" y="1503656"/>
                  <a:pt x="4524273" y="1461136"/>
                  <a:pt x="4531659" y="1418664"/>
                </a:cubicBezTo>
                <a:cubicBezTo>
                  <a:pt x="4533242" y="1409560"/>
                  <a:pt x="4533485" y="1399606"/>
                  <a:pt x="4538382" y="1391770"/>
                </a:cubicBezTo>
                <a:cubicBezTo>
                  <a:pt x="4545101" y="1381019"/>
                  <a:pt x="4556927" y="1374417"/>
                  <a:pt x="4565276" y="1364876"/>
                </a:cubicBezTo>
                <a:cubicBezTo>
                  <a:pt x="4576955" y="1351529"/>
                  <a:pt x="4588851" y="1332876"/>
                  <a:pt x="4598894" y="1317811"/>
                </a:cubicBezTo>
                <a:cubicBezTo>
                  <a:pt x="4601135" y="1308846"/>
                  <a:pt x="4601977" y="1299410"/>
                  <a:pt x="4605617" y="1290917"/>
                </a:cubicBezTo>
                <a:cubicBezTo>
                  <a:pt x="4628653" y="1237165"/>
                  <a:pt x="4612000" y="1308197"/>
                  <a:pt x="4625788" y="1243853"/>
                </a:cubicBezTo>
                <a:cubicBezTo>
                  <a:pt x="4630577" y="1221505"/>
                  <a:pt x="4639235" y="1176617"/>
                  <a:pt x="4639235" y="1176617"/>
                </a:cubicBezTo>
                <a:cubicBezTo>
                  <a:pt x="4638093" y="1149219"/>
                  <a:pt x="4639806" y="1030981"/>
                  <a:pt x="4625788" y="974911"/>
                </a:cubicBezTo>
                <a:cubicBezTo>
                  <a:pt x="4622350" y="961160"/>
                  <a:pt x="4616823" y="948017"/>
                  <a:pt x="4612341" y="934570"/>
                </a:cubicBezTo>
                <a:cubicBezTo>
                  <a:pt x="4610100" y="927847"/>
                  <a:pt x="4610628" y="919411"/>
                  <a:pt x="4605617" y="914400"/>
                </a:cubicBezTo>
                <a:cubicBezTo>
                  <a:pt x="4598894" y="907676"/>
                  <a:pt x="4591534" y="901534"/>
                  <a:pt x="4585447" y="894229"/>
                </a:cubicBezTo>
                <a:cubicBezTo>
                  <a:pt x="4580274" y="888021"/>
                  <a:pt x="4578081" y="879379"/>
                  <a:pt x="4572000" y="874058"/>
                </a:cubicBezTo>
                <a:cubicBezTo>
                  <a:pt x="4559837" y="863416"/>
                  <a:pt x="4543087" y="858591"/>
                  <a:pt x="4531659" y="847164"/>
                </a:cubicBezTo>
                <a:cubicBezTo>
                  <a:pt x="4524935" y="840441"/>
                  <a:pt x="4519400" y="832268"/>
                  <a:pt x="4511488" y="826994"/>
                </a:cubicBezTo>
                <a:cubicBezTo>
                  <a:pt x="4505591" y="823063"/>
                  <a:pt x="4497512" y="823712"/>
                  <a:pt x="4491317" y="820270"/>
                </a:cubicBezTo>
                <a:cubicBezTo>
                  <a:pt x="4477190" y="812421"/>
                  <a:pt x="4466308" y="798487"/>
                  <a:pt x="4450976" y="793376"/>
                </a:cubicBezTo>
                <a:cubicBezTo>
                  <a:pt x="4437529" y="788894"/>
                  <a:pt x="4422429" y="787792"/>
                  <a:pt x="4410635" y="779929"/>
                </a:cubicBezTo>
                <a:lnTo>
                  <a:pt x="4350123" y="739588"/>
                </a:lnTo>
                <a:cubicBezTo>
                  <a:pt x="4343400" y="735106"/>
                  <a:pt x="4337619" y="728696"/>
                  <a:pt x="4329953" y="726141"/>
                </a:cubicBezTo>
                <a:lnTo>
                  <a:pt x="4309782" y="719417"/>
                </a:lnTo>
                <a:cubicBezTo>
                  <a:pt x="4260660" y="670295"/>
                  <a:pt x="4329272" y="734655"/>
                  <a:pt x="4235823" y="672353"/>
                </a:cubicBezTo>
                <a:cubicBezTo>
                  <a:pt x="4222376" y="663388"/>
                  <a:pt x="4211161" y="649377"/>
                  <a:pt x="4195482" y="645458"/>
                </a:cubicBezTo>
                <a:cubicBezTo>
                  <a:pt x="4181829" y="642045"/>
                  <a:pt x="4161925" y="637800"/>
                  <a:pt x="4148417" y="632011"/>
                </a:cubicBezTo>
                <a:cubicBezTo>
                  <a:pt x="4139205" y="628063"/>
                  <a:pt x="4130735" y="622512"/>
                  <a:pt x="4121523" y="618564"/>
                </a:cubicBezTo>
                <a:cubicBezTo>
                  <a:pt x="4115009" y="615772"/>
                  <a:pt x="4107867" y="614633"/>
                  <a:pt x="4101353" y="611841"/>
                </a:cubicBezTo>
                <a:cubicBezTo>
                  <a:pt x="4092141" y="607893"/>
                  <a:pt x="4083967" y="601564"/>
                  <a:pt x="4074459" y="598394"/>
                </a:cubicBezTo>
                <a:cubicBezTo>
                  <a:pt x="4063618" y="594780"/>
                  <a:pt x="4051866" y="594677"/>
                  <a:pt x="4040841" y="591670"/>
                </a:cubicBezTo>
                <a:cubicBezTo>
                  <a:pt x="4027166" y="587940"/>
                  <a:pt x="4013947" y="582705"/>
                  <a:pt x="4000500" y="578223"/>
                </a:cubicBezTo>
                <a:cubicBezTo>
                  <a:pt x="3993776" y="575982"/>
                  <a:pt x="3987205" y="573219"/>
                  <a:pt x="3980329" y="571500"/>
                </a:cubicBezTo>
                <a:cubicBezTo>
                  <a:pt x="3940210" y="561469"/>
                  <a:pt x="3962550" y="566295"/>
                  <a:pt x="3913094" y="558053"/>
                </a:cubicBezTo>
                <a:lnTo>
                  <a:pt x="3516406" y="564776"/>
                </a:lnTo>
                <a:cubicBezTo>
                  <a:pt x="3293610" y="564776"/>
                  <a:pt x="3329068" y="567414"/>
                  <a:pt x="3200400" y="551329"/>
                </a:cubicBezTo>
                <a:cubicBezTo>
                  <a:pt x="3186953" y="546847"/>
                  <a:pt x="3173810" y="541320"/>
                  <a:pt x="3160059" y="537882"/>
                </a:cubicBezTo>
                <a:cubicBezTo>
                  <a:pt x="3142129" y="533400"/>
                  <a:pt x="3123803" y="530279"/>
                  <a:pt x="3106270" y="524435"/>
                </a:cubicBezTo>
                <a:lnTo>
                  <a:pt x="3065929" y="510988"/>
                </a:lnTo>
                <a:cubicBezTo>
                  <a:pt x="3059206" y="506506"/>
                  <a:pt x="3050241" y="504264"/>
                  <a:pt x="3045759" y="497541"/>
                </a:cubicBezTo>
                <a:cubicBezTo>
                  <a:pt x="3040633" y="489852"/>
                  <a:pt x="3042280" y="479299"/>
                  <a:pt x="3039035" y="470647"/>
                </a:cubicBezTo>
                <a:cubicBezTo>
                  <a:pt x="3035516" y="461262"/>
                  <a:pt x="3030070" y="452718"/>
                  <a:pt x="3025588" y="443753"/>
                </a:cubicBezTo>
                <a:cubicBezTo>
                  <a:pt x="3027829" y="407894"/>
                  <a:pt x="3028551" y="371908"/>
                  <a:pt x="3032312" y="336176"/>
                </a:cubicBezTo>
                <a:cubicBezTo>
                  <a:pt x="3033054" y="329128"/>
                  <a:pt x="3034024" y="321017"/>
                  <a:pt x="3039035" y="316005"/>
                </a:cubicBezTo>
                <a:cubicBezTo>
                  <a:pt x="3050463" y="304577"/>
                  <a:pt x="3064044" y="294222"/>
                  <a:pt x="3079376" y="289111"/>
                </a:cubicBezTo>
                <a:lnTo>
                  <a:pt x="3119717" y="275664"/>
                </a:lnTo>
                <a:cubicBezTo>
                  <a:pt x="3182620" y="278975"/>
                  <a:pt x="3240276" y="278948"/>
                  <a:pt x="3301253" y="289111"/>
                </a:cubicBezTo>
                <a:cubicBezTo>
                  <a:pt x="3326466" y="293313"/>
                  <a:pt x="3325943" y="296166"/>
                  <a:pt x="3348317" y="302558"/>
                </a:cubicBezTo>
                <a:cubicBezTo>
                  <a:pt x="3357202" y="305097"/>
                  <a:pt x="3366247" y="307041"/>
                  <a:pt x="3375212" y="309282"/>
                </a:cubicBezTo>
                <a:cubicBezTo>
                  <a:pt x="3384177" y="316006"/>
                  <a:pt x="3392083" y="324441"/>
                  <a:pt x="3402106" y="329453"/>
                </a:cubicBezTo>
                <a:cubicBezTo>
                  <a:pt x="3402113" y="329456"/>
                  <a:pt x="3452528" y="346260"/>
                  <a:pt x="3462617" y="349623"/>
                </a:cubicBezTo>
                <a:cubicBezTo>
                  <a:pt x="3469341" y="351864"/>
                  <a:pt x="3476891" y="352416"/>
                  <a:pt x="3482788" y="356347"/>
                </a:cubicBezTo>
                <a:cubicBezTo>
                  <a:pt x="3489512" y="360829"/>
                  <a:pt x="3495456" y="366793"/>
                  <a:pt x="3502959" y="369794"/>
                </a:cubicBezTo>
                <a:cubicBezTo>
                  <a:pt x="3518108" y="375854"/>
                  <a:pt x="3534395" y="378553"/>
                  <a:pt x="3550023" y="383241"/>
                </a:cubicBezTo>
                <a:cubicBezTo>
                  <a:pt x="3556811" y="385277"/>
                  <a:pt x="3563470" y="387723"/>
                  <a:pt x="3570194" y="389964"/>
                </a:cubicBezTo>
                <a:cubicBezTo>
                  <a:pt x="3576917" y="394446"/>
                  <a:pt x="3582641" y="401035"/>
                  <a:pt x="3590364" y="403411"/>
                </a:cubicBezTo>
                <a:cubicBezTo>
                  <a:pt x="3612209" y="410133"/>
                  <a:pt x="3657600" y="416858"/>
                  <a:pt x="3657600" y="416858"/>
                </a:cubicBezTo>
                <a:cubicBezTo>
                  <a:pt x="3679842" y="425755"/>
                  <a:pt x="3690312" y="430706"/>
                  <a:pt x="3711388" y="437029"/>
                </a:cubicBezTo>
                <a:cubicBezTo>
                  <a:pt x="3727016" y="441717"/>
                  <a:pt x="3742712" y="446183"/>
                  <a:pt x="3758453" y="450476"/>
                </a:cubicBezTo>
                <a:cubicBezTo>
                  <a:pt x="3767368" y="452907"/>
                  <a:pt x="3776695" y="453955"/>
                  <a:pt x="3785347" y="457200"/>
                </a:cubicBezTo>
                <a:cubicBezTo>
                  <a:pt x="3794732" y="460719"/>
                  <a:pt x="3802733" y="467478"/>
                  <a:pt x="3812241" y="470647"/>
                </a:cubicBezTo>
                <a:cubicBezTo>
                  <a:pt x="3829774" y="476491"/>
                  <a:pt x="3848496" y="478250"/>
                  <a:pt x="3866029" y="484094"/>
                </a:cubicBezTo>
                <a:cubicBezTo>
                  <a:pt x="3872753" y="486335"/>
                  <a:pt x="3879324" y="489098"/>
                  <a:pt x="3886200" y="490817"/>
                </a:cubicBezTo>
                <a:cubicBezTo>
                  <a:pt x="3897286" y="493589"/>
                  <a:pt x="3908731" y="494769"/>
                  <a:pt x="3919817" y="497541"/>
                </a:cubicBezTo>
                <a:cubicBezTo>
                  <a:pt x="3926693" y="499260"/>
                  <a:pt x="3933173" y="502317"/>
                  <a:pt x="3939988" y="504264"/>
                </a:cubicBezTo>
                <a:cubicBezTo>
                  <a:pt x="3948873" y="506803"/>
                  <a:pt x="3958230" y="507743"/>
                  <a:pt x="3966882" y="510988"/>
                </a:cubicBezTo>
                <a:cubicBezTo>
                  <a:pt x="4007251" y="526127"/>
                  <a:pt x="3979249" y="524255"/>
                  <a:pt x="4020670" y="531158"/>
                </a:cubicBezTo>
                <a:cubicBezTo>
                  <a:pt x="4038493" y="534129"/>
                  <a:pt x="4056571" y="535327"/>
                  <a:pt x="4074459" y="537882"/>
                </a:cubicBezTo>
                <a:cubicBezTo>
                  <a:pt x="4087954" y="539810"/>
                  <a:pt x="4101326" y="542532"/>
                  <a:pt x="4114800" y="544605"/>
                </a:cubicBezTo>
                <a:cubicBezTo>
                  <a:pt x="4130463" y="547015"/>
                  <a:pt x="4146201" y="548919"/>
                  <a:pt x="4161864" y="551329"/>
                </a:cubicBezTo>
                <a:cubicBezTo>
                  <a:pt x="4175338" y="553402"/>
                  <a:pt x="4188710" y="556125"/>
                  <a:pt x="4202206" y="558053"/>
                </a:cubicBezTo>
                <a:cubicBezTo>
                  <a:pt x="4234519" y="562669"/>
                  <a:pt x="4284775" y="567974"/>
                  <a:pt x="4316506" y="571500"/>
                </a:cubicBezTo>
                <a:cubicBezTo>
                  <a:pt x="4368035" y="584381"/>
                  <a:pt x="4363537" y="584947"/>
                  <a:pt x="4444253" y="584947"/>
                </a:cubicBezTo>
                <a:cubicBezTo>
                  <a:pt x="4518246" y="584947"/>
                  <a:pt x="4592170" y="580464"/>
                  <a:pt x="4666129" y="578223"/>
                </a:cubicBezTo>
                <a:cubicBezTo>
                  <a:pt x="4726072" y="558242"/>
                  <a:pt x="4692633" y="567851"/>
                  <a:pt x="4766982" y="551329"/>
                </a:cubicBezTo>
                <a:cubicBezTo>
                  <a:pt x="4786761" y="538967"/>
                  <a:pt x="4826916" y="515984"/>
                  <a:pt x="4847664" y="497541"/>
                </a:cubicBezTo>
                <a:cubicBezTo>
                  <a:pt x="4859509" y="487012"/>
                  <a:pt x="4868096" y="472714"/>
                  <a:pt x="4881282" y="463923"/>
                </a:cubicBezTo>
                <a:cubicBezTo>
                  <a:pt x="4916794" y="440249"/>
                  <a:pt x="4954979" y="415828"/>
                  <a:pt x="4982135" y="383241"/>
                </a:cubicBezTo>
                <a:cubicBezTo>
                  <a:pt x="5022755" y="334498"/>
                  <a:pt x="5014657" y="345616"/>
                  <a:pt x="5056094" y="289111"/>
                </a:cubicBezTo>
                <a:cubicBezTo>
                  <a:pt x="5067495" y="273564"/>
                  <a:pt x="5077668" y="257102"/>
                  <a:pt x="5089712" y="242047"/>
                </a:cubicBezTo>
                <a:cubicBezTo>
                  <a:pt x="5098677" y="230841"/>
                  <a:pt x="5108377" y="220186"/>
                  <a:pt x="5116606" y="208429"/>
                </a:cubicBezTo>
                <a:cubicBezTo>
                  <a:pt x="5142735" y="171101"/>
                  <a:pt x="5130316" y="182753"/>
                  <a:pt x="5150223" y="147917"/>
                </a:cubicBezTo>
                <a:cubicBezTo>
                  <a:pt x="5154232" y="140901"/>
                  <a:pt x="5159188" y="134470"/>
                  <a:pt x="5163670" y="127747"/>
                </a:cubicBezTo>
                <a:cubicBezTo>
                  <a:pt x="5165911" y="116541"/>
                  <a:pt x="5167387" y="105154"/>
                  <a:pt x="5170394" y="94129"/>
                </a:cubicBezTo>
                <a:cubicBezTo>
                  <a:pt x="5174124" y="80454"/>
                  <a:pt x="5183841" y="53788"/>
                  <a:pt x="5183841" y="53788"/>
                </a:cubicBezTo>
                <a:cubicBezTo>
                  <a:pt x="5176293" y="8504"/>
                  <a:pt x="5183213" y="25640"/>
                  <a:pt x="5170394" y="0"/>
                </a:cubicBezTo>
              </a:path>
            </a:pathLst>
          </a:custGeom>
          <a:noFill/>
          <a:ln w="38100">
            <a:solidFill>
              <a:srgbClr val="D53E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47118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4718D-245A-CC77-BE88-2EC1E75D257E}"/>
              </a:ext>
            </a:extLst>
          </p:cNvPr>
          <p:cNvSpPr>
            <a:spLocks noGrp="1"/>
          </p:cNvSpPr>
          <p:nvPr>
            <p:ph type="title"/>
          </p:nvPr>
        </p:nvSpPr>
        <p:spPr/>
        <p:txBody>
          <a:bodyPr/>
          <a:lstStyle/>
          <a:p>
            <a:r>
              <a:rPr lang="en-US" dirty="0"/>
              <a:t>Strategy 1: Explicit Regularization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3EE742-CE94-5DCE-E3DD-79D5603B4EDF}"/>
                  </a:ext>
                </a:extLst>
              </p:cNvPr>
              <p:cNvSpPr>
                <a:spLocks noGrp="1"/>
              </p:cNvSpPr>
              <p:nvPr>
                <p:ph idx="1"/>
              </p:nvPr>
            </p:nvSpPr>
            <p:spPr/>
            <p:txBody>
              <a:bodyPr/>
              <a:lstStyle/>
              <a:p>
                <a:r>
                  <a:rPr lang="en-US" dirty="0"/>
                  <a:t>We add a term to the loss (</a:t>
                </a:r>
                <a:r>
                  <a:rPr lang="en-US" i="1" dirty="0"/>
                  <a:t>L</a:t>
                </a:r>
                <a:r>
                  <a:rPr lang="en-US" dirty="0"/>
                  <a:t>) that quantifies complexity</a:t>
                </a:r>
              </a:p>
              <a:p>
                <a:r>
                  <a:rPr lang="en-US" dirty="0"/>
                  <a:t>By minimizing the loss, we’re now striking a balance between two competing objectives:</a:t>
                </a:r>
              </a:p>
              <a:p>
                <a:pPr marL="914400" lvl="1" indent="-457200">
                  <a:buFont typeface="+mj-lt"/>
                  <a:buAutoNum type="arabicPeriod"/>
                </a:pPr>
                <a:r>
                  <a:rPr lang="en-US" dirty="0"/>
                  <a:t>Improve goodness of fit (i.e. reduce cross-entropy loss </a:t>
                </a:r>
                <a:r>
                  <a:rPr lang="en-US" i="1" dirty="0"/>
                  <a:t>H</a:t>
                </a:r>
                <a:r>
                  <a:rPr lang="en-US" dirty="0"/>
                  <a:t>)</a:t>
                </a:r>
              </a:p>
              <a:p>
                <a:pPr marL="914400" lvl="1" indent="-457200">
                  <a:buFont typeface="+mj-lt"/>
                  <a:buAutoNum type="arabicPeriod"/>
                </a:pPr>
                <a:r>
                  <a:rPr lang="en-US" dirty="0"/>
                  <a:t>Limit complexity (i.e. reduce regularization term </a:t>
                </a:r>
                <a:r>
                  <a:rPr lang="en-US" i="1" dirty="0"/>
                  <a:t>R</a:t>
                </a:r>
                <a:r>
                  <a:rPr lang="en-US" dirty="0"/>
                  <a:t>)</a:t>
                </a:r>
              </a:p>
              <a:p>
                <a:r>
                  <a:rPr lang="en-US" dirty="0"/>
                  <a:t>The hyperparameter </a:t>
                </a:r>
                <a14:m>
                  <m:oMath xmlns:m="http://schemas.openxmlformats.org/officeDocument/2006/math">
                    <m:r>
                      <a:rPr lang="en-US" i="1" dirty="0" smtClean="0">
                        <a:latin typeface="Cambria Math" panose="02040503050406030204" pitchFamily="18" charset="0"/>
                      </a:rPr>
                      <m:t>𝜆</m:t>
                    </m:r>
                    <m:r>
                      <a:rPr lang="en-US" i="1" dirty="0" smtClean="0">
                        <a:latin typeface="Cambria Math" panose="02040503050406030204" pitchFamily="18" charset="0"/>
                      </a:rPr>
                      <m:t> </m:t>
                    </m:r>
                  </m:oMath>
                </a14:m>
                <a:r>
                  <a:rPr lang="en-US" dirty="0"/>
                  <a:t>controls how much we care about (1) vs (2)</a:t>
                </a:r>
              </a:p>
            </p:txBody>
          </p:sp>
        </mc:Choice>
        <mc:Fallback xmlns="">
          <p:sp>
            <p:nvSpPr>
              <p:cNvPr id="3" name="Content Placeholder 2">
                <a:extLst>
                  <a:ext uri="{FF2B5EF4-FFF2-40B4-BE49-F238E27FC236}">
                    <a16:creationId xmlns:a16="http://schemas.microsoft.com/office/drawing/2014/main" id="{9D3EE742-CE94-5DCE-E3DD-79D5603B4EDF}"/>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9C94FC6-F882-D374-15D3-10F835AF199C}"/>
                  </a:ext>
                </a:extLst>
              </p:cNvPr>
              <p:cNvSpPr txBox="1"/>
              <p:nvPr/>
            </p:nvSpPr>
            <p:spPr>
              <a:xfrm>
                <a:off x="5026572" y="5284839"/>
                <a:ext cx="2138855"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𝐿</m:t>
                      </m:r>
                      <m:r>
                        <a:rPr lang="en-US" sz="3200" b="0" i="1" smtClean="0">
                          <a:latin typeface="Cambria Math" panose="02040503050406030204" pitchFamily="18" charset="0"/>
                        </a:rPr>
                        <m:t>=</m:t>
                      </m:r>
                      <m:r>
                        <a:rPr lang="en-US" sz="3200" b="0" i="1" smtClean="0">
                          <a:latin typeface="Cambria Math" panose="02040503050406030204" pitchFamily="18" charset="0"/>
                        </a:rPr>
                        <m:t>𝐻</m:t>
                      </m:r>
                      <m:r>
                        <a:rPr lang="en-US" sz="3200" b="0" i="0" smtClean="0">
                          <a:latin typeface="Cambria Math" panose="02040503050406030204" pitchFamily="18" charset="0"/>
                        </a:rPr>
                        <m:t>+</m:t>
                      </m:r>
                      <m:r>
                        <a:rPr lang="en-US" sz="3200" b="0" i="1" smtClean="0">
                          <a:latin typeface="Cambria Math" panose="02040503050406030204" pitchFamily="18" charset="0"/>
                        </a:rPr>
                        <m:t>𝜆</m:t>
                      </m:r>
                      <m:r>
                        <a:rPr lang="en-US" sz="3200" b="0" i="1" smtClean="0">
                          <a:latin typeface="Cambria Math" panose="02040503050406030204" pitchFamily="18" charset="0"/>
                        </a:rPr>
                        <m:t>𝑅</m:t>
                      </m:r>
                    </m:oMath>
                  </m:oMathPara>
                </a14:m>
                <a:endParaRPr lang="en-US" sz="3200" dirty="0"/>
              </a:p>
            </p:txBody>
          </p:sp>
        </mc:Choice>
        <mc:Fallback xmlns="">
          <p:sp>
            <p:nvSpPr>
              <p:cNvPr id="4" name="TextBox 3">
                <a:extLst>
                  <a:ext uri="{FF2B5EF4-FFF2-40B4-BE49-F238E27FC236}">
                    <a16:creationId xmlns:a16="http://schemas.microsoft.com/office/drawing/2014/main" id="{49C94FC6-F882-D374-15D3-10F835AF199C}"/>
                  </a:ext>
                </a:extLst>
              </p:cNvPr>
              <p:cNvSpPr txBox="1">
                <a:spLocks noRot="1" noChangeAspect="1" noMove="1" noResize="1" noEditPoints="1" noAdjustHandles="1" noChangeArrowheads="1" noChangeShapeType="1" noTextEdit="1"/>
              </p:cNvSpPr>
              <p:nvPr/>
            </p:nvSpPr>
            <p:spPr>
              <a:xfrm>
                <a:off x="5026572" y="5284839"/>
                <a:ext cx="2138855" cy="492443"/>
              </a:xfrm>
              <a:prstGeom prst="rect">
                <a:avLst/>
              </a:prstGeom>
              <a:blipFill>
                <a:blip r:embed="rId3"/>
                <a:stretch>
                  <a:fillRect l="-4167" r="-4167" b="-5000"/>
                </a:stretch>
              </a:blipFill>
            </p:spPr>
            <p:txBody>
              <a:bodyPr/>
              <a:lstStyle/>
              <a:p>
                <a:r>
                  <a:rPr lang="en-US">
                    <a:noFill/>
                  </a:rPr>
                  <a:t> </a:t>
                </a:r>
              </a:p>
            </p:txBody>
          </p:sp>
        </mc:Fallback>
      </mc:AlternateContent>
    </p:spTree>
    <p:extLst>
      <p:ext uri="{BB962C8B-B14F-4D97-AF65-F5344CB8AC3E}">
        <p14:creationId xmlns:p14="http://schemas.microsoft.com/office/powerpoint/2010/main" val="42003933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4718D-245A-CC77-BE88-2EC1E75D257E}"/>
              </a:ext>
            </a:extLst>
          </p:cNvPr>
          <p:cNvSpPr>
            <a:spLocks noGrp="1"/>
          </p:cNvSpPr>
          <p:nvPr>
            <p:ph type="title"/>
          </p:nvPr>
        </p:nvSpPr>
        <p:spPr/>
        <p:txBody>
          <a:bodyPr/>
          <a:lstStyle/>
          <a:p>
            <a:r>
              <a:rPr lang="en-US" dirty="0"/>
              <a:t>Examples of Explicit Regularization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D3EE742-CE94-5DCE-E3DD-79D5603B4EDF}"/>
                  </a:ext>
                </a:extLst>
              </p:cNvPr>
              <p:cNvSpPr>
                <a:spLocks noGrp="1"/>
              </p:cNvSpPr>
              <p:nvPr>
                <p:ph idx="1"/>
              </p:nvPr>
            </p:nvSpPr>
            <p:spPr/>
            <p:txBody>
              <a:bodyPr/>
              <a:lstStyle/>
              <a:p>
                <a:r>
                  <a:rPr lang="en-US" dirty="0"/>
                  <a:t>L</a:t>
                </a:r>
                <a:r>
                  <a:rPr lang="en-US" baseline="-25000" dirty="0"/>
                  <a:t>2</a:t>
                </a:r>
                <a:r>
                  <a:rPr lang="en-US" dirty="0"/>
                  <a:t> (i.e. </a:t>
                </a:r>
                <a:r>
                  <a:rPr lang="en-US" i="1" dirty="0"/>
                  <a:t>ridge</a:t>
                </a:r>
                <a:r>
                  <a:rPr lang="en-US" dirty="0"/>
                  <a:t>) regularization: </a:t>
                </a:r>
                <a14:m>
                  <m:oMath xmlns:m="http://schemas.openxmlformats.org/officeDocument/2006/math">
                    <m:r>
                      <a:rPr lang="en-US" i="1" dirty="0" smtClean="0">
                        <a:latin typeface="Cambria Math" panose="02040503050406030204" pitchFamily="18" charset="0"/>
                      </a:rPr>
                      <m:t>𝑅</m:t>
                    </m:r>
                    <m:r>
                      <a:rPr lang="en-US" i="1" dirty="0" smtClean="0">
                        <a:latin typeface="Cambria Math" panose="02040503050406030204" pitchFamily="18" charset="0"/>
                      </a:rPr>
                      <m:t>=</m:t>
                    </m:r>
                    <m:sSubSup>
                      <m:sSubSupPr>
                        <m:ctrlPr>
                          <a:rPr lang="en-US" b="0" i="1" dirty="0" smtClean="0">
                            <a:latin typeface="Cambria Math" panose="02040503050406030204" pitchFamily="18" charset="0"/>
                          </a:rPr>
                        </m:ctrlPr>
                      </m:sSubSupPr>
                      <m:e>
                        <m:d>
                          <m:dPr>
                            <m:begChr m:val="‖"/>
                            <m:endChr m:val="‖"/>
                            <m:ctrlPr>
                              <a:rPr lang="en-US" i="1" dirty="0" smtClean="0">
                                <a:latin typeface="Cambria Math" panose="02040503050406030204" pitchFamily="18" charset="0"/>
                              </a:rPr>
                            </m:ctrlPr>
                          </m:dPr>
                          <m:e>
                            <m:r>
                              <a:rPr lang="en-US" b="0" i="1" dirty="0" smtClean="0">
                                <a:latin typeface="Cambria Math" panose="02040503050406030204" pitchFamily="18" charset="0"/>
                              </a:rPr>
                              <m:t>𝜃</m:t>
                            </m:r>
                          </m:e>
                        </m:d>
                      </m:e>
                      <m:sub>
                        <m:r>
                          <a:rPr lang="en-US" b="0" i="1" dirty="0" smtClean="0">
                            <a:latin typeface="Cambria Math" panose="02040503050406030204" pitchFamily="18" charset="0"/>
                          </a:rPr>
                          <m:t>2</m:t>
                        </m:r>
                      </m:sub>
                      <m:sup>
                        <m:r>
                          <a:rPr lang="en-US" b="0" i="1" dirty="0" smtClean="0">
                            <a:latin typeface="Cambria Math" panose="02040503050406030204" pitchFamily="18" charset="0"/>
                          </a:rPr>
                          <m:t>2</m:t>
                        </m:r>
                      </m:sup>
                    </m:sSubSup>
                  </m:oMath>
                </a14:m>
                <a:endParaRPr lang="en-US" dirty="0"/>
              </a:p>
              <a:p>
                <a:r>
                  <a:rPr lang="en-US" dirty="0"/>
                  <a:t>In other words, we penalize the sum of squares of parameters</a:t>
                </a:r>
              </a:p>
              <a:p>
                <a:r>
                  <a:rPr lang="en-US" dirty="0"/>
                  <a:t>Common in linear models and in neural networks</a:t>
                </a:r>
              </a:p>
            </p:txBody>
          </p:sp>
        </mc:Choice>
        <mc:Fallback>
          <p:sp>
            <p:nvSpPr>
              <p:cNvPr id="3" name="Content Placeholder 2">
                <a:extLst>
                  <a:ext uri="{FF2B5EF4-FFF2-40B4-BE49-F238E27FC236}">
                    <a16:creationId xmlns:a16="http://schemas.microsoft.com/office/drawing/2014/main" id="{9D3EE742-CE94-5DCE-E3DD-79D5603B4EDF}"/>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9C94FC6-F882-D374-15D3-10F835AF199C}"/>
                  </a:ext>
                </a:extLst>
              </p:cNvPr>
              <p:cNvSpPr txBox="1"/>
              <p:nvPr/>
            </p:nvSpPr>
            <p:spPr>
              <a:xfrm>
                <a:off x="5026572" y="5284839"/>
                <a:ext cx="2138855"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𝐿</m:t>
                      </m:r>
                      <m:r>
                        <a:rPr lang="en-US" sz="3200" b="0" i="1" smtClean="0">
                          <a:latin typeface="Cambria Math" panose="02040503050406030204" pitchFamily="18" charset="0"/>
                        </a:rPr>
                        <m:t>=</m:t>
                      </m:r>
                      <m:r>
                        <a:rPr lang="en-US" sz="3200" b="0" i="1" smtClean="0">
                          <a:latin typeface="Cambria Math" panose="02040503050406030204" pitchFamily="18" charset="0"/>
                        </a:rPr>
                        <m:t>𝐻</m:t>
                      </m:r>
                      <m:r>
                        <a:rPr lang="en-US" sz="3200" b="0" i="0" smtClean="0">
                          <a:latin typeface="Cambria Math" panose="02040503050406030204" pitchFamily="18" charset="0"/>
                        </a:rPr>
                        <m:t>+</m:t>
                      </m:r>
                      <m:r>
                        <a:rPr lang="en-US" sz="3200" b="0" i="1" smtClean="0">
                          <a:latin typeface="Cambria Math" panose="02040503050406030204" pitchFamily="18" charset="0"/>
                        </a:rPr>
                        <m:t>𝜆</m:t>
                      </m:r>
                      <m:r>
                        <a:rPr lang="en-US" sz="3200" b="0" i="1" smtClean="0">
                          <a:latin typeface="Cambria Math" panose="02040503050406030204" pitchFamily="18" charset="0"/>
                        </a:rPr>
                        <m:t>𝑅</m:t>
                      </m:r>
                    </m:oMath>
                  </m:oMathPara>
                </a14:m>
                <a:endParaRPr lang="en-US" sz="3200" dirty="0"/>
              </a:p>
            </p:txBody>
          </p:sp>
        </mc:Choice>
        <mc:Fallback xmlns="">
          <p:sp>
            <p:nvSpPr>
              <p:cNvPr id="4" name="TextBox 3">
                <a:extLst>
                  <a:ext uri="{FF2B5EF4-FFF2-40B4-BE49-F238E27FC236}">
                    <a16:creationId xmlns:a16="http://schemas.microsoft.com/office/drawing/2014/main" id="{49C94FC6-F882-D374-15D3-10F835AF199C}"/>
                  </a:ext>
                </a:extLst>
              </p:cNvPr>
              <p:cNvSpPr txBox="1">
                <a:spLocks noRot="1" noChangeAspect="1" noMove="1" noResize="1" noEditPoints="1" noAdjustHandles="1" noChangeArrowheads="1" noChangeShapeType="1" noTextEdit="1"/>
              </p:cNvSpPr>
              <p:nvPr/>
            </p:nvSpPr>
            <p:spPr>
              <a:xfrm>
                <a:off x="5026572" y="5284839"/>
                <a:ext cx="2138855" cy="492443"/>
              </a:xfrm>
              <a:prstGeom prst="rect">
                <a:avLst/>
              </a:prstGeom>
              <a:blipFill>
                <a:blip r:embed="rId3"/>
                <a:stretch>
                  <a:fillRect l="-4167" r="-4167" b="-5000"/>
                </a:stretch>
              </a:blipFill>
            </p:spPr>
            <p:txBody>
              <a:bodyPr/>
              <a:lstStyle/>
              <a:p>
                <a:r>
                  <a:rPr lang="en-US">
                    <a:noFill/>
                  </a:rPr>
                  <a:t> </a:t>
                </a:r>
              </a:p>
            </p:txBody>
          </p:sp>
        </mc:Fallback>
      </mc:AlternateContent>
    </p:spTree>
    <p:extLst>
      <p:ext uri="{BB962C8B-B14F-4D97-AF65-F5344CB8AC3E}">
        <p14:creationId xmlns:p14="http://schemas.microsoft.com/office/powerpoint/2010/main" val="14078510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4718D-245A-CC77-BE88-2EC1E75D257E}"/>
              </a:ext>
            </a:extLst>
          </p:cNvPr>
          <p:cNvSpPr>
            <a:spLocks noGrp="1"/>
          </p:cNvSpPr>
          <p:nvPr>
            <p:ph type="title"/>
          </p:nvPr>
        </p:nvSpPr>
        <p:spPr/>
        <p:txBody>
          <a:bodyPr/>
          <a:lstStyle/>
          <a:p>
            <a:r>
              <a:rPr lang="en-US" dirty="0"/>
              <a:t>Examples of Explicit Regularization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D3EE742-CE94-5DCE-E3DD-79D5603B4EDF}"/>
                  </a:ext>
                </a:extLst>
              </p:cNvPr>
              <p:cNvSpPr>
                <a:spLocks noGrp="1"/>
              </p:cNvSpPr>
              <p:nvPr>
                <p:ph idx="1"/>
              </p:nvPr>
            </p:nvSpPr>
            <p:spPr/>
            <p:txBody>
              <a:bodyPr/>
              <a:lstStyle/>
              <a:p>
                <a:r>
                  <a:rPr lang="en-US" dirty="0"/>
                  <a:t>L</a:t>
                </a:r>
                <a:r>
                  <a:rPr lang="en-US" baseline="-25000" dirty="0"/>
                  <a:t>1</a:t>
                </a:r>
                <a:r>
                  <a:rPr lang="en-US" dirty="0"/>
                  <a:t> (i.e. </a:t>
                </a:r>
                <a:r>
                  <a:rPr lang="en-US" i="1" dirty="0"/>
                  <a:t>LASSO</a:t>
                </a:r>
                <a:r>
                  <a:rPr lang="en-US" dirty="0"/>
                  <a:t>) regularization: </a:t>
                </a:r>
                <a14:m>
                  <m:oMath xmlns:m="http://schemas.openxmlformats.org/officeDocument/2006/math">
                    <m:r>
                      <a:rPr lang="en-US" i="1" dirty="0" smtClean="0">
                        <a:latin typeface="Cambria Math" panose="02040503050406030204" pitchFamily="18" charset="0"/>
                      </a:rPr>
                      <m:t>𝑅</m:t>
                    </m:r>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d>
                          <m:dPr>
                            <m:begChr m:val="‖"/>
                            <m:endChr m:val="‖"/>
                            <m:ctrlPr>
                              <a:rPr lang="en-US" i="1" dirty="0" smtClean="0">
                                <a:latin typeface="Cambria Math" panose="02040503050406030204" pitchFamily="18" charset="0"/>
                              </a:rPr>
                            </m:ctrlPr>
                          </m:dPr>
                          <m:e>
                            <m:r>
                              <a:rPr lang="en-US" b="0" i="1" dirty="0" smtClean="0">
                                <a:latin typeface="Cambria Math" panose="02040503050406030204" pitchFamily="18" charset="0"/>
                              </a:rPr>
                              <m:t>𝜃</m:t>
                            </m:r>
                          </m:e>
                        </m:d>
                      </m:e>
                      <m:sub>
                        <m:r>
                          <a:rPr lang="en-US" b="0" i="1" dirty="0" smtClean="0">
                            <a:latin typeface="Cambria Math" panose="02040503050406030204" pitchFamily="18" charset="0"/>
                          </a:rPr>
                          <m:t>1</m:t>
                        </m:r>
                      </m:sub>
                    </m:sSub>
                  </m:oMath>
                </a14:m>
                <a:endParaRPr lang="en-US" b="0" dirty="0"/>
              </a:p>
              <a:p>
                <a:r>
                  <a:rPr lang="en-US" dirty="0"/>
                  <a:t>In other words, we penalize the sum of absolute values of parameters</a:t>
                </a:r>
              </a:p>
              <a:p>
                <a:r>
                  <a:rPr lang="en-US" dirty="0"/>
                  <a:t>Common in linear models; less so in neural networks</a:t>
                </a:r>
              </a:p>
              <a:p>
                <a:r>
                  <a:rPr lang="en-US" dirty="0"/>
                  <a:t>Tends to shrink many parameters to 0</a:t>
                </a:r>
              </a:p>
              <a:p>
                <a:pPr lvl="1"/>
                <a:r>
                  <a:rPr lang="en-US" dirty="0"/>
                  <a:t>This may be viewed as a form of feature selection</a:t>
                </a:r>
              </a:p>
              <a:p>
                <a:pPr lvl="1"/>
                <a:r>
                  <a:rPr lang="en-US" dirty="0"/>
                  <a:t>This also improves interpretability</a:t>
                </a:r>
              </a:p>
            </p:txBody>
          </p:sp>
        </mc:Choice>
        <mc:Fallback>
          <p:sp>
            <p:nvSpPr>
              <p:cNvPr id="3" name="Content Placeholder 2">
                <a:extLst>
                  <a:ext uri="{FF2B5EF4-FFF2-40B4-BE49-F238E27FC236}">
                    <a16:creationId xmlns:a16="http://schemas.microsoft.com/office/drawing/2014/main" id="{9D3EE742-CE94-5DCE-E3DD-79D5603B4EDF}"/>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9C94FC6-F882-D374-15D3-10F835AF199C}"/>
                  </a:ext>
                </a:extLst>
              </p:cNvPr>
              <p:cNvSpPr txBox="1"/>
              <p:nvPr/>
            </p:nvSpPr>
            <p:spPr>
              <a:xfrm>
                <a:off x="5026572" y="5284839"/>
                <a:ext cx="2138855"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𝐿</m:t>
                      </m:r>
                      <m:r>
                        <a:rPr lang="en-US" sz="3200" b="0" i="1" smtClean="0">
                          <a:latin typeface="Cambria Math" panose="02040503050406030204" pitchFamily="18" charset="0"/>
                        </a:rPr>
                        <m:t>=</m:t>
                      </m:r>
                      <m:r>
                        <a:rPr lang="en-US" sz="3200" b="0" i="1" smtClean="0">
                          <a:latin typeface="Cambria Math" panose="02040503050406030204" pitchFamily="18" charset="0"/>
                        </a:rPr>
                        <m:t>𝐻</m:t>
                      </m:r>
                      <m:r>
                        <a:rPr lang="en-US" sz="3200" b="0" i="0" smtClean="0">
                          <a:latin typeface="Cambria Math" panose="02040503050406030204" pitchFamily="18" charset="0"/>
                        </a:rPr>
                        <m:t>+</m:t>
                      </m:r>
                      <m:r>
                        <a:rPr lang="en-US" sz="3200" b="0" i="1" smtClean="0">
                          <a:latin typeface="Cambria Math" panose="02040503050406030204" pitchFamily="18" charset="0"/>
                        </a:rPr>
                        <m:t>𝜆</m:t>
                      </m:r>
                      <m:r>
                        <a:rPr lang="en-US" sz="3200" b="0" i="1" smtClean="0">
                          <a:latin typeface="Cambria Math" panose="02040503050406030204" pitchFamily="18" charset="0"/>
                        </a:rPr>
                        <m:t>𝑅</m:t>
                      </m:r>
                    </m:oMath>
                  </m:oMathPara>
                </a14:m>
                <a:endParaRPr lang="en-US" sz="3200" dirty="0"/>
              </a:p>
            </p:txBody>
          </p:sp>
        </mc:Choice>
        <mc:Fallback xmlns="">
          <p:sp>
            <p:nvSpPr>
              <p:cNvPr id="4" name="TextBox 3">
                <a:extLst>
                  <a:ext uri="{FF2B5EF4-FFF2-40B4-BE49-F238E27FC236}">
                    <a16:creationId xmlns:a16="http://schemas.microsoft.com/office/drawing/2014/main" id="{49C94FC6-F882-D374-15D3-10F835AF199C}"/>
                  </a:ext>
                </a:extLst>
              </p:cNvPr>
              <p:cNvSpPr txBox="1">
                <a:spLocks noRot="1" noChangeAspect="1" noMove="1" noResize="1" noEditPoints="1" noAdjustHandles="1" noChangeArrowheads="1" noChangeShapeType="1" noTextEdit="1"/>
              </p:cNvSpPr>
              <p:nvPr/>
            </p:nvSpPr>
            <p:spPr>
              <a:xfrm>
                <a:off x="5026572" y="5284839"/>
                <a:ext cx="2138855" cy="492443"/>
              </a:xfrm>
              <a:prstGeom prst="rect">
                <a:avLst/>
              </a:prstGeom>
              <a:blipFill>
                <a:blip r:embed="rId3"/>
                <a:stretch>
                  <a:fillRect l="-4167" r="-4167" b="-5000"/>
                </a:stretch>
              </a:blipFill>
            </p:spPr>
            <p:txBody>
              <a:bodyPr/>
              <a:lstStyle/>
              <a:p>
                <a:r>
                  <a:rPr lang="en-US">
                    <a:noFill/>
                  </a:rPr>
                  <a:t> </a:t>
                </a:r>
              </a:p>
            </p:txBody>
          </p:sp>
        </mc:Fallback>
      </mc:AlternateContent>
    </p:spTree>
    <p:extLst>
      <p:ext uri="{BB962C8B-B14F-4D97-AF65-F5344CB8AC3E}">
        <p14:creationId xmlns:p14="http://schemas.microsoft.com/office/powerpoint/2010/main" val="15248945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9D62A5C0-23BD-8945-9AD2-C7C9949DCEE2}"/>
              </a:ext>
            </a:extLst>
          </p:cNvPr>
          <p:cNvPicPr>
            <a:picLocks noGrp="1" noChangeAspect="1"/>
          </p:cNvPicPr>
          <p:nvPr>
            <p:ph idx="1"/>
          </p:nvPr>
        </p:nvPicPr>
        <p:blipFill>
          <a:blip r:embed="rId3"/>
          <a:stretch>
            <a:fillRect/>
          </a:stretch>
        </p:blipFill>
        <p:spPr>
          <a:xfrm>
            <a:off x="5183717" y="1367367"/>
            <a:ext cx="6172200" cy="4114800"/>
          </a:xfrm>
        </p:spPr>
      </p:pic>
      <p:sp>
        <p:nvSpPr>
          <p:cNvPr id="4" name="Text Placeholder 3">
            <a:extLst>
              <a:ext uri="{FF2B5EF4-FFF2-40B4-BE49-F238E27FC236}">
                <a16:creationId xmlns:a16="http://schemas.microsoft.com/office/drawing/2014/main" id="{7C3A4055-FF83-7A4C-AFD9-3D033702D106}"/>
              </a:ext>
            </a:extLst>
          </p:cNvPr>
          <p:cNvSpPr>
            <a:spLocks noGrp="1"/>
          </p:cNvSpPr>
          <p:nvPr>
            <p:ph type="body" sz="half" idx="2"/>
          </p:nvPr>
        </p:nvSpPr>
        <p:spPr>
          <a:xfrm>
            <a:off x="926758" y="2245470"/>
            <a:ext cx="4396671" cy="2886853"/>
          </a:xfrm>
        </p:spPr>
        <p:txBody>
          <a:bodyPr>
            <a:normAutofit lnSpcReduction="10000"/>
          </a:bodyPr>
          <a:lstStyle/>
          <a:p>
            <a:pPr marL="380981" indent="-380981">
              <a:buFont typeface="Arial" panose="020B0604020202020204" pitchFamily="34" charset="0"/>
              <a:buChar char="•"/>
            </a:pPr>
            <a:r>
              <a:rPr lang="en-US" dirty="0"/>
              <a:t>During optimization, we can check the validation loss as we go.</a:t>
            </a:r>
          </a:p>
          <a:p>
            <a:endParaRPr lang="en-US" dirty="0"/>
          </a:p>
          <a:p>
            <a:pPr marL="380981" indent="-380981">
              <a:buFont typeface="Arial" panose="020B0604020202020204" pitchFamily="34" charset="0"/>
              <a:buChar char="•"/>
            </a:pPr>
            <a:r>
              <a:rPr lang="en-US" dirty="0"/>
              <a:t>Instead of optimizing to convergence, we can optimize until the </a:t>
            </a:r>
            <a:r>
              <a:rPr lang="en-US" i="1" dirty="0"/>
              <a:t>validation</a:t>
            </a:r>
            <a:r>
              <a:rPr lang="en-US" dirty="0"/>
              <a:t> loss stops improving</a:t>
            </a:r>
          </a:p>
          <a:p>
            <a:pPr marL="990550" lvl="1" indent="-380981">
              <a:buFont typeface="Arial" panose="020B0604020202020204" pitchFamily="34" charset="0"/>
              <a:buChar char="•"/>
            </a:pPr>
            <a:r>
              <a:rPr lang="en-US" dirty="0"/>
              <a:t>Saves computational cost</a:t>
            </a:r>
          </a:p>
          <a:p>
            <a:pPr marL="990550" lvl="1" indent="-380981">
              <a:buFont typeface="Arial" panose="020B0604020202020204" pitchFamily="34" charset="0"/>
              <a:buChar char="•"/>
            </a:pPr>
            <a:r>
              <a:rPr lang="en-US" dirty="0"/>
              <a:t>Performs better on validation (and test) sets</a:t>
            </a:r>
          </a:p>
          <a:p>
            <a:pPr marL="380981" indent="-380981">
              <a:buFont typeface="Arial" panose="020B0604020202020204" pitchFamily="34" charset="0"/>
              <a:buChar char="•"/>
            </a:pPr>
            <a:endParaRPr lang="en-US" dirty="0"/>
          </a:p>
          <a:p>
            <a:pPr marL="380981" indent="-380981">
              <a:buFont typeface="Arial" panose="020B0604020202020204" pitchFamily="34" charset="0"/>
              <a:buChar char="•"/>
            </a:pPr>
            <a:r>
              <a:rPr lang="en-US" dirty="0"/>
              <a:t>Widely used technique</a:t>
            </a:r>
          </a:p>
        </p:txBody>
      </p:sp>
      <p:cxnSp>
        <p:nvCxnSpPr>
          <p:cNvPr id="5" name="Straight Arrow Connector 4">
            <a:extLst>
              <a:ext uri="{FF2B5EF4-FFF2-40B4-BE49-F238E27FC236}">
                <a16:creationId xmlns:a16="http://schemas.microsoft.com/office/drawing/2014/main" id="{F79CCC22-8B75-064A-BE95-AFCACCE6956D}"/>
              </a:ext>
            </a:extLst>
          </p:cNvPr>
          <p:cNvCxnSpPr/>
          <p:nvPr/>
        </p:nvCxnSpPr>
        <p:spPr>
          <a:xfrm flipV="1">
            <a:off x="9343604" y="4952327"/>
            <a:ext cx="107893" cy="6042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C4D266EB-1164-924C-A2E7-D94C9ECD80DE}"/>
              </a:ext>
            </a:extLst>
          </p:cNvPr>
          <p:cNvSpPr txBox="1"/>
          <p:nvPr/>
        </p:nvSpPr>
        <p:spPr>
          <a:xfrm>
            <a:off x="7403372" y="5633724"/>
            <a:ext cx="3919406" cy="461665"/>
          </a:xfrm>
          <a:prstGeom prst="rect">
            <a:avLst/>
          </a:prstGeom>
          <a:noFill/>
        </p:spPr>
        <p:txBody>
          <a:bodyPr wrap="none" rtlCol="0">
            <a:spAutoFit/>
          </a:bodyPr>
          <a:lstStyle/>
          <a:p>
            <a:r>
              <a:rPr lang="en-US" sz="2400" dirty="0"/>
              <a:t>Training Loss Keeps Improving</a:t>
            </a:r>
          </a:p>
        </p:txBody>
      </p:sp>
      <p:cxnSp>
        <p:nvCxnSpPr>
          <p:cNvPr id="8" name="Straight Arrow Connector 7">
            <a:extLst>
              <a:ext uri="{FF2B5EF4-FFF2-40B4-BE49-F238E27FC236}">
                <a16:creationId xmlns:a16="http://schemas.microsoft.com/office/drawing/2014/main" id="{707F3184-6298-DA4C-A91B-2B1010573450}"/>
              </a:ext>
            </a:extLst>
          </p:cNvPr>
          <p:cNvCxnSpPr>
            <a:cxnSpLocks/>
          </p:cNvCxnSpPr>
          <p:nvPr/>
        </p:nvCxnSpPr>
        <p:spPr>
          <a:xfrm>
            <a:off x="8383349" y="3301552"/>
            <a:ext cx="0" cy="11328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41CF2CFF-D294-8E45-9607-9DF23CEF4C42}"/>
              </a:ext>
            </a:extLst>
          </p:cNvPr>
          <p:cNvSpPr/>
          <p:nvPr/>
        </p:nvSpPr>
        <p:spPr>
          <a:xfrm>
            <a:off x="6928641" y="2401182"/>
            <a:ext cx="3688111" cy="830997"/>
          </a:xfrm>
          <a:prstGeom prst="rect">
            <a:avLst/>
          </a:prstGeom>
        </p:spPr>
        <p:txBody>
          <a:bodyPr wrap="square">
            <a:spAutoFit/>
          </a:bodyPr>
          <a:lstStyle/>
          <a:p>
            <a:r>
              <a:rPr lang="en-US" sz="2400" dirty="0"/>
              <a:t>Best Validation (and Generalization) Here</a:t>
            </a:r>
          </a:p>
        </p:txBody>
      </p:sp>
      <p:sp>
        <p:nvSpPr>
          <p:cNvPr id="13" name="Title 1">
            <a:extLst>
              <a:ext uri="{FF2B5EF4-FFF2-40B4-BE49-F238E27FC236}">
                <a16:creationId xmlns:a16="http://schemas.microsoft.com/office/drawing/2014/main" id="{0443B532-CABC-50AB-D487-C8A2A637509C}"/>
              </a:ext>
            </a:extLst>
          </p:cNvPr>
          <p:cNvSpPr>
            <a:spLocks noGrp="1"/>
          </p:cNvSpPr>
          <p:nvPr>
            <p:ph type="title"/>
          </p:nvPr>
        </p:nvSpPr>
        <p:spPr>
          <a:xfrm>
            <a:off x="838200" y="365125"/>
            <a:ext cx="10515600" cy="1325563"/>
          </a:xfrm>
        </p:spPr>
        <p:txBody>
          <a:bodyPr anchor="ctr">
            <a:normAutofit/>
          </a:bodyPr>
          <a:lstStyle/>
          <a:p>
            <a:r>
              <a:rPr lang="en-US" sz="4400" dirty="0"/>
              <a:t>Strategy 2: Early Stopping</a:t>
            </a:r>
          </a:p>
        </p:txBody>
      </p:sp>
    </p:spTree>
    <p:extLst>
      <p:ext uri="{BB962C8B-B14F-4D97-AF65-F5344CB8AC3E}">
        <p14:creationId xmlns:p14="http://schemas.microsoft.com/office/powerpoint/2010/main" val="2699406482"/>
      </p:ext>
    </p:extLst>
  </p:cSld>
  <p:clrMapOvr>
    <a:masterClrMapping/>
  </p:clrMapOvr>
  <mc:AlternateContent xmlns:mc="http://schemas.openxmlformats.org/markup-compatibility/2006" xmlns:p14="http://schemas.microsoft.com/office/powerpoint/2010/main">
    <mc:Choice Requires="p14">
      <p:transition spd="slow" p14:dur="2000" advTm="39249"/>
    </mc:Choice>
    <mc:Fallback xmlns="">
      <p:transition spd="slow" advTm="39249"/>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4718D-245A-CC77-BE88-2EC1E75D257E}"/>
              </a:ext>
            </a:extLst>
          </p:cNvPr>
          <p:cNvSpPr>
            <a:spLocks noGrp="1"/>
          </p:cNvSpPr>
          <p:nvPr>
            <p:ph type="title"/>
          </p:nvPr>
        </p:nvSpPr>
        <p:spPr/>
        <p:txBody>
          <a:bodyPr/>
          <a:lstStyle/>
          <a:p>
            <a:r>
              <a:rPr lang="en-US" dirty="0"/>
              <a:t>Strategy 3: Dropout</a:t>
            </a:r>
          </a:p>
        </p:txBody>
      </p:sp>
      <p:sp>
        <p:nvSpPr>
          <p:cNvPr id="3" name="Content Placeholder 2">
            <a:extLst>
              <a:ext uri="{FF2B5EF4-FFF2-40B4-BE49-F238E27FC236}">
                <a16:creationId xmlns:a16="http://schemas.microsoft.com/office/drawing/2014/main" id="{9D3EE742-CE94-5DCE-E3DD-79D5603B4EDF}"/>
              </a:ext>
            </a:extLst>
          </p:cNvPr>
          <p:cNvSpPr>
            <a:spLocks noGrp="1"/>
          </p:cNvSpPr>
          <p:nvPr>
            <p:ph idx="1"/>
          </p:nvPr>
        </p:nvSpPr>
        <p:spPr/>
        <p:txBody>
          <a:bodyPr/>
          <a:lstStyle/>
          <a:p>
            <a:r>
              <a:rPr lang="en-US" dirty="0"/>
              <a:t>Exclusive to neural networks</a:t>
            </a:r>
          </a:p>
          <a:p>
            <a:r>
              <a:rPr lang="en-US" dirty="0"/>
              <a:t>During training, we set some hidden features to zero at random (different features for each training step)</a:t>
            </a:r>
          </a:p>
          <a:p>
            <a:r>
              <a:rPr lang="en-US" dirty="0"/>
              <a:t>This has a dual effect:</a:t>
            </a:r>
          </a:p>
          <a:p>
            <a:pPr lvl="1"/>
            <a:r>
              <a:rPr lang="en-US" dirty="0"/>
              <a:t>Parameter shrinkage (similar to L</a:t>
            </a:r>
            <a:r>
              <a:rPr lang="en-US" baseline="-25000" dirty="0"/>
              <a:t>2</a:t>
            </a:r>
            <a:r>
              <a:rPr lang="en-US" dirty="0"/>
              <a:t>)</a:t>
            </a:r>
          </a:p>
          <a:p>
            <a:pPr lvl="1"/>
            <a:r>
              <a:rPr lang="en-US" dirty="0"/>
              <a:t>Encourages redundancy / redundant features; in other words, the network must model the relationship between </a:t>
            </a:r>
            <a:r>
              <a:rPr lang="en-US" i="1" dirty="0"/>
              <a:t>x</a:t>
            </a:r>
            <a:r>
              <a:rPr lang="en-US" dirty="0"/>
              <a:t> and </a:t>
            </a:r>
            <a:r>
              <a:rPr lang="en-US" i="1" dirty="0"/>
              <a:t>y</a:t>
            </a:r>
            <a:r>
              <a:rPr lang="en-US" dirty="0"/>
              <a:t> in multiple ways</a:t>
            </a:r>
          </a:p>
        </p:txBody>
      </p:sp>
    </p:spTree>
    <p:extLst>
      <p:ext uri="{BB962C8B-B14F-4D97-AF65-F5344CB8AC3E}">
        <p14:creationId xmlns:p14="http://schemas.microsoft.com/office/powerpoint/2010/main" val="39538260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53064-5CEE-F3AF-C998-02A25E31F020}"/>
              </a:ext>
            </a:extLst>
          </p:cNvPr>
          <p:cNvSpPr>
            <a:spLocks noGrp="1"/>
          </p:cNvSpPr>
          <p:nvPr>
            <p:ph type="title"/>
          </p:nvPr>
        </p:nvSpPr>
        <p:spPr/>
        <p:txBody>
          <a:bodyPr/>
          <a:lstStyle/>
          <a:p>
            <a:r>
              <a:rPr lang="en-US" dirty="0"/>
              <a:t>Mitigating Overfitting in Practice</a:t>
            </a:r>
          </a:p>
        </p:txBody>
      </p:sp>
      <p:sp>
        <p:nvSpPr>
          <p:cNvPr id="3" name="Content Placeholder 2">
            <a:extLst>
              <a:ext uri="{FF2B5EF4-FFF2-40B4-BE49-F238E27FC236}">
                <a16:creationId xmlns:a16="http://schemas.microsoft.com/office/drawing/2014/main" id="{FB170F15-4A44-7F04-6562-E2255DCE5A53}"/>
              </a:ext>
            </a:extLst>
          </p:cNvPr>
          <p:cNvSpPr>
            <a:spLocks noGrp="1"/>
          </p:cNvSpPr>
          <p:nvPr>
            <p:ph idx="1"/>
          </p:nvPr>
        </p:nvSpPr>
        <p:spPr/>
        <p:txBody>
          <a:bodyPr>
            <a:normAutofit lnSpcReduction="10000"/>
          </a:bodyPr>
          <a:lstStyle/>
          <a:p>
            <a:r>
              <a:rPr lang="en-US" dirty="0"/>
              <a:t>Machine learning almost always uses some form of regularization and/or early stopping</a:t>
            </a:r>
          </a:p>
          <a:p>
            <a:endParaRPr lang="en-US" dirty="0"/>
          </a:p>
          <a:p>
            <a:r>
              <a:rPr lang="en-US" dirty="0"/>
              <a:t>Very common to use multiple forms at once</a:t>
            </a:r>
          </a:p>
          <a:p>
            <a:pPr lvl="1"/>
            <a:r>
              <a:rPr lang="en-US" dirty="0"/>
              <a:t>Dropout + early stopping in neural networks</a:t>
            </a:r>
          </a:p>
          <a:p>
            <a:pPr lvl="1"/>
            <a:r>
              <a:rPr lang="en-US" dirty="0"/>
              <a:t>Combination of L1 and L2 regularization in linear models (i.e. elastic net)</a:t>
            </a:r>
          </a:p>
          <a:p>
            <a:pPr lvl="1"/>
            <a:endParaRPr lang="en-US" dirty="0"/>
          </a:p>
          <a:p>
            <a:r>
              <a:rPr lang="en-US" dirty="0"/>
              <a:t>The validation set is the key: used to choose between strategies</a:t>
            </a:r>
          </a:p>
          <a:p>
            <a:endParaRPr lang="en-US" dirty="0"/>
          </a:p>
          <a:p>
            <a:r>
              <a:rPr lang="en-US" u="sng" dirty="0"/>
              <a:t>A key, often time-consuming step in ML/AI research projects.</a:t>
            </a:r>
          </a:p>
        </p:txBody>
      </p:sp>
    </p:spTree>
    <p:extLst>
      <p:ext uri="{BB962C8B-B14F-4D97-AF65-F5344CB8AC3E}">
        <p14:creationId xmlns:p14="http://schemas.microsoft.com/office/powerpoint/2010/main" val="7287389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scatter chart&#10;&#10;Description automatically generated">
            <a:extLst>
              <a:ext uri="{FF2B5EF4-FFF2-40B4-BE49-F238E27FC236}">
                <a16:creationId xmlns:a16="http://schemas.microsoft.com/office/drawing/2014/main" id="{5E763400-AE94-171A-BA3B-BE4F0D29813A}"/>
              </a:ext>
            </a:extLst>
          </p:cNvPr>
          <p:cNvPicPr>
            <a:picLocks noChangeAspect="1"/>
          </p:cNvPicPr>
          <p:nvPr/>
        </p:nvPicPr>
        <p:blipFill>
          <a:blip r:embed="rId2"/>
          <a:stretch>
            <a:fillRect/>
          </a:stretch>
        </p:blipFill>
        <p:spPr>
          <a:xfrm>
            <a:off x="3652740" y="1027906"/>
            <a:ext cx="8288482" cy="5698331"/>
          </a:xfrm>
          <a:prstGeom prst="rect">
            <a:avLst/>
          </a:prstGeom>
        </p:spPr>
      </p:pic>
      <p:sp>
        <p:nvSpPr>
          <p:cNvPr id="2" name="Title 1">
            <a:extLst>
              <a:ext uri="{FF2B5EF4-FFF2-40B4-BE49-F238E27FC236}">
                <a16:creationId xmlns:a16="http://schemas.microsoft.com/office/drawing/2014/main" id="{8C20C5B8-6072-BDA4-7CF4-F24B0AFDA29E}"/>
              </a:ext>
            </a:extLst>
          </p:cNvPr>
          <p:cNvSpPr>
            <a:spLocks noGrp="1"/>
          </p:cNvSpPr>
          <p:nvPr>
            <p:ph type="title"/>
          </p:nvPr>
        </p:nvSpPr>
        <p:spPr>
          <a:xfrm>
            <a:off x="838200" y="365125"/>
            <a:ext cx="10822858" cy="1325563"/>
          </a:xfrm>
        </p:spPr>
        <p:txBody>
          <a:bodyPr/>
          <a:lstStyle/>
          <a:p>
            <a:r>
              <a:rPr lang="en-US" dirty="0"/>
              <a:t>Logistic regression / GLMs can also overfit</a:t>
            </a:r>
          </a:p>
        </p:txBody>
      </p:sp>
      <p:cxnSp>
        <p:nvCxnSpPr>
          <p:cNvPr id="7" name="Straight Connector 6">
            <a:extLst>
              <a:ext uri="{FF2B5EF4-FFF2-40B4-BE49-F238E27FC236}">
                <a16:creationId xmlns:a16="http://schemas.microsoft.com/office/drawing/2014/main" id="{F9E3F9F2-1FE3-3D75-F653-7F40408A1620}"/>
              </a:ext>
            </a:extLst>
          </p:cNvPr>
          <p:cNvCxnSpPr>
            <a:cxnSpLocks/>
          </p:cNvCxnSpPr>
          <p:nvPr/>
        </p:nvCxnSpPr>
        <p:spPr>
          <a:xfrm flipV="1">
            <a:off x="4886632" y="1848465"/>
            <a:ext cx="6056671" cy="3864077"/>
          </a:xfrm>
          <a:prstGeom prst="line">
            <a:avLst/>
          </a:prstGeom>
          <a:ln w="38100">
            <a:solidFill>
              <a:srgbClr val="D53E8B"/>
            </a:solidFill>
          </a:ln>
        </p:spPr>
        <p:style>
          <a:lnRef idx="3">
            <a:schemeClr val="accent4"/>
          </a:lnRef>
          <a:fillRef idx="0">
            <a:schemeClr val="accent4"/>
          </a:fillRef>
          <a:effectRef idx="2">
            <a:schemeClr val="accent4"/>
          </a:effectRef>
          <a:fontRef idx="minor">
            <a:schemeClr val="tx1"/>
          </a:fontRef>
        </p:style>
      </p:cxn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AD498A56-DC87-59BF-E86B-9520BA279774}"/>
                  </a:ext>
                </a:extLst>
              </p:cNvPr>
              <p:cNvSpPr txBox="1"/>
              <p:nvPr/>
            </p:nvSpPr>
            <p:spPr>
              <a:xfrm>
                <a:off x="838200" y="2025445"/>
                <a:ext cx="3222523" cy="4247317"/>
              </a:xfrm>
              <a:prstGeom prst="rect">
                <a:avLst/>
              </a:prstGeom>
              <a:noFill/>
            </p:spPr>
            <p:txBody>
              <a:bodyPr wrap="square" rtlCol="0">
                <a:spAutoFit/>
              </a:bodyPr>
              <a:lstStyle/>
              <a:p>
                <a:r>
                  <a:rPr lang="en-US" dirty="0">
                    <a:solidFill>
                      <a:srgbClr val="D53E8B"/>
                    </a:solidFill>
                  </a:rPr>
                  <a:t>Linear decision boundary</a:t>
                </a:r>
              </a:p>
              <a:p>
                <a:endParaRPr lang="en-US" dirty="0">
                  <a:solidFill>
                    <a:srgbClr val="D53E8B"/>
                  </a:solidFill>
                </a:endParaRPr>
              </a:p>
              <a:p>
                <a:r>
                  <a:rPr lang="en-US" dirty="0"/>
                  <a:t>In this scenario -&gt;</a:t>
                </a:r>
              </a:p>
              <a:p>
                <a:r>
                  <a:rPr lang="en-US" dirty="0"/>
                  <a:t>(# points &gt;&gt; # predictors)</a:t>
                </a:r>
              </a:p>
              <a:p>
                <a:r>
                  <a:rPr lang="en-US" dirty="0"/>
                  <a:t>it is not possible.</a:t>
                </a:r>
              </a:p>
              <a:p>
                <a:endParaRPr lang="en-US" dirty="0"/>
              </a:p>
              <a:p>
                <a:r>
                  <a:rPr lang="en-US" dirty="0"/>
                  <a:t>However, as # points approaches # predictors,</a:t>
                </a:r>
              </a:p>
              <a:p>
                <a:r>
                  <a:rPr lang="en-US" dirty="0"/>
                  <a:t>we will see overfitting.</a:t>
                </a:r>
              </a:p>
              <a:p>
                <a:endParaRPr lang="en-US" dirty="0"/>
              </a:p>
              <a:p>
                <a:r>
                  <a:rPr lang="en-US" dirty="0"/>
                  <a:t>And for # points </a:t>
                </a:r>
                <a14:m>
                  <m:oMath xmlns:m="http://schemas.openxmlformats.org/officeDocument/2006/math">
                    <m:r>
                      <a:rPr lang="en-US" i="1" dirty="0" smtClean="0">
                        <a:latin typeface="Cambria Math" panose="02040503050406030204" pitchFamily="18" charset="0"/>
                      </a:rPr>
                      <m:t>≤</m:t>
                    </m:r>
                  </m:oMath>
                </a14:m>
                <a:r>
                  <a:rPr lang="en-US" dirty="0"/>
                  <a:t> # predictors</a:t>
                </a:r>
              </a:p>
              <a:p>
                <a:r>
                  <a:rPr lang="en-US" dirty="0"/>
                  <a:t>(assuming linear independence), we obtain (or approach, for GLM) perfect predictions.</a:t>
                </a:r>
              </a:p>
            </p:txBody>
          </p:sp>
        </mc:Choice>
        <mc:Fallback>
          <p:sp>
            <p:nvSpPr>
              <p:cNvPr id="8" name="TextBox 7">
                <a:extLst>
                  <a:ext uri="{FF2B5EF4-FFF2-40B4-BE49-F238E27FC236}">
                    <a16:creationId xmlns:a16="http://schemas.microsoft.com/office/drawing/2014/main" id="{AD498A56-DC87-59BF-E86B-9520BA279774}"/>
                  </a:ext>
                </a:extLst>
              </p:cNvPr>
              <p:cNvSpPr txBox="1">
                <a:spLocks noRot="1" noChangeAspect="1" noMove="1" noResize="1" noEditPoints="1" noAdjustHandles="1" noChangeArrowheads="1" noChangeShapeType="1" noTextEdit="1"/>
              </p:cNvSpPr>
              <p:nvPr/>
            </p:nvSpPr>
            <p:spPr>
              <a:xfrm>
                <a:off x="838200" y="2025445"/>
                <a:ext cx="3222523" cy="4247317"/>
              </a:xfrm>
              <a:prstGeom prst="rect">
                <a:avLst/>
              </a:prstGeom>
              <a:blipFill>
                <a:blip r:embed="rId3"/>
                <a:stretch>
                  <a:fillRect l="-1969" t="-597" b="-1493"/>
                </a:stretch>
              </a:blipFill>
            </p:spPr>
            <p:txBody>
              <a:bodyPr/>
              <a:lstStyle/>
              <a:p>
                <a:r>
                  <a:rPr lang="en-US">
                    <a:noFill/>
                  </a:rPr>
                  <a:t> </a:t>
                </a:r>
              </a:p>
            </p:txBody>
          </p:sp>
        </mc:Fallback>
      </mc:AlternateContent>
    </p:spTree>
    <p:extLst>
      <p:ext uri="{BB962C8B-B14F-4D97-AF65-F5344CB8AC3E}">
        <p14:creationId xmlns:p14="http://schemas.microsoft.com/office/powerpoint/2010/main" val="11415236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0810F-7B20-5A93-BAE9-E0EC1C7005AB}"/>
              </a:ext>
            </a:extLst>
          </p:cNvPr>
          <p:cNvSpPr>
            <a:spLocks noGrp="1"/>
          </p:cNvSpPr>
          <p:nvPr>
            <p:ph type="title"/>
          </p:nvPr>
        </p:nvSpPr>
        <p:spPr/>
        <p:txBody>
          <a:bodyPr/>
          <a:lstStyle/>
          <a:p>
            <a:r>
              <a:rPr lang="en-US" dirty="0"/>
              <a:t>Very brief review of overfitting in linear models</a:t>
            </a:r>
          </a:p>
        </p:txBody>
      </p:sp>
      <p:sp>
        <p:nvSpPr>
          <p:cNvPr id="5" name="Text Placeholder 4">
            <a:extLst>
              <a:ext uri="{FF2B5EF4-FFF2-40B4-BE49-F238E27FC236}">
                <a16:creationId xmlns:a16="http://schemas.microsoft.com/office/drawing/2014/main" id="{722C4EC5-C1D9-FD55-86F7-1AEA36DB80D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250230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D40F0-3751-6B44-9FF1-1D47A6C283C7}"/>
              </a:ext>
            </a:extLst>
          </p:cNvPr>
          <p:cNvSpPr>
            <a:spLocks noGrp="1"/>
          </p:cNvSpPr>
          <p:nvPr>
            <p:ph type="title"/>
          </p:nvPr>
        </p:nvSpPr>
        <p:spPr/>
        <p:txBody>
          <a:bodyPr/>
          <a:lstStyle/>
          <a:p>
            <a:r>
              <a:rPr lang="en-US" dirty="0"/>
              <a:t>Suppose we have the following data</a:t>
            </a:r>
          </a:p>
        </p:txBody>
      </p:sp>
      <p:graphicFrame>
        <p:nvGraphicFramePr>
          <p:cNvPr id="4" name="Table 4">
            <a:extLst>
              <a:ext uri="{FF2B5EF4-FFF2-40B4-BE49-F238E27FC236}">
                <a16:creationId xmlns:a16="http://schemas.microsoft.com/office/drawing/2014/main" id="{F54F9E3D-6B1A-6044-9287-664B3ADFA222}"/>
              </a:ext>
            </a:extLst>
          </p:cNvPr>
          <p:cNvGraphicFramePr>
            <a:graphicFrameLocks noGrp="1"/>
          </p:cNvGraphicFramePr>
          <p:nvPr/>
        </p:nvGraphicFramePr>
        <p:xfrm>
          <a:off x="2032000" y="2008410"/>
          <a:ext cx="8128000" cy="2841180"/>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579037"/>
                    </a:ext>
                  </a:extLst>
                </a:gridCol>
                <a:gridCol w="2032000">
                  <a:extLst>
                    <a:ext uri="{9D8B030D-6E8A-4147-A177-3AD203B41FA5}">
                      <a16:colId xmlns:a16="http://schemas.microsoft.com/office/drawing/2014/main" val="183328472"/>
                    </a:ext>
                  </a:extLst>
                </a:gridCol>
                <a:gridCol w="2032000">
                  <a:extLst>
                    <a:ext uri="{9D8B030D-6E8A-4147-A177-3AD203B41FA5}">
                      <a16:colId xmlns:a16="http://schemas.microsoft.com/office/drawing/2014/main" val="2261907582"/>
                    </a:ext>
                  </a:extLst>
                </a:gridCol>
                <a:gridCol w="2032000">
                  <a:extLst>
                    <a:ext uri="{9D8B030D-6E8A-4147-A177-3AD203B41FA5}">
                      <a16:colId xmlns:a16="http://schemas.microsoft.com/office/drawing/2014/main" val="277793000"/>
                    </a:ext>
                  </a:extLst>
                </a:gridCol>
              </a:tblGrid>
              <a:tr h="947060">
                <a:tc>
                  <a:txBody>
                    <a:bodyPr/>
                    <a:lstStyle/>
                    <a:p>
                      <a:pPr algn="ctr"/>
                      <a:r>
                        <a:rPr lang="en-US" sz="2400" dirty="0"/>
                        <a:t>Patient</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Predictor 1</a:t>
                      </a:r>
                    </a:p>
                    <a:p>
                      <a:pPr algn="ctr"/>
                      <a:r>
                        <a:rPr lang="en-US" sz="2400" dirty="0"/>
                        <a:t>(numeric)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Predictor 2</a:t>
                      </a:r>
                    </a:p>
                    <a:p>
                      <a:pPr algn="ctr"/>
                      <a:r>
                        <a:rPr lang="en-US" sz="2400" dirty="0"/>
                        <a:t>(numeric)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Outcome</a:t>
                      </a:r>
                    </a:p>
                    <a:p>
                      <a:pPr algn="ctr"/>
                      <a:r>
                        <a:rPr lang="en-US" sz="2400" dirty="0"/>
                        <a:t>(numeric)</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8604851"/>
                  </a:ext>
                </a:extLst>
              </a:tr>
              <a:tr h="947060">
                <a:tc>
                  <a:txBody>
                    <a:bodyPr/>
                    <a:lstStyle/>
                    <a:p>
                      <a:pPr algn="ctr"/>
                      <a:r>
                        <a:rPr lang="en-US" sz="2400" dirty="0"/>
                        <a:t>A</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4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400" dirty="0"/>
                        <a:t>.75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400" dirty="0"/>
                        <a:t>1.5</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42933775"/>
                  </a:ext>
                </a:extLst>
              </a:tr>
              <a:tr h="947060">
                <a:tc>
                  <a:txBody>
                    <a:bodyPr/>
                    <a:lstStyle/>
                    <a:p>
                      <a:pPr algn="ctr"/>
                      <a:r>
                        <a:rPr lang="en-US" sz="2400" dirty="0"/>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400" dirty="0"/>
                        <a:t>.75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400" dirty="0"/>
                        <a:t>1.25</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9329377"/>
                  </a:ext>
                </a:extLst>
              </a:tr>
            </a:tbl>
          </a:graphicData>
        </a:graphic>
      </p:graphicFrame>
      <p:sp>
        <p:nvSpPr>
          <p:cNvPr id="5" name="Title 1">
            <a:extLst>
              <a:ext uri="{FF2B5EF4-FFF2-40B4-BE49-F238E27FC236}">
                <a16:creationId xmlns:a16="http://schemas.microsoft.com/office/drawing/2014/main" id="{15BFD148-CB76-2A47-B937-37DDCD9B9248}"/>
              </a:ext>
            </a:extLst>
          </p:cNvPr>
          <p:cNvSpPr txBox="1">
            <a:spLocks/>
          </p:cNvSpPr>
          <p:nvPr/>
        </p:nvSpPr>
        <p:spPr>
          <a:xfrm>
            <a:off x="838200" y="516731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&gt; Goal: find the linear equation that best predicts the outcome</a:t>
            </a:r>
          </a:p>
        </p:txBody>
      </p:sp>
    </p:spTree>
    <p:extLst>
      <p:ext uri="{BB962C8B-B14F-4D97-AF65-F5344CB8AC3E}">
        <p14:creationId xmlns:p14="http://schemas.microsoft.com/office/powerpoint/2010/main" val="3248338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F54F9E3D-6B1A-6044-9287-664B3ADFA222}"/>
                  </a:ext>
                </a:extLst>
              </p:cNvPr>
              <p:cNvGraphicFramePr>
                <a:graphicFrameLocks noGrp="1"/>
              </p:cNvGraphicFramePr>
              <p:nvPr/>
            </p:nvGraphicFramePr>
            <p:xfrm>
              <a:off x="2032000" y="957376"/>
              <a:ext cx="8128000" cy="2841180"/>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579037"/>
                        </a:ext>
                      </a:extLst>
                    </a:gridCol>
                    <a:gridCol w="2032000">
                      <a:extLst>
                        <a:ext uri="{9D8B030D-6E8A-4147-A177-3AD203B41FA5}">
                          <a16:colId xmlns:a16="http://schemas.microsoft.com/office/drawing/2014/main" val="183328472"/>
                        </a:ext>
                      </a:extLst>
                    </a:gridCol>
                    <a:gridCol w="2032000">
                      <a:extLst>
                        <a:ext uri="{9D8B030D-6E8A-4147-A177-3AD203B41FA5}">
                          <a16:colId xmlns:a16="http://schemas.microsoft.com/office/drawing/2014/main" val="2261907582"/>
                        </a:ext>
                      </a:extLst>
                    </a:gridCol>
                    <a:gridCol w="2032000">
                      <a:extLst>
                        <a:ext uri="{9D8B030D-6E8A-4147-A177-3AD203B41FA5}">
                          <a16:colId xmlns:a16="http://schemas.microsoft.com/office/drawing/2014/main" val="277793000"/>
                        </a:ext>
                      </a:extLst>
                    </a:gridCol>
                  </a:tblGrid>
                  <a:tr h="947060">
                    <a:tc>
                      <a:txBody>
                        <a:bodyPr/>
                        <a:lstStyle/>
                        <a:p>
                          <a:pPr algn="ctr"/>
                          <a:r>
                            <a:rPr lang="en-US" sz="2400" dirty="0"/>
                            <a:t>Patient</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b="1" i="1" dirty="0" smtClean="0">
                                        <a:latin typeface="Cambria Math" panose="02040503050406030204" pitchFamily="18" charset="0"/>
                                      </a:rPr>
                                      <m:t>𝒙</m:t>
                                    </m:r>
                                  </m:e>
                                  <m:sub>
                                    <m:r>
                                      <a:rPr lang="en-US" sz="2400" i="1" dirty="0" smtClean="0">
                                        <a:latin typeface="Cambria Math" panose="02040503050406030204" pitchFamily="18" charset="0"/>
                                      </a:rPr>
                                      <m:t>1</m:t>
                                    </m:r>
                                  </m:sub>
                                </m:sSub>
                              </m:oMath>
                            </m:oMathPara>
                          </a14:m>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1" i="1" dirty="0" smtClean="0">
                                        <a:latin typeface="Cambria Math" panose="02040503050406030204" pitchFamily="18" charset="0"/>
                                      </a:rPr>
                                      <m:t>𝒙</m:t>
                                    </m:r>
                                  </m:e>
                                  <m:sub>
                                    <m:r>
                                      <a:rPr lang="en-US" sz="2400" i="1" dirty="0" smtClean="0">
                                        <a:latin typeface="Cambria Math" panose="02040503050406030204" pitchFamily="18" charset="0"/>
                                      </a:rPr>
                                      <m:t>2</m:t>
                                    </m:r>
                                  </m:sub>
                                </m:sSub>
                              </m:oMath>
                            </m:oMathPara>
                          </a14:m>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latin typeface="Cambria Math" panose="02040503050406030204" pitchFamily="18" charset="0"/>
                                  </a:rPr>
                                  <m:t>𝒚</m:t>
                                </m:r>
                              </m:oMath>
                            </m:oMathPara>
                          </a14:m>
                          <a:endParaRPr lang="en-US" sz="2400" b="1"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8604851"/>
                      </a:ext>
                    </a:extLst>
                  </a:tr>
                  <a:tr h="947060">
                    <a:tc>
                      <a:txBody>
                        <a:bodyPr/>
                        <a:lstStyle/>
                        <a:p>
                          <a:pPr algn="ctr"/>
                          <a:r>
                            <a:rPr lang="en-US" sz="2400" dirty="0"/>
                            <a:t>A</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4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400" dirty="0"/>
                            <a:t>.75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400" dirty="0"/>
                            <a:t>1.5</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42933775"/>
                      </a:ext>
                    </a:extLst>
                  </a:tr>
                  <a:tr h="947060">
                    <a:tc>
                      <a:txBody>
                        <a:bodyPr/>
                        <a:lstStyle/>
                        <a:p>
                          <a:pPr algn="ctr"/>
                          <a:r>
                            <a:rPr lang="en-US" sz="2400" dirty="0"/>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400" dirty="0"/>
                            <a:t>.75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400" dirty="0"/>
                            <a:t>1.25</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9329377"/>
                      </a:ext>
                    </a:extLst>
                  </a:tr>
                </a:tbl>
              </a:graphicData>
            </a:graphic>
          </p:graphicFrame>
        </mc:Choice>
        <mc:Fallback xmlns="">
          <p:graphicFrame>
            <p:nvGraphicFramePr>
              <p:cNvPr id="4" name="Table 4">
                <a:extLst>
                  <a:ext uri="{FF2B5EF4-FFF2-40B4-BE49-F238E27FC236}">
                    <a16:creationId xmlns:a16="http://schemas.microsoft.com/office/drawing/2014/main" id="{F54F9E3D-6B1A-6044-9287-664B3ADFA222}"/>
                  </a:ext>
                </a:extLst>
              </p:cNvPr>
              <p:cNvGraphicFramePr>
                <a:graphicFrameLocks noGrp="1"/>
              </p:cNvGraphicFramePr>
              <p:nvPr>
                <p:extLst>
                  <p:ext uri="{D42A27DB-BD31-4B8C-83A1-F6EECF244321}">
                    <p14:modId xmlns:p14="http://schemas.microsoft.com/office/powerpoint/2010/main" val="1104707156"/>
                  </p:ext>
                </p:extLst>
              </p:nvPr>
            </p:nvGraphicFramePr>
            <p:xfrm>
              <a:off x="2032000" y="957376"/>
              <a:ext cx="8128000" cy="2841180"/>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579037"/>
                        </a:ext>
                      </a:extLst>
                    </a:gridCol>
                    <a:gridCol w="2032000">
                      <a:extLst>
                        <a:ext uri="{9D8B030D-6E8A-4147-A177-3AD203B41FA5}">
                          <a16:colId xmlns:a16="http://schemas.microsoft.com/office/drawing/2014/main" val="183328472"/>
                        </a:ext>
                      </a:extLst>
                    </a:gridCol>
                    <a:gridCol w="2032000">
                      <a:extLst>
                        <a:ext uri="{9D8B030D-6E8A-4147-A177-3AD203B41FA5}">
                          <a16:colId xmlns:a16="http://schemas.microsoft.com/office/drawing/2014/main" val="2261907582"/>
                        </a:ext>
                      </a:extLst>
                    </a:gridCol>
                    <a:gridCol w="2032000">
                      <a:extLst>
                        <a:ext uri="{9D8B030D-6E8A-4147-A177-3AD203B41FA5}">
                          <a16:colId xmlns:a16="http://schemas.microsoft.com/office/drawing/2014/main" val="277793000"/>
                        </a:ext>
                      </a:extLst>
                    </a:gridCol>
                  </a:tblGrid>
                  <a:tr h="947060">
                    <a:tc>
                      <a:txBody>
                        <a:bodyPr/>
                        <a:lstStyle/>
                        <a:p>
                          <a:pPr algn="ctr"/>
                          <a:r>
                            <a:rPr lang="en-US" sz="2400" dirty="0"/>
                            <a:t>Patient</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625" r="-200625" b="-2000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625" r="-100625" b="-2000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625" r="-625" b="-200000"/>
                          </a:stretch>
                        </a:blipFill>
                      </a:tcPr>
                    </a:tc>
                    <a:extLst>
                      <a:ext uri="{0D108BD9-81ED-4DB2-BD59-A6C34878D82A}">
                        <a16:rowId xmlns:a16="http://schemas.microsoft.com/office/drawing/2014/main" val="2538604851"/>
                      </a:ext>
                    </a:extLst>
                  </a:tr>
                  <a:tr h="947060">
                    <a:tc>
                      <a:txBody>
                        <a:bodyPr/>
                        <a:lstStyle/>
                        <a:p>
                          <a:pPr algn="ctr"/>
                          <a:r>
                            <a:rPr lang="en-US" sz="2400" dirty="0"/>
                            <a:t>A</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4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400" dirty="0"/>
                            <a:t>.75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400" dirty="0"/>
                            <a:t>1.5</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42933775"/>
                      </a:ext>
                    </a:extLst>
                  </a:tr>
                  <a:tr h="947060">
                    <a:tc>
                      <a:txBody>
                        <a:bodyPr/>
                        <a:lstStyle/>
                        <a:p>
                          <a:pPr algn="ctr"/>
                          <a:r>
                            <a:rPr lang="en-US" sz="2400" dirty="0"/>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400" dirty="0"/>
                            <a:t>.75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400" dirty="0"/>
                            <a:t>1.25</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9329377"/>
                      </a:ext>
                    </a:extLst>
                  </a:tr>
                </a:tbl>
              </a:graphicData>
            </a:graphic>
          </p:graphicFrame>
        </mc:Fallback>
      </mc:AlternateContent>
      <mc:AlternateContent xmlns:mc="http://schemas.openxmlformats.org/markup-compatibility/2006" xmlns:a14="http://schemas.microsoft.com/office/drawing/2010/main">
        <mc:Choice Requires="a14">
          <p:sp>
            <p:nvSpPr>
              <p:cNvPr id="5" name="Title 1">
                <a:extLst>
                  <a:ext uri="{FF2B5EF4-FFF2-40B4-BE49-F238E27FC236}">
                    <a16:creationId xmlns:a16="http://schemas.microsoft.com/office/drawing/2014/main" id="{15BFD148-CB76-2A47-B937-37DDCD9B9248}"/>
                  </a:ext>
                </a:extLst>
              </p:cNvPr>
              <p:cNvSpPr txBox="1">
                <a:spLocks/>
              </p:cNvSpPr>
              <p:nvPr/>
            </p:nvSpPr>
            <p:spPr>
              <a:xfrm>
                <a:off x="838200" y="4421077"/>
                <a:ext cx="10515600" cy="1325563"/>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&gt; Goal: find the linear equation that best predicts the outcome</a:t>
                </a:r>
              </a:p>
              <a:p>
                <a:endParaRPr lang="en-US" sz="3200" dirty="0"/>
              </a:p>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𝑏</m:t>
                          </m:r>
                        </m:e>
                        <m:sub>
                          <m:r>
                            <a:rPr lang="en-US" sz="3200" b="0" i="1" smtClean="0">
                              <a:latin typeface="Cambria Math" panose="02040503050406030204" pitchFamily="18" charset="0"/>
                            </a:rPr>
                            <m:t>1</m:t>
                          </m:r>
                        </m:sub>
                      </m:sSub>
                      <m:sSub>
                        <m:sSubPr>
                          <m:ctrlPr>
                            <a:rPr lang="en-US" sz="3200" b="0" i="1" smtClean="0">
                              <a:latin typeface="Cambria Math" panose="02040503050406030204" pitchFamily="18" charset="0"/>
                            </a:rPr>
                          </m:ctrlPr>
                        </m:sSubPr>
                        <m:e>
                          <m:r>
                            <a:rPr lang="en-US" sz="3200" b="1" i="1" smtClean="0">
                              <a:latin typeface="Cambria Math" panose="02040503050406030204" pitchFamily="18" charset="0"/>
                            </a:rPr>
                            <m:t>𝒙</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𝑏</m:t>
                          </m:r>
                        </m:e>
                        <m:sub>
                          <m:r>
                            <a:rPr lang="en-US" sz="3200" b="0" i="1" smtClean="0">
                              <a:latin typeface="Cambria Math" panose="02040503050406030204" pitchFamily="18" charset="0"/>
                            </a:rPr>
                            <m:t>2</m:t>
                          </m:r>
                        </m:sub>
                      </m:sSub>
                      <m:sSub>
                        <m:sSubPr>
                          <m:ctrlPr>
                            <a:rPr lang="en-US" sz="3200" b="0" i="1" smtClean="0">
                              <a:latin typeface="Cambria Math" panose="02040503050406030204" pitchFamily="18" charset="0"/>
                            </a:rPr>
                          </m:ctrlPr>
                        </m:sSubPr>
                        <m:e>
                          <m:r>
                            <a:rPr lang="en-US" sz="3200" b="1" i="1" smtClean="0">
                              <a:latin typeface="Cambria Math" panose="02040503050406030204" pitchFamily="18" charset="0"/>
                            </a:rPr>
                            <m:t>𝒙</m:t>
                          </m:r>
                        </m:e>
                        <m:sub>
                          <m:r>
                            <a:rPr lang="en-US" sz="3200" b="0" i="1" smtClean="0">
                              <a:latin typeface="Cambria Math" panose="02040503050406030204" pitchFamily="18" charset="0"/>
                            </a:rPr>
                            <m:t>2</m:t>
                          </m:r>
                        </m:sub>
                      </m:sSub>
                      <m:r>
                        <a:rPr lang="en-US" sz="3200" b="0" i="1" smtClean="0">
                          <a:latin typeface="Cambria Math" panose="02040503050406030204" pitchFamily="18" charset="0"/>
                        </a:rPr>
                        <m:t>=</m:t>
                      </m:r>
                      <m:r>
                        <a:rPr lang="en-US" sz="3200" b="1" i="1" smtClean="0">
                          <a:latin typeface="Cambria Math" panose="02040503050406030204" pitchFamily="18" charset="0"/>
                        </a:rPr>
                        <m:t>𝒚</m:t>
                      </m:r>
                    </m:oMath>
                  </m:oMathPara>
                </a14:m>
                <a:endParaRPr lang="en-US" sz="3200" b="1" dirty="0"/>
              </a:p>
            </p:txBody>
          </p:sp>
        </mc:Choice>
        <mc:Fallback xmlns="">
          <p:sp>
            <p:nvSpPr>
              <p:cNvPr id="5" name="Title 1">
                <a:extLst>
                  <a:ext uri="{FF2B5EF4-FFF2-40B4-BE49-F238E27FC236}">
                    <a16:creationId xmlns:a16="http://schemas.microsoft.com/office/drawing/2014/main" id="{15BFD148-CB76-2A47-B937-37DDCD9B9248}"/>
                  </a:ext>
                </a:extLst>
              </p:cNvPr>
              <p:cNvSpPr txBox="1">
                <a:spLocks noRot="1" noChangeAspect="1" noMove="1" noResize="1" noEditPoints="1" noAdjustHandles="1" noChangeArrowheads="1" noChangeShapeType="1" noTextEdit="1"/>
              </p:cNvSpPr>
              <p:nvPr/>
            </p:nvSpPr>
            <p:spPr>
              <a:xfrm>
                <a:off x="838200" y="4421077"/>
                <a:ext cx="10515600" cy="1325563"/>
              </a:xfrm>
              <a:prstGeom prst="rect">
                <a:avLst/>
              </a:prstGeom>
              <a:blipFill>
                <a:blip r:embed="rId3"/>
                <a:stretch>
                  <a:fillRect l="-1568" t="-12381" r="-362" b="-5714"/>
                </a:stretch>
              </a:blipFill>
            </p:spPr>
            <p:txBody>
              <a:bodyPr/>
              <a:lstStyle/>
              <a:p>
                <a:r>
                  <a:rPr lang="en-US">
                    <a:noFill/>
                  </a:rPr>
                  <a:t> </a:t>
                </a:r>
              </a:p>
            </p:txBody>
          </p:sp>
        </mc:Fallback>
      </mc:AlternateContent>
    </p:spTree>
    <p:extLst>
      <p:ext uri="{BB962C8B-B14F-4D97-AF65-F5344CB8AC3E}">
        <p14:creationId xmlns:p14="http://schemas.microsoft.com/office/powerpoint/2010/main" val="40044044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Arrow Connector 13">
            <a:extLst>
              <a:ext uri="{FF2B5EF4-FFF2-40B4-BE49-F238E27FC236}">
                <a16:creationId xmlns:a16="http://schemas.microsoft.com/office/drawing/2014/main" id="{CAFC6370-769D-8048-ACB8-E08819D57620}"/>
              </a:ext>
            </a:extLst>
          </p:cNvPr>
          <p:cNvCxnSpPr>
            <a:cxnSpLocks/>
          </p:cNvCxnSpPr>
          <p:nvPr/>
        </p:nvCxnSpPr>
        <p:spPr>
          <a:xfrm>
            <a:off x="814550" y="2680137"/>
            <a:ext cx="6858001" cy="0"/>
          </a:xfrm>
          <a:prstGeom prst="straightConnector1">
            <a:avLst/>
          </a:prstGeom>
          <a:ln w="57150" cap="flat" cmpd="sng" algn="ctr">
            <a:solidFill>
              <a:schemeClr val="bg2">
                <a:lumMod val="9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Straight Arrow Connector 5">
            <a:extLst>
              <a:ext uri="{FF2B5EF4-FFF2-40B4-BE49-F238E27FC236}">
                <a16:creationId xmlns:a16="http://schemas.microsoft.com/office/drawing/2014/main" id="{AB936B2F-878E-8F4C-AB56-5FEB6CB714C2}"/>
              </a:ext>
            </a:extLst>
          </p:cNvPr>
          <p:cNvCxnSpPr>
            <a:cxnSpLocks/>
          </p:cNvCxnSpPr>
          <p:nvPr/>
        </p:nvCxnSpPr>
        <p:spPr>
          <a:xfrm flipV="1">
            <a:off x="1072053" y="457200"/>
            <a:ext cx="0" cy="5943600"/>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Straight Arrow Connector 14">
            <a:extLst>
              <a:ext uri="{FF2B5EF4-FFF2-40B4-BE49-F238E27FC236}">
                <a16:creationId xmlns:a16="http://schemas.microsoft.com/office/drawing/2014/main" id="{50FAD106-4756-3649-A17D-1F0040AEFC5E}"/>
              </a:ext>
            </a:extLst>
          </p:cNvPr>
          <p:cNvCxnSpPr>
            <a:cxnSpLocks/>
          </p:cNvCxnSpPr>
          <p:nvPr/>
        </p:nvCxnSpPr>
        <p:spPr>
          <a:xfrm flipV="1">
            <a:off x="4750675" y="457200"/>
            <a:ext cx="0" cy="5943602"/>
          </a:xfrm>
          <a:prstGeom prst="straightConnector1">
            <a:avLst/>
          </a:prstGeom>
          <a:ln w="57150" cap="flat" cmpd="sng" algn="ctr">
            <a:solidFill>
              <a:schemeClr val="bg2">
                <a:lumMod val="9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 name="Straight Arrow Connector 4">
            <a:extLst>
              <a:ext uri="{FF2B5EF4-FFF2-40B4-BE49-F238E27FC236}">
                <a16:creationId xmlns:a16="http://schemas.microsoft.com/office/drawing/2014/main" id="{FB4D6A3A-0477-0A4D-B067-3381D298E7F6}"/>
              </a:ext>
            </a:extLst>
          </p:cNvPr>
          <p:cNvCxnSpPr>
            <a:cxnSpLocks/>
          </p:cNvCxnSpPr>
          <p:nvPr/>
        </p:nvCxnSpPr>
        <p:spPr>
          <a:xfrm>
            <a:off x="814550" y="6174827"/>
            <a:ext cx="6858001" cy="0"/>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TextBox 18">
            <a:extLst>
              <a:ext uri="{FF2B5EF4-FFF2-40B4-BE49-F238E27FC236}">
                <a16:creationId xmlns:a16="http://schemas.microsoft.com/office/drawing/2014/main" id="{5AC171B1-C392-AC4A-9C16-6A02DDA9C2CD}"/>
              </a:ext>
            </a:extLst>
          </p:cNvPr>
          <p:cNvSpPr txBox="1"/>
          <p:nvPr/>
        </p:nvSpPr>
        <p:spPr>
          <a:xfrm>
            <a:off x="478703" y="2495471"/>
            <a:ext cx="301686" cy="369332"/>
          </a:xfrm>
          <a:prstGeom prst="rect">
            <a:avLst/>
          </a:prstGeom>
          <a:noFill/>
        </p:spPr>
        <p:txBody>
          <a:bodyPr wrap="none" rtlCol="0">
            <a:spAutoFit/>
          </a:bodyPr>
          <a:lstStyle/>
          <a:p>
            <a:r>
              <a:rPr lang="en-US" dirty="0"/>
              <a:t>1</a:t>
            </a:r>
          </a:p>
        </p:txBody>
      </p:sp>
      <p:sp>
        <p:nvSpPr>
          <p:cNvPr id="20" name="TextBox 19">
            <a:extLst>
              <a:ext uri="{FF2B5EF4-FFF2-40B4-BE49-F238E27FC236}">
                <a16:creationId xmlns:a16="http://schemas.microsoft.com/office/drawing/2014/main" id="{8BA9D229-E53B-FE45-BE3E-BE0719210243}"/>
              </a:ext>
            </a:extLst>
          </p:cNvPr>
          <p:cNvSpPr txBox="1"/>
          <p:nvPr/>
        </p:nvSpPr>
        <p:spPr>
          <a:xfrm>
            <a:off x="4599832" y="6411310"/>
            <a:ext cx="301686" cy="369332"/>
          </a:xfrm>
          <a:prstGeom prst="rect">
            <a:avLst/>
          </a:prstGeom>
          <a:noFill/>
        </p:spPr>
        <p:txBody>
          <a:bodyPr wrap="none" rtlCol="0">
            <a:spAutoFit/>
          </a:bodyPr>
          <a:lstStyle/>
          <a:p>
            <a:r>
              <a:rPr lang="en-US" dirty="0"/>
              <a:t>1</a:t>
            </a:r>
          </a:p>
        </p:txBody>
      </p:sp>
      <p:sp>
        <p:nvSpPr>
          <p:cNvPr id="21" name="TextBox 20">
            <a:extLst>
              <a:ext uri="{FF2B5EF4-FFF2-40B4-BE49-F238E27FC236}">
                <a16:creationId xmlns:a16="http://schemas.microsoft.com/office/drawing/2014/main" id="{6826FFB4-8362-354D-B88B-C3DDA574DEE0}"/>
              </a:ext>
            </a:extLst>
          </p:cNvPr>
          <p:cNvSpPr txBox="1"/>
          <p:nvPr/>
        </p:nvSpPr>
        <p:spPr>
          <a:xfrm>
            <a:off x="5847628" y="6395545"/>
            <a:ext cx="1824923" cy="369332"/>
          </a:xfrm>
          <a:prstGeom prst="rect">
            <a:avLst/>
          </a:prstGeom>
          <a:noFill/>
        </p:spPr>
        <p:txBody>
          <a:bodyPr wrap="none" rtlCol="0">
            <a:spAutoFit/>
          </a:bodyPr>
          <a:lstStyle/>
          <a:p>
            <a:r>
              <a:rPr lang="en-US" dirty="0"/>
              <a:t>value in patient A</a:t>
            </a:r>
          </a:p>
        </p:txBody>
      </p:sp>
      <p:sp>
        <p:nvSpPr>
          <p:cNvPr id="22" name="TextBox 21">
            <a:extLst>
              <a:ext uri="{FF2B5EF4-FFF2-40B4-BE49-F238E27FC236}">
                <a16:creationId xmlns:a16="http://schemas.microsoft.com/office/drawing/2014/main" id="{72A72548-DFC5-8047-BC30-A7D8611F3A6F}"/>
              </a:ext>
            </a:extLst>
          </p:cNvPr>
          <p:cNvSpPr txBox="1"/>
          <p:nvPr/>
        </p:nvSpPr>
        <p:spPr>
          <a:xfrm rot="16200000">
            <a:off x="-278570" y="1161861"/>
            <a:ext cx="1816908" cy="369332"/>
          </a:xfrm>
          <a:prstGeom prst="rect">
            <a:avLst/>
          </a:prstGeom>
          <a:noFill/>
        </p:spPr>
        <p:txBody>
          <a:bodyPr wrap="none" rtlCol="0">
            <a:spAutoFit/>
          </a:bodyPr>
          <a:lstStyle/>
          <a:p>
            <a:r>
              <a:rPr lang="en-US" dirty="0"/>
              <a:t>value in patient B</a:t>
            </a:r>
          </a:p>
        </p:txBody>
      </p:sp>
      <p:sp>
        <p:nvSpPr>
          <p:cNvPr id="23" name="Oval 22">
            <a:extLst>
              <a:ext uri="{FF2B5EF4-FFF2-40B4-BE49-F238E27FC236}">
                <a16:creationId xmlns:a16="http://schemas.microsoft.com/office/drawing/2014/main" id="{EBE7D6A1-E716-AA4D-9A87-8791A9665575}"/>
              </a:ext>
            </a:extLst>
          </p:cNvPr>
          <p:cNvSpPr/>
          <p:nvPr/>
        </p:nvSpPr>
        <p:spPr>
          <a:xfrm>
            <a:off x="6516771" y="1749970"/>
            <a:ext cx="136635" cy="1366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09F560A-2706-3F4B-BA5C-323CD99C0794}"/>
                  </a:ext>
                </a:extLst>
              </p:cNvPr>
              <p:cNvSpPr txBox="1"/>
              <p:nvPr/>
            </p:nvSpPr>
            <p:spPr>
              <a:xfrm>
                <a:off x="6674428" y="1633621"/>
                <a:ext cx="37138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𝑦</m:t>
                      </m:r>
                    </m:oMath>
                  </m:oMathPara>
                </a14:m>
                <a:endParaRPr lang="en-US" dirty="0"/>
              </a:p>
            </p:txBody>
          </p:sp>
        </mc:Choice>
        <mc:Fallback xmlns="">
          <p:sp>
            <p:nvSpPr>
              <p:cNvPr id="24" name="TextBox 23">
                <a:extLst>
                  <a:ext uri="{FF2B5EF4-FFF2-40B4-BE49-F238E27FC236}">
                    <a16:creationId xmlns:a16="http://schemas.microsoft.com/office/drawing/2014/main" id="{F09F560A-2706-3F4B-BA5C-323CD99C0794}"/>
                  </a:ext>
                </a:extLst>
              </p:cNvPr>
              <p:cNvSpPr txBox="1">
                <a:spLocks noRot="1" noChangeAspect="1" noMove="1" noResize="1" noEditPoints="1" noAdjustHandles="1" noChangeArrowheads="1" noChangeShapeType="1" noTextEdit="1"/>
              </p:cNvSpPr>
              <p:nvPr/>
            </p:nvSpPr>
            <p:spPr>
              <a:xfrm>
                <a:off x="6674428" y="1633621"/>
                <a:ext cx="371384" cy="369332"/>
              </a:xfrm>
              <a:prstGeom prst="rect">
                <a:avLst/>
              </a:prstGeom>
              <a:blipFill>
                <a:blip r:embed="rId2"/>
                <a:stretch>
                  <a:fillRect b="-6667"/>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BEF72CEF-4DDA-5C64-BFC9-E89764A0496C}"/>
              </a:ext>
            </a:extLst>
          </p:cNvPr>
          <p:cNvSpPr txBox="1"/>
          <p:nvPr/>
        </p:nvSpPr>
        <p:spPr>
          <a:xfrm>
            <a:off x="8419501" y="1166842"/>
            <a:ext cx="3236976" cy="4524315"/>
          </a:xfrm>
          <a:prstGeom prst="rect">
            <a:avLst/>
          </a:prstGeom>
          <a:noFill/>
        </p:spPr>
        <p:txBody>
          <a:bodyPr wrap="square" rtlCol="0">
            <a:spAutoFit/>
          </a:bodyPr>
          <a:lstStyle/>
          <a:p>
            <a:r>
              <a:rPr lang="en-US" b="1" dirty="0"/>
              <a:t>Short version:</a:t>
            </a:r>
          </a:p>
          <a:p>
            <a:endParaRPr lang="en-US" dirty="0"/>
          </a:p>
          <a:p>
            <a:pPr marL="285750" indent="-285750">
              <a:buFontTx/>
              <a:buChar char="-"/>
            </a:pPr>
            <a:r>
              <a:rPr lang="en-US" dirty="0"/>
              <a:t>Outcomes define a point in N-dimensional space</a:t>
            </a:r>
          </a:p>
          <a:p>
            <a:pPr marL="285750" indent="-285750">
              <a:buFontTx/>
              <a:buChar char="-"/>
            </a:pPr>
            <a:endParaRPr lang="en-US" dirty="0"/>
          </a:p>
          <a:p>
            <a:pPr marL="285750" indent="-285750">
              <a:buFontTx/>
              <a:buChar char="-"/>
            </a:pPr>
            <a:r>
              <a:rPr lang="en-US" dirty="0"/>
              <a:t>Each feature/predictor is a basis vector</a:t>
            </a:r>
          </a:p>
          <a:p>
            <a:pPr marL="285750" indent="-285750">
              <a:buFontTx/>
              <a:buChar char="-"/>
            </a:pPr>
            <a:endParaRPr lang="en-US" dirty="0"/>
          </a:p>
          <a:p>
            <a:pPr marL="285750" indent="-285750">
              <a:buFontTx/>
              <a:buChar char="-"/>
            </a:pPr>
            <a:r>
              <a:rPr lang="en-US" dirty="0"/>
              <a:t>So, if we have at least N linearly independent features, we get perfect prediction</a:t>
            </a:r>
          </a:p>
          <a:p>
            <a:pPr marL="285750" indent="-285750">
              <a:buFontTx/>
              <a:buChar char="-"/>
            </a:pPr>
            <a:endParaRPr lang="en-US" dirty="0"/>
          </a:p>
          <a:p>
            <a:pPr marL="285750" indent="-285750">
              <a:buFontTx/>
              <a:buChar char="-"/>
            </a:pPr>
            <a:r>
              <a:rPr lang="en-US" dirty="0"/>
              <a:t>Consider: are features linearly independent in practice?</a:t>
            </a:r>
          </a:p>
        </p:txBody>
      </p:sp>
    </p:spTree>
    <p:extLst>
      <p:ext uri="{BB962C8B-B14F-4D97-AF65-F5344CB8AC3E}">
        <p14:creationId xmlns:p14="http://schemas.microsoft.com/office/powerpoint/2010/main" val="21706759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Arrow Connector 13">
            <a:extLst>
              <a:ext uri="{FF2B5EF4-FFF2-40B4-BE49-F238E27FC236}">
                <a16:creationId xmlns:a16="http://schemas.microsoft.com/office/drawing/2014/main" id="{CAFC6370-769D-8048-ACB8-E08819D57620}"/>
              </a:ext>
            </a:extLst>
          </p:cNvPr>
          <p:cNvCxnSpPr>
            <a:cxnSpLocks/>
          </p:cNvCxnSpPr>
          <p:nvPr/>
        </p:nvCxnSpPr>
        <p:spPr>
          <a:xfrm>
            <a:off x="814550" y="2680137"/>
            <a:ext cx="6858001" cy="0"/>
          </a:xfrm>
          <a:prstGeom prst="straightConnector1">
            <a:avLst/>
          </a:prstGeom>
          <a:ln w="57150" cap="flat" cmpd="sng" algn="ctr">
            <a:solidFill>
              <a:schemeClr val="bg2">
                <a:lumMod val="9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Straight Arrow Connector 5">
            <a:extLst>
              <a:ext uri="{FF2B5EF4-FFF2-40B4-BE49-F238E27FC236}">
                <a16:creationId xmlns:a16="http://schemas.microsoft.com/office/drawing/2014/main" id="{AB936B2F-878E-8F4C-AB56-5FEB6CB714C2}"/>
              </a:ext>
            </a:extLst>
          </p:cNvPr>
          <p:cNvCxnSpPr>
            <a:cxnSpLocks/>
          </p:cNvCxnSpPr>
          <p:nvPr/>
        </p:nvCxnSpPr>
        <p:spPr>
          <a:xfrm flipV="1">
            <a:off x="1072053" y="457200"/>
            <a:ext cx="0" cy="5943600"/>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Straight Arrow Connector 14">
            <a:extLst>
              <a:ext uri="{FF2B5EF4-FFF2-40B4-BE49-F238E27FC236}">
                <a16:creationId xmlns:a16="http://schemas.microsoft.com/office/drawing/2014/main" id="{50FAD106-4756-3649-A17D-1F0040AEFC5E}"/>
              </a:ext>
            </a:extLst>
          </p:cNvPr>
          <p:cNvCxnSpPr>
            <a:cxnSpLocks/>
          </p:cNvCxnSpPr>
          <p:nvPr/>
        </p:nvCxnSpPr>
        <p:spPr>
          <a:xfrm flipV="1">
            <a:off x="4750675" y="457200"/>
            <a:ext cx="0" cy="5943602"/>
          </a:xfrm>
          <a:prstGeom prst="straightConnector1">
            <a:avLst/>
          </a:prstGeom>
          <a:ln w="57150" cap="flat" cmpd="sng" algn="ctr">
            <a:solidFill>
              <a:schemeClr val="bg2">
                <a:lumMod val="9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 name="Straight Arrow Connector 4">
            <a:extLst>
              <a:ext uri="{FF2B5EF4-FFF2-40B4-BE49-F238E27FC236}">
                <a16:creationId xmlns:a16="http://schemas.microsoft.com/office/drawing/2014/main" id="{FB4D6A3A-0477-0A4D-B067-3381D298E7F6}"/>
              </a:ext>
            </a:extLst>
          </p:cNvPr>
          <p:cNvCxnSpPr>
            <a:cxnSpLocks/>
          </p:cNvCxnSpPr>
          <p:nvPr/>
        </p:nvCxnSpPr>
        <p:spPr>
          <a:xfrm>
            <a:off x="814550" y="6174827"/>
            <a:ext cx="6858001" cy="0"/>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TextBox 18">
            <a:extLst>
              <a:ext uri="{FF2B5EF4-FFF2-40B4-BE49-F238E27FC236}">
                <a16:creationId xmlns:a16="http://schemas.microsoft.com/office/drawing/2014/main" id="{5AC171B1-C392-AC4A-9C16-6A02DDA9C2CD}"/>
              </a:ext>
            </a:extLst>
          </p:cNvPr>
          <p:cNvSpPr txBox="1"/>
          <p:nvPr/>
        </p:nvSpPr>
        <p:spPr>
          <a:xfrm>
            <a:off x="478703" y="2495471"/>
            <a:ext cx="301686" cy="369332"/>
          </a:xfrm>
          <a:prstGeom prst="rect">
            <a:avLst/>
          </a:prstGeom>
          <a:noFill/>
        </p:spPr>
        <p:txBody>
          <a:bodyPr wrap="none" rtlCol="0">
            <a:spAutoFit/>
          </a:bodyPr>
          <a:lstStyle/>
          <a:p>
            <a:r>
              <a:rPr lang="en-US" dirty="0"/>
              <a:t>1</a:t>
            </a:r>
          </a:p>
        </p:txBody>
      </p:sp>
      <p:sp>
        <p:nvSpPr>
          <p:cNvPr id="20" name="TextBox 19">
            <a:extLst>
              <a:ext uri="{FF2B5EF4-FFF2-40B4-BE49-F238E27FC236}">
                <a16:creationId xmlns:a16="http://schemas.microsoft.com/office/drawing/2014/main" id="{8BA9D229-E53B-FE45-BE3E-BE0719210243}"/>
              </a:ext>
            </a:extLst>
          </p:cNvPr>
          <p:cNvSpPr txBox="1"/>
          <p:nvPr/>
        </p:nvSpPr>
        <p:spPr>
          <a:xfrm>
            <a:off x="4599832" y="6411310"/>
            <a:ext cx="301686" cy="369332"/>
          </a:xfrm>
          <a:prstGeom prst="rect">
            <a:avLst/>
          </a:prstGeom>
          <a:noFill/>
        </p:spPr>
        <p:txBody>
          <a:bodyPr wrap="none" rtlCol="0">
            <a:spAutoFit/>
          </a:bodyPr>
          <a:lstStyle/>
          <a:p>
            <a:r>
              <a:rPr lang="en-US" dirty="0"/>
              <a:t>1</a:t>
            </a:r>
          </a:p>
        </p:txBody>
      </p:sp>
      <p:sp>
        <p:nvSpPr>
          <p:cNvPr id="21" name="TextBox 20">
            <a:extLst>
              <a:ext uri="{FF2B5EF4-FFF2-40B4-BE49-F238E27FC236}">
                <a16:creationId xmlns:a16="http://schemas.microsoft.com/office/drawing/2014/main" id="{6826FFB4-8362-354D-B88B-C3DDA574DEE0}"/>
              </a:ext>
            </a:extLst>
          </p:cNvPr>
          <p:cNvSpPr txBox="1"/>
          <p:nvPr/>
        </p:nvSpPr>
        <p:spPr>
          <a:xfrm>
            <a:off x="5847628" y="6395545"/>
            <a:ext cx="1824923" cy="369332"/>
          </a:xfrm>
          <a:prstGeom prst="rect">
            <a:avLst/>
          </a:prstGeom>
          <a:noFill/>
        </p:spPr>
        <p:txBody>
          <a:bodyPr wrap="none" rtlCol="0">
            <a:spAutoFit/>
          </a:bodyPr>
          <a:lstStyle/>
          <a:p>
            <a:r>
              <a:rPr lang="en-US" dirty="0"/>
              <a:t>value in patient A</a:t>
            </a:r>
          </a:p>
        </p:txBody>
      </p:sp>
      <p:sp>
        <p:nvSpPr>
          <p:cNvPr id="22" name="TextBox 21">
            <a:extLst>
              <a:ext uri="{FF2B5EF4-FFF2-40B4-BE49-F238E27FC236}">
                <a16:creationId xmlns:a16="http://schemas.microsoft.com/office/drawing/2014/main" id="{72A72548-DFC5-8047-BC30-A7D8611F3A6F}"/>
              </a:ext>
            </a:extLst>
          </p:cNvPr>
          <p:cNvSpPr txBox="1"/>
          <p:nvPr/>
        </p:nvSpPr>
        <p:spPr>
          <a:xfrm rot="16200000">
            <a:off x="-278570" y="1161861"/>
            <a:ext cx="1816908" cy="369332"/>
          </a:xfrm>
          <a:prstGeom prst="rect">
            <a:avLst/>
          </a:prstGeom>
          <a:noFill/>
        </p:spPr>
        <p:txBody>
          <a:bodyPr wrap="none" rtlCol="0">
            <a:spAutoFit/>
          </a:bodyPr>
          <a:lstStyle/>
          <a:p>
            <a:r>
              <a:rPr lang="en-US" dirty="0"/>
              <a:t>value in patient B</a:t>
            </a:r>
          </a:p>
        </p:txBody>
      </p:sp>
      <p:sp>
        <p:nvSpPr>
          <p:cNvPr id="23" name="Oval 22">
            <a:extLst>
              <a:ext uri="{FF2B5EF4-FFF2-40B4-BE49-F238E27FC236}">
                <a16:creationId xmlns:a16="http://schemas.microsoft.com/office/drawing/2014/main" id="{EBE7D6A1-E716-AA4D-9A87-8791A9665575}"/>
              </a:ext>
            </a:extLst>
          </p:cNvPr>
          <p:cNvSpPr/>
          <p:nvPr/>
        </p:nvSpPr>
        <p:spPr>
          <a:xfrm>
            <a:off x="6516771" y="1749970"/>
            <a:ext cx="136635" cy="1366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09F560A-2706-3F4B-BA5C-323CD99C0794}"/>
                  </a:ext>
                </a:extLst>
              </p:cNvPr>
              <p:cNvSpPr txBox="1"/>
              <p:nvPr/>
            </p:nvSpPr>
            <p:spPr>
              <a:xfrm>
                <a:off x="6674428" y="1633621"/>
                <a:ext cx="37138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𝑦</m:t>
                      </m:r>
                    </m:oMath>
                  </m:oMathPara>
                </a14:m>
                <a:endParaRPr lang="en-US" dirty="0"/>
              </a:p>
            </p:txBody>
          </p:sp>
        </mc:Choice>
        <mc:Fallback xmlns="">
          <p:sp>
            <p:nvSpPr>
              <p:cNvPr id="24" name="TextBox 23">
                <a:extLst>
                  <a:ext uri="{FF2B5EF4-FFF2-40B4-BE49-F238E27FC236}">
                    <a16:creationId xmlns:a16="http://schemas.microsoft.com/office/drawing/2014/main" id="{F09F560A-2706-3F4B-BA5C-323CD99C0794}"/>
                  </a:ext>
                </a:extLst>
              </p:cNvPr>
              <p:cNvSpPr txBox="1">
                <a:spLocks noRot="1" noChangeAspect="1" noMove="1" noResize="1" noEditPoints="1" noAdjustHandles="1" noChangeArrowheads="1" noChangeShapeType="1" noTextEdit="1"/>
              </p:cNvSpPr>
              <p:nvPr/>
            </p:nvSpPr>
            <p:spPr>
              <a:xfrm>
                <a:off x="6674428" y="1633621"/>
                <a:ext cx="371384" cy="369332"/>
              </a:xfrm>
              <a:prstGeom prst="rect">
                <a:avLst/>
              </a:prstGeom>
              <a:blipFill>
                <a:blip r:embed="rId2"/>
                <a:stretch>
                  <a:fillRect b="-6667"/>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D08B0905-1745-2E45-AED5-8AA514EEA5A8}"/>
              </a:ext>
            </a:extLst>
          </p:cNvPr>
          <p:cNvCxnSpPr>
            <a:cxnSpLocks/>
          </p:cNvCxnSpPr>
          <p:nvPr/>
        </p:nvCxnSpPr>
        <p:spPr>
          <a:xfrm flipV="1">
            <a:off x="1072053" y="2680137"/>
            <a:ext cx="1849823" cy="3494689"/>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C06056C-D3AA-904F-9EA3-D919CB1616CA}"/>
                  </a:ext>
                </a:extLst>
              </p:cNvPr>
              <p:cNvSpPr txBox="1"/>
              <p:nvPr/>
            </p:nvSpPr>
            <p:spPr>
              <a:xfrm>
                <a:off x="2230726" y="2735962"/>
                <a:ext cx="46076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oMath>
                  </m:oMathPara>
                </a14:m>
                <a:endParaRPr lang="en-US" dirty="0"/>
              </a:p>
            </p:txBody>
          </p:sp>
        </mc:Choice>
        <mc:Fallback xmlns="">
          <p:sp>
            <p:nvSpPr>
              <p:cNvPr id="16" name="TextBox 15">
                <a:extLst>
                  <a:ext uri="{FF2B5EF4-FFF2-40B4-BE49-F238E27FC236}">
                    <a16:creationId xmlns:a16="http://schemas.microsoft.com/office/drawing/2014/main" id="{9C06056C-D3AA-904F-9EA3-D919CB1616CA}"/>
                  </a:ext>
                </a:extLst>
              </p:cNvPr>
              <p:cNvSpPr txBox="1">
                <a:spLocks noRot="1" noChangeAspect="1" noMove="1" noResize="1" noEditPoints="1" noAdjustHandles="1" noChangeArrowheads="1" noChangeShapeType="1" noTextEdit="1"/>
              </p:cNvSpPr>
              <p:nvPr/>
            </p:nvSpPr>
            <p:spPr>
              <a:xfrm>
                <a:off x="2230726" y="2735962"/>
                <a:ext cx="460767" cy="369332"/>
              </a:xfrm>
              <a:prstGeom prst="rect">
                <a:avLst/>
              </a:prstGeom>
              <a:blipFill>
                <a:blip r:embed="rId3"/>
                <a:stretch>
                  <a:fillRect/>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E8DDA5CE-A51D-F034-3F97-3F74B15163EF}"/>
              </a:ext>
            </a:extLst>
          </p:cNvPr>
          <p:cNvSpPr txBox="1"/>
          <p:nvPr/>
        </p:nvSpPr>
        <p:spPr>
          <a:xfrm>
            <a:off x="8419501" y="1166842"/>
            <a:ext cx="3236976" cy="4524315"/>
          </a:xfrm>
          <a:prstGeom prst="rect">
            <a:avLst/>
          </a:prstGeom>
          <a:noFill/>
        </p:spPr>
        <p:txBody>
          <a:bodyPr wrap="square" rtlCol="0">
            <a:spAutoFit/>
          </a:bodyPr>
          <a:lstStyle/>
          <a:p>
            <a:r>
              <a:rPr lang="en-US" b="1" dirty="0"/>
              <a:t>Short version:</a:t>
            </a:r>
          </a:p>
          <a:p>
            <a:endParaRPr lang="en-US" dirty="0"/>
          </a:p>
          <a:p>
            <a:pPr marL="285750" indent="-285750">
              <a:buFontTx/>
              <a:buChar char="-"/>
            </a:pPr>
            <a:r>
              <a:rPr lang="en-US" dirty="0"/>
              <a:t>Outcomes define a point in N-dimensional space</a:t>
            </a:r>
          </a:p>
          <a:p>
            <a:pPr marL="285750" indent="-285750">
              <a:buFontTx/>
              <a:buChar char="-"/>
            </a:pPr>
            <a:endParaRPr lang="en-US" dirty="0"/>
          </a:p>
          <a:p>
            <a:pPr marL="285750" indent="-285750">
              <a:buFontTx/>
              <a:buChar char="-"/>
            </a:pPr>
            <a:r>
              <a:rPr lang="en-US" dirty="0"/>
              <a:t>Each feature/predictor is a basis vector</a:t>
            </a:r>
          </a:p>
          <a:p>
            <a:pPr marL="285750" indent="-285750">
              <a:buFontTx/>
              <a:buChar char="-"/>
            </a:pPr>
            <a:endParaRPr lang="en-US" dirty="0"/>
          </a:p>
          <a:p>
            <a:pPr marL="285750" indent="-285750">
              <a:buFontTx/>
              <a:buChar char="-"/>
            </a:pPr>
            <a:r>
              <a:rPr lang="en-US" dirty="0"/>
              <a:t>So, if we have at least N linearly independent features, we get perfect prediction</a:t>
            </a:r>
          </a:p>
          <a:p>
            <a:pPr marL="285750" indent="-285750">
              <a:buFontTx/>
              <a:buChar char="-"/>
            </a:pPr>
            <a:endParaRPr lang="en-US" dirty="0"/>
          </a:p>
          <a:p>
            <a:pPr marL="285750" indent="-285750">
              <a:buFontTx/>
              <a:buChar char="-"/>
            </a:pPr>
            <a:r>
              <a:rPr lang="en-US" dirty="0"/>
              <a:t>Consider: are features linearly independent in practice?</a:t>
            </a:r>
          </a:p>
        </p:txBody>
      </p:sp>
    </p:spTree>
    <p:extLst>
      <p:ext uri="{BB962C8B-B14F-4D97-AF65-F5344CB8AC3E}">
        <p14:creationId xmlns:p14="http://schemas.microsoft.com/office/powerpoint/2010/main" val="8924583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Arrow Connector 13">
            <a:extLst>
              <a:ext uri="{FF2B5EF4-FFF2-40B4-BE49-F238E27FC236}">
                <a16:creationId xmlns:a16="http://schemas.microsoft.com/office/drawing/2014/main" id="{CAFC6370-769D-8048-ACB8-E08819D57620}"/>
              </a:ext>
            </a:extLst>
          </p:cNvPr>
          <p:cNvCxnSpPr>
            <a:cxnSpLocks/>
          </p:cNvCxnSpPr>
          <p:nvPr/>
        </p:nvCxnSpPr>
        <p:spPr>
          <a:xfrm>
            <a:off x="814550" y="2680137"/>
            <a:ext cx="6858001" cy="0"/>
          </a:xfrm>
          <a:prstGeom prst="straightConnector1">
            <a:avLst/>
          </a:prstGeom>
          <a:ln w="57150" cap="flat" cmpd="sng" algn="ctr">
            <a:solidFill>
              <a:schemeClr val="bg2">
                <a:lumMod val="9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Straight Arrow Connector 5">
            <a:extLst>
              <a:ext uri="{FF2B5EF4-FFF2-40B4-BE49-F238E27FC236}">
                <a16:creationId xmlns:a16="http://schemas.microsoft.com/office/drawing/2014/main" id="{AB936B2F-878E-8F4C-AB56-5FEB6CB714C2}"/>
              </a:ext>
            </a:extLst>
          </p:cNvPr>
          <p:cNvCxnSpPr>
            <a:cxnSpLocks/>
          </p:cNvCxnSpPr>
          <p:nvPr/>
        </p:nvCxnSpPr>
        <p:spPr>
          <a:xfrm flipV="1">
            <a:off x="1072053" y="457200"/>
            <a:ext cx="0" cy="5943600"/>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Straight Arrow Connector 14">
            <a:extLst>
              <a:ext uri="{FF2B5EF4-FFF2-40B4-BE49-F238E27FC236}">
                <a16:creationId xmlns:a16="http://schemas.microsoft.com/office/drawing/2014/main" id="{50FAD106-4756-3649-A17D-1F0040AEFC5E}"/>
              </a:ext>
            </a:extLst>
          </p:cNvPr>
          <p:cNvCxnSpPr>
            <a:cxnSpLocks/>
          </p:cNvCxnSpPr>
          <p:nvPr/>
        </p:nvCxnSpPr>
        <p:spPr>
          <a:xfrm flipV="1">
            <a:off x="4750675" y="457200"/>
            <a:ext cx="0" cy="5943602"/>
          </a:xfrm>
          <a:prstGeom prst="straightConnector1">
            <a:avLst/>
          </a:prstGeom>
          <a:ln w="57150" cap="flat" cmpd="sng" algn="ctr">
            <a:solidFill>
              <a:schemeClr val="bg2">
                <a:lumMod val="9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 name="Straight Arrow Connector 4">
            <a:extLst>
              <a:ext uri="{FF2B5EF4-FFF2-40B4-BE49-F238E27FC236}">
                <a16:creationId xmlns:a16="http://schemas.microsoft.com/office/drawing/2014/main" id="{FB4D6A3A-0477-0A4D-B067-3381D298E7F6}"/>
              </a:ext>
            </a:extLst>
          </p:cNvPr>
          <p:cNvCxnSpPr>
            <a:cxnSpLocks/>
          </p:cNvCxnSpPr>
          <p:nvPr/>
        </p:nvCxnSpPr>
        <p:spPr>
          <a:xfrm>
            <a:off x="814550" y="6174827"/>
            <a:ext cx="6858001" cy="0"/>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TextBox 18">
            <a:extLst>
              <a:ext uri="{FF2B5EF4-FFF2-40B4-BE49-F238E27FC236}">
                <a16:creationId xmlns:a16="http://schemas.microsoft.com/office/drawing/2014/main" id="{5AC171B1-C392-AC4A-9C16-6A02DDA9C2CD}"/>
              </a:ext>
            </a:extLst>
          </p:cNvPr>
          <p:cNvSpPr txBox="1"/>
          <p:nvPr/>
        </p:nvSpPr>
        <p:spPr>
          <a:xfrm>
            <a:off x="478703" y="2495471"/>
            <a:ext cx="301686" cy="369332"/>
          </a:xfrm>
          <a:prstGeom prst="rect">
            <a:avLst/>
          </a:prstGeom>
          <a:noFill/>
        </p:spPr>
        <p:txBody>
          <a:bodyPr wrap="none" rtlCol="0">
            <a:spAutoFit/>
          </a:bodyPr>
          <a:lstStyle/>
          <a:p>
            <a:r>
              <a:rPr lang="en-US" dirty="0"/>
              <a:t>1</a:t>
            </a:r>
          </a:p>
        </p:txBody>
      </p:sp>
      <p:sp>
        <p:nvSpPr>
          <p:cNvPr id="20" name="TextBox 19">
            <a:extLst>
              <a:ext uri="{FF2B5EF4-FFF2-40B4-BE49-F238E27FC236}">
                <a16:creationId xmlns:a16="http://schemas.microsoft.com/office/drawing/2014/main" id="{8BA9D229-E53B-FE45-BE3E-BE0719210243}"/>
              </a:ext>
            </a:extLst>
          </p:cNvPr>
          <p:cNvSpPr txBox="1"/>
          <p:nvPr/>
        </p:nvSpPr>
        <p:spPr>
          <a:xfrm>
            <a:off x="4599832" y="6411310"/>
            <a:ext cx="301686" cy="369332"/>
          </a:xfrm>
          <a:prstGeom prst="rect">
            <a:avLst/>
          </a:prstGeom>
          <a:noFill/>
        </p:spPr>
        <p:txBody>
          <a:bodyPr wrap="none" rtlCol="0">
            <a:spAutoFit/>
          </a:bodyPr>
          <a:lstStyle/>
          <a:p>
            <a:r>
              <a:rPr lang="en-US" dirty="0"/>
              <a:t>1</a:t>
            </a:r>
          </a:p>
        </p:txBody>
      </p:sp>
      <p:sp>
        <p:nvSpPr>
          <p:cNvPr id="21" name="TextBox 20">
            <a:extLst>
              <a:ext uri="{FF2B5EF4-FFF2-40B4-BE49-F238E27FC236}">
                <a16:creationId xmlns:a16="http://schemas.microsoft.com/office/drawing/2014/main" id="{6826FFB4-8362-354D-B88B-C3DDA574DEE0}"/>
              </a:ext>
            </a:extLst>
          </p:cNvPr>
          <p:cNvSpPr txBox="1"/>
          <p:nvPr/>
        </p:nvSpPr>
        <p:spPr>
          <a:xfrm>
            <a:off x="5847628" y="6395545"/>
            <a:ext cx="1824923" cy="369332"/>
          </a:xfrm>
          <a:prstGeom prst="rect">
            <a:avLst/>
          </a:prstGeom>
          <a:noFill/>
        </p:spPr>
        <p:txBody>
          <a:bodyPr wrap="none" rtlCol="0">
            <a:spAutoFit/>
          </a:bodyPr>
          <a:lstStyle/>
          <a:p>
            <a:r>
              <a:rPr lang="en-US" dirty="0"/>
              <a:t>value in patient A</a:t>
            </a:r>
          </a:p>
        </p:txBody>
      </p:sp>
      <p:sp>
        <p:nvSpPr>
          <p:cNvPr id="22" name="TextBox 21">
            <a:extLst>
              <a:ext uri="{FF2B5EF4-FFF2-40B4-BE49-F238E27FC236}">
                <a16:creationId xmlns:a16="http://schemas.microsoft.com/office/drawing/2014/main" id="{72A72548-DFC5-8047-BC30-A7D8611F3A6F}"/>
              </a:ext>
            </a:extLst>
          </p:cNvPr>
          <p:cNvSpPr txBox="1"/>
          <p:nvPr/>
        </p:nvSpPr>
        <p:spPr>
          <a:xfrm rot="16200000">
            <a:off x="-278570" y="1161861"/>
            <a:ext cx="1816908" cy="369332"/>
          </a:xfrm>
          <a:prstGeom prst="rect">
            <a:avLst/>
          </a:prstGeom>
          <a:noFill/>
        </p:spPr>
        <p:txBody>
          <a:bodyPr wrap="none" rtlCol="0">
            <a:spAutoFit/>
          </a:bodyPr>
          <a:lstStyle/>
          <a:p>
            <a:r>
              <a:rPr lang="en-US" dirty="0"/>
              <a:t>value in patient B</a:t>
            </a:r>
          </a:p>
        </p:txBody>
      </p:sp>
      <p:sp>
        <p:nvSpPr>
          <p:cNvPr id="23" name="Oval 22">
            <a:extLst>
              <a:ext uri="{FF2B5EF4-FFF2-40B4-BE49-F238E27FC236}">
                <a16:creationId xmlns:a16="http://schemas.microsoft.com/office/drawing/2014/main" id="{EBE7D6A1-E716-AA4D-9A87-8791A9665575}"/>
              </a:ext>
            </a:extLst>
          </p:cNvPr>
          <p:cNvSpPr/>
          <p:nvPr/>
        </p:nvSpPr>
        <p:spPr>
          <a:xfrm>
            <a:off x="6516771" y="1749970"/>
            <a:ext cx="136635" cy="1366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09F560A-2706-3F4B-BA5C-323CD99C0794}"/>
                  </a:ext>
                </a:extLst>
              </p:cNvPr>
              <p:cNvSpPr txBox="1"/>
              <p:nvPr/>
            </p:nvSpPr>
            <p:spPr>
              <a:xfrm>
                <a:off x="6674428" y="1633621"/>
                <a:ext cx="37138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𝑦</m:t>
                      </m:r>
                    </m:oMath>
                  </m:oMathPara>
                </a14:m>
                <a:endParaRPr lang="en-US" dirty="0"/>
              </a:p>
            </p:txBody>
          </p:sp>
        </mc:Choice>
        <mc:Fallback xmlns="">
          <p:sp>
            <p:nvSpPr>
              <p:cNvPr id="24" name="TextBox 23">
                <a:extLst>
                  <a:ext uri="{FF2B5EF4-FFF2-40B4-BE49-F238E27FC236}">
                    <a16:creationId xmlns:a16="http://schemas.microsoft.com/office/drawing/2014/main" id="{F09F560A-2706-3F4B-BA5C-323CD99C0794}"/>
                  </a:ext>
                </a:extLst>
              </p:cNvPr>
              <p:cNvSpPr txBox="1">
                <a:spLocks noRot="1" noChangeAspect="1" noMove="1" noResize="1" noEditPoints="1" noAdjustHandles="1" noChangeArrowheads="1" noChangeShapeType="1" noTextEdit="1"/>
              </p:cNvSpPr>
              <p:nvPr/>
            </p:nvSpPr>
            <p:spPr>
              <a:xfrm>
                <a:off x="6674428" y="1633621"/>
                <a:ext cx="371384" cy="369332"/>
              </a:xfrm>
              <a:prstGeom prst="rect">
                <a:avLst/>
              </a:prstGeom>
              <a:blipFill>
                <a:blip r:embed="rId2"/>
                <a:stretch>
                  <a:fillRect b="-6667"/>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D08B0905-1745-2E45-AED5-8AA514EEA5A8}"/>
              </a:ext>
            </a:extLst>
          </p:cNvPr>
          <p:cNvCxnSpPr>
            <a:cxnSpLocks/>
          </p:cNvCxnSpPr>
          <p:nvPr/>
        </p:nvCxnSpPr>
        <p:spPr>
          <a:xfrm flipV="1">
            <a:off x="1072053" y="2680137"/>
            <a:ext cx="1849823" cy="3494689"/>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C06056C-D3AA-904F-9EA3-D919CB1616CA}"/>
                  </a:ext>
                </a:extLst>
              </p:cNvPr>
              <p:cNvSpPr txBox="1"/>
              <p:nvPr/>
            </p:nvSpPr>
            <p:spPr>
              <a:xfrm>
                <a:off x="2230726" y="2735962"/>
                <a:ext cx="46076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oMath>
                  </m:oMathPara>
                </a14:m>
                <a:endParaRPr lang="en-US" dirty="0"/>
              </a:p>
            </p:txBody>
          </p:sp>
        </mc:Choice>
        <mc:Fallback xmlns="">
          <p:sp>
            <p:nvSpPr>
              <p:cNvPr id="16" name="TextBox 15">
                <a:extLst>
                  <a:ext uri="{FF2B5EF4-FFF2-40B4-BE49-F238E27FC236}">
                    <a16:creationId xmlns:a16="http://schemas.microsoft.com/office/drawing/2014/main" id="{9C06056C-D3AA-904F-9EA3-D919CB1616CA}"/>
                  </a:ext>
                </a:extLst>
              </p:cNvPr>
              <p:cNvSpPr txBox="1">
                <a:spLocks noRot="1" noChangeAspect="1" noMove="1" noResize="1" noEditPoints="1" noAdjustHandles="1" noChangeArrowheads="1" noChangeShapeType="1" noTextEdit="1"/>
              </p:cNvSpPr>
              <p:nvPr/>
            </p:nvSpPr>
            <p:spPr>
              <a:xfrm>
                <a:off x="2230726" y="2735962"/>
                <a:ext cx="460767"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70248FE-0F5C-DF40-90AE-52A9574AF457}"/>
                  </a:ext>
                </a:extLst>
              </p:cNvPr>
              <p:cNvSpPr txBox="1"/>
              <p:nvPr/>
            </p:nvSpPr>
            <p:spPr>
              <a:xfrm>
                <a:off x="8133411" y="797510"/>
                <a:ext cx="3632794" cy="5632311"/>
              </a:xfrm>
              <a:prstGeom prst="rect">
                <a:avLst/>
              </a:prstGeom>
              <a:noFill/>
            </p:spPr>
            <p:txBody>
              <a:bodyPr wrap="square" rtlCol="0">
                <a:spAutoFit/>
              </a:bodyPr>
              <a:lstStyle/>
              <a:p>
                <a:r>
                  <a:rPr lang="en-US" sz="2400" b="1" dirty="0"/>
                  <a:t>Goal</a:t>
                </a:r>
                <a:r>
                  <a:rPr lang="en-US" sz="2400" dirty="0"/>
                  <a:t>: Predict </a:t>
                </a:r>
                <a14:m>
                  <m:oMath xmlns:m="http://schemas.openxmlformats.org/officeDocument/2006/math">
                    <m:r>
                      <a:rPr lang="en-US" sz="2400" i="1" dirty="0" smtClean="0">
                        <a:latin typeface="Cambria Math" panose="02040503050406030204" pitchFamily="18" charset="0"/>
                      </a:rPr>
                      <m:t>𝑦</m:t>
                    </m:r>
                  </m:oMath>
                </a14:m>
                <a:r>
                  <a:rPr lang="en-US" sz="2400" dirty="0"/>
                  <a:t> with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𝑥</m:t>
                        </m:r>
                      </m:e>
                      <m:sub>
                        <m:r>
                          <a:rPr lang="en-US" sz="2400" i="1" dirty="0" smtClean="0">
                            <a:latin typeface="Cambria Math" panose="02040503050406030204" pitchFamily="18" charset="0"/>
                          </a:rPr>
                          <m:t>1</m:t>
                        </m:r>
                      </m:sub>
                    </m:sSub>
                  </m:oMath>
                </a14:m>
                <a:r>
                  <a:rPr lang="en-US" sz="2400" dirty="0"/>
                  <a:t> only</a:t>
                </a:r>
              </a:p>
              <a:p>
                <a:endParaRPr lang="en-US" sz="2400" dirty="0"/>
              </a:p>
              <a:p>
                <a:r>
                  <a:rPr lang="en-US" sz="2400" dirty="0"/>
                  <a:t>From a </a:t>
                </a:r>
                <a:r>
                  <a:rPr lang="en-US" sz="2400" u="sng" dirty="0"/>
                  <a:t>graphical</a:t>
                </a:r>
                <a:r>
                  <a:rPr lang="en-US" sz="2400" dirty="0"/>
                  <a:t> perspective, our goal is to get as close as possible to </a:t>
                </a:r>
                <a14:m>
                  <m:oMath xmlns:m="http://schemas.openxmlformats.org/officeDocument/2006/math">
                    <m:r>
                      <a:rPr lang="en-US" sz="2400" i="1" dirty="0" smtClean="0">
                        <a:latin typeface="Cambria Math" panose="02040503050406030204" pitchFamily="18" charset="0"/>
                      </a:rPr>
                      <m:t>𝑦</m:t>
                    </m:r>
                  </m:oMath>
                </a14:m>
                <a:r>
                  <a:rPr lang="en-US" sz="2400" dirty="0"/>
                  <a:t>, but we can only move in the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𝑥</m:t>
                        </m:r>
                      </m:e>
                      <m:sub>
                        <m:r>
                          <a:rPr lang="en-US" sz="2400" i="1" dirty="0" smtClean="0">
                            <a:latin typeface="Cambria Math" panose="02040503050406030204" pitchFamily="18" charset="0"/>
                          </a:rPr>
                          <m:t>1</m:t>
                        </m:r>
                      </m:sub>
                    </m:sSub>
                  </m:oMath>
                </a14:m>
                <a:r>
                  <a:rPr lang="en-US" sz="2400" dirty="0"/>
                  <a:t> direction</a:t>
                </a:r>
              </a:p>
              <a:p>
                <a:endParaRPr lang="en-US" sz="2400" dirty="0"/>
              </a:p>
              <a:p>
                <a:r>
                  <a:rPr lang="en-US" sz="2400" dirty="0"/>
                  <a:t>---------------------------------</a:t>
                </a:r>
              </a:p>
              <a:p>
                <a:endParaRPr lang="en-US" sz="2400" dirty="0"/>
              </a:p>
              <a:p>
                <a:r>
                  <a:rPr lang="en-US" sz="2400" i="1" dirty="0"/>
                  <a:t>p &lt; n</a:t>
                </a:r>
              </a:p>
              <a:p>
                <a:endParaRPr lang="en-US" sz="2400" i="1" dirty="0"/>
              </a:p>
              <a:p>
                <a:r>
                  <a:rPr lang="en-US" sz="2400" dirty="0"/>
                  <a:t>More patients than predictors.</a:t>
                </a:r>
              </a:p>
            </p:txBody>
          </p:sp>
        </mc:Choice>
        <mc:Fallback>
          <p:sp>
            <p:nvSpPr>
              <p:cNvPr id="2" name="TextBox 1">
                <a:extLst>
                  <a:ext uri="{FF2B5EF4-FFF2-40B4-BE49-F238E27FC236}">
                    <a16:creationId xmlns:a16="http://schemas.microsoft.com/office/drawing/2014/main" id="{E70248FE-0F5C-DF40-90AE-52A9574AF457}"/>
                  </a:ext>
                </a:extLst>
              </p:cNvPr>
              <p:cNvSpPr txBox="1">
                <a:spLocks noRot="1" noChangeAspect="1" noMove="1" noResize="1" noEditPoints="1" noAdjustHandles="1" noChangeArrowheads="1" noChangeShapeType="1" noTextEdit="1"/>
              </p:cNvSpPr>
              <p:nvPr/>
            </p:nvSpPr>
            <p:spPr>
              <a:xfrm>
                <a:off x="8133411" y="797510"/>
                <a:ext cx="3632794" cy="5632311"/>
              </a:xfrm>
              <a:prstGeom prst="rect">
                <a:avLst/>
              </a:prstGeom>
              <a:blipFill>
                <a:blip r:embed="rId4"/>
                <a:stretch>
                  <a:fillRect l="-2439" t="-674" r="-3833" b="-1573"/>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342ABD36-194A-4845-ACC0-DB67A78D68D5}"/>
              </a:ext>
            </a:extLst>
          </p:cNvPr>
          <p:cNvCxnSpPr>
            <a:cxnSpLocks/>
          </p:cNvCxnSpPr>
          <p:nvPr/>
        </p:nvCxnSpPr>
        <p:spPr>
          <a:xfrm flipV="1">
            <a:off x="683568" y="-147145"/>
            <a:ext cx="3775442" cy="7083973"/>
          </a:xfrm>
          <a:prstGeom prst="straightConnector1">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1220022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Arrow Connector 13">
            <a:extLst>
              <a:ext uri="{FF2B5EF4-FFF2-40B4-BE49-F238E27FC236}">
                <a16:creationId xmlns:a16="http://schemas.microsoft.com/office/drawing/2014/main" id="{CAFC6370-769D-8048-ACB8-E08819D57620}"/>
              </a:ext>
            </a:extLst>
          </p:cNvPr>
          <p:cNvCxnSpPr>
            <a:cxnSpLocks/>
          </p:cNvCxnSpPr>
          <p:nvPr/>
        </p:nvCxnSpPr>
        <p:spPr>
          <a:xfrm>
            <a:off x="814550" y="2680137"/>
            <a:ext cx="6858001" cy="0"/>
          </a:xfrm>
          <a:prstGeom prst="straightConnector1">
            <a:avLst/>
          </a:prstGeom>
          <a:ln w="57150" cap="flat" cmpd="sng" algn="ctr">
            <a:solidFill>
              <a:schemeClr val="bg2">
                <a:lumMod val="9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Straight Arrow Connector 5">
            <a:extLst>
              <a:ext uri="{FF2B5EF4-FFF2-40B4-BE49-F238E27FC236}">
                <a16:creationId xmlns:a16="http://schemas.microsoft.com/office/drawing/2014/main" id="{AB936B2F-878E-8F4C-AB56-5FEB6CB714C2}"/>
              </a:ext>
            </a:extLst>
          </p:cNvPr>
          <p:cNvCxnSpPr>
            <a:cxnSpLocks/>
          </p:cNvCxnSpPr>
          <p:nvPr/>
        </p:nvCxnSpPr>
        <p:spPr>
          <a:xfrm flipV="1">
            <a:off x="1072053" y="457200"/>
            <a:ext cx="0" cy="5943600"/>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Straight Arrow Connector 14">
            <a:extLst>
              <a:ext uri="{FF2B5EF4-FFF2-40B4-BE49-F238E27FC236}">
                <a16:creationId xmlns:a16="http://schemas.microsoft.com/office/drawing/2014/main" id="{50FAD106-4756-3649-A17D-1F0040AEFC5E}"/>
              </a:ext>
            </a:extLst>
          </p:cNvPr>
          <p:cNvCxnSpPr>
            <a:cxnSpLocks/>
          </p:cNvCxnSpPr>
          <p:nvPr/>
        </p:nvCxnSpPr>
        <p:spPr>
          <a:xfrm flipV="1">
            <a:off x="4750675" y="457200"/>
            <a:ext cx="0" cy="5943602"/>
          </a:xfrm>
          <a:prstGeom prst="straightConnector1">
            <a:avLst/>
          </a:prstGeom>
          <a:ln w="57150" cap="flat" cmpd="sng" algn="ctr">
            <a:solidFill>
              <a:schemeClr val="bg2">
                <a:lumMod val="9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 name="Straight Arrow Connector 4">
            <a:extLst>
              <a:ext uri="{FF2B5EF4-FFF2-40B4-BE49-F238E27FC236}">
                <a16:creationId xmlns:a16="http://schemas.microsoft.com/office/drawing/2014/main" id="{FB4D6A3A-0477-0A4D-B067-3381D298E7F6}"/>
              </a:ext>
            </a:extLst>
          </p:cNvPr>
          <p:cNvCxnSpPr>
            <a:cxnSpLocks/>
          </p:cNvCxnSpPr>
          <p:nvPr/>
        </p:nvCxnSpPr>
        <p:spPr>
          <a:xfrm>
            <a:off x="814550" y="6174827"/>
            <a:ext cx="6858001" cy="0"/>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TextBox 18">
            <a:extLst>
              <a:ext uri="{FF2B5EF4-FFF2-40B4-BE49-F238E27FC236}">
                <a16:creationId xmlns:a16="http://schemas.microsoft.com/office/drawing/2014/main" id="{5AC171B1-C392-AC4A-9C16-6A02DDA9C2CD}"/>
              </a:ext>
            </a:extLst>
          </p:cNvPr>
          <p:cNvSpPr txBox="1"/>
          <p:nvPr/>
        </p:nvSpPr>
        <p:spPr>
          <a:xfrm>
            <a:off x="478703" y="2495471"/>
            <a:ext cx="301686" cy="369332"/>
          </a:xfrm>
          <a:prstGeom prst="rect">
            <a:avLst/>
          </a:prstGeom>
          <a:noFill/>
        </p:spPr>
        <p:txBody>
          <a:bodyPr wrap="none" rtlCol="0">
            <a:spAutoFit/>
          </a:bodyPr>
          <a:lstStyle/>
          <a:p>
            <a:r>
              <a:rPr lang="en-US" dirty="0"/>
              <a:t>1</a:t>
            </a:r>
          </a:p>
        </p:txBody>
      </p:sp>
      <p:sp>
        <p:nvSpPr>
          <p:cNvPr id="20" name="TextBox 19">
            <a:extLst>
              <a:ext uri="{FF2B5EF4-FFF2-40B4-BE49-F238E27FC236}">
                <a16:creationId xmlns:a16="http://schemas.microsoft.com/office/drawing/2014/main" id="{8BA9D229-E53B-FE45-BE3E-BE0719210243}"/>
              </a:ext>
            </a:extLst>
          </p:cNvPr>
          <p:cNvSpPr txBox="1"/>
          <p:nvPr/>
        </p:nvSpPr>
        <p:spPr>
          <a:xfrm>
            <a:off x="4599832" y="6411310"/>
            <a:ext cx="301686" cy="369332"/>
          </a:xfrm>
          <a:prstGeom prst="rect">
            <a:avLst/>
          </a:prstGeom>
          <a:noFill/>
        </p:spPr>
        <p:txBody>
          <a:bodyPr wrap="none" rtlCol="0">
            <a:spAutoFit/>
          </a:bodyPr>
          <a:lstStyle/>
          <a:p>
            <a:r>
              <a:rPr lang="en-US" dirty="0"/>
              <a:t>1</a:t>
            </a:r>
          </a:p>
        </p:txBody>
      </p:sp>
      <p:sp>
        <p:nvSpPr>
          <p:cNvPr id="21" name="TextBox 20">
            <a:extLst>
              <a:ext uri="{FF2B5EF4-FFF2-40B4-BE49-F238E27FC236}">
                <a16:creationId xmlns:a16="http://schemas.microsoft.com/office/drawing/2014/main" id="{6826FFB4-8362-354D-B88B-C3DDA574DEE0}"/>
              </a:ext>
            </a:extLst>
          </p:cNvPr>
          <p:cNvSpPr txBox="1"/>
          <p:nvPr/>
        </p:nvSpPr>
        <p:spPr>
          <a:xfrm>
            <a:off x="5847628" y="6395545"/>
            <a:ext cx="1824923" cy="369332"/>
          </a:xfrm>
          <a:prstGeom prst="rect">
            <a:avLst/>
          </a:prstGeom>
          <a:noFill/>
        </p:spPr>
        <p:txBody>
          <a:bodyPr wrap="none" rtlCol="0">
            <a:spAutoFit/>
          </a:bodyPr>
          <a:lstStyle/>
          <a:p>
            <a:r>
              <a:rPr lang="en-US" dirty="0"/>
              <a:t>value in patient A</a:t>
            </a:r>
          </a:p>
        </p:txBody>
      </p:sp>
      <p:sp>
        <p:nvSpPr>
          <p:cNvPr id="22" name="TextBox 21">
            <a:extLst>
              <a:ext uri="{FF2B5EF4-FFF2-40B4-BE49-F238E27FC236}">
                <a16:creationId xmlns:a16="http://schemas.microsoft.com/office/drawing/2014/main" id="{72A72548-DFC5-8047-BC30-A7D8611F3A6F}"/>
              </a:ext>
            </a:extLst>
          </p:cNvPr>
          <p:cNvSpPr txBox="1"/>
          <p:nvPr/>
        </p:nvSpPr>
        <p:spPr>
          <a:xfrm rot="16200000">
            <a:off x="-278570" y="1161861"/>
            <a:ext cx="1816908" cy="369332"/>
          </a:xfrm>
          <a:prstGeom prst="rect">
            <a:avLst/>
          </a:prstGeom>
          <a:noFill/>
        </p:spPr>
        <p:txBody>
          <a:bodyPr wrap="none" rtlCol="0">
            <a:spAutoFit/>
          </a:bodyPr>
          <a:lstStyle/>
          <a:p>
            <a:r>
              <a:rPr lang="en-US" dirty="0"/>
              <a:t>value in patient B</a:t>
            </a:r>
          </a:p>
        </p:txBody>
      </p:sp>
      <p:sp>
        <p:nvSpPr>
          <p:cNvPr id="23" name="Oval 22">
            <a:extLst>
              <a:ext uri="{FF2B5EF4-FFF2-40B4-BE49-F238E27FC236}">
                <a16:creationId xmlns:a16="http://schemas.microsoft.com/office/drawing/2014/main" id="{EBE7D6A1-E716-AA4D-9A87-8791A9665575}"/>
              </a:ext>
            </a:extLst>
          </p:cNvPr>
          <p:cNvSpPr/>
          <p:nvPr/>
        </p:nvSpPr>
        <p:spPr>
          <a:xfrm>
            <a:off x="6516771" y="1749970"/>
            <a:ext cx="136635" cy="1366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09F560A-2706-3F4B-BA5C-323CD99C0794}"/>
                  </a:ext>
                </a:extLst>
              </p:cNvPr>
              <p:cNvSpPr txBox="1"/>
              <p:nvPr/>
            </p:nvSpPr>
            <p:spPr>
              <a:xfrm>
                <a:off x="6674428" y="1633621"/>
                <a:ext cx="37138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𝑦</m:t>
                      </m:r>
                    </m:oMath>
                  </m:oMathPara>
                </a14:m>
                <a:endParaRPr lang="en-US" dirty="0"/>
              </a:p>
            </p:txBody>
          </p:sp>
        </mc:Choice>
        <mc:Fallback xmlns="">
          <p:sp>
            <p:nvSpPr>
              <p:cNvPr id="24" name="TextBox 23">
                <a:extLst>
                  <a:ext uri="{FF2B5EF4-FFF2-40B4-BE49-F238E27FC236}">
                    <a16:creationId xmlns:a16="http://schemas.microsoft.com/office/drawing/2014/main" id="{F09F560A-2706-3F4B-BA5C-323CD99C0794}"/>
                  </a:ext>
                </a:extLst>
              </p:cNvPr>
              <p:cNvSpPr txBox="1">
                <a:spLocks noRot="1" noChangeAspect="1" noMove="1" noResize="1" noEditPoints="1" noAdjustHandles="1" noChangeArrowheads="1" noChangeShapeType="1" noTextEdit="1"/>
              </p:cNvSpPr>
              <p:nvPr/>
            </p:nvSpPr>
            <p:spPr>
              <a:xfrm>
                <a:off x="6674428" y="1633621"/>
                <a:ext cx="371384" cy="369332"/>
              </a:xfrm>
              <a:prstGeom prst="rect">
                <a:avLst/>
              </a:prstGeom>
              <a:blipFill>
                <a:blip r:embed="rId2"/>
                <a:stretch>
                  <a:fillRect b="-6667"/>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D08B0905-1745-2E45-AED5-8AA514EEA5A8}"/>
              </a:ext>
            </a:extLst>
          </p:cNvPr>
          <p:cNvCxnSpPr>
            <a:cxnSpLocks/>
          </p:cNvCxnSpPr>
          <p:nvPr/>
        </p:nvCxnSpPr>
        <p:spPr>
          <a:xfrm flipV="1">
            <a:off x="1072053" y="2680137"/>
            <a:ext cx="1849823" cy="3494689"/>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C06056C-D3AA-904F-9EA3-D919CB1616CA}"/>
                  </a:ext>
                </a:extLst>
              </p:cNvPr>
              <p:cNvSpPr txBox="1"/>
              <p:nvPr/>
            </p:nvSpPr>
            <p:spPr>
              <a:xfrm>
                <a:off x="2230726" y="2735962"/>
                <a:ext cx="46076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oMath>
                  </m:oMathPara>
                </a14:m>
                <a:endParaRPr lang="en-US" dirty="0"/>
              </a:p>
            </p:txBody>
          </p:sp>
        </mc:Choice>
        <mc:Fallback xmlns="">
          <p:sp>
            <p:nvSpPr>
              <p:cNvPr id="16" name="TextBox 15">
                <a:extLst>
                  <a:ext uri="{FF2B5EF4-FFF2-40B4-BE49-F238E27FC236}">
                    <a16:creationId xmlns:a16="http://schemas.microsoft.com/office/drawing/2014/main" id="{9C06056C-D3AA-904F-9EA3-D919CB1616CA}"/>
                  </a:ext>
                </a:extLst>
              </p:cNvPr>
              <p:cNvSpPr txBox="1">
                <a:spLocks noRot="1" noChangeAspect="1" noMove="1" noResize="1" noEditPoints="1" noAdjustHandles="1" noChangeArrowheads="1" noChangeShapeType="1" noTextEdit="1"/>
              </p:cNvSpPr>
              <p:nvPr/>
            </p:nvSpPr>
            <p:spPr>
              <a:xfrm>
                <a:off x="2230726" y="2735962"/>
                <a:ext cx="460767"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70248FE-0F5C-DF40-90AE-52A9574AF457}"/>
                  </a:ext>
                </a:extLst>
              </p:cNvPr>
              <p:cNvSpPr txBox="1"/>
              <p:nvPr/>
            </p:nvSpPr>
            <p:spPr>
              <a:xfrm>
                <a:off x="8144877" y="320456"/>
                <a:ext cx="3632794" cy="6217087"/>
              </a:xfrm>
              <a:prstGeom prst="rect">
                <a:avLst/>
              </a:prstGeom>
              <a:noFill/>
            </p:spPr>
            <p:txBody>
              <a:bodyPr wrap="square" rtlCol="0">
                <a:spAutoFit/>
              </a:bodyPr>
              <a:lstStyle/>
              <a:p>
                <a:r>
                  <a:rPr lang="en-US" sz="2400" b="1" dirty="0"/>
                  <a:t>Goal</a:t>
                </a:r>
                <a:r>
                  <a:rPr lang="en-US" sz="2400" dirty="0"/>
                  <a:t>: Predict </a:t>
                </a:r>
                <a14:m>
                  <m:oMath xmlns:m="http://schemas.openxmlformats.org/officeDocument/2006/math">
                    <m:r>
                      <a:rPr lang="en-US" sz="2400" i="1" dirty="0" smtClean="0">
                        <a:latin typeface="Cambria Math" panose="02040503050406030204" pitchFamily="18" charset="0"/>
                      </a:rPr>
                      <m:t>𝑦</m:t>
                    </m:r>
                  </m:oMath>
                </a14:m>
                <a:r>
                  <a:rPr lang="en-US" sz="2400" dirty="0"/>
                  <a:t> with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𝑥</m:t>
                        </m:r>
                      </m:e>
                      <m:sub>
                        <m:r>
                          <a:rPr lang="en-US" sz="2400" i="1" dirty="0" smtClean="0">
                            <a:latin typeface="Cambria Math" panose="02040503050406030204" pitchFamily="18" charset="0"/>
                          </a:rPr>
                          <m:t>1</m:t>
                        </m:r>
                      </m:sub>
                    </m:sSub>
                  </m:oMath>
                </a14:m>
                <a:r>
                  <a:rPr lang="en-US" sz="2400" dirty="0"/>
                  <a:t>,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𝑥</m:t>
                        </m:r>
                      </m:e>
                      <m:sub>
                        <m:r>
                          <a:rPr lang="en-US" sz="2400" i="1" dirty="0" smtClean="0">
                            <a:latin typeface="Cambria Math" panose="02040503050406030204" pitchFamily="18" charset="0"/>
                          </a:rPr>
                          <m:t>2</m:t>
                        </m:r>
                      </m:sub>
                    </m:sSub>
                  </m:oMath>
                </a14:m>
                <a:endParaRPr lang="en-US" sz="2400" dirty="0"/>
              </a:p>
              <a:p>
                <a:endParaRPr lang="en-US" sz="2400" dirty="0"/>
              </a:p>
              <a:p>
                <a:r>
                  <a:rPr lang="en-US" sz="2400" dirty="0"/>
                  <a:t>From a </a:t>
                </a:r>
                <a:r>
                  <a:rPr lang="en-US" sz="2400" u="sng" dirty="0"/>
                  <a:t>graphical</a:t>
                </a:r>
                <a:r>
                  <a:rPr lang="en-US" sz="2400" dirty="0"/>
                  <a:t> perspective, our goal is to get as close as possible to </a:t>
                </a:r>
                <a14:m>
                  <m:oMath xmlns:m="http://schemas.openxmlformats.org/officeDocument/2006/math">
                    <m:r>
                      <a:rPr lang="en-US" sz="2400" i="1" dirty="0" smtClean="0">
                        <a:latin typeface="Cambria Math" panose="02040503050406030204" pitchFamily="18" charset="0"/>
                      </a:rPr>
                      <m:t>𝑦</m:t>
                    </m:r>
                  </m:oMath>
                </a14:m>
                <a:r>
                  <a:rPr lang="en-US" sz="2400" dirty="0"/>
                  <a:t>. We can now move in both the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𝑥</m:t>
                        </m:r>
                      </m:e>
                      <m:sub>
                        <m:r>
                          <a:rPr lang="en-US" sz="2400" i="1" dirty="0" smtClean="0">
                            <a:latin typeface="Cambria Math" panose="02040503050406030204" pitchFamily="18" charset="0"/>
                          </a:rPr>
                          <m:t>1</m:t>
                        </m:r>
                      </m:sub>
                    </m:sSub>
                  </m:oMath>
                </a14:m>
                <a:r>
                  <a:rPr lang="en-US" sz="2400" dirty="0"/>
                  <a:t> direction and the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𝑥</m:t>
                        </m:r>
                      </m:e>
                      <m:sub>
                        <m:r>
                          <a:rPr lang="en-US" sz="2400" i="1" dirty="0" smtClean="0">
                            <a:latin typeface="Cambria Math" panose="02040503050406030204" pitchFamily="18" charset="0"/>
                          </a:rPr>
                          <m:t>2</m:t>
                        </m:r>
                      </m:sub>
                    </m:sSub>
                  </m:oMath>
                </a14:m>
                <a:r>
                  <a:rPr lang="en-US" sz="2400" dirty="0"/>
                  <a:t> direction.</a:t>
                </a:r>
              </a:p>
              <a:p>
                <a:endParaRPr lang="en-US" sz="2400" dirty="0"/>
              </a:p>
              <a:p>
                <a:r>
                  <a:rPr lang="en-US" sz="2400" dirty="0"/>
                  <a:t>---------------------------------</a:t>
                </a:r>
              </a:p>
              <a:p>
                <a:endParaRPr lang="en-US" sz="2400" dirty="0"/>
              </a:p>
              <a:p>
                <a:r>
                  <a:rPr lang="en-US" sz="2400" i="1" dirty="0"/>
                  <a:t>p = n</a:t>
                </a:r>
              </a:p>
              <a:p>
                <a:endParaRPr lang="en-US" sz="2400" i="1" dirty="0"/>
              </a:p>
              <a:p>
                <a:r>
                  <a:rPr lang="en-US" sz="2400" dirty="0"/>
                  <a:t>Can always* predict perfectly on training set</a:t>
                </a:r>
              </a:p>
              <a:p>
                <a:endParaRPr lang="en-US" sz="2400" dirty="0"/>
              </a:p>
              <a:p>
                <a:r>
                  <a:rPr lang="en-US" sz="1400" dirty="0"/>
                  <a:t>*assuming linearly independent predictors</a:t>
                </a:r>
              </a:p>
            </p:txBody>
          </p:sp>
        </mc:Choice>
        <mc:Fallback>
          <p:sp>
            <p:nvSpPr>
              <p:cNvPr id="2" name="TextBox 1">
                <a:extLst>
                  <a:ext uri="{FF2B5EF4-FFF2-40B4-BE49-F238E27FC236}">
                    <a16:creationId xmlns:a16="http://schemas.microsoft.com/office/drawing/2014/main" id="{E70248FE-0F5C-DF40-90AE-52A9574AF457}"/>
                  </a:ext>
                </a:extLst>
              </p:cNvPr>
              <p:cNvSpPr txBox="1">
                <a:spLocks noRot="1" noChangeAspect="1" noMove="1" noResize="1" noEditPoints="1" noAdjustHandles="1" noChangeArrowheads="1" noChangeShapeType="1" noTextEdit="1"/>
              </p:cNvSpPr>
              <p:nvPr/>
            </p:nvSpPr>
            <p:spPr>
              <a:xfrm>
                <a:off x="8144877" y="320456"/>
                <a:ext cx="3632794" cy="6217087"/>
              </a:xfrm>
              <a:prstGeom prst="rect">
                <a:avLst/>
              </a:prstGeom>
              <a:blipFill>
                <a:blip r:embed="rId4"/>
                <a:stretch>
                  <a:fillRect l="-2787" t="-816" r="-3833" b="-204"/>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3A687091-FAD6-4B45-A717-C07972C788A5}"/>
              </a:ext>
            </a:extLst>
          </p:cNvPr>
          <p:cNvCxnSpPr>
            <a:cxnSpLocks/>
          </p:cNvCxnSpPr>
          <p:nvPr/>
        </p:nvCxnSpPr>
        <p:spPr>
          <a:xfrm flipV="1">
            <a:off x="1072052" y="3552497"/>
            <a:ext cx="2680141" cy="2622330"/>
          </a:xfrm>
          <a:prstGeom prst="straightConnector1">
            <a:avLst/>
          </a:prstGeom>
          <a:ln w="571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A1239A63-17C4-3545-ABD3-D239183490DB}"/>
              </a:ext>
            </a:extLst>
          </p:cNvPr>
          <p:cNvCxnSpPr>
            <a:cxnSpLocks/>
          </p:cNvCxnSpPr>
          <p:nvPr/>
        </p:nvCxnSpPr>
        <p:spPr>
          <a:xfrm flipV="1">
            <a:off x="683568" y="-147145"/>
            <a:ext cx="3775442" cy="7083973"/>
          </a:xfrm>
          <a:prstGeom prst="straightConnector1">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Straight Arrow Connector 24">
            <a:extLst>
              <a:ext uri="{FF2B5EF4-FFF2-40B4-BE49-F238E27FC236}">
                <a16:creationId xmlns:a16="http://schemas.microsoft.com/office/drawing/2014/main" id="{5AF9F9E2-2C11-854D-918B-855A1EF6C88C}"/>
              </a:ext>
            </a:extLst>
          </p:cNvPr>
          <p:cNvCxnSpPr>
            <a:cxnSpLocks/>
          </p:cNvCxnSpPr>
          <p:nvPr/>
        </p:nvCxnSpPr>
        <p:spPr>
          <a:xfrm flipV="1">
            <a:off x="304395" y="-147146"/>
            <a:ext cx="7242033" cy="7083974"/>
          </a:xfrm>
          <a:prstGeom prst="straightConnector1">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5AEAD62-F295-BF47-95F0-9696D4B73DBE}"/>
                  </a:ext>
                </a:extLst>
              </p:cNvPr>
              <p:cNvSpPr txBox="1"/>
              <p:nvPr/>
            </p:nvSpPr>
            <p:spPr>
              <a:xfrm>
                <a:off x="3289941" y="3920780"/>
                <a:ext cx="4660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oMath>
                  </m:oMathPara>
                </a14:m>
                <a:endParaRPr lang="en-US" dirty="0"/>
              </a:p>
            </p:txBody>
          </p:sp>
        </mc:Choice>
        <mc:Fallback xmlns="">
          <p:sp>
            <p:nvSpPr>
              <p:cNvPr id="26" name="TextBox 25">
                <a:extLst>
                  <a:ext uri="{FF2B5EF4-FFF2-40B4-BE49-F238E27FC236}">
                    <a16:creationId xmlns:a16="http://schemas.microsoft.com/office/drawing/2014/main" id="{05AEAD62-F295-BF47-95F0-9696D4B73DBE}"/>
                  </a:ext>
                </a:extLst>
              </p:cNvPr>
              <p:cNvSpPr txBox="1">
                <a:spLocks noRot="1" noChangeAspect="1" noMove="1" noResize="1" noEditPoints="1" noAdjustHandles="1" noChangeArrowheads="1" noChangeShapeType="1" noTextEdit="1"/>
              </p:cNvSpPr>
              <p:nvPr/>
            </p:nvSpPr>
            <p:spPr>
              <a:xfrm>
                <a:off x="3289941" y="3920780"/>
                <a:ext cx="466090" cy="36933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43668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Arrow Connector 13">
            <a:extLst>
              <a:ext uri="{FF2B5EF4-FFF2-40B4-BE49-F238E27FC236}">
                <a16:creationId xmlns:a16="http://schemas.microsoft.com/office/drawing/2014/main" id="{CAFC6370-769D-8048-ACB8-E08819D57620}"/>
              </a:ext>
            </a:extLst>
          </p:cNvPr>
          <p:cNvCxnSpPr>
            <a:cxnSpLocks/>
          </p:cNvCxnSpPr>
          <p:nvPr/>
        </p:nvCxnSpPr>
        <p:spPr>
          <a:xfrm>
            <a:off x="814550" y="2680137"/>
            <a:ext cx="6858001" cy="0"/>
          </a:xfrm>
          <a:prstGeom prst="straightConnector1">
            <a:avLst/>
          </a:prstGeom>
          <a:ln w="57150" cap="flat" cmpd="sng" algn="ctr">
            <a:solidFill>
              <a:schemeClr val="bg2">
                <a:lumMod val="9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Straight Arrow Connector 5">
            <a:extLst>
              <a:ext uri="{FF2B5EF4-FFF2-40B4-BE49-F238E27FC236}">
                <a16:creationId xmlns:a16="http://schemas.microsoft.com/office/drawing/2014/main" id="{AB936B2F-878E-8F4C-AB56-5FEB6CB714C2}"/>
              </a:ext>
            </a:extLst>
          </p:cNvPr>
          <p:cNvCxnSpPr>
            <a:cxnSpLocks/>
          </p:cNvCxnSpPr>
          <p:nvPr/>
        </p:nvCxnSpPr>
        <p:spPr>
          <a:xfrm flipV="1">
            <a:off x="1072053" y="457200"/>
            <a:ext cx="0" cy="5943600"/>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Straight Arrow Connector 14">
            <a:extLst>
              <a:ext uri="{FF2B5EF4-FFF2-40B4-BE49-F238E27FC236}">
                <a16:creationId xmlns:a16="http://schemas.microsoft.com/office/drawing/2014/main" id="{50FAD106-4756-3649-A17D-1F0040AEFC5E}"/>
              </a:ext>
            </a:extLst>
          </p:cNvPr>
          <p:cNvCxnSpPr>
            <a:cxnSpLocks/>
          </p:cNvCxnSpPr>
          <p:nvPr/>
        </p:nvCxnSpPr>
        <p:spPr>
          <a:xfrm flipV="1">
            <a:off x="4750675" y="457200"/>
            <a:ext cx="0" cy="5943602"/>
          </a:xfrm>
          <a:prstGeom prst="straightConnector1">
            <a:avLst/>
          </a:prstGeom>
          <a:ln w="57150" cap="flat" cmpd="sng" algn="ctr">
            <a:solidFill>
              <a:schemeClr val="bg2">
                <a:lumMod val="9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 name="Straight Arrow Connector 4">
            <a:extLst>
              <a:ext uri="{FF2B5EF4-FFF2-40B4-BE49-F238E27FC236}">
                <a16:creationId xmlns:a16="http://schemas.microsoft.com/office/drawing/2014/main" id="{FB4D6A3A-0477-0A4D-B067-3381D298E7F6}"/>
              </a:ext>
            </a:extLst>
          </p:cNvPr>
          <p:cNvCxnSpPr>
            <a:cxnSpLocks/>
          </p:cNvCxnSpPr>
          <p:nvPr/>
        </p:nvCxnSpPr>
        <p:spPr>
          <a:xfrm>
            <a:off x="814550" y="6174827"/>
            <a:ext cx="6858001" cy="0"/>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TextBox 18">
            <a:extLst>
              <a:ext uri="{FF2B5EF4-FFF2-40B4-BE49-F238E27FC236}">
                <a16:creationId xmlns:a16="http://schemas.microsoft.com/office/drawing/2014/main" id="{5AC171B1-C392-AC4A-9C16-6A02DDA9C2CD}"/>
              </a:ext>
            </a:extLst>
          </p:cNvPr>
          <p:cNvSpPr txBox="1"/>
          <p:nvPr/>
        </p:nvSpPr>
        <p:spPr>
          <a:xfrm>
            <a:off x="478703" y="2495471"/>
            <a:ext cx="301686" cy="369332"/>
          </a:xfrm>
          <a:prstGeom prst="rect">
            <a:avLst/>
          </a:prstGeom>
          <a:noFill/>
        </p:spPr>
        <p:txBody>
          <a:bodyPr wrap="none" rtlCol="0">
            <a:spAutoFit/>
          </a:bodyPr>
          <a:lstStyle/>
          <a:p>
            <a:r>
              <a:rPr lang="en-US" dirty="0"/>
              <a:t>1</a:t>
            </a:r>
          </a:p>
        </p:txBody>
      </p:sp>
      <p:sp>
        <p:nvSpPr>
          <p:cNvPr id="20" name="TextBox 19">
            <a:extLst>
              <a:ext uri="{FF2B5EF4-FFF2-40B4-BE49-F238E27FC236}">
                <a16:creationId xmlns:a16="http://schemas.microsoft.com/office/drawing/2014/main" id="{8BA9D229-E53B-FE45-BE3E-BE0719210243}"/>
              </a:ext>
            </a:extLst>
          </p:cNvPr>
          <p:cNvSpPr txBox="1"/>
          <p:nvPr/>
        </p:nvSpPr>
        <p:spPr>
          <a:xfrm>
            <a:off x="4599832" y="6411310"/>
            <a:ext cx="301686" cy="369332"/>
          </a:xfrm>
          <a:prstGeom prst="rect">
            <a:avLst/>
          </a:prstGeom>
          <a:noFill/>
        </p:spPr>
        <p:txBody>
          <a:bodyPr wrap="none" rtlCol="0">
            <a:spAutoFit/>
          </a:bodyPr>
          <a:lstStyle/>
          <a:p>
            <a:r>
              <a:rPr lang="en-US" dirty="0"/>
              <a:t>1</a:t>
            </a:r>
          </a:p>
        </p:txBody>
      </p:sp>
      <p:sp>
        <p:nvSpPr>
          <p:cNvPr id="21" name="TextBox 20">
            <a:extLst>
              <a:ext uri="{FF2B5EF4-FFF2-40B4-BE49-F238E27FC236}">
                <a16:creationId xmlns:a16="http://schemas.microsoft.com/office/drawing/2014/main" id="{6826FFB4-8362-354D-B88B-C3DDA574DEE0}"/>
              </a:ext>
            </a:extLst>
          </p:cNvPr>
          <p:cNvSpPr txBox="1"/>
          <p:nvPr/>
        </p:nvSpPr>
        <p:spPr>
          <a:xfrm>
            <a:off x="5847628" y="6395545"/>
            <a:ext cx="1824923" cy="369332"/>
          </a:xfrm>
          <a:prstGeom prst="rect">
            <a:avLst/>
          </a:prstGeom>
          <a:noFill/>
        </p:spPr>
        <p:txBody>
          <a:bodyPr wrap="none" rtlCol="0">
            <a:spAutoFit/>
          </a:bodyPr>
          <a:lstStyle/>
          <a:p>
            <a:r>
              <a:rPr lang="en-US" dirty="0"/>
              <a:t>value in patient A</a:t>
            </a:r>
          </a:p>
        </p:txBody>
      </p:sp>
      <p:sp>
        <p:nvSpPr>
          <p:cNvPr id="22" name="TextBox 21">
            <a:extLst>
              <a:ext uri="{FF2B5EF4-FFF2-40B4-BE49-F238E27FC236}">
                <a16:creationId xmlns:a16="http://schemas.microsoft.com/office/drawing/2014/main" id="{72A72548-DFC5-8047-BC30-A7D8611F3A6F}"/>
              </a:ext>
            </a:extLst>
          </p:cNvPr>
          <p:cNvSpPr txBox="1"/>
          <p:nvPr/>
        </p:nvSpPr>
        <p:spPr>
          <a:xfrm rot="16200000">
            <a:off x="-278570" y="1161861"/>
            <a:ext cx="1816908" cy="369332"/>
          </a:xfrm>
          <a:prstGeom prst="rect">
            <a:avLst/>
          </a:prstGeom>
          <a:noFill/>
        </p:spPr>
        <p:txBody>
          <a:bodyPr wrap="none" rtlCol="0">
            <a:spAutoFit/>
          </a:bodyPr>
          <a:lstStyle/>
          <a:p>
            <a:r>
              <a:rPr lang="en-US" dirty="0"/>
              <a:t>value in patient B</a:t>
            </a:r>
          </a:p>
        </p:txBody>
      </p:sp>
      <p:sp>
        <p:nvSpPr>
          <p:cNvPr id="23" name="Oval 22">
            <a:extLst>
              <a:ext uri="{FF2B5EF4-FFF2-40B4-BE49-F238E27FC236}">
                <a16:creationId xmlns:a16="http://schemas.microsoft.com/office/drawing/2014/main" id="{EBE7D6A1-E716-AA4D-9A87-8791A9665575}"/>
              </a:ext>
            </a:extLst>
          </p:cNvPr>
          <p:cNvSpPr/>
          <p:nvPr/>
        </p:nvSpPr>
        <p:spPr>
          <a:xfrm>
            <a:off x="6516771" y="1749970"/>
            <a:ext cx="136635" cy="1366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09F560A-2706-3F4B-BA5C-323CD99C0794}"/>
                  </a:ext>
                </a:extLst>
              </p:cNvPr>
              <p:cNvSpPr txBox="1"/>
              <p:nvPr/>
            </p:nvSpPr>
            <p:spPr>
              <a:xfrm>
                <a:off x="6674428" y="1633621"/>
                <a:ext cx="37138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𝑦</m:t>
                      </m:r>
                    </m:oMath>
                  </m:oMathPara>
                </a14:m>
                <a:endParaRPr lang="en-US" dirty="0"/>
              </a:p>
            </p:txBody>
          </p:sp>
        </mc:Choice>
        <mc:Fallback xmlns="">
          <p:sp>
            <p:nvSpPr>
              <p:cNvPr id="24" name="TextBox 23">
                <a:extLst>
                  <a:ext uri="{FF2B5EF4-FFF2-40B4-BE49-F238E27FC236}">
                    <a16:creationId xmlns:a16="http://schemas.microsoft.com/office/drawing/2014/main" id="{F09F560A-2706-3F4B-BA5C-323CD99C0794}"/>
                  </a:ext>
                </a:extLst>
              </p:cNvPr>
              <p:cNvSpPr txBox="1">
                <a:spLocks noRot="1" noChangeAspect="1" noMove="1" noResize="1" noEditPoints="1" noAdjustHandles="1" noChangeArrowheads="1" noChangeShapeType="1" noTextEdit="1"/>
              </p:cNvSpPr>
              <p:nvPr/>
            </p:nvSpPr>
            <p:spPr>
              <a:xfrm>
                <a:off x="6674428" y="1633621"/>
                <a:ext cx="371384" cy="369332"/>
              </a:xfrm>
              <a:prstGeom prst="rect">
                <a:avLst/>
              </a:prstGeom>
              <a:blipFill>
                <a:blip r:embed="rId2"/>
                <a:stretch>
                  <a:fillRect b="-6667"/>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D08B0905-1745-2E45-AED5-8AA514EEA5A8}"/>
              </a:ext>
            </a:extLst>
          </p:cNvPr>
          <p:cNvCxnSpPr>
            <a:cxnSpLocks/>
          </p:cNvCxnSpPr>
          <p:nvPr/>
        </p:nvCxnSpPr>
        <p:spPr>
          <a:xfrm flipV="1">
            <a:off x="1072053" y="2680137"/>
            <a:ext cx="1849823" cy="3494689"/>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C06056C-D3AA-904F-9EA3-D919CB1616CA}"/>
                  </a:ext>
                </a:extLst>
              </p:cNvPr>
              <p:cNvSpPr txBox="1"/>
              <p:nvPr/>
            </p:nvSpPr>
            <p:spPr>
              <a:xfrm>
                <a:off x="2230726" y="2735962"/>
                <a:ext cx="46076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oMath>
                  </m:oMathPara>
                </a14:m>
                <a:endParaRPr lang="en-US" dirty="0"/>
              </a:p>
            </p:txBody>
          </p:sp>
        </mc:Choice>
        <mc:Fallback xmlns="">
          <p:sp>
            <p:nvSpPr>
              <p:cNvPr id="16" name="TextBox 15">
                <a:extLst>
                  <a:ext uri="{FF2B5EF4-FFF2-40B4-BE49-F238E27FC236}">
                    <a16:creationId xmlns:a16="http://schemas.microsoft.com/office/drawing/2014/main" id="{9C06056C-D3AA-904F-9EA3-D919CB1616CA}"/>
                  </a:ext>
                </a:extLst>
              </p:cNvPr>
              <p:cNvSpPr txBox="1">
                <a:spLocks noRot="1" noChangeAspect="1" noMove="1" noResize="1" noEditPoints="1" noAdjustHandles="1" noChangeArrowheads="1" noChangeShapeType="1" noTextEdit="1"/>
              </p:cNvSpPr>
              <p:nvPr/>
            </p:nvSpPr>
            <p:spPr>
              <a:xfrm>
                <a:off x="2230726" y="2735962"/>
                <a:ext cx="460767"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70248FE-0F5C-DF40-90AE-52A9574AF457}"/>
                  </a:ext>
                </a:extLst>
              </p:cNvPr>
              <p:cNvSpPr txBox="1"/>
              <p:nvPr/>
            </p:nvSpPr>
            <p:spPr>
              <a:xfrm>
                <a:off x="8144877" y="320456"/>
                <a:ext cx="3632794" cy="6217087"/>
              </a:xfrm>
              <a:prstGeom prst="rect">
                <a:avLst/>
              </a:prstGeom>
              <a:noFill/>
            </p:spPr>
            <p:txBody>
              <a:bodyPr wrap="square" rtlCol="0">
                <a:spAutoFit/>
              </a:bodyPr>
              <a:lstStyle/>
              <a:p>
                <a:r>
                  <a:rPr lang="en-US" sz="2400" b="1" dirty="0"/>
                  <a:t>Goal</a:t>
                </a:r>
                <a:r>
                  <a:rPr lang="en-US" sz="2400" dirty="0"/>
                  <a:t>: Predict </a:t>
                </a:r>
                <a14:m>
                  <m:oMath xmlns:m="http://schemas.openxmlformats.org/officeDocument/2006/math">
                    <m:r>
                      <a:rPr lang="en-US" sz="2400" i="1" dirty="0" smtClean="0">
                        <a:latin typeface="Cambria Math" panose="02040503050406030204" pitchFamily="18" charset="0"/>
                      </a:rPr>
                      <m:t>𝑦</m:t>
                    </m:r>
                  </m:oMath>
                </a14:m>
                <a:r>
                  <a:rPr lang="en-US" sz="2400" dirty="0"/>
                  <a:t> with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𝑥</m:t>
                        </m:r>
                      </m:e>
                      <m:sub>
                        <m:r>
                          <a:rPr lang="en-US" sz="2400" i="1" dirty="0" smtClean="0">
                            <a:latin typeface="Cambria Math" panose="02040503050406030204" pitchFamily="18" charset="0"/>
                          </a:rPr>
                          <m:t>1</m:t>
                        </m:r>
                      </m:sub>
                    </m:sSub>
                  </m:oMath>
                </a14:m>
                <a:r>
                  <a:rPr lang="en-US" sz="2400" dirty="0"/>
                  <a:t>,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𝑥</m:t>
                        </m:r>
                      </m:e>
                      <m:sub>
                        <m:r>
                          <a:rPr lang="en-US" sz="2400" i="1" dirty="0" smtClean="0">
                            <a:latin typeface="Cambria Math" panose="02040503050406030204" pitchFamily="18" charset="0"/>
                          </a:rPr>
                          <m:t>2</m:t>
                        </m:r>
                      </m:sub>
                    </m:sSub>
                  </m:oMath>
                </a14:m>
                <a:endParaRPr lang="en-US" sz="2400" dirty="0"/>
              </a:p>
              <a:p>
                <a:endParaRPr lang="en-US" sz="2400" dirty="0"/>
              </a:p>
              <a:p>
                <a:r>
                  <a:rPr lang="en-US" sz="2400" dirty="0"/>
                  <a:t>From a </a:t>
                </a:r>
                <a:r>
                  <a:rPr lang="en-US" sz="2400" u="sng" dirty="0"/>
                  <a:t>graphical</a:t>
                </a:r>
                <a:r>
                  <a:rPr lang="en-US" sz="2400" dirty="0"/>
                  <a:t> perspective, our goal is to get as close as possible to </a:t>
                </a:r>
                <a14:m>
                  <m:oMath xmlns:m="http://schemas.openxmlformats.org/officeDocument/2006/math">
                    <m:r>
                      <a:rPr lang="en-US" sz="2400" i="1" dirty="0" smtClean="0">
                        <a:latin typeface="Cambria Math" panose="02040503050406030204" pitchFamily="18" charset="0"/>
                      </a:rPr>
                      <m:t>𝑦</m:t>
                    </m:r>
                  </m:oMath>
                </a14:m>
                <a:r>
                  <a:rPr lang="en-US" sz="2400" dirty="0"/>
                  <a:t>. We can now move in both the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𝑥</m:t>
                        </m:r>
                      </m:e>
                      <m:sub>
                        <m:r>
                          <a:rPr lang="en-US" sz="2400" i="1" dirty="0" smtClean="0">
                            <a:latin typeface="Cambria Math" panose="02040503050406030204" pitchFamily="18" charset="0"/>
                          </a:rPr>
                          <m:t>1</m:t>
                        </m:r>
                      </m:sub>
                    </m:sSub>
                  </m:oMath>
                </a14:m>
                <a:r>
                  <a:rPr lang="en-US" sz="2400" dirty="0"/>
                  <a:t> direction and the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𝑥</m:t>
                        </m:r>
                      </m:e>
                      <m:sub>
                        <m:r>
                          <a:rPr lang="en-US" sz="2400" i="1" dirty="0" smtClean="0">
                            <a:latin typeface="Cambria Math" panose="02040503050406030204" pitchFamily="18" charset="0"/>
                          </a:rPr>
                          <m:t>2</m:t>
                        </m:r>
                      </m:sub>
                    </m:sSub>
                  </m:oMath>
                </a14:m>
                <a:r>
                  <a:rPr lang="en-US" sz="2400" dirty="0"/>
                  <a:t> direction.</a:t>
                </a:r>
              </a:p>
              <a:p>
                <a:endParaRPr lang="en-US" sz="2400" dirty="0"/>
              </a:p>
              <a:p>
                <a:r>
                  <a:rPr lang="en-US" sz="2400" dirty="0"/>
                  <a:t>---------------------------------</a:t>
                </a:r>
              </a:p>
              <a:p>
                <a:endParaRPr lang="en-US" sz="2400" dirty="0"/>
              </a:p>
              <a:p>
                <a:r>
                  <a:rPr lang="en-US" sz="2400" i="1" dirty="0"/>
                  <a:t>p = n</a:t>
                </a:r>
              </a:p>
              <a:p>
                <a:endParaRPr lang="en-US" sz="2400" i="1" dirty="0"/>
              </a:p>
              <a:p>
                <a:r>
                  <a:rPr lang="en-US" sz="2400" dirty="0"/>
                  <a:t>Can always* predict perfectly on training set</a:t>
                </a:r>
              </a:p>
              <a:p>
                <a:endParaRPr lang="en-US" sz="2400" dirty="0"/>
              </a:p>
              <a:p>
                <a:r>
                  <a:rPr lang="en-US" sz="1400" dirty="0"/>
                  <a:t>*assuming linearly independent predictors</a:t>
                </a:r>
              </a:p>
            </p:txBody>
          </p:sp>
        </mc:Choice>
        <mc:Fallback>
          <p:sp>
            <p:nvSpPr>
              <p:cNvPr id="2" name="TextBox 1">
                <a:extLst>
                  <a:ext uri="{FF2B5EF4-FFF2-40B4-BE49-F238E27FC236}">
                    <a16:creationId xmlns:a16="http://schemas.microsoft.com/office/drawing/2014/main" id="{E70248FE-0F5C-DF40-90AE-52A9574AF457}"/>
                  </a:ext>
                </a:extLst>
              </p:cNvPr>
              <p:cNvSpPr txBox="1">
                <a:spLocks noRot="1" noChangeAspect="1" noMove="1" noResize="1" noEditPoints="1" noAdjustHandles="1" noChangeArrowheads="1" noChangeShapeType="1" noTextEdit="1"/>
              </p:cNvSpPr>
              <p:nvPr/>
            </p:nvSpPr>
            <p:spPr>
              <a:xfrm>
                <a:off x="8144877" y="320456"/>
                <a:ext cx="3632794" cy="6217087"/>
              </a:xfrm>
              <a:prstGeom prst="rect">
                <a:avLst/>
              </a:prstGeom>
              <a:blipFill>
                <a:blip r:embed="rId4"/>
                <a:stretch>
                  <a:fillRect l="-2787" t="-816" r="-3833" b="-204"/>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A1239A63-17C4-3545-ABD3-D239183490DB}"/>
              </a:ext>
            </a:extLst>
          </p:cNvPr>
          <p:cNvCxnSpPr>
            <a:cxnSpLocks/>
          </p:cNvCxnSpPr>
          <p:nvPr/>
        </p:nvCxnSpPr>
        <p:spPr>
          <a:xfrm flipV="1">
            <a:off x="683568" y="-147145"/>
            <a:ext cx="3775442" cy="7083973"/>
          </a:xfrm>
          <a:prstGeom prst="straightConnector1">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Arrow Connector 25">
            <a:extLst>
              <a:ext uri="{FF2B5EF4-FFF2-40B4-BE49-F238E27FC236}">
                <a16:creationId xmlns:a16="http://schemas.microsoft.com/office/drawing/2014/main" id="{AF594D74-AE45-E14F-A2A1-C25247625E5D}"/>
              </a:ext>
            </a:extLst>
          </p:cNvPr>
          <p:cNvCxnSpPr>
            <a:cxnSpLocks/>
          </p:cNvCxnSpPr>
          <p:nvPr/>
        </p:nvCxnSpPr>
        <p:spPr>
          <a:xfrm flipV="1">
            <a:off x="1072052" y="3552497"/>
            <a:ext cx="2680141" cy="2622330"/>
          </a:xfrm>
          <a:prstGeom prst="straightConnector1">
            <a:avLst/>
          </a:prstGeom>
          <a:ln w="571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Straight Arrow Connector 26">
            <a:extLst>
              <a:ext uri="{FF2B5EF4-FFF2-40B4-BE49-F238E27FC236}">
                <a16:creationId xmlns:a16="http://schemas.microsoft.com/office/drawing/2014/main" id="{CDD7DD7C-DABE-A947-945A-22098A734B29}"/>
              </a:ext>
            </a:extLst>
          </p:cNvPr>
          <p:cNvCxnSpPr>
            <a:cxnSpLocks/>
          </p:cNvCxnSpPr>
          <p:nvPr/>
        </p:nvCxnSpPr>
        <p:spPr>
          <a:xfrm flipV="1">
            <a:off x="304395" y="-147146"/>
            <a:ext cx="7242033" cy="7083974"/>
          </a:xfrm>
          <a:prstGeom prst="straightConnector1">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244A02C-ADF1-DF4D-9014-8A7E44C5FD44}"/>
                  </a:ext>
                </a:extLst>
              </p:cNvPr>
              <p:cNvSpPr txBox="1"/>
              <p:nvPr/>
            </p:nvSpPr>
            <p:spPr>
              <a:xfrm>
                <a:off x="3289941" y="3920780"/>
                <a:ext cx="4660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oMath>
                  </m:oMathPara>
                </a14:m>
                <a:endParaRPr lang="en-US" dirty="0"/>
              </a:p>
            </p:txBody>
          </p:sp>
        </mc:Choice>
        <mc:Fallback xmlns="">
          <p:sp>
            <p:nvSpPr>
              <p:cNvPr id="28" name="TextBox 27">
                <a:extLst>
                  <a:ext uri="{FF2B5EF4-FFF2-40B4-BE49-F238E27FC236}">
                    <a16:creationId xmlns:a16="http://schemas.microsoft.com/office/drawing/2014/main" id="{F244A02C-ADF1-DF4D-9014-8A7E44C5FD44}"/>
                  </a:ext>
                </a:extLst>
              </p:cNvPr>
              <p:cNvSpPr txBox="1">
                <a:spLocks noRot="1" noChangeAspect="1" noMove="1" noResize="1" noEditPoints="1" noAdjustHandles="1" noChangeArrowheads="1" noChangeShapeType="1" noTextEdit="1"/>
              </p:cNvSpPr>
              <p:nvPr/>
            </p:nvSpPr>
            <p:spPr>
              <a:xfrm>
                <a:off x="3289941" y="3920780"/>
                <a:ext cx="466090" cy="369332"/>
              </a:xfrm>
              <a:prstGeom prst="rect">
                <a:avLst/>
              </a:prstGeom>
              <a:blipFill>
                <a:blip r:embed="rId5"/>
                <a:stretch>
                  <a:fillRect/>
                </a:stretch>
              </a:blipFill>
            </p:spPr>
            <p:txBody>
              <a:bodyPr/>
              <a:lstStyle/>
              <a:p>
                <a:r>
                  <a:rPr lang="en-US">
                    <a:noFill/>
                  </a:rPr>
                  <a:t> </a:t>
                </a:r>
              </a:p>
            </p:txBody>
          </p:sp>
        </mc:Fallback>
      </mc:AlternateContent>
      <p:cxnSp>
        <p:nvCxnSpPr>
          <p:cNvPr id="29" name="Straight Arrow Connector 28">
            <a:extLst>
              <a:ext uri="{FF2B5EF4-FFF2-40B4-BE49-F238E27FC236}">
                <a16:creationId xmlns:a16="http://schemas.microsoft.com/office/drawing/2014/main" id="{F5BC82F5-20EA-5D46-A724-79F4FE390E6C}"/>
              </a:ext>
            </a:extLst>
          </p:cNvPr>
          <p:cNvCxnSpPr>
            <a:cxnSpLocks/>
            <a:stCxn id="23" idx="7"/>
          </p:cNvCxnSpPr>
          <p:nvPr/>
        </p:nvCxnSpPr>
        <p:spPr>
          <a:xfrm flipV="1">
            <a:off x="6633396" y="-194434"/>
            <a:ext cx="1025998" cy="1964414"/>
          </a:xfrm>
          <a:prstGeom prst="straightConnector1">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8187824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71E25-A115-4902-8FE2-16958DB01B1C}"/>
              </a:ext>
            </a:extLst>
          </p:cNvPr>
          <p:cNvSpPr>
            <a:spLocks noGrp="1"/>
          </p:cNvSpPr>
          <p:nvPr>
            <p:ph type="title"/>
          </p:nvPr>
        </p:nvSpPr>
        <p:spPr/>
        <p:txBody>
          <a:bodyPr/>
          <a:lstStyle/>
          <a:p>
            <a:r>
              <a:rPr lang="en-US" dirty="0"/>
              <a:t>Takeaways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C43397A-05B3-B53C-0DEA-9FED089B939A}"/>
                  </a:ext>
                </a:extLst>
              </p:cNvPr>
              <p:cNvSpPr>
                <a:spLocks noGrp="1"/>
              </p:cNvSpPr>
              <p:nvPr>
                <p:ph idx="1"/>
              </p:nvPr>
            </p:nvSpPr>
            <p:spPr/>
            <p:txBody>
              <a:bodyPr>
                <a:normAutofit fontScale="92500" lnSpcReduction="20000"/>
              </a:bodyPr>
              <a:lstStyle/>
              <a:p>
                <a:r>
                  <a:rPr lang="en-US" dirty="0"/>
                  <a:t>When # points </a:t>
                </a:r>
                <a14:m>
                  <m:oMath xmlns:m="http://schemas.openxmlformats.org/officeDocument/2006/math">
                    <m:r>
                      <a:rPr lang="en-US" i="1" dirty="0" smtClean="0">
                        <a:latin typeface="Cambria Math" panose="02040503050406030204" pitchFamily="18" charset="0"/>
                      </a:rPr>
                      <m:t>≤</m:t>
                    </m:r>
                  </m:oMath>
                </a14:m>
                <a:r>
                  <a:rPr lang="en-US" dirty="0"/>
                  <a:t> # predictors, we can get perfect predictions (i.e. memorize the dataset)</a:t>
                </a:r>
              </a:p>
              <a:p>
                <a:endParaRPr lang="en-US" dirty="0"/>
              </a:p>
              <a:p>
                <a:r>
                  <a:rPr lang="en-US" dirty="0"/>
                  <a:t>However, this typically requires very large model coefficients</a:t>
                </a:r>
              </a:p>
              <a:p>
                <a:endParaRPr lang="en-US" dirty="0"/>
              </a:p>
              <a:p>
                <a:r>
                  <a:rPr lang="en-US" dirty="0"/>
                  <a:t>Regularization therefore prevents this behavior, and therefore tends to give us better generalization (i.e. out of sample) performance</a:t>
                </a:r>
              </a:p>
              <a:p>
                <a:endParaRPr lang="en-US" dirty="0"/>
              </a:p>
              <a:p>
                <a:r>
                  <a:rPr lang="en-US" dirty="0"/>
                  <a:t>For logistic regression, “perfect” prediction requires predicting infinitely positive / negative log-odds, but we can get arbitrarily close to this using the same argument we used for linear regression</a:t>
                </a:r>
              </a:p>
            </p:txBody>
          </p:sp>
        </mc:Choice>
        <mc:Fallback>
          <p:sp>
            <p:nvSpPr>
              <p:cNvPr id="3" name="Content Placeholder 2">
                <a:extLst>
                  <a:ext uri="{FF2B5EF4-FFF2-40B4-BE49-F238E27FC236}">
                    <a16:creationId xmlns:a16="http://schemas.microsoft.com/office/drawing/2014/main" id="{AC43397A-05B3-B53C-0DEA-9FED089B939A}"/>
                  </a:ext>
                </a:extLst>
              </p:cNvPr>
              <p:cNvSpPr>
                <a:spLocks noGrp="1" noRot="1" noChangeAspect="1" noMove="1" noResize="1" noEditPoints="1" noAdjustHandles="1" noChangeArrowheads="1" noChangeShapeType="1" noTextEdit="1"/>
              </p:cNvSpPr>
              <p:nvPr>
                <p:ph idx="1"/>
              </p:nvPr>
            </p:nvSpPr>
            <p:spPr>
              <a:blipFill>
                <a:blip r:embed="rId2"/>
                <a:stretch>
                  <a:fillRect l="-965" t="-3488" r="-603"/>
                </a:stretch>
              </a:blipFill>
            </p:spPr>
            <p:txBody>
              <a:bodyPr/>
              <a:lstStyle/>
              <a:p>
                <a:r>
                  <a:rPr lang="en-US">
                    <a:noFill/>
                  </a:rPr>
                  <a:t> </a:t>
                </a:r>
              </a:p>
            </p:txBody>
          </p:sp>
        </mc:Fallback>
      </mc:AlternateContent>
    </p:spTree>
    <p:extLst>
      <p:ext uri="{BB962C8B-B14F-4D97-AF65-F5344CB8AC3E}">
        <p14:creationId xmlns:p14="http://schemas.microsoft.com/office/powerpoint/2010/main" val="4742835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4A625-82EE-03F9-9FE8-9C5F5BA8E1B9}"/>
              </a:ext>
            </a:extLst>
          </p:cNvPr>
          <p:cNvSpPr>
            <a:spLocks noGrp="1"/>
          </p:cNvSpPr>
          <p:nvPr>
            <p:ph type="title"/>
          </p:nvPr>
        </p:nvSpPr>
        <p:spPr/>
        <p:txBody>
          <a:bodyPr/>
          <a:lstStyle/>
          <a:p>
            <a:r>
              <a:rPr lang="en-US" dirty="0"/>
              <a:t>Regularization in </a:t>
            </a:r>
            <a:r>
              <a:rPr lang="en-US" dirty="0" err="1"/>
              <a:t>PyTorch</a:t>
            </a:r>
            <a:endParaRPr lang="en-US" dirty="0"/>
          </a:p>
        </p:txBody>
      </p:sp>
      <p:sp>
        <p:nvSpPr>
          <p:cNvPr id="5" name="TextBox 4">
            <a:extLst>
              <a:ext uri="{FF2B5EF4-FFF2-40B4-BE49-F238E27FC236}">
                <a16:creationId xmlns:a16="http://schemas.microsoft.com/office/drawing/2014/main" id="{DDDAEB37-0464-C640-2638-7535C228FC67}"/>
              </a:ext>
            </a:extLst>
          </p:cNvPr>
          <p:cNvSpPr txBox="1"/>
          <p:nvPr/>
        </p:nvSpPr>
        <p:spPr>
          <a:xfrm>
            <a:off x="1202436" y="1818704"/>
            <a:ext cx="5399532" cy="4401205"/>
          </a:xfrm>
          <a:prstGeom prst="rect">
            <a:avLst/>
          </a:prstGeom>
          <a:solidFill>
            <a:srgbClr val="F9F9F9"/>
          </a:solidFill>
          <a:ln>
            <a:solidFill>
              <a:schemeClr val="tx1"/>
            </a:solidFill>
          </a:ln>
        </p:spPr>
        <p:txBody>
          <a:bodyPr wrap="square">
            <a:spAutoFit/>
          </a:bodyPr>
          <a:lstStyle/>
          <a:p>
            <a:r>
              <a:rPr lang="en-US" sz="1400" dirty="0">
                <a:latin typeface="Consolas" panose="020B0609020204030204" pitchFamily="49" charset="0"/>
                <a:cs typeface="Consolas" panose="020B0609020204030204" pitchFamily="49" charset="0"/>
              </a:rPr>
              <a:t>import torch</a:t>
            </a:r>
          </a:p>
          <a:p>
            <a:r>
              <a:rPr lang="en-US" sz="1400" dirty="0">
                <a:latin typeface="Consolas" panose="020B0609020204030204" pitchFamily="49" charset="0"/>
                <a:cs typeface="Consolas" panose="020B0609020204030204" pitchFamily="49" charset="0"/>
              </a:rPr>
              <a:t>import </a:t>
            </a:r>
            <a:r>
              <a:rPr lang="en-US" sz="1400" dirty="0" err="1">
                <a:latin typeface="Consolas" panose="020B0609020204030204" pitchFamily="49" charset="0"/>
                <a:cs typeface="Consolas" panose="020B0609020204030204" pitchFamily="49" charset="0"/>
              </a:rPr>
              <a:t>torch.nn</a:t>
            </a:r>
            <a:r>
              <a:rPr lang="en-US" sz="1400" dirty="0">
                <a:latin typeface="Consolas" panose="020B0609020204030204" pitchFamily="49" charset="0"/>
                <a:cs typeface="Consolas" panose="020B0609020204030204" pitchFamily="49" charset="0"/>
              </a:rPr>
              <a:t> as </a:t>
            </a:r>
            <a:r>
              <a:rPr lang="en-US" sz="1400" dirty="0" err="1">
                <a:latin typeface="Consolas" panose="020B0609020204030204" pitchFamily="49" charset="0"/>
                <a:cs typeface="Consolas" panose="020B0609020204030204" pitchFamily="49" charset="0"/>
              </a:rPr>
              <a:t>nn</a:t>
            </a:r>
            <a:endParaRPr lang="en-US" sz="1400" dirty="0">
              <a:latin typeface="Consolas" panose="020B0609020204030204" pitchFamily="49" charset="0"/>
              <a:cs typeface="Consolas" panose="020B0609020204030204" pitchFamily="49" charset="0"/>
            </a:endParaRPr>
          </a:p>
          <a:p>
            <a:endParaRPr lang="en-US" sz="1400" dirty="0">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 simple logistic regression</a:t>
            </a:r>
          </a:p>
          <a:p>
            <a:r>
              <a:rPr lang="en-US" sz="1400" dirty="0">
                <a:latin typeface="Consolas" panose="020B0609020204030204" pitchFamily="49" charset="0"/>
                <a:cs typeface="Consolas" panose="020B0609020204030204" pitchFamily="49" charset="0"/>
              </a:rPr>
              <a:t>model = </a:t>
            </a:r>
            <a:r>
              <a:rPr lang="en-US" sz="1400" dirty="0" err="1">
                <a:latin typeface="Consolas" panose="020B0609020204030204" pitchFamily="49" charset="0"/>
                <a:cs typeface="Consolas" panose="020B0609020204030204" pitchFamily="49" charset="0"/>
              </a:rPr>
              <a:t>nn.Linear</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d_in</a:t>
            </a:r>
            <a:r>
              <a:rPr lang="en-US" sz="1400" dirty="0">
                <a:latin typeface="Consolas" panose="020B0609020204030204" pitchFamily="49" charset="0"/>
                <a:cs typeface="Consolas" panose="020B0609020204030204" pitchFamily="49" charset="0"/>
              </a:rPr>
              <a:t>, 1)</a:t>
            </a:r>
          </a:p>
          <a:p>
            <a:endParaRPr lang="en-US" sz="1400" dirty="0">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criterion = </a:t>
            </a:r>
            <a:r>
              <a:rPr lang="en-US" sz="1400" dirty="0" err="1">
                <a:latin typeface="Consolas" panose="020B0609020204030204" pitchFamily="49" charset="0"/>
                <a:cs typeface="Consolas" panose="020B0609020204030204" pitchFamily="49" charset="0"/>
              </a:rPr>
              <a:t>nn.BCEWithLogitsLoss</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lambda_l2 = 1e-3</a:t>
            </a:r>
          </a:p>
          <a:p>
            <a:endParaRPr lang="en-US" sz="1400" dirty="0">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 forward pass</a:t>
            </a:r>
          </a:p>
          <a:p>
            <a:r>
              <a:rPr lang="en-US" sz="1400" dirty="0">
                <a:latin typeface="Consolas" panose="020B0609020204030204" pitchFamily="49" charset="0"/>
                <a:cs typeface="Consolas" panose="020B0609020204030204" pitchFamily="49" charset="0"/>
              </a:rPr>
              <a:t>logits = model(X).squeeze()</a:t>
            </a:r>
          </a:p>
          <a:p>
            <a:r>
              <a:rPr lang="en-US" sz="1400" dirty="0" err="1">
                <a:latin typeface="Consolas" panose="020B0609020204030204" pitchFamily="49" charset="0"/>
                <a:cs typeface="Consolas" panose="020B0609020204030204" pitchFamily="49" charset="0"/>
              </a:rPr>
              <a:t>data_loss</a:t>
            </a:r>
            <a:r>
              <a:rPr lang="en-US" sz="1400" dirty="0">
                <a:latin typeface="Consolas" panose="020B0609020204030204" pitchFamily="49" charset="0"/>
                <a:cs typeface="Consolas" panose="020B0609020204030204" pitchFamily="49" charset="0"/>
              </a:rPr>
              <a:t> = criterion(logits, </a:t>
            </a:r>
            <a:r>
              <a:rPr lang="en-US" sz="1400" dirty="0" err="1">
                <a:latin typeface="Consolas" panose="020B0609020204030204" pitchFamily="49" charset="0"/>
                <a:cs typeface="Consolas" panose="020B0609020204030204" pitchFamily="49" charset="0"/>
              </a:rPr>
              <a:t>y.float</a:t>
            </a:r>
            <a:r>
              <a:rPr lang="en-US" sz="1400" dirty="0">
                <a:latin typeface="Consolas" panose="020B0609020204030204" pitchFamily="49" charset="0"/>
                <a:cs typeface="Consolas" panose="020B0609020204030204" pitchFamily="49" charset="0"/>
              </a:rPr>
              <a:t>())</a:t>
            </a:r>
          </a:p>
          <a:p>
            <a:endParaRPr lang="en-US" sz="1400" dirty="0">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 manual L2 regularization (weights only, no bias)</a:t>
            </a:r>
          </a:p>
          <a:p>
            <a:r>
              <a:rPr lang="en-US" sz="1400" dirty="0">
                <a:latin typeface="Consolas" panose="020B0609020204030204" pitchFamily="49" charset="0"/>
                <a:cs typeface="Consolas" panose="020B0609020204030204" pitchFamily="49" charset="0"/>
              </a:rPr>
              <a:t>l2_penalty = sum((p**2).sum() for name, p in </a:t>
            </a:r>
            <a:r>
              <a:rPr lang="en-US" sz="1400" dirty="0" err="1">
                <a:latin typeface="Consolas" panose="020B0609020204030204" pitchFamily="49" charset="0"/>
                <a:cs typeface="Consolas" panose="020B0609020204030204" pitchFamily="49" charset="0"/>
              </a:rPr>
              <a:t>model.named_parameters</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if "weight" in name)</a:t>
            </a:r>
          </a:p>
          <a:p>
            <a:endParaRPr lang="en-US" sz="1400" dirty="0">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loss = </a:t>
            </a:r>
            <a:r>
              <a:rPr lang="en-US" sz="1400" dirty="0" err="1">
                <a:latin typeface="Consolas" panose="020B0609020204030204" pitchFamily="49" charset="0"/>
                <a:cs typeface="Consolas" panose="020B0609020204030204" pitchFamily="49" charset="0"/>
              </a:rPr>
              <a:t>data_loss</a:t>
            </a:r>
            <a:r>
              <a:rPr lang="en-US" sz="1400" dirty="0">
                <a:latin typeface="Consolas" panose="020B0609020204030204" pitchFamily="49" charset="0"/>
                <a:cs typeface="Consolas" panose="020B0609020204030204" pitchFamily="49" charset="0"/>
              </a:rPr>
              <a:t> + lambda_l2 * l2_penalty</a:t>
            </a:r>
          </a:p>
          <a:p>
            <a:r>
              <a:rPr lang="en-US" sz="1400" dirty="0" err="1">
                <a:latin typeface="Consolas" panose="020B0609020204030204" pitchFamily="49" charset="0"/>
                <a:cs typeface="Consolas" panose="020B0609020204030204" pitchFamily="49" charset="0"/>
              </a:rPr>
              <a:t>loss.backward</a:t>
            </a:r>
            <a:r>
              <a:rPr lang="en-US" sz="1400" dirty="0">
                <a:latin typeface="Consolas" panose="020B0609020204030204" pitchFamily="49" charset="0"/>
                <a:cs typeface="Consolas" panose="020B0609020204030204" pitchFamily="49" charset="0"/>
              </a:rPr>
              <a:t>()</a:t>
            </a:r>
          </a:p>
        </p:txBody>
      </p:sp>
      <p:sp>
        <p:nvSpPr>
          <p:cNvPr id="6" name="Content Placeholder 2">
            <a:extLst>
              <a:ext uri="{FF2B5EF4-FFF2-40B4-BE49-F238E27FC236}">
                <a16:creationId xmlns:a16="http://schemas.microsoft.com/office/drawing/2014/main" id="{D0DA8D75-40E1-0B4E-D1AC-2B810A4B18EC}"/>
              </a:ext>
            </a:extLst>
          </p:cNvPr>
          <p:cNvSpPr>
            <a:spLocks noGrp="1"/>
          </p:cNvSpPr>
          <p:nvPr>
            <p:ph idx="1"/>
          </p:nvPr>
        </p:nvSpPr>
        <p:spPr>
          <a:xfrm>
            <a:off x="7269480" y="2240279"/>
            <a:ext cx="4084320" cy="3936683"/>
          </a:xfrm>
        </p:spPr>
        <p:txBody>
          <a:bodyPr>
            <a:normAutofit/>
          </a:bodyPr>
          <a:lstStyle/>
          <a:p>
            <a:r>
              <a:rPr lang="en-US" sz="2400" dirty="0"/>
              <a:t>Entirely flexible</a:t>
            </a:r>
          </a:p>
          <a:p>
            <a:endParaRPr lang="en-US" sz="2400" dirty="0"/>
          </a:p>
          <a:p>
            <a:r>
              <a:rPr lang="en-US" sz="2400" dirty="0"/>
              <a:t>In ML we consider a wide variety of “</a:t>
            </a:r>
            <a:r>
              <a:rPr lang="en-US" sz="2400" dirty="0" err="1"/>
              <a:t>regularizers</a:t>
            </a:r>
            <a:r>
              <a:rPr lang="en-US" sz="2400" dirty="0"/>
              <a:t>”</a:t>
            </a:r>
          </a:p>
          <a:p>
            <a:endParaRPr lang="en-US" sz="2400" dirty="0"/>
          </a:p>
          <a:p>
            <a:r>
              <a:rPr lang="en-US" sz="2400" dirty="0"/>
              <a:t>“Weight decay” is similar but not identical to L2 regularization</a:t>
            </a:r>
          </a:p>
        </p:txBody>
      </p:sp>
    </p:spTree>
    <p:extLst>
      <p:ext uri="{BB962C8B-B14F-4D97-AF65-F5344CB8AC3E}">
        <p14:creationId xmlns:p14="http://schemas.microsoft.com/office/powerpoint/2010/main" val="2144861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57066-7B0D-6858-F3F2-866E387900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EA3CD9-1062-8876-BA45-92145A6BA138}"/>
              </a:ext>
            </a:extLst>
          </p:cNvPr>
          <p:cNvSpPr>
            <a:spLocks noGrp="1"/>
          </p:cNvSpPr>
          <p:nvPr>
            <p:ph type="title"/>
          </p:nvPr>
        </p:nvSpPr>
        <p:spPr/>
        <p:txBody>
          <a:bodyPr/>
          <a:lstStyle/>
          <a:p>
            <a:r>
              <a:rPr lang="en-US" dirty="0"/>
              <a:t>Calculating the gradient</a:t>
            </a:r>
          </a:p>
        </p:txBody>
      </p:sp>
      <p:sp>
        <p:nvSpPr>
          <p:cNvPr id="3" name="Text Placeholder 2">
            <a:extLst>
              <a:ext uri="{FF2B5EF4-FFF2-40B4-BE49-F238E27FC236}">
                <a16:creationId xmlns:a16="http://schemas.microsoft.com/office/drawing/2014/main" id="{0BD571D2-AC38-477A-E1DC-13ECCE3B7C2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768506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3365C-9DDD-76F8-C82A-02ED92700DD0}"/>
              </a:ext>
            </a:extLst>
          </p:cNvPr>
          <p:cNvSpPr>
            <a:spLocks noGrp="1"/>
          </p:cNvSpPr>
          <p:nvPr>
            <p:ph type="title"/>
          </p:nvPr>
        </p:nvSpPr>
        <p:spPr/>
        <p:txBody>
          <a:bodyPr/>
          <a:lstStyle/>
          <a:p>
            <a:r>
              <a:rPr lang="en-US" dirty="0"/>
              <a:t>Why </a:t>
            </a:r>
            <a:r>
              <a:rPr lang="en-US" dirty="0" err="1"/>
              <a:t>autodifferentiation</a:t>
            </a:r>
            <a:r>
              <a:rPr lang="en-US" dirty="0"/>
              <a:t> (i.e. backprop)?</a:t>
            </a:r>
          </a:p>
        </p:txBody>
      </p:sp>
      <p:sp>
        <p:nvSpPr>
          <p:cNvPr id="3" name="Content Placeholder 2">
            <a:extLst>
              <a:ext uri="{FF2B5EF4-FFF2-40B4-BE49-F238E27FC236}">
                <a16:creationId xmlns:a16="http://schemas.microsoft.com/office/drawing/2014/main" id="{B3941A63-D660-7174-009E-25D7127C1CF1}"/>
              </a:ext>
            </a:extLst>
          </p:cNvPr>
          <p:cNvSpPr>
            <a:spLocks noGrp="1"/>
          </p:cNvSpPr>
          <p:nvPr>
            <p:ph idx="1"/>
          </p:nvPr>
        </p:nvSpPr>
        <p:spPr/>
        <p:txBody>
          <a:bodyPr>
            <a:normAutofit fontScale="92500"/>
          </a:bodyPr>
          <a:lstStyle/>
          <a:p>
            <a:r>
              <a:rPr lang="en-US" dirty="0"/>
              <a:t>Numeric differentiation</a:t>
            </a:r>
          </a:p>
          <a:p>
            <a:pPr lvl="1"/>
            <a:r>
              <a:rPr lang="en-US" dirty="0"/>
              <a:t>Not exact</a:t>
            </a:r>
          </a:p>
          <a:p>
            <a:pPr lvl="1"/>
            <a:r>
              <a:rPr lang="en-US" dirty="0"/>
              <a:t>One forward pass </a:t>
            </a:r>
            <a:r>
              <a:rPr lang="en-US" i="1" dirty="0"/>
              <a:t>per parameter</a:t>
            </a:r>
          </a:p>
          <a:p>
            <a:pPr lvl="1"/>
            <a:endParaRPr lang="en-US" dirty="0"/>
          </a:p>
          <a:p>
            <a:r>
              <a:rPr lang="en-US" dirty="0"/>
              <a:t>Symbolic differentiation</a:t>
            </a:r>
          </a:p>
          <a:p>
            <a:pPr lvl="1"/>
            <a:r>
              <a:rPr lang="en-US" dirty="0"/>
              <a:t>Expressions become intractable</a:t>
            </a:r>
          </a:p>
          <a:p>
            <a:pPr lvl="1"/>
            <a:r>
              <a:rPr lang="en-US" dirty="0"/>
              <a:t>Numerically unstable</a:t>
            </a:r>
          </a:p>
          <a:p>
            <a:pPr lvl="1"/>
            <a:endParaRPr lang="en-US" dirty="0"/>
          </a:p>
          <a:p>
            <a:r>
              <a:rPr lang="en-US" dirty="0" err="1"/>
              <a:t>Autodifferentiation</a:t>
            </a:r>
            <a:endParaRPr lang="en-US" dirty="0"/>
          </a:p>
          <a:p>
            <a:pPr lvl="1"/>
            <a:r>
              <a:rPr lang="en-US" dirty="0"/>
              <a:t>Exact</a:t>
            </a:r>
          </a:p>
          <a:p>
            <a:pPr lvl="1"/>
            <a:r>
              <a:rPr lang="en-US" dirty="0"/>
              <a:t>Requires only one forward pass and one backward pass through the network</a:t>
            </a:r>
          </a:p>
        </p:txBody>
      </p:sp>
    </p:spTree>
    <p:extLst>
      <p:ext uri="{BB962C8B-B14F-4D97-AF65-F5344CB8AC3E}">
        <p14:creationId xmlns:p14="http://schemas.microsoft.com/office/powerpoint/2010/main" val="20790056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BBCC6-0702-8596-C421-3A18DA0DAE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8288E-5175-FFE0-87C3-8D01631D9F7F}"/>
              </a:ext>
            </a:extLst>
          </p:cNvPr>
          <p:cNvSpPr>
            <a:spLocks noGrp="1"/>
          </p:cNvSpPr>
          <p:nvPr>
            <p:ph type="title"/>
          </p:nvPr>
        </p:nvSpPr>
        <p:spPr/>
        <p:txBody>
          <a:bodyPr/>
          <a:lstStyle/>
          <a:p>
            <a:r>
              <a:rPr lang="en-US" dirty="0" err="1"/>
              <a:t>Autodifferentiation</a:t>
            </a:r>
            <a:r>
              <a:rPr lang="en-US" dirty="0"/>
              <a:t> for logistic regression</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EA38DCE9-D153-8C71-DD64-95AA62D12BA2}"/>
                  </a:ext>
                </a:extLst>
              </p:cNvPr>
              <p:cNvSpPr/>
              <p:nvPr/>
            </p:nvSpPr>
            <p:spPr>
              <a:xfrm>
                <a:off x="1207257" y="2346997"/>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m:rPr>
                              <m:sty m:val="p"/>
                            </m:rPr>
                            <a:rPr lang="en-US" b="0" i="0" dirty="0" smtClean="0">
                              <a:solidFill>
                                <a:schemeClr val="tx1"/>
                              </a:solidFill>
                              <a:latin typeface="Cambria Math" panose="02040503050406030204" pitchFamily="18" charset="0"/>
                            </a:rPr>
                            <m:t>x</m:t>
                          </m:r>
                        </m:e>
                        <m:sub>
                          <m:r>
                            <a:rPr lang="en-US" i="1" dirty="0"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xmlns="">
          <p:sp>
            <p:nvSpPr>
              <p:cNvPr id="4" name="Oval 3">
                <a:extLst>
                  <a:ext uri="{FF2B5EF4-FFF2-40B4-BE49-F238E27FC236}">
                    <a16:creationId xmlns:a16="http://schemas.microsoft.com/office/drawing/2014/main" id="{EA38DCE9-D153-8C71-DD64-95AA62D12BA2}"/>
                  </a:ext>
                </a:extLst>
              </p:cNvPr>
              <p:cNvSpPr>
                <a:spLocks noRot="1" noChangeAspect="1" noMove="1" noResize="1" noEditPoints="1" noAdjustHandles="1" noChangeArrowheads="1" noChangeShapeType="1" noTextEdit="1"/>
              </p:cNvSpPr>
              <p:nvPr/>
            </p:nvSpPr>
            <p:spPr>
              <a:xfrm>
                <a:off x="1207257" y="2346997"/>
                <a:ext cx="914400" cy="914400"/>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A5F9490E-1587-DE7A-1837-F689A28B0825}"/>
                  </a:ext>
                </a:extLst>
              </p:cNvPr>
              <p:cNvSpPr/>
              <p:nvPr/>
            </p:nvSpPr>
            <p:spPr>
              <a:xfrm>
                <a:off x="1207257" y="4022261"/>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m:rPr>
                              <m:sty m:val="p"/>
                            </m:rPr>
                            <a:rPr lang="en-US" b="0" i="0" dirty="0" smtClean="0">
                              <a:solidFill>
                                <a:schemeClr val="tx1"/>
                              </a:solidFill>
                              <a:latin typeface="Cambria Math" panose="02040503050406030204" pitchFamily="18" charset="0"/>
                            </a:rPr>
                            <m:t>x</m:t>
                          </m:r>
                        </m:e>
                        <m:sub>
                          <m:r>
                            <a:rPr lang="en-US" b="0" i="1" dirty="0" smtClean="0">
                              <a:solidFill>
                                <a:schemeClr val="tx1"/>
                              </a:solidFill>
                              <a:latin typeface="Cambria Math" panose="02040503050406030204" pitchFamily="18" charset="0"/>
                            </a:rPr>
                            <m:t>𝑚</m:t>
                          </m:r>
                        </m:sub>
                      </m:sSub>
                    </m:oMath>
                  </m:oMathPara>
                </a14:m>
                <a:endParaRPr lang="en-US" dirty="0">
                  <a:solidFill>
                    <a:schemeClr val="tx1"/>
                  </a:solidFill>
                </a:endParaRPr>
              </a:p>
            </p:txBody>
          </p:sp>
        </mc:Choice>
        <mc:Fallback xmlns="">
          <p:sp>
            <p:nvSpPr>
              <p:cNvPr id="5" name="Oval 4">
                <a:extLst>
                  <a:ext uri="{FF2B5EF4-FFF2-40B4-BE49-F238E27FC236}">
                    <a16:creationId xmlns:a16="http://schemas.microsoft.com/office/drawing/2014/main" id="{A5F9490E-1587-DE7A-1837-F689A28B0825}"/>
                  </a:ext>
                </a:extLst>
              </p:cNvPr>
              <p:cNvSpPr>
                <a:spLocks noRot="1" noChangeAspect="1" noMove="1" noResize="1" noEditPoints="1" noAdjustHandles="1" noChangeArrowheads="1" noChangeShapeType="1" noTextEdit="1"/>
              </p:cNvSpPr>
              <p:nvPr/>
            </p:nvSpPr>
            <p:spPr>
              <a:xfrm>
                <a:off x="1207257" y="4022261"/>
                <a:ext cx="914400" cy="914400"/>
              </a:xfrm>
              <a:prstGeom prst="ellipse">
                <a:avLst/>
              </a:prstGeom>
              <a:blipFill>
                <a:blip r:embed="rId4"/>
                <a:stretch>
                  <a:fillRect/>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BEA7F27A-9775-C5B1-1A38-93B82A0E4348}"/>
              </a:ext>
            </a:extLst>
          </p:cNvPr>
          <p:cNvCxnSpPr>
            <a:cxnSpLocks/>
            <a:stCxn id="4" idx="6"/>
            <a:endCxn id="3" idx="1"/>
          </p:cNvCxnSpPr>
          <p:nvPr/>
        </p:nvCxnSpPr>
        <p:spPr>
          <a:xfrm>
            <a:off x="2121657" y="2804197"/>
            <a:ext cx="1214267" cy="50808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B9043820-688C-AE42-B218-B6730CBAA435}"/>
              </a:ext>
            </a:extLst>
          </p:cNvPr>
          <p:cNvCxnSpPr>
            <a:cxnSpLocks/>
            <a:endCxn id="3" idx="3"/>
          </p:cNvCxnSpPr>
          <p:nvPr/>
        </p:nvCxnSpPr>
        <p:spPr>
          <a:xfrm flipV="1">
            <a:off x="2121657" y="3958864"/>
            <a:ext cx="1214267" cy="5166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8ADFEA8-18E6-E3F3-9264-6186D8A35F4E}"/>
                  </a:ext>
                </a:extLst>
              </p:cNvPr>
              <p:cNvSpPr txBox="1"/>
              <p:nvPr/>
            </p:nvSpPr>
            <p:spPr>
              <a:xfrm>
                <a:off x="2294436" y="2665697"/>
                <a:ext cx="83465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oMath>
                  </m:oMathPara>
                </a14:m>
                <a:endParaRPr lang="en-US" dirty="0"/>
              </a:p>
            </p:txBody>
          </p:sp>
        </mc:Choice>
        <mc:Fallback xmlns="">
          <p:sp>
            <p:nvSpPr>
              <p:cNvPr id="15" name="TextBox 14">
                <a:extLst>
                  <a:ext uri="{FF2B5EF4-FFF2-40B4-BE49-F238E27FC236}">
                    <a16:creationId xmlns:a16="http://schemas.microsoft.com/office/drawing/2014/main" id="{58ADFEA8-18E6-E3F3-9264-6186D8A35F4E}"/>
                  </a:ext>
                </a:extLst>
              </p:cNvPr>
              <p:cNvSpPr txBox="1">
                <a:spLocks noRot="1" noChangeAspect="1" noMove="1" noResize="1" noEditPoints="1" noAdjustHandles="1" noChangeArrowheads="1" noChangeShapeType="1" noTextEdit="1"/>
              </p:cNvSpPr>
              <p:nvPr/>
            </p:nvSpPr>
            <p:spPr>
              <a:xfrm>
                <a:off x="2294436" y="2665697"/>
                <a:ext cx="834656" cy="276999"/>
              </a:xfrm>
              <a:prstGeom prst="rect">
                <a:avLst/>
              </a:prstGeom>
              <a:blipFill>
                <a:blip r:embed="rId5"/>
                <a:stretch>
                  <a:fillRect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0A0031A-6BED-E652-C5B4-047192F3F24C}"/>
                  </a:ext>
                </a:extLst>
              </p:cNvPr>
              <p:cNvSpPr txBox="1"/>
              <p:nvPr/>
            </p:nvSpPr>
            <p:spPr>
              <a:xfrm>
                <a:off x="2294436" y="4337049"/>
                <a:ext cx="83465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𝑚</m:t>
                          </m:r>
                        </m:sub>
                      </m:sSub>
                    </m:oMath>
                  </m:oMathPara>
                </a14:m>
                <a:endParaRPr lang="en-US" dirty="0"/>
              </a:p>
            </p:txBody>
          </p:sp>
        </mc:Choice>
        <mc:Fallback xmlns="">
          <p:sp>
            <p:nvSpPr>
              <p:cNvPr id="16" name="TextBox 15">
                <a:extLst>
                  <a:ext uri="{FF2B5EF4-FFF2-40B4-BE49-F238E27FC236}">
                    <a16:creationId xmlns:a16="http://schemas.microsoft.com/office/drawing/2014/main" id="{A0A0031A-6BED-E652-C5B4-047192F3F24C}"/>
                  </a:ext>
                </a:extLst>
              </p:cNvPr>
              <p:cNvSpPr txBox="1">
                <a:spLocks noRot="1" noChangeAspect="1" noMove="1" noResize="1" noEditPoints="1" noAdjustHandles="1" noChangeArrowheads="1" noChangeShapeType="1" noTextEdit="1"/>
              </p:cNvSpPr>
              <p:nvPr/>
            </p:nvSpPr>
            <p:spPr>
              <a:xfrm>
                <a:off x="2294436" y="4337049"/>
                <a:ext cx="834656" cy="276999"/>
              </a:xfrm>
              <a:prstGeom prst="rect">
                <a:avLst/>
              </a:prstGeom>
              <a:blipFill>
                <a:blip r:embed="rId6"/>
                <a:stretch>
                  <a:fillRect b="-8696"/>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A120BDDB-0E76-53C4-8562-723C246B593B}"/>
              </a:ext>
            </a:extLst>
          </p:cNvPr>
          <p:cNvSpPr txBox="1"/>
          <p:nvPr/>
        </p:nvSpPr>
        <p:spPr>
          <a:xfrm>
            <a:off x="3105738" y="4092775"/>
            <a:ext cx="622286" cy="369332"/>
          </a:xfrm>
          <a:prstGeom prst="rect">
            <a:avLst/>
          </a:prstGeom>
          <a:noFill/>
        </p:spPr>
        <p:txBody>
          <a:bodyPr wrap="none" rtlCol="0">
            <a:spAutoFit/>
          </a:bodyPr>
          <a:lstStyle/>
          <a:p>
            <a:r>
              <a:rPr lang="en-US" dirty="0"/>
              <a:t>sum</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E072783F-2A9D-2E05-02E4-1D58A68712F4}"/>
                  </a:ext>
                </a:extLst>
              </p:cNvPr>
              <p:cNvSpPr txBox="1"/>
              <p:nvPr/>
            </p:nvSpPr>
            <p:spPr>
              <a:xfrm>
                <a:off x="3774172" y="4092775"/>
                <a:ext cx="1351524" cy="923330"/>
              </a:xfrm>
              <a:prstGeom prst="rect">
                <a:avLst/>
              </a:prstGeom>
              <a:noFill/>
            </p:spPr>
            <p:txBody>
              <a:bodyPr wrap="none" rtlCol="0">
                <a:spAutoFit/>
              </a:bodyPr>
              <a:lstStyle/>
              <a:p>
                <a:r>
                  <a:rPr lang="en-US" dirty="0"/>
                  <a:t>sigmoid</a:t>
                </a:r>
              </a:p>
              <a:p>
                <a:r>
                  <a:rPr lang="en-US" dirty="0"/>
                  <a:t>(aka logistic)</a:t>
                </a:r>
              </a:p>
              <a:p>
                <a:r>
                  <a:rPr lang="en-US" dirty="0"/>
                  <a:t>function </a:t>
                </a:r>
                <a14:m>
                  <m:oMath xmlns:m="http://schemas.openxmlformats.org/officeDocument/2006/math">
                    <m:r>
                      <a:rPr lang="en-US" b="0" i="1" smtClean="0">
                        <a:latin typeface="Cambria Math" panose="02040503050406030204" pitchFamily="18" charset="0"/>
                      </a:rPr>
                      <m:t>𝜎</m:t>
                    </m:r>
                  </m:oMath>
                </a14:m>
                <a:endParaRPr lang="en-US" dirty="0"/>
              </a:p>
            </p:txBody>
          </p:sp>
        </mc:Choice>
        <mc:Fallback xmlns="">
          <p:sp>
            <p:nvSpPr>
              <p:cNvPr id="42" name="TextBox 41">
                <a:extLst>
                  <a:ext uri="{FF2B5EF4-FFF2-40B4-BE49-F238E27FC236}">
                    <a16:creationId xmlns:a16="http://schemas.microsoft.com/office/drawing/2014/main" id="{E072783F-2A9D-2E05-02E4-1D58A68712F4}"/>
                  </a:ext>
                </a:extLst>
              </p:cNvPr>
              <p:cNvSpPr txBox="1">
                <a:spLocks noRot="1" noChangeAspect="1" noMove="1" noResize="1" noEditPoints="1" noAdjustHandles="1" noChangeArrowheads="1" noChangeShapeType="1" noTextEdit="1"/>
              </p:cNvSpPr>
              <p:nvPr/>
            </p:nvSpPr>
            <p:spPr>
              <a:xfrm>
                <a:off x="3774172" y="4092775"/>
                <a:ext cx="1351524" cy="923330"/>
              </a:xfrm>
              <a:prstGeom prst="rect">
                <a:avLst/>
              </a:prstGeom>
              <a:blipFill>
                <a:blip r:embed="rId8"/>
                <a:stretch>
                  <a:fillRect l="-3738" t="-2703" r="-2804" b="-94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AE415A31-0A82-0C2C-C307-34B3F814C2CA}"/>
                  </a:ext>
                </a:extLst>
              </p:cNvPr>
              <p:cNvSpPr txBox="1"/>
              <p:nvPr/>
            </p:nvSpPr>
            <p:spPr>
              <a:xfrm>
                <a:off x="4538606" y="3457163"/>
                <a:ext cx="13221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=1|</m:t>
                      </m:r>
                      <m:r>
                        <a:rPr lang="en-US" b="1" i="1" smtClean="0">
                          <a:latin typeface="Cambria Math" panose="02040503050406030204" pitchFamily="18" charset="0"/>
                        </a:rPr>
                        <m:t>𝒙</m:t>
                      </m:r>
                      <m:r>
                        <a:rPr lang="en-US" b="0" i="1" smtClean="0">
                          <a:latin typeface="Cambria Math" panose="02040503050406030204" pitchFamily="18" charset="0"/>
                        </a:rPr>
                        <m:t>)</m:t>
                      </m:r>
                    </m:oMath>
                  </m:oMathPara>
                </a14:m>
                <a:endParaRPr lang="en-US" dirty="0"/>
              </a:p>
            </p:txBody>
          </p:sp>
        </mc:Choice>
        <mc:Fallback xmlns="">
          <p:sp>
            <p:nvSpPr>
              <p:cNvPr id="45" name="TextBox 44">
                <a:extLst>
                  <a:ext uri="{FF2B5EF4-FFF2-40B4-BE49-F238E27FC236}">
                    <a16:creationId xmlns:a16="http://schemas.microsoft.com/office/drawing/2014/main" id="{AE415A31-0A82-0C2C-C307-34B3F814C2CA}"/>
                  </a:ext>
                </a:extLst>
              </p:cNvPr>
              <p:cNvSpPr txBox="1">
                <a:spLocks noRot="1" noChangeAspect="1" noMove="1" noResize="1" noEditPoints="1" noAdjustHandles="1" noChangeArrowheads="1" noChangeShapeType="1" noTextEdit="1"/>
              </p:cNvSpPr>
              <p:nvPr/>
            </p:nvSpPr>
            <p:spPr>
              <a:xfrm>
                <a:off x="4538606" y="3457163"/>
                <a:ext cx="1322157" cy="369332"/>
              </a:xfrm>
              <a:prstGeom prst="rect">
                <a:avLst/>
              </a:prstGeom>
              <a:blipFill>
                <a:blip r:embed="rId9"/>
                <a:stretch>
                  <a:fillRect b="-13333"/>
                </a:stretch>
              </a:blipFill>
            </p:spPr>
            <p:txBody>
              <a:bodyPr/>
              <a:lstStyle/>
              <a:p>
                <a:r>
                  <a:rPr lang="en-US">
                    <a:noFill/>
                  </a:rPr>
                  <a:t> </a:t>
                </a:r>
              </a:p>
            </p:txBody>
          </p:sp>
        </mc:Fallback>
      </mc:AlternateContent>
      <p:cxnSp>
        <p:nvCxnSpPr>
          <p:cNvPr id="47" name="Straight Arrow Connector 46">
            <a:extLst>
              <a:ext uri="{FF2B5EF4-FFF2-40B4-BE49-F238E27FC236}">
                <a16:creationId xmlns:a16="http://schemas.microsoft.com/office/drawing/2014/main" id="{3CC12732-A49B-B781-D0B0-43BE01403AAF}"/>
              </a:ext>
            </a:extLst>
          </p:cNvPr>
          <p:cNvCxnSpPr>
            <a:cxnSpLocks/>
          </p:cNvCxnSpPr>
          <p:nvPr/>
        </p:nvCxnSpPr>
        <p:spPr>
          <a:xfrm>
            <a:off x="4112751" y="3652169"/>
            <a:ext cx="4896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54" name="TextBox 53">
                <a:extLst>
                  <a:ext uri="{FF2B5EF4-FFF2-40B4-BE49-F238E27FC236}">
                    <a16:creationId xmlns:a16="http://schemas.microsoft.com/office/drawing/2014/main" id="{01F389E8-D6DD-C9E4-6771-BD235895F3B1}"/>
                  </a:ext>
                </a:extLst>
              </p:cNvPr>
              <p:cNvSpPr txBox="1"/>
              <p:nvPr/>
            </p:nvSpPr>
            <p:spPr>
              <a:xfrm>
                <a:off x="6266489" y="2619601"/>
                <a:ext cx="33163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𝑓</m:t>
                          </m:r>
                        </m:e>
                        <m:sub>
                          <m:r>
                            <a:rPr lang="en-US" i="1" dirty="0" smtClean="0">
                              <a:latin typeface="Cambria Math" panose="02040503050406030204" pitchFamily="18" charset="0"/>
                            </a:rPr>
                            <m:t>𝜃</m:t>
                          </m:r>
                        </m:sub>
                      </m:sSub>
                      <m:d>
                        <m:dPr>
                          <m:ctrlPr>
                            <a:rPr lang="en-US" i="1" dirty="0" smtClean="0">
                              <a:latin typeface="Cambria Math" panose="02040503050406030204" pitchFamily="18" charset="0"/>
                            </a:rPr>
                          </m:ctrlPr>
                        </m:dPr>
                        <m:e>
                          <m:r>
                            <a:rPr lang="en-US" b="1" i="1" dirty="0" smtClean="0">
                              <a:latin typeface="Cambria Math" panose="02040503050406030204" pitchFamily="18" charset="0"/>
                            </a:rPr>
                            <m:t>𝒙</m:t>
                          </m:r>
                        </m:e>
                      </m:d>
                      <m:r>
                        <a:rPr lang="en-US" b="1" i="1" dirty="0" smtClean="0">
                          <a:latin typeface="Cambria Math" panose="02040503050406030204" pitchFamily="18" charset="0"/>
                        </a:rPr>
                        <m:t>=</m:t>
                      </m:r>
                      <m:r>
                        <a:rPr lang="en-US" b="0" i="1" dirty="0" smtClean="0">
                          <a:latin typeface="Cambria Math" panose="02040503050406030204" pitchFamily="18" charset="0"/>
                        </a:rPr>
                        <m:t>𝑝</m:t>
                      </m:r>
                      <m:r>
                        <a:rPr lang="en-US" b="0" i="1" dirty="0" smtClean="0">
                          <a:latin typeface="Cambria Math" panose="02040503050406030204" pitchFamily="18" charset="0"/>
                        </a:rPr>
                        <m:t>=</m:t>
                      </m:r>
                      <m:r>
                        <a:rPr lang="en-US" b="0" i="1" smtClean="0">
                          <a:latin typeface="Cambria Math" panose="02040503050406030204" pitchFamily="18" charset="0"/>
                        </a:rPr>
                        <m:t>𝜎</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𝑏</m:t>
                          </m:r>
                        </m:e>
                      </m:d>
                    </m:oMath>
                  </m:oMathPara>
                </a14:m>
                <a:endParaRPr lang="en-US" dirty="0"/>
              </a:p>
            </p:txBody>
          </p:sp>
        </mc:Choice>
        <mc:Fallback>
          <p:sp>
            <p:nvSpPr>
              <p:cNvPr id="54" name="TextBox 53">
                <a:extLst>
                  <a:ext uri="{FF2B5EF4-FFF2-40B4-BE49-F238E27FC236}">
                    <a16:creationId xmlns:a16="http://schemas.microsoft.com/office/drawing/2014/main" id="{01F389E8-D6DD-C9E4-6771-BD235895F3B1}"/>
                  </a:ext>
                </a:extLst>
              </p:cNvPr>
              <p:cNvSpPr txBox="1">
                <a:spLocks noRot="1" noChangeAspect="1" noMove="1" noResize="1" noEditPoints="1" noAdjustHandles="1" noChangeArrowheads="1" noChangeShapeType="1" noTextEdit="1"/>
              </p:cNvSpPr>
              <p:nvPr/>
            </p:nvSpPr>
            <p:spPr>
              <a:xfrm>
                <a:off x="6266489" y="2619601"/>
                <a:ext cx="3316357" cy="276999"/>
              </a:xfrm>
              <a:prstGeom prst="rect">
                <a:avLst/>
              </a:prstGeom>
              <a:blipFill>
                <a:blip r:embed="rId10"/>
                <a:stretch>
                  <a:fillRect l="-2290" t="-4348" b="-3478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5" name="TextBox 54">
                <a:extLst>
                  <a:ext uri="{FF2B5EF4-FFF2-40B4-BE49-F238E27FC236}">
                    <a16:creationId xmlns:a16="http://schemas.microsoft.com/office/drawing/2014/main" id="{56F6373C-AF96-8542-A7CB-96F67ED39834}"/>
                  </a:ext>
                </a:extLst>
              </p:cNvPr>
              <p:cNvSpPr txBox="1"/>
              <p:nvPr/>
            </p:nvSpPr>
            <p:spPr>
              <a:xfrm>
                <a:off x="6266489" y="3107696"/>
                <a:ext cx="1550937" cy="525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𝜎</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𝑧</m:t>
                              </m:r>
                            </m:sup>
                          </m:sSup>
                        </m:den>
                      </m:f>
                    </m:oMath>
                  </m:oMathPara>
                </a14:m>
                <a:endParaRPr lang="en-US" dirty="0"/>
              </a:p>
            </p:txBody>
          </p:sp>
        </mc:Choice>
        <mc:Fallback>
          <p:sp>
            <p:nvSpPr>
              <p:cNvPr id="55" name="TextBox 54">
                <a:extLst>
                  <a:ext uri="{FF2B5EF4-FFF2-40B4-BE49-F238E27FC236}">
                    <a16:creationId xmlns:a16="http://schemas.microsoft.com/office/drawing/2014/main" id="{56F6373C-AF96-8542-A7CB-96F67ED39834}"/>
                  </a:ext>
                </a:extLst>
              </p:cNvPr>
              <p:cNvSpPr txBox="1">
                <a:spLocks noRot="1" noChangeAspect="1" noMove="1" noResize="1" noEditPoints="1" noAdjustHandles="1" noChangeArrowheads="1" noChangeShapeType="1" noTextEdit="1"/>
              </p:cNvSpPr>
              <p:nvPr/>
            </p:nvSpPr>
            <p:spPr>
              <a:xfrm>
                <a:off x="6266489" y="3107696"/>
                <a:ext cx="1550937" cy="525016"/>
              </a:xfrm>
              <a:prstGeom prst="rect">
                <a:avLst/>
              </a:prstGeom>
              <a:blipFill>
                <a:blip r:embed="rId11"/>
                <a:stretch>
                  <a:fillRect l="-1626" t="-4651" b="-9302"/>
                </a:stretch>
              </a:blipFill>
            </p:spPr>
            <p:txBody>
              <a:bodyPr/>
              <a:lstStyle/>
              <a:p>
                <a:r>
                  <a:rPr lang="en-US">
                    <a:noFill/>
                  </a:rPr>
                  <a:t> </a:t>
                </a:r>
              </a:p>
            </p:txBody>
          </p:sp>
        </mc:Fallback>
      </mc:AlternateContent>
      <p:grpSp>
        <p:nvGrpSpPr>
          <p:cNvPr id="17" name="Group 16">
            <a:extLst>
              <a:ext uri="{FF2B5EF4-FFF2-40B4-BE49-F238E27FC236}">
                <a16:creationId xmlns:a16="http://schemas.microsoft.com/office/drawing/2014/main" id="{9B3856BC-0811-3197-09E7-3FCE14C2346F}"/>
              </a:ext>
            </a:extLst>
          </p:cNvPr>
          <p:cNvGrpSpPr/>
          <p:nvPr/>
        </p:nvGrpSpPr>
        <p:grpSpPr>
          <a:xfrm>
            <a:off x="3202013" y="3178375"/>
            <a:ext cx="995337" cy="914400"/>
            <a:chOff x="7496986" y="1328396"/>
            <a:chExt cx="995337" cy="914400"/>
          </a:xfrm>
        </p:grpSpPr>
        <mc:AlternateContent xmlns:mc="http://schemas.openxmlformats.org/markup-compatibility/2006" xmlns:a14="http://schemas.microsoft.com/office/drawing/2010/main">
          <mc:Choice Requires="a14">
            <p:sp>
              <p:nvSpPr>
                <p:cNvPr id="3" name="Oval 2">
                  <a:extLst>
                    <a:ext uri="{FF2B5EF4-FFF2-40B4-BE49-F238E27FC236}">
                      <a16:creationId xmlns:a16="http://schemas.microsoft.com/office/drawing/2014/main" id="{3BEED852-2CF5-3701-F283-AF1857749F48}"/>
                    </a:ext>
                  </a:extLst>
                </p:cNvPr>
                <p:cNvSpPr/>
                <p:nvPr/>
              </p:nvSpPr>
              <p:spPr>
                <a:xfrm>
                  <a:off x="7496986" y="1328396"/>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m:rPr>
                            <m:sty m:val="p"/>
                          </m:rPr>
                          <a:rPr lang="en-US" sz="3600" i="0" dirty="0" smtClean="0">
                            <a:solidFill>
                              <a:schemeClr val="tx1"/>
                            </a:solidFill>
                            <a:latin typeface="Cambria Math" panose="02040503050406030204" pitchFamily="18" charset="0"/>
                          </a:rPr>
                          <m:t>Σ</m:t>
                        </m:r>
                        <m:r>
                          <a:rPr lang="en-US" sz="3600" b="0" i="1" dirty="0" smtClean="0">
                            <a:solidFill>
                              <a:schemeClr val="tx1"/>
                            </a:solidFill>
                            <a:latin typeface="Cambria Math" panose="02040503050406030204" pitchFamily="18" charset="0"/>
                          </a:rPr>
                          <m:t>  </m:t>
                        </m:r>
                      </m:oMath>
                    </m:oMathPara>
                  </a14:m>
                  <a:endParaRPr/>
                </a:p>
              </p:txBody>
            </p:sp>
          </mc:Choice>
          <mc:Fallback xmlns="">
            <p:sp>
              <p:nvSpPr>
                <p:cNvPr id="3" name="Oval 2">
                  <a:extLst>
                    <a:ext uri="{FF2B5EF4-FFF2-40B4-BE49-F238E27FC236}">
                      <a16:creationId xmlns:a16="http://schemas.microsoft.com/office/drawing/2014/main" id="{3BEED852-2CF5-3701-F283-AF1857749F48}"/>
                    </a:ext>
                  </a:extLst>
                </p:cNvPr>
                <p:cNvSpPr>
                  <a:spLocks noRot="1" noChangeAspect="1" noMove="1" noResize="1" noEditPoints="1" noAdjustHandles="1" noChangeArrowheads="1" noChangeShapeType="1" noTextEdit="1"/>
                </p:cNvSpPr>
                <p:nvPr/>
              </p:nvSpPr>
              <p:spPr>
                <a:xfrm>
                  <a:off x="7496986" y="1328396"/>
                  <a:ext cx="914400" cy="914400"/>
                </a:xfrm>
                <a:prstGeom prst="ellipse">
                  <a:avLst/>
                </a:prstGeom>
                <a:blipFill>
                  <a:blip r:embed="rId12"/>
                  <a:stretch>
                    <a:fillRect r="-9459" b="-10811"/>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7F60C8A2-0515-E174-B414-6481B00324E4}"/>
                </a:ext>
              </a:extLst>
            </p:cNvPr>
            <p:cNvCxnSpPr>
              <a:cxnSpLocks/>
            </p:cNvCxnSpPr>
            <p:nvPr/>
          </p:nvCxnSpPr>
          <p:spPr>
            <a:xfrm>
              <a:off x="8022997" y="1328396"/>
              <a:ext cx="0" cy="9144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E4A6D68A-8057-2FFF-D263-5CA47DA4A44D}"/>
                </a:ext>
              </a:extLst>
            </p:cNvPr>
            <p:cNvPicPr>
              <a:picLocks noChangeAspect="1"/>
            </p:cNvPicPr>
            <p:nvPr/>
          </p:nvPicPr>
          <p:blipFill>
            <a:blip r:embed="rId13"/>
            <a:stretch>
              <a:fillRect/>
            </a:stretch>
          </p:blipFill>
          <p:spPr>
            <a:xfrm>
              <a:off x="7919179" y="1594886"/>
              <a:ext cx="573144" cy="382096"/>
            </a:xfrm>
            <a:prstGeom prst="rect">
              <a:avLst/>
            </a:prstGeom>
          </p:spPr>
        </p:pic>
      </p:grpSp>
      <p:cxnSp>
        <p:nvCxnSpPr>
          <p:cNvPr id="7" name="Straight Arrow Connector 6">
            <a:extLst>
              <a:ext uri="{FF2B5EF4-FFF2-40B4-BE49-F238E27FC236}">
                <a16:creationId xmlns:a16="http://schemas.microsoft.com/office/drawing/2014/main" id="{8076AF88-DA99-DD95-9908-595E5B1894DD}"/>
              </a:ext>
            </a:extLst>
          </p:cNvPr>
          <p:cNvCxnSpPr>
            <a:cxnSpLocks/>
            <a:stCxn id="8" idx="2"/>
            <a:endCxn id="3" idx="0"/>
          </p:cNvCxnSpPr>
          <p:nvPr/>
        </p:nvCxnSpPr>
        <p:spPr>
          <a:xfrm>
            <a:off x="3655217" y="2716329"/>
            <a:ext cx="3996" cy="46204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5679A356-4EC5-5F5A-8943-A6B8E3E8602A}"/>
                  </a:ext>
                </a:extLst>
              </p:cNvPr>
              <p:cNvSpPr txBox="1"/>
              <p:nvPr/>
            </p:nvSpPr>
            <p:spPr>
              <a:xfrm>
                <a:off x="3472731" y="2346997"/>
                <a:ext cx="3649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oMath>
                  </m:oMathPara>
                </a14:m>
                <a:endParaRPr lang="en-US" dirty="0"/>
              </a:p>
            </p:txBody>
          </p:sp>
        </mc:Choice>
        <mc:Fallback>
          <p:sp>
            <p:nvSpPr>
              <p:cNvPr id="8" name="TextBox 7">
                <a:extLst>
                  <a:ext uri="{FF2B5EF4-FFF2-40B4-BE49-F238E27FC236}">
                    <a16:creationId xmlns:a16="http://schemas.microsoft.com/office/drawing/2014/main" id="{5679A356-4EC5-5F5A-8943-A6B8E3E8602A}"/>
                  </a:ext>
                </a:extLst>
              </p:cNvPr>
              <p:cNvSpPr txBox="1">
                <a:spLocks noRot="1" noChangeAspect="1" noMove="1" noResize="1" noEditPoints="1" noAdjustHandles="1" noChangeArrowheads="1" noChangeShapeType="1" noTextEdit="1"/>
              </p:cNvSpPr>
              <p:nvPr/>
            </p:nvSpPr>
            <p:spPr>
              <a:xfrm>
                <a:off x="3472731" y="2346997"/>
                <a:ext cx="364972"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7EDB6855-DAB7-A264-EA97-A6D78BFE6209}"/>
                  </a:ext>
                </a:extLst>
              </p:cNvPr>
              <p:cNvSpPr txBox="1"/>
              <p:nvPr/>
            </p:nvSpPr>
            <p:spPr>
              <a:xfrm>
                <a:off x="6266489" y="4331029"/>
                <a:ext cx="5438540" cy="4145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𝜃</m:t>
                          </m:r>
                        </m:sub>
                      </m:sSub>
                      <m:d>
                        <m:dPr>
                          <m:ctrlPr>
                            <a:rPr lang="en-US" b="0" i="1" smtClean="0">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𝒙</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𝑦</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log</m:t>
                          </m:r>
                          <m:r>
                            <a:rPr lang="en-US" b="0" i="0"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𝜃</m:t>
                              </m:r>
                            </m:sub>
                          </m:sSub>
                          <m:d>
                            <m:dPr>
                              <m:ctrlPr>
                                <a:rPr lang="en-US" b="0" i="1" smtClean="0">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𝒙</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𝑦</m:t>
                              </m:r>
                            </m:e>
                          </m:d>
                          <m:r>
                            <m:rPr>
                              <m:sty m:val="p"/>
                            </m:rPr>
                            <a:rPr lang="en-US" b="0" i="0" smtClean="0">
                              <a:latin typeface="Cambria Math" panose="02040503050406030204" pitchFamily="18" charset="0"/>
                              <a:ea typeface="Cambria Math" panose="02040503050406030204" pitchFamily="18" charset="0"/>
                            </a:rPr>
                            <m:t>log</m:t>
                          </m:r>
                          <m:r>
                            <a:rPr lang="en-US" b="0" i="0"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𝜃</m:t>
                                  </m:r>
                                </m:sub>
                              </m:sSub>
                              <m:d>
                                <m:dPr>
                                  <m:ctrlPr>
                                    <a:rPr lang="en-US" b="0" i="1" smtClean="0">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𝒙</m:t>
                                  </m:r>
                                </m:e>
                              </m:d>
                            </m:e>
                          </m:d>
                        </m:e>
                      </m:d>
                    </m:oMath>
                  </m:oMathPara>
                </a14:m>
                <a:endParaRPr lang="en-US" dirty="0"/>
              </a:p>
            </p:txBody>
          </p:sp>
        </mc:Choice>
        <mc:Fallback>
          <p:sp>
            <p:nvSpPr>
              <p:cNvPr id="23" name="TextBox 22">
                <a:extLst>
                  <a:ext uri="{FF2B5EF4-FFF2-40B4-BE49-F238E27FC236}">
                    <a16:creationId xmlns:a16="http://schemas.microsoft.com/office/drawing/2014/main" id="{7EDB6855-DAB7-A264-EA97-A6D78BFE6209}"/>
                  </a:ext>
                </a:extLst>
              </p:cNvPr>
              <p:cNvSpPr txBox="1">
                <a:spLocks noRot="1" noChangeAspect="1" noMove="1" noResize="1" noEditPoints="1" noAdjustHandles="1" noChangeArrowheads="1" noChangeShapeType="1" noTextEdit="1"/>
              </p:cNvSpPr>
              <p:nvPr/>
            </p:nvSpPr>
            <p:spPr>
              <a:xfrm>
                <a:off x="6266489" y="4331029"/>
                <a:ext cx="5438540" cy="414537"/>
              </a:xfrm>
              <a:prstGeom prst="rect">
                <a:avLst/>
              </a:prstGeom>
              <a:blipFill>
                <a:blip r:embed="rId15"/>
                <a:stretch>
                  <a:fillRect l="-466" b="-1176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B922E7FA-CC43-AC58-37A5-510831675511}"/>
                  </a:ext>
                </a:extLst>
              </p:cNvPr>
              <p:cNvSpPr txBox="1"/>
              <p:nvPr/>
            </p:nvSpPr>
            <p:spPr>
              <a:xfrm>
                <a:off x="6202020" y="1977665"/>
                <a:ext cx="4866076" cy="369332"/>
              </a:xfrm>
              <a:prstGeom prst="rect">
                <a:avLst/>
              </a:prstGeom>
              <a:noFill/>
            </p:spPr>
            <p:txBody>
              <a:bodyPr wrap="none" rtlCol="0">
                <a:spAutoFit/>
              </a:bodyPr>
              <a:lstStyle/>
              <a:p>
                <a:r>
                  <a:rPr lang="en-US" dirty="0"/>
                  <a:t>Write our model as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𝑓</m:t>
                        </m:r>
                      </m:e>
                      <m:sub>
                        <m:r>
                          <a:rPr lang="en-US" i="1" dirty="0" smtClean="0">
                            <a:latin typeface="Cambria Math" panose="02040503050406030204" pitchFamily="18" charset="0"/>
                          </a:rPr>
                          <m:t>𝜃</m:t>
                        </m:r>
                      </m:sub>
                    </m:sSub>
                    <m:r>
                      <a:rPr lang="en-US" i="1" dirty="0" smtClean="0">
                        <a:latin typeface="Cambria Math" panose="02040503050406030204" pitchFamily="18" charset="0"/>
                      </a:rPr>
                      <m:t>(</m:t>
                    </m:r>
                    <m:r>
                      <a:rPr lang="en-US" b="1" i="1" dirty="0" smtClean="0">
                        <a:latin typeface="Cambria Math" panose="02040503050406030204" pitchFamily="18" charset="0"/>
                      </a:rPr>
                      <m:t>𝒙</m:t>
                    </m:r>
                    <m:r>
                      <a:rPr lang="en-US" i="1" dirty="0" smtClean="0">
                        <a:latin typeface="Cambria Math" panose="02040503050406030204" pitchFamily="18" charset="0"/>
                      </a:rPr>
                      <m:t>)</m:t>
                    </m:r>
                  </m:oMath>
                </a14:m>
                <a:r>
                  <a:rPr lang="en-US" dirty="0"/>
                  <a:t>, where </a:t>
                </a:r>
                <a14:m>
                  <m:oMath xmlns:m="http://schemas.openxmlformats.org/officeDocument/2006/math">
                    <m:r>
                      <a:rPr lang="en-US" i="1" dirty="0" smtClean="0">
                        <a:latin typeface="Cambria Math" panose="02040503050406030204" pitchFamily="18" charset="0"/>
                      </a:rPr>
                      <m:t>𝜃</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𝑤</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𝑤</m:t>
                        </m:r>
                      </m:e>
                      <m:sub>
                        <m:r>
                          <a:rPr lang="en-US" i="1" dirty="0" smtClean="0">
                            <a:latin typeface="Cambria Math" panose="02040503050406030204" pitchFamily="18" charset="0"/>
                          </a:rPr>
                          <m:t>2</m:t>
                        </m:r>
                      </m:sub>
                    </m:sSub>
                    <m:r>
                      <a:rPr lang="en-US" i="1" dirty="0" smtClean="0">
                        <a:latin typeface="Cambria Math" panose="02040503050406030204" pitchFamily="18" charset="0"/>
                      </a:rPr>
                      <m:t>, </m:t>
                    </m:r>
                    <m:r>
                      <a:rPr lang="en-US" i="1" dirty="0" smtClean="0">
                        <a:latin typeface="Cambria Math" panose="02040503050406030204" pitchFamily="18" charset="0"/>
                      </a:rPr>
                      <m:t>𝑏</m:t>
                    </m:r>
                    <m:r>
                      <a:rPr lang="en-US" i="1" dirty="0" smtClean="0">
                        <a:latin typeface="Cambria Math" panose="02040503050406030204" pitchFamily="18" charset="0"/>
                      </a:rPr>
                      <m:t>}</m:t>
                    </m:r>
                  </m:oMath>
                </a14:m>
                <a:endParaRPr lang="en-US" dirty="0"/>
              </a:p>
            </p:txBody>
          </p:sp>
        </mc:Choice>
        <mc:Fallback>
          <p:sp>
            <p:nvSpPr>
              <p:cNvPr id="24" name="TextBox 23">
                <a:extLst>
                  <a:ext uri="{FF2B5EF4-FFF2-40B4-BE49-F238E27FC236}">
                    <a16:creationId xmlns:a16="http://schemas.microsoft.com/office/drawing/2014/main" id="{B922E7FA-CC43-AC58-37A5-510831675511}"/>
                  </a:ext>
                </a:extLst>
              </p:cNvPr>
              <p:cNvSpPr txBox="1">
                <a:spLocks noRot="1" noChangeAspect="1" noMove="1" noResize="1" noEditPoints="1" noAdjustHandles="1" noChangeArrowheads="1" noChangeShapeType="1" noTextEdit="1"/>
              </p:cNvSpPr>
              <p:nvPr/>
            </p:nvSpPr>
            <p:spPr>
              <a:xfrm>
                <a:off x="6202020" y="1977665"/>
                <a:ext cx="4866076" cy="369332"/>
              </a:xfrm>
              <a:prstGeom prst="rect">
                <a:avLst/>
              </a:prstGeom>
              <a:blipFill>
                <a:blip r:embed="rId16"/>
                <a:stretch>
                  <a:fillRect l="-1042" t="-6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6E8EC62B-7BA1-8F76-9EAA-B220373C1197}"/>
                  </a:ext>
                </a:extLst>
              </p:cNvPr>
              <p:cNvSpPr txBox="1"/>
              <p:nvPr/>
            </p:nvSpPr>
            <p:spPr>
              <a:xfrm>
                <a:off x="6202019" y="5012852"/>
                <a:ext cx="3316356" cy="984052"/>
              </a:xfrm>
              <a:prstGeom prst="rect">
                <a:avLst/>
              </a:prstGeom>
              <a:noFill/>
            </p:spPr>
            <p:txBody>
              <a:bodyPr wrap="square" rtlCol="0">
                <a:spAutoFit/>
              </a:bodyPr>
              <a:lstStyle/>
              <a:p>
                <a:r>
                  <a:rPr lang="en-US" dirty="0"/>
                  <a:t>Goal: obtain </a:t>
                </a:r>
                <a14:m>
                  <m:oMath xmlns:m="http://schemas.openxmlformats.org/officeDocument/2006/math">
                    <m:sSub>
                      <m:sSubPr>
                        <m:ctrlPr>
                          <a:rPr lang="en-US" b="0" i="1" dirty="0" smtClean="0">
                            <a:latin typeface="Cambria Math" panose="02040503050406030204" pitchFamily="18" charset="0"/>
                          </a:rPr>
                        </m:ctrlPr>
                      </m:sSubPr>
                      <m:e>
                        <m:r>
                          <m:rPr>
                            <m:sty m:val="p"/>
                          </m:rPr>
                          <a:rPr lang="en-US" i="0" dirty="0" smtClean="0">
                            <a:latin typeface="Cambria Math" panose="02040503050406030204" pitchFamily="18" charset="0"/>
                          </a:rPr>
                          <m:t>∇</m:t>
                        </m:r>
                      </m:e>
                      <m:sub>
                        <m:r>
                          <a:rPr lang="en-US" b="0" i="1" dirty="0" smtClean="0">
                            <a:latin typeface="Cambria Math" panose="02040503050406030204" pitchFamily="18" charset="0"/>
                          </a:rPr>
                          <m:t>𝜃</m:t>
                        </m:r>
                      </m:sub>
                    </m:sSub>
                    <m:r>
                      <a:rPr lang="en-US" b="0"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eqArr>
                          <m:eqArrPr>
                            <m:ctrlPr>
                              <a:rPr lang="en-US" b="0" i="1" smtClean="0">
                                <a:latin typeface="Cambria Math" panose="02040503050406030204" pitchFamily="18" charset="0"/>
                                <a:ea typeface="Cambria Math" panose="02040503050406030204" pitchFamily="18" charset="0"/>
                              </a:rPr>
                            </m:ctrlPr>
                          </m:eqArr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1</m:t>
                                </m:r>
                              </m:sub>
                            </m:sSub>
                          </m:e>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2</m:t>
                                </m:r>
                              </m:sub>
                            </m:sSub>
                          </m:e>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e>
                        </m:eqArr>
                      </m:e>
                    </m:d>
                  </m:oMath>
                </a14:m>
                <a:endParaRPr lang="en-US" dirty="0"/>
              </a:p>
            </p:txBody>
          </p:sp>
        </mc:Choice>
        <mc:Fallback>
          <p:sp>
            <p:nvSpPr>
              <p:cNvPr id="25" name="TextBox 24">
                <a:extLst>
                  <a:ext uri="{FF2B5EF4-FFF2-40B4-BE49-F238E27FC236}">
                    <a16:creationId xmlns:a16="http://schemas.microsoft.com/office/drawing/2014/main" id="{6E8EC62B-7BA1-8F76-9EAA-B220373C1197}"/>
                  </a:ext>
                </a:extLst>
              </p:cNvPr>
              <p:cNvSpPr txBox="1">
                <a:spLocks noRot="1" noChangeAspect="1" noMove="1" noResize="1" noEditPoints="1" noAdjustHandles="1" noChangeArrowheads="1" noChangeShapeType="1" noTextEdit="1"/>
              </p:cNvSpPr>
              <p:nvPr/>
            </p:nvSpPr>
            <p:spPr>
              <a:xfrm>
                <a:off x="6202019" y="5012852"/>
                <a:ext cx="3316356" cy="984052"/>
              </a:xfrm>
              <a:prstGeom prst="rect">
                <a:avLst/>
              </a:prstGeom>
              <a:blipFill>
                <a:blip r:embed="rId17"/>
                <a:stretch>
                  <a:fillRect l="-1527"/>
                </a:stretch>
              </a:blipFill>
            </p:spPr>
            <p:txBody>
              <a:bodyPr/>
              <a:lstStyle/>
              <a:p>
                <a:r>
                  <a:rPr lang="en-US">
                    <a:noFill/>
                  </a:rPr>
                  <a:t> </a:t>
                </a:r>
              </a:p>
            </p:txBody>
          </p:sp>
        </mc:Fallback>
      </mc:AlternateContent>
    </p:spTree>
    <p:extLst>
      <p:ext uri="{BB962C8B-B14F-4D97-AF65-F5344CB8AC3E}">
        <p14:creationId xmlns:p14="http://schemas.microsoft.com/office/powerpoint/2010/main" val="737796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FFA40-0286-D822-9A0A-C6303F2BB5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7C03CC-303C-B061-C3D5-B4AF9784FDD6}"/>
              </a:ext>
            </a:extLst>
          </p:cNvPr>
          <p:cNvSpPr>
            <a:spLocks noGrp="1"/>
          </p:cNvSpPr>
          <p:nvPr>
            <p:ph type="title"/>
          </p:nvPr>
        </p:nvSpPr>
        <p:spPr/>
        <p:txBody>
          <a:bodyPr/>
          <a:lstStyle/>
          <a:p>
            <a:r>
              <a:rPr lang="en-US" dirty="0" err="1"/>
              <a:t>Autodifferentiation</a:t>
            </a:r>
            <a:r>
              <a:rPr lang="en-US" dirty="0"/>
              <a:t> for logistic regression</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F7D2CB31-6E32-64A4-548C-1534E7486FBD}"/>
                  </a:ext>
                </a:extLst>
              </p:cNvPr>
              <p:cNvSpPr/>
              <p:nvPr/>
            </p:nvSpPr>
            <p:spPr>
              <a:xfrm>
                <a:off x="1207257" y="2346997"/>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m:rPr>
                              <m:sty m:val="p"/>
                            </m:rPr>
                            <a:rPr lang="en-US" b="0" i="0" dirty="0" smtClean="0">
                              <a:solidFill>
                                <a:schemeClr val="tx1"/>
                              </a:solidFill>
                              <a:latin typeface="Cambria Math" panose="02040503050406030204" pitchFamily="18" charset="0"/>
                            </a:rPr>
                            <m:t>x</m:t>
                          </m:r>
                        </m:e>
                        <m:sub>
                          <m:r>
                            <a:rPr lang="en-US" i="1" dirty="0"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xmlns="">
          <p:sp>
            <p:nvSpPr>
              <p:cNvPr id="4" name="Oval 3">
                <a:extLst>
                  <a:ext uri="{FF2B5EF4-FFF2-40B4-BE49-F238E27FC236}">
                    <a16:creationId xmlns:a16="http://schemas.microsoft.com/office/drawing/2014/main" id="{EA38DCE9-D153-8C71-DD64-95AA62D12BA2}"/>
                  </a:ext>
                </a:extLst>
              </p:cNvPr>
              <p:cNvSpPr>
                <a:spLocks noRot="1" noChangeAspect="1" noMove="1" noResize="1" noEditPoints="1" noAdjustHandles="1" noChangeArrowheads="1" noChangeShapeType="1" noTextEdit="1"/>
              </p:cNvSpPr>
              <p:nvPr/>
            </p:nvSpPr>
            <p:spPr>
              <a:xfrm>
                <a:off x="1207257" y="2346997"/>
                <a:ext cx="914400" cy="914400"/>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B49DD31C-CCDE-D983-6063-E6211812FA21}"/>
                  </a:ext>
                </a:extLst>
              </p:cNvPr>
              <p:cNvSpPr/>
              <p:nvPr/>
            </p:nvSpPr>
            <p:spPr>
              <a:xfrm>
                <a:off x="1207257" y="4022261"/>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m:rPr>
                              <m:sty m:val="p"/>
                            </m:rPr>
                            <a:rPr lang="en-US" b="0" i="0" dirty="0" smtClean="0">
                              <a:solidFill>
                                <a:schemeClr val="tx1"/>
                              </a:solidFill>
                              <a:latin typeface="Cambria Math" panose="02040503050406030204" pitchFamily="18" charset="0"/>
                            </a:rPr>
                            <m:t>x</m:t>
                          </m:r>
                        </m:e>
                        <m:sub>
                          <m:r>
                            <a:rPr lang="en-US" b="0" i="1" dirty="0" smtClean="0">
                              <a:solidFill>
                                <a:schemeClr val="tx1"/>
                              </a:solidFill>
                              <a:latin typeface="Cambria Math" panose="02040503050406030204" pitchFamily="18" charset="0"/>
                            </a:rPr>
                            <m:t>𝑚</m:t>
                          </m:r>
                        </m:sub>
                      </m:sSub>
                    </m:oMath>
                  </m:oMathPara>
                </a14:m>
                <a:endParaRPr lang="en-US" dirty="0">
                  <a:solidFill>
                    <a:schemeClr val="tx1"/>
                  </a:solidFill>
                </a:endParaRPr>
              </a:p>
            </p:txBody>
          </p:sp>
        </mc:Choice>
        <mc:Fallback xmlns="">
          <p:sp>
            <p:nvSpPr>
              <p:cNvPr id="5" name="Oval 4">
                <a:extLst>
                  <a:ext uri="{FF2B5EF4-FFF2-40B4-BE49-F238E27FC236}">
                    <a16:creationId xmlns:a16="http://schemas.microsoft.com/office/drawing/2014/main" id="{A5F9490E-1587-DE7A-1837-F689A28B0825}"/>
                  </a:ext>
                </a:extLst>
              </p:cNvPr>
              <p:cNvSpPr>
                <a:spLocks noRot="1" noChangeAspect="1" noMove="1" noResize="1" noEditPoints="1" noAdjustHandles="1" noChangeArrowheads="1" noChangeShapeType="1" noTextEdit="1"/>
              </p:cNvSpPr>
              <p:nvPr/>
            </p:nvSpPr>
            <p:spPr>
              <a:xfrm>
                <a:off x="1207257" y="4022261"/>
                <a:ext cx="914400" cy="914400"/>
              </a:xfrm>
              <a:prstGeom prst="ellipse">
                <a:avLst/>
              </a:prstGeom>
              <a:blipFill>
                <a:blip r:embed="rId4"/>
                <a:stretch>
                  <a:fillRect/>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C68AB224-FAA6-DE94-A089-8D56E52E73C3}"/>
              </a:ext>
            </a:extLst>
          </p:cNvPr>
          <p:cNvCxnSpPr>
            <a:cxnSpLocks/>
            <a:stCxn id="4" idx="6"/>
            <a:endCxn id="3" idx="1"/>
          </p:cNvCxnSpPr>
          <p:nvPr/>
        </p:nvCxnSpPr>
        <p:spPr>
          <a:xfrm>
            <a:off x="2121657" y="2804197"/>
            <a:ext cx="1214267" cy="50808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94983E55-BC78-F298-6105-472EDBF37303}"/>
              </a:ext>
            </a:extLst>
          </p:cNvPr>
          <p:cNvCxnSpPr>
            <a:cxnSpLocks/>
            <a:endCxn id="3" idx="3"/>
          </p:cNvCxnSpPr>
          <p:nvPr/>
        </p:nvCxnSpPr>
        <p:spPr>
          <a:xfrm flipV="1">
            <a:off x="2121657" y="3958864"/>
            <a:ext cx="1214267" cy="5166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EA483AB-9465-9FE8-DA70-DA4373CD5673}"/>
                  </a:ext>
                </a:extLst>
              </p:cNvPr>
              <p:cNvSpPr txBox="1"/>
              <p:nvPr/>
            </p:nvSpPr>
            <p:spPr>
              <a:xfrm>
                <a:off x="2294436" y="2665697"/>
                <a:ext cx="83465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oMath>
                  </m:oMathPara>
                </a14:m>
                <a:endParaRPr lang="en-US" dirty="0"/>
              </a:p>
            </p:txBody>
          </p:sp>
        </mc:Choice>
        <mc:Fallback xmlns="">
          <p:sp>
            <p:nvSpPr>
              <p:cNvPr id="15" name="TextBox 14">
                <a:extLst>
                  <a:ext uri="{FF2B5EF4-FFF2-40B4-BE49-F238E27FC236}">
                    <a16:creationId xmlns:a16="http://schemas.microsoft.com/office/drawing/2014/main" id="{58ADFEA8-18E6-E3F3-9264-6186D8A35F4E}"/>
                  </a:ext>
                </a:extLst>
              </p:cNvPr>
              <p:cNvSpPr txBox="1">
                <a:spLocks noRot="1" noChangeAspect="1" noMove="1" noResize="1" noEditPoints="1" noAdjustHandles="1" noChangeArrowheads="1" noChangeShapeType="1" noTextEdit="1"/>
              </p:cNvSpPr>
              <p:nvPr/>
            </p:nvSpPr>
            <p:spPr>
              <a:xfrm>
                <a:off x="2294436" y="2665697"/>
                <a:ext cx="834656" cy="276999"/>
              </a:xfrm>
              <a:prstGeom prst="rect">
                <a:avLst/>
              </a:prstGeom>
              <a:blipFill>
                <a:blip r:embed="rId5"/>
                <a:stretch>
                  <a:fillRect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B38C93F-745C-DA82-2728-39E9FC72CECB}"/>
                  </a:ext>
                </a:extLst>
              </p:cNvPr>
              <p:cNvSpPr txBox="1"/>
              <p:nvPr/>
            </p:nvSpPr>
            <p:spPr>
              <a:xfrm>
                <a:off x="2294436" y="4337049"/>
                <a:ext cx="83465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𝑚</m:t>
                          </m:r>
                        </m:sub>
                      </m:sSub>
                    </m:oMath>
                  </m:oMathPara>
                </a14:m>
                <a:endParaRPr lang="en-US" dirty="0"/>
              </a:p>
            </p:txBody>
          </p:sp>
        </mc:Choice>
        <mc:Fallback xmlns="">
          <p:sp>
            <p:nvSpPr>
              <p:cNvPr id="16" name="TextBox 15">
                <a:extLst>
                  <a:ext uri="{FF2B5EF4-FFF2-40B4-BE49-F238E27FC236}">
                    <a16:creationId xmlns:a16="http://schemas.microsoft.com/office/drawing/2014/main" id="{A0A0031A-6BED-E652-C5B4-047192F3F24C}"/>
                  </a:ext>
                </a:extLst>
              </p:cNvPr>
              <p:cNvSpPr txBox="1">
                <a:spLocks noRot="1" noChangeAspect="1" noMove="1" noResize="1" noEditPoints="1" noAdjustHandles="1" noChangeArrowheads="1" noChangeShapeType="1" noTextEdit="1"/>
              </p:cNvSpPr>
              <p:nvPr/>
            </p:nvSpPr>
            <p:spPr>
              <a:xfrm>
                <a:off x="2294436" y="4337049"/>
                <a:ext cx="834656" cy="276999"/>
              </a:xfrm>
              <a:prstGeom prst="rect">
                <a:avLst/>
              </a:prstGeom>
              <a:blipFill>
                <a:blip r:embed="rId6"/>
                <a:stretch>
                  <a:fillRect b="-8696"/>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4F51ABA7-EC87-E02A-F295-5295AB0CFF8B}"/>
              </a:ext>
            </a:extLst>
          </p:cNvPr>
          <p:cNvSpPr txBox="1"/>
          <p:nvPr/>
        </p:nvSpPr>
        <p:spPr>
          <a:xfrm>
            <a:off x="3105738" y="4092775"/>
            <a:ext cx="622286" cy="369332"/>
          </a:xfrm>
          <a:prstGeom prst="rect">
            <a:avLst/>
          </a:prstGeom>
          <a:noFill/>
        </p:spPr>
        <p:txBody>
          <a:bodyPr wrap="none" rtlCol="0">
            <a:spAutoFit/>
          </a:bodyPr>
          <a:lstStyle/>
          <a:p>
            <a:r>
              <a:rPr lang="en-US" dirty="0"/>
              <a:t>sum</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23F3838D-892F-0F1D-87DF-854957E24684}"/>
                  </a:ext>
                </a:extLst>
              </p:cNvPr>
              <p:cNvSpPr txBox="1"/>
              <p:nvPr/>
            </p:nvSpPr>
            <p:spPr>
              <a:xfrm>
                <a:off x="3774172" y="4092775"/>
                <a:ext cx="1351524" cy="923330"/>
              </a:xfrm>
              <a:prstGeom prst="rect">
                <a:avLst/>
              </a:prstGeom>
              <a:noFill/>
            </p:spPr>
            <p:txBody>
              <a:bodyPr wrap="none" rtlCol="0">
                <a:spAutoFit/>
              </a:bodyPr>
              <a:lstStyle/>
              <a:p>
                <a:r>
                  <a:rPr lang="en-US" dirty="0"/>
                  <a:t>sigmoid</a:t>
                </a:r>
              </a:p>
              <a:p>
                <a:r>
                  <a:rPr lang="en-US" dirty="0"/>
                  <a:t>(aka logistic)</a:t>
                </a:r>
              </a:p>
              <a:p>
                <a:r>
                  <a:rPr lang="en-US" dirty="0"/>
                  <a:t>function </a:t>
                </a:r>
                <a14:m>
                  <m:oMath xmlns:m="http://schemas.openxmlformats.org/officeDocument/2006/math">
                    <m:r>
                      <a:rPr lang="en-US" b="0" i="1" smtClean="0">
                        <a:latin typeface="Cambria Math" panose="02040503050406030204" pitchFamily="18" charset="0"/>
                      </a:rPr>
                      <m:t>𝜎</m:t>
                    </m:r>
                  </m:oMath>
                </a14:m>
                <a:endParaRPr lang="en-US" dirty="0"/>
              </a:p>
            </p:txBody>
          </p:sp>
        </mc:Choice>
        <mc:Fallback xmlns="">
          <p:sp>
            <p:nvSpPr>
              <p:cNvPr id="42" name="TextBox 41">
                <a:extLst>
                  <a:ext uri="{FF2B5EF4-FFF2-40B4-BE49-F238E27FC236}">
                    <a16:creationId xmlns:a16="http://schemas.microsoft.com/office/drawing/2014/main" id="{E072783F-2A9D-2E05-02E4-1D58A68712F4}"/>
                  </a:ext>
                </a:extLst>
              </p:cNvPr>
              <p:cNvSpPr txBox="1">
                <a:spLocks noRot="1" noChangeAspect="1" noMove="1" noResize="1" noEditPoints="1" noAdjustHandles="1" noChangeArrowheads="1" noChangeShapeType="1" noTextEdit="1"/>
              </p:cNvSpPr>
              <p:nvPr/>
            </p:nvSpPr>
            <p:spPr>
              <a:xfrm>
                <a:off x="3774172" y="4092775"/>
                <a:ext cx="1351524" cy="923330"/>
              </a:xfrm>
              <a:prstGeom prst="rect">
                <a:avLst/>
              </a:prstGeom>
              <a:blipFill>
                <a:blip r:embed="rId8"/>
                <a:stretch>
                  <a:fillRect l="-3738" t="-2703" r="-2804" b="-94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6B5B8A40-7225-E010-7E74-2C506A2EEE61}"/>
                  </a:ext>
                </a:extLst>
              </p:cNvPr>
              <p:cNvSpPr txBox="1"/>
              <p:nvPr/>
            </p:nvSpPr>
            <p:spPr>
              <a:xfrm>
                <a:off x="4538606" y="3457163"/>
                <a:ext cx="13221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=1|</m:t>
                      </m:r>
                      <m:r>
                        <a:rPr lang="en-US" b="1" i="1" smtClean="0">
                          <a:latin typeface="Cambria Math" panose="02040503050406030204" pitchFamily="18" charset="0"/>
                        </a:rPr>
                        <m:t>𝒙</m:t>
                      </m:r>
                      <m:r>
                        <a:rPr lang="en-US" b="0" i="1" smtClean="0">
                          <a:latin typeface="Cambria Math" panose="02040503050406030204" pitchFamily="18" charset="0"/>
                        </a:rPr>
                        <m:t>)</m:t>
                      </m:r>
                    </m:oMath>
                  </m:oMathPara>
                </a14:m>
                <a:endParaRPr lang="en-US" dirty="0"/>
              </a:p>
            </p:txBody>
          </p:sp>
        </mc:Choice>
        <mc:Fallback xmlns="">
          <p:sp>
            <p:nvSpPr>
              <p:cNvPr id="45" name="TextBox 44">
                <a:extLst>
                  <a:ext uri="{FF2B5EF4-FFF2-40B4-BE49-F238E27FC236}">
                    <a16:creationId xmlns:a16="http://schemas.microsoft.com/office/drawing/2014/main" id="{AE415A31-0A82-0C2C-C307-34B3F814C2CA}"/>
                  </a:ext>
                </a:extLst>
              </p:cNvPr>
              <p:cNvSpPr txBox="1">
                <a:spLocks noRot="1" noChangeAspect="1" noMove="1" noResize="1" noEditPoints="1" noAdjustHandles="1" noChangeArrowheads="1" noChangeShapeType="1" noTextEdit="1"/>
              </p:cNvSpPr>
              <p:nvPr/>
            </p:nvSpPr>
            <p:spPr>
              <a:xfrm>
                <a:off x="4538606" y="3457163"/>
                <a:ext cx="1322157" cy="369332"/>
              </a:xfrm>
              <a:prstGeom prst="rect">
                <a:avLst/>
              </a:prstGeom>
              <a:blipFill>
                <a:blip r:embed="rId9"/>
                <a:stretch>
                  <a:fillRect b="-13333"/>
                </a:stretch>
              </a:blipFill>
            </p:spPr>
            <p:txBody>
              <a:bodyPr/>
              <a:lstStyle/>
              <a:p>
                <a:r>
                  <a:rPr lang="en-US">
                    <a:noFill/>
                  </a:rPr>
                  <a:t> </a:t>
                </a:r>
              </a:p>
            </p:txBody>
          </p:sp>
        </mc:Fallback>
      </mc:AlternateContent>
      <p:cxnSp>
        <p:nvCxnSpPr>
          <p:cNvPr id="47" name="Straight Arrow Connector 46">
            <a:extLst>
              <a:ext uri="{FF2B5EF4-FFF2-40B4-BE49-F238E27FC236}">
                <a16:creationId xmlns:a16="http://schemas.microsoft.com/office/drawing/2014/main" id="{FD96157E-79BF-FE42-4344-C889DC8B6754}"/>
              </a:ext>
            </a:extLst>
          </p:cNvPr>
          <p:cNvCxnSpPr>
            <a:cxnSpLocks/>
          </p:cNvCxnSpPr>
          <p:nvPr/>
        </p:nvCxnSpPr>
        <p:spPr>
          <a:xfrm>
            <a:off x="4112751" y="3652169"/>
            <a:ext cx="4896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17" name="Group 16">
            <a:extLst>
              <a:ext uri="{FF2B5EF4-FFF2-40B4-BE49-F238E27FC236}">
                <a16:creationId xmlns:a16="http://schemas.microsoft.com/office/drawing/2014/main" id="{01FA3951-9977-D6FE-856B-A762652FC1DB}"/>
              </a:ext>
            </a:extLst>
          </p:cNvPr>
          <p:cNvGrpSpPr/>
          <p:nvPr/>
        </p:nvGrpSpPr>
        <p:grpSpPr>
          <a:xfrm>
            <a:off x="3202013" y="3178375"/>
            <a:ext cx="995337" cy="914400"/>
            <a:chOff x="7496986" y="1328396"/>
            <a:chExt cx="995337" cy="914400"/>
          </a:xfrm>
        </p:grpSpPr>
        <mc:AlternateContent xmlns:mc="http://schemas.openxmlformats.org/markup-compatibility/2006" xmlns:a14="http://schemas.microsoft.com/office/drawing/2010/main">
          <mc:Choice Requires="a14">
            <p:sp>
              <p:nvSpPr>
                <p:cNvPr id="3" name="Oval 2">
                  <a:extLst>
                    <a:ext uri="{FF2B5EF4-FFF2-40B4-BE49-F238E27FC236}">
                      <a16:creationId xmlns:a16="http://schemas.microsoft.com/office/drawing/2014/main" id="{468B1785-016B-0CF0-359D-798FB88FB68E}"/>
                    </a:ext>
                  </a:extLst>
                </p:cNvPr>
                <p:cNvSpPr/>
                <p:nvPr/>
              </p:nvSpPr>
              <p:spPr>
                <a:xfrm>
                  <a:off x="7496986" y="1328396"/>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m:rPr>
                            <m:sty m:val="p"/>
                          </m:rPr>
                          <a:rPr lang="en-US" sz="3600" i="0" dirty="0" smtClean="0">
                            <a:solidFill>
                              <a:schemeClr val="tx1"/>
                            </a:solidFill>
                            <a:latin typeface="Cambria Math" panose="02040503050406030204" pitchFamily="18" charset="0"/>
                          </a:rPr>
                          <m:t>Σ</m:t>
                        </m:r>
                        <m:r>
                          <a:rPr lang="en-US" sz="3600" b="0" i="1" dirty="0" smtClean="0">
                            <a:solidFill>
                              <a:schemeClr val="tx1"/>
                            </a:solidFill>
                            <a:latin typeface="Cambria Math" panose="02040503050406030204" pitchFamily="18" charset="0"/>
                          </a:rPr>
                          <m:t>  </m:t>
                        </m:r>
                      </m:oMath>
                    </m:oMathPara>
                  </a14:m>
                  <a:endParaRPr/>
                </a:p>
              </p:txBody>
            </p:sp>
          </mc:Choice>
          <mc:Fallback xmlns="">
            <p:sp>
              <p:nvSpPr>
                <p:cNvPr id="3" name="Oval 2">
                  <a:extLst>
                    <a:ext uri="{FF2B5EF4-FFF2-40B4-BE49-F238E27FC236}">
                      <a16:creationId xmlns:a16="http://schemas.microsoft.com/office/drawing/2014/main" id="{3BEED852-2CF5-3701-F283-AF1857749F48}"/>
                    </a:ext>
                  </a:extLst>
                </p:cNvPr>
                <p:cNvSpPr>
                  <a:spLocks noRot="1" noChangeAspect="1" noMove="1" noResize="1" noEditPoints="1" noAdjustHandles="1" noChangeArrowheads="1" noChangeShapeType="1" noTextEdit="1"/>
                </p:cNvSpPr>
                <p:nvPr/>
              </p:nvSpPr>
              <p:spPr>
                <a:xfrm>
                  <a:off x="7496986" y="1328396"/>
                  <a:ext cx="914400" cy="914400"/>
                </a:xfrm>
                <a:prstGeom prst="ellipse">
                  <a:avLst/>
                </a:prstGeom>
                <a:blipFill>
                  <a:blip r:embed="rId12"/>
                  <a:stretch>
                    <a:fillRect r="-9459" b="-10811"/>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53933289-971B-D6F8-116F-2F7AC33E7C00}"/>
                </a:ext>
              </a:extLst>
            </p:cNvPr>
            <p:cNvCxnSpPr>
              <a:cxnSpLocks/>
            </p:cNvCxnSpPr>
            <p:nvPr/>
          </p:nvCxnSpPr>
          <p:spPr>
            <a:xfrm>
              <a:off x="8022997" y="1328396"/>
              <a:ext cx="0" cy="9144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23CB8160-63B5-7CAB-721E-06D38112DE00}"/>
                </a:ext>
              </a:extLst>
            </p:cNvPr>
            <p:cNvPicPr>
              <a:picLocks noChangeAspect="1"/>
            </p:cNvPicPr>
            <p:nvPr/>
          </p:nvPicPr>
          <p:blipFill>
            <a:blip r:embed="rId13"/>
            <a:stretch>
              <a:fillRect/>
            </a:stretch>
          </p:blipFill>
          <p:spPr>
            <a:xfrm>
              <a:off x="7919179" y="1594886"/>
              <a:ext cx="573144" cy="382096"/>
            </a:xfrm>
            <a:prstGeom prst="rect">
              <a:avLst/>
            </a:prstGeom>
          </p:spPr>
        </p:pic>
      </p:grpSp>
      <p:cxnSp>
        <p:nvCxnSpPr>
          <p:cNvPr id="7" name="Straight Arrow Connector 6">
            <a:extLst>
              <a:ext uri="{FF2B5EF4-FFF2-40B4-BE49-F238E27FC236}">
                <a16:creationId xmlns:a16="http://schemas.microsoft.com/office/drawing/2014/main" id="{593C92A2-C856-EDE0-67E4-4B3B7A1B10E4}"/>
              </a:ext>
            </a:extLst>
          </p:cNvPr>
          <p:cNvCxnSpPr>
            <a:cxnSpLocks/>
            <a:stCxn id="8" idx="2"/>
            <a:endCxn id="3" idx="0"/>
          </p:cNvCxnSpPr>
          <p:nvPr/>
        </p:nvCxnSpPr>
        <p:spPr>
          <a:xfrm>
            <a:off x="3655217" y="2716329"/>
            <a:ext cx="3996" cy="46204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F5417FD8-8C05-603E-A2CA-9304560891BD}"/>
                  </a:ext>
                </a:extLst>
              </p:cNvPr>
              <p:cNvSpPr txBox="1"/>
              <p:nvPr/>
            </p:nvSpPr>
            <p:spPr>
              <a:xfrm>
                <a:off x="3472731" y="2346997"/>
                <a:ext cx="3649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oMath>
                  </m:oMathPara>
                </a14:m>
                <a:endParaRPr lang="en-US" dirty="0"/>
              </a:p>
            </p:txBody>
          </p:sp>
        </mc:Choice>
        <mc:Fallback>
          <p:sp>
            <p:nvSpPr>
              <p:cNvPr id="8" name="TextBox 7">
                <a:extLst>
                  <a:ext uri="{FF2B5EF4-FFF2-40B4-BE49-F238E27FC236}">
                    <a16:creationId xmlns:a16="http://schemas.microsoft.com/office/drawing/2014/main" id="{F5417FD8-8C05-603E-A2CA-9304560891BD}"/>
                  </a:ext>
                </a:extLst>
              </p:cNvPr>
              <p:cNvSpPr txBox="1">
                <a:spLocks noRot="1" noChangeAspect="1" noMove="1" noResize="1" noEditPoints="1" noAdjustHandles="1" noChangeArrowheads="1" noChangeShapeType="1" noTextEdit="1"/>
              </p:cNvSpPr>
              <p:nvPr/>
            </p:nvSpPr>
            <p:spPr>
              <a:xfrm>
                <a:off x="3472731" y="2346997"/>
                <a:ext cx="364972"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44656A4D-4A38-B7C7-DE2E-40D9C3A68A43}"/>
                  </a:ext>
                </a:extLst>
              </p:cNvPr>
              <p:cNvSpPr txBox="1"/>
              <p:nvPr/>
            </p:nvSpPr>
            <p:spPr>
              <a:xfrm>
                <a:off x="7032324" y="1972866"/>
                <a:ext cx="3716704" cy="3751412"/>
              </a:xfrm>
              <a:prstGeom prst="rect">
                <a:avLst/>
              </a:prstGeom>
              <a:noFill/>
            </p:spPr>
            <p:txBody>
              <a:bodyPr wrap="square" rtlCol="0">
                <a:spAutoFit/>
              </a:bodyPr>
              <a:lstStyle/>
              <a:p>
                <a:r>
                  <a:rPr lang="en-US" dirty="0">
                    <a:latin typeface="Cambria Math" panose="02040503050406030204" pitchFamily="18" charset="0"/>
                  </a:rPr>
                  <a:t>Computational chain:</a:t>
                </a:r>
              </a:p>
              <a:p>
                <a:endParaRPr lang="en-US" b="0"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𝐿</m:t>
                      </m:r>
                    </m:oMath>
                  </m:oMathPara>
                </a14:m>
                <a:endParaRPr lang="en-US" b="0" dirty="0"/>
              </a:p>
              <a:p>
                <a:endParaRPr lang="en-US" dirty="0"/>
              </a:p>
              <a:p>
                <a:endParaRPr lang="en-US" dirty="0"/>
              </a:p>
              <a:p>
                <a:pPr/>
                <a14:m>
                  <m:oMathPara xmlns:m="http://schemas.openxmlformats.org/officeDocument/2006/math">
                    <m:oMathParaPr>
                      <m:jc m:val="left"/>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num>
                        <m:den>
                          <m:r>
                            <a:rPr lang="en-US" b="0" i="1" smtClean="0">
                              <a:latin typeface="Cambria Math" panose="02040503050406030204" pitchFamily="18" charset="0"/>
                            </a:rPr>
                            <m:t>𝜕</m:t>
                          </m:r>
                          <m:r>
                            <a:rPr lang="en-US" b="0" i="1" smtClean="0">
                              <a:latin typeface="Cambria Math" panose="02040503050406030204" pitchFamily="18" charset="0"/>
                            </a:rPr>
                            <m:t>𝑝</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𝑝</m:t>
                          </m:r>
                        </m:num>
                        <m:den>
                          <m:r>
                            <a:rPr lang="en-US" b="0" i="1" smtClean="0">
                              <a:latin typeface="Cambria Math" panose="02040503050406030204" pitchFamily="18" charset="0"/>
                            </a:rPr>
                            <m:t>𝜕</m:t>
                          </m:r>
                          <m:r>
                            <a:rPr lang="en-US" b="0" i="1" smtClean="0">
                              <a:latin typeface="Cambria Math" panose="02040503050406030204" pitchFamily="18" charset="0"/>
                            </a:rPr>
                            <m:t>𝑧</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𝑧</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den>
                      </m:f>
                    </m:oMath>
                  </m:oMathPara>
                </a14:m>
                <a:endParaRPr lang="en-US" b="0" dirty="0"/>
              </a:p>
              <a:p>
                <a:endParaRPr lang="en-US" b="0" dirty="0"/>
              </a:p>
              <a:p>
                <a:pPr/>
                <a14:m>
                  <m:oMathPara xmlns:m="http://schemas.openxmlformats.org/officeDocument/2006/math">
                    <m:oMathParaPr>
                      <m:jc m:val="left"/>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num>
                        <m:den>
                          <m:r>
                            <a:rPr lang="en-US" b="0" i="1" smtClean="0">
                              <a:latin typeface="Cambria Math" panose="02040503050406030204" pitchFamily="18" charset="0"/>
                            </a:rPr>
                            <m:t>𝜕</m:t>
                          </m:r>
                          <m:r>
                            <a:rPr lang="en-US" b="0" i="1" smtClean="0">
                              <a:latin typeface="Cambria Math" panose="02040503050406030204" pitchFamily="18" charset="0"/>
                            </a:rPr>
                            <m:t>𝑝</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𝑝</m:t>
                          </m:r>
                        </m:num>
                        <m:den>
                          <m:r>
                            <a:rPr lang="en-US" b="0" i="1" smtClean="0">
                              <a:latin typeface="Cambria Math" panose="02040503050406030204" pitchFamily="18" charset="0"/>
                            </a:rPr>
                            <m:t>𝜕</m:t>
                          </m:r>
                          <m:r>
                            <a:rPr lang="en-US" b="0" i="1" smtClean="0">
                              <a:latin typeface="Cambria Math" panose="02040503050406030204" pitchFamily="18" charset="0"/>
                            </a:rPr>
                            <m:t>𝑧</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𝑧</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den>
                      </m:f>
                    </m:oMath>
                  </m:oMathPara>
                </a14:m>
                <a:endParaRPr lang="en-US" b="0" dirty="0"/>
              </a:p>
              <a:p>
                <a:endParaRPr lang="en-US" b="0" dirty="0"/>
              </a:p>
              <a:p>
                <a:pPr/>
                <a14:m>
                  <m:oMathPara xmlns:m="http://schemas.openxmlformats.org/officeDocument/2006/math">
                    <m:oMathParaPr>
                      <m:jc m:val="left"/>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num>
                        <m:den>
                          <m:r>
                            <a:rPr lang="en-US" b="0" i="1" smtClean="0">
                              <a:latin typeface="Cambria Math" panose="02040503050406030204" pitchFamily="18" charset="0"/>
                            </a:rPr>
                            <m:t>𝜕</m:t>
                          </m:r>
                          <m:r>
                            <a:rPr lang="en-US" b="0" i="1" smtClean="0">
                              <a:latin typeface="Cambria Math" panose="02040503050406030204" pitchFamily="18" charset="0"/>
                            </a:rPr>
                            <m:t>𝑏</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num>
                        <m:den>
                          <m:r>
                            <a:rPr lang="en-US" b="0" i="1" smtClean="0">
                              <a:latin typeface="Cambria Math" panose="02040503050406030204" pitchFamily="18" charset="0"/>
                            </a:rPr>
                            <m:t>𝜕</m:t>
                          </m:r>
                          <m:r>
                            <a:rPr lang="en-US" b="0" i="1" smtClean="0">
                              <a:latin typeface="Cambria Math" panose="02040503050406030204" pitchFamily="18" charset="0"/>
                            </a:rPr>
                            <m:t>𝑝</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𝑝</m:t>
                          </m:r>
                        </m:num>
                        <m:den>
                          <m:r>
                            <a:rPr lang="en-US" b="0" i="1" smtClean="0">
                              <a:latin typeface="Cambria Math" panose="02040503050406030204" pitchFamily="18" charset="0"/>
                            </a:rPr>
                            <m:t>𝜕</m:t>
                          </m:r>
                          <m:r>
                            <a:rPr lang="en-US" b="0" i="1" smtClean="0">
                              <a:latin typeface="Cambria Math" panose="02040503050406030204" pitchFamily="18" charset="0"/>
                            </a:rPr>
                            <m:t>𝑧</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𝑧</m:t>
                          </m:r>
                        </m:num>
                        <m:den>
                          <m:r>
                            <a:rPr lang="en-US" b="0" i="1" smtClean="0">
                              <a:latin typeface="Cambria Math" panose="02040503050406030204" pitchFamily="18" charset="0"/>
                            </a:rPr>
                            <m:t>𝜕</m:t>
                          </m:r>
                          <m:r>
                            <a:rPr lang="en-US" b="0" i="1" smtClean="0">
                              <a:latin typeface="Cambria Math" panose="02040503050406030204" pitchFamily="18" charset="0"/>
                            </a:rPr>
                            <m:t>𝑏</m:t>
                          </m:r>
                        </m:den>
                      </m:f>
                    </m:oMath>
                  </m:oMathPara>
                </a14:m>
                <a:endParaRPr lang="en-US" b="0" dirty="0"/>
              </a:p>
            </p:txBody>
          </p:sp>
        </mc:Choice>
        <mc:Fallback>
          <p:sp>
            <p:nvSpPr>
              <p:cNvPr id="6" name="TextBox 5">
                <a:extLst>
                  <a:ext uri="{FF2B5EF4-FFF2-40B4-BE49-F238E27FC236}">
                    <a16:creationId xmlns:a16="http://schemas.microsoft.com/office/drawing/2014/main" id="{44656A4D-4A38-B7C7-DE2E-40D9C3A68A43}"/>
                  </a:ext>
                </a:extLst>
              </p:cNvPr>
              <p:cNvSpPr txBox="1">
                <a:spLocks noRot="1" noChangeAspect="1" noMove="1" noResize="1" noEditPoints="1" noAdjustHandles="1" noChangeArrowheads="1" noChangeShapeType="1" noTextEdit="1"/>
              </p:cNvSpPr>
              <p:nvPr/>
            </p:nvSpPr>
            <p:spPr>
              <a:xfrm>
                <a:off x="7032324" y="1972866"/>
                <a:ext cx="3716704" cy="3751412"/>
              </a:xfrm>
              <a:prstGeom prst="rect">
                <a:avLst/>
              </a:prstGeom>
              <a:blipFill>
                <a:blip r:embed="rId15"/>
                <a:stretch>
                  <a:fillRect l="-1361" t="-676" b="-1014"/>
                </a:stretch>
              </a:blipFill>
            </p:spPr>
            <p:txBody>
              <a:bodyPr/>
              <a:lstStyle/>
              <a:p>
                <a:r>
                  <a:rPr lang="en-US">
                    <a:noFill/>
                  </a:rPr>
                  <a:t> </a:t>
                </a:r>
              </a:p>
            </p:txBody>
          </p:sp>
        </mc:Fallback>
      </mc:AlternateContent>
    </p:spTree>
    <p:extLst>
      <p:ext uri="{BB962C8B-B14F-4D97-AF65-F5344CB8AC3E}">
        <p14:creationId xmlns:p14="http://schemas.microsoft.com/office/powerpoint/2010/main" val="26048011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79EB-A6FF-3058-133B-9D77FCB3F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E99277-7961-B3E3-043C-A8957A6D8C51}"/>
              </a:ext>
            </a:extLst>
          </p:cNvPr>
          <p:cNvSpPr>
            <a:spLocks noGrp="1"/>
          </p:cNvSpPr>
          <p:nvPr>
            <p:ph type="title"/>
          </p:nvPr>
        </p:nvSpPr>
        <p:spPr/>
        <p:txBody>
          <a:bodyPr/>
          <a:lstStyle/>
          <a:p>
            <a:r>
              <a:rPr lang="en-US" dirty="0" err="1"/>
              <a:t>Autodifferentiation</a:t>
            </a:r>
            <a:r>
              <a:rPr lang="en-US" dirty="0"/>
              <a:t> for logistic regression</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0B9C4D68-C949-A726-B67F-051F54B920EA}"/>
                  </a:ext>
                </a:extLst>
              </p:cNvPr>
              <p:cNvSpPr/>
              <p:nvPr/>
            </p:nvSpPr>
            <p:spPr>
              <a:xfrm>
                <a:off x="1207257" y="2346997"/>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m:rPr>
                              <m:sty m:val="p"/>
                            </m:rPr>
                            <a:rPr lang="en-US" b="0" i="0" dirty="0" smtClean="0">
                              <a:solidFill>
                                <a:schemeClr val="tx1"/>
                              </a:solidFill>
                              <a:latin typeface="Cambria Math" panose="02040503050406030204" pitchFamily="18" charset="0"/>
                            </a:rPr>
                            <m:t>x</m:t>
                          </m:r>
                        </m:e>
                        <m:sub>
                          <m:r>
                            <a:rPr lang="en-US" i="1" dirty="0"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xmlns="">
          <p:sp>
            <p:nvSpPr>
              <p:cNvPr id="4" name="Oval 3">
                <a:extLst>
                  <a:ext uri="{FF2B5EF4-FFF2-40B4-BE49-F238E27FC236}">
                    <a16:creationId xmlns:a16="http://schemas.microsoft.com/office/drawing/2014/main" id="{EA38DCE9-D153-8C71-DD64-95AA62D12BA2}"/>
                  </a:ext>
                </a:extLst>
              </p:cNvPr>
              <p:cNvSpPr>
                <a:spLocks noRot="1" noChangeAspect="1" noMove="1" noResize="1" noEditPoints="1" noAdjustHandles="1" noChangeArrowheads="1" noChangeShapeType="1" noTextEdit="1"/>
              </p:cNvSpPr>
              <p:nvPr/>
            </p:nvSpPr>
            <p:spPr>
              <a:xfrm>
                <a:off x="1207257" y="2346997"/>
                <a:ext cx="914400" cy="914400"/>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19D33DEA-1062-D2BE-5E4E-09BBC98B37FE}"/>
                  </a:ext>
                </a:extLst>
              </p:cNvPr>
              <p:cNvSpPr/>
              <p:nvPr/>
            </p:nvSpPr>
            <p:spPr>
              <a:xfrm>
                <a:off x="1207257" y="4022261"/>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m:rPr>
                              <m:sty m:val="p"/>
                            </m:rPr>
                            <a:rPr lang="en-US" b="0" i="0" dirty="0" smtClean="0">
                              <a:solidFill>
                                <a:schemeClr val="tx1"/>
                              </a:solidFill>
                              <a:latin typeface="Cambria Math" panose="02040503050406030204" pitchFamily="18" charset="0"/>
                            </a:rPr>
                            <m:t>x</m:t>
                          </m:r>
                        </m:e>
                        <m:sub>
                          <m:r>
                            <a:rPr lang="en-US" b="0" i="1" dirty="0" smtClean="0">
                              <a:solidFill>
                                <a:schemeClr val="tx1"/>
                              </a:solidFill>
                              <a:latin typeface="Cambria Math" panose="02040503050406030204" pitchFamily="18" charset="0"/>
                            </a:rPr>
                            <m:t>𝑚</m:t>
                          </m:r>
                        </m:sub>
                      </m:sSub>
                    </m:oMath>
                  </m:oMathPara>
                </a14:m>
                <a:endParaRPr lang="en-US" dirty="0">
                  <a:solidFill>
                    <a:schemeClr val="tx1"/>
                  </a:solidFill>
                </a:endParaRPr>
              </a:p>
            </p:txBody>
          </p:sp>
        </mc:Choice>
        <mc:Fallback xmlns="">
          <p:sp>
            <p:nvSpPr>
              <p:cNvPr id="5" name="Oval 4">
                <a:extLst>
                  <a:ext uri="{FF2B5EF4-FFF2-40B4-BE49-F238E27FC236}">
                    <a16:creationId xmlns:a16="http://schemas.microsoft.com/office/drawing/2014/main" id="{A5F9490E-1587-DE7A-1837-F689A28B0825}"/>
                  </a:ext>
                </a:extLst>
              </p:cNvPr>
              <p:cNvSpPr>
                <a:spLocks noRot="1" noChangeAspect="1" noMove="1" noResize="1" noEditPoints="1" noAdjustHandles="1" noChangeArrowheads="1" noChangeShapeType="1" noTextEdit="1"/>
              </p:cNvSpPr>
              <p:nvPr/>
            </p:nvSpPr>
            <p:spPr>
              <a:xfrm>
                <a:off x="1207257" y="4022261"/>
                <a:ext cx="914400" cy="914400"/>
              </a:xfrm>
              <a:prstGeom prst="ellipse">
                <a:avLst/>
              </a:prstGeom>
              <a:blipFill>
                <a:blip r:embed="rId4"/>
                <a:stretch>
                  <a:fillRect/>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8177B2FC-68B0-0FF9-7B19-395F401AEF88}"/>
              </a:ext>
            </a:extLst>
          </p:cNvPr>
          <p:cNvCxnSpPr>
            <a:cxnSpLocks/>
            <a:stCxn id="4" idx="6"/>
            <a:endCxn id="3" idx="1"/>
          </p:cNvCxnSpPr>
          <p:nvPr/>
        </p:nvCxnSpPr>
        <p:spPr>
          <a:xfrm>
            <a:off x="2121657" y="2804197"/>
            <a:ext cx="1214267" cy="50808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5E7C157F-883D-A266-0534-DC9D5E0923B6}"/>
              </a:ext>
            </a:extLst>
          </p:cNvPr>
          <p:cNvCxnSpPr>
            <a:cxnSpLocks/>
            <a:endCxn id="3" idx="3"/>
          </p:cNvCxnSpPr>
          <p:nvPr/>
        </p:nvCxnSpPr>
        <p:spPr>
          <a:xfrm flipV="1">
            <a:off x="2121657" y="3958864"/>
            <a:ext cx="1214267" cy="5166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783BEFB-2DE7-48B6-A031-C21A2C1B406E}"/>
                  </a:ext>
                </a:extLst>
              </p:cNvPr>
              <p:cNvSpPr txBox="1"/>
              <p:nvPr/>
            </p:nvSpPr>
            <p:spPr>
              <a:xfrm>
                <a:off x="2294436" y="2665697"/>
                <a:ext cx="83465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oMath>
                  </m:oMathPara>
                </a14:m>
                <a:endParaRPr lang="en-US" dirty="0"/>
              </a:p>
            </p:txBody>
          </p:sp>
        </mc:Choice>
        <mc:Fallback xmlns="">
          <p:sp>
            <p:nvSpPr>
              <p:cNvPr id="15" name="TextBox 14">
                <a:extLst>
                  <a:ext uri="{FF2B5EF4-FFF2-40B4-BE49-F238E27FC236}">
                    <a16:creationId xmlns:a16="http://schemas.microsoft.com/office/drawing/2014/main" id="{58ADFEA8-18E6-E3F3-9264-6186D8A35F4E}"/>
                  </a:ext>
                </a:extLst>
              </p:cNvPr>
              <p:cNvSpPr txBox="1">
                <a:spLocks noRot="1" noChangeAspect="1" noMove="1" noResize="1" noEditPoints="1" noAdjustHandles="1" noChangeArrowheads="1" noChangeShapeType="1" noTextEdit="1"/>
              </p:cNvSpPr>
              <p:nvPr/>
            </p:nvSpPr>
            <p:spPr>
              <a:xfrm>
                <a:off x="2294436" y="2665697"/>
                <a:ext cx="834656" cy="276999"/>
              </a:xfrm>
              <a:prstGeom prst="rect">
                <a:avLst/>
              </a:prstGeom>
              <a:blipFill>
                <a:blip r:embed="rId5"/>
                <a:stretch>
                  <a:fillRect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8C316B4-443B-28D5-0F79-02DDE34F8A50}"/>
                  </a:ext>
                </a:extLst>
              </p:cNvPr>
              <p:cNvSpPr txBox="1"/>
              <p:nvPr/>
            </p:nvSpPr>
            <p:spPr>
              <a:xfrm>
                <a:off x="2294436" y="4337049"/>
                <a:ext cx="83465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𝑚</m:t>
                          </m:r>
                        </m:sub>
                      </m:sSub>
                    </m:oMath>
                  </m:oMathPara>
                </a14:m>
                <a:endParaRPr lang="en-US" dirty="0"/>
              </a:p>
            </p:txBody>
          </p:sp>
        </mc:Choice>
        <mc:Fallback xmlns="">
          <p:sp>
            <p:nvSpPr>
              <p:cNvPr id="16" name="TextBox 15">
                <a:extLst>
                  <a:ext uri="{FF2B5EF4-FFF2-40B4-BE49-F238E27FC236}">
                    <a16:creationId xmlns:a16="http://schemas.microsoft.com/office/drawing/2014/main" id="{A0A0031A-6BED-E652-C5B4-047192F3F24C}"/>
                  </a:ext>
                </a:extLst>
              </p:cNvPr>
              <p:cNvSpPr txBox="1">
                <a:spLocks noRot="1" noChangeAspect="1" noMove="1" noResize="1" noEditPoints="1" noAdjustHandles="1" noChangeArrowheads="1" noChangeShapeType="1" noTextEdit="1"/>
              </p:cNvSpPr>
              <p:nvPr/>
            </p:nvSpPr>
            <p:spPr>
              <a:xfrm>
                <a:off x="2294436" y="4337049"/>
                <a:ext cx="834656" cy="276999"/>
              </a:xfrm>
              <a:prstGeom prst="rect">
                <a:avLst/>
              </a:prstGeom>
              <a:blipFill>
                <a:blip r:embed="rId6"/>
                <a:stretch>
                  <a:fillRect b="-8696"/>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871F4663-7E5A-6DAE-8A8F-712466A85F5E}"/>
              </a:ext>
            </a:extLst>
          </p:cNvPr>
          <p:cNvSpPr txBox="1"/>
          <p:nvPr/>
        </p:nvSpPr>
        <p:spPr>
          <a:xfrm>
            <a:off x="3105738" y="4092775"/>
            <a:ext cx="622286" cy="369332"/>
          </a:xfrm>
          <a:prstGeom prst="rect">
            <a:avLst/>
          </a:prstGeom>
          <a:noFill/>
        </p:spPr>
        <p:txBody>
          <a:bodyPr wrap="none" rtlCol="0">
            <a:spAutoFit/>
          </a:bodyPr>
          <a:lstStyle/>
          <a:p>
            <a:r>
              <a:rPr lang="en-US" dirty="0"/>
              <a:t>sum</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48E6825-0B51-3874-E753-E2223A8E875C}"/>
                  </a:ext>
                </a:extLst>
              </p:cNvPr>
              <p:cNvSpPr txBox="1"/>
              <p:nvPr/>
            </p:nvSpPr>
            <p:spPr>
              <a:xfrm>
                <a:off x="3774172" y="4092775"/>
                <a:ext cx="1351524" cy="923330"/>
              </a:xfrm>
              <a:prstGeom prst="rect">
                <a:avLst/>
              </a:prstGeom>
              <a:noFill/>
            </p:spPr>
            <p:txBody>
              <a:bodyPr wrap="none" rtlCol="0">
                <a:spAutoFit/>
              </a:bodyPr>
              <a:lstStyle/>
              <a:p>
                <a:r>
                  <a:rPr lang="en-US" dirty="0"/>
                  <a:t>sigmoid</a:t>
                </a:r>
              </a:p>
              <a:p>
                <a:r>
                  <a:rPr lang="en-US" dirty="0"/>
                  <a:t>(aka logistic)</a:t>
                </a:r>
              </a:p>
              <a:p>
                <a:r>
                  <a:rPr lang="en-US" dirty="0"/>
                  <a:t>function </a:t>
                </a:r>
                <a14:m>
                  <m:oMath xmlns:m="http://schemas.openxmlformats.org/officeDocument/2006/math">
                    <m:r>
                      <a:rPr lang="en-US" b="0" i="1" smtClean="0">
                        <a:latin typeface="Cambria Math" panose="02040503050406030204" pitchFamily="18" charset="0"/>
                      </a:rPr>
                      <m:t>𝜎</m:t>
                    </m:r>
                  </m:oMath>
                </a14:m>
                <a:endParaRPr lang="en-US" dirty="0"/>
              </a:p>
            </p:txBody>
          </p:sp>
        </mc:Choice>
        <mc:Fallback xmlns="">
          <p:sp>
            <p:nvSpPr>
              <p:cNvPr id="42" name="TextBox 41">
                <a:extLst>
                  <a:ext uri="{FF2B5EF4-FFF2-40B4-BE49-F238E27FC236}">
                    <a16:creationId xmlns:a16="http://schemas.microsoft.com/office/drawing/2014/main" id="{E072783F-2A9D-2E05-02E4-1D58A68712F4}"/>
                  </a:ext>
                </a:extLst>
              </p:cNvPr>
              <p:cNvSpPr txBox="1">
                <a:spLocks noRot="1" noChangeAspect="1" noMove="1" noResize="1" noEditPoints="1" noAdjustHandles="1" noChangeArrowheads="1" noChangeShapeType="1" noTextEdit="1"/>
              </p:cNvSpPr>
              <p:nvPr/>
            </p:nvSpPr>
            <p:spPr>
              <a:xfrm>
                <a:off x="3774172" y="4092775"/>
                <a:ext cx="1351524" cy="923330"/>
              </a:xfrm>
              <a:prstGeom prst="rect">
                <a:avLst/>
              </a:prstGeom>
              <a:blipFill>
                <a:blip r:embed="rId8"/>
                <a:stretch>
                  <a:fillRect l="-3738" t="-2703" r="-2804" b="-94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FE98990-8814-B38C-0B8E-28E1F1C5AA09}"/>
                  </a:ext>
                </a:extLst>
              </p:cNvPr>
              <p:cNvSpPr txBox="1"/>
              <p:nvPr/>
            </p:nvSpPr>
            <p:spPr>
              <a:xfrm>
                <a:off x="4538606" y="3457163"/>
                <a:ext cx="13221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=1|</m:t>
                      </m:r>
                      <m:r>
                        <a:rPr lang="en-US" b="1" i="1" smtClean="0">
                          <a:latin typeface="Cambria Math" panose="02040503050406030204" pitchFamily="18" charset="0"/>
                        </a:rPr>
                        <m:t>𝒙</m:t>
                      </m:r>
                      <m:r>
                        <a:rPr lang="en-US" b="0" i="1" smtClean="0">
                          <a:latin typeface="Cambria Math" panose="02040503050406030204" pitchFamily="18" charset="0"/>
                        </a:rPr>
                        <m:t>)</m:t>
                      </m:r>
                    </m:oMath>
                  </m:oMathPara>
                </a14:m>
                <a:endParaRPr lang="en-US" dirty="0"/>
              </a:p>
            </p:txBody>
          </p:sp>
        </mc:Choice>
        <mc:Fallback xmlns="">
          <p:sp>
            <p:nvSpPr>
              <p:cNvPr id="45" name="TextBox 44">
                <a:extLst>
                  <a:ext uri="{FF2B5EF4-FFF2-40B4-BE49-F238E27FC236}">
                    <a16:creationId xmlns:a16="http://schemas.microsoft.com/office/drawing/2014/main" id="{AE415A31-0A82-0C2C-C307-34B3F814C2CA}"/>
                  </a:ext>
                </a:extLst>
              </p:cNvPr>
              <p:cNvSpPr txBox="1">
                <a:spLocks noRot="1" noChangeAspect="1" noMove="1" noResize="1" noEditPoints="1" noAdjustHandles="1" noChangeArrowheads="1" noChangeShapeType="1" noTextEdit="1"/>
              </p:cNvSpPr>
              <p:nvPr/>
            </p:nvSpPr>
            <p:spPr>
              <a:xfrm>
                <a:off x="4538606" y="3457163"/>
                <a:ext cx="1322157" cy="369332"/>
              </a:xfrm>
              <a:prstGeom prst="rect">
                <a:avLst/>
              </a:prstGeom>
              <a:blipFill>
                <a:blip r:embed="rId9"/>
                <a:stretch>
                  <a:fillRect b="-13333"/>
                </a:stretch>
              </a:blipFill>
            </p:spPr>
            <p:txBody>
              <a:bodyPr/>
              <a:lstStyle/>
              <a:p>
                <a:r>
                  <a:rPr lang="en-US">
                    <a:noFill/>
                  </a:rPr>
                  <a:t> </a:t>
                </a:r>
              </a:p>
            </p:txBody>
          </p:sp>
        </mc:Fallback>
      </mc:AlternateContent>
      <p:cxnSp>
        <p:nvCxnSpPr>
          <p:cNvPr id="47" name="Straight Arrow Connector 46">
            <a:extLst>
              <a:ext uri="{FF2B5EF4-FFF2-40B4-BE49-F238E27FC236}">
                <a16:creationId xmlns:a16="http://schemas.microsoft.com/office/drawing/2014/main" id="{72D1FBBE-1631-21F3-B261-6805E805E537}"/>
              </a:ext>
            </a:extLst>
          </p:cNvPr>
          <p:cNvCxnSpPr>
            <a:cxnSpLocks/>
          </p:cNvCxnSpPr>
          <p:nvPr/>
        </p:nvCxnSpPr>
        <p:spPr>
          <a:xfrm>
            <a:off x="4112751" y="3652169"/>
            <a:ext cx="4896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17" name="Group 16">
            <a:extLst>
              <a:ext uri="{FF2B5EF4-FFF2-40B4-BE49-F238E27FC236}">
                <a16:creationId xmlns:a16="http://schemas.microsoft.com/office/drawing/2014/main" id="{01FE1BC4-A47F-82CB-DA4D-2B84DB237AD2}"/>
              </a:ext>
            </a:extLst>
          </p:cNvPr>
          <p:cNvGrpSpPr/>
          <p:nvPr/>
        </p:nvGrpSpPr>
        <p:grpSpPr>
          <a:xfrm>
            <a:off x="3202013" y="3178375"/>
            <a:ext cx="995337" cy="914400"/>
            <a:chOff x="7496986" y="1328396"/>
            <a:chExt cx="995337" cy="914400"/>
          </a:xfrm>
        </p:grpSpPr>
        <mc:AlternateContent xmlns:mc="http://schemas.openxmlformats.org/markup-compatibility/2006" xmlns:a14="http://schemas.microsoft.com/office/drawing/2010/main">
          <mc:Choice Requires="a14">
            <p:sp>
              <p:nvSpPr>
                <p:cNvPr id="3" name="Oval 2">
                  <a:extLst>
                    <a:ext uri="{FF2B5EF4-FFF2-40B4-BE49-F238E27FC236}">
                      <a16:creationId xmlns:a16="http://schemas.microsoft.com/office/drawing/2014/main" id="{C5E86A8A-23E5-1F39-DB7E-6751FF4C1A13}"/>
                    </a:ext>
                  </a:extLst>
                </p:cNvPr>
                <p:cNvSpPr/>
                <p:nvPr/>
              </p:nvSpPr>
              <p:spPr>
                <a:xfrm>
                  <a:off x="7496986" y="1328396"/>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m:rPr>
                            <m:sty m:val="p"/>
                          </m:rPr>
                          <a:rPr lang="en-US" sz="3600" i="0" dirty="0" smtClean="0">
                            <a:solidFill>
                              <a:schemeClr val="tx1"/>
                            </a:solidFill>
                            <a:latin typeface="Cambria Math" panose="02040503050406030204" pitchFamily="18" charset="0"/>
                          </a:rPr>
                          <m:t>Σ</m:t>
                        </m:r>
                        <m:r>
                          <a:rPr lang="en-US" sz="3600" b="0" i="1" dirty="0" smtClean="0">
                            <a:solidFill>
                              <a:schemeClr val="tx1"/>
                            </a:solidFill>
                            <a:latin typeface="Cambria Math" panose="02040503050406030204" pitchFamily="18" charset="0"/>
                          </a:rPr>
                          <m:t>  </m:t>
                        </m:r>
                      </m:oMath>
                    </m:oMathPara>
                  </a14:m>
                  <a:endParaRPr/>
                </a:p>
              </p:txBody>
            </p:sp>
          </mc:Choice>
          <mc:Fallback xmlns="">
            <p:sp>
              <p:nvSpPr>
                <p:cNvPr id="3" name="Oval 2">
                  <a:extLst>
                    <a:ext uri="{FF2B5EF4-FFF2-40B4-BE49-F238E27FC236}">
                      <a16:creationId xmlns:a16="http://schemas.microsoft.com/office/drawing/2014/main" id="{3BEED852-2CF5-3701-F283-AF1857749F48}"/>
                    </a:ext>
                  </a:extLst>
                </p:cNvPr>
                <p:cNvSpPr>
                  <a:spLocks noRot="1" noChangeAspect="1" noMove="1" noResize="1" noEditPoints="1" noAdjustHandles="1" noChangeArrowheads="1" noChangeShapeType="1" noTextEdit="1"/>
                </p:cNvSpPr>
                <p:nvPr/>
              </p:nvSpPr>
              <p:spPr>
                <a:xfrm>
                  <a:off x="7496986" y="1328396"/>
                  <a:ext cx="914400" cy="914400"/>
                </a:xfrm>
                <a:prstGeom prst="ellipse">
                  <a:avLst/>
                </a:prstGeom>
                <a:blipFill>
                  <a:blip r:embed="rId12"/>
                  <a:stretch>
                    <a:fillRect r="-9459" b="-10811"/>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E344FD32-C025-543B-2A44-2074B1F9C7C8}"/>
                </a:ext>
              </a:extLst>
            </p:cNvPr>
            <p:cNvCxnSpPr>
              <a:cxnSpLocks/>
            </p:cNvCxnSpPr>
            <p:nvPr/>
          </p:nvCxnSpPr>
          <p:spPr>
            <a:xfrm>
              <a:off x="8022997" y="1328396"/>
              <a:ext cx="0" cy="9144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60980A7C-A6EE-C628-56AC-BB356DDBB987}"/>
                </a:ext>
              </a:extLst>
            </p:cNvPr>
            <p:cNvPicPr>
              <a:picLocks noChangeAspect="1"/>
            </p:cNvPicPr>
            <p:nvPr/>
          </p:nvPicPr>
          <p:blipFill>
            <a:blip r:embed="rId13"/>
            <a:stretch>
              <a:fillRect/>
            </a:stretch>
          </p:blipFill>
          <p:spPr>
            <a:xfrm>
              <a:off x="7919179" y="1594886"/>
              <a:ext cx="573144" cy="382096"/>
            </a:xfrm>
            <a:prstGeom prst="rect">
              <a:avLst/>
            </a:prstGeom>
          </p:spPr>
        </p:pic>
      </p:grpSp>
      <p:cxnSp>
        <p:nvCxnSpPr>
          <p:cNvPr id="7" name="Straight Arrow Connector 6">
            <a:extLst>
              <a:ext uri="{FF2B5EF4-FFF2-40B4-BE49-F238E27FC236}">
                <a16:creationId xmlns:a16="http://schemas.microsoft.com/office/drawing/2014/main" id="{F8B5B7CF-FE9B-0E43-E37C-504932E9CA58}"/>
              </a:ext>
            </a:extLst>
          </p:cNvPr>
          <p:cNvCxnSpPr>
            <a:cxnSpLocks/>
            <a:stCxn id="8" idx="2"/>
            <a:endCxn id="3" idx="0"/>
          </p:cNvCxnSpPr>
          <p:nvPr/>
        </p:nvCxnSpPr>
        <p:spPr>
          <a:xfrm>
            <a:off x="3655217" y="2716329"/>
            <a:ext cx="3996" cy="46204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DBD586BA-5EBB-4455-B784-F9F1C4BEB01C}"/>
                  </a:ext>
                </a:extLst>
              </p:cNvPr>
              <p:cNvSpPr txBox="1"/>
              <p:nvPr/>
            </p:nvSpPr>
            <p:spPr>
              <a:xfrm>
                <a:off x="3472731" y="2346997"/>
                <a:ext cx="3649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oMath>
                  </m:oMathPara>
                </a14:m>
                <a:endParaRPr lang="en-US" dirty="0"/>
              </a:p>
            </p:txBody>
          </p:sp>
        </mc:Choice>
        <mc:Fallback>
          <p:sp>
            <p:nvSpPr>
              <p:cNvPr id="8" name="TextBox 7">
                <a:extLst>
                  <a:ext uri="{FF2B5EF4-FFF2-40B4-BE49-F238E27FC236}">
                    <a16:creationId xmlns:a16="http://schemas.microsoft.com/office/drawing/2014/main" id="{DBD586BA-5EBB-4455-B784-F9F1C4BEB01C}"/>
                  </a:ext>
                </a:extLst>
              </p:cNvPr>
              <p:cNvSpPr txBox="1">
                <a:spLocks noRot="1" noChangeAspect="1" noMove="1" noResize="1" noEditPoints="1" noAdjustHandles="1" noChangeArrowheads="1" noChangeShapeType="1" noTextEdit="1"/>
              </p:cNvSpPr>
              <p:nvPr/>
            </p:nvSpPr>
            <p:spPr>
              <a:xfrm>
                <a:off x="3472731" y="2346997"/>
                <a:ext cx="364972"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8D4E4AD8-24A2-3AF2-F571-450A23D6F950}"/>
                  </a:ext>
                </a:extLst>
              </p:cNvPr>
              <p:cNvSpPr txBox="1"/>
              <p:nvPr/>
            </p:nvSpPr>
            <p:spPr>
              <a:xfrm>
                <a:off x="6778211" y="1807758"/>
                <a:ext cx="4574432" cy="4570034"/>
              </a:xfrm>
              <a:prstGeom prst="rect">
                <a:avLst/>
              </a:prstGeom>
              <a:noFill/>
            </p:spPr>
            <p:txBody>
              <a:bodyPr wrap="square" rtlCol="0">
                <a:spAutoFit/>
              </a:bodyPr>
              <a:lstStyle/>
              <a:p>
                <a:r>
                  <a:rPr lang="en-US" dirty="0">
                    <a:latin typeface="Cambria Math" panose="02040503050406030204" pitchFamily="18" charset="0"/>
                  </a:rPr>
                  <a:t>Computational chain:</a:t>
                </a:r>
              </a:p>
              <a:p>
                <a:endParaRPr lang="en-US" b="0"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𝐿</m:t>
                      </m:r>
                    </m:oMath>
                  </m:oMathPara>
                </a14:m>
                <a:endParaRPr lang="en-US" b="0" dirty="0"/>
              </a:p>
              <a:p>
                <a:endParaRPr lang="en-US" dirty="0"/>
              </a:p>
              <a:p>
                <a:endParaRPr lang="en-US" dirty="0"/>
              </a:p>
              <a:p>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𝑦</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log</m:t>
                          </m:r>
                          <m:r>
                            <a:rPr lang="en-US" b="0" i="0"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𝑦</m:t>
                              </m:r>
                            </m:e>
                          </m:d>
                          <m:r>
                            <m:rPr>
                              <m:sty m:val="p"/>
                            </m:rPr>
                            <a:rPr lang="en-US" b="0" i="0" smtClean="0">
                              <a:latin typeface="Cambria Math" panose="02040503050406030204" pitchFamily="18" charset="0"/>
                              <a:ea typeface="Cambria Math" panose="02040503050406030204" pitchFamily="18" charset="0"/>
                            </a:rPr>
                            <m:t>log</m:t>
                          </m:r>
                          <m:r>
                            <a:rPr lang="en-US" b="0" i="0"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𝑝</m:t>
                              </m:r>
                            </m:e>
                          </m:d>
                        </m:e>
                      </m:d>
                    </m:oMath>
                  </m:oMathPara>
                </a14:m>
                <a:endParaRPr lang="en-US" dirty="0"/>
              </a:p>
              <a:p>
                <a:endParaRPr lang="en-US" dirty="0"/>
              </a:p>
              <a:p>
                <a:endParaRPr lang="en-US" dirty="0"/>
              </a:p>
              <a:p>
                <a:pPr/>
                <a14:m>
                  <m:oMathPara xmlns:m="http://schemas.openxmlformats.org/officeDocument/2006/math">
                    <m:oMathParaPr>
                      <m:jc m:val="left"/>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num>
                        <m:den>
                          <m:r>
                            <a:rPr lang="en-US" b="0" i="1" smtClean="0">
                              <a:latin typeface="Cambria Math" panose="02040503050406030204" pitchFamily="18" charset="0"/>
                            </a:rPr>
                            <m:t>𝜕</m:t>
                          </m:r>
                          <m:r>
                            <a:rPr lang="en-US" b="0" i="1" smtClean="0">
                              <a:latin typeface="Cambria Math" panose="02040503050406030204" pitchFamily="18" charset="0"/>
                            </a:rPr>
                            <m:t>𝑝</m:t>
                          </m:r>
                        </m:den>
                      </m:f>
                      <m:r>
                        <a:rPr lang="en-US"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𝑦</m:t>
                              </m:r>
                            </m:num>
                            <m:den>
                              <m:r>
                                <a:rPr lang="en-US" b="0" i="1" smtClean="0">
                                  <a:latin typeface="Cambria Math" panose="02040503050406030204" pitchFamily="18" charset="0"/>
                                </a:rPr>
                                <m:t>𝑝</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𝑦</m:t>
                              </m:r>
                            </m:num>
                            <m:den>
                              <m:r>
                                <a:rPr lang="en-US" b="0" i="1" smtClean="0">
                                  <a:latin typeface="Cambria Math" panose="02040503050406030204" pitchFamily="18" charset="0"/>
                                </a:rPr>
                                <m:t>1−</m:t>
                              </m:r>
                              <m:r>
                                <a:rPr lang="en-US" b="0" i="1" smtClean="0">
                                  <a:latin typeface="Cambria Math" panose="02040503050406030204" pitchFamily="18" charset="0"/>
                                </a:rPr>
                                <m:t>𝑝</m:t>
                              </m:r>
                            </m:den>
                          </m:f>
                        </m:e>
                      </m:d>
                    </m:oMath>
                  </m:oMathPara>
                </a14:m>
                <a:endParaRPr lang="en-US" b="0" dirty="0"/>
              </a:p>
              <a:p>
                <a:pPr/>
                <a:endParaRPr lang="en-US" dirty="0"/>
              </a:p>
              <a:p>
                <a:pPr/>
                <a14:m>
                  <m:oMathPara xmlns:m="http://schemas.openxmlformats.org/officeDocument/2006/math">
                    <m:oMathParaPr>
                      <m:jc m:val="left"/>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𝑝</m:t>
                          </m:r>
                        </m:num>
                        <m:den>
                          <m:r>
                            <a:rPr lang="en-US" b="0" i="1" smtClean="0">
                              <a:latin typeface="Cambria Math" panose="02040503050406030204" pitchFamily="18" charset="0"/>
                            </a:rPr>
                            <m:t>𝜕</m:t>
                          </m:r>
                          <m:r>
                            <a:rPr lang="en-US" b="0" i="1" smtClean="0">
                              <a:latin typeface="Cambria Math" panose="02040503050406030204" pitchFamily="18" charset="0"/>
                            </a:rPr>
                            <m:t>𝑧</m:t>
                          </m:r>
                        </m:den>
                      </m:f>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oMath>
                  </m:oMathPara>
                </a14:m>
                <a:endParaRPr lang="en-US" b="0" dirty="0"/>
              </a:p>
              <a:p>
                <a:pPr/>
                <a:endParaRPr lang="en-US" dirty="0"/>
              </a:p>
              <a:p>
                <a:pP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𝑧</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𝑧</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b="0" dirty="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𝑧</m:t>
                        </m:r>
                      </m:num>
                      <m:den>
                        <m:r>
                          <a:rPr lang="en-US" b="0" i="1" smtClean="0">
                            <a:latin typeface="Cambria Math" panose="02040503050406030204" pitchFamily="18" charset="0"/>
                          </a:rPr>
                          <m:t>𝜕</m:t>
                        </m:r>
                        <m:r>
                          <a:rPr lang="en-US" b="0" i="1" smtClean="0">
                            <a:latin typeface="Cambria Math" panose="02040503050406030204" pitchFamily="18" charset="0"/>
                          </a:rPr>
                          <m:t>𝑏</m:t>
                        </m:r>
                      </m:den>
                    </m:f>
                    <m:r>
                      <a:rPr lang="en-US" b="0" i="1" smtClean="0">
                        <a:latin typeface="Cambria Math" panose="02040503050406030204" pitchFamily="18" charset="0"/>
                      </a:rPr>
                      <m:t>=</m:t>
                    </m:r>
                    <m:r>
                      <a:rPr lang="en-US" b="0" i="1" smtClean="0">
                        <a:latin typeface="Cambria Math" panose="02040503050406030204" pitchFamily="18" charset="0"/>
                      </a:rPr>
                      <m:t>1</m:t>
                    </m:r>
                  </m:oMath>
                </a14:m>
                <a:endParaRPr lang="en-US" b="0" dirty="0"/>
              </a:p>
            </p:txBody>
          </p:sp>
        </mc:Choice>
        <mc:Fallback>
          <p:sp>
            <p:nvSpPr>
              <p:cNvPr id="6" name="TextBox 5">
                <a:extLst>
                  <a:ext uri="{FF2B5EF4-FFF2-40B4-BE49-F238E27FC236}">
                    <a16:creationId xmlns:a16="http://schemas.microsoft.com/office/drawing/2014/main" id="{8D4E4AD8-24A2-3AF2-F571-450A23D6F950}"/>
                  </a:ext>
                </a:extLst>
              </p:cNvPr>
              <p:cNvSpPr txBox="1">
                <a:spLocks noRot="1" noChangeAspect="1" noMove="1" noResize="1" noEditPoints="1" noAdjustHandles="1" noChangeArrowheads="1" noChangeShapeType="1" noTextEdit="1"/>
              </p:cNvSpPr>
              <p:nvPr/>
            </p:nvSpPr>
            <p:spPr>
              <a:xfrm>
                <a:off x="6778211" y="1807758"/>
                <a:ext cx="4574432" cy="4570034"/>
              </a:xfrm>
              <a:prstGeom prst="rect">
                <a:avLst/>
              </a:prstGeom>
              <a:blipFill>
                <a:blip r:embed="rId15"/>
                <a:stretch>
                  <a:fillRect l="-1108" t="-554"/>
                </a:stretch>
              </a:blipFill>
            </p:spPr>
            <p:txBody>
              <a:bodyPr/>
              <a:lstStyle/>
              <a:p>
                <a:r>
                  <a:rPr lang="en-US">
                    <a:noFill/>
                  </a:rPr>
                  <a:t> </a:t>
                </a:r>
              </a:p>
            </p:txBody>
          </p:sp>
        </mc:Fallback>
      </mc:AlternateContent>
    </p:spTree>
    <p:extLst>
      <p:ext uri="{BB962C8B-B14F-4D97-AF65-F5344CB8AC3E}">
        <p14:creationId xmlns:p14="http://schemas.microsoft.com/office/powerpoint/2010/main" val="21149944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9A9D8-09CA-8487-3E48-F81C011F81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60D87B-0CF5-6A43-94ED-DC8DB60DDEEC}"/>
              </a:ext>
            </a:extLst>
          </p:cNvPr>
          <p:cNvSpPr>
            <a:spLocks noGrp="1"/>
          </p:cNvSpPr>
          <p:nvPr>
            <p:ph type="title"/>
          </p:nvPr>
        </p:nvSpPr>
        <p:spPr/>
        <p:txBody>
          <a:bodyPr/>
          <a:lstStyle/>
          <a:p>
            <a:r>
              <a:rPr lang="en-US" dirty="0" err="1"/>
              <a:t>Autodifferentiation</a:t>
            </a:r>
            <a:r>
              <a:rPr lang="en-US" dirty="0"/>
              <a:t> for logistic regression</a:t>
            </a:r>
          </a:p>
        </p:txBody>
      </p:sp>
      <mc:AlternateContent xmlns:mc="http://schemas.openxmlformats.org/markup-compatibility/2006">
        <mc:Choice xmlns:a14="http://schemas.microsoft.com/office/drawing/2010/main" Requires="a14">
          <p:sp>
            <p:nvSpPr>
              <p:cNvPr id="4" name="Oval 3">
                <a:extLst>
                  <a:ext uri="{FF2B5EF4-FFF2-40B4-BE49-F238E27FC236}">
                    <a16:creationId xmlns:a16="http://schemas.microsoft.com/office/drawing/2014/main" id="{93895F29-8559-E1DE-B89A-571DB793C254}"/>
                  </a:ext>
                </a:extLst>
              </p:cNvPr>
              <p:cNvSpPr/>
              <p:nvPr/>
            </p:nvSpPr>
            <p:spPr>
              <a:xfrm>
                <a:off x="1207257" y="2346997"/>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m:rPr>
                              <m:sty m:val="p"/>
                            </m:rPr>
                            <a:rPr lang="en-US" b="0" i="0" dirty="0" smtClean="0">
                              <a:solidFill>
                                <a:schemeClr val="tx1"/>
                              </a:solidFill>
                              <a:latin typeface="Cambria Math" panose="02040503050406030204" pitchFamily="18" charset="0"/>
                            </a:rPr>
                            <m:t>x</m:t>
                          </m:r>
                        </m:e>
                        <m:sub>
                          <m:r>
                            <a:rPr lang="en-US" i="1" dirty="0"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p:sp>
            <p:nvSpPr>
              <p:cNvPr id="4" name="Oval 3">
                <a:extLst>
                  <a:ext uri="{FF2B5EF4-FFF2-40B4-BE49-F238E27FC236}">
                    <a16:creationId xmlns:a16="http://schemas.microsoft.com/office/drawing/2014/main" id="{93895F29-8559-E1DE-B89A-571DB793C254}"/>
                  </a:ext>
                </a:extLst>
              </p:cNvPr>
              <p:cNvSpPr>
                <a:spLocks noRot="1" noChangeAspect="1" noMove="1" noResize="1" noEditPoints="1" noAdjustHandles="1" noChangeArrowheads="1" noChangeShapeType="1" noTextEdit="1"/>
              </p:cNvSpPr>
              <p:nvPr/>
            </p:nvSpPr>
            <p:spPr>
              <a:xfrm>
                <a:off x="1207257" y="2346997"/>
                <a:ext cx="914400" cy="914400"/>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Oval 4">
                <a:extLst>
                  <a:ext uri="{FF2B5EF4-FFF2-40B4-BE49-F238E27FC236}">
                    <a16:creationId xmlns:a16="http://schemas.microsoft.com/office/drawing/2014/main" id="{051A7251-1384-2DC2-D38B-60BA4BF333B2}"/>
                  </a:ext>
                </a:extLst>
              </p:cNvPr>
              <p:cNvSpPr/>
              <p:nvPr/>
            </p:nvSpPr>
            <p:spPr>
              <a:xfrm>
                <a:off x="1207257" y="4022261"/>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m:rPr>
                              <m:sty m:val="p"/>
                            </m:rPr>
                            <a:rPr lang="en-US" b="0" i="0" dirty="0" smtClean="0">
                              <a:solidFill>
                                <a:schemeClr val="tx1"/>
                              </a:solidFill>
                              <a:latin typeface="Cambria Math" panose="02040503050406030204" pitchFamily="18" charset="0"/>
                            </a:rPr>
                            <m:t>x</m:t>
                          </m:r>
                        </m:e>
                        <m:sub>
                          <m:r>
                            <a:rPr lang="en-US" b="0" i="1" dirty="0" smtClean="0">
                              <a:solidFill>
                                <a:schemeClr val="tx1"/>
                              </a:solidFill>
                              <a:latin typeface="Cambria Math" panose="02040503050406030204" pitchFamily="18" charset="0"/>
                            </a:rPr>
                            <m:t>𝑚</m:t>
                          </m:r>
                        </m:sub>
                      </m:sSub>
                    </m:oMath>
                  </m:oMathPara>
                </a14:m>
                <a:endParaRPr lang="en-US" dirty="0">
                  <a:solidFill>
                    <a:schemeClr val="tx1"/>
                  </a:solidFill>
                </a:endParaRPr>
              </a:p>
            </p:txBody>
          </p:sp>
        </mc:Choice>
        <mc:Fallback>
          <p:sp>
            <p:nvSpPr>
              <p:cNvPr id="5" name="Oval 4">
                <a:extLst>
                  <a:ext uri="{FF2B5EF4-FFF2-40B4-BE49-F238E27FC236}">
                    <a16:creationId xmlns:a16="http://schemas.microsoft.com/office/drawing/2014/main" id="{051A7251-1384-2DC2-D38B-60BA4BF333B2}"/>
                  </a:ext>
                </a:extLst>
              </p:cNvPr>
              <p:cNvSpPr>
                <a:spLocks noRot="1" noChangeAspect="1" noMove="1" noResize="1" noEditPoints="1" noAdjustHandles="1" noChangeArrowheads="1" noChangeShapeType="1" noTextEdit="1"/>
              </p:cNvSpPr>
              <p:nvPr/>
            </p:nvSpPr>
            <p:spPr>
              <a:xfrm>
                <a:off x="1207257" y="4022261"/>
                <a:ext cx="914400" cy="914400"/>
              </a:xfrm>
              <a:prstGeom prst="ellipse">
                <a:avLst/>
              </a:prstGeom>
              <a:blipFill>
                <a:blip r:embed="rId4"/>
                <a:stretch>
                  <a:fillRect/>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0206EC72-FA62-0CF0-4446-F228C75DA3C5}"/>
              </a:ext>
            </a:extLst>
          </p:cNvPr>
          <p:cNvCxnSpPr>
            <a:cxnSpLocks/>
            <a:stCxn id="4" idx="6"/>
            <a:endCxn id="3" idx="1"/>
          </p:cNvCxnSpPr>
          <p:nvPr/>
        </p:nvCxnSpPr>
        <p:spPr>
          <a:xfrm>
            <a:off x="2121657" y="2804197"/>
            <a:ext cx="1214267" cy="50808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466BFAE3-F9F4-3163-EAEA-C1637C033831}"/>
              </a:ext>
            </a:extLst>
          </p:cNvPr>
          <p:cNvCxnSpPr>
            <a:cxnSpLocks/>
            <a:endCxn id="3" idx="3"/>
          </p:cNvCxnSpPr>
          <p:nvPr/>
        </p:nvCxnSpPr>
        <p:spPr>
          <a:xfrm flipV="1">
            <a:off x="2121657" y="3958864"/>
            <a:ext cx="1214267" cy="5166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49ABA1BE-94B2-A0F3-D651-597EB4AF07FF}"/>
                  </a:ext>
                </a:extLst>
              </p:cNvPr>
              <p:cNvSpPr txBox="1"/>
              <p:nvPr/>
            </p:nvSpPr>
            <p:spPr>
              <a:xfrm>
                <a:off x="2294436" y="2665697"/>
                <a:ext cx="83465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oMath>
                  </m:oMathPara>
                </a14:m>
                <a:endParaRPr lang="en-US" dirty="0"/>
              </a:p>
            </p:txBody>
          </p:sp>
        </mc:Choice>
        <mc:Fallback>
          <p:sp>
            <p:nvSpPr>
              <p:cNvPr id="15" name="TextBox 14">
                <a:extLst>
                  <a:ext uri="{FF2B5EF4-FFF2-40B4-BE49-F238E27FC236}">
                    <a16:creationId xmlns:a16="http://schemas.microsoft.com/office/drawing/2014/main" id="{49ABA1BE-94B2-A0F3-D651-597EB4AF07FF}"/>
                  </a:ext>
                </a:extLst>
              </p:cNvPr>
              <p:cNvSpPr txBox="1">
                <a:spLocks noRot="1" noChangeAspect="1" noMove="1" noResize="1" noEditPoints="1" noAdjustHandles="1" noChangeArrowheads="1" noChangeShapeType="1" noTextEdit="1"/>
              </p:cNvSpPr>
              <p:nvPr/>
            </p:nvSpPr>
            <p:spPr>
              <a:xfrm>
                <a:off x="2294436" y="2665697"/>
                <a:ext cx="834656" cy="276999"/>
              </a:xfrm>
              <a:prstGeom prst="rect">
                <a:avLst/>
              </a:prstGeom>
              <a:blipFill>
                <a:blip r:embed="rId5"/>
                <a:stretch>
                  <a:fillRect b="-1304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D9FAC0E8-032C-7BD7-B81F-A5F8BA8F649D}"/>
                  </a:ext>
                </a:extLst>
              </p:cNvPr>
              <p:cNvSpPr txBox="1"/>
              <p:nvPr/>
            </p:nvSpPr>
            <p:spPr>
              <a:xfrm>
                <a:off x="2294436" y="4337049"/>
                <a:ext cx="83465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𝑚</m:t>
                          </m:r>
                        </m:sub>
                      </m:sSub>
                    </m:oMath>
                  </m:oMathPara>
                </a14:m>
                <a:endParaRPr lang="en-US" dirty="0"/>
              </a:p>
            </p:txBody>
          </p:sp>
        </mc:Choice>
        <mc:Fallback>
          <p:sp>
            <p:nvSpPr>
              <p:cNvPr id="16" name="TextBox 15">
                <a:extLst>
                  <a:ext uri="{FF2B5EF4-FFF2-40B4-BE49-F238E27FC236}">
                    <a16:creationId xmlns:a16="http://schemas.microsoft.com/office/drawing/2014/main" id="{D9FAC0E8-032C-7BD7-B81F-A5F8BA8F649D}"/>
                  </a:ext>
                </a:extLst>
              </p:cNvPr>
              <p:cNvSpPr txBox="1">
                <a:spLocks noRot="1" noChangeAspect="1" noMove="1" noResize="1" noEditPoints="1" noAdjustHandles="1" noChangeArrowheads="1" noChangeShapeType="1" noTextEdit="1"/>
              </p:cNvSpPr>
              <p:nvPr/>
            </p:nvSpPr>
            <p:spPr>
              <a:xfrm>
                <a:off x="2294436" y="4337049"/>
                <a:ext cx="834656" cy="276999"/>
              </a:xfrm>
              <a:prstGeom prst="rect">
                <a:avLst/>
              </a:prstGeom>
              <a:blipFill>
                <a:blip r:embed="rId6"/>
                <a:stretch>
                  <a:fillRect b="-8696"/>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8762BBF4-A109-BA48-5528-0FA30847B820}"/>
              </a:ext>
            </a:extLst>
          </p:cNvPr>
          <p:cNvSpPr txBox="1"/>
          <p:nvPr/>
        </p:nvSpPr>
        <p:spPr>
          <a:xfrm>
            <a:off x="3105738" y="4092775"/>
            <a:ext cx="622286" cy="369332"/>
          </a:xfrm>
          <a:prstGeom prst="rect">
            <a:avLst/>
          </a:prstGeom>
          <a:noFill/>
        </p:spPr>
        <p:txBody>
          <a:bodyPr wrap="none" rtlCol="0">
            <a:spAutoFit/>
          </a:bodyPr>
          <a:lstStyle/>
          <a:p>
            <a:r>
              <a:rPr lang="en-US" dirty="0"/>
              <a:t>sum</a:t>
            </a: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39EBE0AA-430C-6994-F4E2-8783ECA15EF6}"/>
                  </a:ext>
                </a:extLst>
              </p:cNvPr>
              <p:cNvSpPr txBox="1"/>
              <p:nvPr/>
            </p:nvSpPr>
            <p:spPr>
              <a:xfrm>
                <a:off x="3774172" y="4092775"/>
                <a:ext cx="1351524" cy="923330"/>
              </a:xfrm>
              <a:prstGeom prst="rect">
                <a:avLst/>
              </a:prstGeom>
              <a:noFill/>
            </p:spPr>
            <p:txBody>
              <a:bodyPr wrap="none" rtlCol="0">
                <a:spAutoFit/>
              </a:bodyPr>
              <a:lstStyle/>
              <a:p>
                <a:r>
                  <a:rPr lang="en-US" dirty="0"/>
                  <a:t>sigmoid</a:t>
                </a:r>
              </a:p>
              <a:p>
                <a:r>
                  <a:rPr lang="en-US" dirty="0"/>
                  <a:t>(aka logistic)</a:t>
                </a:r>
              </a:p>
              <a:p>
                <a:r>
                  <a:rPr lang="en-US" dirty="0"/>
                  <a:t>function </a:t>
                </a:r>
                <a14:m>
                  <m:oMath xmlns:m="http://schemas.openxmlformats.org/officeDocument/2006/math">
                    <m:r>
                      <a:rPr lang="en-US" b="0" i="1" smtClean="0">
                        <a:latin typeface="Cambria Math" panose="02040503050406030204" pitchFamily="18" charset="0"/>
                      </a:rPr>
                      <m:t>𝜎</m:t>
                    </m:r>
                  </m:oMath>
                </a14:m>
                <a:endParaRPr lang="en-US" dirty="0"/>
              </a:p>
            </p:txBody>
          </p:sp>
        </mc:Choice>
        <mc:Fallback>
          <p:sp>
            <p:nvSpPr>
              <p:cNvPr id="42" name="TextBox 41">
                <a:extLst>
                  <a:ext uri="{FF2B5EF4-FFF2-40B4-BE49-F238E27FC236}">
                    <a16:creationId xmlns:a16="http://schemas.microsoft.com/office/drawing/2014/main" id="{39EBE0AA-430C-6994-F4E2-8783ECA15EF6}"/>
                  </a:ext>
                </a:extLst>
              </p:cNvPr>
              <p:cNvSpPr txBox="1">
                <a:spLocks noRot="1" noChangeAspect="1" noMove="1" noResize="1" noEditPoints="1" noAdjustHandles="1" noChangeArrowheads="1" noChangeShapeType="1" noTextEdit="1"/>
              </p:cNvSpPr>
              <p:nvPr/>
            </p:nvSpPr>
            <p:spPr>
              <a:xfrm>
                <a:off x="3774172" y="4092775"/>
                <a:ext cx="1351524" cy="923330"/>
              </a:xfrm>
              <a:prstGeom prst="rect">
                <a:avLst/>
              </a:prstGeom>
              <a:blipFill>
                <a:blip r:embed="rId7"/>
                <a:stretch>
                  <a:fillRect l="-3738" t="-2703" r="-9346" b="-94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31F26A6E-E1F9-60D4-8959-775130873A7B}"/>
                  </a:ext>
                </a:extLst>
              </p:cNvPr>
              <p:cNvSpPr txBox="1"/>
              <p:nvPr/>
            </p:nvSpPr>
            <p:spPr>
              <a:xfrm>
                <a:off x="4538606" y="3457163"/>
                <a:ext cx="13221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=1|</m:t>
                      </m:r>
                      <m:r>
                        <a:rPr lang="en-US" b="1" i="1" smtClean="0">
                          <a:latin typeface="Cambria Math" panose="02040503050406030204" pitchFamily="18" charset="0"/>
                        </a:rPr>
                        <m:t>𝒙</m:t>
                      </m:r>
                      <m:r>
                        <a:rPr lang="en-US" b="0" i="1" smtClean="0">
                          <a:latin typeface="Cambria Math" panose="02040503050406030204" pitchFamily="18" charset="0"/>
                        </a:rPr>
                        <m:t>)</m:t>
                      </m:r>
                    </m:oMath>
                  </m:oMathPara>
                </a14:m>
                <a:endParaRPr lang="en-US" dirty="0"/>
              </a:p>
            </p:txBody>
          </p:sp>
        </mc:Choice>
        <mc:Fallback>
          <p:sp>
            <p:nvSpPr>
              <p:cNvPr id="45" name="TextBox 44">
                <a:extLst>
                  <a:ext uri="{FF2B5EF4-FFF2-40B4-BE49-F238E27FC236}">
                    <a16:creationId xmlns:a16="http://schemas.microsoft.com/office/drawing/2014/main" id="{31F26A6E-E1F9-60D4-8959-775130873A7B}"/>
                  </a:ext>
                </a:extLst>
              </p:cNvPr>
              <p:cNvSpPr txBox="1">
                <a:spLocks noRot="1" noChangeAspect="1" noMove="1" noResize="1" noEditPoints="1" noAdjustHandles="1" noChangeArrowheads="1" noChangeShapeType="1" noTextEdit="1"/>
              </p:cNvSpPr>
              <p:nvPr/>
            </p:nvSpPr>
            <p:spPr>
              <a:xfrm>
                <a:off x="4538606" y="3457163"/>
                <a:ext cx="1322157" cy="369332"/>
              </a:xfrm>
              <a:prstGeom prst="rect">
                <a:avLst/>
              </a:prstGeom>
              <a:blipFill>
                <a:blip r:embed="rId8"/>
                <a:stretch>
                  <a:fillRect b="-13333"/>
                </a:stretch>
              </a:blipFill>
            </p:spPr>
            <p:txBody>
              <a:bodyPr/>
              <a:lstStyle/>
              <a:p>
                <a:r>
                  <a:rPr lang="en-US">
                    <a:noFill/>
                  </a:rPr>
                  <a:t> </a:t>
                </a:r>
              </a:p>
            </p:txBody>
          </p:sp>
        </mc:Fallback>
      </mc:AlternateContent>
      <p:cxnSp>
        <p:nvCxnSpPr>
          <p:cNvPr id="47" name="Straight Arrow Connector 46">
            <a:extLst>
              <a:ext uri="{FF2B5EF4-FFF2-40B4-BE49-F238E27FC236}">
                <a16:creationId xmlns:a16="http://schemas.microsoft.com/office/drawing/2014/main" id="{F3D3BD2D-6F1A-0265-56EA-80F01967D5A0}"/>
              </a:ext>
            </a:extLst>
          </p:cNvPr>
          <p:cNvCxnSpPr>
            <a:cxnSpLocks/>
          </p:cNvCxnSpPr>
          <p:nvPr/>
        </p:nvCxnSpPr>
        <p:spPr>
          <a:xfrm>
            <a:off x="4112751" y="3652169"/>
            <a:ext cx="4896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17" name="Group 16">
            <a:extLst>
              <a:ext uri="{FF2B5EF4-FFF2-40B4-BE49-F238E27FC236}">
                <a16:creationId xmlns:a16="http://schemas.microsoft.com/office/drawing/2014/main" id="{749F0382-D250-F851-B076-8077C9762EB3}"/>
              </a:ext>
            </a:extLst>
          </p:cNvPr>
          <p:cNvGrpSpPr/>
          <p:nvPr/>
        </p:nvGrpSpPr>
        <p:grpSpPr>
          <a:xfrm>
            <a:off x="3202013" y="3178375"/>
            <a:ext cx="995337" cy="914400"/>
            <a:chOff x="7496986" y="1328396"/>
            <a:chExt cx="995337" cy="914400"/>
          </a:xfrm>
        </p:grpSpPr>
        <mc:AlternateContent xmlns:mc="http://schemas.openxmlformats.org/markup-compatibility/2006">
          <mc:Choice xmlns:a14="http://schemas.microsoft.com/office/drawing/2010/main" Requires="a14">
            <p:sp>
              <p:nvSpPr>
                <p:cNvPr id="3" name="Oval 2">
                  <a:extLst>
                    <a:ext uri="{FF2B5EF4-FFF2-40B4-BE49-F238E27FC236}">
                      <a16:creationId xmlns:a16="http://schemas.microsoft.com/office/drawing/2014/main" id="{E4A80871-B56C-C877-5C96-2FD25F52C076}"/>
                    </a:ext>
                  </a:extLst>
                </p:cNvPr>
                <p:cNvSpPr/>
                <p:nvPr/>
              </p:nvSpPr>
              <p:spPr>
                <a:xfrm>
                  <a:off x="7496986" y="1328396"/>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m:rPr>
                            <m:sty m:val="p"/>
                          </m:rPr>
                          <a:rPr lang="en-US" sz="3600" i="0" dirty="0" smtClean="0">
                            <a:solidFill>
                              <a:schemeClr val="tx1"/>
                            </a:solidFill>
                            <a:latin typeface="Cambria Math" panose="02040503050406030204" pitchFamily="18" charset="0"/>
                          </a:rPr>
                          <m:t>Σ</m:t>
                        </m:r>
                        <m:r>
                          <a:rPr lang="en-US" sz="3600" b="0" i="1" dirty="0" smtClean="0">
                            <a:solidFill>
                              <a:schemeClr val="tx1"/>
                            </a:solidFill>
                            <a:latin typeface="Cambria Math" panose="02040503050406030204" pitchFamily="18" charset="0"/>
                          </a:rPr>
                          <m:t>  </m:t>
                        </m:r>
                      </m:oMath>
                    </m:oMathPara>
                  </a14:m>
                  <a:endParaRPr/>
                </a:p>
              </p:txBody>
            </p:sp>
          </mc:Choice>
          <mc:Fallback>
            <p:sp>
              <p:nvSpPr>
                <p:cNvPr id="3" name="Oval 2">
                  <a:extLst>
                    <a:ext uri="{FF2B5EF4-FFF2-40B4-BE49-F238E27FC236}">
                      <a16:creationId xmlns:a16="http://schemas.microsoft.com/office/drawing/2014/main" id="{E4A80871-B56C-C877-5C96-2FD25F52C076}"/>
                    </a:ext>
                  </a:extLst>
                </p:cNvPr>
                <p:cNvSpPr>
                  <a:spLocks noRot="1" noChangeAspect="1" noMove="1" noResize="1" noEditPoints="1" noAdjustHandles="1" noChangeArrowheads="1" noChangeShapeType="1" noTextEdit="1"/>
                </p:cNvSpPr>
                <p:nvPr/>
              </p:nvSpPr>
              <p:spPr>
                <a:xfrm>
                  <a:off x="7496986" y="1328396"/>
                  <a:ext cx="914400" cy="914400"/>
                </a:xfrm>
                <a:prstGeom prst="ellipse">
                  <a:avLst/>
                </a:prstGeom>
                <a:blipFill>
                  <a:blip r:embed="rId9"/>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9C83FEA7-1B7D-A007-9A17-B12B3E73423B}"/>
                </a:ext>
              </a:extLst>
            </p:cNvPr>
            <p:cNvCxnSpPr>
              <a:cxnSpLocks/>
            </p:cNvCxnSpPr>
            <p:nvPr/>
          </p:nvCxnSpPr>
          <p:spPr>
            <a:xfrm>
              <a:off x="8022997" y="1328396"/>
              <a:ext cx="0" cy="9144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A1E184F7-A400-C11C-8723-F446BD0A6DBA}"/>
                </a:ext>
              </a:extLst>
            </p:cNvPr>
            <p:cNvPicPr>
              <a:picLocks noChangeAspect="1"/>
            </p:cNvPicPr>
            <p:nvPr/>
          </p:nvPicPr>
          <p:blipFill>
            <a:blip r:embed="rId10"/>
            <a:stretch>
              <a:fillRect/>
            </a:stretch>
          </p:blipFill>
          <p:spPr>
            <a:xfrm>
              <a:off x="7919179" y="1594886"/>
              <a:ext cx="573144" cy="382096"/>
            </a:xfrm>
            <a:prstGeom prst="rect">
              <a:avLst/>
            </a:prstGeom>
          </p:spPr>
        </p:pic>
      </p:grpSp>
      <p:cxnSp>
        <p:nvCxnSpPr>
          <p:cNvPr id="7" name="Straight Arrow Connector 6">
            <a:extLst>
              <a:ext uri="{FF2B5EF4-FFF2-40B4-BE49-F238E27FC236}">
                <a16:creationId xmlns:a16="http://schemas.microsoft.com/office/drawing/2014/main" id="{5A8D7692-9412-85A1-CD77-E9163151D1DD}"/>
              </a:ext>
            </a:extLst>
          </p:cNvPr>
          <p:cNvCxnSpPr>
            <a:cxnSpLocks/>
            <a:stCxn id="8" idx="2"/>
            <a:endCxn id="3" idx="0"/>
          </p:cNvCxnSpPr>
          <p:nvPr/>
        </p:nvCxnSpPr>
        <p:spPr>
          <a:xfrm>
            <a:off x="3655217" y="2716329"/>
            <a:ext cx="3996" cy="46204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CDA9DF27-3941-EFC4-5B77-FA78B9023E4A}"/>
                  </a:ext>
                </a:extLst>
              </p:cNvPr>
              <p:cNvSpPr txBox="1"/>
              <p:nvPr/>
            </p:nvSpPr>
            <p:spPr>
              <a:xfrm>
                <a:off x="3472731" y="2346997"/>
                <a:ext cx="3649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oMath>
                  </m:oMathPara>
                </a14:m>
                <a:endParaRPr lang="en-US" dirty="0"/>
              </a:p>
            </p:txBody>
          </p:sp>
        </mc:Choice>
        <mc:Fallback>
          <p:sp>
            <p:nvSpPr>
              <p:cNvPr id="8" name="TextBox 7">
                <a:extLst>
                  <a:ext uri="{FF2B5EF4-FFF2-40B4-BE49-F238E27FC236}">
                    <a16:creationId xmlns:a16="http://schemas.microsoft.com/office/drawing/2014/main" id="{CDA9DF27-3941-EFC4-5B77-FA78B9023E4A}"/>
                  </a:ext>
                </a:extLst>
              </p:cNvPr>
              <p:cNvSpPr txBox="1">
                <a:spLocks noRot="1" noChangeAspect="1" noMove="1" noResize="1" noEditPoints="1" noAdjustHandles="1" noChangeArrowheads="1" noChangeShapeType="1" noTextEdit="1"/>
              </p:cNvSpPr>
              <p:nvPr/>
            </p:nvSpPr>
            <p:spPr>
              <a:xfrm>
                <a:off x="3472731" y="2346997"/>
                <a:ext cx="364972"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AA5575F0-182C-1186-36F9-CC0D7F02D614}"/>
                  </a:ext>
                </a:extLst>
              </p:cNvPr>
              <p:cNvSpPr txBox="1"/>
              <p:nvPr/>
            </p:nvSpPr>
            <p:spPr>
              <a:xfrm>
                <a:off x="6778211" y="1807758"/>
                <a:ext cx="4574432" cy="3235694"/>
              </a:xfrm>
              <a:prstGeom prst="rect">
                <a:avLst/>
              </a:prstGeom>
              <a:noFill/>
            </p:spPr>
            <p:txBody>
              <a:bodyPr wrap="square" rtlCol="0">
                <a:spAutoFit/>
              </a:bodyPr>
              <a:lstStyle/>
              <a:p>
                <a:r>
                  <a:rPr lang="en-US" dirty="0">
                    <a:latin typeface="Cambria Math" panose="02040503050406030204" pitchFamily="18" charset="0"/>
                  </a:rPr>
                  <a:t>Computational chain:</a:t>
                </a:r>
              </a:p>
              <a:p>
                <a:endParaRPr lang="en-US" b="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𝐿</m:t>
                      </m:r>
                    </m:oMath>
                  </m:oMathPara>
                </a14:m>
                <a:endParaRPr lang="en-US" b="0" dirty="0"/>
              </a:p>
              <a:p>
                <a:endParaRPr lang="en-US" dirty="0"/>
              </a:p>
              <a:p>
                <a:endParaRPr lang="en-US" dirty="0"/>
              </a:p>
              <a:p>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𝑦</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log</m:t>
                          </m:r>
                          <m:r>
                            <a:rPr lang="en-US" b="0" i="0"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𝑦</m:t>
                              </m:r>
                            </m:e>
                          </m:d>
                          <m:r>
                            <m:rPr>
                              <m:sty m:val="p"/>
                            </m:rPr>
                            <a:rPr lang="en-US" b="0" i="0" smtClean="0">
                              <a:latin typeface="Cambria Math" panose="02040503050406030204" pitchFamily="18" charset="0"/>
                              <a:ea typeface="Cambria Math" panose="02040503050406030204" pitchFamily="18" charset="0"/>
                            </a:rPr>
                            <m:t>log</m:t>
                          </m:r>
                          <m:r>
                            <a:rPr lang="en-US" b="0" i="0"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𝑝</m:t>
                              </m:r>
                            </m:e>
                          </m:d>
                        </m:e>
                      </m:d>
                    </m:oMath>
                  </m:oMathPara>
                </a14:m>
                <a:endParaRPr lang="en-US" dirty="0"/>
              </a:p>
              <a:p>
                <a:endParaRPr lang="en-US" dirty="0"/>
              </a:p>
              <a:p>
                <a:endParaRPr lang="en-US" dirty="0"/>
              </a:p>
              <a:p>
                <a:pPr/>
                <a14:m>
                  <m:oMathPara xmlns:m="http://schemas.openxmlformats.org/officeDocument/2006/math">
                    <m:oMathParaPr>
                      <m:jc m:val="left"/>
                    </m:oMathParaPr>
                    <m:oMath xmlns:m="http://schemas.openxmlformats.org/officeDocument/2006/math">
                      <m:sSub>
                        <m:sSubPr>
                          <m:ctrlPr>
                            <a:rPr lang="en-US" b="0" i="1" dirty="0" smtClean="0">
                              <a:latin typeface="Cambria Math" panose="02040503050406030204" pitchFamily="18" charset="0"/>
                            </a:rPr>
                          </m:ctrlPr>
                        </m:sSubPr>
                        <m:e>
                          <m:r>
                            <m:rPr>
                              <m:sty m:val="p"/>
                            </m:rPr>
                            <a:rPr lang="en-US" i="0" dirty="0" smtClean="0">
                              <a:latin typeface="Cambria Math" panose="02040503050406030204" pitchFamily="18" charset="0"/>
                            </a:rPr>
                            <m:t>∇</m:t>
                          </m:r>
                        </m:e>
                        <m:sub>
                          <m:r>
                            <a:rPr lang="en-US" b="0" i="1" dirty="0" smtClean="0">
                              <a:latin typeface="Cambria Math" panose="02040503050406030204" pitchFamily="18" charset="0"/>
                            </a:rPr>
                            <m:t>𝜃</m:t>
                          </m:r>
                        </m:sub>
                      </m:sSub>
                      <m:r>
                        <a:rPr lang="en-US" b="0"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eqArr>
                            <m:eqArrPr>
                              <m:ctrlPr>
                                <a:rPr lang="en-US" b="0" i="1" smtClean="0">
                                  <a:latin typeface="Cambria Math" panose="02040503050406030204" pitchFamily="18" charset="0"/>
                                  <a:ea typeface="Cambria Math" panose="02040503050406030204" pitchFamily="18" charset="0"/>
                                </a:rPr>
                              </m:ctrlPr>
                            </m:eqArr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1</m:t>
                                  </m:r>
                                </m:sub>
                              </m:sSub>
                            </m:e>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2</m:t>
                                  </m:r>
                                </m:sub>
                              </m:sSub>
                            </m:e>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e>
                          </m:eqAr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e>
                      </m:d>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𝒙</m:t>
                      </m:r>
                    </m:oMath>
                  </m:oMathPara>
                </a14:m>
                <a:endParaRPr lang="en-US" b="1" dirty="0"/>
              </a:p>
            </p:txBody>
          </p:sp>
        </mc:Choice>
        <mc:Fallback>
          <p:sp>
            <p:nvSpPr>
              <p:cNvPr id="6" name="TextBox 5">
                <a:extLst>
                  <a:ext uri="{FF2B5EF4-FFF2-40B4-BE49-F238E27FC236}">
                    <a16:creationId xmlns:a16="http://schemas.microsoft.com/office/drawing/2014/main" id="{AA5575F0-182C-1186-36F9-CC0D7F02D614}"/>
                  </a:ext>
                </a:extLst>
              </p:cNvPr>
              <p:cNvSpPr txBox="1">
                <a:spLocks noRot="1" noChangeAspect="1" noMove="1" noResize="1" noEditPoints="1" noAdjustHandles="1" noChangeArrowheads="1" noChangeShapeType="1" noTextEdit="1"/>
              </p:cNvSpPr>
              <p:nvPr/>
            </p:nvSpPr>
            <p:spPr>
              <a:xfrm>
                <a:off x="6778211" y="1807758"/>
                <a:ext cx="4574432" cy="3235694"/>
              </a:xfrm>
              <a:prstGeom prst="rect">
                <a:avLst/>
              </a:prstGeom>
              <a:blipFill>
                <a:blip r:embed="rId12"/>
                <a:stretch>
                  <a:fillRect l="-1108" t="-784"/>
                </a:stretch>
              </a:blipFill>
            </p:spPr>
            <p:txBody>
              <a:bodyPr/>
              <a:lstStyle/>
              <a:p>
                <a:r>
                  <a:rPr lang="en-US">
                    <a:noFill/>
                  </a:rPr>
                  <a:t> </a:t>
                </a:r>
              </a:p>
            </p:txBody>
          </p:sp>
        </mc:Fallback>
      </mc:AlternateContent>
    </p:spTree>
    <p:extLst>
      <p:ext uri="{BB962C8B-B14F-4D97-AF65-F5344CB8AC3E}">
        <p14:creationId xmlns:p14="http://schemas.microsoft.com/office/powerpoint/2010/main" val="26379438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3E3FE-A3A9-C4B5-4918-C2F337CEFECA}"/>
              </a:ext>
            </a:extLst>
          </p:cNvPr>
          <p:cNvSpPr>
            <a:spLocks noGrp="1"/>
          </p:cNvSpPr>
          <p:nvPr>
            <p:ph type="title"/>
          </p:nvPr>
        </p:nvSpPr>
        <p:spPr/>
        <p:txBody>
          <a:bodyPr/>
          <a:lstStyle/>
          <a:p>
            <a:r>
              <a:rPr lang="en-US" dirty="0" err="1"/>
              <a:t>Autodiff</a:t>
            </a:r>
            <a:r>
              <a:rPr lang="en-US" dirty="0"/>
              <a:t> in </a:t>
            </a:r>
            <a:r>
              <a:rPr lang="en-US" dirty="0" err="1"/>
              <a:t>PyTorch</a:t>
            </a:r>
            <a:endParaRPr lang="en-US" dirty="0"/>
          </a:p>
        </p:txBody>
      </p:sp>
      <p:sp>
        <p:nvSpPr>
          <p:cNvPr id="5" name="TextBox 4">
            <a:extLst>
              <a:ext uri="{FF2B5EF4-FFF2-40B4-BE49-F238E27FC236}">
                <a16:creationId xmlns:a16="http://schemas.microsoft.com/office/drawing/2014/main" id="{B506B1A0-2785-AB9B-B68F-C64B2DE36299}"/>
              </a:ext>
            </a:extLst>
          </p:cNvPr>
          <p:cNvSpPr txBox="1"/>
          <p:nvPr/>
        </p:nvSpPr>
        <p:spPr>
          <a:xfrm>
            <a:off x="1714500" y="2228671"/>
            <a:ext cx="7072884" cy="1200329"/>
          </a:xfrm>
          <a:prstGeom prst="rect">
            <a:avLst/>
          </a:prstGeom>
          <a:solidFill>
            <a:srgbClr val="F9F9F9"/>
          </a:solidFill>
          <a:ln>
            <a:solidFill>
              <a:schemeClr val="tx1"/>
            </a:solidFill>
          </a:ln>
        </p:spPr>
        <p:txBody>
          <a:bodyPr wrap="square">
            <a:spAutoFit/>
          </a:bodyPr>
          <a:lstStyle/>
          <a:p>
            <a:r>
              <a:rPr lang="en-US" dirty="0">
                <a:latin typeface="Consolas" panose="020B0609020204030204" pitchFamily="49" charset="0"/>
                <a:cs typeface="Consolas" panose="020B0609020204030204" pitchFamily="49" charset="0"/>
              </a:rPr>
              <a:t>def </a:t>
            </a:r>
            <a:r>
              <a:rPr lang="en-US" dirty="0" err="1">
                <a:latin typeface="Consolas" panose="020B0609020204030204" pitchFamily="49" charset="0"/>
                <a:cs typeface="Consolas" panose="020B0609020204030204" pitchFamily="49" charset="0"/>
              </a:rPr>
              <a:t>bce_from_logits</a:t>
            </a:r>
            <a:r>
              <a:rPr lang="en-US" dirty="0">
                <a:latin typeface="Consolas" panose="020B0609020204030204" pitchFamily="49" charset="0"/>
                <a:cs typeface="Consolas" panose="020B0609020204030204" pitchFamily="49" charset="0"/>
              </a:rPr>
              <a:t>(logits, y):</a:t>
            </a:r>
          </a:p>
          <a:p>
            <a:r>
              <a:rPr lang="en-US" dirty="0">
                <a:latin typeface="Consolas" panose="020B0609020204030204" pitchFamily="49" charset="0"/>
                <a:cs typeface="Consolas" panose="020B0609020204030204" pitchFamily="49" charset="0"/>
              </a:rPr>
              <a:t>    return </a:t>
            </a:r>
            <a:r>
              <a:rPr lang="en-US" dirty="0" err="1">
                <a:latin typeface="Consolas" panose="020B0609020204030204" pitchFamily="49" charset="0"/>
                <a:cs typeface="Consolas" panose="020B0609020204030204" pitchFamily="49" charset="0"/>
              </a:rPr>
              <a:t>torch.mean</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torch.log</a:t>
            </a:r>
            <a:r>
              <a:rPr lang="en-US" dirty="0">
                <a:latin typeface="Consolas" panose="020B0609020204030204" pitchFamily="49" charset="0"/>
                <a:cs typeface="Consolas" panose="020B0609020204030204" pitchFamily="49" charset="0"/>
              </a:rPr>
              <a:t>(1 + </a:t>
            </a:r>
            <a:r>
              <a:rPr lang="en-US" dirty="0" err="1">
                <a:latin typeface="Consolas" panose="020B0609020204030204" pitchFamily="49" charset="0"/>
                <a:cs typeface="Consolas" panose="020B0609020204030204" pitchFamily="49" charset="0"/>
              </a:rPr>
              <a:t>torch.exp</a:t>
            </a:r>
            <a:r>
              <a:rPr lang="en-US" dirty="0">
                <a:latin typeface="Consolas" panose="020B0609020204030204" pitchFamily="49" charset="0"/>
                <a:cs typeface="Consolas" panose="020B0609020204030204" pitchFamily="49" charset="0"/>
              </a:rPr>
              <a:t>(logits)) - y * logits</a:t>
            </a:r>
          </a:p>
          <a:p>
            <a:r>
              <a:rPr lang="en-US" dirty="0">
                <a:latin typeface="Consolas" panose="020B0609020204030204" pitchFamily="49" charset="0"/>
                <a:cs typeface="Consolas" panose="020B0609020204030204" pitchFamily="49" charset="0"/>
              </a:rPr>
              <a:t>    )</a:t>
            </a:r>
          </a:p>
        </p:txBody>
      </p:sp>
      <p:sp>
        <p:nvSpPr>
          <p:cNvPr id="6" name="Content Placeholder 2">
            <a:extLst>
              <a:ext uri="{FF2B5EF4-FFF2-40B4-BE49-F238E27FC236}">
                <a16:creationId xmlns:a16="http://schemas.microsoft.com/office/drawing/2014/main" id="{E9FDA78B-E365-9A84-4518-3C1126C93A8E}"/>
              </a:ext>
            </a:extLst>
          </p:cNvPr>
          <p:cNvSpPr>
            <a:spLocks noGrp="1"/>
          </p:cNvSpPr>
          <p:nvPr>
            <p:ph idx="1"/>
          </p:nvPr>
        </p:nvSpPr>
        <p:spPr>
          <a:xfrm>
            <a:off x="1106424" y="4123943"/>
            <a:ext cx="9582912" cy="2029969"/>
          </a:xfrm>
        </p:spPr>
        <p:txBody>
          <a:bodyPr>
            <a:normAutofit/>
          </a:bodyPr>
          <a:lstStyle/>
          <a:p>
            <a:r>
              <a:rPr lang="en-US" sz="2400" dirty="0"/>
              <a:t>Each </a:t>
            </a:r>
            <a:r>
              <a:rPr lang="en-US" sz="2400" dirty="0" err="1"/>
              <a:t>PyTorch</a:t>
            </a:r>
            <a:r>
              <a:rPr lang="en-US" sz="2400" dirty="0"/>
              <a:t> primitive (e.g., </a:t>
            </a:r>
            <a:r>
              <a:rPr lang="en-US" sz="2400" dirty="0" err="1"/>
              <a:t>torch.log</a:t>
            </a:r>
            <a:r>
              <a:rPr lang="en-US" sz="2400" dirty="0"/>
              <a:t>) has a registered derivative</a:t>
            </a:r>
          </a:p>
          <a:p>
            <a:endParaRPr lang="en-US" sz="2400" dirty="0"/>
          </a:p>
          <a:p>
            <a:r>
              <a:rPr lang="en-US" sz="2400" dirty="0"/>
              <a:t>These registered derivatives are composed in the backwards pass</a:t>
            </a:r>
          </a:p>
        </p:txBody>
      </p:sp>
    </p:spTree>
    <p:extLst>
      <p:ext uri="{BB962C8B-B14F-4D97-AF65-F5344CB8AC3E}">
        <p14:creationId xmlns:p14="http://schemas.microsoft.com/office/powerpoint/2010/main" val="18455911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C6738-08B4-2EE9-98A5-507D2D0E8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CADCE4-6017-6058-81F4-62E25BADDD69}"/>
              </a:ext>
            </a:extLst>
          </p:cNvPr>
          <p:cNvSpPr>
            <a:spLocks noGrp="1"/>
          </p:cNvSpPr>
          <p:nvPr>
            <p:ph type="title"/>
          </p:nvPr>
        </p:nvSpPr>
        <p:spPr/>
        <p:txBody>
          <a:bodyPr/>
          <a:lstStyle/>
          <a:p>
            <a:r>
              <a:rPr lang="en-US" dirty="0"/>
              <a:t>Aggregating across multiple paths</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C5C5AEEA-7228-DAF6-9274-8DB1242AF412}"/>
                  </a:ext>
                </a:extLst>
              </p:cNvPr>
              <p:cNvSpPr txBox="1"/>
              <p:nvPr/>
            </p:nvSpPr>
            <p:spPr>
              <a:xfrm>
                <a:off x="4068690" y="4267844"/>
                <a:ext cx="7727070" cy="2107693"/>
              </a:xfrm>
              <a:prstGeom prst="rect">
                <a:avLst/>
              </a:prstGeom>
              <a:noFill/>
            </p:spPr>
            <p:txBody>
              <a:bodyPr wrap="square" rtlCol="0">
                <a:spAutoFit/>
              </a:bodyPr>
              <a:lstStyle/>
              <a:p>
                <a:r>
                  <a:rPr lang="en-US" dirty="0">
                    <a:latin typeface="Cambria Math" panose="02040503050406030204" pitchFamily="18" charset="0"/>
                  </a:rPr>
                  <a:t>	Computational chain:</a:t>
                </a:r>
              </a:p>
              <a:p>
                <a:endParaRPr lang="en-US" b="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2,1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2,2</m:t>
                              </m:r>
                            </m:sub>
                          </m:sSub>
                        </m:e>
                      </m:d>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𝐿</m:t>
                      </m:r>
                    </m:oMath>
                  </m:oMathPara>
                </a14:m>
                <a:endParaRPr lang="en-US" b="0" dirty="0"/>
              </a:p>
              <a:p>
                <a:endParaRPr lang="en-US" dirty="0"/>
              </a:p>
              <a:p>
                <a:endParaRPr lang="en-US" dirty="0"/>
              </a:p>
              <a:p>
                <a:pPr/>
                <a14:m>
                  <m:oMathPara xmlns:m="http://schemas.openxmlformats.org/officeDocument/2006/math">
                    <m:oMathParaPr>
                      <m:jc m:val="left"/>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num>
                        <m:den>
                          <m:r>
                            <a:rPr lang="en-US" b="0" i="1" smtClean="0">
                              <a:latin typeface="Cambria Math" panose="02040503050406030204" pitchFamily="18" charset="0"/>
                            </a:rPr>
                            <m:t>𝜕</m:t>
                          </m:r>
                          <m:r>
                            <a:rPr lang="en-US" b="0" i="1" smtClean="0">
                              <a:latin typeface="Cambria Math" panose="02040503050406030204" pitchFamily="18" charset="0"/>
                            </a:rPr>
                            <m:t>𝑝</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𝑝</m:t>
                          </m:r>
                        </m:num>
                        <m:den>
                          <m:r>
                            <a:rPr lang="en-US" b="0" i="1" smtClean="0">
                              <a:latin typeface="Cambria Math" panose="02040503050406030204" pitchFamily="18" charset="0"/>
                            </a:rPr>
                            <m:t>𝜕</m:t>
                          </m:r>
                          <m:r>
                            <a:rPr lang="en-US" b="0" i="1" smtClean="0">
                              <a:latin typeface="Cambria Math" panose="02040503050406030204" pitchFamily="18" charset="0"/>
                            </a:rPr>
                            <m:t>𝑧</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𝑧</m:t>
                          </m:r>
                        </m:num>
                        <m:den>
                          <m:r>
                            <a:rPr lang="en-US" b="0" i="1" smtClean="0">
                              <a:solidFill>
                                <a:schemeClr val="accent2"/>
                              </a:solidFill>
                              <a:latin typeface="Cambria Math" panose="02040503050406030204" pitchFamily="18" charset="0"/>
                            </a:rPr>
                            <m:t>𝜕</m:t>
                          </m:r>
                          <m:sSub>
                            <m:sSubPr>
                              <m:ctrlPr>
                                <a:rPr lang="en-US" b="0" i="1" smtClean="0">
                                  <a:solidFill>
                                    <a:schemeClr val="accent2"/>
                                  </a:solidFill>
                                  <a:latin typeface="Cambria Math" panose="02040503050406030204" pitchFamily="18" charset="0"/>
                                </a:rPr>
                              </m:ctrlPr>
                            </m:sSubPr>
                            <m:e>
                              <m:r>
                                <a:rPr lang="en-US" b="0" i="1" smtClean="0">
                                  <a:solidFill>
                                    <a:schemeClr val="accent2"/>
                                  </a:solidFill>
                                  <a:latin typeface="Cambria Math" panose="02040503050406030204" pitchFamily="18" charset="0"/>
                                </a:rPr>
                                <m:t>h</m:t>
                              </m:r>
                            </m:e>
                            <m:sub>
                              <m:r>
                                <a:rPr lang="en-US" b="0" i="1" smtClean="0">
                                  <a:solidFill>
                                    <a:schemeClr val="accent2"/>
                                  </a:solidFill>
                                  <a:latin typeface="Cambria Math" panose="02040503050406030204" pitchFamily="18" charset="0"/>
                                </a:rPr>
                                <m:t>2,</m:t>
                              </m:r>
                              <m:r>
                                <a:rPr lang="en-US" b="0" i="1" smtClean="0">
                                  <a:solidFill>
                                    <a:schemeClr val="accent2"/>
                                  </a:solidFill>
                                  <a:latin typeface="Cambria Math" panose="02040503050406030204" pitchFamily="18" charset="0"/>
                                </a:rPr>
                                <m:t>1</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solidFill>
                                <a:schemeClr val="accent2"/>
                              </a:solidFill>
                              <a:latin typeface="Cambria Math" panose="02040503050406030204" pitchFamily="18" charset="0"/>
                            </a:rPr>
                            <m:t>𝜕</m:t>
                          </m:r>
                          <m:sSub>
                            <m:sSubPr>
                              <m:ctrlPr>
                                <a:rPr lang="en-US" b="0" i="1" smtClean="0">
                                  <a:solidFill>
                                    <a:schemeClr val="accent2"/>
                                  </a:solidFill>
                                  <a:latin typeface="Cambria Math" panose="02040503050406030204" pitchFamily="18" charset="0"/>
                                </a:rPr>
                              </m:ctrlPr>
                            </m:sSubPr>
                            <m:e>
                              <m:r>
                                <a:rPr lang="en-US" b="0" i="1" smtClean="0">
                                  <a:solidFill>
                                    <a:schemeClr val="accent2"/>
                                  </a:solidFill>
                                  <a:latin typeface="Cambria Math" panose="02040503050406030204" pitchFamily="18" charset="0"/>
                                </a:rPr>
                                <m:t>h</m:t>
                              </m:r>
                            </m:e>
                            <m:sub>
                              <m:r>
                                <a:rPr lang="en-US" b="0" i="1" smtClean="0">
                                  <a:solidFill>
                                    <a:schemeClr val="accent2"/>
                                  </a:solidFill>
                                  <a:latin typeface="Cambria Math" panose="02040503050406030204" pitchFamily="18" charset="0"/>
                                </a:rPr>
                                <m:t>2,1</m:t>
                              </m:r>
                            </m:sub>
                          </m:sSub>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m:t>
                              </m:r>
                              <m:r>
                                <a:rPr lang="en-US" b="0" i="1" smtClean="0">
                                  <a:latin typeface="Cambria Math" panose="02040503050406030204" pitchFamily="18" charset="0"/>
                                </a:rPr>
                                <m:t>,1</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1,1</m:t>
                              </m:r>
                            </m:sub>
                          </m:sSub>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den>
                      </m:f>
                      <m:r>
                        <a:rPr lang="en-US" b="0" i="1" smtClean="0">
                          <a:solidFill>
                            <a:schemeClr val="accent2"/>
                          </a:solidFill>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num>
                        <m:den>
                          <m:r>
                            <a:rPr lang="en-US" b="0" i="1" smtClean="0">
                              <a:latin typeface="Cambria Math" panose="02040503050406030204" pitchFamily="18" charset="0"/>
                            </a:rPr>
                            <m:t>𝜕</m:t>
                          </m:r>
                          <m:r>
                            <a:rPr lang="en-US" b="0" i="1" smtClean="0">
                              <a:latin typeface="Cambria Math" panose="02040503050406030204" pitchFamily="18" charset="0"/>
                            </a:rPr>
                            <m:t>𝑝</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𝑝</m:t>
                          </m:r>
                        </m:num>
                        <m:den>
                          <m:r>
                            <a:rPr lang="en-US" b="0" i="1" smtClean="0">
                              <a:latin typeface="Cambria Math" panose="02040503050406030204" pitchFamily="18" charset="0"/>
                            </a:rPr>
                            <m:t>𝜕</m:t>
                          </m:r>
                          <m:r>
                            <a:rPr lang="en-US" b="0" i="1" smtClean="0">
                              <a:latin typeface="Cambria Math" panose="02040503050406030204" pitchFamily="18" charset="0"/>
                            </a:rPr>
                            <m:t>𝑧</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𝑧</m:t>
                          </m:r>
                        </m:num>
                        <m:den>
                          <m:r>
                            <a:rPr lang="en-US" b="0" i="1" smtClean="0">
                              <a:solidFill>
                                <a:schemeClr val="accent2"/>
                              </a:solidFill>
                              <a:latin typeface="Cambria Math" panose="02040503050406030204" pitchFamily="18" charset="0"/>
                            </a:rPr>
                            <m:t>𝜕</m:t>
                          </m:r>
                          <m:sSub>
                            <m:sSubPr>
                              <m:ctrlPr>
                                <a:rPr lang="en-US" b="0" i="1" smtClean="0">
                                  <a:solidFill>
                                    <a:schemeClr val="accent2"/>
                                  </a:solidFill>
                                  <a:latin typeface="Cambria Math" panose="02040503050406030204" pitchFamily="18" charset="0"/>
                                </a:rPr>
                              </m:ctrlPr>
                            </m:sSubPr>
                            <m:e>
                              <m:r>
                                <a:rPr lang="en-US" b="0" i="1" smtClean="0">
                                  <a:solidFill>
                                    <a:schemeClr val="accent2"/>
                                  </a:solidFill>
                                  <a:latin typeface="Cambria Math" panose="02040503050406030204" pitchFamily="18" charset="0"/>
                                </a:rPr>
                                <m:t>h</m:t>
                              </m:r>
                            </m:e>
                            <m:sub>
                              <m:r>
                                <a:rPr lang="en-US" b="0" i="1" smtClean="0">
                                  <a:solidFill>
                                    <a:schemeClr val="accent2"/>
                                  </a:solidFill>
                                  <a:latin typeface="Cambria Math" panose="02040503050406030204" pitchFamily="18" charset="0"/>
                                </a:rPr>
                                <m:t>2,</m:t>
                              </m:r>
                              <m:r>
                                <a:rPr lang="en-US" b="0" i="1" smtClean="0">
                                  <a:solidFill>
                                    <a:schemeClr val="accent2"/>
                                  </a:solidFill>
                                  <a:latin typeface="Cambria Math" panose="02040503050406030204" pitchFamily="18" charset="0"/>
                                </a:rPr>
                                <m:t>2</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solidFill>
                                <a:schemeClr val="accent2"/>
                              </a:solidFill>
                              <a:latin typeface="Cambria Math" panose="02040503050406030204" pitchFamily="18" charset="0"/>
                            </a:rPr>
                            <m:t>𝜕</m:t>
                          </m:r>
                          <m:sSub>
                            <m:sSubPr>
                              <m:ctrlPr>
                                <a:rPr lang="en-US" b="0" i="1" smtClean="0">
                                  <a:solidFill>
                                    <a:schemeClr val="accent2"/>
                                  </a:solidFill>
                                  <a:latin typeface="Cambria Math" panose="02040503050406030204" pitchFamily="18" charset="0"/>
                                </a:rPr>
                              </m:ctrlPr>
                            </m:sSubPr>
                            <m:e>
                              <m:r>
                                <a:rPr lang="en-US" b="0" i="1" smtClean="0">
                                  <a:solidFill>
                                    <a:schemeClr val="accent2"/>
                                  </a:solidFill>
                                  <a:latin typeface="Cambria Math" panose="02040503050406030204" pitchFamily="18" charset="0"/>
                                </a:rPr>
                                <m:t>h</m:t>
                              </m:r>
                            </m:e>
                            <m:sub>
                              <m:r>
                                <a:rPr lang="en-US" b="0" i="1" smtClean="0">
                                  <a:solidFill>
                                    <a:schemeClr val="accent2"/>
                                  </a:solidFill>
                                  <a:latin typeface="Cambria Math" panose="02040503050406030204" pitchFamily="18" charset="0"/>
                                </a:rPr>
                                <m:t>2,</m:t>
                              </m:r>
                              <m:r>
                                <a:rPr lang="en-US" b="0" i="1" smtClean="0">
                                  <a:solidFill>
                                    <a:schemeClr val="accent2"/>
                                  </a:solidFill>
                                  <a:latin typeface="Cambria Math" panose="02040503050406030204" pitchFamily="18" charset="0"/>
                                </a:rPr>
                                <m:t>2</m:t>
                              </m:r>
                            </m:sub>
                          </m:sSub>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1,1</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1,1</m:t>
                              </m:r>
                            </m:sub>
                          </m:sSub>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den>
                      </m:f>
                    </m:oMath>
                  </m:oMathPara>
                </a14:m>
                <a:endParaRPr lang="en-US" b="1" dirty="0"/>
              </a:p>
            </p:txBody>
          </p:sp>
        </mc:Choice>
        <mc:Fallback>
          <p:sp>
            <p:nvSpPr>
              <p:cNvPr id="6" name="TextBox 5">
                <a:extLst>
                  <a:ext uri="{FF2B5EF4-FFF2-40B4-BE49-F238E27FC236}">
                    <a16:creationId xmlns:a16="http://schemas.microsoft.com/office/drawing/2014/main" id="{C5C5AEEA-7228-DAF6-9274-8DB1242AF412}"/>
                  </a:ext>
                </a:extLst>
              </p:cNvPr>
              <p:cNvSpPr txBox="1">
                <a:spLocks noRot="1" noChangeAspect="1" noMove="1" noResize="1" noEditPoints="1" noAdjustHandles="1" noChangeArrowheads="1" noChangeShapeType="1" noTextEdit="1"/>
              </p:cNvSpPr>
              <p:nvPr/>
            </p:nvSpPr>
            <p:spPr>
              <a:xfrm>
                <a:off x="4068690" y="4267844"/>
                <a:ext cx="7727070" cy="2107693"/>
              </a:xfrm>
              <a:prstGeom prst="rect">
                <a:avLst/>
              </a:prstGeom>
              <a:blipFill>
                <a:blip r:embed="rId3"/>
                <a:stretch>
                  <a:fillRect t="-1198" b="-119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Oval 11">
                <a:extLst>
                  <a:ext uri="{FF2B5EF4-FFF2-40B4-BE49-F238E27FC236}">
                    <a16:creationId xmlns:a16="http://schemas.microsoft.com/office/drawing/2014/main" id="{C64E9186-7DA0-1CBA-2D3C-BABA2958FFB0}"/>
                  </a:ext>
                </a:extLst>
              </p:cNvPr>
              <p:cNvSpPr/>
              <p:nvPr/>
            </p:nvSpPr>
            <p:spPr>
              <a:xfrm>
                <a:off x="3770961" y="1690688"/>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h</m:t>
                          </m:r>
                        </m:e>
                        <m:sub>
                          <m:r>
                            <a:rPr lang="en-US" b="0" i="1" dirty="0" smtClean="0">
                              <a:solidFill>
                                <a:schemeClr val="tx1"/>
                              </a:solidFill>
                              <a:latin typeface="Cambria Math" panose="02040503050406030204" pitchFamily="18" charset="0"/>
                            </a:rPr>
                            <m:t>2</m:t>
                          </m:r>
                          <m:r>
                            <a:rPr lang="en-US" b="0" i="1" dirty="0"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p:sp>
            <p:nvSpPr>
              <p:cNvPr id="12" name="Oval 11">
                <a:extLst>
                  <a:ext uri="{FF2B5EF4-FFF2-40B4-BE49-F238E27FC236}">
                    <a16:creationId xmlns:a16="http://schemas.microsoft.com/office/drawing/2014/main" id="{C64E9186-7DA0-1CBA-2D3C-BABA2958FFB0}"/>
                  </a:ext>
                </a:extLst>
              </p:cNvPr>
              <p:cNvSpPr>
                <a:spLocks noRot="1" noChangeAspect="1" noMove="1" noResize="1" noEditPoints="1" noAdjustHandles="1" noChangeArrowheads="1" noChangeShapeType="1" noTextEdit="1"/>
              </p:cNvSpPr>
              <p:nvPr/>
            </p:nvSpPr>
            <p:spPr>
              <a:xfrm>
                <a:off x="3770961" y="1690688"/>
                <a:ext cx="914400" cy="91440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Oval 12">
                <a:extLst>
                  <a:ext uri="{FF2B5EF4-FFF2-40B4-BE49-F238E27FC236}">
                    <a16:creationId xmlns:a16="http://schemas.microsoft.com/office/drawing/2014/main" id="{5F089EAB-7940-B325-8D76-0B7AB76B50B6}"/>
                  </a:ext>
                </a:extLst>
              </p:cNvPr>
              <p:cNvSpPr/>
              <p:nvPr/>
            </p:nvSpPr>
            <p:spPr>
              <a:xfrm>
                <a:off x="3770961" y="3365952"/>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h</m:t>
                          </m:r>
                        </m:e>
                        <m:sub>
                          <m:r>
                            <a:rPr lang="en-US" b="0" i="1" dirty="0" smtClean="0">
                              <a:solidFill>
                                <a:schemeClr val="tx1"/>
                              </a:solidFill>
                              <a:latin typeface="Cambria Math" panose="02040503050406030204" pitchFamily="18" charset="0"/>
                            </a:rPr>
                            <m:t>2</m:t>
                          </m:r>
                          <m:r>
                            <a:rPr lang="en-US" b="0" i="1" dirty="0" smtClean="0">
                              <a:solidFill>
                                <a:schemeClr val="tx1"/>
                              </a:solidFill>
                              <a:latin typeface="Cambria Math" panose="02040503050406030204" pitchFamily="18" charset="0"/>
                            </a:rPr>
                            <m:t>,</m:t>
                          </m:r>
                          <m:r>
                            <a:rPr lang="en-US" b="0" i="1" dirty="0" smtClean="0">
                              <a:solidFill>
                                <a:schemeClr val="tx1"/>
                              </a:solidFill>
                              <a:latin typeface="Cambria Math" panose="02040503050406030204" pitchFamily="18" charset="0"/>
                            </a:rPr>
                            <m:t>2</m:t>
                          </m:r>
                        </m:sub>
                      </m:sSub>
                    </m:oMath>
                  </m:oMathPara>
                </a14:m>
                <a:endParaRPr lang="en-US" dirty="0">
                  <a:solidFill>
                    <a:schemeClr val="tx1"/>
                  </a:solidFill>
                </a:endParaRPr>
              </a:p>
            </p:txBody>
          </p:sp>
        </mc:Choice>
        <mc:Fallback>
          <p:sp>
            <p:nvSpPr>
              <p:cNvPr id="13" name="Oval 12">
                <a:extLst>
                  <a:ext uri="{FF2B5EF4-FFF2-40B4-BE49-F238E27FC236}">
                    <a16:creationId xmlns:a16="http://schemas.microsoft.com/office/drawing/2014/main" id="{5F089EAB-7940-B325-8D76-0B7AB76B50B6}"/>
                  </a:ext>
                </a:extLst>
              </p:cNvPr>
              <p:cNvSpPr>
                <a:spLocks noRot="1" noChangeAspect="1" noMove="1" noResize="1" noEditPoints="1" noAdjustHandles="1" noChangeArrowheads="1" noChangeShapeType="1" noTextEdit="1"/>
              </p:cNvSpPr>
              <p:nvPr/>
            </p:nvSpPr>
            <p:spPr>
              <a:xfrm>
                <a:off x="3770961" y="3365952"/>
                <a:ext cx="914400" cy="914400"/>
              </a:xfrm>
              <a:prstGeom prst="ellipse">
                <a:avLst/>
              </a:prstGeom>
              <a:blipFill>
                <a:blip r:embed="rId5"/>
                <a:stretch>
                  <a:fillRect/>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F5591096-DD14-A5CA-64EB-3A694BBCF7D6}"/>
              </a:ext>
            </a:extLst>
          </p:cNvPr>
          <p:cNvCxnSpPr>
            <a:cxnSpLocks/>
            <a:stCxn id="12" idx="6"/>
            <a:endCxn id="25" idx="1"/>
          </p:cNvCxnSpPr>
          <p:nvPr/>
        </p:nvCxnSpPr>
        <p:spPr>
          <a:xfrm>
            <a:off x="4685361" y="2147888"/>
            <a:ext cx="542934" cy="50808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419FB7AE-F3F5-DB39-9EF9-F6C6CE202FFE}"/>
              </a:ext>
            </a:extLst>
          </p:cNvPr>
          <p:cNvCxnSpPr>
            <a:cxnSpLocks/>
            <a:stCxn id="13" idx="6"/>
            <a:endCxn id="25" idx="3"/>
          </p:cNvCxnSpPr>
          <p:nvPr/>
        </p:nvCxnSpPr>
        <p:spPr>
          <a:xfrm flipV="1">
            <a:off x="4685361" y="3302555"/>
            <a:ext cx="542934" cy="5205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77151F7F-67CA-1083-737E-CC6D3C2E774C}"/>
                  </a:ext>
                </a:extLst>
              </p:cNvPr>
              <p:cNvSpPr txBox="1"/>
              <p:nvPr/>
            </p:nvSpPr>
            <p:spPr>
              <a:xfrm>
                <a:off x="6430977" y="2800854"/>
                <a:ext cx="13221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=1|</m:t>
                      </m:r>
                      <m:r>
                        <a:rPr lang="en-US" b="1" i="1" smtClean="0">
                          <a:latin typeface="Cambria Math" panose="02040503050406030204" pitchFamily="18" charset="0"/>
                        </a:rPr>
                        <m:t>𝒙</m:t>
                      </m:r>
                      <m:r>
                        <a:rPr lang="en-US" b="0" i="1" smtClean="0">
                          <a:latin typeface="Cambria Math" panose="02040503050406030204" pitchFamily="18" charset="0"/>
                        </a:rPr>
                        <m:t>)</m:t>
                      </m:r>
                    </m:oMath>
                  </m:oMathPara>
                </a14:m>
                <a:endParaRPr lang="en-US" dirty="0"/>
              </a:p>
            </p:txBody>
          </p:sp>
        </mc:Choice>
        <mc:Fallback>
          <p:sp>
            <p:nvSpPr>
              <p:cNvPr id="22" name="TextBox 21">
                <a:extLst>
                  <a:ext uri="{FF2B5EF4-FFF2-40B4-BE49-F238E27FC236}">
                    <a16:creationId xmlns:a16="http://schemas.microsoft.com/office/drawing/2014/main" id="{77151F7F-67CA-1083-737E-CC6D3C2E774C}"/>
                  </a:ext>
                </a:extLst>
              </p:cNvPr>
              <p:cNvSpPr txBox="1">
                <a:spLocks noRot="1" noChangeAspect="1" noMove="1" noResize="1" noEditPoints="1" noAdjustHandles="1" noChangeArrowheads="1" noChangeShapeType="1" noTextEdit="1"/>
              </p:cNvSpPr>
              <p:nvPr/>
            </p:nvSpPr>
            <p:spPr>
              <a:xfrm>
                <a:off x="6430977" y="2800854"/>
                <a:ext cx="1322157" cy="369332"/>
              </a:xfrm>
              <a:prstGeom prst="rect">
                <a:avLst/>
              </a:prstGeom>
              <a:blipFill>
                <a:blip r:embed="rId6"/>
                <a:stretch>
                  <a:fillRect b="-13333"/>
                </a:stretch>
              </a:blipFill>
            </p:spPr>
            <p:txBody>
              <a:bodyPr/>
              <a:lstStyle/>
              <a:p>
                <a:r>
                  <a:rPr lang="en-US">
                    <a:noFill/>
                  </a:rPr>
                  <a:t> </a:t>
                </a:r>
              </a:p>
            </p:txBody>
          </p:sp>
        </mc:Fallback>
      </mc:AlternateContent>
      <p:cxnSp>
        <p:nvCxnSpPr>
          <p:cNvPr id="23" name="Straight Arrow Connector 22">
            <a:extLst>
              <a:ext uri="{FF2B5EF4-FFF2-40B4-BE49-F238E27FC236}">
                <a16:creationId xmlns:a16="http://schemas.microsoft.com/office/drawing/2014/main" id="{6CDC0500-DC4D-899F-9064-B75EC6DDD739}"/>
              </a:ext>
            </a:extLst>
          </p:cNvPr>
          <p:cNvCxnSpPr>
            <a:cxnSpLocks/>
          </p:cNvCxnSpPr>
          <p:nvPr/>
        </p:nvCxnSpPr>
        <p:spPr>
          <a:xfrm>
            <a:off x="6005122" y="2995860"/>
            <a:ext cx="4896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24" name="Group 23">
            <a:extLst>
              <a:ext uri="{FF2B5EF4-FFF2-40B4-BE49-F238E27FC236}">
                <a16:creationId xmlns:a16="http://schemas.microsoft.com/office/drawing/2014/main" id="{DC081EAF-8D7A-D129-44A4-4E9EABF99280}"/>
              </a:ext>
            </a:extLst>
          </p:cNvPr>
          <p:cNvGrpSpPr/>
          <p:nvPr/>
        </p:nvGrpSpPr>
        <p:grpSpPr>
          <a:xfrm>
            <a:off x="5094384" y="2522066"/>
            <a:ext cx="995337" cy="914400"/>
            <a:chOff x="7496986" y="1328396"/>
            <a:chExt cx="995337" cy="914400"/>
          </a:xfrm>
        </p:grpSpPr>
        <mc:AlternateContent xmlns:mc="http://schemas.openxmlformats.org/markup-compatibility/2006" xmlns:a14="http://schemas.microsoft.com/office/drawing/2010/main">
          <mc:Choice Requires="a14">
            <p:sp>
              <p:nvSpPr>
                <p:cNvPr id="25" name="Oval 24">
                  <a:extLst>
                    <a:ext uri="{FF2B5EF4-FFF2-40B4-BE49-F238E27FC236}">
                      <a16:creationId xmlns:a16="http://schemas.microsoft.com/office/drawing/2014/main" id="{37E53562-E189-3A1A-CD9F-3A3225944CFE}"/>
                    </a:ext>
                  </a:extLst>
                </p:cNvPr>
                <p:cNvSpPr/>
                <p:nvPr/>
              </p:nvSpPr>
              <p:spPr>
                <a:xfrm>
                  <a:off x="7496986" y="1328396"/>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m:rPr>
                            <m:sty m:val="p"/>
                          </m:rPr>
                          <a:rPr lang="en-US" sz="3600" i="0" dirty="0" smtClean="0">
                            <a:solidFill>
                              <a:schemeClr val="tx1"/>
                            </a:solidFill>
                            <a:latin typeface="Cambria Math" panose="02040503050406030204" pitchFamily="18" charset="0"/>
                          </a:rPr>
                          <m:t>Σ</m:t>
                        </m:r>
                        <m:r>
                          <a:rPr lang="en-US" sz="3600" b="0" i="1" dirty="0" smtClean="0">
                            <a:solidFill>
                              <a:schemeClr val="tx1"/>
                            </a:solidFill>
                            <a:latin typeface="Cambria Math" panose="02040503050406030204" pitchFamily="18" charset="0"/>
                          </a:rPr>
                          <m:t>  </m:t>
                        </m:r>
                      </m:oMath>
                    </m:oMathPara>
                  </a14:m>
                  <a:endParaRPr/>
                </a:p>
              </p:txBody>
            </p:sp>
          </mc:Choice>
          <mc:Fallback xmlns="">
            <p:sp>
              <p:nvSpPr>
                <p:cNvPr id="31" name="Oval 30">
                  <a:extLst>
                    <a:ext uri="{FF2B5EF4-FFF2-40B4-BE49-F238E27FC236}">
                      <a16:creationId xmlns:a16="http://schemas.microsoft.com/office/drawing/2014/main" id="{8391D864-B7EB-9F98-5D8A-270EA4F473E5}"/>
                    </a:ext>
                  </a:extLst>
                </p:cNvPr>
                <p:cNvSpPr>
                  <a:spLocks noRot="1" noChangeAspect="1" noMove="1" noResize="1" noEditPoints="1" noAdjustHandles="1" noChangeArrowheads="1" noChangeShapeType="1" noTextEdit="1"/>
                </p:cNvSpPr>
                <p:nvPr/>
              </p:nvSpPr>
              <p:spPr>
                <a:xfrm>
                  <a:off x="7496986" y="1328396"/>
                  <a:ext cx="914400" cy="914400"/>
                </a:xfrm>
                <a:prstGeom prst="ellipse">
                  <a:avLst/>
                </a:prstGeom>
                <a:blipFill>
                  <a:blip r:embed="rId7"/>
                  <a:stretch>
                    <a:fillRect r="-9459" b="-10811"/>
                  </a:stretch>
                </a:blipFill>
              </p:spPr>
              <p:txBody>
                <a:bodyPr/>
                <a:lstStyle/>
                <a:p>
                  <a:r>
                    <a:rPr lang="en-US">
                      <a:noFill/>
                    </a:rPr>
                    <a:t> </a:t>
                  </a:r>
                </a:p>
              </p:txBody>
            </p:sp>
          </mc:Fallback>
        </mc:AlternateContent>
        <p:cxnSp>
          <p:nvCxnSpPr>
            <p:cNvPr id="26" name="Straight Connector 25">
              <a:extLst>
                <a:ext uri="{FF2B5EF4-FFF2-40B4-BE49-F238E27FC236}">
                  <a16:creationId xmlns:a16="http://schemas.microsoft.com/office/drawing/2014/main" id="{5227ED7F-94CA-A936-90C8-1B0041AFE56B}"/>
                </a:ext>
              </a:extLst>
            </p:cNvPr>
            <p:cNvCxnSpPr>
              <a:cxnSpLocks/>
            </p:cNvCxnSpPr>
            <p:nvPr/>
          </p:nvCxnSpPr>
          <p:spPr>
            <a:xfrm>
              <a:off x="8022997" y="1328396"/>
              <a:ext cx="0" cy="9144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3FF25293-4B21-ED4D-056E-190A92101442}"/>
                </a:ext>
              </a:extLst>
            </p:cNvPr>
            <p:cNvPicPr>
              <a:picLocks noChangeAspect="1"/>
            </p:cNvPicPr>
            <p:nvPr/>
          </p:nvPicPr>
          <p:blipFill>
            <a:blip r:embed="rId8"/>
            <a:stretch>
              <a:fillRect/>
            </a:stretch>
          </p:blipFill>
          <p:spPr>
            <a:xfrm>
              <a:off x="7919179" y="1594886"/>
              <a:ext cx="573144" cy="382096"/>
            </a:xfrm>
            <a:prstGeom prst="rect">
              <a:avLst/>
            </a:prstGeom>
          </p:spPr>
        </p:pic>
      </p:grpSp>
      <p:cxnSp>
        <p:nvCxnSpPr>
          <p:cNvPr id="37" name="Straight Arrow Connector 36">
            <a:extLst>
              <a:ext uri="{FF2B5EF4-FFF2-40B4-BE49-F238E27FC236}">
                <a16:creationId xmlns:a16="http://schemas.microsoft.com/office/drawing/2014/main" id="{78A72993-F2E5-1812-5E4D-A683F47C98FF}"/>
              </a:ext>
            </a:extLst>
          </p:cNvPr>
          <p:cNvCxnSpPr>
            <a:cxnSpLocks/>
            <a:stCxn id="46" idx="7"/>
            <a:endCxn id="12" idx="2"/>
          </p:cNvCxnSpPr>
          <p:nvPr/>
        </p:nvCxnSpPr>
        <p:spPr>
          <a:xfrm flipV="1">
            <a:off x="3161951" y="2147888"/>
            <a:ext cx="609010" cy="4972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9" name="Straight Arrow Connector 38">
            <a:extLst>
              <a:ext uri="{FF2B5EF4-FFF2-40B4-BE49-F238E27FC236}">
                <a16:creationId xmlns:a16="http://schemas.microsoft.com/office/drawing/2014/main" id="{97703390-F7AE-A5A8-F7F5-EF2629866D00}"/>
              </a:ext>
            </a:extLst>
          </p:cNvPr>
          <p:cNvCxnSpPr>
            <a:cxnSpLocks/>
            <a:stCxn id="46" idx="5"/>
            <a:endCxn id="13" idx="2"/>
          </p:cNvCxnSpPr>
          <p:nvPr/>
        </p:nvCxnSpPr>
        <p:spPr>
          <a:xfrm>
            <a:off x="3161951" y="3291717"/>
            <a:ext cx="609010" cy="53143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46" name="Oval 45">
                <a:extLst>
                  <a:ext uri="{FF2B5EF4-FFF2-40B4-BE49-F238E27FC236}">
                    <a16:creationId xmlns:a16="http://schemas.microsoft.com/office/drawing/2014/main" id="{FE2FFAE5-BF13-EC57-4FF4-B0C24B41F1B1}"/>
                  </a:ext>
                </a:extLst>
              </p:cNvPr>
              <p:cNvSpPr/>
              <p:nvPr/>
            </p:nvSpPr>
            <p:spPr>
              <a:xfrm>
                <a:off x="2381462" y="2511228"/>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h</m:t>
                          </m:r>
                        </m:e>
                        <m:sub>
                          <m:r>
                            <a:rPr lang="en-US" b="0" i="1" dirty="0" smtClean="0">
                              <a:solidFill>
                                <a:schemeClr val="tx1"/>
                              </a:solidFill>
                              <a:latin typeface="Cambria Math" panose="02040503050406030204" pitchFamily="18" charset="0"/>
                            </a:rPr>
                            <m:t>1,1</m:t>
                          </m:r>
                        </m:sub>
                      </m:sSub>
                    </m:oMath>
                  </m:oMathPara>
                </a14:m>
                <a:endParaRPr lang="en-US" dirty="0">
                  <a:solidFill>
                    <a:schemeClr val="tx1"/>
                  </a:solidFill>
                </a:endParaRPr>
              </a:p>
            </p:txBody>
          </p:sp>
        </mc:Choice>
        <mc:Fallback>
          <p:sp>
            <p:nvSpPr>
              <p:cNvPr id="46" name="Oval 45">
                <a:extLst>
                  <a:ext uri="{FF2B5EF4-FFF2-40B4-BE49-F238E27FC236}">
                    <a16:creationId xmlns:a16="http://schemas.microsoft.com/office/drawing/2014/main" id="{FE2FFAE5-BF13-EC57-4FF4-B0C24B41F1B1}"/>
                  </a:ext>
                </a:extLst>
              </p:cNvPr>
              <p:cNvSpPr>
                <a:spLocks noRot="1" noChangeAspect="1" noMove="1" noResize="1" noEditPoints="1" noAdjustHandles="1" noChangeArrowheads="1" noChangeShapeType="1" noTextEdit="1"/>
              </p:cNvSpPr>
              <p:nvPr/>
            </p:nvSpPr>
            <p:spPr>
              <a:xfrm>
                <a:off x="2381462" y="2511228"/>
                <a:ext cx="914400" cy="914400"/>
              </a:xfrm>
              <a:prstGeom prst="ellipse">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 name="Oval 49">
                <a:extLst>
                  <a:ext uri="{FF2B5EF4-FFF2-40B4-BE49-F238E27FC236}">
                    <a16:creationId xmlns:a16="http://schemas.microsoft.com/office/drawing/2014/main" id="{6F660B9D-E583-6287-CED6-C137325C4378}"/>
                  </a:ext>
                </a:extLst>
              </p:cNvPr>
              <p:cNvSpPr/>
              <p:nvPr/>
            </p:nvSpPr>
            <p:spPr>
              <a:xfrm>
                <a:off x="838200" y="2511228"/>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m:rPr>
                              <m:sty m:val="p"/>
                            </m:rPr>
                            <a:rPr lang="en-US" b="0" i="0" dirty="0" smtClean="0">
                              <a:solidFill>
                                <a:schemeClr val="tx1"/>
                              </a:solidFill>
                              <a:latin typeface="Cambria Math" panose="02040503050406030204" pitchFamily="18" charset="0"/>
                            </a:rPr>
                            <m:t>x</m:t>
                          </m:r>
                        </m:e>
                        <m:sub>
                          <m:r>
                            <a:rPr lang="en-US" i="1" dirty="0"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p:sp>
            <p:nvSpPr>
              <p:cNvPr id="50" name="Oval 49">
                <a:extLst>
                  <a:ext uri="{FF2B5EF4-FFF2-40B4-BE49-F238E27FC236}">
                    <a16:creationId xmlns:a16="http://schemas.microsoft.com/office/drawing/2014/main" id="{6F660B9D-E583-6287-CED6-C137325C4378}"/>
                  </a:ext>
                </a:extLst>
              </p:cNvPr>
              <p:cNvSpPr>
                <a:spLocks noRot="1" noChangeAspect="1" noMove="1" noResize="1" noEditPoints="1" noAdjustHandles="1" noChangeArrowheads="1" noChangeShapeType="1" noTextEdit="1"/>
              </p:cNvSpPr>
              <p:nvPr/>
            </p:nvSpPr>
            <p:spPr>
              <a:xfrm>
                <a:off x="838200" y="2511228"/>
                <a:ext cx="914400" cy="914400"/>
              </a:xfrm>
              <a:prstGeom prst="ellipse">
                <a:avLst/>
              </a:prstGeom>
              <a:blipFill>
                <a:blip r:embed="rId10"/>
                <a:stretch>
                  <a:fillRect/>
                </a:stretch>
              </a:blipFill>
            </p:spPr>
            <p:txBody>
              <a:bodyPr/>
              <a:lstStyle/>
              <a:p>
                <a:r>
                  <a:rPr lang="en-US">
                    <a:noFill/>
                  </a:rPr>
                  <a:t> </a:t>
                </a:r>
              </a:p>
            </p:txBody>
          </p:sp>
        </mc:Fallback>
      </mc:AlternateContent>
      <p:cxnSp>
        <p:nvCxnSpPr>
          <p:cNvPr id="60" name="Straight Arrow Connector 59">
            <a:extLst>
              <a:ext uri="{FF2B5EF4-FFF2-40B4-BE49-F238E27FC236}">
                <a16:creationId xmlns:a16="http://schemas.microsoft.com/office/drawing/2014/main" id="{DAEF18EE-518D-F93C-F0CA-EEF9257CB5B1}"/>
              </a:ext>
            </a:extLst>
          </p:cNvPr>
          <p:cNvCxnSpPr>
            <a:cxnSpLocks/>
            <a:stCxn id="50" idx="6"/>
            <a:endCxn id="46" idx="2"/>
          </p:cNvCxnSpPr>
          <p:nvPr/>
        </p:nvCxnSpPr>
        <p:spPr>
          <a:xfrm>
            <a:off x="1752600" y="2968428"/>
            <a:ext cx="62886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66" name="TextBox 65">
                <a:extLst>
                  <a:ext uri="{FF2B5EF4-FFF2-40B4-BE49-F238E27FC236}">
                    <a16:creationId xmlns:a16="http://schemas.microsoft.com/office/drawing/2014/main" id="{15D10E2E-33B0-D630-4926-F02B7398AF3E}"/>
                  </a:ext>
                </a:extLst>
              </p:cNvPr>
              <p:cNvSpPr txBox="1"/>
              <p:nvPr/>
            </p:nvSpPr>
            <p:spPr>
              <a:xfrm>
                <a:off x="1819335" y="2583875"/>
                <a:ext cx="49539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𝑤</m:t>
                          </m:r>
                        </m:e>
                        <m:sub>
                          <m:r>
                            <a:rPr lang="en-US" i="1" dirty="0" smtClean="0">
                              <a:latin typeface="Cambria Math" panose="02040503050406030204" pitchFamily="18" charset="0"/>
                            </a:rPr>
                            <m:t>1</m:t>
                          </m:r>
                        </m:sub>
                      </m:sSub>
                    </m:oMath>
                  </m:oMathPara>
                </a14:m>
                <a:endParaRPr lang="en-US" dirty="0"/>
              </a:p>
            </p:txBody>
          </p:sp>
        </mc:Choice>
        <mc:Fallback>
          <p:sp>
            <p:nvSpPr>
              <p:cNvPr id="66" name="TextBox 65">
                <a:extLst>
                  <a:ext uri="{FF2B5EF4-FFF2-40B4-BE49-F238E27FC236}">
                    <a16:creationId xmlns:a16="http://schemas.microsoft.com/office/drawing/2014/main" id="{15D10E2E-33B0-D630-4926-F02B7398AF3E}"/>
                  </a:ext>
                </a:extLst>
              </p:cNvPr>
              <p:cNvSpPr txBox="1">
                <a:spLocks noRot="1" noChangeAspect="1" noMove="1" noResize="1" noEditPoints="1" noAdjustHandles="1" noChangeArrowheads="1" noChangeShapeType="1" noTextEdit="1"/>
              </p:cNvSpPr>
              <p:nvPr/>
            </p:nvSpPr>
            <p:spPr>
              <a:xfrm>
                <a:off x="1819335" y="2583875"/>
                <a:ext cx="495392" cy="369332"/>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306084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93935-05F5-01B5-3179-C8F90DBFFA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5C5FF-57B3-A745-0601-2322B1A59D35}"/>
              </a:ext>
            </a:extLst>
          </p:cNvPr>
          <p:cNvSpPr>
            <a:spLocks noGrp="1"/>
          </p:cNvSpPr>
          <p:nvPr>
            <p:ph type="title"/>
          </p:nvPr>
        </p:nvSpPr>
        <p:spPr/>
        <p:txBody>
          <a:bodyPr/>
          <a:lstStyle/>
          <a:p>
            <a:r>
              <a:rPr lang="en-US" dirty="0" err="1"/>
              <a:t>Autodiff</a:t>
            </a:r>
            <a:r>
              <a:rPr lang="en-US" dirty="0"/>
              <a:t> in </a:t>
            </a:r>
            <a:r>
              <a:rPr lang="en-US" dirty="0" err="1"/>
              <a:t>PyTorch</a:t>
            </a:r>
            <a:endParaRPr lang="en-US" dirty="0"/>
          </a:p>
        </p:txBody>
      </p:sp>
      <p:sp>
        <p:nvSpPr>
          <p:cNvPr id="5" name="TextBox 4">
            <a:extLst>
              <a:ext uri="{FF2B5EF4-FFF2-40B4-BE49-F238E27FC236}">
                <a16:creationId xmlns:a16="http://schemas.microsoft.com/office/drawing/2014/main" id="{64426EAD-44B6-BA3B-BE20-E371D1F75CC3}"/>
              </a:ext>
            </a:extLst>
          </p:cNvPr>
          <p:cNvSpPr txBox="1"/>
          <p:nvPr/>
        </p:nvSpPr>
        <p:spPr>
          <a:xfrm>
            <a:off x="1714500" y="2228671"/>
            <a:ext cx="7072884" cy="1200329"/>
          </a:xfrm>
          <a:prstGeom prst="rect">
            <a:avLst/>
          </a:prstGeom>
          <a:solidFill>
            <a:srgbClr val="F9F9F9"/>
          </a:solidFill>
          <a:ln>
            <a:solidFill>
              <a:schemeClr val="tx1"/>
            </a:solidFill>
          </a:ln>
        </p:spPr>
        <p:txBody>
          <a:bodyPr wrap="square">
            <a:spAutoFit/>
          </a:bodyPr>
          <a:lstStyle/>
          <a:p>
            <a:r>
              <a:rPr lang="en-US" dirty="0">
                <a:latin typeface="Consolas" panose="020B0609020204030204" pitchFamily="49" charset="0"/>
                <a:cs typeface="Consolas" panose="020B0609020204030204" pitchFamily="49" charset="0"/>
              </a:rPr>
              <a:t>def </a:t>
            </a:r>
            <a:r>
              <a:rPr lang="en-US" dirty="0" err="1">
                <a:latin typeface="Consolas" panose="020B0609020204030204" pitchFamily="49" charset="0"/>
                <a:cs typeface="Consolas" panose="020B0609020204030204" pitchFamily="49" charset="0"/>
              </a:rPr>
              <a:t>bce_from_logits</a:t>
            </a:r>
            <a:r>
              <a:rPr lang="en-US" dirty="0">
                <a:latin typeface="Consolas" panose="020B0609020204030204" pitchFamily="49" charset="0"/>
                <a:cs typeface="Consolas" panose="020B0609020204030204" pitchFamily="49" charset="0"/>
              </a:rPr>
              <a:t>(logits, y):</a:t>
            </a:r>
          </a:p>
          <a:p>
            <a:r>
              <a:rPr lang="en-US" dirty="0">
                <a:latin typeface="Consolas" panose="020B0609020204030204" pitchFamily="49" charset="0"/>
                <a:cs typeface="Consolas" panose="020B0609020204030204" pitchFamily="49" charset="0"/>
              </a:rPr>
              <a:t>    return </a:t>
            </a:r>
            <a:r>
              <a:rPr lang="en-US" dirty="0" err="1">
                <a:latin typeface="Consolas" panose="020B0609020204030204" pitchFamily="49" charset="0"/>
                <a:cs typeface="Consolas" panose="020B0609020204030204" pitchFamily="49" charset="0"/>
              </a:rPr>
              <a:t>torch.mean</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torch.log</a:t>
            </a:r>
            <a:r>
              <a:rPr lang="en-US" dirty="0">
                <a:latin typeface="Consolas" panose="020B0609020204030204" pitchFamily="49" charset="0"/>
                <a:cs typeface="Consolas" panose="020B0609020204030204" pitchFamily="49" charset="0"/>
              </a:rPr>
              <a:t>(1 + </a:t>
            </a:r>
            <a:r>
              <a:rPr lang="en-US" dirty="0" err="1">
                <a:latin typeface="Consolas" panose="020B0609020204030204" pitchFamily="49" charset="0"/>
                <a:cs typeface="Consolas" panose="020B0609020204030204" pitchFamily="49" charset="0"/>
              </a:rPr>
              <a:t>torch.exp</a:t>
            </a:r>
            <a:r>
              <a:rPr lang="en-US" dirty="0">
                <a:latin typeface="Consolas" panose="020B0609020204030204" pitchFamily="49" charset="0"/>
                <a:cs typeface="Consolas" panose="020B0609020204030204" pitchFamily="49" charset="0"/>
              </a:rPr>
              <a:t>(logits)) - y * logits</a:t>
            </a:r>
          </a:p>
          <a:p>
            <a:r>
              <a:rPr lang="en-US" dirty="0">
                <a:latin typeface="Consolas" panose="020B0609020204030204" pitchFamily="49" charset="0"/>
                <a:cs typeface="Consolas" panose="020B0609020204030204" pitchFamily="49" charset="0"/>
              </a:rPr>
              <a:t>    )</a:t>
            </a:r>
          </a:p>
        </p:txBody>
      </p:sp>
      <p:sp>
        <p:nvSpPr>
          <p:cNvPr id="6" name="Content Placeholder 2">
            <a:extLst>
              <a:ext uri="{FF2B5EF4-FFF2-40B4-BE49-F238E27FC236}">
                <a16:creationId xmlns:a16="http://schemas.microsoft.com/office/drawing/2014/main" id="{79FE75E4-08DB-C0D0-1E80-B78B42ACB6C8}"/>
              </a:ext>
            </a:extLst>
          </p:cNvPr>
          <p:cNvSpPr>
            <a:spLocks noGrp="1"/>
          </p:cNvSpPr>
          <p:nvPr>
            <p:ph idx="1"/>
          </p:nvPr>
        </p:nvSpPr>
        <p:spPr>
          <a:xfrm>
            <a:off x="1106424" y="4123943"/>
            <a:ext cx="10131552" cy="2029969"/>
          </a:xfrm>
        </p:spPr>
        <p:txBody>
          <a:bodyPr>
            <a:normAutofit fontScale="92500" lnSpcReduction="10000"/>
          </a:bodyPr>
          <a:lstStyle/>
          <a:p>
            <a:r>
              <a:rPr lang="en-US" sz="2400" dirty="0"/>
              <a:t>Each </a:t>
            </a:r>
            <a:r>
              <a:rPr lang="en-US" sz="2400" dirty="0" err="1"/>
              <a:t>PyTorch</a:t>
            </a:r>
            <a:r>
              <a:rPr lang="en-US" sz="2400" dirty="0"/>
              <a:t> primitive (e.g., </a:t>
            </a:r>
            <a:r>
              <a:rPr lang="en-US" sz="2400" dirty="0" err="1"/>
              <a:t>torch.log</a:t>
            </a:r>
            <a:r>
              <a:rPr lang="en-US" sz="2400" dirty="0"/>
              <a:t>) has a registered derivative</a:t>
            </a:r>
          </a:p>
          <a:p>
            <a:endParaRPr lang="en-US" sz="2400" dirty="0"/>
          </a:p>
          <a:p>
            <a:r>
              <a:rPr lang="en-US" sz="2400" dirty="0"/>
              <a:t>These registered derivatives are composed in the backwards pass</a:t>
            </a:r>
          </a:p>
          <a:p>
            <a:endParaRPr lang="en-US" sz="2400" dirty="0"/>
          </a:p>
          <a:p>
            <a:r>
              <a:rPr lang="en-US" sz="2400" dirty="0"/>
              <a:t>Complex graphs require extensive bookkeeping, but the principles are simple</a:t>
            </a:r>
          </a:p>
        </p:txBody>
      </p:sp>
    </p:spTree>
    <p:extLst>
      <p:ext uri="{BB962C8B-B14F-4D97-AF65-F5344CB8AC3E}">
        <p14:creationId xmlns:p14="http://schemas.microsoft.com/office/powerpoint/2010/main" val="38067211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4B8C5-8111-18BD-5D25-B78AB8B960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8BC1B3-1643-2CB3-BE52-CD21A7A9DE3D}"/>
              </a:ext>
            </a:extLst>
          </p:cNvPr>
          <p:cNvSpPr>
            <a:spLocks noGrp="1"/>
          </p:cNvSpPr>
          <p:nvPr>
            <p:ph type="title"/>
          </p:nvPr>
        </p:nvSpPr>
        <p:spPr/>
        <p:txBody>
          <a:bodyPr/>
          <a:lstStyle/>
          <a:p>
            <a:r>
              <a:rPr lang="en-US" dirty="0"/>
              <a:t>Parameter Optimization by </a:t>
            </a:r>
            <a:br>
              <a:rPr lang="en-US" dirty="0"/>
            </a:br>
            <a:r>
              <a:rPr lang="en-US" dirty="0">
                <a:solidFill>
                  <a:srgbClr val="FF0000"/>
                </a:solidFill>
              </a:rPr>
              <a:t>stochastic</a:t>
            </a:r>
            <a:r>
              <a:rPr lang="en-US" dirty="0"/>
              <a:t> gradient descent (SGD)</a:t>
            </a:r>
          </a:p>
        </p:txBody>
      </p:sp>
      <p:sp>
        <p:nvSpPr>
          <p:cNvPr id="3" name="Content Placeholder 2">
            <a:extLst>
              <a:ext uri="{FF2B5EF4-FFF2-40B4-BE49-F238E27FC236}">
                <a16:creationId xmlns:a16="http://schemas.microsoft.com/office/drawing/2014/main" id="{F777886E-22EB-4F9F-F803-2117A8C5770B}"/>
              </a:ext>
            </a:extLst>
          </p:cNvPr>
          <p:cNvSpPr>
            <a:spLocks noGrp="1"/>
          </p:cNvSpPr>
          <p:nvPr>
            <p:ph idx="1"/>
          </p:nvPr>
        </p:nvSpPr>
        <p:spPr>
          <a:xfrm>
            <a:off x="838200" y="1825625"/>
            <a:ext cx="3852573" cy="4351338"/>
          </a:xfrm>
        </p:spPr>
        <p:txBody>
          <a:bodyPr>
            <a:normAutofit/>
          </a:bodyPr>
          <a:lstStyle/>
          <a:p>
            <a:pPr>
              <a:spcAft>
                <a:spcPts val="1200"/>
              </a:spcAft>
            </a:pPr>
            <a:r>
              <a:rPr lang="en-US" sz="2400" dirty="0"/>
              <a:t>Implemented by calculating exact gradient for a given minibatch</a:t>
            </a:r>
          </a:p>
          <a:p>
            <a:pPr>
              <a:spcAft>
                <a:spcPts val="1200"/>
              </a:spcAft>
            </a:pPr>
            <a:r>
              <a:rPr lang="en-US" sz="2400" dirty="0"/>
              <a:t>Each minibatch yields a noisy estimate of the full-sample gradient</a:t>
            </a:r>
          </a:p>
          <a:p>
            <a:pPr>
              <a:spcAft>
                <a:spcPts val="1200"/>
              </a:spcAft>
            </a:pPr>
            <a:r>
              <a:rPr lang="en-US" sz="2400" dirty="0"/>
              <a:t>Can be viewed as noise injection</a:t>
            </a:r>
          </a:p>
          <a:p>
            <a:pPr>
              <a:spcAft>
                <a:spcPts val="1200"/>
              </a:spcAft>
            </a:pPr>
            <a:r>
              <a:rPr lang="en-US" sz="2400" dirty="0"/>
              <a:t>Injected noise helps us avoid local minima</a:t>
            </a:r>
          </a:p>
        </p:txBody>
      </p:sp>
      <p:pic>
        <p:nvPicPr>
          <p:cNvPr id="4" name="Picture 2" descr="Image result for clip confused man">
            <a:extLst>
              <a:ext uri="{FF2B5EF4-FFF2-40B4-BE49-F238E27FC236}">
                <a16:creationId xmlns:a16="http://schemas.microsoft.com/office/drawing/2014/main" id="{7FF92E12-EBFB-DC6F-1C2E-C125781D4FC2}"/>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8164104" y="2184407"/>
            <a:ext cx="404039" cy="32679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Image result for clip art mountain">
            <a:extLst>
              <a:ext uri="{FF2B5EF4-FFF2-40B4-BE49-F238E27FC236}">
                <a16:creationId xmlns:a16="http://schemas.microsoft.com/office/drawing/2014/main" id="{59CDCAB5-0EE7-D61A-6077-AEE1210E773D}"/>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617085" y="1909218"/>
            <a:ext cx="5950244" cy="251893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Image result for clip art mountain">
            <a:extLst>
              <a:ext uri="{FF2B5EF4-FFF2-40B4-BE49-F238E27FC236}">
                <a16:creationId xmlns:a16="http://schemas.microsoft.com/office/drawing/2014/main" id="{74FC063C-BE2A-5526-28B9-6C151360156A}"/>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799202" y="3932674"/>
            <a:ext cx="5950244" cy="25189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00B89C0-4DE7-85FA-94B1-623B084F450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993479" y="2498322"/>
            <a:ext cx="2437752" cy="2307739"/>
          </a:xfrm>
          <a:prstGeom prst="rect">
            <a:avLst/>
          </a:prstGeom>
        </p:spPr>
      </p:pic>
      <p:pic>
        <p:nvPicPr>
          <p:cNvPr id="7" name="Picture 6">
            <a:extLst>
              <a:ext uri="{FF2B5EF4-FFF2-40B4-BE49-F238E27FC236}">
                <a16:creationId xmlns:a16="http://schemas.microsoft.com/office/drawing/2014/main" id="{B8715CEA-955A-39EB-0B1C-DD0911BC871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56193" y="2673206"/>
            <a:ext cx="2437752" cy="2307739"/>
          </a:xfrm>
          <a:prstGeom prst="rect">
            <a:avLst/>
          </a:prstGeom>
        </p:spPr>
      </p:pic>
      <p:pic>
        <p:nvPicPr>
          <p:cNvPr id="8" name="Picture 7">
            <a:extLst>
              <a:ext uri="{FF2B5EF4-FFF2-40B4-BE49-F238E27FC236}">
                <a16:creationId xmlns:a16="http://schemas.microsoft.com/office/drawing/2014/main" id="{9EF06013-2F17-76C4-4288-3D80E792223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252763" y="1825625"/>
            <a:ext cx="2437752" cy="2307739"/>
          </a:xfrm>
          <a:prstGeom prst="rect">
            <a:avLst/>
          </a:prstGeom>
        </p:spPr>
      </p:pic>
      <p:pic>
        <p:nvPicPr>
          <p:cNvPr id="12" name="Picture 11">
            <a:extLst>
              <a:ext uri="{FF2B5EF4-FFF2-40B4-BE49-F238E27FC236}">
                <a16:creationId xmlns:a16="http://schemas.microsoft.com/office/drawing/2014/main" id="{84725792-558B-D4D5-2730-42C5E27A267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872890" y="4004161"/>
            <a:ext cx="2437752" cy="2307739"/>
          </a:xfrm>
          <a:prstGeom prst="rect">
            <a:avLst/>
          </a:prstGeom>
        </p:spPr>
      </p:pic>
      <p:pic>
        <p:nvPicPr>
          <p:cNvPr id="11" name="Picture 10">
            <a:extLst>
              <a:ext uri="{FF2B5EF4-FFF2-40B4-BE49-F238E27FC236}">
                <a16:creationId xmlns:a16="http://schemas.microsoft.com/office/drawing/2014/main" id="{D2DBFB42-668D-B10B-2E7A-B5C32091636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837147" y="4009619"/>
            <a:ext cx="2437752" cy="2307739"/>
          </a:xfrm>
          <a:prstGeom prst="rect">
            <a:avLst/>
          </a:prstGeom>
        </p:spPr>
      </p:pic>
      <p:pic>
        <p:nvPicPr>
          <p:cNvPr id="10" name="Picture 9">
            <a:extLst>
              <a:ext uri="{FF2B5EF4-FFF2-40B4-BE49-F238E27FC236}">
                <a16:creationId xmlns:a16="http://schemas.microsoft.com/office/drawing/2014/main" id="{094AF68C-2C19-6813-CA5A-5A3EB163FF4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056887" y="3175639"/>
            <a:ext cx="2437752" cy="2307739"/>
          </a:xfrm>
          <a:prstGeom prst="rect">
            <a:avLst/>
          </a:prstGeom>
        </p:spPr>
      </p:pic>
    </p:spTree>
    <p:extLst>
      <p:ext uri="{BB962C8B-B14F-4D97-AF65-F5344CB8AC3E}">
        <p14:creationId xmlns:p14="http://schemas.microsoft.com/office/powerpoint/2010/main" val="31349983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41F46-2E7F-33AD-0E55-CF53796E11AE}"/>
              </a:ext>
            </a:extLst>
          </p:cNvPr>
          <p:cNvSpPr>
            <a:spLocks noGrp="1"/>
          </p:cNvSpPr>
          <p:nvPr>
            <p:ph type="title"/>
          </p:nvPr>
        </p:nvSpPr>
        <p:spPr/>
        <p:txBody>
          <a:bodyPr/>
          <a:lstStyle/>
          <a:p>
            <a:r>
              <a:rPr lang="en-US" dirty="0"/>
              <a:t>Overview of common variations on SGD</a:t>
            </a:r>
          </a:p>
        </p:txBody>
      </p:sp>
      <p:graphicFrame>
        <p:nvGraphicFramePr>
          <p:cNvPr id="4" name="Table 3">
            <a:extLst>
              <a:ext uri="{FF2B5EF4-FFF2-40B4-BE49-F238E27FC236}">
                <a16:creationId xmlns:a16="http://schemas.microsoft.com/office/drawing/2014/main" id="{D14F0CAF-2EB6-E76D-1A23-A14879ECA7F7}"/>
              </a:ext>
            </a:extLst>
          </p:cNvPr>
          <p:cNvGraphicFramePr>
            <a:graphicFrameLocks noGrp="1"/>
          </p:cNvGraphicFramePr>
          <p:nvPr>
            <p:extLst>
              <p:ext uri="{D42A27DB-BD31-4B8C-83A1-F6EECF244321}">
                <p14:modId xmlns:p14="http://schemas.microsoft.com/office/powerpoint/2010/main" val="1906111904"/>
              </p:ext>
            </p:extLst>
          </p:nvPr>
        </p:nvGraphicFramePr>
        <p:xfrm>
          <a:off x="1071208" y="1902818"/>
          <a:ext cx="9811840" cy="4385645"/>
        </p:xfrm>
        <a:graphic>
          <a:graphicData uri="http://schemas.openxmlformats.org/drawingml/2006/table">
            <a:tbl>
              <a:tblPr/>
              <a:tblGrid>
                <a:gridCol w="2452960">
                  <a:extLst>
                    <a:ext uri="{9D8B030D-6E8A-4147-A177-3AD203B41FA5}">
                      <a16:colId xmlns:a16="http://schemas.microsoft.com/office/drawing/2014/main" val="3367765161"/>
                    </a:ext>
                  </a:extLst>
                </a:gridCol>
                <a:gridCol w="2452960">
                  <a:extLst>
                    <a:ext uri="{9D8B030D-6E8A-4147-A177-3AD203B41FA5}">
                      <a16:colId xmlns:a16="http://schemas.microsoft.com/office/drawing/2014/main" val="402328792"/>
                    </a:ext>
                  </a:extLst>
                </a:gridCol>
                <a:gridCol w="2452960">
                  <a:extLst>
                    <a:ext uri="{9D8B030D-6E8A-4147-A177-3AD203B41FA5}">
                      <a16:colId xmlns:a16="http://schemas.microsoft.com/office/drawing/2014/main" val="1881747914"/>
                    </a:ext>
                  </a:extLst>
                </a:gridCol>
                <a:gridCol w="2452960">
                  <a:extLst>
                    <a:ext uri="{9D8B030D-6E8A-4147-A177-3AD203B41FA5}">
                      <a16:colId xmlns:a16="http://schemas.microsoft.com/office/drawing/2014/main" val="1122843626"/>
                    </a:ext>
                  </a:extLst>
                </a:gridCol>
              </a:tblGrid>
              <a:tr h="341281">
                <a:tc>
                  <a:txBody>
                    <a:bodyPr/>
                    <a:lstStyle/>
                    <a:p>
                      <a:pPr>
                        <a:buNone/>
                      </a:pPr>
                      <a:r>
                        <a:rPr lang="en-US" sz="1700" b="1" dirty="0"/>
                        <a:t>Adaptation</a:t>
                      </a:r>
                    </a:p>
                  </a:txBody>
                  <a:tcPr marL="85320" marR="85320" marT="42660" marB="4266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r>
                        <a:rPr lang="en-US" sz="1700" dirty="0"/>
                        <a:t>Summary</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r>
                        <a:rPr lang="en-US" sz="1700"/>
                        <a:t>Intuition</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r>
                        <a:rPr lang="en-US" sz="1700" dirty="0"/>
                        <a:t>Example optimizer(s)</a:t>
                      </a:r>
                    </a:p>
                  </a:txBody>
                  <a:tcPr marL="85320" marR="85320" marT="42660" marB="4266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7212827"/>
                  </a:ext>
                </a:extLst>
              </a:tr>
              <a:tr h="1109165">
                <a:tc>
                  <a:txBody>
                    <a:bodyPr/>
                    <a:lstStyle/>
                    <a:p>
                      <a:pPr>
                        <a:buNone/>
                      </a:pPr>
                      <a:r>
                        <a:rPr lang="en-US" sz="1700" b="0" dirty="0"/>
                        <a:t>Momentum</a:t>
                      </a:r>
                    </a:p>
                  </a:txBody>
                  <a:tcPr marL="85320" marR="85320" marT="42660" marB="4266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r>
                        <a:rPr lang="en-US" sz="1700" dirty="0"/>
                        <a:t>Averages gradients over time</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r>
                        <a:rPr lang="en-US" sz="1700" dirty="0"/>
                        <a:t>Roll a heavy ball downhill and push it based on the gradient</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r>
                        <a:rPr lang="en-US" sz="1700" b="0" dirty="0"/>
                        <a:t>SGD with momentum, Adam</a:t>
                      </a:r>
                    </a:p>
                  </a:txBody>
                  <a:tcPr marL="85320" marR="85320" marT="42660" marB="4266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388783249"/>
                  </a:ext>
                </a:extLst>
              </a:tr>
              <a:tr h="853203">
                <a:tc>
                  <a:txBody>
                    <a:bodyPr/>
                    <a:lstStyle/>
                    <a:p>
                      <a:pPr>
                        <a:buNone/>
                      </a:pPr>
                      <a:r>
                        <a:rPr lang="en-US" sz="1700" b="0" dirty="0"/>
                        <a:t>Adaptive learning rates</a:t>
                      </a:r>
                    </a:p>
                  </a:txBody>
                  <a:tcPr marL="85320" marR="85320" marT="42660" marB="42660"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r>
                        <a:rPr lang="en-US" sz="1700" dirty="0"/>
                        <a:t>Different step sizes per parameter</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r>
                        <a:rPr lang="en-US" sz="1700" dirty="0"/>
                        <a:t>Parameters with noisy gradients take smaller steps</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r>
                        <a:rPr lang="en-US" sz="1700" dirty="0"/>
                        <a:t>RMSprop, Adam</a:t>
                      </a:r>
                    </a:p>
                  </a:txBody>
                  <a:tcPr marL="85320" marR="85320" marT="42660" marB="42660"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5835182"/>
                  </a:ext>
                </a:extLst>
              </a:tr>
              <a:tr h="597242">
                <a:tc>
                  <a:txBody>
                    <a:bodyPr/>
                    <a:lstStyle/>
                    <a:p>
                      <a:pPr>
                        <a:buNone/>
                      </a:pPr>
                      <a:r>
                        <a:rPr lang="en-US" sz="1700" b="0" dirty="0"/>
                        <a:t>Second-moment tracking</a:t>
                      </a:r>
                    </a:p>
                  </a:txBody>
                  <a:tcPr marL="85320" marR="85320" marT="42660" marB="42660"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r>
                        <a:rPr lang="en-US" sz="1700" dirty="0"/>
                        <a:t>Tracks gradient </a:t>
                      </a:r>
                      <a:r>
                        <a:rPr lang="en-US" sz="1700" i="0" dirty="0"/>
                        <a:t>variance</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r>
                        <a:rPr lang="en-US" sz="1700" dirty="0"/>
                        <a:t>Commit to directions that keep changing</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r>
                        <a:rPr lang="en-US" sz="1700" dirty="0"/>
                        <a:t>RMSprop, Adam</a:t>
                      </a:r>
                    </a:p>
                  </a:txBody>
                  <a:tcPr marL="85320" marR="85320" marT="42660" marB="42660"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305718739"/>
                  </a:ext>
                </a:extLst>
              </a:tr>
              <a:tr h="853203">
                <a:tc>
                  <a:txBody>
                    <a:bodyPr/>
                    <a:lstStyle/>
                    <a:p>
                      <a:pPr>
                        <a:buNone/>
                      </a:pPr>
                      <a:r>
                        <a:rPr lang="en-US" sz="1700" b="0" dirty="0"/>
                        <a:t>Weight decay correction</a:t>
                      </a:r>
                    </a:p>
                  </a:txBody>
                  <a:tcPr marL="85320" marR="85320" marT="42660" marB="42660"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r>
                        <a:rPr lang="en-US" sz="1700" dirty="0"/>
                        <a:t>Ensures shrinkage is uniform across parameters</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r>
                        <a:rPr lang="en-US" sz="1700" dirty="0"/>
                        <a:t>Shrinkage should not depend on gradient variance</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r>
                        <a:rPr lang="en-US" sz="1700" dirty="0"/>
                        <a:t>SGD (no correction needed), </a:t>
                      </a:r>
                      <a:r>
                        <a:rPr lang="en-US" sz="1700" b="0" dirty="0" err="1"/>
                        <a:t>AdamW</a:t>
                      </a:r>
                      <a:endParaRPr lang="en-US" sz="1700" b="0" dirty="0"/>
                    </a:p>
                  </a:txBody>
                  <a:tcPr marL="85320" marR="85320" marT="42660" marB="42660"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913703757"/>
                  </a:ext>
                </a:extLst>
              </a:tr>
              <a:tr h="597242">
                <a:tc>
                  <a:txBody>
                    <a:bodyPr/>
                    <a:lstStyle/>
                    <a:p>
                      <a:pPr>
                        <a:buNone/>
                      </a:pPr>
                      <a:r>
                        <a:rPr lang="en-US" sz="1700" b="0" dirty="0"/>
                        <a:t>Bias correction</a:t>
                      </a:r>
                    </a:p>
                  </a:txBody>
                  <a:tcPr marL="85320" marR="85320" marT="42660" marB="42660"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pPr>
                        <a:buNone/>
                      </a:pPr>
                      <a:r>
                        <a:rPr lang="en-US" sz="1700"/>
                        <a:t>Fixes early-step underestimation</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pPr>
                        <a:buNone/>
                      </a:pPr>
                      <a:r>
                        <a:rPr lang="en-US" sz="1700" dirty="0"/>
                        <a:t>Warm up statistics before trusting them</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pPr>
                        <a:buNone/>
                      </a:pPr>
                      <a:r>
                        <a:rPr lang="en-US" sz="1700" dirty="0"/>
                        <a:t>Adam, </a:t>
                      </a:r>
                      <a:r>
                        <a:rPr lang="en-US" sz="1700" dirty="0" err="1"/>
                        <a:t>AdamW</a:t>
                      </a:r>
                      <a:endParaRPr lang="en-US" sz="1700" dirty="0"/>
                    </a:p>
                  </a:txBody>
                  <a:tcPr marL="85320" marR="85320" marT="42660" marB="42660"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a:noFill/>
                    </a:lnB>
                    <a:noFill/>
                  </a:tcPr>
                </a:tc>
                <a:extLst>
                  <a:ext uri="{0D108BD9-81ED-4DB2-BD59-A6C34878D82A}">
                    <a16:rowId xmlns:a16="http://schemas.microsoft.com/office/drawing/2014/main" val="2321109849"/>
                  </a:ext>
                </a:extLst>
              </a:tr>
            </a:tbl>
          </a:graphicData>
        </a:graphic>
      </p:graphicFrame>
    </p:spTree>
    <p:extLst>
      <p:ext uri="{BB962C8B-B14F-4D97-AF65-F5344CB8AC3E}">
        <p14:creationId xmlns:p14="http://schemas.microsoft.com/office/powerpoint/2010/main" val="32954321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89BB7-720B-E641-9EA4-E10DD522EEF8}"/>
              </a:ext>
            </a:extLst>
          </p:cNvPr>
          <p:cNvSpPr>
            <a:spLocks noGrp="1"/>
          </p:cNvSpPr>
          <p:nvPr>
            <p:ph type="title"/>
          </p:nvPr>
        </p:nvSpPr>
        <p:spPr/>
        <p:txBody>
          <a:bodyPr>
            <a:noAutofit/>
          </a:bodyPr>
          <a:lstStyle/>
          <a:p>
            <a:r>
              <a:rPr lang="en-US" sz="4800" dirty="0"/>
              <a:t>Activity: guess and check regression</a:t>
            </a:r>
            <a:br>
              <a:rPr lang="en-US" sz="4800" dirty="0"/>
            </a:br>
            <a:r>
              <a:rPr lang="en-US" sz="3600" dirty="0"/>
              <a:t>(i.e., </a:t>
            </a:r>
            <a:r>
              <a:rPr lang="en-US" sz="3600" b="1" dirty="0"/>
              <a:t>you</a:t>
            </a:r>
            <a:r>
              <a:rPr lang="en-US" sz="3600" dirty="0"/>
              <a:t> are the optimizer)</a:t>
            </a:r>
            <a:endParaRPr lang="en-US" sz="4800" dirty="0"/>
          </a:p>
        </p:txBody>
      </p:sp>
      <p:pic>
        <p:nvPicPr>
          <p:cNvPr id="4" name="Picture 3">
            <a:extLst>
              <a:ext uri="{FF2B5EF4-FFF2-40B4-BE49-F238E27FC236}">
                <a16:creationId xmlns:a16="http://schemas.microsoft.com/office/drawing/2014/main" id="{AB383F67-9FD1-394B-A2D3-83F03790909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374370" y="1900176"/>
            <a:ext cx="9443259" cy="4200836"/>
          </a:xfrm>
          <a:prstGeom prst="rect">
            <a:avLst/>
          </a:prstGeom>
          <a:ln>
            <a:solidFill>
              <a:schemeClr val="tx1"/>
            </a:solidFill>
          </a:ln>
        </p:spPr>
      </p:pic>
      <p:sp>
        <p:nvSpPr>
          <p:cNvPr id="6" name="TextBox 5">
            <a:extLst>
              <a:ext uri="{FF2B5EF4-FFF2-40B4-BE49-F238E27FC236}">
                <a16:creationId xmlns:a16="http://schemas.microsoft.com/office/drawing/2014/main" id="{BFC51DD9-B148-5C1F-D2AF-DD5B0AD9D80F}"/>
              </a:ext>
            </a:extLst>
          </p:cNvPr>
          <p:cNvSpPr txBox="1"/>
          <p:nvPr/>
        </p:nvSpPr>
        <p:spPr>
          <a:xfrm>
            <a:off x="1106284" y="6308209"/>
            <a:ext cx="9979430" cy="369332"/>
          </a:xfrm>
          <a:prstGeom prst="rect">
            <a:avLst/>
          </a:prstGeom>
          <a:noFill/>
        </p:spPr>
        <p:txBody>
          <a:bodyPr wrap="square">
            <a:spAutoFit/>
          </a:bodyPr>
          <a:lstStyle/>
          <a:p>
            <a:r>
              <a:rPr lang="en-US" dirty="0"/>
              <a:t>https://</a:t>
            </a:r>
            <a:r>
              <a:rPr lang="en-US" dirty="0" err="1"/>
              <a:t>github.com</a:t>
            </a:r>
            <a:r>
              <a:rPr lang="en-US" dirty="0"/>
              <a:t>/</a:t>
            </a:r>
            <a:r>
              <a:rPr lang="en-US" dirty="0" err="1"/>
              <a:t>engelhard</a:t>
            </a:r>
            <a:r>
              <a:rPr lang="en-US" dirty="0"/>
              <a:t>-lab/lectures/blob/main/activities/</a:t>
            </a:r>
            <a:r>
              <a:rPr lang="en-US" dirty="0" err="1"/>
              <a:t>guess_and_check_regression.xlsx</a:t>
            </a:r>
            <a:endParaRPr lang="en-US" dirty="0"/>
          </a:p>
        </p:txBody>
      </p:sp>
    </p:spTree>
    <p:extLst>
      <p:ext uri="{BB962C8B-B14F-4D97-AF65-F5344CB8AC3E}">
        <p14:creationId xmlns:p14="http://schemas.microsoft.com/office/powerpoint/2010/main" val="3040028290"/>
      </p:ext>
    </p:extLst>
  </p:cSld>
  <p:clrMapOvr>
    <a:masterClrMapping/>
  </p:clrMapOvr>
  <mc:AlternateContent xmlns:mc="http://schemas.openxmlformats.org/markup-compatibility/2006" xmlns:p14="http://schemas.microsoft.com/office/powerpoint/2010/main">
    <mc:Choice Requires="p14">
      <p:transition spd="slow" p14:dur="2000" advTm="33200"/>
    </mc:Choice>
    <mc:Fallback xmlns="">
      <p:transition spd="slow" advTm="3320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TotalTime>
  <Words>5692</Words>
  <Application>Microsoft Macintosh PowerPoint</Application>
  <PresentationFormat>Widescreen</PresentationFormat>
  <Paragraphs>823</Paragraphs>
  <Slides>59</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Aptos Display</vt:lpstr>
      <vt:lpstr>Arial</vt:lpstr>
      <vt:lpstr>Cambria Math</vt:lpstr>
      <vt:lpstr>Consolas</vt:lpstr>
      <vt:lpstr>Office Theme</vt:lpstr>
      <vt:lpstr>Model learning</vt:lpstr>
      <vt:lpstr>On homework 1</vt:lpstr>
      <vt:lpstr>On ReLU</vt:lpstr>
      <vt:lpstr>Report back: activation functions</vt:lpstr>
      <vt:lpstr>Overview of learning</vt:lpstr>
      <vt:lpstr>How does training, or learning, work?</vt:lpstr>
      <vt:lpstr>Loss Function for Binary Classification “cross-entropy loss”</vt:lpstr>
      <vt:lpstr>A Simple Strategy for Optimizing Parameters</vt:lpstr>
      <vt:lpstr>Leter we’ll try this strategy on a small dataset.</vt:lpstr>
      <vt:lpstr>Parameter Optimization by Gradient Descent</vt:lpstr>
      <vt:lpstr>Defining our loss</vt:lpstr>
      <vt:lpstr>Likelihood from first principles</vt:lpstr>
      <vt:lpstr>Likelihood from first principles</vt:lpstr>
      <vt:lpstr>Likelihood from first principles</vt:lpstr>
      <vt:lpstr>Likelihood from first principles</vt:lpstr>
      <vt:lpstr>Likelihood from first principles</vt:lpstr>
      <vt:lpstr>Likelihood from first principles</vt:lpstr>
      <vt:lpstr>Likelihood from first principles</vt:lpstr>
      <vt:lpstr>Likelihood from first principles</vt:lpstr>
      <vt:lpstr>Likelihood from first principles</vt:lpstr>
      <vt:lpstr>Likelihood from first principles</vt:lpstr>
      <vt:lpstr>Likelihood from first principles</vt:lpstr>
      <vt:lpstr>Report back: choice of loss function</vt:lpstr>
      <vt:lpstr>An initial look at regularization</vt:lpstr>
      <vt:lpstr>Let’s teach a neural network to identify cancer</vt:lpstr>
      <vt:lpstr>Let’s teach a neural network to identify cancer</vt:lpstr>
      <vt:lpstr>Let’s teach a neural network to identify cancer</vt:lpstr>
      <vt:lpstr>Let’s teach a neural network to identify cancer</vt:lpstr>
      <vt:lpstr>We need a strategy to decide when to stop.</vt:lpstr>
      <vt:lpstr>We need a strategy to decide when to stop.</vt:lpstr>
      <vt:lpstr>Strategy 1: Explicit Regularization</vt:lpstr>
      <vt:lpstr>Examples of Explicit Regularization</vt:lpstr>
      <vt:lpstr>Examples of Explicit Regularization</vt:lpstr>
      <vt:lpstr>Strategy 2: Early Stopping</vt:lpstr>
      <vt:lpstr>Strategy 3: Dropout</vt:lpstr>
      <vt:lpstr>Mitigating Overfitting in Practice</vt:lpstr>
      <vt:lpstr>Logistic regression / GLMs can also overfit</vt:lpstr>
      <vt:lpstr>Very brief review of overfitting in linear models</vt:lpstr>
      <vt:lpstr>Suppose we have the following data</vt:lpstr>
      <vt:lpstr>PowerPoint Presentation</vt:lpstr>
      <vt:lpstr>PowerPoint Presentation</vt:lpstr>
      <vt:lpstr>PowerPoint Presentation</vt:lpstr>
      <vt:lpstr>PowerPoint Presentation</vt:lpstr>
      <vt:lpstr>PowerPoint Presentation</vt:lpstr>
      <vt:lpstr>PowerPoint Presentation</vt:lpstr>
      <vt:lpstr>Takeaways</vt:lpstr>
      <vt:lpstr>Regularization in PyTorch</vt:lpstr>
      <vt:lpstr>Calculating the gradient</vt:lpstr>
      <vt:lpstr>Why autodifferentiation (i.e. backprop)?</vt:lpstr>
      <vt:lpstr>Autodifferentiation for logistic regression</vt:lpstr>
      <vt:lpstr>Autodifferentiation for logistic regression</vt:lpstr>
      <vt:lpstr>Autodifferentiation for logistic regression</vt:lpstr>
      <vt:lpstr>Autodifferentiation for logistic regression</vt:lpstr>
      <vt:lpstr>Autodiff in PyTorch</vt:lpstr>
      <vt:lpstr>Aggregating across multiple paths</vt:lpstr>
      <vt:lpstr>Autodiff in PyTorch</vt:lpstr>
      <vt:lpstr>Parameter Optimization by  stochastic gradient descent (SGD)</vt:lpstr>
      <vt:lpstr>Overview of common variations on SGD</vt:lpstr>
      <vt:lpstr>Activity: guess and check regression (i.e., you are the optimizer)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Matthew Engelhard, M.D., Ph.D.</dc:creator>
  <cp:lastModifiedBy>Matthew Engelhard, M.D., Ph.D.</cp:lastModifiedBy>
  <cp:revision>12</cp:revision>
  <dcterms:created xsi:type="dcterms:W3CDTF">2026-01-14T15:30:37Z</dcterms:created>
  <dcterms:modified xsi:type="dcterms:W3CDTF">2026-01-14T19:59:34Z</dcterms:modified>
</cp:coreProperties>
</file>