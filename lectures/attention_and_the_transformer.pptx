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81" r:id="rId5"/>
    <p:sldId id="259" r:id="rId6"/>
    <p:sldId id="2147477859" r:id="rId7"/>
    <p:sldId id="2147477855" r:id="rId8"/>
    <p:sldId id="795" r:id="rId9"/>
    <p:sldId id="264" r:id="rId10"/>
    <p:sldId id="265" r:id="rId11"/>
    <p:sldId id="283" r:id="rId12"/>
    <p:sldId id="286" r:id="rId13"/>
    <p:sldId id="261" r:id="rId14"/>
    <p:sldId id="287" r:id="rId15"/>
    <p:sldId id="288" r:id="rId16"/>
    <p:sldId id="284" r:id="rId17"/>
    <p:sldId id="289" r:id="rId18"/>
    <p:sldId id="291" r:id="rId19"/>
    <p:sldId id="292" r:id="rId20"/>
    <p:sldId id="290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3" r:id="rId30"/>
    <p:sldId id="304" r:id="rId31"/>
    <p:sldId id="2147477860" r:id="rId32"/>
    <p:sldId id="282" r:id="rId33"/>
    <p:sldId id="277" r:id="rId34"/>
    <p:sldId id="268" r:id="rId35"/>
    <p:sldId id="271" r:id="rId36"/>
    <p:sldId id="273" r:id="rId37"/>
    <p:sldId id="274" r:id="rId38"/>
    <p:sldId id="275" r:id="rId39"/>
    <p:sldId id="276" r:id="rId40"/>
    <p:sldId id="278" r:id="rId41"/>
    <p:sldId id="279" r:id="rId42"/>
    <p:sldId id="2147477861" r:id="rId43"/>
    <p:sldId id="2147477862" r:id="rId44"/>
    <p:sldId id="2147477868" r:id="rId45"/>
    <p:sldId id="2147477869" r:id="rId46"/>
    <p:sldId id="2147477863" r:id="rId47"/>
    <p:sldId id="2147477866" r:id="rId48"/>
    <p:sldId id="2147477865" r:id="rId49"/>
    <p:sldId id="269" r:id="rId50"/>
    <p:sldId id="270" r:id="rId51"/>
    <p:sldId id="2147477871" r:id="rId52"/>
    <p:sldId id="2147477872" r:id="rId53"/>
    <p:sldId id="2147477870" r:id="rId54"/>
    <p:sldId id="2147477867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97"/>
    <p:restoredTop sz="83966"/>
  </p:normalViewPr>
  <p:slideViewPr>
    <p:cSldViewPr snapToGrid="0">
      <p:cViewPr varScale="1">
        <p:scale>
          <a:sx n="155" d="100"/>
          <a:sy n="155" d="100"/>
        </p:scale>
        <p:origin x="2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4B13C-D436-224F-A7DA-2DE33699181F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85A5AC-518E-BD4E-B7EF-25EA24051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2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this can be done by converting to one-hot and then multiplying by embedding matrix</a:t>
            </a:r>
          </a:p>
          <a:p>
            <a:r>
              <a:rPr lang="en-US" dirty="0"/>
              <a:t>(V x d) embedding matrix 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1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46E7-57EE-984A-6C3D-171848496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811C6-6715-30FF-236C-3E216260A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3DE8A-01E0-043A-5A51-8B70B166B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Explain that this is a plausible sequence reflecting a clinical progression over time</a:t>
            </a:r>
          </a:p>
          <a:p>
            <a:endParaRPr lang="en-US" b="1" dirty="0"/>
          </a:p>
          <a:p>
            <a:r>
              <a:rPr lang="en-US" b="1" dirty="0"/>
              <a:t>E11.65</a:t>
            </a:r>
            <a:r>
              <a:rPr lang="en-US" dirty="0"/>
              <a:t> — Type 2 diabetes mellitus with hyperglycemia </a:t>
            </a:r>
          </a:p>
          <a:p>
            <a:r>
              <a:rPr lang="en-US" b="1" dirty="0"/>
              <a:t>E11.42</a:t>
            </a:r>
            <a:r>
              <a:rPr lang="en-US" dirty="0"/>
              <a:t> — Type 2 diabetes mellitus with diabetic polyneuropathy </a:t>
            </a:r>
          </a:p>
          <a:p>
            <a:r>
              <a:rPr lang="en-US" b="1" dirty="0"/>
              <a:t>I10</a:t>
            </a:r>
            <a:r>
              <a:rPr lang="en-US" dirty="0"/>
              <a:t> — Essential (primary) hypertension </a:t>
            </a:r>
          </a:p>
          <a:p>
            <a:r>
              <a:rPr lang="en-US" b="1" dirty="0"/>
              <a:t>N18.3</a:t>
            </a:r>
            <a:r>
              <a:rPr lang="en-US" dirty="0"/>
              <a:t> — Chronic kidney disease, stage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795B6-5F6E-DC5D-CC9B-44A6D4A41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602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7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were the dominant NLP architecture after word embeddings were developed</a:t>
            </a:r>
          </a:p>
          <a:p>
            <a:endParaRPr lang="en-US" dirty="0"/>
          </a:p>
          <a:p>
            <a:r>
              <a:rPr lang="en-US" dirty="0"/>
              <a:t>Note: really, d should be depth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3B2E0-F841-4DF0-86E7-486D3B83D0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1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saw how this architecture could be used to predict the next word in the sequence, for example</a:t>
            </a:r>
          </a:p>
          <a:p>
            <a:endParaRPr lang="en-US" dirty="0"/>
          </a:p>
          <a:p>
            <a:r>
              <a:rPr lang="en-US" dirty="0"/>
              <a:t>Here, the goal is to classify each word in the sequence is classified as being PHI – one of several types – or not</a:t>
            </a:r>
          </a:p>
          <a:p>
            <a:r>
              <a:rPr lang="en-US" dirty="0"/>
              <a:t>in a way that’s not just informed by the embedding for that individual word, but by surrounding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66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is (L x d)</a:t>
            </a:r>
          </a:p>
          <a:p>
            <a:endParaRPr lang="en-US" dirty="0"/>
          </a:p>
          <a:p>
            <a:r>
              <a:rPr lang="en-US" dirty="0"/>
              <a:t>q is (1 x d)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x is (1 x 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67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810EF-4669-31EA-4603-F997AEE2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97A0D-92E7-F160-1238-B9B27498B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A5E45-3815-E877-664B-04682640E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F84A7-D56A-B2C8-E21E-B2ADD9215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92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4F415-A84F-8706-18D8-A9A5C755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1A976-7B1B-4B33-CE14-6F27A1657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96FE1-301F-DEBD-4539-2CF02956B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5622F-5EE4-F62A-3667-E360FC2C9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52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18D23-80E1-3547-7718-19F7CC0C0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FACD0-DC75-ACE6-E08C-79BF8F4C2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575B6-C79F-E2E0-995C-4D0CAC152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314D3-1503-5905-870D-129A9EF42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53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8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53426-EB9D-EBFA-5F80-30A2BFAF5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8F1C9-356A-3F59-61FE-C2B75A9BC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33EE9A-1C50-E32E-2034-7808D13A2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A7BB4-D9C7-5E29-6876-FA1B87D23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72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17A1C-0F74-32A4-56E9-736BBE26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87C2F-141C-D2BB-2B2B-39873A5F3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236B0-F9E0-56A7-8A67-02BF93C76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320E3-9962-FE9D-B1D0-8AC835838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46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26A1-9BE6-70AF-D319-69A741A6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0851D-7BE6-EFE0-503E-C5FF6669B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98CB7-CC95-844C-852C-475754113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86008-1795-A5DD-BC66-499FCB990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02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Efficient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Increased model capacity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67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F3F5-EB3C-6C58-A2A0-70A17CDD7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7EF47-0203-A018-6339-953A35646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4EC4B-C013-1609-7D70-B703499E8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Efficient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Increased model capacity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201FA-2B67-A9B8-0155-81B6E08C2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79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haven’t we covered? Positional encodings.</a:t>
            </a:r>
          </a:p>
          <a:p>
            <a:endParaRPr lang="en-US" dirty="0"/>
          </a:p>
          <a:p>
            <a:r>
              <a:rPr lang="en-US" dirty="0"/>
              <a:t>Again emphasize that we are progressively refining our representations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47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C3AC-B687-324C-425C-6EC1B2B49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3EE01-EAE7-FC09-5340-E1BC630A8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D6190-705B-F39E-3B82-5873FB19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FEF4-A854-F16C-DD60-B6BD2FCD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12D99-0CC7-2E80-539D-50A33762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2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D9E9-D604-E834-6F1F-49B69399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E47E5-E9F3-4552-FFCD-72B084264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3954E-DC1B-12FD-3CCD-1480D288E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72D6-67A1-1EA7-0067-1ADDC6E3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7E89E-8DB7-1817-723E-ABEC62FE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30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2137C-DA64-155C-0523-231ED71B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9C675-D08F-437E-3825-26F3E2C81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45B5B-9750-7D43-BDF1-8C1FBF55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95AF3-46AA-B69D-1E62-F38967931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23B33-F7C9-B42E-E3BF-48ED4D42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9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9FB4-C200-CC52-1D84-0717C592A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239F7-A182-9EF9-24F0-2123B7C31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469F9-E857-6A31-1579-26AB44B0D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86982-B5E2-E64B-985D-A0B83EEA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453CE-C563-BD3E-326E-72578859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89846-EB7B-C7CF-4E0E-289709A4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58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CDAA-D3A1-33C7-6444-ED93461CB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43E19-8167-2858-FB3F-F5972FC52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CB4D8-2EB6-F69E-4728-BE5F9C966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09557-8279-242B-675A-5A17A0C67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A61DBA-D27B-EE30-B4C3-C5D862EC2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13CD4-8FBA-0D77-FB17-103D5A29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0F6BE1-F9D5-0DE4-C35E-CA3F8D69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EBB5AD-ED39-2806-5705-7A0BF184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3C380-2B03-D0A8-A01F-4BD90098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B43A9-DA4E-484D-64B8-289A0917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9FF0A6-BFF2-2A53-2B92-6FB54820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4ECFD-6558-61A1-08F1-FB93ED0C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8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C3D251-CE5C-49AD-2D1E-1888E39A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FD70D-F27A-EE0D-4875-68F48BF1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0CED4-6801-BA95-6787-49B2D8C7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8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D89F-C52C-21D1-0E59-53EAA5384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6B17-CE16-1B39-C30E-7B15469BC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4FDB7-5991-DBED-ACD9-CD5945187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3B62F-E476-39E9-8AD1-2ACC9416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FD09A-03C4-69D4-92FA-06996E51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26C96-D8C0-4CF5-330E-D7A2DAE1D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A566-D175-625A-A28B-9DC869724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7372C9-85A6-4A73-6FCE-5095E8F0E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F488B-574F-A19B-BC97-64D816A3E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94DD0-49E3-B95B-2BEA-72411744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031F6-E33F-0B77-8BB4-B8C58A10B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A6856-21CC-C3BD-5702-7663DDDB1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44B5-D30F-9D7D-1774-DD18E879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E2B59-BE9A-8DB5-0B6B-D4E9AE47B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5727B-3994-88FA-EE68-535FF583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8B08F-63AF-40B0-9472-2E955BA6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F703B-0CA8-2409-EE7F-6FEA0626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63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45E1CC-C661-FCF2-CE9B-C298566B5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C2256-29E1-A225-CFE3-57C4C6C6A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AB33C-0018-0022-86E0-39EEF979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D140C-CB24-690F-008A-DA341B3C5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C67A4-133D-A4D7-3E20-5F9B7B4E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01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23036-DA5B-DC1C-AD90-54160CFE5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43062-5D98-05A8-3BE8-71D9A7237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3A9C2-E00E-7A90-4D4F-6931162A7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B3C24-8E28-7D46-B55A-2C2541E243E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32E1A-51E3-F149-85E3-5654685BB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CCD25-83A8-58FD-FAD1-DD9585CA6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3D679-58CB-F844-A903-ED3357829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1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image" Target="../media/image60.png"/><Relationship Id="rId3" Type="http://schemas.openxmlformats.org/officeDocument/2006/relationships/image" Target="../media/image2050.png"/><Relationship Id="rId7" Type="http://schemas.openxmlformats.org/officeDocument/2006/relationships/image" Target="../media/image310.png"/><Relationship Id="rId12" Type="http://schemas.openxmlformats.org/officeDocument/2006/relationships/image" Target="../media/image13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11" Type="http://schemas.openxmlformats.org/officeDocument/2006/relationships/image" Target="../media/image1210.png"/><Relationship Id="rId5" Type="http://schemas.openxmlformats.org/officeDocument/2006/relationships/image" Target="../media/image2070.png"/><Relationship Id="rId15" Type="http://schemas.openxmlformats.org/officeDocument/2006/relationships/image" Target="../media/image80.png"/><Relationship Id="rId10" Type="http://schemas.openxmlformats.org/officeDocument/2006/relationships/image" Target="../media/image1110.png"/><Relationship Id="rId4" Type="http://schemas.openxmlformats.org/officeDocument/2006/relationships/image" Target="../media/image2060.png"/><Relationship Id="rId9" Type="http://schemas.openxmlformats.org/officeDocument/2006/relationships/image" Target="../media/image55.png"/><Relationship Id="rId1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B0C4-F2C7-ED29-1B31-464F1A82CD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Attention and the Transformer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7B7A8-A287-2694-D188-CE9973280C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Matt Engelhard</a:t>
            </a:r>
          </a:p>
        </p:txBody>
      </p:sp>
    </p:spTree>
    <p:extLst>
      <p:ext uri="{BB962C8B-B14F-4D97-AF65-F5344CB8AC3E}">
        <p14:creationId xmlns:p14="http://schemas.microsoft.com/office/powerpoint/2010/main" val="3812302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A8A9B-E880-48DF-1A78-F940D6B3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word embeddings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843F17-7FAC-CF26-A685-92583ED1D0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now have dense vector representations of words</a:t>
                </a:r>
              </a:p>
              <a:p>
                <a:pPr marL="0" indent="0">
                  <a:buNone/>
                </a:pPr>
                <a:r>
                  <a:rPr lang="en-US" dirty="0"/>
                  <a:t>	(i.e. embeddings)</a:t>
                </a:r>
              </a:p>
              <a:p>
                <a:endParaRPr lang="en-US" dirty="0"/>
              </a:p>
              <a:p>
                <a:r>
                  <a:rPr lang="en-US" dirty="0"/>
                  <a:t>Allows us to convert text to a sequence of embeddings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Text: 						“Patient had a stroke”</a:t>
                </a:r>
              </a:p>
              <a:p>
                <a:pPr marL="0" indent="0">
                  <a:buNone/>
                </a:pPr>
                <a:r>
                  <a:rPr lang="en-US" dirty="0"/>
                  <a:t>Tokenize: 					(“Patient”, “had”, “a”, “stroke”)</a:t>
                </a:r>
              </a:p>
              <a:p>
                <a:pPr marL="0" indent="0">
                  <a:buNone/>
                </a:pPr>
                <a:r>
                  <a:rPr lang="en-US" dirty="0"/>
                  <a:t>Find embeddings: 	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843F17-7FAC-CF26-A685-92583ED1D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3198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74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3CE3-0BE4-F08A-F5A3-97500C622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A1F6-9ADD-C3CD-6229-0869054B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medical concept embeddings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A810E-26E7-7E35-CED8-A0C1C5786D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now have dense vector representations of medical concepts</a:t>
                </a:r>
              </a:p>
              <a:p>
                <a:pPr marL="0" indent="0">
                  <a:buNone/>
                </a:pPr>
                <a:r>
                  <a:rPr lang="en-US" dirty="0"/>
                  <a:t>	(i.e. embeddings)</a:t>
                </a:r>
              </a:p>
              <a:p>
                <a:endParaRPr lang="en-US" dirty="0"/>
              </a:p>
              <a:p>
                <a:r>
                  <a:rPr lang="en-US" dirty="0"/>
                  <a:t>Allows us to convert a sequence of medical events, including diagnosis and procedure codes, to a sequence of embeddings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Code sequence: 			(“E11.65”, “E11.42”, “I10”, “N18.3”)</a:t>
                </a:r>
              </a:p>
              <a:p>
                <a:pPr marL="0" indent="0">
                  <a:buNone/>
                </a:pPr>
                <a:r>
                  <a:rPr lang="en-US" dirty="0"/>
                  <a:t>Find embeddings: 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A810E-26E7-7E35-CED8-A0C1C5786D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904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EE61-DF48-104A-3552-D57E66EA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the Transformer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ED727-008E-B0C2-0CE5-9E3126F17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strengths and weaknesses of existing (prior to Transformer) alternatives for sequence-based prediction tasks</a:t>
            </a:r>
          </a:p>
        </p:txBody>
      </p:sp>
    </p:spTree>
    <p:extLst>
      <p:ext uri="{BB962C8B-B14F-4D97-AF65-F5344CB8AC3E}">
        <p14:creationId xmlns:p14="http://schemas.microsoft.com/office/powerpoint/2010/main" val="383413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7F68F-8510-C91C-3A14-8FC884A29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predictions from sequences</a:t>
            </a:r>
            <a:br>
              <a:rPr lang="en-US" dirty="0"/>
            </a:br>
            <a:r>
              <a:rPr lang="en-US" sz="2800" dirty="0"/>
              <a:t>Option 1: pooling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05C3B54-C492-45CC-37BA-ADB2BFD8F4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Input: 	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Mean pooling: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Max pooling: set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th 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(i.e.,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)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sSubSup>
                      <m:sSubSup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now use logistic regression or an MLP to make predictions from our fixed-length vector.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05C3B54-C492-45CC-37BA-ADB2BFD8F4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578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795AF-29CA-2D94-4562-74AA0BB93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predictions from sequences</a:t>
            </a:r>
            <a:br>
              <a:rPr lang="en-US" dirty="0"/>
            </a:br>
            <a:r>
              <a:rPr lang="en-US" sz="2800" dirty="0"/>
              <a:t>Option 2: </a:t>
            </a:r>
            <a:r>
              <a:rPr lang="en-US" sz="2800" dirty="0" err="1"/>
              <a:t>ConvNet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503FC2-47AE-AB06-71AD-368050915E33}"/>
              </a:ext>
            </a:extLst>
          </p:cNvPr>
          <p:cNvGraphicFramePr>
            <a:graphicFrameLocks noGrp="1"/>
          </p:cNvGraphicFramePr>
          <p:nvPr/>
        </p:nvGraphicFramePr>
        <p:xfrm>
          <a:off x="641647" y="2527416"/>
          <a:ext cx="3081865" cy="3075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373">
                  <a:extLst>
                    <a:ext uri="{9D8B030D-6E8A-4147-A177-3AD203B41FA5}">
                      <a16:colId xmlns:a16="http://schemas.microsoft.com/office/drawing/2014/main" val="2116980396"/>
                    </a:ext>
                  </a:extLst>
                </a:gridCol>
                <a:gridCol w="616373">
                  <a:extLst>
                    <a:ext uri="{9D8B030D-6E8A-4147-A177-3AD203B41FA5}">
                      <a16:colId xmlns:a16="http://schemas.microsoft.com/office/drawing/2014/main" val="1266821875"/>
                    </a:ext>
                  </a:extLst>
                </a:gridCol>
                <a:gridCol w="616373">
                  <a:extLst>
                    <a:ext uri="{9D8B030D-6E8A-4147-A177-3AD203B41FA5}">
                      <a16:colId xmlns:a16="http://schemas.microsoft.com/office/drawing/2014/main" val="1708428139"/>
                    </a:ext>
                  </a:extLst>
                </a:gridCol>
                <a:gridCol w="616373">
                  <a:extLst>
                    <a:ext uri="{9D8B030D-6E8A-4147-A177-3AD203B41FA5}">
                      <a16:colId xmlns:a16="http://schemas.microsoft.com/office/drawing/2014/main" val="3314085828"/>
                    </a:ext>
                  </a:extLst>
                </a:gridCol>
                <a:gridCol w="616373">
                  <a:extLst>
                    <a:ext uri="{9D8B030D-6E8A-4147-A177-3AD203B41FA5}">
                      <a16:colId xmlns:a16="http://schemas.microsoft.com/office/drawing/2014/main" val="2008900414"/>
                    </a:ext>
                  </a:extLst>
                </a:gridCol>
              </a:tblGrid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342114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029200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108087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171125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5380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C6A91F-4D14-7544-1022-B6BDF2FE878C}"/>
              </a:ext>
            </a:extLst>
          </p:cNvPr>
          <p:cNvSpPr txBox="1"/>
          <p:nvPr/>
        </p:nvSpPr>
        <p:spPr>
          <a:xfrm>
            <a:off x="1331224" y="2042371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 x L) sequence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9CA1774-730B-B1D6-1376-4387225A9448}"/>
              </a:ext>
            </a:extLst>
          </p:cNvPr>
          <p:cNvGraphicFramePr>
            <a:graphicFrameLocks noGrp="1"/>
          </p:cNvGraphicFramePr>
          <p:nvPr/>
        </p:nvGraphicFramePr>
        <p:xfrm>
          <a:off x="4665290" y="1891122"/>
          <a:ext cx="1849119" cy="3075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373">
                  <a:extLst>
                    <a:ext uri="{9D8B030D-6E8A-4147-A177-3AD203B41FA5}">
                      <a16:colId xmlns:a16="http://schemas.microsoft.com/office/drawing/2014/main" val="2116980396"/>
                    </a:ext>
                  </a:extLst>
                </a:gridCol>
                <a:gridCol w="616373">
                  <a:extLst>
                    <a:ext uri="{9D8B030D-6E8A-4147-A177-3AD203B41FA5}">
                      <a16:colId xmlns:a16="http://schemas.microsoft.com/office/drawing/2014/main" val="1266821875"/>
                    </a:ext>
                  </a:extLst>
                </a:gridCol>
                <a:gridCol w="616373">
                  <a:extLst>
                    <a:ext uri="{9D8B030D-6E8A-4147-A177-3AD203B41FA5}">
                      <a16:colId xmlns:a16="http://schemas.microsoft.com/office/drawing/2014/main" val="1708428139"/>
                    </a:ext>
                  </a:extLst>
                </a:gridCol>
              </a:tblGrid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342114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029200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108087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171125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53806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D40ED4-4831-65A6-D797-FF51E309EDD6}"/>
              </a:ext>
            </a:extLst>
          </p:cNvPr>
          <p:cNvGraphicFramePr>
            <a:graphicFrameLocks noGrp="1"/>
          </p:cNvGraphicFramePr>
          <p:nvPr/>
        </p:nvGraphicFramePr>
        <p:xfrm>
          <a:off x="6851589" y="3120292"/>
          <a:ext cx="1849119" cy="3075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373">
                  <a:extLst>
                    <a:ext uri="{9D8B030D-6E8A-4147-A177-3AD203B41FA5}">
                      <a16:colId xmlns:a16="http://schemas.microsoft.com/office/drawing/2014/main" val="2116980396"/>
                    </a:ext>
                  </a:extLst>
                </a:gridCol>
                <a:gridCol w="616373">
                  <a:extLst>
                    <a:ext uri="{9D8B030D-6E8A-4147-A177-3AD203B41FA5}">
                      <a16:colId xmlns:a16="http://schemas.microsoft.com/office/drawing/2014/main" val="1266821875"/>
                    </a:ext>
                  </a:extLst>
                </a:gridCol>
                <a:gridCol w="616373">
                  <a:extLst>
                    <a:ext uri="{9D8B030D-6E8A-4147-A177-3AD203B41FA5}">
                      <a16:colId xmlns:a16="http://schemas.microsoft.com/office/drawing/2014/main" val="1708428139"/>
                    </a:ext>
                  </a:extLst>
                </a:gridCol>
              </a:tblGrid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342114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029200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108087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171125"/>
                  </a:ext>
                </a:extLst>
              </a:tr>
              <a:tr h="615151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53806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FA7BC2C-A1E3-A4AB-36F1-C41453C37440}"/>
              </a:ext>
            </a:extLst>
          </p:cNvPr>
          <p:cNvSpPr txBox="1"/>
          <p:nvPr/>
        </p:nvSpPr>
        <p:spPr>
          <a:xfrm>
            <a:off x="7122892" y="2204250"/>
            <a:ext cx="1306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K filters of </a:t>
            </a:r>
          </a:p>
          <a:p>
            <a:pPr algn="ctr"/>
            <a:r>
              <a:rPr lang="en-US" dirty="0"/>
              <a:t>size (d x M)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80086B-DA8D-FB8D-98B0-3524E4015D19}"/>
              </a:ext>
            </a:extLst>
          </p:cNvPr>
          <p:cNvSpPr txBox="1"/>
          <p:nvPr/>
        </p:nvSpPr>
        <p:spPr>
          <a:xfrm>
            <a:off x="9376422" y="3428999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has depth 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921B54-7D74-EEF7-AE8C-AC88BAE02ACD}"/>
                  </a:ext>
                </a:extLst>
              </p:cNvPr>
              <p:cNvSpPr txBox="1"/>
              <p:nvPr/>
            </p:nvSpPr>
            <p:spPr>
              <a:xfrm>
                <a:off x="716691" y="5629077"/>
                <a:ext cx="471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921B54-7D74-EEF7-AE8C-AC88BAE02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91" y="5629077"/>
                <a:ext cx="471026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2FE8BB-FE0B-09C7-A6BB-69778FD2B553}"/>
                  </a:ext>
                </a:extLst>
              </p:cNvPr>
              <p:cNvSpPr txBox="1"/>
              <p:nvPr/>
            </p:nvSpPr>
            <p:spPr>
              <a:xfrm>
                <a:off x="1347511" y="5629077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2FE8BB-FE0B-09C7-A6BB-69778FD2B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511" y="5629077"/>
                <a:ext cx="476349" cy="369332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2850CD-4E34-12E7-FDAC-73C69461B275}"/>
                  </a:ext>
                </a:extLst>
              </p:cNvPr>
              <p:cNvSpPr txBox="1"/>
              <p:nvPr/>
            </p:nvSpPr>
            <p:spPr>
              <a:xfrm>
                <a:off x="1947066" y="5629077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2850CD-4E34-12E7-FDAC-73C69461B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066" y="5629077"/>
                <a:ext cx="476349" cy="369332"/>
              </a:xfrm>
              <a:prstGeom prst="rect">
                <a:avLst/>
              </a:prstGeom>
              <a:blipFill>
                <a:blip r:embed="rId5"/>
                <a:stretch>
                  <a:fillRect t="-6667" r="-1282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C67A10-DF2F-154F-180C-65458FE75424}"/>
                  </a:ext>
                </a:extLst>
              </p:cNvPr>
              <p:cNvSpPr txBox="1"/>
              <p:nvPr/>
            </p:nvSpPr>
            <p:spPr>
              <a:xfrm>
                <a:off x="2577886" y="5629077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C67A10-DF2F-154F-180C-65458FE75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886" y="5629077"/>
                <a:ext cx="476349" cy="369332"/>
              </a:xfrm>
              <a:prstGeom prst="rect">
                <a:avLst/>
              </a:prstGeom>
              <a:blipFill>
                <a:blip r:embed="rId6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43211-6803-01A3-2FCD-F6A95F15146F}"/>
                  </a:ext>
                </a:extLst>
              </p:cNvPr>
              <p:cNvSpPr txBox="1"/>
              <p:nvPr/>
            </p:nvSpPr>
            <p:spPr>
              <a:xfrm>
                <a:off x="3201312" y="5629077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43211-6803-01A3-2FCD-F6A95F151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312" y="5629077"/>
                <a:ext cx="476349" cy="369332"/>
              </a:xfrm>
              <a:prstGeom prst="rect">
                <a:avLst/>
              </a:prstGeom>
              <a:blipFill>
                <a:blip r:embed="rId7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171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4EED-0DF8-DF18-6647-1E2D8E7A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 of </a:t>
            </a:r>
            <a:r>
              <a:rPr lang="en-US" dirty="0" err="1"/>
              <a:t>ConvNets</a:t>
            </a:r>
            <a:r>
              <a:rPr lang="en-US" dirty="0"/>
              <a:t> for language?</a:t>
            </a:r>
          </a:p>
        </p:txBody>
      </p:sp>
      <p:pic>
        <p:nvPicPr>
          <p:cNvPr id="1026" name="Picture 2" descr="Understanding VGG: The Backbone of Image Recognition">
            <a:extLst>
              <a:ext uri="{FF2B5EF4-FFF2-40B4-BE49-F238E27FC236}">
                <a16:creationId xmlns:a16="http://schemas.microsoft.com/office/drawing/2014/main" id="{71CE5B71-4CD1-3EEC-D5BD-C13877C6D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8085551" cy="447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7E7760-AA6B-D234-604D-C897DBBAE3CF}"/>
              </a:ext>
            </a:extLst>
          </p:cNvPr>
          <p:cNvSpPr txBox="1"/>
          <p:nvPr/>
        </p:nvSpPr>
        <p:spPr>
          <a:xfrm>
            <a:off x="2136793" y="6354375"/>
            <a:ext cx="5488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Image from: https://</a:t>
            </a:r>
            <a:r>
              <a:rPr lang="en-US" sz="1200" dirty="0" err="1"/>
              <a:t>viso.ai</a:t>
            </a:r>
            <a:r>
              <a:rPr lang="en-US" sz="1200" dirty="0"/>
              <a:t>/deep-learning/</a:t>
            </a:r>
            <a:r>
              <a:rPr lang="en-US" sz="1200" dirty="0" err="1"/>
              <a:t>vgg</a:t>
            </a:r>
            <a:r>
              <a:rPr lang="en-US" sz="1200" dirty="0"/>
              <a:t>-very-deep-convolutional-networks/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B2841-AF67-32A2-01BE-C467872510F2}"/>
              </a:ext>
            </a:extLst>
          </p:cNvPr>
          <p:cNvSpPr txBox="1"/>
          <p:nvPr/>
        </p:nvSpPr>
        <p:spPr>
          <a:xfrm>
            <a:off x="7035114" y="1690688"/>
            <a:ext cx="486856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Important notes</a:t>
            </a:r>
            <a:r>
              <a:rPr lang="en-US" dirty="0"/>
              <a:t>: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3 key types of layers</a:t>
            </a:r>
          </a:p>
          <a:p>
            <a:pPr marL="342900" indent="-342900">
              <a:buAutoNum type="arabicParenR"/>
            </a:pPr>
            <a:r>
              <a:rPr lang="en-US" b="1" dirty="0"/>
              <a:t>Progressive decrease in spatial resolution</a:t>
            </a:r>
          </a:p>
          <a:p>
            <a:pPr marL="342900" indent="-342900">
              <a:buAutoNum type="arabicParenR"/>
            </a:pPr>
            <a:r>
              <a:rPr lang="en-US" dirty="0"/>
              <a:t>Progressive increase in number of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03DD1-2FC3-5C73-0FB2-B4A0810148E3}"/>
              </a:ext>
            </a:extLst>
          </p:cNvPr>
          <p:cNvSpPr txBox="1"/>
          <p:nvPr/>
        </p:nvSpPr>
        <p:spPr>
          <a:xfrm>
            <a:off x="8501448" y="5612360"/>
            <a:ext cx="3089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 good at capturing long-range dependencies!</a:t>
            </a:r>
          </a:p>
        </p:txBody>
      </p:sp>
    </p:spTree>
    <p:extLst>
      <p:ext uri="{BB962C8B-B14F-4D97-AF65-F5344CB8AC3E}">
        <p14:creationId xmlns:p14="http://schemas.microsoft.com/office/powerpoint/2010/main" val="177138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B4F498EC-9989-40CD-B33D-751BA71F3C17}"/>
              </a:ext>
            </a:extLst>
          </p:cNvPr>
          <p:cNvGrpSpPr/>
          <p:nvPr/>
        </p:nvGrpSpPr>
        <p:grpSpPr>
          <a:xfrm>
            <a:off x="1325668" y="1076875"/>
            <a:ext cx="8921557" cy="5596669"/>
            <a:chOff x="1559967" y="727143"/>
            <a:chExt cx="8921558" cy="55966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568CD97-2792-41C4-B7C4-C757069D1749}"/>
                    </a:ext>
                  </a:extLst>
                </p:cNvPr>
                <p:cNvSpPr/>
                <p:nvPr/>
              </p:nvSpPr>
              <p:spPr>
                <a:xfrm>
                  <a:off x="2118383" y="1696949"/>
                  <a:ext cx="1138843" cy="31651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568CD97-2792-41C4-B7C4-C757069D17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383" y="1696949"/>
                  <a:ext cx="1138843" cy="316511"/>
                </a:xfrm>
                <a:prstGeom prst="rect">
                  <a:avLst/>
                </a:prstGeom>
                <a:blipFill>
                  <a:blip r:embed="rId3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ACC1E92B-776C-4C6D-896B-CCBD679265B5}"/>
                    </a:ext>
                  </a:extLst>
                </p:cNvPr>
                <p:cNvSpPr/>
                <p:nvPr/>
              </p:nvSpPr>
              <p:spPr>
                <a:xfrm>
                  <a:off x="2118383" y="3367222"/>
                  <a:ext cx="1138843" cy="31651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ACC1E92B-776C-4C6D-896B-CCBD679265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383" y="3367222"/>
                  <a:ext cx="1138843" cy="316511"/>
                </a:xfrm>
                <a:prstGeom prst="rect">
                  <a:avLst/>
                </a:prstGeom>
                <a:blipFill>
                  <a:blip r:embed="rId4"/>
                  <a:stretch>
                    <a:fillRect b="-185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129958F-2873-4C77-A28F-3FFAAE75359C}"/>
                    </a:ext>
                  </a:extLst>
                </p:cNvPr>
                <p:cNvSpPr/>
                <p:nvPr/>
              </p:nvSpPr>
              <p:spPr>
                <a:xfrm>
                  <a:off x="2118384" y="4998160"/>
                  <a:ext cx="1138843" cy="31651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129958F-2873-4C77-A28F-3FFAAE7535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384" y="4998160"/>
                  <a:ext cx="1138843" cy="316511"/>
                </a:xfrm>
                <a:prstGeom prst="rect">
                  <a:avLst/>
                </a:prstGeom>
                <a:blipFill>
                  <a:blip r:embed="rId5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DFECD0-5A3B-4BAB-AFE1-8FAC8EDAE844}"/>
                </a:ext>
              </a:extLst>
            </p:cNvPr>
            <p:cNvSpPr txBox="1"/>
            <p:nvPr/>
          </p:nvSpPr>
          <p:spPr>
            <a:xfrm>
              <a:off x="1559967" y="940560"/>
              <a:ext cx="23793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09539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Sequence of Word </a:t>
              </a:r>
            </a:p>
            <a:p>
              <a:pPr algn="ctr" defTabSz="609539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Embeddings (sentence)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798219-5412-44A3-B4C4-73C68B0EB896}"/>
                </a:ext>
              </a:extLst>
            </p:cNvPr>
            <p:cNvCxnSpPr>
              <a:stCxn id="2" idx="3"/>
            </p:cNvCxnSpPr>
            <p:nvPr/>
          </p:nvCxnSpPr>
          <p:spPr>
            <a:xfrm flipV="1">
              <a:off x="3257226" y="1850802"/>
              <a:ext cx="1055978" cy="440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2EC1210-6548-4DA8-81F8-DF7F800DD011}"/>
                </a:ext>
              </a:extLst>
            </p:cNvPr>
            <p:cNvCxnSpPr/>
            <p:nvPr/>
          </p:nvCxnSpPr>
          <p:spPr>
            <a:xfrm flipV="1">
              <a:off x="3257226" y="3532234"/>
              <a:ext cx="1055978" cy="440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AB29709-52B3-412A-B587-6F458C020C56}"/>
                </a:ext>
              </a:extLst>
            </p:cNvPr>
            <p:cNvCxnSpPr/>
            <p:nvPr/>
          </p:nvCxnSpPr>
          <p:spPr>
            <a:xfrm flipV="1">
              <a:off x="3257226" y="5152012"/>
              <a:ext cx="1055978" cy="440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1589C32-E66E-4609-8605-BC3B4C3933A4}"/>
                </a:ext>
              </a:extLst>
            </p:cNvPr>
            <p:cNvSpPr/>
            <p:nvPr/>
          </p:nvSpPr>
          <p:spPr>
            <a:xfrm>
              <a:off x="4313204" y="1430997"/>
              <a:ext cx="1407783" cy="92708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39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EFE8FE-A76A-4AF3-BA5F-66BC5E42B64B}"/>
                </a:ext>
              </a:extLst>
            </p:cNvPr>
            <p:cNvSpPr/>
            <p:nvPr/>
          </p:nvSpPr>
          <p:spPr>
            <a:xfrm>
              <a:off x="4313204" y="3061935"/>
              <a:ext cx="1407783" cy="92708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39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14D2ED9-21D0-4FD5-B773-61F948A3BCE9}"/>
                </a:ext>
              </a:extLst>
            </p:cNvPr>
            <p:cNvSpPr/>
            <p:nvPr/>
          </p:nvSpPr>
          <p:spPr>
            <a:xfrm>
              <a:off x="4313204" y="4692873"/>
              <a:ext cx="1407783" cy="92708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39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63A9B7A-2F77-408F-B113-123924638EDF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5017096" y="3989019"/>
              <a:ext cx="0" cy="7038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52C6726-95DB-49FC-83B3-C45EFB045B79}"/>
                </a:ext>
              </a:extLst>
            </p:cNvPr>
            <p:cNvCxnSpPr>
              <a:cxnSpLocks/>
            </p:cNvCxnSpPr>
            <p:nvPr/>
          </p:nvCxnSpPr>
          <p:spPr>
            <a:xfrm>
              <a:off x="5039182" y="5619957"/>
              <a:ext cx="0" cy="7038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6209707-0C1B-42B9-9A02-25F6FABBCF61}"/>
                </a:ext>
              </a:extLst>
            </p:cNvPr>
            <p:cNvCxnSpPr>
              <a:cxnSpLocks/>
            </p:cNvCxnSpPr>
            <p:nvPr/>
          </p:nvCxnSpPr>
          <p:spPr>
            <a:xfrm>
              <a:off x="4980993" y="2358081"/>
              <a:ext cx="0" cy="7038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37E368D-6F97-4267-8318-52A6FE794DA9}"/>
                </a:ext>
              </a:extLst>
            </p:cNvPr>
            <p:cNvCxnSpPr>
              <a:cxnSpLocks/>
            </p:cNvCxnSpPr>
            <p:nvPr/>
          </p:nvCxnSpPr>
          <p:spPr>
            <a:xfrm>
              <a:off x="4986454" y="727143"/>
              <a:ext cx="0" cy="7038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451E853-A03D-45D2-8DB8-6420B1F89937}"/>
                    </a:ext>
                  </a:extLst>
                </p:cNvPr>
                <p:cNvSpPr txBox="1"/>
                <p:nvPr/>
              </p:nvSpPr>
              <p:spPr>
                <a:xfrm>
                  <a:off x="5092624" y="940570"/>
                  <a:ext cx="5221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451E853-A03D-45D2-8DB8-6420B1F89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624" y="940570"/>
                  <a:ext cx="522194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952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4D2F53F-A9C2-4EB4-B8C2-256B3D91FEB5}"/>
                    </a:ext>
                  </a:extLst>
                </p:cNvPr>
                <p:cNvSpPr txBox="1"/>
                <p:nvPr/>
              </p:nvSpPr>
              <p:spPr>
                <a:xfrm>
                  <a:off x="5102834" y="2571507"/>
                  <a:ext cx="3025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4D2F53F-A9C2-4EB4-B8C2-256B3D91F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2834" y="2571507"/>
                  <a:ext cx="30258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6000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6584532-27C6-4C93-BDC1-1658FD2F9A72}"/>
                    </a:ext>
                  </a:extLst>
                </p:cNvPr>
                <p:cNvSpPr txBox="1"/>
                <p:nvPr/>
              </p:nvSpPr>
              <p:spPr>
                <a:xfrm>
                  <a:off x="5102834" y="4202446"/>
                  <a:ext cx="5221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6584532-27C6-4C93-BDC1-1658FD2F9A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2834" y="4202446"/>
                  <a:ext cx="52219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9524" r="-2381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A11CAE6-3E5F-4642-A016-245E8434168D}"/>
                    </a:ext>
                  </a:extLst>
                </p:cNvPr>
                <p:cNvSpPr txBox="1"/>
                <p:nvPr/>
              </p:nvSpPr>
              <p:spPr>
                <a:xfrm>
                  <a:off x="5144320" y="5799604"/>
                  <a:ext cx="5221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A11CAE6-3E5F-4642-A016-245E843416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4320" y="5799604"/>
                  <a:ext cx="52219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9524" r="-2381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41A089C-F27B-4754-9FDF-478857FD2583}"/>
                </a:ext>
              </a:extLst>
            </p:cNvPr>
            <p:cNvCxnSpPr/>
            <p:nvPr/>
          </p:nvCxnSpPr>
          <p:spPr>
            <a:xfrm flipV="1">
              <a:off x="5746866" y="1846399"/>
              <a:ext cx="1055978" cy="440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A49CE99-6835-4C61-BAD9-18A6A9393489}"/>
                </a:ext>
              </a:extLst>
            </p:cNvPr>
            <p:cNvCxnSpPr/>
            <p:nvPr/>
          </p:nvCxnSpPr>
          <p:spPr>
            <a:xfrm flipV="1">
              <a:off x="5746866" y="3527831"/>
              <a:ext cx="1055978" cy="440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43717AC-7D3F-48AA-8A30-CD1397910103}"/>
                </a:ext>
              </a:extLst>
            </p:cNvPr>
            <p:cNvCxnSpPr/>
            <p:nvPr/>
          </p:nvCxnSpPr>
          <p:spPr>
            <a:xfrm flipV="1">
              <a:off x="5746866" y="5147609"/>
              <a:ext cx="1055978" cy="440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5DA00849-A7E0-43DA-BC61-AA9BC82DD953}"/>
                    </a:ext>
                  </a:extLst>
                </p:cNvPr>
                <p:cNvSpPr/>
                <p:nvPr/>
              </p:nvSpPr>
              <p:spPr>
                <a:xfrm>
                  <a:off x="9307708" y="1688143"/>
                  <a:ext cx="1138843" cy="31651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5DA00849-A7E0-43DA-BC61-AA9BC82DD9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7708" y="1688143"/>
                  <a:ext cx="1138843" cy="316511"/>
                </a:xfrm>
                <a:prstGeom prst="rect">
                  <a:avLst/>
                </a:prstGeom>
                <a:blipFill>
                  <a:blip r:embed="rId10"/>
                  <a:stretch>
                    <a:fillRect b="-10714"/>
                  </a:stretch>
                </a:blipFill>
                <a:ln>
                  <a:solidFill>
                    <a:schemeClr val="tx1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ED4A34AD-6589-4BE4-A34A-9BA0966B0138}"/>
                    </a:ext>
                  </a:extLst>
                </p:cNvPr>
                <p:cNvSpPr/>
                <p:nvPr/>
              </p:nvSpPr>
              <p:spPr>
                <a:xfrm>
                  <a:off x="9307708" y="3358416"/>
                  <a:ext cx="1138843" cy="31651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ED4A34AD-6589-4BE4-A34A-9BA0966B01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7708" y="3358416"/>
                  <a:ext cx="1138843" cy="316511"/>
                </a:xfrm>
                <a:prstGeom prst="rect">
                  <a:avLst/>
                </a:prstGeom>
                <a:blipFill>
                  <a:blip r:embed="rId11"/>
                  <a:stretch>
                    <a:fillRect b="-10714"/>
                  </a:stretch>
                </a:blipFill>
                <a:ln>
                  <a:solidFill>
                    <a:schemeClr val="tx1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07BC481-37A5-4156-8F3C-4A4087197608}"/>
                    </a:ext>
                  </a:extLst>
                </p:cNvPr>
                <p:cNvSpPr/>
                <p:nvPr/>
              </p:nvSpPr>
              <p:spPr>
                <a:xfrm>
                  <a:off x="9307709" y="4989354"/>
                  <a:ext cx="1138843" cy="31651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07BC481-37A5-4156-8F3C-4A40871976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7709" y="4989354"/>
                  <a:ext cx="1138843" cy="316511"/>
                </a:xfrm>
                <a:prstGeom prst="rect">
                  <a:avLst/>
                </a:prstGeom>
                <a:blipFill>
                  <a:blip r:embed="rId12"/>
                  <a:stretch>
                    <a:fillRect b="-12500"/>
                  </a:stretch>
                </a:blipFill>
                <a:ln>
                  <a:solidFill>
                    <a:schemeClr val="tx1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0781FBD-0550-43AC-9F48-AA828ABA8D19}"/>
                    </a:ext>
                  </a:extLst>
                </p:cNvPr>
                <p:cNvSpPr txBox="1"/>
                <p:nvPr/>
              </p:nvSpPr>
              <p:spPr>
                <a:xfrm>
                  <a:off x="6123564" y="1442544"/>
                  <a:ext cx="3025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0781FBD-0550-43AC-9F48-AA828ABA8D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3564" y="1442544"/>
                  <a:ext cx="302583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6000"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3471212-2362-43F0-BB7D-B5056BAC6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902922" y="4790101"/>
              <a:ext cx="603556" cy="32311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9C70C90-7D18-4471-9C2D-10E291121B27}"/>
                    </a:ext>
                  </a:extLst>
                </p:cNvPr>
                <p:cNvSpPr txBox="1"/>
                <p:nvPr/>
              </p:nvSpPr>
              <p:spPr>
                <a:xfrm>
                  <a:off x="6024966" y="3189178"/>
                  <a:ext cx="5221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609539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9C70C90-7D18-4471-9C2D-10E291121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966" y="3189178"/>
                  <a:ext cx="522194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2195" r="-2439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85E1B2D-4CA3-4A58-8D99-A1BAB62EBB26}"/>
                </a:ext>
              </a:extLst>
            </p:cNvPr>
            <p:cNvSpPr/>
            <p:nvPr/>
          </p:nvSpPr>
          <p:spPr>
            <a:xfrm>
              <a:off x="6810456" y="1422304"/>
              <a:ext cx="1407783" cy="92708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39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2BAD84F-C9C4-4385-8073-452BA128AD04}"/>
                </a:ext>
              </a:extLst>
            </p:cNvPr>
            <p:cNvSpPr/>
            <p:nvPr/>
          </p:nvSpPr>
          <p:spPr>
            <a:xfrm>
              <a:off x="6810456" y="3053242"/>
              <a:ext cx="1407783" cy="92708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39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C619353-562C-4284-848E-B5364735E249}"/>
                </a:ext>
              </a:extLst>
            </p:cNvPr>
            <p:cNvSpPr/>
            <p:nvPr/>
          </p:nvSpPr>
          <p:spPr>
            <a:xfrm>
              <a:off x="6810456" y="4684180"/>
              <a:ext cx="1407783" cy="92708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39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99041A3-456B-4C6C-8689-DBF3C52BAB83}"/>
                </a:ext>
              </a:extLst>
            </p:cNvPr>
            <p:cNvCxnSpPr/>
            <p:nvPr/>
          </p:nvCxnSpPr>
          <p:spPr>
            <a:xfrm flipV="1">
              <a:off x="8218239" y="1856400"/>
              <a:ext cx="1055978" cy="440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83C0025-9282-4110-8FA1-B81DC0458E0A}"/>
                </a:ext>
              </a:extLst>
            </p:cNvPr>
            <p:cNvCxnSpPr/>
            <p:nvPr/>
          </p:nvCxnSpPr>
          <p:spPr>
            <a:xfrm flipV="1">
              <a:off x="8218239" y="3537832"/>
              <a:ext cx="1055978" cy="440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C8F285C-1C14-4663-AE6C-DC0F75C7E881}"/>
                </a:ext>
              </a:extLst>
            </p:cNvPr>
            <p:cNvCxnSpPr/>
            <p:nvPr/>
          </p:nvCxnSpPr>
          <p:spPr>
            <a:xfrm flipV="1">
              <a:off x="8218239" y="5157610"/>
              <a:ext cx="1055978" cy="440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754F06-03AF-4944-B4DB-33041A3E7082}"/>
                </a:ext>
              </a:extLst>
            </p:cNvPr>
            <p:cNvSpPr txBox="1"/>
            <p:nvPr/>
          </p:nvSpPr>
          <p:spPr>
            <a:xfrm>
              <a:off x="9272733" y="940559"/>
              <a:ext cx="12087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09539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Word-level</a:t>
              </a:r>
            </a:p>
            <a:p>
              <a:pPr algn="ctr" defTabSz="609539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prediction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4D7C1FA-FDD5-468F-8916-5C72B42100B4}"/>
                </a:ext>
              </a:extLst>
            </p:cNvPr>
            <p:cNvSpPr txBox="1"/>
            <p:nvPr/>
          </p:nvSpPr>
          <p:spPr>
            <a:xfrm>
              <a:off x="7038351" y="1635322"/>
              <a:ext cx="9519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09539">
                <a:defRPr/>
              </a:pPr>
              <a:r>
                <a:rPr lang="en-US" dirty="0" err="1">
                  <a:solidFill>
                    <a:prstClr val="black"/>
                  </a:solidFill>
                  <a:latin typeface="Calibri"/>
                </a:rPr>
                <a:t>Softmax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7D5632B-1893-4C7A-9A9A-19AAE8AD31E0}"/>
                </a:ext>
              </a:extLst>
            </p:cNvPr>
            <p:cNvSpPr txBox="1"/>
            <p:nvPr/>
          </p:nvSpPr>
          <p:spPr>
            <a:xfrm>
              <a:off x="7039015" y="3347567"/>
              <a:ext cx="9519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09539">
                <a:defRPr/>
              </a:pPr>
              <a:r>
                <a:rPr lang="en-US" dirty="0" err="1">
                  <a:solidFill>
                    <a:prstClr val="black"/>
                  </a:solidFill>
                  <a:latin typeface="Calibri"/>
                </a:rPr>
                <a:t>Softmax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328EDF9-4641-49A3-9942-36FDE5A103C9}"/>
                </a:ext>
              </a:extLst>
            </p:cNvPr>
            <p:cNvSpPr txBox="1"/>
            <p:nvPr/>
          </p:nvSpPr>
          <p:spPr>
            <a:xfrm>
              <a:off x="7019843" y="4962943"/>
              <a:ext cx="9519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09539">
                <a:defRPr/>
              </a:pPr>
              <a:r>
                <a:rPr lang="en-US" dirty="0" err="1">
                  <a:solidFill>
                    <a:prstClr val="black"/>
                  </a:solidFill>
                  <a:latin typeface="Calibri"/>
                </a:rPr>
                <a:t>Softmax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80C6AA0-F4F8-4BC0-BCCF-3B37227AFB27}"/>
                </a:ext>
              </a:extLst>
            </p:cNvPr>
            <p:cNvSpPr txBox="1"/>
            <p:nvPr/>
          </p:nvSpPr>
          <p:spPr>
            <a:xfrm>
              <a:off x="4484070" y="1562680"/>
              <a:ext cx="9940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09539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Neural</a:t>
              </a:r>
            </a:p>
            <a:p>
              <a:pPr algn="ctr" defTabSz="609539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Network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90ECD5-D9DE-483B-BA30-625F968CBC54}"/>
                </a:ext>
              </a:extLst>
            </p:cNvPr>
            <p:cNvSpPr txBox="1"/>
            <p:nvPr/>
          </p:nvSpPr>
          <p:spPr>
            <a:xfrm>
              <a:off x="4538594" y="3189178"/>
              <a:ext cx="9940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09539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Neural</a:t>
              </a:r>
            </a:p>
            <a:p>
              <a:pPr algn="ctr" defTabSz="609539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Network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97653DD-6C3D-4BCF-AD1C-9C8EC441708C}"/>
                </a:ext>
              </a:extLst>
            </p:cNvPr>
            <p:cNvSpPr txBox="1"/>
            <p:nvPr/>
          </p:nvSpPr>
          <p:spPr>
            <a:xfrm>
              <a:off x="4559612" y="4822202"/>
              <a:ext cx="9940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09539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Neural</a:t>
              </a:r>
            </a:p>
            <a:p>
              <a:pPr algn="ctr" defTabSz="609539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Network</a:t>
              </a: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4BA24B05-1765-5671-25D6-42E7D329F69F}"/>
              </a:ext>
            </a:extLst>
          </p:cNvPr>
          <p:cNvSpPr txBox="1">
            <a:spLocks/>
          </p:cNvSpPr>
          <p:nvPr/>
        </p:nvSpPr>
        <p:spPr>
          <a:xfrm>
            <a:off x="838200" y="83561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Making predictions from sequences</a:t>
            </a:r>
            <a:br>
              <a:rPr lang="en-US" dirty="0"/>
            </a:br>
            <a:r>
              <a:rPr lang="en-US" sz="2800" dirty="0"/>
              <a:t>Option 3: RNN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A3ED6-4A8B-37C9-386B-9DD0BE6C4774}"/>
              </a:ext>
            </a:extLst>
          </p:cNvPr>
          <p:cNvSpPr txBox="1"/>
          <p:nvPr/>
        </p:nvSpPr>
        <p:spPr>
          <a:xfrm>
            <a:off x="8702630" y="5960997"/>
            <a:ext cx="3089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Also not good at learning long-range dependencies!</a:t>
            </a:r>
          </a:p>
        </p:txBody>
      </p:sp>
    </p:spTree>
    <p:extLst>
      <p:ext uri="{BB962C8B-B14F-4D97-AF65-F5344CB8AC3E}">
        <p14:creationId xmlns:p14="http://schemas.microsoft.com/office/powerpoint/2010/main" val="77348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EFD9-BFCB-598F-7EA7-CBB7F978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Attention is all you need </a:t>
            </a:r>
            <a:br>
              <a:rPr lang="en-US" i="1" dirty="0"/>
            </a:br>
            <a:r>
              <a:rPr lang="en-US" sz="2000" dirty="0"/>
              <a:t>(Vaswani et al., 2017)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77515-8DC3-4E51-8B9E-7E008FAC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“Recurrent neural networks … have been firmly established as state of the art approaches in sequence modeling and transduction problems such as language modeling and machine translation.”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“[Their] inherently sequential nature precludes parallelization within training examples, which becomes critical at longer sequence lengths, as memory constraints limit batching across examples.”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“Attention mechanisms … [allow] modeling of dependencies without regard to their distance in the input or output sequences.”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“In this work we propose the Transformer, a model architecture eschewing recurrence and instead relying entirely on an attention mechanism to draw global dependencies between input and output.”</a:t>
            </a:r>
          </a:p>
        </p:txBody>
      </p:sp>
    </p:spTree>
    <p:extLst>
      <p:ext uri="{BB962C8B-B14F-4D97-AF65-F5344CB8AC3E}">
        <p14:creationId xmlns:p14="http://schemas.microsoft.com/office/powerpoint/2010/main" val="241558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E521-668E-4485-2DE4-6E4A55694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6FCA2-6B1F-FA87-E4A3-A6A14E8E0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93259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i="1" dirty="0"/>
              <a:t>A neural network architecture based on the attention mechanism and thus able to capture long-range dependencies</a:t>
            </a:r>
          </a:p>
          <a:p>
            <a:endParaRPr lang="en-US" dirty="0"/>
          </a:p>
          <a:p>
            <a:r>
              <a:rPr lang="en-US" dirty="0"/>
              <a:t>This is an active area of study with many variations</a:t>
            </a:r>
          </a:p>
          <a:p>
            <a:endParaRPr lang="en-US" dirty="0"/>
          </a:p>
          <a:p>
            <a:r>
              <a:rPr lang="en-US" dirty="0"/>
              <a:t>We will focus on underlying principles more than specific architectures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338E0-DD45-6ACC-3655-88EABCE14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247" y="651218"/>
            <a:ext cx="4052553" cy="584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3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CF354-ED98-A837-EA6E-344BB091F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CCC93-A6FD-E5D1-0964-7BE743594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44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91415-A331-12CC-3BD3-F417CAE8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F794-3628-F1D5-DAFE-A2DD9DFD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1D2F6D7-FBC4-46F8-C654-3CFB414392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Input: 		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Mean pooling:	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Max pooling: set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th element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(i.e.,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)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sSubSup>
                      <m:sSubSup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now use logistic regression or an MLP to make predictions from our fixed-length vector.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1D2F6D7-FBC4-46F8-C654-3CFB414392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76E991-9191-9CAF-2648-D55C734DF4BD}"/>
                  </a:ext>
                </a:extLst>
              </p:cNvPr>
              <p:cNvSpPr txBox="1"/>
              <p:nvPr/>
            </p:nvSpPr>
            <p:spPr>
              <a:xfrm>
                <a:off x="10668001" y="5846544"/>
                <a:ext cx="12355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(1 x d)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(L x d)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76E991-9191-9CAF-2648-D55C734DF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1" y="5846544"/>
                <a:ext cx="1235531" cy="646331"/>
              </a:xfrm>
              <a:prstGeom prst="rect">
                <a:avLst/>
              </a:prstGeom>
              <a:blipFill>
                <a:blip r:embed="rId3"/>
                <a:stretch>
                  <a:fillRect t="-3846" r="-3061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76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8AAD-DCFF-BC82-999E-DDEBDFBC2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F33D-AB0A-FC98-8B66-4C273E6B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 way to learn how to pool?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2752C35-E318-B6A6-9B68-48E2F2906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Input: 		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Weighted pooling: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, 	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Assign more weight to vectors that turn out to be important for a given prediction task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2752C35-E318-B6A6-9B68-48E2F2906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88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25247-35BD-5F04-14FE-386C2B27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155E-38BC-9BE8-BE3B-6FE71CD85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 way to learn how to pool?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4A42174-1B14-3BF8-E52C-86FD5C9C6D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Input: 		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Weighted pooling: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, 	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softmax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 </a:t>
                </a:r>
                <a:r>
                  <a:rPr lang="en-US" b="1" i="1" dirty="0"/>
                  <a:t>q</a:t>
                </a:r>
                <a:r>
                  <a:rPr lang="en-US" dirty="0"/>
                  <a:t> is a learnable “query” vector.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may then define output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- This is simple linear attention; there are many variants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4A42174-1B14-3BF8-E52C-86FD5C9C6D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206" t="-3198" r="-241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3A53FF-355E-33FC-323F-57D9C21F36B8}"/>
                  </a:ext>
                </a:extLst>
              </p:cNvPr>
              <p:cNvSpPr txBox="1"/>
              <p:nvPr/>
            </p:nvSpPr>
            <p:spPr>
              <a:xfrm>
                <a:off x="10544433" y="5569545"/>
                <a:ext cx="123553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(1 x d)</a:t>
                </a:r>
              </a:p>
              <a:p>
                <a:r>
                  <a:rPr lang="en-US" b="1" i="1" dirty="0"/>
                  <a:t>q</a:t>
                </a:r>
                <a:r>
                  <a:rPr lang="en-US" dirty="0"/>
                  <a:t> is (1 x d)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(L x d)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3A53FF-355E-33FC-323F-57D9C21F3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4433" y="5569545"/>
                <a:ext cx="1235531" cy="923330"/>
              </a:xfrm>
              <a:prstGeom prst="rect">
                <a:avLst/>
              </a:prstGeom>
              <a:blipFill>
                <a:blip r:embed="rId4"/>
                <a:stretch>
                  <a:fillRect l="-4082" t="-2703" r="-3061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851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588E-E5A4-8DEC-39C8-1D1769A5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of simple linear attention</a:t>
            </a:r>
            <a:br>
              <a:rPr lang="en-US" dirty="0"/>
            </a:br>
            <a:r>
              <a:rPr lang="en-US" sz="2800" dirty="0"/>
              <a:t>(note that conventions vary on the ordering of dimensions)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20EB038-3433-EC61-B170-48D0590F7B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4165728"/>
                  </p:ext>
                </p:extLst>
              </p:nvPr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20EB038-3433-EC61-B170-48D0590F7B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4165728"/>
                  </p:ext>
                </p:extLst>
              </p:nvPr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0" t="-497368" r="-71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97368" r="-59268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000" t="-497368" r="-5075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561" t="-497368" r="-39512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500" t="-497368" r="-3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7500" t="-497368" r="-2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2683" t="-497368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0000" t="-497368" r="-2500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7D6CA1-36DE-A9A8-85A4-042D465F91EB}"/>
                  </a:ext>
                </a:extLst>
              </p:cNvPr>
              <p:cNvSpPr txBox="1"/>
              <p:nvPr/>
            </p:nvSpPr>
            <p:spPr>
              <a:xfrm>
                <a:off x="10544433" y="5569545"/>
                <a:ext cx="11745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(d x 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7D6CA1-36DE-A9A8-85A4-042D465F9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4433" y="5569545"/>
                <a:ext cx="1174552" cy="646331"/>
              </a:xfrm>
              <a:prstGeom prst="rect">
                <a:avLst/>
              </a:prstGeom>
              <a:blipFill>
                <a:blip r:embed="rId3"/>
                <a:stretch>
                  <a:fillRect l="-4301" t="-3846" r="-322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E449B7-DAFD-35D4-6AE6-3E4D0EED9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326036"/>
              </p:ext>
            </p:extLst>
          </p:nvPr>
        </p:nvGraphicFramePr>
        <p:xfrm>
          <a:off x="2090352" y="2682361"/>
          <a:ext cx="511089" cy="23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89">
                  <a:extLst>
                    <a:ext uri="{9D8B030D-6E8A-4147-A177-3AD203B41FA5}">
                      <a16:colId xmlns:a16="http://schemas.microsoft.com/office/drawing/2014/main" val="4091677407"/>
                    </a:ext>
                  </a:extLst>
                </a:gridCol>
              </a:tblGrid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2550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2663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59849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10135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321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1CF3D6-7CFD-0CBA-50F5-FDF5617ACBCE}"/>
                  </a:ext>
                </a:extLst>
              </p:cNvPr>
              <p:cNvSpPr txBox="1"/>
              <p:nvPr/>
            </p:nvSpPr>
            <p:spPr>
              <a:xfrm>
                <a:off x="2090351" y="2313029"/>
                <a:ext cx="511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1CF3D6-7CFD-0CBA-50F5-FDF5617AC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351" y="2313029"/>
                <a:ext cx="511089" cy="369332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3D8E60-1853-8AC1-75E3-4CB15DB722A7}"/>
                  </a:ext>
                </a:extLst>
              </p:cNvPr>
              <p:cNvSpPr txBox="1"/>
              <p:nvPr/>
            </p:nvSpPr>
            <p:spPr>
              <a:xfrm>
                <a:off x="6836473" y="2767913"/>
                <a:ext cx="4517327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Compute dot products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Apply </a:t>
                </a:r>
                <a:r>
                  <a:rPr lang="en-US" dirty="0" err="1"/>
                  <a:t>softmax</a:t>
                </a:r>
                <a:r>
                  <a:rPr lang="en-US" dirty="0"/>
                  <a:t> to obtain weights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Our query is looking for similar-looking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query is learnable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3D8E60-1853-8AC1-75E3-4CB15DB72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73" y="2767913"/>
                <a:ext cx="4517327" cy="2031325"/>
              </a:xfrm>
              <a:prstGeom prst="rect">
                <a:avLst/>
              </a:prstGeom>
              <a:blipFill>
                <a:blip r:embed="rId5"/>
                <a:stretch>
                  <a:fillRect l="-840" t="-621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02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F6EC1-F16C-C79F-2A72-E958D9936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</a:t>
            </a:r>
            <a:r>
              <a:rPr lang="en-US" b="1" dirty="0"/>
              <a:t>self</a:t>
            </a:r>
            <a:r>
              <a:rPr lang="en-US" dirty="0"/>
              <a:t>-attention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6A84A-DF66-5146-C378-74044E0513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can we refine our representations of words based on surrounding words?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Let’s build on our simple linear attention mechanism.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Consider output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𝑄𝑋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where </a:t>
                </a:r>
                <a:r>
                  <a:rPr lang="en-US" i="1" dirty="0"/>
                  <a:t>Q</a:t>
                </a:r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learnable “query” vectors, </a:t>
                </a:r>
                <a:r>
                  <a:rPr lang="en-US" i="1" dirty="0"/>
                  <a:t>one per position in the sequence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6A84A-DF66-5146-C378-74044E0513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5FC16E-DE51-E12E-5080-36C1277049D7}"/>
                  </a:ext>
                </a:extLst>
              </p:cNvPr>
              <p:cNvSpPr txBox="1"/>
              <p:nvPr/>
            </p:nvSpPr>
            <p:spPr>
              <a:xfrm>
                <a:off x="10736034" y="5413026"/>
                <a:ext cx="123553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(1 x d)</a:t>
                </a:r>
              </a:p>
              <a:p>
                <a:r>
                  <a:rPr lang="en-US" i="1" dirty="0"/>
                  <a:t>Q</a:t>
                </a:r>
                <a:r>
                  <a:rPr lang="en-US" dirty="0"/>
                  <a:t> is (L x d)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(L x d)</a:t>
                </a:r>
              </a:p>
              <a:p>
                <a:r>
                  <a:rPr lang="en-US" i="1" dirty="0"/>
                  <a:t>Y</a:t>
                </a:r>
                <a:r>
                  <a:rPr lang="en-US" dirty="0"/>
                  <a:t> is (L x d)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5FC16E-DE51-E12E-5080-36C127704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6034" y="5413026"/>
                <a:ext cx="1235531" cy="1200329"/>
              </a:xfrm>
              <a:prstGeom prst="rect">
                <a:avLst/>
              </a:prstGeom>
              <a:blipFill>
                <a:blip r:embed="rId4"/>
                <a:stretch>
                  <a:fillRect l="-4082" t="-2105" r="-3061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1B74BA-AE23-7F48-7767-1C597B00661A}"/>
                  </a:ext>
                </a:extLst>
              </p:cNvPr>
              <p:cNvSpPr txBox="1"/>
              <p:nvPr/>
            </p:nvSpPr>
            <p:spPr>
              <a:xfrm>
                <a:off x="650791" y="5544054"/>
                <a:ext cx="373997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1B74BA-AE23-7F48-7767-1C597B006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91" y="5544054"/>
                <a:ext cx="3739976" cy="461665"/>
              </a:xfrm>
              <a:prstGeom prst="rect">
                <a:avLst/>
              </a:prstGeom>
              <a:blipFill>
                <a:blip r:embed="rId5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511E45CA-B76A-FC60-885E-9A6120DC49B4}"/>
              </a:ext>
            </a:extLst>
          </p:cNvPr>
          <p:cNvSpPr/>
          <p:nvPr/>
        </p:nvSpPr>
        <p:spPr>
          <a:xfrm rot="5400000">
            <a:off x="2523209" y="5218697"/>
            <a:ext cx="308178" cy="187822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26C9D8-814F-EA50-7E8C-430C56753163}"/>
              </a:ext>
            </a:extLst>
          </p:cNvPr>
          <p:cNvSpPr txBox="1"/>
          <p:nvPr/>
        </p:nvSpPr>
        <p:spPr>
          <a:xfrm>
            <a:off x="2520779" y="6311900"/>
            <a:ext cx="690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contains a vector of attention weights </a:t>
            </a:r>
            <a:r>
              <a:rPr lang="en-US" i="1" dirty="0"/>
              <a:t>for each word in the sequence</a:t>
            </a:r>
          </a:p>
        </p:txBody>
      </p:sp>
    </p:spTree>
    <p:extLst>
      <p:ext uri="{BB962C8B-B14F-4D97-AF65-F5344CB8AC3E}">
        <p14:creationId xmlns:p14="http://schemas.microsoft.com/office/powerpoint/2010/main" val="2982369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22442-9C3C-E069-38F5-471245D7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B398-4F1B-8D2C-AC03-C50DDCFA9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of simple </a:t>
            </a:r>
            <a:r>
              <a:rPr lang="en-US" b="1" dirty="0"/>
              <a:t>self</a:t>
            </a:r>
            <a:r>
              <a:rPr lang="en-US" dirty="0"/>
              <a:t>-attention</a:t>
            </a:r>
            <a:br>
              <a:rPr lang="en-US" dirty="0"/>
            </a:br>
            <a:r>
              <a:rPr lang="en-US" sz="2800" dirty="0"/>
              <a:t>(note that conventions vary on the ordering of dimensions)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84C8355-B590-87AF-BC96-75777C77E27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84C8355-B590-87AF-BC96-75777C77E27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0" t="-497368" r="-71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97368" r="-59268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000" t="-497368" r="-5075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561" t="-497368" r="-39512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500" t="-497368" r="-3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7500" t="-497368" r="-2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2683" t="-497368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0000" t="-497368" r="-2500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C1E74E-A65E-49B3-5E31-7BF157BA89FB}"/>
                  </a:ext>
                </a:extLst>
              </p:cNvPr>
              <p:cNvSpPr txBox="1"/>
              <p:nvPr/>
            </p:nvSpPr>
            <p:spPr>
              <a:xfrm>
                <a:off x="10544433" y="5569545"/>
                <a:ext cx="11745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(d x 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C1E74E-A65E-49B3-5E31-7BF157BA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4433" y="5569545"/>
                <a:ext cx="1174552" cy="646331"/>
              </a:xfrm>
              <a:prstGeom prst="rect">
                <a:avLst/>
              </a:prstGeom>
              <a:blipFill>
                <a:blip r:embed="rId3"/>
                <a:stretch>
                  <a:fillRect l="-4301" t="-3846" r="-322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03CD9C-1833-0754-F01E-9BDB3B6BC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481370"/>
              </p:ext>
            </p:extLst>
          </p:nvPr>
        </p:nvGraphicFramePr>
        <p:xfrm>
          <a:off x="1563130" y="2698837"/>
          <a:ext cx="511089" cy="23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89">
                  <a:extLst>
                    <a:ext uri="{9D8B030D-6E8A-4147-A177-3AD203B41FA5}">
                      <a16:colId xmlns:a16="http://schemas.microsoft.com/office/drawing/2014/main" val="4091677407"/>
                    </a:ext>
                  </a:extLst>
                </a:gridCol>
              </a:tblGrid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2550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2663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59849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10135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321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189146-BD1C-4C42-F931-2648D4354252}"/>
                  </a:ext>
                </a:extLst>
              </p:cNvPr>
              <p:cNvSpPr txBox="1"/>
              <p:nvPr/>
            </p:nvSpPr>
            <p:spPr>
              <a:xfrm>
                <a:off x="1563129" y="2329505"/>
                <a:ext cx="511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189146-BD1C-4C42-F931-2648D4354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129" y="2329505"/>
                <a:ext cx="511089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CCDE50-9C9F-8457-7053-2D0AD0EFD45E}"/>
                  </a:ext>
                </a:extLst>
              </p:cNvPr>
              <p:cNvSpPr txBox="1"/>
              <p:nvPr/>
            </p:nvSpPr>
            <p:spPr>
              <a:xfrm>
                <a:off x="6836473" y="2767912"/>
                <a:ext cx="45173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are performing simple linear attention </a:t>
                </a:r>
                <a:r>
                  <a:rPr lang="en-US" b="1" i="1" dirty="0"/>
                  <a:t>for</a:t>
                </a:r>
                <a:r>
                  <a:rPr lang="en-US" i="1" dirty="0"/>
                  <a:t> </a:t>
                </a:r>
                <a:r>
                  <a:rPr lang="en-US" b="1" i="1" dirty="0"/>
                  <a:t>each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update its representation based on other words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CCDE50-9C9F-8457-7053-2D0AD0EFD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73" y="2767912"/>
                <a:ext cx="4517327" cy="923330"/>
              </a:xfrm>
              <a:prstGeom prst="rect">
                <a:avLst/>
              </a:prstGeom>
              <a:blipFill>
                <a:blip r:embed="rId5"/>
                <a:stretch>
                  <a:fillRect l="-840" t="-1351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206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E2093-E59E-3A76-D708-4FACF7A0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404E-A3BE-0A7E-F20C-298999AA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of simple </a:t>
            </a:r>
            <a:r>
              <a:rPr lang="en-US" b="1" dirty="0"/>
              <a:t>self</a:t>
            </a:r>
            <a:r>
              <a:rPr lang="en-US" dirty="0"/>
              <a:t>-attention</a:t>
            </a:r>
            <a:br>
              <a:rPr lang="en-US" dirty="0"/>
            </a:br>
            <a:r>
              <a:rPr lang="en-US" sz="2800" dirty="0"/>
              <a:t>(note that conventions vary on the ordering of dimensions)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D96110B-0A31-E185-8796-F9F5C68D65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D96110B-0A31-E185-8796-F9F5C68D65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0" t="-497368" r="-71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97368" r="-59268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000" t="-497368" r="-5075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561" t="-497368" r="-39512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500" t="-497368" r="-3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7500" t="-497368" r="-2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2683" t="-497368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0000" t="-497368" r="-2500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D2BB5F-736B-9A99-9290-247E94A3C813}"/>
                  </a:ext>
                </a:extLst>
              </p:cNvPr>
              <p:cNvSpPr txBox="1"/>
              <p:nvPr/>
            </p:nvSpPr>
            <p:spPr>
              <a:xfrm>
                <a:off x="10544433" y="5569545"/>
                <a:ext cx="11745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(d x 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D2BB5F-736B-9A99-9290-247E94A3C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4433" y="5569545"/>
                <a:ext cx="1174552" cy="646331"/>
              </a:xfrm>
              <a:prstGeom prst="rect">
                <a:avLst/>
              </a:prstGeom>
              <a:blipFill>
                <a:blip r:embed="rId3"/>
                <a:stretch>
                  <a:fillRect l="-4301" t="-3846" r="-322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F7A359-8006-C638-4B53-16E577794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556108"/>
              </p:ext>
            </p:extLst>
          </p:nvPr>
        </p:nvGraphicFramePr>
        <p:xfrm>
          <a:off x="2057401" y="2698837"/>
          <a:ext cx="511089" cy="23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89">
                  <a:extLst>
                    <a:ext uri="{9D8B030D-6E8A-4147-A177-3AD203B41FA5}">
                      <a16:colId xmlns:a16="http://schemas.microsoft.com/office/drawing/2014/main" val="4091677407"/>
                    </a:ext>
                  </a:extLst>
                </a:gridCol>
              </a:tblGrid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2550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2663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59849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10135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321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2C255E-E0C6-CB9C-0BE5-DB747BE8733A}"/>
                  </a:ext>
                </a:extLst>
              </p:cNvPr>
              <p:cNvSpPr txBox="1"/>
              <p:nvPr/>
            </p:nvSpPr>
            <p:spPr>
              <a:xfrm>
                <a:off x="2057400" y="2329505"/>
                <a:ext cx="511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2C255E-E0C6-CB9C-0BE5-DB747BE87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329505"/>
                <a:ext cx="511089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A0ED8A-1958-2625-954A-5EF3CA0C8E21}"/>
                  </a:ext>
                </a:extLst>
              </p:cNvPr>
              <p:cNvSpPr txBox="1"/>
              <p:nvPr/>
            </p:nvSpPr>
            <p:spPr>
              <a:xfrm>
                <a:off x="6836473" y="2767912"/>
                <a:ext cx="45173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are performing simple linear attention </a:t>
                </a:r>
                <a:r>
                  <a:rPr lang="en-US" b="1" i="1" dirty="0"/>
                  <a:t>for</a:t>
                </a:r>
                <a:r>
                  <a:rPr lang="en-US" i="1" dirty="0"/>
                  <a:t> </a:t>
                </a:r>
                <a:r>
                  <a:rPr lang="en-US" b="1" i="1" dirty="0"/>
                  <a:t>each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update its representation based on other words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A0ED8A-1958-2625-954A-5EF3CA0C8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73" y="2767912"/>
                <a:ext cx="4517327" cy="923330"/>
              </a:xfrm>
              <a:prstGeom prst="rect">
                <a:avLst/>
              </a:prstGeom>
              <a:blipFill>
                <a:blip r:embed="rId5"/>
                <a:stretch>
                  <a:fillRect l="-840" t="-1351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816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C6006-43D4-A331-97BE-3D57725C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73B6-58B7-AC62-0E19-6C78079E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of simple </a:t>
            </a:r>
            <a:r>
              <a:rPr lang="en-US" b="1" dirty="0"/>
              <a:t>self</a:t>
            </a:r>
            <a:r>
              <a:rPr lang="en-US" dirty="0"/>
              <a:t>-attention</a:t>
            </a:r>
            <a:br>
              <a:rPr lang="en-US" dirty="0"/>
            </a:br>
            <a:r>
              <a:rPr lang="en-US" sz="2800" dirty="0"/>
              <a:t>(note that conventions vary on the ordering of dimensions)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040FD03-8601-37AF-2B07-09B055E853B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040FD03-8601-37AF-2B07-09B055E853B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0" t="-497368" r="-71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97368" r="-59268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000" t="-497368" r="-5075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561" t="-497368" r="-39512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500" t="-497368" r="-3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7500" t="-497368" r="-2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2683" t="-497368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0000" t="-497368" r="-2500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C82EB1-BA8D-7823-CE11-C7774D37992F}"/>
                  </a:ext>
                </a:extLst>
              </p:cNvPr>
              <p:cNvSpPr txBox="1"/>
              <p:nvPr/>
            </p:nvSpPr>
            <p:spPr>
              <a:xfrm>
                <a:off x="10544433" y="5569545"/>
                <a:ext cx="11745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(d x 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C82EB1-BA8D-7823-CE11-C7774D379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4433" y="5569545"/>
                <a:ext cx="1174552" cy="646331"/>
              </a:xfrm>
              <a:prstGeom prst="rect">
                <a:avLst/>
              </a:prstGeom>
              <a:blipFill>
                <a:blip r:embed="rId3"/>
                <a:stretch>
                  <a:fillRect l="-4301" t="-3846" r="-322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0072C7-F649-FEB0-5A06-EAE336206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869246"/>
              </p:ext>
            </p:extLst>
          </p:nvPr>
        </p:nvGraphicFramePr>
        <p:xfrm>
          <a:off x="5163066" y="2690599"/>
          <a:ext cx="511089" cy="23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89">
                  <a:extLst>
                    <a:ext uri="{9D8B030D-6E8A-4147-A177-3AD203B41FA5}">
                      <a16:colId xmlns:a16="http://schemas.microsoft.com/office/drawing/2014/main" val="4091677407"/>
                    </a:ext>
                  </a:extLst>
                </a:gridCol>
              </a:tblGrid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2550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2663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59849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10135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321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B4831C-5ABC-4966-7444-006E8A8CBC1B}"/>
                  </a:ext>
                </a:extLst>
              </p:cNvPr>
              <p:cNvSpPr txBox="1"/>
              <p:nvPr/>
            </p:nvSpPr>
            <p:spPr>
              <a:xfrm>
                <a:off x="5163065" y="2321267"/>
                <a:ext cx="511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B4831C-5ABC-4966-7444-006E8A8CB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065" y="2321267"/>
                <a:ext cx="511089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956A4-88BE-50D8-56EC-C5DDE27C3175}"/>
                  </a:ext>
                </a:extLst>
              </p:cNvPr>
              <p:cNvSpPr txBox="1"/>
              <p:nvPr/>
            </p:nvSpPr>
            <p:spPr>
              <a:xfrm>
                <a:off x="6836473" y="2767912"/>
                <a:ext cx="45173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are performing simple linear attention </a:t>
                </a:r>
                <a:r>
                  <a:rPr lang="en-US" b="1" i="1" dirty="0"/>
                  <a:t>for</a:t>
                </a:r>
                <a:r>
                  <a:rPr lang="en-US" i="1" dirty="0"/>
                  <a:t> </a:t>
                </a:r>
                <a:r>
                  <a:rPr lang="en-US" b="1" i="1" dirty="0"/>
                  <a:t>each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update its representation based on other words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956A4-88BE-50D8-56EC-C5DDE27C3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73" y="2767912"/>
                <a:ext cx="4517327" cy="923330"/>
              </a:xfrm>
              <a:prstGeom prst="rect">
                <a:avLst/>
              </a:prstGeom>
              <a:blipFill>
                <a:blip r:embed="rId5"/>
                <a:stretch>
                  <a:fillRect l="-840" t="-1351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797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B8B3B-0A4A-4F6F-DCC5-7791241E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D6AD-057F-A206-2645-92BBDC004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of simple </a:t>
            </a:r>
            <a:r>
              <a:rPr lang="en-US" b="1" dirty="0"/>
              <a:t>self</a:t>
            </a:r>
            <a:r>
              <a:rPr lang="en-US" dirty="0"/>
              <a:t>-attention</a:t>
            </a:r>
            <a:br>
              <a:rPr lang="en-US" dirty="0"/>
            </a:br>
            <a:r>
              <a:rPr lang="en-US" sz="2800" dirty="0"/>
              <a:t>(note that conventions vary on the ordering of dimensions)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13B9F56-5DB7-7217-E5F5-8641380C49E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13B9F56-5DB7-7217-E5F5-8641380C49E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0" t="-497368" r="-71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97368" r="-59268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000" t="-497368" r="-5075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561" t="-497368" r="-39512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500" t="-497368" r="-3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7500" t="-497368" r="-2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2683" t="-497368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0000" t="-497368" r="-2500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2DC3EE-E3AF-25F0-B614-B6717F7831E2}"/>
                  </a:ext>
                </a:extLst>
              </p:cNvPr>
              <p:cNvSpPr txBox="1"/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(d x 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2DC3EE-E3AF-25F0-B614-B6717F783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blipFill>
                <a:blip r:embed="rId3"/>
                <a:stretch>
                  <a:fillRect l="-5376" t="-3846" r="-322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68AB0C-9D1B-AC4F-D35C-36E365B52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340237"/>
              </p:ext>
            </p:extLst>
          </p:nvPr>
        </p:nvGraphicFramePr>
        <p:xfrm>
          <a:off x="1571368" y="2707075"/>
          <a:ext cx="511089" cy="23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89">
                  <a:extLst>
                    <a:ext uri="{9D8B030D-6E8A-4147-A177-3AD203B41FA5}">
                      <a16:colId xmlns:a16="http://schemas.microsoft.com/office/drawing/2014/main" val="4091677407"/>
                    </a:ext>
                  </a:extLst>
                </a:gridCol>
              </a:tblGrid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2550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2663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59849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10135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321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788F04-ED41-EC78-29C0-59BE539C21CA}"/>
                  </a:ext>
                </a:extLst>
              </p:cNvPr>
              <p:cNvSpPr txBox="1"/>
              <p:nvPr/>
            </p:nvSpPr>
            <p:spPr>
              <a:xfrm>
                <a:off x="1571367" y="2337743"/>
                <a:ext cx="511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788F04-ED41-EC78-29C0-59BE539C2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367" y="2337743"/>
                <a:ext cx="511089" cy="369332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170BCA-8EC8-5770-08E7-356F5CF9A244}"/>
                  </a:ext>
                </a:extLst>
              </p:cNvPr>
              <p:cNvSpPr txBox="1"/>
              <p:nvPr/>
            </p:nvSpPr>
            <p:spPr>
              <a:xfrm>
                <a:off x="6836473" y="2767912"/>
                <a:ext cx="4517327" cy="260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are performing simple linear attention </a:t>
                </a:r>
                <a:r>
                  <a:rPr lang="en-US" b="1" i="1" dirty="0"/>
                  <a:t>for</a:t>
                </a:r>
                <a:r>
                  <a:rPr lang="en-US" i="1" dirty="0"/>
                  <a:t> </a:t>
                </a:r>
                <a:r>
                  <a:rPr lang="en-US" b="1" i="1" dirty="0"/>
                  <a:t>each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update its representation based on other words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have a 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corresponding to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query is assessing the importance of each other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to the representation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170BCA-8EC8-5770-08E7-356F5CF9A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73" y="2767912"/>
                <a:ext cx="4517327" cy="2607637"/>
              </a:xfrm>
              <a:prstGeom prst="rect">
                <a:avLst/>
              </a:prstGeom>
              <a:blipFill>
                <a:blip r:embed="rId5"/>
                <a:stretch>
                  <a:fillRect l="-840" t="-483" r="-1681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553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C4B0E-4871-1D73-6AE4-457B374CE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422E-29A5-38E1-5879-4995702C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of simple </a:t>
            </a:r>
            <a:r>
              <a:rPr lang="en-US" b="1" dirty="0"/>
              <a:t>self</a:t>
            </a:r>
            <a:r>
              <a:rPr lang="en-US" dirty="0"/>
              <a:t>-attention</a:t>
            </a:r>
            <a:br>
              <a:rPr lang="en-US" dirty="0"/>
            </a:br>
            <a:r>
              <a:rPr lang="en-US" sz="2800" dirty="0"/>
              <a:t>(note that conventions vary on the ordering of dimensions)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1B07B5A-4E63-FBCD-0DAA-75FDBCF2DEF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1B07B5A-4E63-FBCD-0DAA-75FDBCF2DEF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0" t="-497368" r="-71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97368" r="-59268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000" t="-497368" r="-5075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561" t="-497368" r="-39512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500" t="-497368" r="-3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7500" t="-497368" r="-2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2683" t="-497368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0000" t="-497368" r="-2500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F4BA7C-E627-4E8C-262F-5A0B171DF1E5}"/>
                  </a:ext>
                </a:extLst>
              </p:cNvPr>
              <p:cNvSpPr txBox="1"/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(d x 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F4BA7C-E627-4E8C-262F-5A0B171DF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blipFill>
                <a:blip r:embed="rId3"/>
                <a:stretch>
                  <a:fillRect l="-5376" t="-3846" r="-322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C0B63F-C3D9-94B3-9913-0936FC3A7E47}"/>
              </a:ext>
            </a:extLst>
          </p:cNvPr>
          <p:cNvGraphicFramePr>
            <a:graphicFrameLocks noGrp="1"/>
          </p:cNvGraphicFramePr>
          <p:nvPr/>
        </p:nvGraphicFramePr>
        <p:xfrm>
          <a:off x="2090352" y="2682361"/>
          <a:ext cx="511089" cy="23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89">
                  <a:extLst>
                    <a:ext uri="{9D8B030D-6E8A-4147-A177-3AD203B41FA5}">
                      <a16:colId xmlns:a16="http://schemas.microsoft.com/office/drawing/2014/main" val="4091677407"/>
                    </a:ext>
                  </a:extLst>
                </a:gridCol>
              </a:tblGrid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2550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2663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59849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10135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321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36C62F-5AFB-6D04-A614-EFD8E2E838E9}"/>
                  </a:ext>
                </a:extLst>
              </p:cNvPr>
              <p:cNvSpPr txBox="1"/>
              <p:nvPr/>
            </p:nvSpPr>
            <p:spPr>
              <a:xfrm>
                <a:off x="2090351" y="2313029"/>
                <a:ext cx="511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36C62F-5AFB-6D04-A614-EFD8E2E83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351" y="2313029"/>
                <a:ext cx="511089" cy="369332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18BA7F-B494-020E-A058-FADB1C91F7F5}"/>
                  </a:ext>
                </a:extLst>
              </p:cNvPr>
              <p:cNvSpPr txBox="1"/>
              <p:nvPr/>
            </p:nvSpPr>
            <p:spPr>
              <a:xfrm>
                <a:off x="6836473" y="2767912"/>
                <a:ext cx="4517327" cy="260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are performing simple linear attention </a:t>
                </a:r>
                <a:r>
                  <a:rPr lang="en-US" b="1" i="1" dirty="0"/>
                  <a:t>for</a:t>
                </a:r>
                <a:r>
                  <a:rPr lang="en-US" i="1" dirty="0"/>
                  <a:t> </a:t>
                </a:r>
                <a:r>
                  <a:rPr lang="en-US" b="1" i="1" dirty="0"/>
                  <a:t>each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update its representation based on other words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have a 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corresponding to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query is assessing the importance of each other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to the representation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18BA7F-B494-020E-A058-FADB1C91F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73" y="2767912"/>
                <a:ext cx="4517327" cy="2607637"/>
              </a:xfrm>
              <a:prstGeom prst="rect">
                <a:avLst/>
              </a:prstGeom>
              <a:blipFill>
                <a:blip r:embed="rId5"/>
                <a:stretch>
                  <a:fillRect l="-840" t="-483" r="-1681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061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20E3F-95C8-AF45-87A7-F6982DB20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13A4B-FF16-C31D-B558-44543C12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of simple </a:t>
            </a:r>
            <a:r>
              <a:rPr lang="en-US" b="1" dirty="0"/>
              <a:t>self</a:t>
            </a:r>
            <a:r>
              <a:rPr lang="en-US" dirty="0"/>
              <a:t>-attention</a:t>
            </a:r>
            <a:br>
              <a:rPr lang="en-US" dirty="0"/>
            </a:br>
            <a:r>
              <a:rPr lang="en-US" sz="2800" dirty="0"/>
              <a:t>(note that conventions vary on the ordering of dimensions)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1BA27E9-121C-5AAC-6E71-8A258EBB80A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1BA27E9-121C-5AAC-6E71-8A258EBB80A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0" t="-497368" r="-71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97368" r="-59268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000" t="-497368" r="-5075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561" t="-497368" r="-39512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500" t="-497368" r="-3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7500" t="-497368" r="-2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2683" t="-497368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0000" t="-497368" r="-2500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45A256-31B2-DCA8-FF80-629EF2252F54}"/>
                  </a:ext>
                </a:extLst>
              </p:cNvPr>
              <p:cNvSpPr txBox="1"/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(d x 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45A256-31B2-DCA8-FF80-629EF2252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blipFill>
                <a:blip r:embed="rId3"/>
                <a:stretch>
                  <a:fillRect l="-5376" t="-3846" r="-322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A3278D-278C-31EA-17F4-799AC49F1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173848"/>
              </p:ext>
            </p:extLst>
          </p:nvPr>
        </p:nvGraphicFramePr>
        <p:xfrm>
          <a:off x="5163066" y="2690599"/>
          <a:ext cx="511089" cy="23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89">
                  <a:extLst>
                    <a:ext uri="{9D8B030D-6E8A-4147-A177-3AD203B41FA5}">
                      <a16:colId xmlns:a16="http://schemas.microsoft.com/office/drawing/2014/main" val="4091677407"/>
                    </a:ext>
                  </a:extLst>
                </a:gridCol>
              </a:tblGrid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2550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2663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59849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10135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321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B0DE21-E95A-D623-88B3-9F335AAAC258}"/>
                  </a:ext>
                </a:extLst>
              </p:cNvPr>
              <p:cNvSpPr txBox="1"/>
              <p:nvPr/>
            </p:nvSpPr>
            <p:spPr>
              <a:xfrm>
                <a:off x="5163065" y="2321267"/>
                <a:ext cx="511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B0DE21-E95A-D623-88B3-9F335AAAC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065" y="2321267"/>
                <a:ext cx="511089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366E23-CE79-D4B4-C81E-1809108F5F78}"/>
                  </a:ext>
                </a:extLst>
              </p:cNvPr>
              <p:cNvSpPr txBox="1"/>
              <p:nvPr/>
            </p:nvSpPr>
            <p:spPr>
              <a:xfrm>
                <a:off x="6836473" y="2767912"/>
                <a:ext cx="4517327" cy="260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are performing simple linear attention </a:t>
                </a:r>
                <a:r>
                  <a:rPr lang="en-US" b="1" i="1" dirty="0"/>
                  <a:t>for</a:t>
                </a:r>
                <a:r>
                  <a:rPr lang="en-US" i="1" dirty="0"/>
                  <a:t> </a:t>
                </a:r>
                <a:r>
                  <a:rPr lang="en-US" b="1" i="1" dirty="0"/>
                  <a:t>each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update its representation based on other words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have a 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corresponding to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query is assessing the importance of each other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to the representation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366E23-CE79-D4B4-C81E-1809108F5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73" y="2767912"/>
                <a:ext cx="4517327" cy="2607637"/>
              </a:xfrm>
              <a:prstGeom prst="rect">
                <a:avLst/>
              </a:prstGeom>
              <a:blipFill>
                <a:blip r:embed="rId5"/>
                <a:stretch>
                  <a:fillRect l="-840" t="-483" r="-1681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973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3BA3-73A9-8595-9BB4-267A9A95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these queries come from?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DA6190-E431-2786-8C00-D3BA5A4A52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Option 1: they are learnable parameters.</a:t>
                </a:r>
              </a:p>
              <a:p>
                <a:pPr lvl="1"/>
                <a:r>
                  <a:rPr lang="en-US" dirty="0"/>
                  <a:t>This is the case when we do learned pooling, i.e. simple linear attention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Option 2: they are themselves a function of </a:t>
                </a:r>
                <a:r>
                  <a:rPr lang="en-US" i="1" dirty="0"/>
                  <a:t>X</a:t>
                </a:r>
              </a:p>
              <a:p>
                <a:pPr lvl="1"/>
                <a:r>
                  <a:rPr lang="en-US" dirty="0"/>
                  <a:t>This is what happens in the Transformer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Here our queries are given by a learned linear transformation of </a:t>
                </a:r>
                <a:r>
                  <a:rPr lang="en-US" i="1" dirty="0"/>
                  <a:t>X</a:t>
                </a:r>
              </a:p>
              <a:p>
                <a:pPr lvl="1"/>
                <a:r>
                  <a:rPr lang="en-US" dirty="0"/>
                  <a:t>Necessary for variable-length sequences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US" dirty="0"/>
                  <a:t> is (d x d)</a:t>
                </a:r>
              </a:p>
              <a:p>
                <a:pPr lvl="2"/>
                <a:r>
                  <a:rPr lang="en-US" i="1" dirty="0"/>
                  <a:t>Q</a:t>
                </a:r>
                <a:r>
                  <a:rPr lang="en-US" dirty="0"/>
                  <a:t> is (L x d) &lt;- learning directly requires more parameters &amp; fixed length sequence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DA6190-E431-2786-8C00-D3BA5A4A52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87517C-DCEC-1422-5E0C-4F6562AF96DD}"/>
                  </a:ext>
                </a:extLst>
              </p:cNvPr>
              <p:cNvSpPr txBox="1"/>
              <p:nvPr/>
            </p:nvSpPr>
            <p:spPr>
              <a:xfrm>
                <a:off x="10651524" y="5715298"/>
                <a:ext cx="123944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(L x d)</a:t>
                </a:r>
              </a:p>
              <a:p>
                <a:r>
                  <a:rPr lang="en-US" i="1" dirty="0"/>
                  <a:t>W</a:t>
                </a:r>
                <a:r>
                  <a:rPr lang="en-US" dirty="0"/>
                  <a:t> is (d x d)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87517C-DCEC-1422-5E0C-4F6562AF9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524" y="5715298"/>
                <a:ext cx="1239442" cy="923330"/>
              </a:xfrm>
              <a:prstGeom prst="rect">
                <a:avLst/>
              </a:prstGeom>
              <a:blipFill>
                <a:blip r:embed="rId3"/>
                <a:stretch>
                  <a:fillRect l="-4040" t="-4110" r="-3030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837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565C-3356-41C6-0B22-DE044097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8DDB-4D76-62F0-4D14-DF16D179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</a:t>
            </a:r>
            <a:r>
              <a:rPr lang="en-US" b="1" dirty="0"/>
              <a:t>self</a:t>
            </a:r>
            <a:r>
              <a:rPr lang="en-US" dirty="0"/>
              <a:t>-attention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C095BF-E23B-0B0F-599D-2C54B9B100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can we refine our representations of words based on surrounding words?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Let’s build on our simple linear attention mechanism.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Consider output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“query” vectors, </a:t>
                </a:r>
                <a:r>
                  <a:rPr lang="en-US" i="1" dirty="0"/>
                  <a:t>each a linear transformation of the input X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C095BF-E23B-0B0F-599D-2C54B9B100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82FBF5-382C-7EA4-10D8-361740945FB6}"/>
                  </a:ext>
                </a:extLst>
              </p:cNvPr>
              <p:cNvSpPr txBox="1"/>
              <p:nvPr/>
            </p:nvSpPr>
            <p:spPr>
              <a:xfrm>
                <a:off x="10736034" y="5413026"/>
                <a:ext cx="123553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(1 x d)</a:t>
                </a:r>
              </a:p>
              <a:p>
                <a:r>
                  <a:rPr lang="en-US" i="1" dirty="0"/>
                  <a:t>Q</a:t>
                </a:r>
                <a:r>
                  <a:rPr lang="en-US" dirty="0"/>
                  <a:t> is (L x d)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(L x d)</a:t>
                </a:r>
              </a:p>
              <a:p>
                <a:r>
                  <a:rPr lang="en-US" i="1" dirty="0"/>
                  <a:t>Y</a:t>
                </a:r>
                <a:r>
                  <a:rPr lang="en-US" dirty="0"/>
                  <a:t> is (L x d)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82FBF5-382C-7EA4-10D8-361740945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6034" y="5413026"/>
                <a:ext cx="1235531" cy="1200329"/>
              </a:xfrm>
              <a:prstGeom prst="rect">
                <a:avLst/>
              </a:prstGeom>
              <a:blipFill>
                <a:blip r:embed="rId4"/>
                <a:stretch>
                  <a:fillRect l="-4082" t="-2105" r="-3061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D8E1F2-EDFE-D419-453D-9EBC2747AE7A}"/>
                  </a:ext>
                </a:extLst>
              </p:cNvPr>
              <p:cNvSpPr txBox="1"/>
              <p:nvPr/>
            </p:nvSpPr>
            <p:spPr>
              <a:xfrm>
                <a:off x="650791" y="5407916"/>
                <a:ext cx="3739976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D8E1F2-EDFE-D419-453D-9EBC2747A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91" y="5407916"/>
                <a:ext cx="3739976" cy="6450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1E635B08-C92F-B80B-0AC3-7FFF9CDF3103}"/>
              </a:ext>
            </a:extLst>
          </p:cNvPr>
          <p:cNvSpPr/>
          <p:nvPr/>
        </p:nvSpPr>
        <p:spPr>
          <a:xfrm rot="5400000">
            <a:off x="2531446" y="4872708"/>
            <a:ext cx="308178" cy="257020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25714-8E13-AFAB-9DF4-1457326720ED}"/>
              </a:ext>
            </a:extLst>
          </p:cNvPr>
          <p:cNvSpPr txBox="1"/>
          <p:nvPr/>
        </p:nvSpPr>
        <p:spPr>
          <a:xfrm>
            <a:off x="2520779" y="6311900"/>
            <a:ext cx="690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contains a vector of attention weights </a:t>
            </a:r>
            <a:r>
              <a:rPr lang="en-US" i="1" dirty="0"/>
              <a:t>for each word in the sequence</a:t>
            </a:r>
          </a:p>
        </p:txBody>
      </p:sp>
    </p:spTree>
    <p:extLst>
      <p:ext uri="{BB962C8B-B14F-4D97-AF65-F5344CB8AC3E}">
        <p14:creationId xmlns:p14="http://schemas.microsoft.com/office/powerpoint/2010/main" val="2681384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93B0-B7A2-EE8D-3630-03656A78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76D3C-7277-EE56-B901-5C7F9090C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Self-attention </a:t>
            </a:r>
            <a:br>
              <a:rPr lang="en-US" dirty="0"/>
            </a:br>
            <a:r>
              <a:rPr lang="en-US" sz="3200" dirty="0"/>
              <a:t>(in contrast to </a:t>
            </a:r>
            <a:r>
              <a:rPr lang="en-US" sz="3200" i="1" dirty="0"/>
              <a:t>simple</a:t>
            </a:r>
            <a:r>
              <a:rPr lang="en-US" sz="3200" dirty="0"/>
              <a:t> self-attention)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54340-B13C-45E3-9720-F2E9162060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The question remains the same: how can we refine our representations of words based on surrounding words?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will now </a:t>
                </a:r>
                <a:r>
                  <a:rPr lang="en-US" i="1" dirty="0"/>
                  <a:t>further</a:t>
                </a:r>
                <a:r>
                  <a:rPr lang="en-US" dirty="0"/>
                  <a:t> </a:t>
                </a:r>
                <a:r>
                  <a:rPr lang="en-US" i="1" dirty="0"/>
                  <a:t>generalize</a:t>
                </a:r>
                <a:r>
                  <a:rPr lang="en-US" dirty="0"/>
                  <a:t> our simple self-attention mechanism.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our input sequence, we wish to have the following: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A </a:t>
                </a:r>
                <a:r>
                  <a:rPr lang="en-US" i="1" dirty="0"/>
                  <a:t>query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that looks for relevant information in other words</a:t>
                </a:r>
              </a:p>
              <a:p>
                <a:pPr lvl="1"/>
                <a:r>
                  <a:rPr lang="en-US" dirty="0"/>
                  <a:t>A </a:t>
                </a:r>
                <a:r>
                  <a:rPr lang="en-US" i="1" dirty="0"/>
                  <a:t>key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that represents </a:t>
                </a:r>
                <a:r>
                  <a:rPr lang="en-US" dirty="0" err="1"/>
                  <a:t>x_i</a:t>
                </a:r>
                <a:r>
                  <a:rPr lang="en-US" dirty="0"/>
                  <a:t> when assessing the match to each query</a:t>
                </a:r>
              </a:p>
              <a:p>
                <a:pPr lvl="1"/>
                <a:r>
                  <a:rPr lang="en-US" dirty="0"/>
                  <a:t>A </a:t>
                </a:r>
                <a:r>
                  <a:rPr lang="en-US" i="1" dirty="0"/>
                  <a:t>value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that will be passed forward to subsequent layers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54340-B13C-45E3-9720-F2E916206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304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F9A2-095D-3A1B-28E6-CA0B62339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9459-A53C-7B2A-2054-B37DFAFB8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the queries, keys, and values come from?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BCCF09-E618-0825-4868-FDC83CD05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Similar to the queries only in simple self-attention, all three will be functions of the input </a:t>
                </a:r>
                <a:r>
                  <a:rPr lang="en-US" i="1" dirty="0"/>
                  <a:t>X.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BCCF09-E618-0825-4868-FDC83CD05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07F40B-C529-71AB-2E1A-B91663C5B9A6}"/>
                  </a:ext>
                </a:extLst>
              </p:cNvPr>
              <p:cNvSpPr txBox="1"/>
              <p:nvPr/>
            </p:nvSpPr>
            <p:spPr>
              <a:xfrm>
                <a:off x="10651524" y="5715298"/>
                <a:ext cx="123944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(L x d)</a:t>
                </a:r>
              </a:p>
              <a:p>
                <a:r>
                  <a:rPr lang="en-US" i="1" dirty="0"/>
                  <a:t>W</a:t>
                </a:r>
                <a:r>
                  <a:rPr lang="en-US" dirty="0"/>
                  <a:t> is (d x d)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07F40B-C529-71AB-2E1A-B91663C5B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524" y="5715298"/>
                <a:ext cx="1239442" cy="923330"/>
              </a:xfrm>
              <a:prstGeom prst="rect">
                <a:avLst/>
              </a:prstGeom>
              <a:blipFill>
                <a:blip r:embed="rId3"/>
                <a:stretch>
                  <a:fillRect l="-4040" t="-4110" r="-3030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696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77CA8-4EFA-9794-CBD8-0931AAA8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9660-33F6-E764-B77C-FAA4E3288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the queries, keys, and values come from?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3E5F1-0A67-3490-52C0-7181388C8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Similar to the queries only in simple self-attention, all three will be functions of the input </a:t>
                </a:r>
                <a:r>
                  <a:rPr lang="en-US" i="1" dirty="0"/>
                  <a:t>X.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3E5F1-0A67-3490-52C0-7181388C8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ED52E7-3EC0-3433-7FE2-72AC7AF185EC}"/>
                  </a:ext>
                </a:extLst>
              </p:cNvPr>
              <p:cNvSpPr txBox="1"/>
              <p:nvPr/>
            </p:nvSpPr>
            <p:spPr>
              <a:xfrm>
                <a:off x="10651524" y="5715298"/>
                <a:ext cx="123944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(L x d)</a:t>
                </a:r>
              </a:p>
              <a:p>
                <a:r>
                  <a:rPr lang="en-US" i="1" dirty="0"/>
                  <a:t>W</a:t>
                </a:r>
                <a:r>
                  <a:rPr lang="en-US" dirty="0"/>
                  <a:t> is (d x d)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ED52E7-3EC0-3433-7FE2-72AC7AF18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524" y="5715298"/>
                <a:ext cx="1239442" cy="923330"/>
              </a:xfrm>
              <a:prstGeom prst="rect">
                <a:avLst/>
              </a:prstGeom>
              <a:blipFill>
                <a:blip r:embed="rId3"/>
                <a:stretch>
                  <a:fillRect l="-4040" t="-4110" r="-3030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4913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5664-7079-90C5-2D14-E915F8DC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4984-4E3B-5818-2582-EB47A1699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of self-attention</a:t>
            </a:r>
            <a:br>
              <a:rPr lang="en-US" dirty="0"/>
            </a:br>
            <a:r>
              <a:rPr lang="en-US" sz="2800" dirty="0"/>
              <a:t>(note that conventions vary on the ordering of dimensions)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F1B4A59-D35D-C2A3-EDE1-2B484D665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0419170"/>
                  </p:ext>
                </p:extLst>
              </p:nvPr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F1B4A59-D35D-C2A3-EDE1-2B484D665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0419170"/>
                  </p:ext>
                </p:extLst>
              </p:nvPr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0" t="-497368" r="-71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97368" r="-59268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000" t="-497368" r="-5075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561" t="-497368" r="-39512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500" t="-497368" r="-3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7500" t="-497368" r="-2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2683" t="-497368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0000" t="-497368" r="-2500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C92E7F-B79E-2291-9E31-6D1ED411506B}"/>
                  </a:ext>
                </a:extLst>
              </p:cNvPr>
              <p:cNvSpPr txBox="1"/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(d x 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C92E7F-B79E-2291-9E31-6D1ED4115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blipFill>
                <a:blip r:embed="rId3"/>
                <a:stretch>
                  <a:fillRect l="-5376" t="-3846" r="-322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CDB322-ADB9-62F2-7A57-DD226E55F053}"/>
              </a:ext>
            </a:extLst>
          </p:cNvPr>
          <p:cNvGraphicFramePr>
            <a:graphicFrameLocks noGrp="1"/>
          </p:cNvGraphicFramePr>
          <p:nvPr/>
        </p:nvGraphicFramePr>
        <p:xfrm>
          <a:off x="1571368" y="2707075"/>
          <a:ext cx="511089" cy="23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89">
                  <a:extLst>
                    <a:ext uri="{9D8B030D-6E8A-4147-A177-3AD203B41FA5}">
                      <a16:colId xmlns:a16="http://schemas.microsoft.com/office/drawing/2014/main" val="4091677407"/>
                    </a:ext>
                  </a:extLst>
                </a:gridCol>
              </a:tblGrid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2550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2663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59849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10135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321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B51B22-9D85-5578-19FD-1A1379C687F3}"/>
                  </a:ext>
                </a:extLst>
              </p:cNvPr>
              <p:cNvSpPr txBox="1"/>
              <p:nvPr/>
            </p:nvSpPr>
            <p:spPr>
              <a:xfrm>
                <a:off x="1571367" y="2337743"/>
                <a:ext cx="511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B51B22-9D85-5578-19FD-1A1379C68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367" y="2337743"/>
                <a:ext cx="511089" cy="369332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4EF1B1-41E4-B15F-6365-52E83E1E9277}"/>
                  </a:ext>
                </a:extLst>
              </p:cNvPr>
              <p:cNvSpPr txBox="1"/>
              <p:nvPr/>
            </p:nvSpPr>
            <p:spPr>
              <a:xfrm>
                <a:off x="6836473" y="2767912"/>
                <a:ext cx="4517327" cy="3161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are performing simple linear attention </a:t>
                </a:r>
                <a:r>
                  <a:rPr lang="en-US" b="1" i="1" dirty="0"/>
                  <a:t>for</a:t>
                </a:r>
                <a:r>
                  <a:rPr lang="en-US" i="1" dirty="0"/>
                  <a:t> </a:t>
                </a:r>
                <a:r>
                  <a:rPr lang="en-US" b="1" i="1" dirty="0"/>
                  <a:t>each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update its representation based on other words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have a 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also have a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that represents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querying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strength of match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assesses the importance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to the representation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going forward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4EF1B1-41E4-B15F-6365-52E83E1E9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73" y="2767912"/>
                <a:ext cx="4517327" cy="3161635"/>
              </a:xfrm>
              <a:prstGeom prst="rect">
                <a:avLst/>
              </a:prstGeom>
              <a:blipFill>
                <a:blip r:embed="rId5"/>
                <a:stretch>
                  <a:fillRect l="-840" t="-398" b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4058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4755B-1414-AF45-81CF-C463C0D7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520A-900B-6343-8A3D-E2ED04767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of self-attention</a:t>
            </a:r>
            <a:br>
              <a:rPr lang="en-US" dirty="0"/>
            </a:br>
            <a:r>
              <a:rPr lang="en-US" sz="2800" dirty="0"/>
              <a:t>(note that conventions vary on the ordering of dimensions)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FE577B4-6F62-8A02-EA89-59EF10FA58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FE577B4-6F62-8A02-EA89-59EF10FA58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0" t="-497368" r="-71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97368" r="-59268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000" t="-497368" r="-5075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561" t="-497368" r="-39512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500" t="-497368" r="-3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7500" t="-497368" r="-2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2683" t="-497368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0000" t="-497368" r="-2500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E7C0E1-18A5-FDF1-14C0-06F4C0D8878E}"/>
                  </a:ext>
                </a:extLst>
              </p:cNvPr>
              <p:cNvSpPr txBox="1"/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(d x 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E7C0E1-18A5-FDF1-14C0-06F4C0D88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blipFill>
                <a:blip r:embed="rId3"/>
                <a:stretch>
                  <a:fillRect l="-5376" t="-3846" r="-322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501C95-163F-2DCC-E697-94CE1CB28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17166"/>
              </p:ext>
            </p:extLst>
          </p:nvPr>
        </p:nvGraphicFramePr>
        <p:xfrm>
          <a:off x="2073876" y="2682362"/>
          <a:ext cx="511089" cy="23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89">
                  <a:extLst>
                    <a:ext uri="{9D8B030D-6E8A-4147-A177-3AD203B41FA5}">
                      <a16:colId xmlns:a16="http://schemas.microsoft.com/office/drawing/2014/main" val="4091677407"/>
                    </a:ext>
                  </a:extLst>
                </a:gridCol>
              </a:tblGrid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2550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2663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59849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10135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321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BDE926-CC98-AE57-76D5-52BDF4F1F787}"/>
                  </a:ext>
                </a:extLst>
              </p:cNvPr>
              <p:cNvSpPr txBox="1"/>
              <p:nvPr/>
            </p:nvSpPr>
            <p:spPr>
              <a:xfrm>
                <a:off x="2073875" y="2313030"/>
                <a:ext cx="511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BDE926-CC98-AE57-76D5-52BDF4F1F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875" y="2313030"/>
                <a:ext cx="511089" cy="369332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5F32AF-5BF6-3F01-59A2-CC151C8221AD}"/>
                  </a:ext>
                </a:extLst>
              </p:cNvPr>
              <p:cNvSpPr txBox="1"/>
              <p:nvPr/>
            </p:nvSpPr>
            <p:spPr>
              <a:xfrm>
                <a:off x="6836473" y="2767912"/>
                <a:ext cx="4517327" cy="3161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are performing simple linear attention </a:t>
                </a:r>
                <a:r>
                  <a:rPr lang="en-US" b="1" i="1" dirty="0"/>
                  <a:t>for</a:t>
                </a:r>
                <a:r>
                  <a:rPr lang="en-US" i="1" dirty="0"/>
                  <a:t> </a:t>
                </a:r>
                <a:r>
                  <a:rPr lang="en-US" b="1" i="1" dirty="0"/>
                  <a:t>each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update its representation based on other words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have a 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also have a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that represents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querying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strength of match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assesses the importance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to the representation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going forward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5F32AF-5BF6-3F01-59A2-CC151C822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73" y="2767912"/>
                <a:ext cx="4517327" cy="3161635"/>
              </a:xfrm>
              <a:prstGeom prst="rect">
                <a:avLst/>
              </a:prstGeom>
              <a:blipFill>
                <a:blip r:embed="rId5"/>
                <a:stretch>
                  <a:fillRect l="-840" t="-398" b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027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072AD-8298-2878-95FB-12EE9437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C45D-BA78-5F57-2993-5F4D6CD7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of self-attention</a:t>
            </a:r>
            <a:br>
              <a:rPr lang="en-US" dirty="0"/>
            </a:br>
            <a:r>
              <a:rPr lang="en-US" sz="2800" dirty="0"/>
              <a:t>(note that conventions vary on the ordering of dimensions)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D0AF211-6B24-C358-622A-A5B66999AA1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D0AF211-6B24-C358-622A-A5B66999AA1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8302" y="2767913"/>
              <a:ext cx="4088712" cy="2870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1089">
                      <a:extLst>
                        <a:ext uri="{9D8B030D-6E8A-4147-A177-3AD203B41FA5}">
                          <a16:colId xmlns:a16="http://schemas.microsoft.com/office/drawing/2014/main" val="121836888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48656862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192035783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500091751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1834929635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3086695107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4015489909"/>
                        </a:ext>
                      </a:extLst>
                    </a:gridCol>
                    <a:gridCol w="511089">
                      <a:extLst>
                        <a:ext uri="{9D8B030D-6E8A-4147-A177-3AD203B41FA5}">
                          <a16:colId xmlns:a16="http://schemas.microsoft.com/office/drawing/2014/main" val="2839500796"/>
                        </a:ext>
                      </a:extLst>
                    </a:gridCol>
                  </a:tblGrid>
                  <a:tr h="47842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818086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691413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9161247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6938865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7636568"/>
                      </a:ext>
                    </a:extLst>
                  </a:tr>
                  <a:tr h="478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0" t="-497368" r="-71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97368" r="-59268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000" t="-497368" r="-5075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7561" t="-497368" r="-39512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7500" t="-497368" r="-3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7500" t="-497368" r="-205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2683" t="-497368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0000" t="-497368" r="-2500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122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589E51-A112-C00F-A517-E5B55DEFDA2B}"/>
                  </a:ext>
                </a:extLst>
              </p:cNvPr>
              <p:cNvSpPr txBox="1"/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Here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(d x 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589E51-A112-C00F-A517-E5B55DEFD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860" y="5846544"/>
                <a:ext cx="1174552" cy="646331"/>
              </a:xfrm>
              <a:prstGeom prst="rect">
                <a:avLst/>
              </a:prstGeom>
              <a:blipFill>
                <a:blip r:embed="rId3"/>
                <a:stretch>
                  <a:fillRect l="-5376" t="-3846" r="-322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D93C55-BCCA-6F11-F466-1D17FBAE9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192933"/>
              </p:ext>
            </p:extLst>
          </p:nvPr>
        </p:nvGraphicFramePr>
        <p:xfrm>
          <a:off x="5157649" y="2698838"/>
          <a:ext cx="511089" cy="23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89">
                  <a:extLst>
                    <a:ext uri="{9D8B030D-6E8A-4147-A177-3AD203B41FA5}">
                      <a16:colId xmlns:a16="http://schemas.microsoft.com/office/drawing/2014/main" val="4091677407"/>
                    </a:ext>
                  </a:extLst>
                </a:gridCol>
              </a:tblGrid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2550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2663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59849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10135"/>
                  </a:ext>
                </a:extLst>
              </a:tr>
              <a:tr h="4784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321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601E94-4CD5-8B8F-2636-6501A8A663E8}"/>
                  </a:ext>
                </a:extLst>
              </p:cNvPr>
              <p:cNvSpPr txBox="1"/>
              <p:nvPr/>
            </p:nvSpPr>
            <p:spPr>
              <a:xfrm>
                <a:off x="5157648" y="2329506"/>
                <a:ext cx="511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601E94-4CD5-8B8F-2636-6501A8A66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648" y="2329506"/>
                <a:ext cx="511089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9F941D-1FD6-0BB7-FE8F-9ECD8C540448}"/>
                  </a:ext>
                </a:extLst>
              </p:cNvPr>
              <p:cNvSpPr txBox="1"/>
              <p:nvPr/>
            </p:nvSpPr>
            <p:spPr>
              <a:xfrm>
                <a:off x="6836473" y="2767912"/>
                <a:ext cx="4517327" cy="3161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are performing simple linear attention </a:t>
                </a:r>
                <a:r>
                  <a:rPr lang="en-US" b="1" i="1" dirty="0"/>
                  <a:t>for</a:t>
                </a:r>
                <a:r>
                  <a:rPr lang="en-US" i="1" dirty="0"/>
                  <a:t> </a:t>
                </a:r>
                <a:r>
                  <a:rPr lang="en-US" b="1" i="1" dirty="0"/>
                  <a:t>each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update its representation based on other words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have a 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also have a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that represents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querying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strength of match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assesses the importance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to the representation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going forward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9F941D-1FD6-0BB7-FE8F-9ECD8C540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73" y="2767912"/>
                <a:ext cx="4517327" cy="3161635"/>
              </a:xfrm>
              <a:prstGeom prst="rect">
                <a:avLst/>
              </a:prstGeom>
              <a:blipFill>
                <a:blip r:embed="rId5"/>
                <a:stretch>
                  <a:fillRect l="-840" t="-398" b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37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1E4CF-1D6F-4850-88EF-C7F83D59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DBDA-98FB-71AF-6B3C-D7806279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Self-attention </a:t>
            </a:r>
            <a:br>
              <a:rPr lang="en-US" dirty="0"/>
            </a:br>
            <a:r>
              <a:rPr lang="en-US" sz="3200" dirty="0"/>
              <a:t>(in contrast to </a:t>
            </a:r>
            <a:r>
              <a:rPr lang="en-US" sz="3200" i="1" dirty="0"/>
              <a:t>simple</a:t>
            </a:r>
            <a:r>
              <a:rPr lang="en-US" sz="3200" dirty="0"/>
              <a:t> self-attention)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21B23E-D3C0-A5B7-1BE4-D727005449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 flexible approach to refine our word representations based on surrounding words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Consider output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“query” vectors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“key” vectors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“value” vectors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practice we apply </a:t>
                </a:r>
                <a:r>
                  <a:rPr lang="en-US" dirty="0" err="1"/>
                  <a:t>softmax</a:t>
                </a:r>
                <a:r>
                  <a:rPr lang="en-US" dirty="0"/>
                  <a:t> temperature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since the magnitude of the dot product (and therefore the sharpness of the weights) depends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/√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may view </a:t>
                </a:r>
                <a:r>
                  <a:rPr lang="en-US" i="1" dirty="0"/>
                  <a:t>Y</a:t>
                </a:r>
                <a:r>
                  <a:rPr lang="en-US" dirty="0"/>
                  <a:t> as a </a:t>
                </a:r>
                <a:r>
                  <a:rPr lang="en-US" i="1" dirty="0"/>
                  <a:t>contextualized</a:t>
                </a:r>
                <a:r>
                  <a:rPr lang="en-US" dirty="0"/>
                  <a:t> version of </a:t>
                </a:r>
                <a:r>
                  <a:rPr lang="en-US" i="1" dirty="0"/>
                  <a:t>X</a:t>
                </a:r>
                <a:r>
                  <a:rPr lang="en-US" dirty="0"/>
                  <a:t>; the meaning of each word has been refined by </a:t>
                </a:r>
                <a:r>
                  <a:rPr lang="en-US" i="1" dirty="0"/>
                  <a:t>attending</a:t>
                </a:r>
                <a:r>
                  <a:rPr lang="en-US" dirty="0"/>
                  <a:t> in a learnable way to all other words in the sequence.</a:t>
                </a:r>
                <a:endParaRPr lang="en-US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21B23E-D3C0-A5B7-1BE4-D727005449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564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FA7F-537D-D5BE-63E9-EA59394DB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Transformer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348F8-7DEB-026C-5B9D-F8541737F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361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5B7D-5C44-5BF5-43BC-E4E9C367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D05483-7EE7-C03F-DBD6-FB8FCD734F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i="1" dirty="0"/>
                  <a:t>Embedding</a:t>
                </a:r>
                <a:r>
                  <a:rPr lang="en-US" dirty="0"/>
                  <a:t> and </a:t>
                </a:r>
                <a:r>
                  <a:rPr lang="en-US" i="1" dirty="0"/>
                  <a:t>representation</a:t>
                </a:r>
                <a:r>
                  <a:rPr lang="en-US" dirty="0"/>
                  <a:t> are often used interchangeably.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principle, </a:t>
                </a:r>
                <a:r>
                  <a:rPr lang="en-US" i="1" dirty="0"/>
                  <a:t>embedding</a:t>
                </a:r>
                <a:r>
                  <a:rPr lang="en-US" dirty="0"/>
                  <a:t> is narrower: it refers to a vector representation of a discrete object, such as a word.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principle, </a:t>
                </a:r>
                <a:r>
                  <a:rPr lang="en-US" i="1" dirty="0"/>
                  <a:t>representation</a:t>
                </a:r>
                <a:r>
                  <a:rPr lang="en-US" dirty="0"/>
                  <a:t> is more general; we might have a </a:t>
                </a:r>
                <a:r>
                  <a:rPr lang="en-US" i="1" dirty="0"/>
                  <a:t>representation</a:t>
                </a:r>
                <a:r>
                  <a:rPr lang="en-US" dirty="0"/>
                  <a:t> of an image, or a patient.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space where they live (typically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) we call an </a:t>
                </a:r>
                <a:r>
                  <a:rPr lang="en-US" i="1" dirty="0"/>
                  <a:t>embedding space</a:t>
                </a:r>
                <a:r>
                  <a:rPr lang="en-US" dirty="0"/>
                  <a:t> or </a:t>
                </a:r>
                <a:r>
                  <a:rPr lang="en-US" i="1" dirty="0"/>
                  <a:t>representation space</a:t>
                </a:r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D05483-7EE7-C03F-DBD6-FB8FCD734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677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47D03-19C8-3F14-E43C-0D1A3F09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9462B-B9ED-F54D-6CDB-60828A884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9389" cy="4351338"/>
          </a:xfrm>
        </p:spPr>
        <p:txBody>
          <a:bodyPr/>
          <a:lstStyle/>
          <a:p>
            <a:r>
              <a:rPr lang="en-US" dirty="0"/>
              <a:t>Today we will focus on the encoder and the operations that comprise it</a:t>
            </a:r>
          </a:p>
          <a:p>
            <a:endParaRPr lang="en-US" dirty="0"/>
          </a:p>
          <a:p>
            <a:r>
              <a:rPr lang="en-US" dirty="0"/>
              <a:t>Key components:</a:t>
            </a:r>
          </a:p>
          <a:p>
            <a:pPr lvl="1"/>
            <a:r>
              <a:rPr lang="en-US" dirty="0"/>
              <a:t>input embeddings</a:t>
            </a:r>
          </a:p>
          <a:p>
            <a:pPr lvl="1"/>
            <a:r>
              <a:rPr lang="en-US" dirty="0"/>
              <a:t>multi-head attention</a:t>
            </a:r>
          </a:p>
          <a:p>
            <a:pPr lvl="1"/>
            <a:r>
              <a:rPr lang="en-US" dirty="0"/>
              <a:t>add &amp; norm</a:t>
            </a:r>
          </a:p>
          <a:p>
            <a:pPr lvl="1"/>
            <a:r>
              <a:rPr lang="en-US" dirty="0"/>
              <a:t>feed forward layer</a:t>
            </a:r>
          </a:p>
          <a:p>
            <a:pPr lvl="1"/>
            <a:r>
              <a:rPr lang="en-US" dirty="0"/>
              <a:t>positional encodings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E6DAD-77C0-4C01-88A7-60D67FB7A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247" y="651218"/>
            <a:ext cx="4052553" cy="584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37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FB8B4-8646-B3DD-348C-496FC812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2A32-B519-A54F-C99B-749683DF0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70B11-D80A-CA59-E750-B3480807A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476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Today we will focus on the encoder and the operations that comprise it</a:t>
            </a:r>
          </a:p>
          <a:p>
            <a:endParaRPr lang="en-US" dirty="0"/>
          </a:p>
          <a:p>
            <a:r>
              <a:rPr lang="en-US" dirty="0"/>
              <a:t>Types of Transformers:</a:t>
            </a:r>
          </a:p>
          <a:p>
            <a:pPr lvl="1"/>
            <a:r>
              <a:rPr lang="en-US" dirty="0"/>
              <a:t>Encoder-only architectures (e.g. BERT)</a:t>
            </a:r>
          </a:p>
          <a:p>
            <a:pPr lvl="1"/>
            <a:r>
              <a:rPr lang="en-US" dirty="0"/>
              <a:t>Decoder-only architectures (e.g. GPT-x)</a:t>
            </a:r>
          </a:p>
          <a:p>
            <a:pPr lvl="1"/>
            <a:r>
              <a:rPr lang="en-US" dirty="0"/>
              <a:t>Encoder-decoder architectures, as shown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5CD07-1329-3ACA-0908-7147EF53F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247" y="651218"/>
            <a:ext cx="4052553" cy="58416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7325805-B449-EFF3-8913-2665DC7A2B13}"/>
              </a:ext>
            </a:extLst>
          </p:cNvPr>
          <p:cNvSpPr/>
          <p:nvPr/>
        </p:nvSpPr>
        <p:spPr>
          <a:xfrm>
            <a:off x="7301247" y="2512541"/>
            <a:ext cx="2023985" cy="398033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2FFD72-26CB-9DC5-7BD7-560D7F059930}"/>
              </a:ext>
            </a:extLst>
          </p:cNvPr>
          <p:cNvSpPr/>
          <p:nvPr/>
        </p:nvSpPr>
        <p:spPr>
          <a:xfrm flipH="1" flipV="1">
            <a:off x="9393657" y="494269"/>
            <a:ext cx="1960143" cy="5998605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FD0C1-FC7D-ED62-4BF9-07287EC0DA92}"/>
              </a:ext>
            </a:extLst>
          </p:cNvPr>
          <p:cNvSpPr txBox="1"/>
          <p:nvPr/>
        </p:nvSpPr>
        <p:spPr>
          <a:xfrm>
            <a:off x="7698102" y="2064735"/>
            <a:ext cx="1259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ENCODER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8A00E-9049-FC87-F11B-A77FDFE53613}"/>
              </a:ext>
            </a:extLst>
          </p:cNvPr>
          <p:cNvSpPr txBox="1"/>
          <p:nvPr/>
        </p:nvSpPr>
        <p:spPr>
          <a:xfrm>
            <a:off x="9746889" y="92505"/>
            <a:ext cx="125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2427722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C5F4E-DDB0-149D-6A8E-D05CFCC72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DE75B-C262-3FDA-370B-589CE3A18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833B1-1C48-2A16-AF54-E14CF1B24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4762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Encoder only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Tasks:</a:t>
            </a:r>
          </a:p>
          <a:p>
            <a:pPr lvl="1"/>
            <a:r>
              <a:rPr lang="en-US" dirty="0"/>
              <a:t>Sequence- or token-level prediction or tagging</a:t>
            </a:r>
          </a:p>
          <a:p>
            <a:pPr lvl="1"/>
            <a:r>
              <a:rPr lang="en-US" dirty="0"/>
              <a:t>No generation needed</a:t>
            </a:r>
          </a:p>
          <a:p>
            <a:pPr lvl="1"/>
            <a:endParaRPr lang="en-US" dirty="0"/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easier fine-tuning</a:t>
            </a:r>
          </a:p>
          <a:p>
            <a:pPr lvl="1"/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BERT</a:t>
            </a:r>
          </a:p>
          <a:p>
            <a:pPr lvl="1"/>
            <a:r>
              <a:rPr lang="en-US" dirty="0"/>
              <a:t>BEHRT (a BERT-like model for EHR)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54396A-A5CA-6E06-3531-1EC3A91E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247" y="651218"/>
            <a:ext cx="4052553" cy="58416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C53895-1577-1B12-423C-2A73B2A5A251}"/>
              </a:ext>
            </a:extLst>
          </p:cNvPr>
          <p:cNvSpPr/>
          <p:nvPr/>
        </p:nvSpPr>
        <p:spPr>
          <a:xfrm>
            <a:off x="7301247" y="2512541"/>
            <a:ext cx="2023985" cy="398033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53A1C3-E147-3479-4AB6-4C76C6F7BC38}"/>
              </a:ext>
            </a:extLst>
          </p:cNvPr>
          <p:cNvSpPr/>
          <p:nvPr/>
        </p:nvSpPr>
        <p:spPr>
          <a:xfrm flipH="1" flipV="1">
            <a:off x="9393657" y="494269"/>
            <a:ext cx="1960143" cy="5998605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23039-419B-B108-5884-91C0BDCB5906}"/>
              </a:ext>
            </a:extLst>
          </p:cNvPr>
          <p:cNvSpPr txBox="1"/>
          <p:nvPr/>
        </p:nvSpPr>
        <p:spPr>
          <a:xfrm>
            <a:off x="7698102" y="2064735"/>
            <a:ext cx="1259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ENCODER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A260D-DBC5-C280-FAFE-1176F603223D}"/>
              </a:ext>
            </a:extLst>
          </p:cNvPr>
          <p:cNvSpPr txBox="1"/>
          <p:nvPr/>
        </p:nvSpPr>
        <p:spPr>
          <a:xfrm>
            <a:off x="9746889" y="92505"/>
            <a:ext cx="125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6484772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39EAC-0A42-7F3C-7F48-79B429C01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DEEE-51AF-6D02-63C7-AF2320DD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880A0-2D69-FE94-16A9-440DB977B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476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Decoder only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Tasks:</a:t>
            </a:r>
          </a:p>
          <a:p>
            <a:pPr lvl="1"/>
            <a:r>
              <a:rPr lang="en-US" dirty="0"/>
              <a:t>Text generation</a:t>
            </a:r>
          </a:p>
          <a:p>
            <a:pPr lvl="1"/>
            <a:endParaRPr lang="en-US" dirty="0"/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Simple training objective (next token prediction)</a:t>
            </a:r>
          </a:p>
          <a:p>
            <a:pPr lvl="1"/>
            <a:r>
              <a:rPr lang="en-US" dirty="0"/>
              <a:t>Scales well</a:t>
            </a:r>
          </a:p>
          <a:p>
            <a:pPr lvl="1"/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GPT-x</a:t>
            </a:r>
          </a:p>
          <a:p>
            <a:pPr lvl="1"/>
            <a:r>
              <a:rPr lang="en-US" dirty="0" err="1"/>
              <a:t>LLaMA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6B0A7F-D14D-685A-EBD2-934EC6197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247" y="651218"/>
            <a:ext cx="4052553" cy="58416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F3B7CBD-A99C-D93F-DEDD-F78D8225B001}"/>
              </a:ext>
            </a:extLst>
          </p:cNvPr>
          <p:cNvSpPr/>
          <p:nvPr/>
        </p:nvSpPr>
        <p:spPr>
          <a:xfrm>
            <a:off x="7301247" y="2512541"/>
            <a:ext cx="2023985" cy="398033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9A3141-9270-5B7E-0852-DA69842B8E40}"/>
              </a:ext>
            </a:extLst>
          </p:cNvPr>
          <p:cNvSpPr/>
          <p:nvPr/>
        </p:nvSpPr>
        <p:spPr>
          <a:xfrm flipH="1" flipV="1">
            <a:off x="9393657" y="494269"/>
            <a:ext cx="1960143" cy="5998605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4594D-F4E3-AA1A-4058-D300AD350732}"/>
              </a:ext>
            </a:extLst>
          </p:cNvPr>
          <p:cNvSpPr txBox="1"/>
          <p:nvPr/>
        </p:nvSpPr>
        <p:spPr>
          <a:xfrm>
            <a:off x="7698102" y="2064735"/>
            <a:ext cx="1259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ENCODER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4BB10-88D4-4ACC-08A4-CF128414AA7B}"/>
              </a:ext>
            </a:extLst>
          </p:cNvPr>
          <p:cNvSpPr txBox="1"/>
          <p:nvPr/>
        </p:nvSpPr>
        <p:spPr>
          <a:xfrm>
            <a:off x="9746889" y="92505"/>
            <a:ext cx="125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25955547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B12A7-50C1-E23E-1214-6D91373A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E61D-1CD6-4C88-B838-9E4F3F68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C6884-A3C8-AEB9-62C6-7BF4C58E6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4762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Encoder-decoder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Tasks:</a:t>
            </a:r>
          </a:p>
          <a:p>
            <a:pPr lvl="1"/>
            <a:r>
              <a:rPr lang="en-US" dirty="0"/>
              <a:t>Well-defined input sequence to output sequence</a:t>
            </a:r>
          </a:p>
          <a:p>
            <a:pPr lvl="1"/>
            <a:r>
              <a:rPr lang="en-US" dirty="0"/>
              <a:t>Translation</a:t>
            </a:r>
          </a:p>
          <a:p>
            <a:pPr lvl="1"/>
            <a:r>
              <a:rPr lang="en-US" dirty="0"/>
              <a:t>Summarization</a:t>
            </a:r>
          </a:p>
          <a:p>
            <a:pPr lvl="1"/>
            <a:endParaRPr lang="en-US" dirty="0"/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Distinguish interpretation from generation</a:t>
            </a:r>
          </a:p>
          <a:p>
            <a:pPr lvl="1"/>
            <a:r>
              <a:rPr lang="en-US" dirty="0"/>
              <a:t>Best when input and output sequences are meaningfully distinct</a:t>
            </a:r>
          </a:p>
          <a:p>
            <a:pPr lvl="1"/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Original Transformer (shown here)</a:t>
            </a:r>
          </a:p>
          <a:p>
            <a:pPr lvl="1"/>
            <a:r>
              <a:rPr lang="en-US" dirty="0"/>
              <a:t>Many variants for specific tasks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FE85AB-F5D0-B0DE-BC15-151BEBB49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247" y="651218"/>
            <a:ext cx="4052553" cy="58416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C6E44D2-BFA3-4A14-6C37-9ADC921B7707}"/>
              </a:ext>
            </a:extLst>
          </p:cNvPr>
          <p:cNvSpPr/>
          <p:nvPr/>
        </p:nvSpPr>
        <p:spPr>
          <a:xfrm>
            <a:off x="7301247" y="2512541"/>
            <a:ext cx="2023985" cy="398033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966746-C633-92AB-132E-1648D8C1BB39}"/>
              </a:ext>
            </a:extLst>
          </p:cNvPr>
          <p:cNvSpPr/>
          <p:nvPr/>
        </p:nvSpPr>
        <p:spPr>
          <a:xfrm flipH="1" flipV="1">
            <a:off x="9393657" y="494269"/>
            <a:ext cx="1960143" cy="5998605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0DD21-E7A2-3F3D-461B-5EF3A2EF65C0}"/>
              </a:ext>
            </a:extLst>
          </p:cNvPr>
          <p:cNvSpPr txBox="1"/>
          <p:nvPr/>
        </p:nvSpPr>
        <p:spPr>
          <a:xfrm>
            <a:off x="7698102" y="2064735"/>
            <a:ext cx="1259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ENCODER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B11D8-F1A9-67B2-30BE-630510DF6E33}"/>
              </a:ext>
            </a:extLst>
          </p:cNvPr>
          <p:cNvSpPr txBox="1"/>
          <p:nvPr/>
        </p:nvSpPr>
        <p:spPr>
          <a:xfrm>
            <a:off x="9746889" y="92505"/>
            <a:ext cx="125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38349849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A8800-C8C1-E751-CD8B-D3AB4136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19AD-9BEF-00D6-7E15-35C27A40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DED0-35A7-E5A8-76F5-EF9320415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962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Input embeddings and positional encodings</a:t>
            </a:r>
            <a:endParaRPr lang="en-US" dirty="0"/>
          </a:p>
          <a:p>
            <a:r>
              <a:rPr lang="en-US" u="sng" dirty="0"/>
              <a:t>Input embeddings</a:t>
            </a:r>
            <a:r>
              <a:rPr lang="en-US" dirty="0"/>
              <a:t>: map text to a sequence of dense vector representations</a:t>
            </a:r>
          </a:p>
          <a:p>
            <a:r>
              <a:rPr lang="en-US" u="sng" dirty="0"/>
              <a:t>Positional encodings</a:t>
            </a:r>
            <a:r>
              <a:rPr lang="en-US" dirty="0"/>
              <a:t>: add information about relative position within the sequence (we will return to this)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Transformer encoder stack </a:t>
            </a:r>
            <a:r>
              <a:rPr lang="en-US" dirty="0"/>
              <a:t>(N=6 in Vaswani; N=24 in BERT-large; N=96 in GPT-3)</a:t>
            </a:r>
          </a:p>
          <a:p>
            <a:r>
              <a:rPr lang="en-US" u="sng" dirty="0"/>
              <a:t>Multi-head attention</a:t>
            </a:r>
            <a:r>
              <a:rPr lang="en-US" dirty="0"/>
              <a:t>: refine representations of words (i.e. the meaning of each token) based on other words</a:t>
            </a:r>
          </a:p>
          <a:p>
            <a:pPr marL="457200" lvl="1" indent="0">
              <a:buNone/>
            </a:pPr>
            <a:r>
              <a:rPr lang="en-US" dirty="0"/>
              <a:t>[information exchange across words]</a:t>
            </a:r>
          </a:p>
          <a:p>
            <a:r>
              <a:rPr lang="en-US" u="sng" dirty="0"/>
              <a:t>Add &amp; norm</a:t>
            </a:r>
            <a:r>
              <a:rPr lang="en-US" dirty="0"/>
              <a:t>: residual connections (</a:t>
            </a:r>
            <a:r>
              <a:rPr lang="en-US" b="1" dirty="0"/>
              <a:t>add</a:t>
            </a:r>
            <a:r>
              <a:rPr lang="en-US" dirty="0"/>
              <a:t>) avoid vanishing gradients in earlier layers; normalizing improves numeric stability</a:t>
            </a:r>
          </a:p>
          <a:p>
            <a:r>
              <a:rPr lang="en-US" u="sng" dirty="0"/>
              <a:t>Feed forward</a:t>
            </a:r>
            <a:r>
              <a:rPr lang="en-US" dirty="0"/>
              <a:t>: nonlinear refinement of representations</a:t>
            </a:r>
          </a:p>
          <a:p>
            <a:pPr marL="457200" lvl="1" indent="0">
              <a:buNone/>
            </a:pPr>
            <a:r>
              <a:rPr lang="en-US" dirty="0"/>
              <a:t>[information exchange across embedding/representation dimensions]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8FB7F-610B-D66D-8C5A-EF77BE12B2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683" r="50870"/>
          <a:stretch>
            <a:fillRect/>
          </a:stretch>
        </p:blipFill>
        <p:spPr>
          <a:xfrm>
            <a:off x="7902609" y="612906"/>
            <a:ext cx="3053716" cy="585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8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ECCE-981D-C325-4C01-5B3784C3B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embeddings &amp; positional 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80AE5-0AFD-E890-446B-DE42054A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Input embeddings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Maps input words / tokens to dense vector embeddings</a:t>
            </a:r>
          </a:p>
          <a:p>
            <a:r>
              <a:rPr lang="en-US" dirty="0"/>
              <a:t>Principles are those previously discussed</a:t>
            </a:r>
          </a:p>
          <a:p>
            <a:r>
              <a:rPr lang="en-US" dirty="0"/>
              <a:t>Typically learned end to end with the rest of the architecture</a:t>
            </a:r>
          </a:p>
          <a:p>
            <a:r>
              <a:rPr lang="en-US" dirty="0"/>
              <a:t>Modern architectures use sub-word embeddings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Positional encodings</a:t>
            </a:r>
            <a:r>
              <a:rPr lang="en-US" dirty="0"/>
              <a:t>: we will return to this shortly.</a:t>
            </a:r>
          </a:p>
        </p:txBody>
      </p:sp>
    </p:spTree>
    <p:extLst>
      <p:ext uri="{BB962C8B-B14F-4D97-AF65-F5344CB8AC3E}">
        <p14:creationId xmlns:p14="http://schemas.microsoft.com/office/powerpoint/2010/main" val="1749250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3A947-D018-8903-93EB-A887D65A4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98FE1B-F55F-B2D5-6FAC-A6649A8A65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Recall that our self-attention mechanism defines the output as: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/√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“query” vectors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“key” vectors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“value” vectors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98FE1B-F55F-B2D5-6FAC-A6649A8A65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7161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89928-F9DF-25EF-4F50-440B34976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69BF-DE20-78CA-E5CD-76C5B048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A90B6-8C47-4AC1-5CDB-A032F2536C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may repeat this operation for multiple </a:t>
                </a:r>
                <a:r>
                  <a:rPr lang="en-US" i="1" dirty="0"/>
                  <a:t>heads </a:t>
                </a:r>
                <a:r>
                  <a:rPr lang="en-US" dirty="0"/>
                  <a:t>defined by different query, key, and value matrices: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/√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“query” vectors for head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“key” vectors for head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“value” vectors for head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A90B6-8C47-4AC1-5CDB-A032F2536C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727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F929A-0F37-54D8-69F7-4C685639C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2B26-5D11-B1BD-366A-363760F0B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0CF662-B4F4-19B4-48BF-CFDBC9666B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then concatenate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 and apply a final linear projection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</a:p>
              <a:p>
                <a:pPr marL="0" indent="0">
                  <a:buNone/>
                </a:pPr>
                <a:r>
                  <a:rPr lang="en-US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concat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“query” vectors for head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“key” vectors for head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“value” vectors for head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0CF662-B4F4-19B4-48BF-CFDBC9666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9475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2D0D-570D-F0A0-B2C7-BB34AA86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from Vaswani et 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C6A75-7867-A976-326B-CA49EF951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95704" y="1405490"/>
            <a:ext cx="4803340" cy="53737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A0AA8E-A078-F7BC-321B-214445BB0270}"/>
              </a:ext>
            </a:extLst>
          </p:cNvPr>
          <p:cNvSpPr txBox="1"/>
          <p:nvPr/>
        </p:nvSpPr>
        <p:spPr>
          <a:xfrm>
            <a:off x="838200" y="2397670"/>
            <a:ext cx="34681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</a:rPr>
              <a:t>Figure 4: Two attention heads, also in layer 5 of 6, apparently involved in anaphora resolution. </a:t>
            </a:r>
          </a:p>
          <a:p>
            <a:endParaRPr lang="en-US" dirty="0">
              <a:solidFill>
                <a:srgbClr val="000000"/>
              </a:solidFill>
              <a:effectLst/>
            </a:endParaRPr>
          </a:p>
          <a:p>
            <a:r>
              <a:rPr lang="en-US" dirty="0">
                <a:solidFill>
                  <a:srgbClr val="000000"/>
                </a:solidFill>
                <a:effectLst/>
              </a:rPr>
              <a:t>Top: </a:t>
            </a:r>
            <a:r>
              <a:rPr lang="en-US" dirty="0"/>
              <a:t>Full attentions for head 5. </a:t>
            </a:r>
          </a:p>
          <a:p>
            <a:endParaRPr lang="en-US" dirty="0"/>
          </a:p>
          <a:p>
            <a:r>
              <a:rPr lang="en-US" dirty="0"/>
              <a:t>Bottom: Isolated attentions from just the word ‘its’ for attention heads 5 and 6. Note that the attentions are very sharp for this word.</a:t>
            </a:r>
          </a:p>
          <a:p>
            <a:endParaRPr lang="en-US" dirty="0"/>
          </a:p>
          <a:p>
            <a:pPr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40483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01883-EFA2-89A0-AB47-49D07D86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8D1D-4AF0-971D-E42D-FE10E606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from Vaswani et 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8F7E4-C385-AF66-11B1-B79028710AF0}"/>
              </a:ext>
            </a:extLst>
          </p:cNvPr>
          <p:cNvSpPr txBox="1"/>
          <p:nvPr/>
        </p:nvSpPr>
        <p:spPr>
          <a:xfrm>
            <a:off x="838200" y="2397670"/>
            <a:ext cx="346813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5: Many of the attention heads exhibit </a:t>
            </a:r>
            <a:r>
              <a:rPr lang="en-US" dirty="0" err="1"/>
              <a:t>behaviour</a:t>
            </a:r>
            <a:r>
              <a:rPr lang="en-US" dirty="0"/>
              <a:t> that seems related to the structure of the sentence. We give two such examples above, from two different heads from the encoder self-attention at layer 5 of 6. The heads clearly learned to perform different tasks.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29C9D0-B64A-2D8F-6129-0E3B10D45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124182" y="1745606"/>
            <a:ext cx="4734424" cy="499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141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6A9F9-731F-2F8D-7C38-9469058E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6E573-7B2D-ED3E-F755-9403CFCF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BE66D-0F7F-99E8-82CF-7D617858C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962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This is a layer-specific MLP applied </a:t>
            </a:r>
            <a:r>
              <a:rPr lang="en-US" i="1" dirty="0"/>
              <a:t>in parallel</a:t>
            </a:r>
            <a:r>
              <a:rPr lang="en-US" dirty="0"/>
              <a:t> to all the word / token representations</a:t>
            </a:r>
          </a:p>
          <a:p>
            <a:endParaRPr lang="en-US" dirty="0"/>
          </a:p>
          <a:p>
            <a:r>
              <a:rPr lang="en-US" dirty="0"/>
              <a:t>With the exception of the </a:t>
            </a:r>
            <a:r>
              <a:rPr lang="en-US" dirty="0" err="1"/>
              <a:t>softmax</a:t>
            </a:r>
            <a:r>
              <a:rPr lang="en-US" dirty="0"/>
              <a:t>, which is used to weight various representations – not apply a nonlinear transformation to them – this is the only source of nonlinearity in the model</a:t>
            </a:r>
          </a:p>
          <a:p>
            <a:endParaRPr lang="en-US" dirty="0"/>
          </a:p>
          <a:p>
            <a:r>
              <a:rPr lang="en-US" dirty="0"/>
              <a:t>Multi-head attention allows information exchange </a:t>
            </a:r>
            <a:r>
              <a:rPr lang="en-US" i="1" dirty="0"/>
              <a:t>across words / tokens</a:t>
            </a:r>
          </a:p>
          <a:p>
            <a:endParaRPr lang="en-US" dirty="0"/>
          </a:p>
          <a:p>
            <a:r>
              <a:rPr lang="en-US" dirty="0"/>
              <a:t>In contrast, the feed-forward layers allow us to refine our representations in a way that allows interactions </a:t>
            </a:r>
            <a:r>
              <a:rPr lang="en-US" i="1" dirty="0"/>
              <a:t>across embedding/representation dimensions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43993E-8B18-016F-A9CC-C4AB99F464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83" r="50870"/>
          <a:stretch>
            <a:fillRect/>
          </a:stretch>
        </p:blipFill>
        <p:spPr>
          <a:xfrm>
            <a:off x="7902609" y="612906"/>
            <a:ext cx="3053716" cy="58520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E13269-02FB-7A6E-B4CD-C26207DF233D}"/>
              </a:ext>
            </a:extLst>
          </p:cNvPr>
          <p:cNvSpPr/>
          <p:nvPr/>
        </p:nvSpPr>
        <p:spPr>
          <a:xfrm>
            <a:off x="8476735" y="1334531"/>
            <a:ext cx="2718487" cy="73316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258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440ED-8A9E-31CC-B47A-0ED889D3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F160-2D29-961E-A6AF-73BC50D35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&amp; norm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5175E5-CB7C-763A-54D9-E65BFDFF8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63962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Step 1: Add (i.e., residual connection)</a:t>
                </a:r>
              </a:p>
              <a:p>
                <a:pPr marL="457200" lvl="1" indent="0">
                  <a:buNone/>
                </a:pPr>
                <a:r>
                  <a:rPr lang="en-US" i="1" dirty="0"/>
                  <a:t>Why?</a:t>
                </a:r>
              </a:p>
              <a:p>
                <a:endParaRPr lang="en-US" dirty="0"/>
              </a:p>
              <a:p>
                <a:r>
                  <a:rPr lang="en-US" dirty="0"/>
                  <a:t>Step 2: Layer Norm</a:t>
                </a:r>
              </a:p>
              <a:p>
                <a:pPr lvl="1"/>
                <a:r>
                  <a:rPr lang="en-US" dirty="0"/>
                  <a:t>Normalize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have 0 mean and unit variance across its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features</a:t>
                </a:r>
              </a:p>
              <a:p>
                <a:pPr lvl="1"/>
                <a:r>
                  <a:rPr lang="en-US" dirty="0"/>
                  <a:t>Apply learned scale and shift parameters</a:t>
                </a:r>
              </a:p>
              <a:p>
                <a:pPr marL="457200" lvl="1" indent="0">
                  <a:buNone/>
                </a:pPr>
                <a:r>
                  <a:rPr lang="en-US" i="1" dirty="0"/>
                  <a:t>Why?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In many current architectures, this sequence is flipped to strengthen the residual connections</a:t>
                </a:r>
                <a:endParaRPr lang="en-US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5175E5-CB7C-763A-54D9-E65BFDFF8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63962" cy="4351338"/>
              </a:xfrm>
              <a:blipFill>
                <a:blip r:embed="rId3"/>
                <a:stretch>
                  <a:fillRect l="-1646" t="-2616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0B08A74-A843-70C6-24CA-EE0C84AEC2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683" r="50870"/>
          <a:stretch>
            <a:fillRect/>
          </a:stretch>
        </p:blipFill>
        <p:spPr>
          <a:xfrm>
            <a:off x="7902609" y="612906"/>
            <a:ext cx="3053716" cy="58520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13E8785-5B65-6B51-BBFD-5B5740120D1C}"/>
              </a:ext>
            </a:extLst>
          </p:cNvPr>
          <p:cNvSpPr/>
          <p:nvPr/>
        </p:nvSpPr>
        <p:spPr>
          <a:xfrm>
            <a:off x="8526162" y="2421923"/>
            <a:ext cx="2718487" cy="35422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77C066-E9FB-028B-1F98-420FE123AF57}"/>
              </a:ext>
            </a:extLst>
          </p:cNvPr>
          <p:cNvSpPr/>
          <p:nvPr/>
        </p:nvSpPr>
        <p:spPr>
          <a:xfrm>
            <a:off x="8526161" y="1027906"/>
            <a:ext cx="2718487" cy="35422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66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9F4A-0F07-A466-777D-B298C0CA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B9D52-282E-C332-D99D-EC090EB5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the full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8E637-1FB6-DE37-E811-3EED85192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962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Input embeddings and positional encodings</a:t>
            </a:r>
            <a:endParaRPr lang="en-US" dirty="0"/>
          </a:p>
          <a:p>
            <a:r>
              <a:rPr lang="en-US" u="sng" dirty="0"/>
              <a:t>Input embeddings</a:t>
            </a:r>
            <a:r>
              <a:rPr lang="en-US" dirty="0"/>
              <a:t>: map text to a sequence of dense vector representations</a:t>
            </a:r>
          </a:p>
          <a:p>
            <a:r>
              <a:rPr lang="en-US" u="sng" dirty="0"/>
              <a:t>Positional encodings</a:t>
            </a:r>
            <a:r>
              <a:rPr lang="en-US" dirty="0"/>
              <a:t>: add information about relative position within the sequence (we will return to this)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Transformer encoder stack </a:t>
            </a:r>
            <a:r>
              <a:rPr lang="en-US" dirty="0"/>
              <a:t>(N=6 in Vaswani; N=24 in BERT-large; N=96 in GPT-3)</a:t>
            </a:r>
          </a:p>
          <a:p>
            <a:r>
              <a:rPr lang="en-US" u="sng" dirty="0"/>
              <a:t>Multi-head attention</a:t>
            </a:r>
            <a:r>
              <a:rPr lang="en-US" dirty="0"/>
              <a:t>: refine representations of words (i.e. the meaning of each token) based on other words</a:t>
            </a:r>
          </a:p>
          <a:p>
            <a:pPr marL="457200" lvl="1" indent="0">
              <a:buNone/>
            </a:pPr>
            <a:r>
              <a:rPr lang="en-US" dirty="0"/>
              <a:t>[information exchange across words]</a:t>
            </a:r>
          </a:p>
          <a:p>
            <a:r>
              <a:rPr lang="en-US" u="sng" dirty="0"/>
              <a:t>Add &amp; norm</a:t>
            </a:r>
            <a:r>
              <a:rPr lang="en-US" dirty="0"/>
              <a:t>: residual connections (</a:t>
            </a:r>
            <a:r>
              <a:rPr lang="en-US" b="1" dirty="0"/>
              <a:t>add</a:t>
            </a:r>
            <a:r>
              <a:rPr lang="en-US" dirty="0"/>
              <a:t>) avoid vanishing gradients in earlier layers; normalizing improves numeric stability</a:t>
            </a:r>
          </a:p>
          <a:p>
            <a:r>
              <a:rPr lang="en-US" u="sng" dirty="0"/>
              <a:t>Feed forward</a:t>
            </a:r>
            <a:r>
              <a:rPr lang="en-US" dirty="0"/>
              <a:t>: nonlinear refinement of representations</a:t>
            </a:r>
          </a:p>
          <a:p>
            <a:pPr marL="457200" lvl="1" indent="0">
              <a:buNone/>
            </a:pPr>
            <a:r>
              <a:rPr lang="en-US" dirty="0"/>
              <a:t>[information exchange across embedding/representation dimensions]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23724-0ACB-F0B9-9686-73F1C78F18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83" r="50870"/>
          <a:stretch>
            <a:fillRect/>
          </a:stretch>
        </p:blipFill>
        <p:spPr>
          <a:xfrm>
            <a:off x="7902609" y="612906"/>
            <a:ext cx="3053716" cy="585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479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B466-AFF5-80DA-78DA-5E54D1B9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positional encodings?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BE3A6-FF7D-F1D3-0701-411E89B51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Nothing like this needed for a CNN, RNN,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821521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8811-A2C8-18EA-5EB9-9557435B0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transformer is permutation invariant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8ED861-9074-836F-31CD-F6C2184FFF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Consider input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the corresponding output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from a transformer encoder layer, and a given permutation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Claim: if we permute our input sequence according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i.e. our input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…,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the output sequence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…,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other words, permuting the order of the inputs simply permutes the order of the outputs. Then, supposing we mean pool, the whole thing is permutation invariant</a:t>
                </a:r>
              </a:p>
              <a:p>
                <a:endParaRPr lang="en-US" dirty="0"/>
              </a:p>
              <a:p>
                <a:r>
                  <a:rPr lang="en-US" dirty="0"/>
                  <a:t>It is straightforward to see that the feedforward and add &amp; norm operations have this property, since they are applied in parallel</a:t>
                </a:r>
              </a:p>
              <a:p>
                <a:endParaRPr lang="en-US" dirty="0"/>
              </a:p>
              <a:p>
                <a:r>
                  <a:rPr lang="en-US" dirty="0"/>
                  <a:t>So, let’s inspect multi-head attention with this in mind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8ED861-9074-836F-31CD-F6C2184FFF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616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0920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4C77A-65F5-DF86-1916-8E6AA7CE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8E9A-F261-F81B-53DD-1D1E531E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 is perm invariant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ABBFE-8D4E-A66E-3C2D-CA57F0E6C9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Recall that our self-attention mechanism defines the output as: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/√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“query” vectors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“key” vectors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US" dirty="0"/>
                  <a:t> is a matrix of </a:t>
                </a:r>
                <a:r>
                  <a:rPr lang="en-US" i="1" dirty="0"/>
                  <a:t>L</a:t>
                </a:r>
                <a:r>
                  <a:rPr lang="en-US" dirty="0"/>
                  <a:t> “value” vectors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Permute rows of </a:t>
                </a:r>
                <a:r>
                  <a:rPr lang="en-US" i="1" dirty="0"/>
                  <a:t>X</a:t>
                </a:r>
                <a:r>
                  <a:rPr lang="en-US" dirty="0"/>
                  <a:t> </a:t>
                </a:r>
              </a:p>
              <a:p>
                <a:pPr>
                  <a:buFont typeface="Wingdings" pitchFamily="2" charset="2"/>
                  <a:buChar char="è"/>
                </a:pPr>
                <a:r>
                  <a:rPr lang="en-US" dirty="0"/>
                  <a:t>permute rows of </a:t>
                </a:r>
                <a:r>
                  <a:rPr lang="en-US" i="1" dirty="0"/>
                  <a:t>Q</a:t>
                </a:r>
                <a:r>
                  <a:rPr lang="en-US" dirty="0"/>
                  <a:t>, </a:t>
                </a:r>
                <a:r>
                  <a:rPr lang="en-US" i="1" dirty="0"/>
                  <a:t>K</a:t>
                </a:r>
                <a:r>
                  <a:rPr lang="en-US" dirty="0"/>
                  <a:t>, and </a:t>
                </a:r>
                <a:r>
                  <a:rPr lang="en-US" i="1" dirty="0"/>
                  <a:t>V</a:t>
                </a:r>
              </a:p>
              <a:p>
                <a:pPr>
                  <a:buFont typeface="Wingdings" pitchFamily="2" charset="2"/>
                  <a:buChar char="è"/>
                </a:pPr>
                <a:r>
                  <a:rPr lang="en-US" dirty="0"/>
                  <a:t>permute the weights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/√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buFont typeface="Wingdings" pitchFamily="2" charset="2"/>
                  <a:buChar char="è"/>
                </a:pPr>
                <a:r>
                  <a:rPr lang="en-US" dirty="0"/>
                  <a:t>Leads to the corresponding permutation of </a:t>
                </a:r>
                <a:r>
                  <a:rPr lang="en-US" i="1" dirty="0"/>
                  <a:t>Y</a:t>
                </a:r>
              </a:p>
              <a:p>
                <a:pPr>
                  <a:buFont typeface="Wingdings" pitchFamily="2" charset="2"/>
                  <a:buChar char="è"/>
                </a:pPr>
                <a:r>
                  <a:rPr lang="en-US" dirty="0"/>
                  <a:t>I encourage you to give this a try!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ABBFE-8D4E-A66E-3C2D-CA57F0E6C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98068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7E2A-C1CF-42D6-EAAE-25F5B625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positional encodings breaks this invariance &amp; accounts for word ordering</a:t>
            </a:r>
          </a:p>
        </p:txBody>
      </p:sp>
      <p:pic>
        <p:nvPicPr>
          <p:cNvPr id="1026" name="Picture 2" descr="Understanding Positional Encoding in Transformers - Blog by Kemal Erdem">
            <a:extLst>
              <a:ext uri="{FF2B5EF4-FFF2-40B4-BE49-F238E27FC236}">
                <a16:creationId xmlns:a16="http://schemas.microsoft.com/office/drawing/2014/main" id="{F1E97451-43E3-BEF3-9941-AD6799643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2644"/>
            <a:ext cx="7326602" cy="436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C20875-6717-EC6C-40F5-665137906D96}"/>
              </a:ext>
            </a:extLst>
          </p:cNvPr>
          <p:cNvSpPr txBox="1"/>
          <p:nvPr/>
        </p:nvSpPr>
        <p:spPr>
          <a:xfrm>
            <a:off x="8592065" y="2505670"/>
            <a:ext cx="3229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variants on this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discuss a few next time</a:t>
            </a:r>
          </a:p>
        </p:txBody>
      </p:sp>
    </p:spTree>
    <p:extLst>
      <p:ext uri="{BB962C8B-B14F-4D97-AF65-F5344CB8AC3E}">
        <p14:creationId xmlns:p14="http://schemas.microsoft.com/office/powerpoint/2010/main" val="5809204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7222-F8D3-8DB6-9BCF-CEE950F2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8AE-EBF2-C53A-E5CA-CE995B1CD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the day, our encoder stack gives us a sequence of </a:t>
            </a:r>
            <a:r>
              <a:rPr lang="en-US" i="1" dirty="0"/>
              <a:t>L</a:t>
            </a:r>
            <a:r>
              <a:rPr lang="en-US" dirty="0"/>
              <a:t> contextualized representations, where </a:t>
            </a:r>
            <a:r>
              <a:rPr lang="en-US" i="1" dirty="0"/>
              <a:t>L</a:t>
            </a:r>
            <a:r>
              <a:rPr lang="en-US" dirty="0"/>
              <a:t> is the length of the input sequence</a:t>
            </a:r>
          </a:p>
          <a:p>
            <a:endParaRPr lang="en-US" dirty="0"/>
          </a:p>
          <a:p>
            <a:r>
              <a:rPr lang="en-US" dirty="0"/>
              <a:t>To make predictions, we can then:</a:t>
            </a:r>
          </a:p>
          <a:p>
            <a:pPr lvl="1"/>
            <a:r>
              <a:rPr lang="en-US" dirty="0"/>
              <a:t>Pool across </a:t>
            </a:r>
            <a:r>
              <a:rPr lang="en-US" i="1" dirty="0"/>
              <a:t>L</a:t>
            </a:r>
          </a:p>
          <a:p>
            <a:pPr lvl="1"/>
            <a:r>
              <a:rPr lang="en-US" dirty="0"/>
              <a:t>Use the representation corresponding to the starter ([CLS]) token</a:t>
            </a:r>
          </a:p>
          <a:p>
            <a:pPr lvl="1"/>
            <a:r>
              <a:rPr lang="en-US" dirty="0"/>
              <a:t>Aggregate in some other way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2999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6D94-D57B-7448-C772-1E67BBE0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EF83C-0179-83BE-9F8E-B0D4710E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we </a:t>
            </a:r>
            <a:r>
              <a:rPr lang="en-US" i="1" dirty="0"/>
              <a:t>train</a:t>
            </a:r>
            <a:r>
              <a:rPr lang="en-US" dirty="0"/>
              <a:t> this architecture?</a:t>
            </a:r>
          </a:p>
          <a:p>
            <a:endParaRPr lang="en-US" dirty="0"/>
          </a:p>
          <a:p>
            <a:r>
              <a:rPr lang="en-US" dirty="0"/>
              <a:t>What variants are common in practice?</a:t>
            </a:r>
          </a:p>
          <a:p>
            <a:endParaRPr lang="en-US" dirty="0"/>
          </a:p>
          <a:p>
            <a:r>
              <a:rPr lang="en-US" dirty="0"/>
              <a:t>How can we use this to model structured EHR data?</a:t>
            </a:r>
          </a:p>
          <a:p>
            <a:endParaRPr lang="en-US" dirty="0"/>
          </a:p>
          <a:p>
            <a:r>
              <a:rPr lang="en-US" dirty="0"/>
              <a:t>Other practical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3967491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3691</Words>
  <Application>Microsoft Macintosh PowerPoint</Application>
  <PresentationFormat>Widescreen</PresentationFormat>
  <Paragraphs>620</Paragraphs>
  <Slides>54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Attention and the Transformer architecture</vt:lpstr>
      <vt:lpstr>Recall: word embeddings</vt:lpstr>
      <vt:lpstr>Recall: medical concept embeddings</vt:lpstr>
      <vt:lpstr>Motivating the Transformer</vt:lpstr>
      <vt:lpstr>Making predictions from sequences Option 1: pooling</vt:lpstr>
      <vt:lpstr>Making predictions from sequences Option 2: ConvNet</vt:lpstr>
      <vt:lpstr>Weakness of ConvNets for language?</vt:lpstr>
      <vt:lpstr>PowerPoint Presentation</vt:lpstr>
      <vt:lpstr>Attention is all you need  (Vaswani et al., 2017)</vt:lpstr>
      <vt:lpstr>The Transformer</vt:lpstr>
      <vt:lpstr>Attention mechanisms</vt:lpstr>
      <vt:lpstr>Simple linear attention</vt:lpstr>
      <vt:lpstr>Is there a way to learn how to pool?</vt:lpstr>
      <vt:lpstr>Is there a way to learn how to pool?</vt:lpstr>
      <vt:lpstr>Illustration of simple linear attention (note that conventions vary on the ordering of dimensions)</vt:lpstr>
      <vt:lpstr>Simple self-attention</vt:lpstr>
      <vt:lpstr>Illustration of simple self-attention (note that conventions vary on the ordering of dimensions)</vt:lpstr>
      <vt:lpstr>Illustration of simple self-attention (note that conventions vary on the ordering of dimensions)</vt:lpstr>
      <vt:lpstr>Illustration of simple self-attention (note that conventions vary on the ordering of dimensions)</vt:lpstr>
      <vt:lpstr>Illustration of simple self-attention (note that conventions vary on the ordering of dimensions)</vt:lpstr>
      <vt:lpstr>Illustration of simple self-attention (note that conventions vary on the ordering of dimensions)</vt:lpstr>
      <vt:lpstr>Illustration of simple self-attention (note that conventions vary on the ordering of dimensions)</vt:lpstr>
      <vt:lpstr>Where do these queries come from?</vt:lpstr>
      <vt:lpstr>Simple self-attention</vt:lpstr>
      <vt:lpstr>Self-attention  (in contrast to simple self-attention)</vt:lpstr>
      <vt:lpstr>Where do the queries, keys, and values come from?</vt:lpstr>
      <vt:lpstr>Where do the queries, keys, and values come from?</vt:lpstr>
      <vt:lpstr>Illustration of self-attention (note that conventions vary on the ordering of dimensions)</vt:lpstr>
      <vt:lpstr>Illustration of self-attention (note that conventions vary on the ordering of dimensions)</vt:lpstr>
      <vt:lpstr>Illustration of self-attention (note that conventions vary on the ordering of dimensions)</vt:lpstr>
      <vt:lpstr>Self-attention  (in contrast to simple self-attention)</vt:lpstr>
      <vt:lpstr>The Transformer architecture</vt:lpstr>
      <vt:lpstr>A note on terminology</vt:lpstr>
      <vt:lpstr>Transformer overview</vt:lpstr>
      <vt:lpstr>Transformer overview</vt:lpstr>
      <vt:lpstr>Transformer overview</vt:lpstr>
      <vt:lpstr>Transformer overview</vt:lpstr>
      <vt:lpstr>Transformer overview</vt:lpstr>
      <vt:lpstr>Encoder components</vt:lpstr>
      <vt:lpstr>Input embeddings &amp; positional encodings</vt:lpstr>
      <vt:lpstr>Multi-head attention</vt:lpstr>
      <vt:lpstr>Multi-head attention</vt:lpstr>
      <vt:lpstr>Multi-head attention</vt:lpstr>
      <vt:lpstr>Examples from Vaswani et al</vt:lpstr>
      <vt:lpstr>Examples from Vaswani et al</vt:lpstr>
      <vt:lpstr>Feed-forward layer</vt:lpstr>
      <vt:lpstr>Add &amp; norm</vt:lpstr>
      <vt:lpstr>Revisiting the full encoder</vt:lpstr>
      <vt:lpstr>Why do we need positional encodings?</vt:lpstr>
      <vt:lpstr>The transformer is permutation invariant</vt:lpstr>
      <vt:lpstr>Multi-head attention is perm invariant</vt:lpstr>
      <vt:lpstr>Adding positional encodings breaks this invariance &amp; accounts for word ordering</vt:lpstr>
      <vt:lpstr>Making predictions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Engelhard, M.D., Ph.D.</dc:creator>
  <cp:lastModifiedBy>Matthew Engelhard, M.D., Ph.D.</cp:lastModifiedBy>
  <cp:revision>4</cp:revision>
  <dcterms:created xsi:type="dcterms:W3CDTF">2026-03-29T21:46:15Z</dcterms:created>
  <dcterms:modified xsi:type="dcterms:W3CDTF">2026-04-01T18:59:12Z</dcterms:modified>
</cp:coreProperties>
</file>