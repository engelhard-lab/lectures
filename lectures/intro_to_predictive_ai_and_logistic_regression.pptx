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147477821" r:id="rId3"/>
    <p:sldId id="2147477819" r:id="rId4"/>
    <p:sldId id="2147477818" r:id="rId5"/>
    <p:sldId id="324" r:id="rId6"/>
    <p:sldId id="585" r:id="rId7"/>
    <p:sldId id="474" r:id="rId8"/>
    <p:sldId id="625" r:id="rId9"/>
    <p:sldId id="586" r:id="rId10"/>
    <p:sldId id="2147477820" r:id="rId11"/>
    <p:sldId id="590" r:id="rId12"/>
    <p:sldId id="2147477822" r:id="rId13"/>
    <p:sldId id="2147477825" r:id="rId14"/>
    <p:sldId id="2147477824" r:id="rId15"/>
    <p:sldId id="517" r:id="rId16"/>
    <p:sldId id="2147477826" r:id="rId17"/>
    <p:sldId id="367" r:id="rId18"/>
    <p:sldId id="370" r:id="rId19"/>
    <p:sldId id="342" r:id="rId20"/>
    <p:sldId id="344" r:id="rId21"/>
    <p:sldId id="388" r:id="rId22"/>
    <p:sldId id="439" r:id="rId23"/>
    <p:sldId id="440" r:id="rId24"/>
    <p:sldId id="2147477827" r:id="rId25"/>
    <p:sldId id="2147477828" r:id="rId26"/>
    <p:sldId id="2147477829" r:id="rId27"/>
    <p:sldId id="214747783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175"/>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DAFFE4-3A02-1547-9098-39F8BD984D40}" type="datetimeFigureOut">
              <a:rPr lang="en-US" smtClean="0"/>
              <a:t>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0CC133-1F4F-8747-A895-2F83A6083C81}" type="slidenum">
              <a:rPr lang="en-US" smtClean="0"/>
              <a:t>‹#›</a:t>
            </a:fld>
            <a:endParaRPr lang="en-US"/>
          </a:p>
        </p:txBody>
      </p:sp>
    </p:spTree>
    <p:extLst>
      <p:ext uri="{BB962C8B-B14F-4D97-AF65-F5344CB8AC3E}">
        <p14:creationId xmlns:p14="http://schemas.microsoft.com/office/powerpoint/2010/main" val="3900962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Introduce myself</a:t>
            </a:r>
          </a:p>
          <a:p>
            <a:pPr marL="171450" indent="-171450">
              <a:buFontTx/>
              <a:buChar char="-"/>
            </a:pPr>
            <a:r>
              <a:rPr lang="en-US" dirty="0"/>
              <a:t>What program are you from?</a:t>
            </a:r>
          </a:p>
          <a:p>
            <a:pPr marL="171450" indent="-171450">
              <a:buFontTx/>
              <a:buChar char="-"/>
            </a:pPr>
            <a:r>
              <a:rPr lang="en-US" dirty="0"/>
              <a:t>Today: (1) sense of course overall; (2) logistic regression</a:t>
            </a:r>
          </a:p>
        </p:txBody>
      </p:sp>
      <p:sp>
        <p:nvSpPr>
          <p:cNvPr id="4" name="Slide Number Placeholder 3"/>
          <p:cNvSpPr>
            <a:spLocks noGrp="1"/>
          </p:cNvSpPr>
          <p:nvPr>
            <p:ph type="sldNum" sz="quarter" idx="5"/>
          </p:nvPr>
        </p:nvSpPr>
        <p:spPr/>
        <p:txBody>
          <a:bodyPr/>
          <a:lstStyle/>
          <a:p>
            <a:fld id="{BB0CC133-1F4F-8747-A895-2F83A6083C81}" type="slidenum">
              <a:rPr lang="en-US" smtClean="0"/>
              <a:t>1</a:t>
            </a:fld>
            <a:endParaRPr lang="en-US"/>
          </a:p>
        </p:txBody>
      </p:sp>
    </p:spTree>
    <p:extLst>
      <p:ext uri="{BB962C8B-B14F-4D97-AF65-F5344CB8AC3E}">
        <p14:creationId xmlns:p14="http://schemas.microsoft.com/office/powerpoint/2010/main" val="684009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B0CC133-1F4F-8747-A895-2F83A6083C81}" type="slidenum">
              <a:rPr lang="en-US" smtClean="0"/>
              <a:t>2</a:t>
            </a:fld>
            <a:endParaRPr lang="en-US"/>
          </a:p>
        </p:txBody>
      </p:sp>
    </p:spTree>
    <p:extLst>
      <p:ext uri="{BB962C8B-B14F-4D97-AF65-F5344CB8AC3E}">
        <p14:creationId xmlns:p14="http://schemas.microsoft.com/office/powerpoint/2010/main" val="1692184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building intelligent machines. Not a new field: dates back certainly to the 50s; arguably earlier</a:t>
            </a:r>
          </a:p>
          <a:p>
            <a:r>
              <a:rPr lang="en-US" sz="1200" kern="1200" dirty="0">
                <a:solidFill>
                  <a:schemeClr val="tx1"/>
                </a:solidFill>
                <a:effectLst/>
                <a:latin typeface="+mn-lt"/>
                <a:ea typeface="+mn-ea"/>
                <a:cs typeface="+mn-cs"/>
              </a:rPr>
              <a:t>So the question of “what is AI” becomes a question of “what is intelligence?, which is hard to define</a:t>
            </a:r>
          </a:p>
          <a:p>
            <a:r>
              <a:rPr lang="en-US" sz="1200" kern="1200" dirty="0">
                <a:solidFill>
                  <a:schemeClr val="tx1"/>
                </a:solidFill>
                <a:effectLst/>
                <a:latin typeface="+mn-lt"/>
                <a:ea typeface="+mn-ea"/>
                <a:cs typeface="+mn-cs"/>
              </a:rPr>
              <a:t>Systems that reason from experience or data to solve a problem or goal</a:t>
            </a:r>
          </a:p>
          <a:p>
            <a:r>
              <a:rPr lang="en-US" sz="1200" kern="1200" dirty="0">
                <a:solidFill>
                  <a:schemeClr val="tx1"/>
                </a:solidFill>
                <a:effectLst/>
                <a:latin typeface="+mn-lt"/>
                <a:ea typeface="+mn-ea"/>
                <a:cs typeface="+mn-cs"/>
              </a:rPr>
              <a:t>Turing himself, one of the fathers of AI, gave us the Turing test (has it been passed?</a:t>
            </a:r>
          </a:p>
          <a:p>
            <a:r>
              <a:rPr lang="en-US" sz="1200" kern="1200" dirty="0">
                <a:solidFill>
                  <a:schemeClr val="tx1"/>
                </a:solidFill>
                <a:effectLst/>
                <a:latin typeface="+mn-lt"/>
                <a:ea typeface="+mn-ea"/>
                <a:cs typeface="+mn-cs"/>
              </a:rPr>
              <a:t>• ⁃ But a system that can reason about images in the same way a radiologist might — certainly this is also “intelligent”</a:t>
            </a:r>
          </a:p>
        </p:txBody>
      </p:sp>
      <p:sp>
        <p:nvSpPr>
          <p:cNvPr id="4" name="Slide Number Placeholder 3"/>
          <p:cNvSpPr>
            <a:spLocks noGrp="1"/>
          </p:cNvSpPr>
          <p:nvPr>
            <p:ph type="sldNum" sz="quarter" idx="5"/>
          </p:nvPr>
        </p:nvSpPr>
        <p:spPr/>
        <p:txBody>
          <a:bodyPr/>
          <a:lstStyle/>
          <a:p>
            <a:fld id="{BB0CC133-1F4F-8747-A895-2F83A6083C81}" type="slidenum">
              <a:rPr lang="en-US" smtClean="0"/>
              <a:t>3</a:t>
            </a:fld>
            <a:endParaRPr lang="en-US"/>
          </a:p>
        </p:txBody>
      </p:sp>
    </p:spTree>
    <p:extLst>
      <p:ext uri="{BB962C8B-B14F-4D97-AF65-F5344CB8AC3E}">
        <p14:creationId xmlns:p14="http://schemas.microsoft.com/office/powerpoint/2010/main" val="965786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sz="1200" kern="1200" dirty="0">
                <a:solidFill>
                  <a:schemeClr val="tx1"/>
                </a:solidFill>
                <a:effectLst/>
                <a:latin typeface="+mn-lt"/>
                <a:ea typeface="+mn-ea"/>
                <a:cs typeface="+mn-cs"/>
              </a:rPr>
              <a:t>Three distinct branches with high clinical impact (describe)</a:t>
            </a:r>
          </a:p>
          <a:p>
            <a:pPr marL="171450" indent="-171450">
              <a:buFontTx/>
              <a:buChar char="-"/>
            </a:pPr>
            <a:r>
              <a:rPr lang="en-US" sz="1200" kern="1200" dirty="0">
                <a:solidFill>
                  <a:schemeClr val="tx1"/>
                </a:solidFill>
                <a:effectLst/>
                <a:latin typeface="+mn-lt"/>
                <a:ea typeface="+mn-ea"/>
                <a:cs typeface="+mn-cs"/>
              </a:rPr>
              <a:t>Established impact, emerging impact, near future impact</a:t>
            </a:r>
          </a:p>
          <a:p>
            <a:pPr marL="171450" indent="-171450">
              <a:buFontTx/>
              <a:buChar char="-"/>
            </a:pPr>
            <a:r>
              <a:rPr lang="en-US" sz="1200" kern="1200" dirty="0">
                <a:solidFill>
                  <a:schemeClr val="tx1"/>
                </a:solidFill>
                <a:effectLst/>
                <a:latin typeface="+mn-lt"/>
                <a:ea typeface="+mn-ea"/>
                <a:cs typeface="+mn-cs"/>
              </a:rPr>
              <a:t>In this course, we will focus on...</a:t>
            </a:r>
          </a:p>
          <a:p>
            <a:pPr marL="171450" indent="-171450">
              <a:buFontTx/>
              <a:buChar char="-"/>
            </a:pPr>
            <a:r>
              <a:rPr lang="en-US" sz="1200" kern="1200" dirty="0">
                <a:solidFill>
                  <a:schemeClr val="tx1"/>
                </a:solidFill>
                <a:effectLst/>
                <a:latin typeface="+mn-lt"/>
                <a:ea typeface="+mn-ea"/>
                <a:cs typeface="+mn-cs"/>
              </a:rPr>
              <a:t>We will focus on predictive AI, which (a) is important in and of itself; and (b) will position you to understand </a:t>
            </a:r>
            <a:r>
              <a:rPr lang="en-US" sz="1200" kern="1200" dirty="0" err="1">
                <a:solidFill>
                  <a:schemeClr val="tx1"/>
                </a:solidFill>
                <a:effectLst/>
                <a:latin typeface="+mn-lt"/>
                <a:ea typeface="+mn-ea"/>
                <a:cs typeface="+mn-cs"/>
              </a:rPr>
              <a:t>genAI</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B0CC133-1F4F-8747-A895-2F83A6083C81}" type="slidenum">
              <a:rPr lang="en-US" smtClean="0"/>
              <a:t>4</a:t>
            </a:fld>
            <a:endParaRPr lang="en-US"/>
          </a:p>
        </p:txBody>
      </p:sp>
    </p:spTree>
    <p:extLst>
      <p:ext uri="{BB962C8B-B14F-4D97-AF65-F5344CB8AC3E}">
        <p14:creationId xmlns:p14="http://schemas.microsoft.com/office/powerpoint/2010/main" val="287988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Tx/>
              <a:buChar char="-"/>
            </a:pPr>
            <a:r>
              <a:rPr lang="en-US" dirty="0"/>
              <a:t>our focus: prediction machines</a:t>
            </a:r>
          </a:p>
          <a:p>
            <a:pPr marL="171450" indent="-171450">
              <a:buFontTx/>
              <a:buChar char="-"/>
            </a:pPr>
            <a:r>
              <a:rPr lang="en-US" dirty="0"/>
              <a:t>What are they? functions, algorithms</a:t>
            </a:r>
          </a:p>
          <a:p>
            <a:pPr marL="171450" indent="-171450">
              <a:buFontTx/>
              <a:buChar char="-"/>
            </a:pPr>
            <a:r>
              <a:rPr lang="en-US" dirty="0"/>
              <a:t>more specifically: neural network prediction machines</a:t>
            </a:r>
          </a:p>
          <a:p>
            <a:pPr marL="171450" indent="-171450">
              <a:buFontTx/>
              <a:buChar char="-"/>
            </a:pPr>
            <a:endParaRPr lang="en-US" dirty="0"/>
          </a:p>
          <a:p>
            <a:pPr marL="171450" indent="-171450">
              <a:buFontTx/>
              <a:buChar char="-"/>
            </a:pPr>
            <a:r>
              <a:rPr lang="en-US" dirty="0"/>
              <a:t>The goal? Predict as well as we can. Approach is secondary.</a:t>
            </a:r>
          </a:p>
        </p:txBody>
      </p:sp>
      <p:sp>
        <p:nvSpPr>
          <p:cNvPr id="4" name="Slide Number Placeholder 3"/>
          <p:cNvSpPr>
            <a:spLocks noGrp="1"/>
          </p:cNvSpPr>
          <p:nvPr>
            <p:ph type="sldNum" sz="quarter" idx="10"/>
          </p:nvPr>
        </p:nvSpPr>
        <p:spPr/>
        <p:txBody>
          <a:bodyPr/>
          <a:lstStyle/>
          <a:p>
            <a:fld id="{DB333E9F-084A-8543-BC6F-0AE70009C29B}" type="slidenum">
              <a:rPr lang="en-US" smtClean="0"/>
              <a:t>5</a:t>
            </a:fld>
            <a:endParaRPr lang="en-US"/>
          </a:p>
        </p:txBody>
      </p:sp>
    </p:spTree>
    <p:extLst>
      <p:ext uri="{BB962C8B-B14F-4D97-AF65-F5344CB8AC3E}">
        <p14:creationId xmlns:p14="http://schemas.microsoft.com/office/powerpoint/2010/main" val="849583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Tabular clinical data</a:t>
            </a:r>
          </a:p>
          <a:p>
            <a:pPr marL="171450" indent="-171450">
              <a:buFontTx/>
              <a:buChar char="-"/>
            </a:pPr>
            <a:r>
              <a:rPr lang="en-US" dirty="0"/>
              <a:t>Logistic regression is often enough</a:t>
            </a:r>
          </a:p>
          <a:p>
            <a:pPr marL="171450" indent="-171450">
              <a:buFontTx/>
              <a:buChar char="-"/>
            </a:pPr>
            <a:r>
              <a:rPr lang="en-US" dirty="0"/>
              <a:t>Our first module will focus primarily on data like this</a:t>
            </a:r>
          </a:p>
        </p:txBody>
      </p:sp>
      <p:sp>
        <p:nvSpPr>
          <p:cNvPr id="4" name="Slide Number Placeholder 3"/>
          <p:cNvSpPr>
            <a:spLocks noGrp="1"/>
          </p:cNvSpPr>
          <p:nvPr>
            <p:ph type="sldNum" sz="quarter" idx="5"/>
          </p:nvPr>
        </p:nvSpPr>
        <p:spPr/>
        <p:txBody>
          <a:bodyPr/>
          <a:lstStyle/>
          <a:p>
            <a:fld id="{9FCDE58F-843A-8447-AF7F-7BD31329CDC1}" type="slidenum">
              <a:rPr lang="en-US" smtClean="0"/>
              <a:t>6</a:t>
            </a:fld>
            <a:endParaRPr lang="en-US"/>
          </a:p>
        </p:txBody>
      </p:sp>
    </p:spTree>
    <p:extLst>
      <p:ext uri="{BB962C8B-B14F-4D97-AF65-F5344CB8AC3E}">
        <p14:creationId xmlns:p14="http://schemas.microsoft.com/office/powerpoint/2010/main" val="2496373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Image data and other “complex” data</a:t>
            </a:r>
          </a:p>
          <a:p>
            <a:pPr marL="171450" indent="-171450">
              <a:buFontTx/>
              <a:buChar char="-"/>
            </a:pPr>
            <a:r>
              <a:rPr lang="en-US" dirty="0"/>
              <a:t>Logistic regression is not enough. Why?</a:t>
            </a:r>
          </a:p>
          <a:p>
            <a:pPr marL="171450" indent="-171450">
              <a:buFontTx/>
              <a:buChar char="-"/>
            </a:pPr>
            <a:r>
              <a:rPr lang="en-US" dirty="0"/>
              <a:t>Second module</a:t>
            </a:r>
          </a:p>
        </p:txBody>
      </p:sp>
      <p:sp>
        <p:nvSpPr>
          <p:cNvPr id="4" name="Slide Number Placeholder 3"/>
          <p:cNvSpPr>
            <a:spLocks noGrp="1"/>
          </p:cNvSpPr>
          <p:nvPr>
            <p:ph type="sldNum" sz="quarter" idx="5"/>
          </p:nvPr>
        </p:nvSpPr>
        <p:spPr/>
        <p:txBody>
          <a:bodyPr/>
          <a:lstStyle/>
          <a:p>
            <a:fld id="{9FCDE58F-843A-8447-AF7F-7BD31329CDC1}" type="slidenum">
              <a:rPr lang="en-US" smtClean="0"/>
              <a:t>7</a:t>
            </a:fld>
            <a:endParaRPr lang="en-US"/>
          </a:p>
        </p:txBody>
      </p:sp>
    </p:spTree>
    <p:extLst>
      <p:ext uri="{BB962C8B-B14F-4D97-AF65-F5344CB8AC3E}">
        <p14:creationId xmlns:p14="http://schemas.microsoft.com/office/powerpoint/2010/main" val="1278649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text data</a:t>
            </a:r>
          </a:p>
          <a:p>
            <a:pPr marL="171450" indent="-171450">
              <a:buFontTx/>
              <a:buChar char="-"/>
            </a:pPr>
            <a:r>
              <a:rPr lang="en-US" dirty="0"/>
              <a:t>Challenge: how to convert text to numbers?</a:t>
            </a:r>
          </a:p>
          <a:p>
            <a:pPr marL="171450" indent="-171450">
              <a:buFontTx/>
              <a:buChar char="-"/>
            </a:pPr>
            <a:r>
              <a:rPr lang="en-US" dirty="0"/>
              <a:t>Module 3</a:t>
            </a:r>
          </a:p>
          <a:p>
            <a:pPr marL="171450" indent="-171450">
              <a:buFontTx/>
              <a:buChar char="-"/>
            </a:pPr>
            <a:r>
              <a:rPr lang="en-US" dirty="0"/>
              <a:t>Similarities between sequences of words vs clinical events</a:t>
            </a:r>
          </a:p>
        </p:txBody>
      </p:sp>
      <p:sp>
        <p:nvSpPr>
          <p:cNvPr id="4" name="Slide Number Placeholder 3"/>
          <p:cNvSpPr>
            <a:spLocks noGrp="1"/>
          </p:cNvSpPr>
          <p:nvPr>
            <p:ph type="sldNum" sz="quarter" idx="5"/>
          </p:nvPr>
        </p:nvSpPr>
        <p:spPr/>
        <p:txBody>
          <a:bodyPr/>
          <a:lstStyle/>
          <a:p>
            <a:fld id="{068D4DD1-DEF0-9E45-B6DC-EE6A01731BE4}" type="slidenum">
              <a:rPr lang="en-US" smtClean="0"/>
              <a:t>8</a:t>
            </a:fld>
            <a:endParaRPr lang="en-US"/>
          </a:p>
        </p:txBody>
      </p:sp>
    </p:spTree>
    <p:extLst>
      <p:ext uri="{BB962C8B-B14F-4D97-AF65-F5344CB8AC3E}">
        <p14:creationId xmlns:p14="http://schemas.microsoft.com/office/powerpoint/2010/main" val="1937323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We will not be covering RL</a:t>
            </a:r>
          </a:p>
          <a:p>
            <a:pPr marL="171450" indent="-171450">
              <a:buFontTx/>
              <a:buChar char="-"/>
            </a:pPr>
            <a:r>
              <a:rPr lang="en-US" dirty="0"/>
              <a:t>But importantly, this too is a prediction machine</a:t>
            </a:r>
          </a:p>
          <a:p>
            <a:pPr marL="171450" indent="-171450">
              <a:buFontTx/>
              <a:buChar char="-"/>
            </a:pPr>
            <a:r>
              <a:rPr lang="en-US" dirty="0"/>
              <a:t>And what you learn here is foundational for understanding RL for clinical decision-making</a:t>
            </a:r>
          </a:p>
        </p:txBody>
      </p:sp>
      <p:sp>
        <p:nvSpPr>
          <p:cNvPr id="4" name="Slide Number Placeholder 3"/>
          <p:cNvSpPr>
            <a:spLocks noGrp="1"/>
          </p:cNvSpPr>
          <p:nvPr>
            <p:ph type="sldNum" sz="quarter" idx="5"/>
          </p:nvPr>
        </p:nvSpPr>
        <p:spPr/>
        <p:txBody>
          <a:bodyPr/>
          <a:lstStyle/>
          <a:p>
            <a:fld id="{9FCDE58F-843A-8447-AF7F-7BD31329CDC1}" type="slidenum">
              <a:rPr lang="en-US" smtClean="0"/>
              <a:t>9</a:t>
            </a:fld>
            <a:endParaRPr lang="en-US"/>
          </a:p>
        </p:txBody>
      </p:sp>
    </p:spTree>
    <p:extLst>
      <p:ext uri="{BB962C8B-B14F-4D97-AF65-F5344CB8AC3E}">
        <p14:creationId xmlns:p14="http://schemas.microsoft.com/office/powerpoint/2010/main" val="318398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D6D23-D441-2D9C-9359-D7EFD0CCB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31D99-3FBE-3352-9CDC-6A7ADC0FB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93A80-2D1E-F428-DA2E-306280E3CA4A}"/>
              </a:ext>
            </a:extLst>
          </p:cNvPr>
          <p:cNvSpPr>
            <a:spLocks noGrp="1"/>
          </p:cNvSpPr>
          <p:nvPr>
            <p:ph type="body" idx="1"/>
          </p:nvPr>
        </p:nvSpPr>
        <p:spPr/>
        <p:txBody>
          <a:bodyPr/>
          <a:lstStyle/>
          <a:p>
            <a:pPr marL="171450" indent="-171450">
              <a:buFontTx/>
              <a:buChar char="-"/>
            </a:pPr>
            <a:r>
              <a:rPr lang="en-US" dirty="0"/>
              <a:t>Module 4</a:t>
            </a:r>
          </a:p>
          <a:p>
            <a:pPr marL="171450" indent="-171450">
              <a:buFontTx/>
              <a:buChar char="-"/>
            </a:pPr>
            <a:r>
              <a:rPr lang="en-US" dirty="0"/>
              <a:t>Combine information from multiple modalities</a:t>
            </a:r>
          </a:p>
        </p:txBody>
      </p:sp>
      <p:sp>
        <p:nvSpPr>
          <p:cNvPr id="4" name="Slide Number Placeholder 3">
            <a:extLst>
              <a:ext uri="{FF2B5EF4-FFF2-40B4-BE49-F238E27FC236}">
                <a16:creationId xmlns:a16="http://schemas.microsoft.com/office/drawing/2014/main" id="{58C8C73B-8F3E-1344-566F-C62F79F49D37}"/>
              </a:ext>
            </a:extLst>
          </p:cNvPr>
          <p:cNvSpPr>
            <a:spLocks noGrp="1"/>
          </p:cNvSpPr>
          <p:nvPr>
            <p:ph type="sldNum" sz="quarter" idx="5"/>
          </p:nvPr>
        </p:nvSpPr>
        <p:spPr/>
        <p:txBody>
          <a:bodyPr/>
          <a:lstStyle/>
          <a:p>
            <a:fld id="{9FCDE58F-843A-8447-AF7F-7BD31329CDC1}" type="slidenum">
              <a:rPr lang="en-US" smtClean="0"/>
              <a:t>10</a:t>
            </a:fld>
            <a:endParaRPr lang="en-US"/>
          </a:p>
        </p:txBody>
      </p:sp>
    </p:spTree>
    <p:extLst>
      <p:ext uri="{BB962C8B-B14F-4D97-AF65-F5344CB8AC3E}">
        <p14:creationId xmlns:p14="http://schemas.microsoft.com/office/powerpoint/2010/main" val="1491017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8BAB2F-C783-9D4B-A4CB-0337EE734A25}" type="slidenum">
              <a:rPr lang="en-US" smtClean="0"/>
              <a:t>11</a:t>
            </a:fld>
            <a:endParaRPr lang="en-US"/>
          </a:p>
        </p:txBody>
      </p:sp>
    </p:spTree>
    <p:extLst>
      <p:ext uri="{BB962C8B-B14F-4D97-AF65-F5344CB8AC3E}">
        <p14:creationId xmlns:p14="http://schemas.microsoft.com/office/powerpoint/2010/main" val="2515027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Describe the model</a:t>
            </a:r>
          </a:p>
          <a:p>
            <a:pPr marL="171450" indent="-171450">
              <a:buFontTx/>
              <a:buChar char="-"/>
            </a:pPr>
            <a:r>
              <a:rPr lang="en-US" dirty="0"/>
              <a:t>Linear model; dot product between features and weights</a:t>
            </a:r>
          </a:p>
          <a:p>
            <a:pPr marL="171450" indent="-171450">
              <a:buFontTx/>
              <a:buChar char="-"/>
            </a:pPr>
            <a:r>
              <a:rPr lang="en-US" dirty="0"/>
              <a:t>Followed by logistic link function</a:t>
            </a:r>
          </a:p>
          <a:p>
            <a:pPr marL="171450" indent="-171450">
              <a:buFontTx/>
              <a:buChar char="-"/>
            </a:pPr>
            <a:r>
              <a:rPr lang="en-US" dirty="0"/>
              <a:t>Sigmoid -&gt; log-odds to probabilities</a:t>
            </a:r>
          </a:p>
          <a:p>
            <a:pPr marL="171450" indent="-171450">
              <a:buFontTx/>
              <a:buChar char="-"/>
            </a:pPr>
            <a:endParaRPr lang="en-US" dirty="0"/>
          </a:p>
          <a:p>
            <a:pPr marL="171450" indent="-171450">
              <a:buFontTx/>
              <a:buChar char="-"/>
            </a:pPr>
            <a:r>
              <a:rPr lang="en-US" dirty="0"/>
              <a:t>On notation:</a:t>
            </a:r>
          </a:p>
          <a:p>
            <a:pPr marL="171450" indent="-171450">
              <a:buFontTx/>
              <a:buChar char="-"/>
            </a:pPr>
            <a:r>
              <a:rPr lang="en-US" dirty="0"/>
              <a:t>Column vectors</a:t>
            </a:r>
          </a:p>
          <a:p>
            <a:pPr marL="171450" indent="-171450">
              <a:buFontTx/>
              <a:buChar char="-"/>
            </a:pPr>
            <a:r>
              <a:rPr lang="en-US" dirty="0" err="1"/>
              <a:t>w^T</a:t>
            </a:r>
            <a:r>
              <a:rPr lang="en-US" dirty="0"/>
              <a:t> * x</a:t>
            </a:r>
          </a:p>
        </p:txBody>
      </p:sp>
      <p:sp>
        <p:nvSpPr>
          <p:cNvPr id="4" name="Slide Number Placeholder 3"/>
          <p:cNvSpPr>
            <a:spLocks noGrp="1"/>
          </p:cNvSpPr>
          <p:nvPr>
            <p:ph type="sldNum" sz="quarter" idx="5"/>
          </p:nvPr>
        </p:nvSpPr>
        <p:spPr/>
        <p:txBody>
          <a:bodyPr/>
          <a:lstStyle/>
          <a:p>
            <a:fld id="{BB0CC133-1F4F-8747-A895-2F83A6083C81}" type="slidenum">
              <a:rPr lang="en-US" smtClean="0"/>
              <a:t>13</a:t>
            </a:fld>
            <a:endParaRPr lang="en-US"/>
          </a:p>
        </p:txBody>
      </p:sp>
    </p:spTree>
    <p:extLst>
      <p:ext uri="{BB962C8B-B14F-4D97-AF65-F5344CB8AC3E}">
        <p14:creationId xmlns:p14="http://schemas.microsoft.com/office/powerpoint/2010/main" val="2290217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“probabilistic perceptron”</a:t>
            </a:r>
          </a:p>
          <a:p>
            <a:endParaRPr lang="en-US" dirty="0"/>
          </a:p>
          <a:p>
            <a:r>
              <a:rPr lang="en-US" dirty="0"/>
              <a:t>Perceptron: replace sigmoid with a step function</a:t>
            </a:r>
          </a:p>
          <a:p>
            <a:r>
              <a:rPr lang="en-US" dirty="0"/>
              <a:t>In other words, predict positive if our dot product is positive, else predict negative</a:t>
            </a:r>
          </a:p>
          <a:p>
            <a:endParaRPr lang="en-US" dirty="0"/>
          </a:p>
          <a:p>
            <a:r>
              <a:rPr lang="en-US" dirty="0"/>
              <a:t>“multilayer perceptron”</a:t>
            </a:r>
          </a:p>
          <a:p>
            <a:endParaRPr lang="en-US" dirty="0"/>
          </a:p>
          <a:p>
            <a:pPr marL="171450" indent="-171450">
              <a:buFontTx/>
              <a:buChar char="-"/>
            </a:pPr>
            <a:r>
              <a:rPr lang="en-US" dirty="0"/>
              <a:t>Here our activation </a:t>
            </a:r>
            <a:r>
              <a:rPr lang="en-US" dirty="0" err="1"/>
              <a:t>fn</a:t>
            </a:r>
            <a:r>
              <a:rPr lang="en-US" dirty="0"/>
              <a:t> is applied to a single value</a:t>
            </a:r>
          </a:p>
          <a:p>
            <a:pPr marL="171450" indent="-171450">
              <a:buFontTx/>
              <a:buChar char="-"/>
            </a:pPr>
            <a:r>
              <a:rPr lang="en-US" dirty="0"/>
              <a:t>Later we’ll apply them to vectors: pointwise</a:t>
            </a:r>
          </a:p>
          <a:p>
            <a:endParaRPr lang="en-US" dirty="0"/>
          </a:p>
        </p:txBody>
      </p:sp>
      <p:sp>
        <p:nvSpPr>
          <p:cNvPr id="4" name="Slide Number Placeholder 3"/>
          <p:cNvSpPr>
            <a:spLocks noGrp="1"/>
          </p:cNvSpPr>
          <p:nvPr>
            <p:ph type="sldNum" sz="quarter" idx="5"/>
          </p:nvPr>
        </p:nvSpPr>
        <p:spPr/>
        <p:txBody>
          <a:bodyPr/>
          <a:lstStyle/>
          <a:p>
            <a:fld id="{BB0CC133-1F4F-8747-A895-2F83A6083C81}" type="slidenum">
              <a:rPr lang="en-US" smtClean="0"/>
              <a:t>14</a:t>
            </a:fld>
            <a:endParaRPr lang="en-US"/>
          </a:p>
        </p:txBody>
      </p:sp>
    </p:spTree>
    <p:extLst>
      <p:ext uri="{BB962C8B-B14F-4D97-AF65-F5344CB8AC3E}">
        <p14:creationId xmlns:p14="http://schemas.microsoft.com/office/powerpoint/2010/main" val="2971051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How might we apply logistic regression to clinical data?</a:t>
            </a:r>
          </a:p>
          <a:p>
            <a:r>
              <a:rPr lang="en-US" dirty="0"/>
              <a:t>(very similar to your assignment)</a:t>
            </a:r>
          </a:p>
        </p:txBody>
      </p:sp>
      <p:sp>
        <p:nvSpPr>
          <p:cNvPr id="4" name="Slide Number Placeholder 3"/>
          <p:cNvSpPr>
            <a:spLocks noGrp="1"/>
          </p:cNvSpPr>
          <p:nvPr>
            <p:ph type="sldNum" sz="quarter" idx="10"/>
          </p:nvPr>
        </p:nvSpPr>
        <p:spPr/>
        <p:txBody>
          <a:bodyPr/>
          <a:lstStyle/>
          <a:p>
            <a:fld id="{DB333E9F-084A-8543-BC6F-0AE70009C29B}" type="slidenum">
              <a:rPr lang="en-US" smtClean="0"/>
              <a:t>15</a:t>
            </a:fld>
            <a:endParaRPr lang="en-US"/>
          </a:p>
        </p:txBody>
      </p:sp>
    </p:spTree>
    <p:extLst>
      <p:ext uri="{BB962C8B-B14F-4D97-AF65-F5344CB8AC3E}">
        <p14:creationId xmlns:p14="http://schemas.microsoft.com/office/powerpoint/2010/main" val="50415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w define a direction in feature space</a:t>
            </a:r>
          </a:p>
          <a:p>
            <a:r>
              <a:rPr lang="en-US" dirty="0"/>
              <a:t>As we move in this direction, predicted log-odds increase</a:t>
            </a:r>
          </a:p>
          <a:p>
            <a:r>
              <a:rPr lang="en-US" dirty="0"/>
              <a:t>As we move perpendicular to this direction, predicted log-odds are constant</a:t>
            </a:r>
          </a:p>
          <a:p>
            <a:r>
              <a:rPr lang="en-US" dirty="0"/>
              <a:t>Decision boundary: we say we will predict positive if log-odds greater than some value</a:t>
            </a:r>
          </a:p>
          <a:p>
            <a:r>
              <a:rPr lang="en-US" dirty="0"/>
              <a:t>This defines a subspace perpendicular to our weight vector</a:t>
            </a:r>
          </a:p>
        </p:txBody>
      </p:sp>
      <p:sp>
        <p:nvSpPr>
          <p:cNvPr id="4" name="Slide Number Placeholder 3"/>
          <p:cNvSpPr>
            <a:spLocks noGrp="1"/>
          </p:cNvSpPr>
          <p:nvPr>
            <p:ph type="sldNum" sz="quarter" idx="5"/>
          </p:nvPr>
        </p:nvSpPr>
        <p:spPr/>
        <p:txBody>
          <a:bodyPr/>
          <a:lstStyle/>
          <a:p>
            <a:fld id="{BB0CC133-1F4F-8747-A895-2F83A6083C81}" type="slidenum">
              <a:rPr lang="en-US" smtClean="0"/>
              <a:t>16</a:t>
            </a:fld>
            <a:endParaRPr lang="en-US"/>
          </a:p>
        </p:txBody>
      </p:sp>
    </p:spTree>
    <p:extLst>
      <p:ext uri="{BB962C8B-B14F-4D97-AF65-F5344CB8AC3E}">
        <p14:creationId xmlns:p14="http://schemas.microsoft.com/office/powerpoint/2010/main" val="1879684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Imagine: red and blue are important!</a:t>
            </a:r>
          </a:p>
          <a:p>
            <a:r>
              <a:rPr lang="en-US" dirty="0"/>
              <a:t>So… we really need a non-linear decision boundary</a:t>
            </a:r>
          </a:p>
          <a:p>
            <a:r>
              <a:rPr lang="en-US" dirty="0"/>
              <a:t>Why can’t logistic regression do this?</a:t>
            </a:r>
          </a:p>
        </p:txBody>
      </p:sp>
      <p:sp>
        <p:nvSpPr>
          <p:cNvPr id="4" name="Slide Number Placeholder 3"/>
          <p:cNvSpPr>
            <a:spLocks noGrp="1"/>
          </p:cNvSpPr>
          <p:nvPr>
            <p:ph type="sldNum" sz="quarter" idx="10"/>
          </p:nvPr>
        </p:nvSpPr>
        <p:spPr/>
        <p:txBody>
          <a:bodyPr/>
          <a:lstStyle/>
          <a:p>
            <a:fld id="{DB333E9F-084A-8543-BC6F-0AE70009C29B}" type="slidenum">
              <a:rPr lang="en-US" smtClean="0"/>
              <a:t>17</a:t>
            </a:fld>
            <a:endParaRPr lang="en-US"/>
          </a:p>
        </p:txBody>
      </p:sp>
    </p:spTree>
    <p:extLst>
      <p:ext uri="{BB962C8B-B14F-4D97-AF65-F5344CB8AC3E}">
        <p14:creationId xmlns:p14="http://schemas.microsoft.com/office/powerpoint/2010/main" val="79260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33E9F-084A-8543-BC6F-0AE70009C29B}" type="slidenum">
              <a:rPr lang="en-US" smtClean="0"/>
              <a:t>18</a:t>
            </a:fld>
            <a:endParaRPr lang="en-US"/>
          </a:p>
        </p:txBody>
      </p:sp>
    </p:spTree>
    <p:extLst>
      <p:ext uri="{BB962C8B-B14F-4D97-AF65-F5344CB8AC3E}">
        <p14:creationId xmlns:p14="http://schemas.microsoft.com/office/powerpoint/2010/main" val="3169614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33E9F-084A-8543-BC6F-0AE70009C29B}" type="slidenum">
              <a:rPr lang="en-US" smtClean="0"/>
              <a:t>19</a:t>
            </a:fld>
            <a:endParaRPr lang="en-US"/>
          </a:p>
        </p:txBody>
      </p:sp>
    </p:spTree>
    <p:extLst>
      <p:ext uri="{BB962C8B-B14F-4D97-AF65-F5344CB8AC3E}">
        <p14:creationId xmlns:p14="http://schemas.microsoft.com/office/powerpoint/2010/main" val="2544224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33E9F-084A-8543-BC6F-0AE70009C29B}" type="slidenum">
              <a:rPr lang="en-US" smtClean="0"/>
              <a:t>20</a:t>
            </a:fld>
            <a:endParaRPr lang="en-US"/>
          </a:p>
        </p:txBody>
      </p:sp>
    </p:spTree>
    <p:extLst>
      <p:ext uri="{BB962C8B-B14F-4D97-AF65-F5344CB8AC3E}">
        <p14:creationId xmlns:p14="http://schemas.microsoft.com/office/powerpoint/2010/main" val="2906211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33E9F-084A-8543-BC6F-0AE70009C29B}" type="slidenum">
              <a:rPr lang="en-US" smtClean="0"/>
              <a:t>21</a:t>
            </a:fld>
            <a:endParaRPr lang="en-US"/>
          </a:p>
        </p:txBody>
      </p:sp>
    </p:spTree>
    <p:extLst>
      <p:ext uri="{BB962C8B-B14F-4D97-AF65-F5344CB8AC3E}">
        <p14:creationId xmlns:p14="http://schemas.microsoft.com/office/powerpoint/2010/main" val="1892591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33E9F-084A-8543-BC6F-0AE70009C29B}" type="slidenum">
              <a:rPr lang="en-US" smtClean="0"/>
              <a:t>22</a:t>
            </a:fld>
            <a:endParaRPr lang="en-US"/>
          </a:p>
        </p:txBody>
      </p:sp>
    </p:spTree>
    <p:extLst>
      <p:ext uri="{BB962C8B-B14F-4D97-AF65-F5344CB8AC3E}">
        <p14:creationId xmlns:p14="http://schemas.microsoft.com/office/powerpoint/2010/main" val="2852850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333E9F-084A-8543-BC6F-0AE70009C29B}" type="slidenum">
              <a:rPr lang="en-US" smtClean="0"/>
              <a:t>23</a:t>
            </a:fld>
            <a:endParaRPr lang="en-US"/>
          </a:p>
        </p:txBody>
      </p:sp>
    </p:spTree>
    <p:extLst>
      <p:ext uri="{BB962C8B-B14F-4D97-AF65-F5344CB8AC3E}">
        <p14:creationId xmlns:p14="http://schemas.microsoft.com/office/powerpoint/2010/main" val="4252540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94CB2-553A-8CC7-6260-F372F0167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5CB18-207E-CDF1-B041-52082C3CF29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5DC8DC8-A683-905F-A0B7-918BC973DB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B6460-7849-4A49-84A9-355F1FD84BDE}"/>
              </a:ext>
            </a:extLst>
          </p:cNvPr>
          <p:cNvSpPr>
            <a:spLocks noGrp="1"/>
          </p:cNvSpPr>
          <p:nvPr>
            <p:ph type="sldNum" sz="quarter" idx="10"/>
          </p:nvPr>
        </p:nvSpPr>
        <p:spPr/>
        <p:txBody>
          <a:bodyPr/>
          <a:lstStyle/>
          <a:p>
            <a:fld id="{DB333E9F-084A-8543-BC6F-0AE70009C29B}" type="slidenum">
              <a:rPr lang="en-US" smtClean="0"/>
              <a:t>24</a:t>
            </a:fld>
            <a:endParaRPr lang="en-US"/>
          </a:p>
        </p:txBody>
      </p:sp>
    </p:spTree>
    <p:extLst>
      <p:ext uri="{BB962C8B-B14F-4D97-AF65-F5344CB8AC3E}">
        <p14:creationId xmlns:p14="http://schemas.microsoft.com/office/powerpoint/2010/main" val="3912434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E2A3-8F68-03E1-587A-46037933A4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E584DC-2FEC-311C-FEC0-941D6972F6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5EB743-195D-A24E-AE33-6DE2F7EEA571}"/>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5" name="Footer Placeholder 4">
            <a:extLst>
              <a:ext uri="{FF2B5EF4-FFF2-40B4-BE49-F238E27FC236}">
                <a16:creationId xmlns:a16="http://schemas.microsoft.com/office/drawing/2014/main" id="{F73B1E1A-D64A-EF8D-C5E3-4FF56F6E9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E2464-5A86-7C58-902C-7BD3AC67CC95}"/>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3770853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9C12F-26DD-876A-029D-4399DEE163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89B584-69FC-2FFA-4CF5-AF919EE3FF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510FAB-2B77-7F53-C442-E2D93AF0AA0C}"/>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5" name="Footer Placeholder 4">
            <a:extLst>
              <a:ext uri="{FF2B5EF4-FFF2-40B4-BE49-F238E27FC236}">
                <a16:creationId xmlns:a16="http://schemas.microsoft.com/office/drawing/2014/main" id="{D940261D-CFD7-A0A3-8FE0-37042E4C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E9892-3472-EFA8-209A-F5919BDDA182}"/>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572805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02FAE-61CA-D123-C2E2-91ECA24BCA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305870-4AD2-4F93-B4AD-01DD61BC8E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637AF4-4B9D-5977-607D-27BC766D543B}"/>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5" name="Footer Placeholder 4">
            <a:extLst>
              <a:ext uri="{FF2B5EF4-FFF2-40B4-BE49-F238E27FC236}">
                <a16:creationId xmlns:a16="http://schemas.microsoft.com/office/drawing/2014/main" id="{2980E7BF-9AE7-E256-96A3-B3E86088E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F8BD48-823F-3482-DD6A-A2D3E373ECB2}"/>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2005166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AA063-C35A-2836-9D49-977A1A9B8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1F2862-048F-0BED-D91D-A943AF9879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12D000-0BE5-8E89-5B10-5EFA3A6372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65C0C5-6A4E-942C-BF25-B31A901A8818}"/>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6" name="Footer Placeholder 5">
            <a:extLst>
              <a:ext uri="{FF2B5EF4-FFF2-40B4-BE49-F238E27FC236}">
                <a16:creationId xmlns:a16="http://schemas.microsoft.com/office/drawing/2014/main" id="{ED55B5D6-D16B-E653-5D40-A1BB56F82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ACEC73-5BAE-E9D1-CC02-B491B8BDFE7F}"/>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3231645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480D-301D-33A8-8EEF-6E87E6FB63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F54796-E2B9-D5D6-5E2B-BE2A3A64C8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37A09B-1A73-E136-B839-039D78DC89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D70A-02F3-8A6F-C99E-F98B2D0121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6AEF2-495C-1699-F1C7-7D003DD3AF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62B642-F7B6-22C0-0977-B1507F47C40A}"/>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8" name="Footer Placeholder 7">
            <a:extLst>
              <a:ext uri="{FF2B5EF4-FFF2-40B4-BE49-F238E27FC236}">
                <a16:creationId xmlns:a16="http://schemas.microsoft.com/office/drawing/2014/main" id="{106E11CC-FBCB-CCB0-537D-8A2C9FA042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569B64-1DF8-9A10-1541-F3FDE9394F58}"/>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4002125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75FA-55AC-96EF-64B0-9FEEE89076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CE08E4-519F-E3C0-87E5-61AFECAA7AEE}"/>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4" name="Footer Placeholder 3">
            <a:extLst>
              <a:ext uri="{FF2B5EF4-FFF2-40B4-BE49-F238E27FC236}">
                <a16:creationId xmlns:a16="http://schemas.microsoft.com/office/drawing/2014/main" id="{4B6CC263-901B-6935-43F9-58BF2385A9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650203-B5BC-0573-55DF-AB2BDA0C3133}"/>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1523172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1F979-E231-4EAA-AD7B-62F57C420E2E}"/>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3" name="Footer Placeholder 2">
            <a:extLst>
              <a:ext uri="{FF2B5EF4-FFF2-40B4-BE49-F238E27FC236}">
                <a16:creationId xmlns:a16="http://schemas.microsoft.com/office/drawing/2014/main" id="{B64764D7-2D79-347D-D349-17B7C84E4B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4C7977-A919-1BCC-FC89-57792A99C765}"/>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1498129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9AAA-C22E-9E58-D63A-99BCE582D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66B5B5-93D3-74C7-2173-83FEE997F1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3B4A00-0F7F-A015-56BA-45675877D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BDE32F-4EB0-63B1-5798-B12D3BC70275}"/>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6" name="Footer Placeholder 5">
            <a:extLst>
              <a:ext uri="{FF2B5EF4-FFF2-40B4-BE49-F238E27FC236}">
                <a16:creationId xmlns:a16="http://schemas.microsoft.com/office/drawing/2014/main" id="{EEC18FE8-63FF-133C-CC7D-BE24E1F670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1AB7B3-C41B-3EF3-6AA6-3BE4DEB7FC22}"/>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3728029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C6AB4-0C8E-8B28-88B5-999E341C3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D8F739-710A-C6B8-CDB6-3AB6AF16E1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D7D66F-0EF6-A32A-15FC-E2C29C3F4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B54D5C-153F-A55C-321F-3E916D6C704D}"/>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6" name="Footer Placeholder 5">
            <a:extLst>
              <a:ext uri="{FF2B5EF4-FFF2-40B4-BE49-F238E27FC236}">
                <a16:creationId xmlns:a16="http://schemas.microsoft.com/office/drawing/2014/main" id="{601A0A08-952E-2BF8-444D-463F67780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F77D5-DA4C-CCF4-54EE-F4538C66B194}"/>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3704726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28B75-438E-A0EE-A5E3-D0D3DD354B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3F3A72-8BAD-B89F-228F-A1D8FF5BCB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000B80-ACEC-B622-8D98-46940048A869}"/>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5" name="Footer Placeholder 4">
            <a:extLst>
              <a:ext uri="{FF2B5EF4-FFF2-40B4-BE49-F238E27FC236}">
                <a16:creationId xmlns:a16="http://schemas.microsoft.com/office/drawing/2014/main" id="{8837B6D7-547C-5B7A-FEB2-025CF9734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E788B2-2462-D6A7-D3DB-E2226C643CBC}"/>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1125303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FAF38-82DF-D2CF-9043-06FC1559DA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A108C3-9B9F-BD98-0B71-461BB7EE8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CA92FC-9D39-DD11-F52A-72A2DD87B271}"/>
              </a:ext>
            </a:extLst>
          </p:cNvPr>
          <p:cNvSpPr>
            <a:spLocks noGrp="1"/>
          </p:cNvSpPr>
          <p:nvPr>
            <p:ph type="dt" sz="half" idx="10"/>
          </p:nvPr>
        </p:nvSpPr>
        <p:spPr/>
        <p:txBody>
          <a:bodyPr/>
          <a:lstStyle/>
          <a:p>
            <a:fld id="{C26481E7-3EC7-124A-8537-0C0EDDAF5CB5}" type="datetimeFigureOut">
              <a:rPr lang="en-US" smtClean="0"/>
              <a:t>1/7/26</a:t>
            </a:fld>
            <a:endParaRPr lang="en-US"/>
          </a:p>
        </p:txBody>
      </p:sp>
      <p:sp>
        <p:nvSpPr>
          <p:cNvPr id="5" name="Footer Placeholder 4">
            <a:extLst>
              <a:ext uri="{FF2B5EF4-FFF2-40B4-BE49-F238E27FC236}">
                <a16:creationId xmlns:a16="http://schemas.microsoft.com/office/drawing/2014/main" id="{D482F68A-9D7F-79D7-EF88-7771D466F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D0D215-CE38-EF45-8214-B1038651336A}"/>
              </a:ext>
            </a:extLst>
          </p:cNvPr>
          <p:cNvSpPr>
            <a:spLocks noGrp="1"/>
          </p:cNvSpPr>
          <p:nvPr>
            <p:ph type="sldNum" sz="quarter" idx="12"/>
          </p:nvPr>
        </p:nvSpPr>
        <p:spPr/>
        <p:txBody>
          <a:bodyPr/>
          <a:lstStyle/>
          <a:p>
            <a:fld id="{788CC790-2AC2-744B-A509-06C7E3760CBB}" type="slidenum">
              <a:rPr lang="en-US" smtClean="0"/>
              <a:t>‹#›</a:t>
            </a:fld>
            <a:endParaRPr lang="en-US"/>
          </a:p>
        </p:txBody>
      </p:sp>
    </p:spTree>
    <p:extLst>
      <p:ext uri="{BB962C8B-B14F-4D97-AF65-F5344CB8AC3E}">
        <p14:creationId xmlns:p14="http://schemas.microsoft.com/office/powerpoint/2010/main" val="1646903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8E24D1-E4CA-89E5-1A57-B711C84910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F3852D-406F-0CDD-BFC9-0F7679FA22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BEC6CA-48F5-4CF6-D9D7-044A139418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6481E7-3EC7-124A-8537-0C0EDDAF5CB5}" type="datetimeFigureOut">
              <a:rPr lang="en-US" smtClean="0"/>
              <a:t>1/7/26</a:t>
            </a:fld>
            <a:endParaRPr lang="en-US"/>
          </a:p>
        </p:txBody>
      </p:sp>
      <p:sp>
        <p:nvSpPr>
          <p:cNvPr id="5" name="Footer Placeholder 4">
            <a:extLst>
              <a:ext uri="{FF2B5EF4-FFF2-40B4-BE49-F238E27FC236}">
                <a16:creationId xmlns:a16="http://schemas.microsoft.com/office/drawing/2014/main" id="{FCFD2888-29FB-B904-47F6-7B338D1A08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DDB7F5-1F7D-730C-53DC-D8469DFD20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8CC790-2AC2-744B-A509-06C7E3760CBB}" type="slidenum">
              <a:rPr lang="en-US" smtClean="0"/>
              <a:t>‹#›</a:t>
            </a:fld>
            <a:endParaRPr lang="en-US"/>
          </a:p>
        </p:txBody>
      </p:sp>
    </p:spTree>
    <p:extLst>
      <p:ext uri="{BB962C8B-B14F-4D97-AF65-F5344CB8AC3E}">
        <p14:creationId xmlns:p14="http://schemas.microsoft.com/office/powerpoint/2010/main" val="1999031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3.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0.png"/><Relationship Id="rId7" Type="http://schemas.openxmlformats.org/officeDocument/2006/relationships/image" Target="../media/image19.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1.png"/><Relationship Id="rId10" Type="http://schemas.openxmlformats.org/officeDocument/2006/relationships/image" Target="../media/image23.png"/><Relationship Id="rId4" Type="http://schemas.openxmlformats.org/officeDocument/2006/relationships/image" Target="../media/image10.png"/><Relationship Id="rId9" Type="http://schemas.microsoft.com/office/2007/relationships/hdphoto" Target="../media/hdphoto2.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22.png"/><Relationship Id="rId1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22.png"/><Relationship Id="rId1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23.jpg"/></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9.emf"/><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1.png"/><Relationship Id="rId7" Type="http://schemas.openxmlformats.org/officeDocument/2006/relationships/image" Target="../media/image40.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0.png"/><Relationship Id="rId4" Type="http://schemas.openxmlformats.org/officeDocument/2006/relationships/image" Target="../media/image39.emf"/></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39.emf"/><Relationship Id="rId4" Type="http://schemas.openxmlformats.org/officeDocument/2006/relationships/image" Target="../media/image40.emf"/></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5C17F-7A6A-F2D5-397F-65D9F8E48CDB}"/>
              </a:ext>
            </a:extLst>
          </p:cNvPr>
          <p:cNvSpPr>
            <a:spLocks noGrp="1"/>
          </p:cNvSpPr>
          <p:nvPr>
            <p:ph type="ctrTitle"/>
          </p:nvPr>
        </p:nvSpPr>
        <p:spPr/>
        <p:txBody>
          <a:bodyPr/>
          <a:lstStyle/>
          <a:p>
            <a:r>
              <a:rPr lang="en-US" dirty="0"/>
              <a:t>Intro to Predictive AI:</a:t>
            </a:r>
            <a:br>
              <a:rPr lang="en-US" dirty="0"/>
            </a:br>
            <a:r>
              <a:rPr lang="en-US" dirty="0"/>
              <a:t>Logistic Regression</a:t>
            </a:r>
          </a:p>
        </p:txBody>
      </p:sp>
      <p:sp>
        <p:nvSpPr>
          <p:cNvPr id="3" name="Subtitle 2">
            <a:extLst>
              <a:ext uri="{FF2B5EF4-FFF2-40B4-BE49-F238E27FC236}">
                <a16:creationId xmlns:a16="http://schemas.microsoft.com/office/drawing/2014/main" id="{A9F1886C-43B3-9A64-E166-0E549123E4E0}"/>
              </a:ext>
            </a:extLst>
          </p:cNvPr>
          <p:cNvSpPr>
            <a:spLocks noGrp="1"/>
          </p:cNvSpPr>
          <p:nvPr>
            <p:ph type="subTitle" idx="1"/>
          </p:nvPr>
        </p:nvSpPr>
        <p:spPr/>
        <p:txBody>
          <a:bodyPr/>
          <a:lstStyle/>
          <a:p>
            <a:endParaRPr lang="en-US" dirty="0"/>
          </a:p>
          <a:p>
            <a:r>
              <a:rPr lang="en-US" dirty="0"/>
              <a:t>Matt Engelhard</a:t>
            </a:r>
          </a:p>
        </p:txBody>
      </p:sp>
    </p:spTree>
    <p:extLst>
      <p:ext uri="{BB962C8B-B14F-4D97-AF65-F5344CB8AC3E}">
        <p14:creationId xmlns:p14="http://schemas.microsoft.com/office/powerpoint/2010/main" val="993726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02E5-7C7E-7A0A-5E52-7AD08AF4A19F}"/>
              </a:ext>
            </a:extLst>
          </p:cNvPr>
          <p:cNvSpPr>
            <a:spLocks noGrp="1"/>
          </p:cNvSpPr>
          <p:nvPr>
            <p:ph type="title"/>
          </p:nvPr>
        </p:nvSpPr>
        <p:spPr/>
        <p:txBody>
          <a:bodyPr/>
          <a:lstStyle/>
          <a:p>
            <a:r>
              <a:rPr lang="en-US" dirty="0"/>
              <a:t>Predictive AI with health data</a:t>
            </a:r>
          </a:p>
        </p:txBody>
      </p:sp>
      <p:sp>
        <p:nvSpPr>
          <p:cNvPr id="3" name="Text Placeholder 2">
            <a:extLst>
              <a:ext uri="{FF2B5EF4-FFF2-40B4-BE49-F238E27FC236}">
                <a16:creationId xmlns:a16="http://schemas.microsoft.com/office/drawing/2014/main" id="{54D1D7EC-5DCA-2E37-981C-F1214145AD95}"/>
              </a:ext>
            </a:extLst>
          </p:cNvPr>
          <p:cNvSpPr>
            <a:spLocks noGrp="1"/>
          </p:cNvSpPr>
          <p:nvPr>
            <p:ph type="body" idx="1"/>
          </p:nvPr>
        </p:nvSpPr>
        <p:spPr/>
        <p:txBody>
          <a:bodyPr/>
          <a:lstStyle/>
          <a:p>
            <a:r>
              <a:rPr lang="en-US" dirty="0"/>
              <a:t>An overview of what we’ll be covering</a:t>
            </a:r>
          </a:p>
        </p:txBody>
      </p:sp>
    </p:spTree>
    <p:extLst>
      <p:ext uri="{BB962C8B-B14F-4D97-AF65-F5344CB8AC3E}">
        <p14:creationId xmlns:p14="http://schemas.microsoft.com/office/powerpoint/2010/main" val="3182787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A64C-C721-BD9E-B385-9D00FF85734A}"/>
              </a:ext>
            </a:extLst>
          </p:cNvPr>
          <p:cNvSpPr>
            <a:spLocks noGrp="1"/>
          </p:cNvSpPr>
          <p:nvPr>
            <p:ph type="title"/>
          </p:nvPr>
        </p:nvSpPr>
        <p:spPr/>
        <p:txBody>
          <a:bodyPr/>
          <a:lstStyle/>
          <a:p>
            <a:r>
              <a:rPr lang="en-US" dirty="0"/>
              <a:t>What is AI?</a:t>
            </a:r>
          </a:p>
        </p:txBody>
      </p:sp>
      <p:sp>
        <p:nvSpPr>
          <p:cNvPr id="3" name="Content Placeholder 2">
            <a:extLst>
              <a:ext uri="{FF2B5EF4-FFF2-40B4-BE49-F238E27FC236}">
                <a16:creationId xmlns:a16="http://schemas.microsoft.com/office/drawing/2014/main" id="{1399CB23-9A37-757C-D1CC-B53B9A00D927}"/>
              </a:ext>
            </a:extLst>
          </p:cNvPr>
          <p:cNvSpPr>
            <a:spLocks noGrp="1"/>
          </p:cNvSpPr>
          <p:nvPr>
            <p:ph idx="1"/>
          </p:nvPr>
        </p:nvSpPr>
        <p:spPr>
          <a:xfrm>
            <a:off x="838200" y="1825625"/>
            <a:ext cx="5360581" cy="4351338"/>
          </a:xfrm>
        </p:spPr>
        <p:txBody>
          <a:bodyPr/>
          <a:lstStyle/>
          <a:p>
            <a:pPr marL="0" indent="0">
              <a:buNone/>
            </a:pPr>
            <a:r>
              <a:rPr lang="en-US" dirty="0"/>
              <a:t>A scientific field concerned with developing </a:t>
            </a:r>
            <a:r>
              <a:rPr lang="en-US" b="1" dirty="0"/>
              <a:t>intelligent machines</a:t>
            </a:r>
            <a:r>
              <a:rPr lang="en-US" dirty="0"/>
              <a:t>.</a:t>
            </a:r>
          </a:p>
          <a:p>
            <a:pPr marL="0" indent="0">
              <a:buNone/>
            </a:pPr>
            <a:endParaRPr lang="en-US" dirty="0"/>
          </a:p>
          <a:p>
            <a:pPr marL="0" indent="0">
              <a:buNone/>
            </a:pPr>
            <a:r>
              <a:rPr lang="en-US" dirty="0"/>
              <a:t>What is </a:t>
            </a:r>
            <a:r>
              <a:rPr lang="en-US" b="1" dirty="0"/>
              <a:t>intelligence</a:t>
            </a:r>
            <a:r>
              <a:rPr lang="en-US" dirty="0"/>
              <a:t>?</a:t>
            </a:r>
          </a:p>
          <a:p>
            <a:pPr marL="0" indent="0">
              <a:buNone/>
            </a:pPr>
            <a:endParaRPr lang="en-US" dirty="0"/>
          </a:p>
          <a:p>
            <a:r>
              <a:rPr lang="en-US" dirty="0"/>
              <a:t>learn from experience</a:t>
            </a:r>
          </a:p>
          <a:p>
            <a:r>
              <a:rPr lang="en-US" dirty="0"/>
              <a:t>solve problems</a:t>
            </a:r>
          </a:p>
          <a:p>
            <a:r>
              <a:rPr lang="en-US" dirty="0"/>
              <a:t>make decisions</a:t>
            </a:r>
          </a:p>
          <a:p>
            <a:pPr marL="0" indent="0">
              <a:buNone/>
            </a:pPr>
            <a:endParaRPr lang="en-US" dirty="0"/>
          </a:p>
        </p:txBody>
      </p:sp>
      <p:grpSp>
        <p:nvGrpSpPr>
          <p:cNvPr id="5" name="Group 4">
            <a:extLst>
              <a:ext uri="{FF2B5EF4-FFF2-40B4-BE49-F238E27FC236}">
                <a16:creationId xmlns:a16="http://schemas.microsoft.com/office/drawing/2014/main" id="{BADA2E2E-B223-CFA5-F77B-EFB98274810D}"/>
              </a:ext>
            </a:extLst>
          </p:cNvPr>
          <p:cNvGrpSpPr/>
          <p:nvPr/>
        </p:nvGrpSpPr>
        <p:grpSpPr>
          <a:xfrm>
            <a:off x="7089685" y="1774540"/>
            <a:ext cx="3554131" cy="3308920"/>
            <a:chOff x="7721509" y="2459015"/>
            <a:chExt cx="3554131" cy="3308920"/>
          </a:xfrm>
        </p:grpSpPr>
        <p:pic>
          <p:nvPicPr>
            <p:cNvPr id="6" name="Picture 4" descr="Generated image">
              <a:extLst>
                <a:ext uri="{FF2B5EF4-FFF2-40B4-BE49-F238E27FC236}">
                  <a16:creationId xmlns:a16="http://schemas.microsoft.com/office/drawing/2014/main" id="{00643C90-41EC-2F73-85E5-E7DCA9191F9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7773" b="73503" l="13770" r="84473">
                          <a14:foregroundMark x1="40625" y1="21680" x2="55762" y2="19401"/>
                          <a14:foregroundMark x1="55762" y1="19401" x2="58984" y2="20833"/>
                          <a14:foregroundMark x1="32617" y1="30599" x2="41309" y2="50326"/>
                          <a14:foregroundMark x1="41309" y1="50326" x2="17578" y2="63477"/>
                          <a14:foregroundMark x1="17578" y1="63477" x2="30469" y2="70052"/>
                          <a14:foregroundMark x1="30469" y1="70052" x2="61914" y2="70964"/>
                          <a14:foregroundMark x1="61914" y1="70964" x2="77051" y2="69336"/>
                          <a14:foregroundMark x1="77051" y1="69336" x2="79883" y2="61523"/>
                          <a14:foregroundMark x1="16797" y1="58138" x2="17090" y2="69401"/>
                          <a14:foregroundMark x1="17090" y1="69401" x2="67285" y2="71810"/>
                          <a14:foregroundMark x1="67285" y1="71810" x2="82422" y2="68815"/>
                          <a14:foregroundMark x1="82422" y1="68815" x2="81543" y2="58984"/>
                          <a14:foregroundMark x1="29688" y1="37565" x2="32227" y2="35026"/>
                          <a14:foregroundMark x1="49316" y1="56771" x2="55176" y2="53971"/>
                          <a14:foregroundMark x1="68164" y1="38086" x2="70215" y2="35872"/>
                          <a14:foregroundMark x1="16309" y1="59245" x2="15137" y2="66797"/>
                          <a14:foregroundMark x1="16309" y1="71549" x2="43555" y2="71810"/>
                          <a14:foregroundMark x1="48535" y1="72656" x2="77734" y2="71810"/>
                          <a14:foregroundMark x1="81152" y1="72917" x2="82422" y2="62305"/>
                          <a14:foregroundMark x1="82422" y1="62305" x2="82813" y2="61523"/>
                          <a14:foregroundMark x1="71973" y1="73177" x2="65234" y2="73503"/>
                          <a14:foregroundMark x1="41016" y1="73177" x2="45605" y2="73177"/>
                          <a14:foregroundMark x1="13867" y1="70964" x2="14258" y2="65104"/>
                          <a14:foregroundMark x1="81934" y1="70443" x2="84473" y2="64258"/>
                          <a14:foregroundMark x1="63574" y1="59831" x2="66113" y2="52279"/>
                          <a14:foregroundMark x1="44727" y1="18034" x2="51465" y2="17773"/>
                        </a14:backgroundRemoval>
                      </a14:imgEffect>
                    </a14:imgLayer>
                  </a14:imgProps>
                </a:ext>
                <a:ext uri="{28A0092B-C50C-407E-A947-70E740481C1C}">
                  <a14:useLocalDpi xmlns:a14="http://schemas.microsoft.com/office/drawing/2010/main" val="0"/>
                </a:ext>
              </a:extLst>
            </a:blip>
            <a:srcRect l="14667" t="15809" r="15333" b="26286"/>
            <a:stretch>
              <a:fillRect/>
            </a:stretch>
          </p:blipFill>
          <p:spPr bwMode="auto">
            <a:xfrm>
              <a:off x="9087382" y="2459015"/>
              <a:ext cx="2188258" cy="27152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lan Turing Legacy">
              <a:extLst>
                <a:ext uri="{FF2B5EF4-FFF2-40B4-BE49-F238E27FC236}">
                  <a16:creationId xmlns:a16="http://schemas.microsoft.com/office/drawing/2014/main" id="{6967A34F-7208-81D3-83F1-D1D587ED02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1509" y="2840585"/>
              <a:ext cx="2196868" cy="292735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1DB59325-1CD9-9A71-0C6A-61E374592D69}"/>
              </a:ext>
            </a:extLst>
          </p:cNvPr>
          <p:cNvSpPr txBox="1"/>
          <p:nvPr/>
        </p:nvSpPr>
        <p:spPr>
          <a:xfrm>
            <a:off x="7796715" y="5334612"/>
            <a:ext cx="2140073" cy="369332"/>
          </a:xfrm>
          <a:prstGeom prst="rect">
            <a:avLst/>
          </a:prstGeom>
          <a:noFill/>
        </p:spPr>
        <p:txBody>
          <a:bodyPr wrap="none" rtlCol="0">
            <a:spAutoFit/>
          </a:bodyPr>
          <a:lstStyle/>
          <a:p>
            <a:pPr algn="ctr"/>
            <a:r>
              <a:rPr lang="en-US" dirty="0"/>
              <a:t>Turing or </a:t>
            </a:r>
            <a:r>
              <a:rPr lang="en-US" dirty="0" err="1"/>
              <a:t>TuringBot</a:t>
            </a:r>
            <a:r>
              <a:rPr lang="en-US" dirty="0"/>
              <a:t>?</a:t>
            </a:r>
          </a:p>
        </p:txBody>
      </p:sp>
    </p:spTree>
    <p:extLst>
      <p:ext uri="{BB962C8B-B14F-4D97-AF65-F5344CB8AC3E}">
        <p14:creationId xmlns:p14="http://schemas.microsoft.com/office/powerpoint/2010/main" val="823474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99445CE3-5A80-AC80-5487-1BC909F09C65}"/>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2405"/>
          <a:stretch>
            <a:fillRect/>
          </a:stretch>
        </p:blipFill>
        <p:spPr bwMode="auto">
          <a:xfrm>
            <a:off x="838200" y="2428213"/>
            <a:ext cx="2905918" cy="334651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BE4838-253A-B40D-F4D5-283682FE17CB}"/>
              </a:ext>
            </a:extLst>
          </p:cNvPr>
          <p:cNvSpPr txBox="1"/>
          <p:nvPr/>
        </p:nvSpPr>
        <p:spPr>
          <a:xfrm>
            <a:off x="838200" y="1927182"/>
            <a:ext cx="2905917" cy="400110"/>
          </a:xfrm>
          <a:prstGeom prst="rect">
            <a:avLst/>
          </a:prstGeom>
          <a:noFill/>
        </p:spPr>
        <p:txBody>
          <a:bodyPr wrap="square" rtlCol="0">
            <a:spAutoFit/>
          </a:bodyPr>
          <a:lstStyle/>
          <a:p>
            <a:pPr algn="ctr"/>
            <a:r>
              <a:rPr lang="en-US" sz="2000" dirty="0">
                <a:cs typeface="Poppins Light" panose="00000400000000000000" pitchFamily="2" charset="0"/>
              </a:rPr>
              <a:t>Computer vision</a:t>
            </a:r>
          </a:p>
        </p:txBody>
      </p:sp>
      <p:sp>
        <p:nvSpPr>
          <p:cNvPr id="7" name="TextBox 6">
            <a:extLst>
              <a:ext uri="{FF2B5EF4-FFF2-40B4-BE49-F238E27FC236}">
                <a16:creationId xmlns:a16="http://schemas.microsoft.com/office/drawing/2014/main" id="{E59B2CE4-BFD2-BD43-4F1E-AB565B9465F2}"/>
              </a:ext>
            </a:extLst>
          </p:cNvPr>
          <p:cNvSpPr txBox="1"/>
          <p:nvPr/>
        </p:nvSpPr>
        <p:spPr>
          <a:xfrm>
            <a:off x="773842" y="5839058"/>
            <a:ext cx="3034631" cy="553998"/>
          </a:xfrm>
          <a:prstGeom prst="rect">
            <a:avLst/>
          </a:prstGeom>
          <a:noFill/>
        </p:spPr>
        <p:txBody>
          <a:bodyPr wrap="square">
            <a:spAutoFit/>
          </a:bodyPr>
          <a:lstStyle/>
          <a:p>
            <a:r>
              <a:rPr lang="en-US" sz="1000" i="0" u="none" strike="noStrike" dirty="0" err="1">
                <a:effectLst/>
                <a:cs typeface="Poppins Light" panose="00000400000000000000" pitchFamily="2" charset="0"/>
              </a:rPr>
              <a:t>Mazurowski</a:t>
            </a:r>
            <a:r>
              <a:rPr lang="en-US" sz="1000" i="0" u="none" strike="noStrike" dirty="0">
                <a:effectLst/>
                <a:cs typeface="Poppins Light" panose="00000400000000000000" pitchFamily="2" charset="0"/>
              </a:rPr>
              <a:t>, Maciej A., et al. "Segment anything model for medical image analysis: an experimental study." </a:t>
            </a:r>
            <a:r>
              <a:rPr lang="en-US" sz="1000" i="1" u="none" strike="noStrike" dirty="0">
                <a:effectLst/>
                <a:cs typeface="Poppins Light" panose="00000400000000000000" pitchFamily="2" charset="0"/>
              </a:rPr>
              <a:t>Medical Image Analysis</a:t>
            </a:r>
            <a:r>
              <a:rPr lang="en-US" sz="1000" i="0" u="none" strike="noStrike" dirty="0">
                <a:effectLst/>
                <a:cs typeface="Poppins Light" panose="00000400000000000000" pitchFamily="2" charset="0"/>
              </a:rPr>
              <a:t> 89 (2023): 102918.</a:t>
            </a:r>
            <a:endParaRPr lang="en-US" sz="1000" dirty="0">
              <a:cs typeface="Poppins Light" panose="00000400000000000000" pitchFamily="2" charset="0"/>
            </a:endParaRPr>
          </a:p>
        </p:txBody>
      </p:sp>
      <p:pic>
        <p:nvPicPr>
          <p:cNvPr id="10" name="Picture 9">
            <a:extLst>
              <a:ext uri="{FF2B5EF4-FFF2-40B4-BE49-F238E27FC236}">
                <a16:creationId xmlns:a16="http://schemas.microsoft.com/office/drawing/2014/main" id="{B10799F4-D69A-3A2C-8F7F-5B232E76CCFD}"/>
              </a:ext>
            </a:extLst>
          </p:cNvPr>
          <p:cNvPicPr>
            <a:picLocks noChangeAspect="1"/>
          </p:cNvPicPr>
          <p:nvPr/>
        </p:nvPicPr>
        <p:blipFill>
          <a:blip r:embed="rId4"/>
          <a:stretch>
            <a:fillRect/>
          </a:stretch>
        </p:blipFill>
        <p:spPr>
          <a:xfrm>
            <a:off x="4156425" y="2684651"/>
            <a:ext cx="3879147" cy="2833634"/>
          </a:xfrm>
          <a:prstGeom prst="rect">
            <a:avLst/>
          </a:prstGeom>
          <a:ln>
            <a:solidFill>
              <a:schemeClr val="tx1"/>
            </a:solidFill>
          </a:ln>
        </p:spPr>
      </p:pic>
      <p:pic>
        <p:nvPicPr>
          <p:cNvPr id="9" name="Picture 2">
            <a:extLst>
              <a:ext uri="{FF2B5EF4-FFF2-40B4-BE49-F238E27FC236}">
                <a16:creationId xmlns:a16="http://schemas.microsoft.com/office/drawing/2014/main" id="{765D6149-A564-C1B7-15CA-08E9524FED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1398" y="2808286"/>
            <a:ext cx="522772" cy="52277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86E6462-3156-15FC-620D-CD9DF74F664F}"/>
              </a:ext>
            </a:extLst>
          </p:cNvPr>
          <p:cNvSpPr txBox="1"/>
          <p:nvPr/>
        </p:nvSpPr>
        <p:spPr>
          <a:xfrm>
            <a:off x="4156425" y="1927182"/>
            <a:ext cx="3886285" cy="400110"/>
          </a:xfrm>
          <a:prstGeom prst="rect">
            <a:avLst/>
          </a:prstGeom>
          <a:noFill/>
        </p:spPr>
        <p:txBody>
          <a:bodyPr wrap="square" rtlCol="0">
            <a:spAutoFit/>
          </a:bodyPr>
          <a:lstStyle/>
          <a:p>
            <a:pPr algn="ctr"/>
            <a:r>
              <a:rPr lang="en-US" sz="2000" dirty="0">
                <a:cs typeface="Poppins Light" panose="00000400000000000000" pitchFamily="2" charset="0"/>
              </a:rPr>
              <a:t>Natural language processing</a:t>
            </a:r>
          </a:p>
        </p:txBody>
      </p:sp>
      <p:pic>
        <p:nvPicPr>
          <p:cNvPr id="12" name="Picture 2" descr="https://sandpit.bmj.com/graphics/2016/sepsisSOTA/sepsis-v13.png">
            <a:extLst>
              <a:ext uri="{FF2B5EF4-FFF2-40B4-BE49-F238E27FC236}">
                <a16:creationId xmlns:a16="http://schemas.microsoft.com/office/drawing/2014/main" id="{4E7E8CF3-D2F6-98F0-DE72-B67E1A9ADA9A}"/>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t="8351"/>
          <a:stretch>
            <a:fillRect/>
          </a:stretch>
        </p:blipFill>
        <p:spPr bwMode="auto">
          <a:xfrm>
            <a:off x="8447882" y="2428213"/>
            <a:ext cx="2905918" cy="16512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72C542A-C36D-518E-B8AC-6C0F2D6B9F25}"/>
              </a:ext>
            </a:extLst>
          </p:cNvPr>
          <p:cNvSpPr txBox="1"/>
          <p:nvPr/>
        </p:nvSpPr>
        <p:spPr>
          <a:xfrm>
            <a:off x="8447879" y="1927182"/>
            <a:ext cx="2905915" cy="400110"/>
          </a:xfrm>
          <a:prstGeom prst="rect">
            <a:avLst/>
          </a:prstGeom>
          <a:noFill/>
        </p:spPr>
        <p:txBody>
          <a:bodyPr wrap="square" rtlCol="0">
            <a:spAutoFit/>
          </a:bodyPr>
          <a:lstStyle/>
          <a:p>
            <a:pPr algn="ctr"/>
            <a:r>
              <a:rPr lang="en-US" sz="2000" dirty="0">
                <a:cs typeface="Poppins Light" panose="00000400000000000000" pitchFamily="2" charset="0"/>
              </a:rPr>
              <a:t>Reinforcement learning</a:t>
            </a:r>
          </a:p>
        </p:txBody>
      </p:sp>
      <p:pic>
        <p:nvPicPr>
          <p:cNvPr id="14" name="Picture 2" descr="Image result for artificial pancreas">
            <a:extLst>
              <a:ext uri="{FF2B5EF4-FFF2-40B4-BE49-F238E27FC236}">
                <a16:creationId xmlns:a16="http://schemas.microsoft.com/office/drawing/2014/main" id="{A21EAFE9-1EE2-CAFB-4809-D945A535FCD8}"/>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8447879" y="4448656"/>
            <a:ext cx="2905915" cy="152560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708594B-D571-8DF5-9190-28DF21BFA192}"/>
              </a:ext>
            </a:extLst>
          </p:cNvPr>
          <p:cNvSpPr txBox="1"/>
          <p:nvPr/>
        </p:nvSpPr>
        <p:spPr>
          <a:xfrm>
            <a:off x="8447879" y="4110155"/>
            <a:ext cx="2905915" cy="307777"/>
          </a:xfrm>
          <a:prstGeom prst="rect">
            <a:avLst/>
          </a:prstGeom>
          <a:noFill/>
        </p:spPr>
        <p:txBody>
          <a:bodyPr wrap="square" rtlCol="0">
            <a:spAutoFit/>
          </a:bodyPr>
          <a:lstStyle/>
          <a:p>
            <a:pPr algn="ctr"/>
            <a:r>
              <a:rPr lang="en-US" sz="1400" dirty="0"/>
              <a:t>RL-based sepsis management</a:t>
            </a:r>
          </a:p>
        </p:txBody>
      </p:sp>
      <p:sp>
        <p:nvSpPr>
          <p:cNvPr id="16" name="TextBox 15">
            <a:extLst>
              <a:ext uri="{FF2B5EF4-FFF2-40B4-BE49-F238E27FC236}">
                <a16:creationId xmlns:a16="http://schemas.microsoft.com/office/drawing/2014/main" id="{9EA75251-7BF1-71E7-B9DA-BA667E04702E}"/>
              </a:ext>
            </a:extLst>
          </p:cNvPr>
          <p:cNvSpPr txBox="1"/>
          <p:nvPr/>
        </p:nvSpPr>
        <p:spPr>
          <a:xfrm>
            <a:off x="8447879" y="6004986"/>
            <a:ext cx="2905915" cy="307777"/>
          </a:xfrm>
          <a:prstGeom prst="rect">
            <a:avLst/>
          </a:prstGeom>
          <a:noFill/>
        </p:spPr>
        <p:txBody>
          <a:bodyPr wrap="square" rtlCol="0">
            <a:spAutoFit/>
          </a:bodyPr>
          <a:lstStyle/>
          <a:p>
            <a:pPr algn="ctr"/>
            <a:r>
              <a:rPr lang="en-US" sz="1400" dirty="0"/>
              <a:t>closed-loop BG control</a:t>
            </a:r>
          </a:p>
        </p:txBody>
      </p:sp>
      <p:sp>
        <p:nvSpPr>
          <p:cNvPr id="17" name="Title 1">
            <a:extLst>
              <a:ext uri="{FF2B5EF4-FFF2-40B4-BE49-F238E27FC236}">
                <a16:creationId xmlns:a16="http://schemas.microsoft.com/office/drawing/2014/main" id="{D1ADC039-173E-01AF-61C0-967240264AE5}"/>
              </a:ext>
            </a:extLst>
          </p:cNvPr>
          <p:cNvSpPr>
            <a:spLocks noGrp="1"/>
          </p:cNvSpPr>
          <p:nvPr>
            <p:ph type="title"/>
          </p:nvPr>
        </p:nvSpPr>
        <p:spPr>
          <a:xfrm>
            <a:off x="838200" y="365125"/>
            <a:ext cx="10515600" cy="1325563"/>
          </a:xfrm>
        </p:spPr>
        <p:txBody>
          <a:bodyPr/>
          <a:lstStyle/>
          <a:p>
            <a:r>
              <a:rPr lang="en-US" dirty="0"/>
              <a:t>Branches of AI with high clinical impact</a:t>
            </a:r>
          </a:p>
        </p:txBody>
      </p:sp>
    </p:spTree>
    <p:extLst>
      <p:ext uri="{BB962C8B-B14F-4D97-AF65-F5344CB8AC3E}">
        <p14:creationId xmlns:p14="http://schemas.microsoft.com/office/powerpoint/2010/main" val="1298970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A755C91-54B1-D53E-331A-807DDECBA015}"/>
              </a:ext>
            </a:extLst>
          </p:cNvPr>
          <p:cNvSpPr>
            <a:spLocks noGrp="1"/>
          </p:cNvSpPr>
          <p:nvPr>
            <p:ph type="title"/>
          </p:nvPr>
        </p:nvSpPr>
        <p:spPr>
          <a:xfrm>
            <a:off x="838200" y="365125"/>
            <a:ext cx="10515600" cy="1325563"/>
          </a:xfrm>
        </p:spPr>
        <p:txBody>
          <a:bodyPr/>
          <a:lstStyle/>
          <a:p>
            <a:r>
              <a:rPr lang="en-US" dirty="0"/>
              <a:t>The </a:t>
            </a:r>
            <a:r>
              <a:rPr lang="en-US" i="1" dirty="0"/>
              <a:t>machine</a:t>
            </a:r>
            <a:r>
              <a:rPr lang="en-US" dirty="0"/>
              <a:t> in machine learning</a:t>
            </a:r>
          </a:p>
        </p:txBody>
      </p:sp>
      <p:sp>
        <p:nvSpPr>
          <p:cNvPr id="8" name="Left Brace 7">
            <a:extLst>
              <a:ext uri="{FF2B5EF4-FFF2-40B4-BE49-F238E27FC236}">
                <a16:creationId xmlns:a16="http://schemas.microsoft.com/office/drawing/2014/main" id="{8CF9A1DD-56D8-EB20-290C-7FD3093640D3}"/>
              </a:ext>
            </a:extLst>
          </p:cNvPr>
          <p:cNvSpPr/>
          <p:nvPr/>
        </p:nvSpPr>
        <p:spPr>
          <a:xfrm rot="16200000">
            <a:off x="4238288" y="623021"/>
            <a:ext cx="350344" cy="5784248"/>
          </a:xfrm>
          <a:prstGeom prst="leftBrace">
            <a:avLst>
              <a:gd name="adj1" fmla="val 8333"/>
              <a:gd name="adj2" fmla="val 24681"/>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p:sp>
        <p:nvSpPr>
          <p:cNvPr id="9" name="TextBox 8">
            <a:extLst>
              <a:ext uri="{FF2B5EF4-FFF2-40B4-BE49-F238E27FC236}">
                <a16:creationId xmlns:a16="http://schemas.microsoft.com/office/drawing/2014/main" id="{9BAF46D1-FADF-F679-59E4-FFF92F95E1E4}"/>
              </a:ext>
            </a:extLst>
          </p:cNvPr>
          <p:cNvSpPr txBox="1"/>
          <p:nvPr/>
        </p:nvSpPr>
        <p:spPr>
          <a:xfrm>
            <a:off x="2778049" y="3877721"/>
            <a:ext cx="2987135"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x</a:t>
            </a:r>
            <a:r>
              <a:rPr lang="en-US" sz="2797" dirty="0">
                <a:latin typeface="Times New Roman" panose="02020603050405020304" pitchFamily="18" charset="0"/>
                <a:cs typeface="Times New Roman" panose="02020603050405020304" pitchFamily="18" charset="0"/>
              </a:rPr>
              <a:t>, data/features for a subject or patient</a:t>
            </a:r>
          </a:p>
        </p:txBody>
      </p:sp>
      <p:sp>
        <p:nvSpPr>
          <p:cNvPr id="10" name="TextBox 9">
            <a:extLst>
              <a:ext uri="{FF2B5EF4-FFF2-40B4-BE49-F238E27FC236}">
                <a16:creationId xmlns:a16="http://schemas.microsoft.com/office/drawing/2014/main" id="{56BD8C63-D92A-E01D-86B0-6CCA696365FA}"/>
              </a:ext>
            </a:extLst>
          </p:cNvPr>
          <p:cNvSpPr txBox="1"/>
          <p:nvPr/>
        </p:nvSpPr>
        <p:spPr>
          <a:xfrm>
            <a:off x="8515761" y="3277853"/>
            <a:ext cx="2671356"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associated value or label</a:t>
            </a:r>
          </a:p>
        </p:txBody>
      </p:sp>
      <p:sp>
        <p:nvSpPr>
          <p:cNvPr id="11" name="TextBox 10">
            <a:extLst>
              <a:ext uri="{FF2B5EF4-FFF2-40B4-BE49-F238E27FC236}">
                <a16:creationId xmlns:a16="http://schemas.microsoft.com/office/drawing/2014/main" id="{C8257A14-4CCC-AC10-02CC-BE1BAE3575F4}"/>
              </a:ext>
            </a:extLst>
          </p:cNvPr>
          <p:cNvSpPr txBox="1"/>
          <p:nvPr/>
        </p:nvSpPr>
        <p:spPr>
          <a:xfrm>
            <a:off x="4184515" y="5715128"/>
            <a:ext cx="3822970" cy="497957"/>
          </a:xfrm>
          <a:prstGeom prst="rect">
            <a:avLst/>
          </a:prstGeom>
          <a:noFill/>
        </p:spPr>
        <p:txBody>
          <a:bodyPr wrap="none" rtlCol="0">
            <a:spAutoFit/>
          </a:bodyPr>
          <a:lstStyle/>
          <a:p>
            <a:pPr algn="ctr"/>
            <a:r>
              <a:rPr lang="en-US" sz="2636" dirty="0"/>
              <a:t>End goal: predict</a:t>
            </a:r>
            <a:r>
              <a:rPr lang="en-US" sz="2636" i="1" dirty="0"/>
              <a:t> </a:t>
            </a:r>
            <a:r>
              <a:rPr lang="en-US" sz="2636" i="1" dirty="0">
                <a:latin typeface="Times New Roman" panose="02020603050405020304" pitchFamily="18" charset="0"/>
                <a:cs typeface="Times New Roman" panose="02020603050405020304" pitchFamily="18" charset="0"/>
              </a:rPr>
              <a:t>y</a:t>
            </a:r>
            <a:r>
              <a:rPr lang="en-US" sz="2636" dirty="0"/>
              <a:t> from </a:t>
            </a:r>
            <a:r>
              <a:rPr lang="en-US" sz="2636" i="1" dirty="0">
                <a:latin typeface="Times New Roman" panose="02020603050405020304" pitchFamily="18" charset="0"/>
                <a:cs typeface="Times New Roman" panose="02020603050405020304" pitchFamily="18" charset="0"/>
              </a:rPr>
              <a:t>x</a:t>
            </a:r>
            <a:endParaRPr lang="en-US" sz="2636" dirty="0"/>
          </a:p>
        </p:txBody>
      </p:sp>
      <p:graphicFrame>
        <p:nvGraphicFramePr>
          <p:cNvPr id="12" name="Table 11">
            <a:extLst>
              <a:ext uri="{FF2B5EF4-FFF2-40B4-BE49-F238E27FC236}">
                <a16:creationId xmlns:a16="http://schemas.microsoft.com/office/drawing/2014/main" id="{2E3CAD5B-863C-DFED-D72C-02B3BAE01BB9}"/>
              </a:ext>
            </a:extLst>
          </p:cNvPr>
          <p:cNvGraphicFramePr>
            <a:graphicFrameLocks noGrp="1"/>
          </p:cNvGraphicFramePr>
          <p:nvPr/>
        </p:nvGraphicFramePr>
        <p:xfrm>
          <a:off x="1521336" y="2444717"/>
          <a:ext cx="5784248"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gridCol w="723031">
                  <a:extLst>
                    <a:ext uri="{9D8B030D-6E8A-4147-A177-3AD203B41FA5}">
                      <a16:colId xmlns:a16="http://schemas.microsoft.com/office/drawing/2014/main" val="440623976"/>
                    </a:ext>
                  </a:extLst>
                </a:gridCol>
                <a:gridCol w="723031">
                  <a:extLst>
                    <a:ext uri="{9D8B030D-6E8A-4147-A177-3AD203B41FA5}">
                      <a16:colId xmlns:a16="http://schemas.microsoft.com/office/drawing/2014/main" val="2300620790"/>
                    </a:ext>
                  </a:extLst>
                </a:gridCol>
                <a:gridCol w="723031">
                  <a:extLst>
                    <a:ext uri="{9D8B030D-6E8A-4147-A177-3AD203B41FA5}">
                      <a16:colId xmlns:a16="http://schemas.microsoft.com/office/drawing/2014/main" val="387841067"/>
                    </a:ext>
                  </a:extLst>
                </a:gridCol>
                <a:gridCol w="723031">
                  <a:extLst>
                    <a:ext uri="{9D8B030D-6E8A-4147-A177-3AD203B41FA5}">
                      <a16:colId xmlns:a16="http://schemas.microsoft.com/office/drawing/2014/main" val="2317106339"/>
                    </a:ext>
                  </a:extLst>
                </a:gridCol>
                <a:gridCol w="723031">
                  <a:extLst>
                    <a:ext uri="{9D8B030D-6E8A-4147-A177-3AD203B41FA5}">
                      <a16:colId xmlns:a16="http://schemas.microsoft.com/office/drawing/2014/main" val="3112262120"/>
                    </a:ext>
                  </a:extLst>
                </a:gridCol>
                <a:gridCol w="723031">
                  <a:extLst>
                    <a:ext uri="{9D8B030D-6E8A-4147-A177-3AD203B41FA5}">
                      <a16:colId xmlns:a16="http://schemas.microsoft.com/office/drawing/2014/main" val="1492693499"/>
                    </a:ext>
                  </a:extLst>
                </a:gridCol>
                <a:gridCol w="723031">
                  <a:extLst>
                    <a:ext uri="{9D8B030D-6E8A-4147-A177-3AD203B41FA5}">
                      <a16:colId xmlns:a16="http://schemas.microsoft.com/office/drawing/2014/main" val="4043894517"/>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13" name="Table 12">
            <a:extLst>
              <a:ext uri="{FF2B5EF4-FFF2-40B4-BE49-F238E27FC236}">
                <a16:creationId xmlns:a16="http://schemas.microsoft.com/office/drawing/2014/main" id="{4673E038-76B2-30C3-48ED-E5B6F5B07695}"/>
              </a:ext>
            </a:extLst>
          </p:cNvPr>
          <p:cNvGraphicFramePr>
            <a:graphicFrameLocks noGrp="1"/>
          </p:cNvGraphicFramePr>
          <p:nvPr/>
        </p:nvGraphicFramePr>
        <p:xfrm>
          <a:off x="8344310" y="2444716"/>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4" name="Straight Arrow Connector 13">
            <a:extLst>
              <a:ext uri="{FF2B5EF4-FFF2-40B4-BE49-F238E27FC236}">
                <a16:creationId xmlns:a16="http://schemas.microsoft.com/office/drawing/2014/main" id="{FEF08EBF-536F-4A44-8A33-5DF8AD88E2C0}"/>
              </a:ext>
            </a:extLst>
          </p:cNvPr>
          <p:cNvCxnSpPr>
            <a:cxnSpLocks/>
            <a:stCxn id="12" idx="3"/>
            <a:endCxn id="13" idx="1"/>
          </p:cNvCxnSpPr>
          <p:nvPr/>
        </p:nvCxnSpPr>
        <p:spPr>
          <a:xfrm flipV="1">
            <a:off x="7305584" y="2798642"/>
            <a:ext cx="1038726"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03834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43EB-D97A-A647-B55D-DFAA7CABAA68}"/>
              </a:ext>
            </a:extLst>
          </p:cNvPr>
          <p:cNvSpPr>
            <a:spLocks noGrp="1"/>
          </p:cNvSpPr>
          <p:nvPr>
            <p:ph type="title"/>
          </p:nvPr>
        </p:nvSpPr>
        <p:spPr>
          <a:xfrm>
            <a:off x="0" y="365126"/>
            <a:ext cx="12192000" cy="903582"/>
          </a:xfrm>
        </p:spPr>
        <p:txBody>
          <a:bodyPr>
            <a:normAutofit/>
          </a:bodyPr>
          <a:lstStyle/>
          <a:p>
            <a:pPr algn="ctr"/>
            <a:r>
              <a:rPr lang="en-US" dirty="0"/>
              <a:t>Simple models often work well for clinical data!</a:t>
            </a:r>
          </a:p>
        </p:txBody>
      </p:sp>
      <p:sp>
        <p:nvSpPr>
          <p:cNvPr id="11" name="TextBox 10">
            <a:extLst>
              <a:ext uri="{FF2B5EF4-FFF2-40B4-BE49-F238E27FC236}">
                <a16:creationId xmlns:a16="http://schemas.microsoft.com/office/drawing/2014/main" id="{3522C4F1-C657-EA47-A958-6BC9C8AFC8F6}"/>
              </a:ext>
            </a:extLst>
          </p:cNvPr>
          <p:cNvSpPr txBox="1"/>
          <p:nvPr/>
        </p:nvSpPr>
        <p:spPr>
          <a:xfrm>
            <a:off x="8285590" y="5235309"/>
            <a:ext cx="3516550" cy="1309205"/>
          </a:xfrm>
          <a:prstGeom prst="rect">
            <a:avLst/>
          </a:prstGeom>
          <a:noFill/>
        </p:spPr>
        <p:txBody>
          <a:bodyPr wrap="square" rtlCol="0">
            <a:spAutoFit/>
          </a:bodyPr>
          <a:lstStyle/>
          <a:p>
            <a:r>
              <a:rPr lang="en-US" sz="2636" dirty="0"/>
              <a:t>End goal: predict</a:t>
            </a:r>
            <a:r>
              <a:rPr lang="en-US" sz="2636" i="1" dirty="0"/>
              <a:t> </a:t>
            </a:r>
            <a:r>
              <a:rPr lang="en-US" sz="2636" dirty="0">
                <a:latin typeface="Times New Roman" panose="02020603050405020304" pitchFamily="18" charset="0"/>
                <a:cs typeface="Times New Roman" panose="02020603050405020304" pitchFamily="18" charset="0"/>
              </a:rPr>
              <a:t>odds of hospital mortality</a:t>
            </a:r>
          </a:p>
          <a:p>
            <a:r>
              <a:rPr lang="en-US" sz="2636" dirty="0">
                <a:latin typeface="Times New Roman" panose="02020603050405020304" pitchFamily="18" charset="0"/>
                <a:cs typeface="Times New Roman" panose="02020603050405020304" pitchFamily="18" charset="0"/>
              </a:rPr>
              <a:t>(APACHE III)</a:t>
            </a:r>
            <a:endParaRPr lang="en-US" sz="2636" dirty="0"/>
          </a:p>
        </p:txBody>
      </p:sp>
      <p:graphicFrame>
        <p:nvGraphicFramePr>
          <p:cNvPr id="12" name="Table 11">
            <a:extLst>
              <a:ext uri="{FF2B5EF4-FFF2-40B4-BE49-F238E27FC236}">
                <a16:creationId xmlns:a16="http://schemas.microsoft.com/office/drawing/2014/main" id="{7330BF0F-64E0-9F47-A64C-360C3C7ED0DD}"/>
              </a:ext>
            </a:extLst>
          </p:cNvPr>
          <p:cNvGraphicFramePr>
            <a:graphicFrameLocks noGrp="1"/>
          </p:cNvGraphicFramePr>
          <p:nvPr/>
        </p:nvGraphicFramePr>
        <p:xfrm>
          <a:off x="1764238" y="1765845"/>
          <a:ext cx="5784248"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gridCol w="723031">
                  <a:extLst>
                    <a:ext uri="{9D8B030D-6E8A-4147-A177-3AD203B41FA5}">
                      <a16:colId xmlns:a16="http://schemas.microsoft.com/office/drawing/2014/main" val="440623976"/>
                    </a:ext>
                  </a:extLst>
                </a:gridCol>
                <a:gridCol w="723031">
                  <a:extLst>
                    <a:ext uri="{9D8B030D-6E8A-4147-A177-3AD203B41FA5}">
                      <a16:colId xmlns:a16="http://schemas.microsoft.com/office/drawing/2014/main" val="2300620790"/>
                    </a:ext>
                  </a:extLst>
                </a:gridCol>
                <a:gridCol w="723031">
                  <a:extLst>
                    <a:ext uri="{9D8B030D-6E8A-4147-A177-3AD203B41FA5}">
                      <a16:colId xmlns:a16="http://schemas.microsoft.com/office/drawing/2014/main" val="387841067"/>
                    </a:ext>
                  </a:extLst>
                </a:gridCol>
                <a:gridCol w="723031">
                  <a:extLst>
                    <a:ext uri="{9D8B030D-6E8A-4147-A177-3AD203B41FA5}">
                      <a16:colId xmlns:a16="http://schemas.microsoft.com/office/drawing/2014/main" val="2317106339"/>
                    </a:ext>
                  </a:extLst>
                </a:gridCol>
                <a:gridCol w="723031">
                  <a:extLst>
                    <a:ext uri="{9D8B030D-6E8A-4147-A177-3AD203B41FA5}">
                      <a16:colId xmlns:a16="http://schemas.microsoft.com/office/drawing/2014/main" val="3112262120"/>
                    </a:ext>
                  </a:extLst>
                </a:gridCol>
                <a:gridCol w="723031">
                  <a:extLst>
                    <a:ext uri="{9D8B030D-6E8A-4147-A177-3AD203B41FA5}">
                      <a16:colId xmlns:a16="http://schemas.microsoft.com/office/drawing/2014/main" val="1492693499"/>
                    </a:ext>
                  </a:extLst>
                </a:gridCol>
                <a:gridCol w="723031">
                  <a:extLst>
                    <a:ext uri="{9D8B030D-6E8A-4147-A177-3AD203B41FA5}">
                      <a16:colId xmlns:a16="http://schemas.microsoft.com/office/drawing/2014/main" val="4043894517"/>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aphicFrame>
        <p:nvGraphicFramePr>
          <p:cNvPr id="13" name="Table 12">
            <a:extLst>
              <a:ext uri="{FF2B5EF4-FFF2-40B4-BE49-F238E27FC236}">
                <a16:creationId xmlns:a16="http://schemas.microsoft.com/office/drawing/2014/main" id="{46A4145C-93C9-8E44-A49F-42688A16B578}"/>
              </a:ext>
            </a:extLst>
          </p:cNvPr>
          <p:cNvGraphicFramePr>
            <a:graphicFrameLocks noGrp="1"/>
          </p:cNvGraphicFramePr>
          <p:nvPr/>
        </p:nvGraphicFramePr>
        <p:xfrm>
          <a:off x="8587212" y="1765844"/>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16" name="TextBox 15">
            <a:extLst>
              <a:ext uri="{FF2B5EF4-FFF2-40B4-BE49-F238E27FC236}">
                <a16:creationId xmlns:a16="http://schemas.microsoft.com/office/drawing/2014/main" id="{45F1BB00-7856-7446-8C5E-2FBA67162D88}"/>
              </a:ext>
            </a:extLst>
          </p:cNvPr>
          <p:cNvSpPr txBox="1"/>
          <p:nvPr/>
        </p:nvSpPr>
        <p:spPr>
          <a:xfrm rot="18054908">
            <a:off x="246270" y="3420130"/>
            <a:ext cx="2507682" cy="497957"/>
          </a:xfrm>
          <a:prstGeom prst="rect">
            <a:avLst/>
          </a:prstGeom>
          <a:noFill/>
        </p:spPr>
        <p:txBody>
          <a:bodyPr wrap="square" rtlCol="0">
            <a:spAutoFit/>
          </a:bodyPr>
          <a:lstStyle/>
          <a:p>
            <a:pPr algn="r"/>
            <a:r>
              <a:rPr lang="en-US" sz="2636" dirty="0"/>
              <a:t>Age</a:t>
            </a:r>
          </a:p>
        </p:txBody>
      </p:sp>
      <p:sp>
        <p:nvSpPr>
          <p:cNvPr id="17" name="TextBox 16">
            <a:extLst>
              <a:ext uri="{FF2B5EF4-FFF2-40B4-BE49-F238E27FC236}">
                <a16:creationId xmlns:a16="http://schemas.microsoft.com/office/drawing/2014/main" id="{98BFDD58-EB3C-C34E-BB34-451CCAD8F698}"/>
              </a:ext>
            </a:extLst>
          </p:cNvPr>
          <p:cNvSpPr txBox="1"/>
          <p:nvPr/>
        </p:nvSpPr>
        <p:spPr>
          <a:xfrm rot="18054908">
            <a:off x="933573" y="3425118"/>
            <a:ext cx="2507682" cy="497957"/>
          </a:xfrm>
          <a:prstGeom prst="rect">
            <a:avLst/>
          </a:prstGeom>
          <a:noFill/>
        </p:spPr>
        <p:txBody>
          <a:bodyPr wrap="square" rtlCol="0">
            <a:spAutoFit/>
          </a:bodyPr>
          <a:lstStyle/>
          <a:p>
            <a:pPr algn="r"/>
            <a:r>
              <a:rPr lang="en-US" sz="2636" dirty="0"/>
              <a:t>Pulse Rate</a:t>
            </a:r>
          </a:p>
        </p:txBody>
      </p:sp>
      <p:sp>
        <p:nvSpPr>
          <p:cNvPr id="18" name="TextBox 17">
            <a:extLst>
              <a:ext uri="{FF2B5EF4-FFF2-40B4-BE49-F238E27FC236}">
                <a16:creationId xmlns:a16="http://schemas.microsoft.com/office/drawing/2014/main" id="{13818781-A770-454B-80A9-94744A7FF37F}"/>
              </a:ext>
            </a:extLst>
          </p:cNvPr>
          <p:cNvSpPr txBox="1"/>
          <p:nvPr/>
        </p:nvSpPr>
        <p:spPr>
          <a:xfrm rot="18054908">
            <a:off x="1656817" y="3422625"/>
            <a:ext cx="2507682" cy="497957"/>
          </a:xfrm>
          <a:prstGeom prst="rect">
            <a:avLst/>
          </a:prstGeom>
          <a:noFill/>
        </p:spPr>
        <p:txBody>
          <a:bodyPr wrap="square" rtlCol="0">
            <a:spAutoFit/>
          </a:bodyPr>
          <a:lstStyle/>
          <a:p>
            <a:pPr algn="r"/>
            <a:r>
              <a:rPr lang="en-US" sz="2636" dirty="0"/>
              <a:t>Mean BP</a:t>
            </a:r>
          </a:p>
        </p:txBody>
      </p:sp>
      <p:sp>
        <p:nvSpPr>
          <p:cNvPr id="19" name="TextBox 18">
            <a:extLst>
              <a:ext uri="{FF2B5EF4-FFF2-40B4-BE49-F238E27FC236}">
                <a16:creationId xmlns:a16="http://schemas.microsoft.com/office/drawing/2014/main" id="{171F8335-ECB2-7A4D-82D0-3DCE61D73934}"/>
              </a:ext>
            </a:extLst>
          </p:cNvPr>
          <p:cNvSpPr txBox="1"/>
          <p:nvPr/>
        </p:nvSpPr>
        <p:spPr>
          <a:xfrm rot="18054908">
            <a:off x="2380061" y="3422625"/>
            <a:ext cx="2507682" cy="497957"/>
          </a:xfrm>
          <a:prstGeom prst="rect">
            <a:avLst/>
          </a:prstGeom>
          <a:noFill/>
        </p:spPr>
        <p:txBody>
          <a:bodyPr wrap="square" rtlCol="0">
            <a:spAutoFit/>
          </a:bodyPr>
          <a:lstStyle/>
          <a:p>
            <a:pPr algn="r"/>
            <a:r>
              <a:rPr lang="en-US" sz="2636" dirty="0"/>
              <a:t>Temperature</a:t>
            </a:r>
          </a:p>
        </p:txBody>
      </p:sp>
      <p:sp>
        <p:nvSpPr>
          <p:cNvPr id="20" name="TextBox 19">
            <a:extLst>
              <a:ext uri="{FF2B5EF4-FFF2-40B4-BE49-F238E27FC236}">
                <a16:creationId xmlns:a16="http://schemas.microsoft.com/office/drawing/2014/main" id="{39A63E6B-5114-B340-BC65-DBD86141279A}"/>
              </a:ext>
            </a:extLst>
          </p:cNvPr>
          <p:cNvSpPr txBox="1"/>
          <p:nvPr/>
        </p:nvSpPr>
        <p:spPr>
          <a:xfrm rot="18054908">
            <a:off x="3103305" y="3422623"/>
            <a:ext cx="2507682" cy="497957"/>
          </a:xfrm>
          <a:prstGeom prst="rect">
            <a:avLst/>
          </a:prstGeom>
          <a:noFill/>
        </p:spPr>
        <p:txBody>
          <a:bodyPr wrap="square" rtlCol="0">
            <a:spAutoFit/>
          </a:bodyPr>
          <a:lstStyle/>
          <a:p>
            <a:pPr algn="r"/>
            <a:r>
              <a:rPr lang="en-US" sz="2636" dirty="0"/>
              <a:t>Resp Rate</a:t>
            </a:r>
          </a:p>
        </p:txBody>
      </p:sp>
      <p:sp>
        <p:nvSpPr>
          <p:cNvPr id="21" name="TextBox 20">
            <a:extLst>
              <a:ext uri="{FF2B5EF4-FFF2-40B4-BE49-F238E27FC236}">
                <a16:creationId xmlns:a16="http://schemas.microsoft.com/office/drawing/2014/main" id="{403C6FED-0EF4-B34D-9DD5-ED78AC7B4C80}"/>
              </a:ext>
            </a:extLst>
          </p:cNvPr>
          <p:cNvSpPr txBox="1"/>
          <p:nvPr/>
        </p:nvSpPr>
        <p:spPr>
          <a:xfrm rot="18054908">
            <a:off x="3826549" y="3422623"/>
            <a:ext cx="2507682" cy="497957"/>
          </a:xfrm>
          <a:prstGeom prst="rect">
            <a:avLst/>
          </a:prstGeom>
          <a:noFill/>
        </p:spPr>
        <p:txBody>
          <a:bodyPr wrap="square" rtlCol="0">
            <a:spAutoFit/>
          </a:bodyPr>
          <a:lstStyle/>
          <a:p>
            <a:pPr algn="r"/>
            <a:r>
              <a:rPr lang="en-US" sz="2636" dirty="0"/>
              <a:t>Hematocrit</a:t>
            </a:r>
          </a:p>
        </p:txBody>
      </p:sp>
      <p:sp>
        <p:nvSpPr>
          <p:cNvPr id="22" name="TextBox 21">
            <a:extLst>
              <a:ext uri="{FF2B5EF4-FFF2-40B4-BE49-F238E27FC236}">
                <a16:creationId xmlns:a16="http://schemas.microsoft.com/office/drawing/2014/main" id="{B763DE9A-E18E-2C45-B7B8-FB7AB28B149B}"/>
              </a:ext>
            </a:extLst>
          </p:cNvPr>
          <p:cNvSpPr txBox="1"/>
          <p:nvPr/>
        </p:nvSpPr>
        <p:spPr>
          <a:xfrm rot="18054908">
            <a:off x="4549793" y="3420130"/>
            <a:ext cx="2507682" cy="497957"/>
          </a:xfrm>
          <a:prstGeom prst="rect">
            <a:avLst/>
          </a:prstGeom>
          <a:noFill/>
        </p:spPr>
        <p:txBody>
          <a:bodyPr wrap="square" rtlCol="0">
            <a:spAutoFit/>
          </a:bodyPr>
          <a:lstStyle/>
          <a:p>
            <a:pPr algn="r"/>
            <a:r>
              <a:rPr lang="en-US" sz="2636" dirty="0"/>
              <a:t>WBC Count</a:t>
            </a:r>
          </a:p>
        </p:txBody>
      </p:sp>
      <p:sp>
        <p:nvSpPr>
          <p:cNvPr id="23" name="TextBox 22">
            <a:extLst>
              <a:ext uri="{FF2B5EF4-FFF2-40B4-BE49-F238E27FC236}">
                <a16:creationId xmlns:a16="http://schemas.microsoft.com/office/drawing/2014/main" id="{A174C37D-8A18-434E-873B-38FBA9E7BABB}"/>
              </a:ext>
            </a:extLst>
          </p:cNvPr>
          <p:cNvSpPr txBox="1"/>
          <p:nvPr/>
        </p:nvSpPr>
        <p:spPr>
          <a:xfrm rot="18054908">
            <a:off x="5273040" y="3422622"/>
            <a:ext cx="2507682" cy="497957"/>
          </a:xfrm>
          <a:prstGeom prst="rect">
            <a:avLst/>
          </a:prstGeom>
          <a:noFill/>
        </p:spPr>
        <p:txBody>
          <a:bodyPr wrap="square" rtlCol="0">
            <a:spAutoFit/>
          </a:bodyPr>
          <a:lstStyle/>
          <a:p>
            <a:pPr algn="r"/>
            <a:r>
              <a:rPr lang="en-US" sz="2636" dirty="0"/>
              <a:t>Creatinine</a:t>
            </a:r>
          </a:p>
        </p:txBody>
      </p:sp>
      <p:sp>
        <p:nvSpPr>
          <p:cNvPr id="25" name="TextBox 24">
            <a:extLst>
              <a:ext uri="{FF2B5EF4-FFF2-40B4-BE49-F238E27FC236}">
                <a16:creationId xmlns:a16="http://schemas.microsoft.com/office/drawing/2014/main" id="{B25DDCFB-B31B-9441-A0A6-0ACFDC31396E}"/>
              </a:ext>
            </a:extLst>
          </p:cNvPr>
          <p:cNvSpPr txBox="1"/>
          <p:nvPr/>
        </p:nvSpPr>
        <p:spPr>
          <a:xfrm rot="18054908">
            <a:off x="7031749" y="3426732"/>
            <a:ext cx="2507682" cy="497957"/>
          </a:xfrm>
          <a:prstGeom prst="rect">
            <a:avLst/>
          </a:prstGeom>
          <a:noFill/>
        </p:spPr>
        <p:txBody>
          <a:bodyPr wrap="square" rtlCol="0">
            <a:spAutoFit/>
          </a:bodyPr>
          <a:lstStyle/>
          <a:p>
            <a:pPr algn="r"/>
            <a:r>
              <a:rPr lang="en-US" sz="2636" dirty="0"/>
              <a:t>Survival</a:t>
            </a:r>
          </a:p>
        </p:txBody>
      </p:sp>
      <p:sp>
        <p:nvSpPr>
          <p:cNvPr id="26" name="Left Brace 25">
            <a:extLst>
              <a:ext uri="{FF2B5EF4-FFF2-40B4-BE49-F238E27FC236}">
                <a16:creationId xmlns:a16="http://schemas.microsoft.com/office/drawing/2014/main" id="{68AC1F47-D806-B140-9DAC-AF4EB45EDABD}"/>
              </a:ext>
            </a:extLst>
          </p:cNvPr>
          <p:cNvSpPr/>
          <p:nvPr/>
        </p:nvSpPr>
        <p:spPr>
          <a:xfrm rot="16200000">
            <a:off x="4481190" y="1980609"/>
            <a:ext cx="350344" cy="5784248"/>
          </a:xfrm>
          <a:prstGeom prst="leftBrace">
            <a:avLst>
              <a:gd name="adj1" fmla="val 8333"/>
              <a:gd name="adj2" fmla="val 24681"/>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p:sp>
        <p:nvSpPr>
          <p:cNvPr id="27" name="TextBox 26">
            <a:extLst>
              <a:ext uri="{FF2B5EF4-FFF2-40B4-BE49-F238E27FC236}">
                <a16:creationId xmlns:a16="http://schemas.microsoft.com/office/drawing/2014/main" id="{8F5B2321-C6E0-1C41-A446-1CCE0D22A2A7}"/>
              </a:ext>
            </a:extLst>
          </p:cNvPr>
          <p:cNvSpPr txBox="1"/>
          <p:nvPr/>
        </p:nvSpPr>
        <p:spPr>
          <a:xfrm>
            <a:off x="3020951" y="5235309"/>
            <a:ext cx="2987135"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x</a:t>
            </a:r>
            <a:r>
              <a:rPr lang="en-US" sz="2797" dirty="0">
                <a:latin typeface="Times New Roman" panose="02020603050405020304" pitchFamily="18" charset="0"/>
                <a:cs typeface="Times New Roman" panose="02020603050405020304" pitchFamily="18" charset="0"/>
              </a:rPr>
              <a:t>, data/features for a subject or patient</a:t>
            </a:r>
          </a:p>
        </p:txBody>
      </p:sp>
      <p:sp>
        <p:nvSpPr>
          <p:cNvPr id="28" name="TextBox 27">
            <a:extLst>
              <a:ext uri="{FF2B5EF4-FFF2-40B4-BE49-F238E27FC236}">
                <a16:creationId xmlns:a16="http://schemas.microsoft.com/office/drawing/2014/main" id="{5CE8AD52-0582-0C41-A3AD-6A25EBCE7B8D}"/>
              </a:ext>
            </a:extLst>
          </p:cNvPr>
          <p:cNvSpPr txBox="1"/>
          <p:nvPr/>
        </p:nvSpPr>
        <p:spPr>
          <a:xfrm>
            <a:off x="8730531" y="3907699"/>
            <a:ext cx="2671356" cy="953210"/>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associated value or label</a:t>
            </a:r>
          </a:p>
        </p:txBody>
      </p:sp>
      <p:cxnSp>
        <p:nvCxnSpPr>
          <p:cNvPr id="3" name="Straight Arrow Connector 2">
            <a:extLst>
              <a:ext uri="{FF2B5EF4-FFF2-40B4-BE49-F238E27FC236}">
                <a16:creationId xmlns:a16="http://schemas.microsoft.com/office/drawing/2014/main" id="{36547D06-87A9-20BD-7D70-CFB8392405AF}"/>
              </a:ext>
            </a:extLst>
          </p:cNvPr>
          <p:cNvCxnSpPr>
            <a:cxnSpLocks/>
            <a:stCxn id="12" idx="3"/>
            <a:endCxn id="13" idx="1"/>
          </p:cNvCxnSpPr>
          <p:nvPr/>
        </p:nvCxnSpPr>
        <p:spPr>
          <a:xfrm flipV="1">
            <a:off x="7548486" y="2119770"/>
            <a:ext cx="1038726"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6968630"/>
      </p:ext>
    </p:extLst>
  </p:cSld>
  <p:clrMapOvr>
    <a:masterClrMapping/>
  </p:clrMapOvr>
  <mc:AlternateContent xmlns:mc="http://schemas.openxmlformats.org/markup-compatibility/2006" xmlns:p14="http://schemas.microsoft.com/office/powerpoint/2010/main">
    <mc:Choice Requires="p14">
      <p:transition spd="slow" p14:dur="2000" advTm="42443"/>
    </mc:Choice>
    <mc:Fallback xmlns="">
      <p:transition spd="slow" advTm="4244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8C3235-6DCE-8140-93D4-47C68B213675}"/>
              </a:ext>
            </a:extLst>
          </p:cNvPr>
          <p:cNvSpPr/>
          <p:nvPr/>
        </p:nvSpPr>
        <p:spPr>
          <a:xfrm>
            <a:off x="1763527" y="2006862"/>
            <a:ext cx="3479800" cy="35226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Left Brace 7">
            <a:extLst>
              <a:ext uri="{FF2B5EF4-FFF2-40B4-BE49-F238E27FC236}">
                <a16:creationId xmlns:a16="http://schemas.microsoft.com/office/drawing/2014/main" id="{E33066B2-0A7C-8A4E-AC35-E6F80161D0E4}"/>
              </a:ext>
            </a:extLst>
          </p:cNvPr>
          <p:cNvSpPr/>
          <p:nvPr/>
        </p:nvSpPr>
        <p:spPr>
          <a:xfrm rot="16200000">
            <a:off x="3328255" y="4082789"/>
            <a:ext cx="350344" cy="3479800"/>
          </a:xfrm>
          <a:prstGeom prst="leftBrace">
            <a:avLst>
              <a:gd name="adj1" fmla="val 8333"/>
              <a:gd name="adj2" fmla="val 24563"/>
            </a:avLst>
          </a:prstGeom>
          <a:ln>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0F8ED1D-42C3-9141-AE77-27407422E154}"/>
                  </a:ext>
                </a:extLst>
              </p:cNvPr>
              <p:cNvSpPr txBox="1"/>
              <p:nvPr/>
            </p:nvSpPr>
            <p:spPr>
              <a:xfrm>
                <a:off x="2447101" y="5962948"/>
                <a:ext cx="2987135" cy="522772"/>
              </a:xfrm>
              <a:prstGeom prst="rect">
                <a:avLst/>
              </a:prstGeom>
              <a:noFill/>
              <a:ln>
                <a:noFill/>
              </a:ln>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𝑥</m:t>
                    </m:r>
                  </m:oMath>
                </a14:m>
                <a:r>
                  <a:rPr lang="en-US" sz="2797" dirty="0">
                    <a:cs typeface="Poppins Light" panose="00000400000000000000" pitchFamily="2" charset="0"/>
                  </a:rPr>
                  <a:t>, retinal image</a:t>
                </a:r>
              </a:p>
            </p:txBody>
          </p:sp>
        </mc:Choice>
        <mc:Fallback xmlns="">
          <p:sp>
            <p:nvSpPr>
              <p:cNvPr id="9" name="TextBox 8">
                <a:extLst>
                  <a:ext uri="{FF2B5EF4-FFF2-40B4-BE49-F238E27FC236}">
                    <a16:creationId xmlns:a16="http://schemas.microsoft.com/office/drawing/2014/main" id="{B0F8ED1D-42C3-9141-AE77-27407422E154}"/>
                  </a:ext>
                </a:extLst>
              </p:cNvPr>
              <p:cNvSpPr txBox="1">
                <a:spLocks noRot="1" noChangeAspect="1" noMove="1" noResize="1" noEditPoints="1" noAdjustHandles="1" noChangeArrowheads="1" noChangeShapeType="1" noTextEdit="1"/>
              </p:cNvSpPr>
              <p:nvPr/>
            </p:nvSpPr>
            <p:spPr>
              <a:xfrm>
                <a:off x="2447101" y="5962948"/>
                <a:ext cx="2987135" cy="522772"/>
              </a:xfrm>
              <a:prstGeom prst="rect">
                <a:avLst/>
              </a:prstGeom>
              <a:blipFill>
                <a:blip r:embed="rId3"/>
                <a:stretch>
                  <a:fillRect t="-11905" b="-33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2C42C99-ECFD-CC46-8C0C-7FE9900CF424}"/>
                  </a:ext>
                </a:extLst>
              </p:cNvPr>
              <p:cNvSpPr txBox="1"/>
              <p:nvPr/>
            </p:nvSpPr>
            <p:spPr>
              <a:xfrm>
                <a:off x="8172008" y="4204151"/>
                <a:ext cx="3300520" cy="953210"/>
              </a:xfrm>
              <a:prstGeom prst="rect">
                <a:avLst/>
              </a:prstGeom>
              <a:noFill/>
              <a:ln>
                <a:noFill/>
              </a:ln>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𝑦</m:t>
                    </m:r>
                  </m:oMath>
                </a14:m>
                <a:r>
                  <a:rPr lang="en-US" sz="2797" dirty="0">
                    <a:cs typeface="Poppins Light" panose="00000400000000000000" pitchFamily="2" charset="0"/>
                  </a:rPr>
                  <a:t>, referrable diabetic retinopathy</a:t>
                </a:r>
              </a:p>
            </p:txBody>
          </p:sp>
        </mc:Choice>
        <mc:Fallback xmlns="">
          <p:sp>
            <p:nvSpPr>
              <p:cNvPr id="10" name="TextBox 9">
                <a:extLst>
                  <a:ext uri="{FF2B5EF4-FFF2-40B4-BE49-F238E27FC236}">
                    <a16:creationId xmlns:a16="http://schemas.microsoft.com/office/drawing/2014/main" id="{F2C42C99-ECFD-CC46-8C0C-7FE9900CF424}"/>
                  </a:ext>
                </a:extLst>
              </p:cNvPr>
              <p:cNvSpPr txBox="1">
                <a:spLocks noRot="1" noChangeAspect="1" noMove="1" noResize="1" noEditPoints="1" noAdjustHandles="1" noChangeArrowheads="1" noChangeShapeType="1" noTextEdit="1"/>
              </p:cNvSpPr>
              <p:nvPr/>
            </p:nvSpPr>
            <p:spPr>
              <a:xfrm>
                <a:off x="8172008" y="4204151"/>
                <a:ext cx="3300520" cy="953210"/>
              </a:xfrm>
              <a:prstGeom prst="rect">
                <a:avLst/>
              </a:prstGeom>
              <a:blipFill>
                <a:blip r:embed="rId4"/>
                <a:stretch>
                  <a:fillRect l="-3831" t="-7895" r="-2299" b="-17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9F4C887-30DE-6142-A3B8-73F2E6FB683F}"/>
                  </a:ext>
                </a:extLst>
              </p:cNvPr>
              <p:cNvSpPr txBox="1"/>
              <p:nvPr/>
            </p:nvSpPr>
            <p:spPr>
              <a:xfrm>
                <a:off x="6498272" y="5975355"/>
                <a:ext cx="3975255" cy="497957"/>
              </a:xfrm>
              <a:prstGeom prst="rect">
                <a:avLst/>
              </a:prstGeom>
              <a:noFill/>
              <a:ln>
                <a:noFill/>
              </a:ln>
            </p:spPr>
            <p:txBody>
              <a:bodyPr wrap="none" rtlCol="0">
                <a:spAutoFit/>
              </a:bodyPr>
              <a:lstStyle/>
              <a:p>
                <a:r>
                  <a:rPr lang="en-US" sz="2636" dirty="0">
                    <a:cs typeface="Poppins Light" panose="00000400000000000000" pitchFamily="2" charset="0"/>
                  </a:rPr>
                  <a:t>End goal: predict</a:t>
                </a:r>
                <a:r>
                  <a:rPr lang="en-US" sz="2636" i="1" dirty="0">
                    <a:cs typeface="Poppins Light" panose="00000400000000000000" pitchFamily="2" charset="0"/>
                  </a:rPr>
                  <a:t> </a:t>
                </a:r>
                <a14:m>
                  <m:oMath xmlns:m="http://schemas.openxmlformats.org/officeDocument/2006/math">
                    <m:r>
                      <a:rPr lang="en-US" sz="2636" i="1" dirty="0" smtClean="0">
                        <a:latin typeface="Cambria Math" panose="02040503050406030204" pitchFamily="18" charset="0"/>
                        <a:cs typeface="Poppins Light" panose="00000400000000000000" pitchFamily="2" charset="0"/>
                      </a:rPr>
                      <m:t>𝑦</m:t>
                    </m:r>
                  </m:oMath>
                </a14:m>
                <a:r>
                  <a:rPr lang="en-US" sz="2636" dirty="0">
                    <a:cs typeface="Poppins Light" panose="00000400000000000000" pitchFamily="2" charset="0"/>
                  </a:rPr>
                  <a:t> from </a:t>
                </a:r>
                <a14:m>
                  <m:oMath xmlns:m="http://schemas.openxmlformats.org/officeDocument/2006/math">
                    <m:r>
                      <a:rPr lang="en-US" sz="2636" i="1" dirty="0" smtClean="0">
                        <a:latin typeface="Cambria Math" panose="02040503050406030204" pitchFamily="18" charset="0"/>
                        <a:cs typeface="Poppins Light" panose="00000400000000000000" pitchFamily="2" charset="0"/>
                      </a:rPr>
                      <m:t>𝑥</m:t>
                    </m:r>
                  </m:oMath>
                </a14:m>
                <a:r>
                  <a:rPr lang="en-US" sz="2636" dirty="0">
                    <a:cs typeface="Poppins Light" panose="00000400000000000000" pitchFamily="2" charset="0"/>
                  </a:rPr>
                  <a:t> </a:t>
                </a:r>
              </a:p>
            </p:txBody>
          </p:sp>
        </mc:Choice>
        <mc:Fallback xmlns="">
          <p:sp>
            <p:nvSpPr>
              <p:cNvPr id="11" name="TextBox 10">
                <a:extLst>
                  <a:ext uri="{FF2B5EF4-FFF2-40B4-BE49-F238E27FC236}">
                    <a16:creationId xmlns:a16="http://schemas.microsoft.com/office/drawing/2014/main" id="{69F4C887-30DE-6142-A3B8-73F2E6FB683F}"/>
                  </a:ext>
                </a:extLst>
              </p:cNvPr>
              <p:cNvSpPr txBox="1">
                <a:spLocks noRot="1" noChangeAspect="1" noMove="1" noResize="1" noEditPoints="1" noAdjustHandles="1" noChangeArrowheads="1" noChangeShapeType="1" noTextEdit="1"/>
              </p:cNvSpPr>
              <p:nvPr/>
            </p:nvSpPr>
            <p:spPr>
              <a:xfrm>
                <a:off x="6498272" y="5975355"/>
                <a:ext cx="3975255" cy="497957"/>
              </a:xfrm>
              <a:prstGeom prst="rect">
                <a:avLst/>
              </a:prstGeom>
              <a:blipFill>
                <a:blip r:embed="rId5"/>
                <a:stretch>
                  <a:fillRect l="-2866" t="-10000" b="-30000"/>
                </a:stretch>
              </a:blipFill>
              <a:ln>
                <a:noFill/>
              </a:ln>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extLst>
              <p:ext uri="{D42A27DB-BD31-4B8C-83A1-F6EECF244321}">
                <p14:modId xmlns:p14="http://schemas.microsoft.com/office/powerpoint/2010/main" val="2434286885"/>
              </p:ext>
            </p:extLst>
          </p:nvPr>
        </p:nvGraphicFramePr>
        <p:xfrm>
          <a:off x="8011758" y="3414265"/>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pic>
        <p:nvPicPr>
          <p:cNvPr id="14" name="Picture 13" descr="Cover">
            <a:extLst>
              <a:ext uri="{FF2B5EF4-FFF2-40B4-BE49-F238E27FC236}">
                <a16:creationId xmlns:a16="http://schemas.microsoft.com/office/drawing/2014/main" id="{537A91F6-53A6-2F45-BFF7-32E00B2E46FD}"/>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1832797" y="2124856"/>
            <a:ext cx="3289301" cy="326072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Arrow Connector 15">
            <a:extLst>
              <a:ext uri="{FF2B5EF4-FFF2-40B4-BE49-F238E27FC236}">
                <a16:creationId xmlns:a16="http://schemas.microsoft.com/office/drawing/2014/main" id="{2004C370-95FF-1047-B986-B06FCDF88F5F}"/>
              </a:ext>
            </a:extLst>
          </p:cNvPr>
          <p:cNvCxnSpPr>
            <a:stCxn id="3" idx="3"/>
            <a:endCxn id="13" idx="1"/>
          </p:cNvCxnSpPr>
          <p:nvPr/>
        </p:nvCxnSpPr>
        <p:spPr>
          <a:xfrm flipV="1">
            <a:off x="5243327" y="3768191"/>
            <a:ext cx="2768431"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itle 11">
            <a:extLst>
              <a:ext uri="{FF2B5EF4-FFF2-40B4-BE49-F238E27FC236}">
                <a16:creationId xmlns:a16="http://schemas.microsoft.com/office/drawing/2014/main" id="{5EC5F7B5-1B26-D3E9-463A-7EA867031959}"/>
              </a:ext>
            </a:extLst>
          </p:cNvPr>
          <p:cNvSpPr>
            <a:spLocks noGrp="1"/>
          </p:cNvSpPr>
          <p:nvPr>
            <p:ph type="title"/>
          </p:nvPr>
        </p:nvSpPr>
        <p:spPr/>
        <p:txBody>
          <a:bodyPr/>
          <a:lstStyle/>
          <a:p>
            <a:r>
              <a:rPr lang="en-US" dirty="0"/>
              <a:t>Computer vision:</a:t>
            </a:r>
            <a:br>
              <a:rPr lang="en-US" dirty="0"/>
            </a:br>
            <a:r>
              <a:rPr lang="en-US" dirty="0"/>
              <a:t>prediction via convolutional neural network</a:t>
            </a:r>
          </a:p>
        </p:txBody>
      </p:sp>
    </p:spTree>
    <p:extLst>
      <p:ext uri="{BB962C8B-B14F-4D97-AF65-F5344CB8AC3E}">
        <p14:creationId xmlns:p14="http://schemas.microsoft.com/office/powerpoint/2010/main" val="669962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eft Brace 4">
            <a:extLst>
              <a:ext uri="{FF2B5EF4-FFF2-40B4-BE49-F238E27FC236}">
                <a16:creationId xmlns:a16="http://schemas.microsoft.com/office/drawing/2014/main" id="{8A568960-EECE-6A43-175C-7D9DE7AE1545}"/>
              </a:ext>
            </a:extLst>
          </p:cNvPr>
          <p:cNvSpPr/>
          <p:nvPr/>
        </p:nvSpPr>
        <p:spPr>
          <a:xfrm rot="16200000">
            <a:off x="3357215" y="1045515"/>
            <a:ext cx="350344" cy="4671292"/>
          </a:xfrm>
          <a:prstGeom prst="leftBrace">
            <a:avLst>
              <a:gd name="adj1" fmla="val 8333"/>
              <a:gd name="adj2" fmla="val 24563"/>
            </a:avLst>
          </a:prstGeom>
          <a:ln>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F1E3496-EFD8-32E1-9C20-97E255D9CBF2}"/>
                  </a:ext>
                </a:extLst>
              </p:cNvPr>
              <p:cNvSpPr txBox="1"/>
              <p:nvPr/>
            </p:nvSpPr>
            <p:spPr>
              <a:xfrm>
                <a:off x="2187944" y="3547100"/>
                <a:ext cx="4261944" cy="522772"/>
              </a:xfrm>
              <a:prstGeom prst="rect">
                <a:avLst/>
              </a:prstGeom>
              <a:noFill/>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𝑥</m:t>
                    </m:r>
                  </m:oMath>
                </a14:m>
                <a:r>
                  <a:rPr lang="en-US" sz="2797" dirty="0">
                    <a:cs typeface="Poppins Light" panose="00000400000000000000" pitchFamily="2" charset="0"/>
                  </a:rPr>
                  <a:t>, conversation history</a:t>
                </a:r>
              </a:p>
            </p:txBody>
          </p:sp>
        </mc:Choice>
        <mc:Fallback xmlns="">
          <p:sp>
            <p:nvSpPr>
              <p:cNvPr id="6" name="TextBox 5">
                <a:extLst>
                  <a:ext uri="{FF2B5EF4-FFF2-40B4-BE49-F238E27FC236}">
                    <a16:creationId xmlns:a16="http://schemas.microsoft.com/office/drawing/2014/main" id="{AF1E3496-EFD8-32E1-9C20-97E255D9CBF2}"/>
                  </a:ext>
                </a:extLst>
              </p:cNvPr>
              <p:cNvSpPr txBox="1">
                <a:spLocks noRot="1" noChangeAspect="1" noMove="1" noResize="1" noEditPoints="1" noAdjustHandles="1" noChangeArrowheads="1" noChangeShapeType="1" noTextEdit="1"/>
              </p:cNvSpPr>
              <p:nvPr/>
            </p:nvSpPr>
            <p:spPr>
              <a:xfrm>
                <a:off x="2187944" y="3547100"/>
                <a:ext cx="4261944" cy="522772"/>
              </a:xfrm>
              <a:prstGeom prst="rect">
                <a:avLst/>
              </a:prstGeom>
              <a:blipFill>
                <a:blip r:embed="rId3"/>
                <a:stretch>
                  <a:fillRect t="-11905"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3CB3C25-9FE2-D7D8-0811-A401B3C11D50}"/>
                  </a:ext>
                </a:extLst>
              </p:cNvPr>
              <p:cNvSpPr txBox="1"/>
              <p:nvPr/>
            </p:nvSpPr>
            <p:spPr>
              <a:xfrm>
                <a:off x="6906307" y="2740178"/>
                <a:ext cx="2327556" cy="522772"/>
              </a:xfrm>
              <a:prstGeom prst="rect">
                <a:avLst/>
              </a:prstGeom>
              <a:noFill/>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𝑦</m:t>
                    </m:r>
                  </m:oMath>
                </a14:m>
                <a:r>
                  <a:rPr lang="en-US" sz="2797" dirty="0">
                    <a:cs typeface="Poppins Light" panose="00000400000000000000" pitchFamily="2" charset="0"/>
                  </a:rPr>
                  <a:t>, next word</a:t>
                </a:r>
              </a:p>
            </p:txBody>
          </p:sp>
        </mc:Choice>
        <mc:Fallback xmlns="">
          <p:sp>
            <p:nvSpPr>
              <p:cNvPr id="7" name="TextBox 6">
                <a:extLst>
                  <a:ext uri="{FF2B5EF4-FFF2-40B4-BE49-F238E27FC236}">
                    <a16:creationId xmlns:a16="http://schemas.microsoft.com/office/drawing/2014/main" id="{13CB3C25-9FE2-D7D8-0811-A401B3C11D50}"/>
                  </a:ext>
                </a:extLst>
              </p:cNvPr>
              <p:cNvSpPr txBox="1">
                <a:spLocks noRot="1" noChangeAspect="1" noMove="1" noResize="1" noEditPoints="1" noAdjustHandles="1" noChangeArrowheads="1" noChangeShapeType="1" noTextEdit="1"/>
              </p:cNvSpPr>
              <p:nvPr/>
            </p:nvSpPr>
            <p:spPr>
              <a:xfrm>
                <a:off x="6906307" y="2740178"/>
                <a:ext cx="2327556" cy="522772"/>
              </a:xfrm>
              <a:prstGeom prst="rect">
                <a:avLst/>
              </a:prstGeom>
              <a:blipFill>
                <a:blip r:embed="rId4"/>
                <a:stretch>
                  <a:fillRect l="-1081" t="-14634" b="-34146"/>
                </a:stretch>
              </a:blipFill>
            </p:spPr>
            <p:txBody>
              <a:bodyPr/>
              <a:lstStyle/>
              <a:p>
                <a:r>
                  <a:rPr lang="en-US">
                    <a:noFill/>
                  </a:rPr>
                  <a:t> </a:t>
                </a:r>
              </a:p>
            </p:txBody>
          </p:sp>
        </mc:Fallback>
      </mc:AlternateContent>
      <p:graphicFrame>
        <p:nvGraphicFramePr>
          <p:cNvPr id="8" name="Table 7">
            <a:extLst>
              <a:ext uri="{FF2B5EF4-FFF2-40B4-BE49-F238E27FC236}">
                <a16:creationId xmlns:a16="http://schemas.microsoft.com/office/drawing/2014/main" id="{E2E1580D-2F4C-D639-194B-514F0EA28E0F}"/>
              </a:ext>
            </a:extLst>
          </p:cNvPr>
          <p:cNvGraphicFramePr>
            <a:graphicFrameLocks noGrp="1"/>
          </p:cNvGraphicFramePr>
          <p:nvPr/>
        </p:nvGraphicFramePr>
        <p:xfrm>
          <a:off x="6732671" y="2046784"/>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9" name="Straight Arrow Connector 8">
            <a:extLst>
              <a:ext uri="{FF2B5EF4-FFF2-40B4-BE49-F238E27FC236}">
                <a16:creationId xmlns:a16="http://schemas.microsoft.com/office/drawing/2014/main" id="{243B2ACD-94FF-120D-3078-3D6F98A1A8EA}"/>
              </a:ext>
            </a:extLst>
          </p:cNvPr>
          <p:cNvCxnSpPr>
            <a:cxnSpLocks/>
            <a:endCxn id="8" idx="1"/>
          </p:cNvCxnSpPr>
          <p:nvPr/>
        </p:nvCxnSpPr>
        <p:spPr>
          <a:xfrm>
            <a:off x="5868034" y="2400710"/>
            <a:ext cx="8646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Left Brace 13">
            <a:extLst>
              <a:ext uri="{FF2B5EF4-FFF2-40B4-BE49-F238E27FC236}">
                <a16:creationId xmlns:a16="http://schemas.microsoft.com/office/drawing/2014/main" id="{5AA9705D-A4AB-AA8E-09C8-7EC39E6A9A64}"/>
              </a:ext>
            </a:extLst>
          </p:cNvPr>
          <p:cNvSpPr/>
          <p:nvPr/>
        </p:nvSpPr>
        <p:spPr>
          <a:xfrm rot="16200000">
            <a:off x="5984166" y="4272208"/>
            <a:ext cx="350344" cy="3238291"/>
          </a:xfrm>
          <a:prstGeom prst="leftBrace">
            <a:avLst>
              <a:gd name="adj1" fmla="val 8333"/>
              <a:gd name="adj2" fmla="val 24563"/>
            </a:avLst>
          </a:prstGeom>
          <a:ln>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1AACD68-00E6-9F4B-FDC1-7414A509C3D3}"/>
                  </a:ext>
                </a:extLst>
              </p:cNvPr>
              <p:cNvSpPr txBox="1"/>
              <p:nvPr/>
            </p:nvSpPr>
            <p:spPr>
              <a:xfrm>
                <a:off x="5144254" y="6080258"/>
                <a:ext cx="3524106" cy="522772"/>
              </a:xfrm>
              <a:prstGeom prst="rect">
                <a:avLst/>
              </a:prstGeom>
              <a:noFill/>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𝑥</m:t>
                    </m:r>
                  </m:oMath>
                </a14:m>
                <a:r>
                  <a:rPr lang="en-US" sz="2797" dirty="0">
                    <a:cs typeface="Poppins Light" panose="00000400000000000000" pitchFamily="2" charset="0"/>
                  </a:rPr>
                  <a:t>, EHR event history</a:t>
                </a:r>
              </a:p>
            </p:txBody>
          </p:sp>
        </mc:Choice>
        <mc:Fallback xmlns="">
          <p:sp>
            <p:nvSpPr>
              <p:cNvPr id="15" name="TextBox 14">
                <a:extLst>
                  <a:ext uri="{FF2B5EF4-FFF2-40B4-BE49-F238E27FC236}">
                    <a16:creationId xmlns:a16="http://schemas.microsoft.com/office/drawing/2014/main" id="{C1AACD68-00E6-9F4B-FDC1-7414A509C3D3}"/>
                  </a:ext>
                </a:extLst>
              </p:cNvPr>
              <p:cNvSpPr txBox="1">
                <a:spLocks noRot="1" noChangeAspect="1" noMove="1" noResize="1" noEditPoints="1" noAdjustHandles="1" noChangeArrowheads="1" noChangeShapeType="1" noTextEdit="1"/>
              </p:cNvSpPr>
              <p:nvPr/>
            </p:nvSpPr>
            <p:spPr>
              <a:xfrm>
                <a:off x="5144254" y="6080258"/>
                <a:ext cx="3524106" cy="522772"/>
              </a:xfrm>
              <a:prstGeom prst="rect">
                <a:avLst/>
              </a:prstGeom>
              <a:blipFill>
                <a:blip r:embed="rId5"/>
                <a:stretch>
                  <a:fillRect t="-11905"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201E0A1-C78D-FA32-4FE4-7AE9F7E2C2CB}"/>
                  </a:ext>
                </a:extLst>
              </p:cNvPr>
              <p:cNvSpPr txBox="1"/>
              <p:nvPr/>
            </p:nvSpPr>
            <p:spPr>
              <a:xfrm>
                <a:off x="9156876" y="5378815"/>
                <a:ext cx="2468055" cy="522772"/>
              </a:xfrm>
              <a:prstGeom prst="rect">
                <a:avLst/>
              </a:prstGeom>
              <a:noFill/>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𝑦</m:t>
                    </m:r>
                  </m:oMath>
                </a14:m>
                <a:r>
                  <a:rPr lang="en-US" sz="2797" dirty="0">
                    <a:cs typeface="Poppins Light" panose="00000400000000000000" pitchFamily="2" charset="0"/>
                  </a:rPr>
                  <a:t>, next event</a:t>
                </a:r>
              </a:p>
            </p:txBody>
          </p:sp>
        </mc:Choice>
        <mc:Fallback xmlns="">
          <p:sp>
            <p:nvSpPr>
              <p:cNvPr id="16" name="TextBox 15">
                <a:extLst>
                  <a:ext uri="{FF2B5EF4-FFF2-40B4-BE49-F238E27FC236}">
                    <a16:creationId xmlns:a16="http://schemas.microsoft.com/office/drawing/2014/main" id="{F201E0A1-C78D-FA32-4FE4-7AE9F7E2C2CB}"/>
                  </a:ext>
                </a:extLst>
              </p:cNvPr>
              <p:cNvSpPr txBox="1">
                <a:spLocks noRot="1" noChangeAspect="1" noMove="1" noResize="1" noEditPoints="1" noAdjustHandles="1" noChangeArrowheads="1" noChangeShapeType="1" noTextEdit="1"/>
              </p:cNvSpPr>
              <p:nvPr/>
            </p:nvSpPr>
            <p:spPr>
              <a:xfrm>
                <a:off x="9156876" y="5378815"/>
                <a:ext cx="2468055" cy="522772"/>
              </a:xfrm>
              <a:prstGeom prst="rect">
                <a:avLst/>
              </a:prstGeom>
              <a:blipFill>
                <a:blip r:embed="rId6"/>
                <a:stretch>
                  <a:fillRect l="-1020" t="-11905" b="-33333"/>
                </a:stretch>
              </a:blipFill>
            </p:spPr>
            <p:txBody>
              <a:bodyPr/>
              <a:lstStyle/>
              <a:p>
                <a:r>
                  <a:rPr lang="en-US">
                    <a:noFill/>
                  </a:rPr>
                  <a:t> </a:t>
                </a:r>
              </a:p>
            </p:txBody>
          </p:sp>
        </mc:Fallback>
      </mc:AlternateContent>
      <p:graphicFrame>
        <p:nvGraphicFramePr>
          <p:cNvPr id="17" name="Table 16">
            <a:extLst>
              <a:ext uri="{FF2B5EF4-FFF2-40B4-BE49-F238E27FC236}">
                <a16:creationId xmlns:a16="http://schemas.microsoft.com/office/drawing/2014/main" id="{FD3A3004-A7A7-76D4-4FB2-10EE3893EB68}"/>
              </a:ext>
            </a:extLst>
          </p:cNvPr>
          <p:cNvGraphicFramePr>
            <a:graphicFrameLocks noGrp="1"/>
          </p:cNvGraphicFramePr>
          <p:nvPr/>
        </p:nvGraphicFramePr>
        <p:xfrm>
          <a:off x="9015137" y="4670962"/>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8" name="Straight Arrow Connector 17">
            <a:extLst>
              <a:ext uri="{FF2B5EF4-FFF2-40B4-BE49-F238E27FC236}">
                <a16:creationId xmlns:a16="http://schemas.microsoft.com/office/drawing/2014/main" id="{ED57E532-A849-4743-E43C-5EBA9E27742E}"/>
              </a:ext>
            </a:extLst>
          </p:cNvPr>
          <p:cNvCxnSpPr>
            <a:cxnSpLocks/>
            <a:stCxn id="3076" idx="3"/>
            <a:endCxn id="17" idx="1"/>
          </p:cNvCxnSpPr>
          <p:nvPr/>
        </p:nvCxnSpPr>
        <p:spPr>
          <a:xfrm>
            <a:off x="7778483" y="5024888"/>
            <a:ext cx="123665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076" name="Picture 4" descr="Generated image">
            <a:extLst>
              <a:ext uri="{FF2B5EF4-FFF2-40B4-BE49-F238E27FC236}">
                <a16:creationId xmlns:a16="http://schemas.microsoft.com/office/drawing/2014/main" id="{909066AB-878E-79BC-84D8-7FB596A25F29}"/>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35938" b="70313" l="19401" r="77474">
                        <a14:foregroundMark x1="29753" y1="43555" x2="29753" y2="43555"/>
                        <a14:foregroundMark x1="25130" y1="51367" x2="25130" y2="51367"/>
                        <a14:foregroundMark x1="22461" y1="50781" x2="26888" y2="51367"/>
                        <a14:foregroundMark x1="42057" y1="56250" x2="44922" y2="46191"/>
                        <a14:foregroundMark x1="39779" y1="57422" x2="41797" y2="42773"/>
                        <a14:foregroundMark x1="41797" y1="42773" x2="46680" y2="55078"/>
                        <a14:foregroundMark x1="55273" y1="54199" x2="59310" y2="54004"/>
                        <a14:foregroundMark x1="69466" y1="55664" x2="74870" y2="51660"/>
                        <a14:foregroundMark x1="55078" y1="53125" x2="56641" y2="48535"/>
                        <a14:foregroundMark x1="71224" y1="54785" x2="74870" y2="52539"/>
                        <a14:foregroundMark x1="76432" y1="51074" x2="76432" y2="51074"/>
                        <a14:foregroundMark x1="75846" y1="54199" x2="76758" y2="50195"/>
                        <a14:foregroundMark x1="40299" y1="57129" x2="46680" y2="45508"/>
                        <a14:foregroundMark x1="46680" y1="45508" x2="46680" y2="43262"/>
                        <a14:foregroundMark x1="77539" y1="65430" x2="76432" y2="65723"/>
                        <a14:foregroundMark x1="39779" y1="57715" x2="47591" y2="57129"/>
                        <a14:foregroundMark x1="76042" y1="48535" x2="76953" y2="54199"/>
                        <a14:foregroundMark x1="19401" y1="65430" x2="19401" y2="65430"/>
                      </a14:backgroundRemoval>
                    </a14:imgEffect>
                  </a14:imgLayer>
                </a14:imgProps>
              </a:ext>
              <a:ext uri="{28A0092B-C50C-407E-A947-70E740481C1C}">
                <a14:useLocalDpi xmlns:a14="http://schemas.microsoft.com/office/drawing/2010/main" val="0"/>
              </a:ext>
            </a:extLst>
          </a:blip>
          <a:srcRect l="15762" t="31711" r="16275" b="25253"/>
          <a:stretch>
            <a:fillRect/>
          </a:stretch>
        </p:blipFill>
        <p:spPr bwMode="auto">
          <a:xfrm>
            <a:off x="4540193" y="4341358"/>
            <a:ext cx="3238290" cy="13670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3637513B-6058-552D-BFD8-CF769A951866}"/>
              </a:ext>
            </a:extLst>
          </p:cNvPr>
          <p:cNvPicPr>
            <a:picLocks noChangeAspect="1"/>
          </p:cNvPicPr>
          <p:nvPr/>
        </p:nvPicPr>
        <p:blipFill>
          <a:blip r:embed="rId9"/>
          <a:srcRect b="25088"/>
          <a:stretch>
            <a:fillRect/>
          </a:stretch>
        </p:blipFill>
        <p:spPr>
          <a:xfrm>
            <a:off x="1196741" y="1721277"/>
            <a:ext cx="4671292" cy="1434958"/>
          </a:xfrm>
          <a:prstGeom prst="rect">
            <a:avLst/>
          </a:prstGeom>
          <a:ln>
            <a:solidFill>
              <a:schemeClr val="tx1"/>
            </a:solidFill>
          </a:ln>
        </p:spPr>
      </p:pic>
      <p:pic>
        <p:nvPicPr>
          <p:cNvPr id="4098" name="Picture 2">
            <a:extLst>
              <a:ext uri="{FF2B5EF4-FFF2-40B4-BE49-F238E27FC236}">
                <a16:creationId xmlns:a16="http://schemas.microsoft.com/office/drawing/2014/main" id="{5982B0F3-2B22-9756-6E4D-270760F832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89494" y="1827930"/>
            <a:ext cx="522772" cy="52277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5B96F902-3ABB-E6E1-4251-4EA18C280918}"/>
              </a:ext>
            </a:extLst>
          </p:cNvPr>
          <p:cNvSpPr>
            <a:spLocks noGrp="1"/>
          </p:cNvSpPr>
          <p:nvPr>
            <p:ph type="title"/>
          </p:nvPr>
        </p:nvSpPr>
        <p:spPr/>
        <p:txBody>
          <a:bodyPr/>
          <a:lstStyle/>
          <a:p>
            <a:r>
              <a:rPr lang="en-US" dirty="0"/>
              <a:t>NLP and clinical sequences:</a:t>
            </a:r>
            <a:br>
              <a:rPr lang="en-US" dirty="0"/>
            </a:br>
            <a:r>
              <a:rPr lang="en-US" dirty="0"/>
              <a:t>prediction via stacked attention networks</a:t>
            </a:r>
          </a:p>
        </p:txBody>
      </p:sp>
    </p:spTree>
    <p:extLst>
      <p:ext uri="{BB962C8B-B14F-4D97-AF65-F5344CB8AC3E}">
        <p14:creationId xmlns:p14="http://schemas.microsoft.com/office/powerpoint/2010/main" val="2124860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eft Brace 7">
            <a:extLst>
              <a:ext uri="{FF2B5EF4-FFF2-40B4-BE49-F238E27FC236}">
                <a16:creationId xmlns:a16="http://schemas.microsoft.com/office/drawing/2014/main" id="{E33066B2-0A7C-8A4E-AC35-E6F80161D0E4}"/>
              </a:ext>
            </a:extLst>
          </p:cNvPr>
          <p:cNvSpPr/>
          <p:nvPr/>
        </p:nvSpPr>
        <p:spPr>
          <a:xfrm rot="16200000">
            <a:off x="3221929" y="3831449"/>
            <a:ext cx="350344" cy="3479800"/>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p:sp>
        <p:nvSpPr>
          <p:cNvPr id="9" name="TextBox 8">
            <a:extLst>
              <a:ext uri="{FF2B5EF4-FFF2-40B4-BE49-F238E27FC236}">
                <a16:creationId xmlns:a16="http://schemas.microsoft.com/office/drawing/2014/main" id="{B0F8ED1D-42C3-9141-AE77-27407422E154}"/>
              </a:ext>
            </a:extLst>
          </p:cNvPr>
          <p:cNvSpPr txBox="1"/>
          <p:nvPr/>
        </p:nvSpPr>
        <p:spPr>
          <a:xfrm>
            <a:off x="2340775" y="5711608"/>
            <a:ext cx="2987135" cy="522772"/>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x</a:t>
            </a:r>
            <a:r>
              <a:rPr lang="en-US" sz="2797" dirty="0">
                <a:latin typeface="Times New Roman" panose="02020603050405020304" pitchFamily="18" charset="0"/>
                <a:cs typeface="Times New Roman" panose="02020603050405020304" pitchFamily="18" charset="0"/>
              </a:rPr>
              <a:t>, Go board state</a:t>
            </a:r>
          </a:p>
        </p:txBody>
      </p:sp>
      <p:sp>
        <p:nvSpPr>
          <p:cNvPr id="10" name="TextBox 9">
            <a:extLst>
              <a:ext uri="{FF2B5EF4-FFF2-40B4-BE49-F238E27FC236}">
                <a16:creationId xmlns:a16="http://schemas.microsoft.com/office/drawing/2014/main" id="{F2C42C99-ECFD-CC46-8C0C-7FE9900CF424}"/>
              </a:ext>
            </a:extLst>
          </p:cNvPr>
          <p:cNvSpPr txBox="1"/>
          <p:nvPr/>
        </p:nvSpPr>
        <p:spPr>
          <a:xfrm>
            <a:off x="8090161" y="3922380"/>
            <a:ext cx="3210678" cy="522772"/>
          </a:xfrm>
          <a:prstGeom prst="rect">
            <a:avLst/>
          </a:prstGeom>
          <a:noFill/>
        </p:spPr>
        <p:txBody>
          <a:bodyPr wrap="square" rtlCol="0">
            <a:spAutoFit/>
          </a:bodyPr>
          <a:lstStyle/>
          <a:p>
            <a:r>
              <a:rPr lang="en-US" sz="2797" i="1" dirty="0">
                <a:latin typeface="Times New Roman" panose="02020603050405020304" pitchFamily="18" charset="0"/>
                <a:cs typeface="Times New Roman" panose="02020603050405020304" pitchFamily="18" charset="0"/>
              </a:rPr>
              <a:t>y</a:t>
            </a:r>
            <a:r>
              <a:rPr lang="en-US" sz="2797" dirty="0">
                <a:latin typeface="Times New Roman" panose="02020603050405020304" pitchFamily="18" charset="0"/>
                <a:cs typeface="Times New Roman" panose="02020603050405020304" pitchFamily="18" charset="0"/>
              </a:rPr>
              <a:t>, next move</a:t>
            </a:r>
          </a:p>
        </p:txBody>
      </p:sp>
      <p:sp>
        <p:nvSpPr>
          <p:cNvPr id="11" name="TextBox 10">
            <a:extLst>
              <a:ext uri="{FF2B5EF4-FFF2-40B4-BE49-F238E27FC236}">
                <a16:creationId xmlns:a16="http://schemas.microsoft.com/office/drawing/2014/main" id="{69F4C887-30DE-6142-A3B8-73F2E6FB683F}"/>
              </a:ext>
            </a:extLst>
          </p:cNvPr>
          <p:cNvSpPr txBox="1"/>
          <p:nvPr/>
        </p:nvSpPr>
        <p:spPr>
          <a:xfrm>
            <a:off x="7550838" y="5939234"/>
            <a:ext cx="3750001" cy="497957"/>
          </a:xfrm>
          <a:prstGeom prst="rect">
            <a:avLst/>
          </a:prstGeom>
          <a:noFill/>
        </p:spPr>
        <p:txBody>
          <a:bodyPr wrap="none" rtlCol="0">
            <a:spAutoFit/>
          </a:bodyPr>
          <a:lstStyle/>
          <a:p>
            <a:r>
              <a:rPr lang="en-US" sz="2636" dirty="0"/>
              <a:t>End goal: predict</a:t>
            </a:r>
            <a:r>
              <a:rPr lang="en-US" sz="2636" i="1" dirty="0"/>
              <a:t> </a:t>
            </a:r>
            <a:r>
              <a:rPr lang="en-US" sz="2636" i="1" dirty="0">
                <a:latin typeface="Times New Roman" panose="02020603050405020304" pitchFamily="18" charset="0"/>
                <a:cs typeface="Times New Roman" panose="02020603050405020304" pitchFamily="18" charset="0"/>
              </a:rPr>
              <a:t>y</a:t>
            </a:r>
            <a:r>
              <a:rPr lang="en-US" sz="2636" dirty="0"/>
              <a:t> from </a:t>
            </a:r>
            <a:r>
              <a:rPr lang="en-US" sz="2636" i="1" dirty="0">
                <a:latin typeface="Times New Roman" panose="02020603050405020304" pitchFamily="18" charset="0"/>
                <a:cs typeface="Times New Roman" panose="02020603050405020304" pitchFamily="18" charset="0"/>
              </a:rPr>
              <a:t>x</a:t>
            </a:r>
            <a:r>
              <a:rPr lang="en-US" sz="2636"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extLst>
              <p:ext uri="{D42A27DB-BD31-4B8C-83A1-F6EECF244321}">
                <p14:modId xmlns:p14="http://schemas.microsoft.com/office/powerpoint/2010/main" val="3064263720"/>
              </p:ext>
            </p:extLst>
          </p:nvPr>
        </p:nvGraphicFramePr>
        <p:xfrm>
          <a:off x="7905432" y="3162925"/>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a:endCxn id="13" idx="1"/>
          </p:cNvCxnSpPr>
          <p:nvPr/>
        </p:nvCxnSpPr>
        <p:spPr>
          <a:xfrm flipV="1">
            <a:off x="5137001" y="3516851"/>
            <a:ext cx="2768431"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2" name="Picture 2" descr="AlphaGo in China | DeepMind">
            <a:extLst>
              <a:ext uri="{FF2B5EF4-FFF2-40B4-BE49-F238E27FC236}">
                <a16:creationId xmlns:a16="http://schemas.microsoft.com/office/drawing/2014/main" id="{35C6A04F-1FF3-4241-A41A-FEED3FA4A81C}"/>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657201" y="1942533"/>
            <a:ext cx="3479800" cy="345364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3C09297-B8E3-9767-2049-4EEC4B6E0863}"/>
              </a:ext>
            </a:extLst>
          </p:cNvPr>
          <p:cNvSpPr>
            <a:spLocks noGrp="1"/>
          </p:cNvSpPr>
          <p:nvPr>
            <p:ph type="title"/>
          </p:nvPr>
        </p:nvSpPr>
        <p:spPr/>
        <p:txBody>
          <a:bodyPr/>
          <a:lstStyle/>
          <a:p>
            <a:r>
              <a:rPr lang="en-US" dirty="0"/>
              <a:t>Reinforcement Learning:</a:t>
            </a:r>
            <a:br>
              <a:rPr lang="en-US" dirty="0"/>
            </a:br>
            <a:r>
              <a:rPr lang="en-US" dirty="0"/>
              <a:t>state to action predictions via dense NN</a:t>
            </a:r>
          </a:p>
        </p:txBody>
      </p:sp>
    </p:spTree>
    <p:extLst>
      <p:ext uri="{BB962C8B-B14F-4D97-AF65-F5344CB8AC3E}">
        <p14:creationId xmlns:p14="http://schemas.microsoft.com/office/powerpoint/2010/main" val="2713887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C0086-FBFC-62EE-C784-4F37C0E43654}"/>
            </a:ext>
          </a:extLst>
        </p:cNvPr>
        <p:cNvGrpSpPr/>
        <p:nvPr/>
      </p:nvGrpSpPr>
      <p:grpSpPr>
        <a:xfrm>
          <a:off x="0" y="0"/>
          <a:ext cx="0" cy="0"/>
          <a:chOff x="0" y="0"/>
          <a:chExt cx="0" cy="0"/>
        </a:xfrm>
      </p:grpSpPr>
      <p:sp>
        <p:nvSpPr>
          <p:cNvPr id="8" name="Left Brace 7">
            <a:extLst>
              <a:ext uri="{FF2B5EF4-FFF2-40B4-BE49-F238E27FC236}">
                <a16:creationId xmlns:a16="http://schemas.microsoft.com/office/drawing/2014/main" id="{BF28C10D-461F-C125-F254-28A07149D4F0}"/>
              </a:ext>
            </a:extLst>
          </p:cNvPr>
          <p:cNvSpPr/>
          <p:nvPr/>
        </p:nvSpPr>
        <p:spPr>
          <a:xfrm rot="16200000">
            <a:off x="2403308" y="4766997"/>
            <a:ext cx="350344" cy="2416716"/>
          </a:xfrm>
          <a:prstGeom prst="leftBrace">
            <a:avLst>
              <a:gd name="adj1" fmla="val 8333"/>
              <a:gd name="adj2" fmla="val 24563"/>
            </a:avLst>
          </a:prstGeom>
          <a:ln>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1797"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721081B-346B-96F4-9BFD-0780C0B1046A}"/>
                  </a:ext>
                </a:extLst>
              </p:cNvPr>
              <p:cNvSpPr txBox="1"/>
              <p:nvPr/>
            </p:nvSpPr>
            <p:spPr>
              <a:xfrm>
                <a:off x="1758059" y="6139894"/>
                <a:ext cx="4440722" cy="522772"/>
              </a:xfrm>
              <a:prstGeom prst="rect">
                <a:avLst/>
              </a:prstGeom>
              <a:noFill/>
              <a:ln>
                <a:noFill/>
              </a:ln>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𝑥</m:t>
                    </m:r>
                  </m:oMath>
                </a14:m>
                <a:r>
                  <a:rPr lang="en-US" sz="2797" dirty="0">
                    <a:cs typeface="Poppins Light" panose="00000400000000000000" pitchFamily="2" charset="0"/>
                  </a:rPr>
                  <a:t>, multiple data modalities</a:t>
                </a:r>
              </a:p>
            </p:txBody>
          </p:sp>
        </mc:Choice>
        <mc:Fallback xmlns="">
          <p:sp>
            <p:nvSpPr>
              <p:cNvPr id="9" name="TextBox 8">
                <a:extLst>
                  <a:ext uri="{FF2B5EF4-FFF2-40B4-BE49-F238E27FC236}">
                    <a16:creationId xmlns:a16="http://schemas.microsoft.com/office/drawing/2014/main" id="{C721081B-346B-96F4-9BFD-0780C0B1046A}"/>
                  </a:ext>
                </a:extLst>
              </p:cNvPr>
              <p:cNvSpPr txBox="1">
                <a:spLocks noRot="1" noChangeAspect="1" noMove="1" noResize="1" noEditPoints="1" noAdjustHandles="1" noChangeArrowheads="1" noChangeShapeType="1" noTextEdit="1"/>
              </p:cNvSpPr>
              <p:nvPr/>
            </p:nvSpPr>
            <p:spPr>
              <a:xfrm>
                <a:off x="1758059" y="6139894"/>
                <a:ext cx="4440722" cy="522772"/>
              </a:xfrm>
              <a:prstGeom prst="rect">
                <a:avLst/>
              </a:prstGeom>
              <a:blipFill>
                <a:blip r:embed="rId3"/>
                <a:stretch>
                  <a:fillRect t="-11905" b="-33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192F324-C7AB-EED1-9B1D-25E87E3482AF}"/>
                  </a:ext>
                </a:extLst>
              </p:cNvPr>
              <p:cNvSpPr txBox="1"/>
              <p:nvPr/>
            </p:nvSpPr>
            <p:spPr>
              <a:xfrm>
                <a:off x="8172008" y="4204151"/>
                <a:ext cx="3300520" cy="953210"/>
              </a:xfrm>
              <a:prstGeom prst="rect">
                <a:avLst/>
              </a:prstGeom>
              <a:noFill/>
              <a:ln>
                <a:noFill/>
              </a:ln>
            </p:spPr>
            <p:txBody>
              <a:bodyPr wrap="square" rtlCol="0">
                <a:spAutoFit/>
              </a:bodyPr>
              <a:lstStyle/>
              <a:p>
                <a14:m>
                  <m:oMath xmlns:m="http://schemas.openxmlformats.org/officeDocument/2006/math">
                    <m:r>
                      <a:rPr lang="en-US" sz="2797" i="1" dirty="0" smtClean="0">
                        <a:latin typeface="Cambria Math" panose="02040503050406030204" pitchFamily="18" charset="0"/>
                        <a:cs typeface="Poppins Light" panose="00000400000000000000" pitchFamily="2" charset="0"/>
                      </a:rPr>
                      <m:t>𝑦</m:t>
                    </m:r>
                  </m:oMath>
                </a14:m>
                <a:r>
                  <a:rPr lang="en-US" sz="2797" dirty="0">
                    <a:cs typeface="Poppins Light" panose="00000400000000000000" pitchFamily="2" charset="0"/>
                  </a:rPr>
                  <a:t>, referrable diabetic retinopathy</a:t>
                </a:r>
              </a:p>
            </p:txBody>
          </p:sp>
        </mc:Choice>
        <mc:Fallback xmlns="">
          <p:sp>
            <p:nvSpPr>
              <p:cNvPr id="10" name="TextBox 9">
                <a:extLst>
                  <a:ext uri="{FF2B5EF4-FFF2-40B4-BE49-F238E27FC236}">
                    <a16:creationId xmlns:a16="http://schemas.microsoft.com/office/drawing/2014/main" id="{C192F324-C7AB-EED1-9B1D-25E87E3482AF}"/>
                  </a:ext>
                </a:extLst>
              </p:cNvPr>
              <p:cNvSpPr txBox="1">
                <a:spLocks noRot="1" noChangeAspect="1" noMove="1" noResize="1" noEditPoints="1" noAdjustHandles="1" noChangeArrowheads="1" noChangeShapeType="1" noTextEdit="1"/>
              </p:cNvSpPr>
              <p:nvPr/>
            </p:nvSpPr>
            <p:spPr>
              <a:xfrm>
                <a:off x="8172008" y="4204151"/>
                <a:ext cx="3300520" cy="953210"/>
              </a:xfrm>
              <a:prstGeom prst="rect">
                <a:avLst/>
              </a:prstGeom>
              <a:blipFill>
                <a:blip r:embed="rId4"/>
                <a:stretch>
                  <a:fillRect l="-3831" t="-7895" r="-2299" b="-17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F330A76-B063-D94A-7AEA-FDBCD4034C74}"/>
                  </a:ext>
                </a:extLst>
              </p:cNvPr>
              <p:cNvSpPr txBox="1"/>
              <p:nvPr/>
            </p:nvSpPr>
            <p:spPr>
              <a:xfrm>
                <a:off x="8011758" y="6088497"/>
                <a:ext cx="3975255" cy="497957"/>
              </a:xfrm>
              <a:prstGeom prst="rect">
                <a:avLst/>
              </a:prstGeom>
              <a:noFill/>
              <a:ln>
                <a:noFill/>
              </a:ln>
            </p:spPr>
            <p:txBody>
              <a:bodyPr wrap="none" rtlCol="0">
                <a:spAutoFit/>
              </a:bodyPr>
              <a:lstStyle/>
              <a:p>
                <a:r>
                  <a:rPr lang="en-US" sz="2636" dirty="0">
                    <a:cs typeface="Poppins Light" panose="00000400000000000000" pitchFamily="2" charset="0"/>
                  </a:rPr>
                  <a:t>End goal: predict</a:t>
                </a:r>
                <a:r>
                  <a:rPr lang="en-US" sz="2636" i="1" dirty="0">
                    <a:cs typeface="Poppins Light" panose="00000400000000000000" pitchFamily="2" charset="0"/>
                  </a:rPr>
                  <a:t> </a:t>
                </a:r>
                <a14:m>
                  <m:oMath xmlns:m="http://schemas.openxmlformats.org/officeDocument/2006/math">
                    <m:r>
                      <a:rPr lang="en-US" sz="2636" i="1" dirty="0" smtClean="0">
                        <a:latin typeface="Cambria Math" panose="02040503050406030204" pitchFamily="18" charset="0"/>
                        <a:cs typeface="Poppins Light" panose="00000400000000000000" pitchFamily="2" charset="0"/>
                      </a:rPr>
                      <m:t>𝑦</m:t>
                    </m:r>
                  </m:oMath>
                </a14:m>
                <a:r>
                  <a:rPr lang="en-US" sz="2636" dirty="0">
                    <a:cs typeface="Poppins Light" panose="00000400000000000000" pitchFamily="2" charset="0"/>
                  </a:rPr>
                  <a:t> from </a:t>
                </a:r>
                <a14:m>
                  <m:oMath xmlns:m="http://schemas.openxmlformats.org/officeDocument/2006/math">
                    <m:r>
                      <a:rPr lang="en-US" sz="2636" i="1" dirty="0" smtClean="0">
                        <a:latin typeface="Cambria Math" panose="02040503050406030204" pitchFamily="18" charset="0"/>
                        <a:cs typeface="Poppins Light" panose="00000400000000000000" pitchFamily="2" charset="0"/>
                      </a:rPr>
                      <m:t>𝑥</m:t>
                    </m:r>
                  </m:oMath>
                </a14:m>
                <a:r>
                  <a:rPr lang="en-US" sz="2636" dirty="0">
                    <a:cs typeface="Poppins Light" panose="00000400000000000000" pitchFamily="2" charset="0"/>
                  </a:rPr>
                  <a:t> </a:t>
                </a:r>
              </a:p>
            </p:txBody>
          </p:sp>
        </mc:Choice>
        <mc:Fallback xmlns="">
          <p:sp>
            <p:nvSpPr>
              <p:cNvPr id="11" name="TextBox 10">
                <a:extLst>
                  <a:ext uri="{FF2B5EF4-FFF2-40B4-BE49-F238E27FC236}">
                    <a16:creationId xmlns:a16="http://schemas.microsoft.com/office/drawing/2014/main" id="{9F330A76-B063-D94A-7AEA-FDBCD4034C74}"/>
                  </a:ext>
                </a:extLst>
              </p:cNvPr>
              <p:cNvSpPr txBox="1">
                <a:spLocks noRot="1" noChangeAspect="1" noMove="1" noResize="1" noEditPoints="1" noAdjustHandles="1" noChangeArrowheads="1" noChangeShapeType="1" noTextEdit="1"/>
              </p:cNvSpPr>
              <p:nvPr/>
            </p:nvSpPr>
            <p:spPr>
              <a:xfrm>
                <a:off x="8011758" y="6088497"/>
                <a:ext cx="3975255" cy="497957"/>
              </a:xfrm>
              <a:prstGeom prst="rect">
                <a:avLst/>
              </a:prstGeom>
              <a:blipFill>
                <a:blip r:embed="rId5"/>
                <a:stretch>
                  <a:fillRect l="-2866" t="-12500" b="-30000"/>
                </a:stretch>
              </a:blipFill>
              <a:ln>
                <a:noFill/>
              </a:ln>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9B133114-CA8E-A4B7-26A3-12C9645AB025}"/>
              </a:ext>
            </a:extLst>
          </p:cNvPr>
          <p:cNvGraphicFramePr>
            <a:graphicFrameLocks noGrp="1"/>
          </p:cNvGraphicFramePr>
          <p:nvPr/>
        </p:nvGraphicFramePr>
        <p:xfrm>
          <a:off x="8011758" y="3414265"/>
          <a:ext cx="723031" cy="707853"/>
        </p:xfrm>
        <a:graphic>
          <a:graphicData uri="http://schemas.openxmlformats.org/drawingml/2006/table">
            <a:tbl>
              <a:tblPr firstRow="1" bandRow="1">
                <a:tableStyleId>{5C22544A-7EE6-4342-B048-85BDC9FD1C3A}</a:tableStyleId>
              </a:tblPr>
              <a:tblGrid>
                <a:gridCol w="723031">
                  <a:extLst>
                    <a:ext uri="{9D8B030D-6E8A-4147-A177-3AD203B41FA5}">
                      <a16:colId xmlns:a16="http://schemas.microsoft.com/office/drawing/2014/main" val="4002730172"/>
                    </a:ext>
                  </a:extLst>
                </a:gridCol>
              </a:tblGrid>
              <a:tr h="7078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grpSp>
        <p:nvGrpSpPr>
          <p:cNvPr id="4" name="Group 3">
            <a:extLst>
              <a:ext uri="{FF2B5EF4-FFF2-40B4-BE49-F238E27FC236}">
                <a16:creationId xmlns:a16="http://schemas.microsoft.com/office/drawing/2014/main" id="{E44983E7-79A6-F9D8-F38D-8DC16A3504D2}"/>
              </a:ext>
            </a:extLst>
          </p:cNvPr>
          <p:cNvGrpSpPr/>
          <p:nvPr/>
        </p:nvGrpSpPr>
        <p:grpSpPr>
          <a:xfrm>
            <a:off x="1370122" y="1690688"/>
            <a:ext cx="2416716" cy="2395017"/>
            <a:chOff x="1763527" y="2006862"/>
            <a:chExt cx="3479800" cy="3522661"/>
          </a:xfrm>
        </p:grpSpPr>
        <p:sp>
          <p:nvSpPr>
            <p:cNvPr id="3" name="Rectangle 2">
              <a:extLst>
                <a:ext uri="{FF2B5EF4-FFF2-40B4-BE49-F238E27FC236}">
                  <a16:creationId xmlns:a16="http://schemas.microsoft.com/office/drawing/2014/main" id="{34794F8E-34EE-57FB-1181-2B4EDEC8B048}"/>
                </a:ext>
              </a:extLst>
            </p:cNvPr>
            <p:cNvSpPr/>
            <p:nvPr/>
          </p:nvSpPr>
          <p:spPr>
            <a:xfrm>
              <a:off x="1763527" y="2006862"/>
              <a:ext cx="3479800" cy="35226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4" name="Picture 13" descr="Cover">
              <a:extLst>
                <a:ext uri="{FF2B5EF4-FFF2-40B4-BE49-F238E27FC236}">
                  <a16:creationId xmlns:a16="http://schemas.microsoft.com/office/drawing/2014/main" id="{DC93243F-9829-5FC6-D8E4-5ECB46DD6588}"/>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1832797" y="2124856"/>
              <a:ext cx="3289301" cy="326072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6" name="Straight Arrow Connector 15">
            <a:extLst>
              <a:ext uri="{FF2B5EF4-FFF2-40B4-BE49-F238E27FC236}">
                <a16:creationId xmlns:a16="http://schemas.microsoft.com/office/drawing/2014/main" id="{1C5BB77E-C864-DE72-3A13-D08B1362A56A}"/>
              </a:ext>
            </a:extLst>
          </p:cNvPr>
          <p:cNvCxnSpPr>
            <a:cxnSpLocks/>
            <a:stCxn id="6" idx="0"/>
            <a:endCxn id="13" idx="1"/>
          </p:cNvCxnSpPr>
          <p:nvPr/>
        </p:nvCxnSpPr>
        <p:spPr>
          <a:xfrm>
            <a:off x="5702447" y="3768191"/>
            <a:ext cx="230931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itle 11">
            <a:extLst>
              <a:ext uri="{FF2B5EF4-FFF2-40B4-BE49-F238E27FC236}">
                <a16:creationId xmlns:a16="http://schemas.microsoft.com/office/drawing/2014/main" id="{8196D625-9693-C7A6-2657-E018DCBA8F73}"/>
              </a:ext>
            </a:extLst>
          </p:cNvPr>
          <p:cNvSpPr>
            <a:spLocks noGrp="1"/>
          </p:cNvSpPr>
          <p:nvPr>
            <p:ph type="title"/>
          </p:nvPr>
        </p:nvSpPr>
        <p:spPr>
          <a:xfrm>
            <a:off x="838199" y="365125"/>
            <a:ext cx="11148813" cy="1325563"/>
          </a:xfrm>
        </p:spPr>
        <p:txBody>
          <a:bodyPr>
            <a:normAutofit/>
          </a:bodyPr>
          <a:lstStyle/>
          <a:p>
            <a:r>
              <a:rPr lang="en-US" dirty="0"/>
              <a:t>Prediction from multimodal data:</a:t>
            </a:r>
            <a:br>
              <a:rPr lang="en-US" dirty="0"/>
            </a:br>
            <a:r>
              <a:rPr lang="en-US" dirty="0"/>
              <a:t>modality-specific encoders + multimodal fusion</a:t>
            </a:r>
          </a:p>
        </p:txBody>
      </p:sp>
      <p:pic>
        <p:nvPicPr>
          <p:cNvPr id="6" name="Picture 5">
            <a:extLst>
              <a:ext uri="{FF2B5EF4-FFF2-40B4-BE49-F238E27FC236}">
                <a16:creationId xmlns:a16="http://schemas.microsoft.com/office/drawing/2014/main" id="{4BD9EA65-AB4C-887E-EA78-515D945BF6D6}"/>
              </a:ext>
            </a:extLst>
          </p:cNvPr>
          <p:cNvPicPr>
            <a:picLocks noChangeAspect="1"/>
          </p:cNvPicPr>
          <p:nvPr/>
        </p:nvPicPr>
        <p:blipFill>
          <a:blip r:embed="rId7"/>
          <a:stretch>
            <a:fillRect/>
          </a:stretch>
        </p:blipFill>
        <p:spPr>
          <a:xfrm rot="5400000">
            <a:off x="4211518" y="3571340"/>
            <a:ext cx="2588157" cy="393701"/>
          </a:xfrm>
          <a:prstGeom prst="rect">
            <a:avLst/>
          </a:prstGeom>
        </p:spPr>
      </p:pic>
      <p:cxnSp>
        <p:nvCxnSpPr>
          <p:cNvPr id="7" name="Straight Arrow Connector 6">
            <a:extLst>
              <a:ext uri="{FF2B5EF4-FFF2-40B4-BE49-F238E27FC236}">
                <a16:creationId xmlns:a16="http://schemas.microsoft.com/office/drawing/2014/main" id="{825EFB48-7C9F-241A-7917-BBA0E28159DA}"/>
              </a:ext>
            </a:extLst>
          </p:cNvPr>
          <p:cNvCxnSpPr>
            <a:cxnSpLocks/>
            <a:stCxn id="3" idx="3"/>
          </p:cNvCxnSpPr>
          <p:nvPr/>
        </p:nvCxnSpPr>
        <p:spPr>
          <a:xfrm>
            <a:off x="3786838" y="2888197"/>
            <a:ext cx="1521908" cy="3972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0C22D395-8733-15C2-2354-C322ECD7C1F0}"/>
              </a:ext>
            </a:extLst>
          </p:cNvPr>
          <p:cNvCxnSpPr>
            <a:cxnSpLocks/>
          </p:cNvCxnSpPr>
          <p:nvPr/>
        </p:nvCxnSpPr>
        <p:spPr>
          <a:xfrm flipV="1">
            <a:off x="3786838" y="4439631"/>
            <a:ext cx="1521908" cy="5585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1" name="Picture 4" descr="Generated image">
            <a:extLst>
              <a:ext uri="{FF2B5EF4-FFF2-40B4-BE49-F238E27FC236}">
                <a16:creationId xmlns:a16="http://schemas.microsoft.com/office/drawing/2014/main" id="{1703C34A-D7BA-8C4C-071E-FE3383978ED2}"/>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35938" b="70313" l="19401" r="77474">
                        <a14:foregroundMark x1="29753" y1="43555" x2="29753" y2="43555"/>
                        <a14:foregroundMark x1="25130" y1="51367" x2="25130" y2="51367"/>
                        <a14:foregroundMark x1="22461" y1="50781" x2="26888" y2="51367"/>
                        <a14:foregroundMark x1="42057" y1="56250" x2="44922" y2="46191"/>
                        <a14:foregroundMark x1="39779" y1="57422" x2="41797" y2="42773"/>
                        <a14:foregroundMark x1="41797" y1="42773" x2="46680" y2="55078"/>
                        <a14:foregroundMark x1="55273" y1="54199" x2="59310" y2="54004"/>
                        <a14:foregroundMark x1="69466" y1="55664" x2="74870" y2="51660"/>
                        <a14:foregroundMark x1="55078" y1="53125" x2="56641" y2="48535"/>
                        <a14:foregroundMark x1="71224" y1="54785" x2="74870" y2="52539"/>
                        <a14:foregroundMark x1="76432" y1="51074" x2="76432" y2="51074"/>
                        <a14:foregroundMark x1="75846" y1="54199" x2="76758" y2="50195"/>
                        <a14:foregroundMark x1="40299" y1="57129" x2="46680" y2="45508"/>
                        <a14:foregroundMark x1="46680" y1="45508" x2="46680" y2="43262"/>
                        <a14:foregroundMark x1="77539" y1="65430" x2="76432" y2="65723"/>
                        <a14:foregroundMark x1="39779" y1="57715" x2="47591" y2="57129"/>
                        <a14:foregroundMark x1="76042" y1="48535" x2="76953" y2="54199"/>
                        <a14:foregroundMark x1="19401" y1="65430" x2="19401" y2="65430"/>
                      </a14:backgroundRemoval>
                    </a14:imgEffect>
                  </a14:imgLayer>
                </a14:imgProps>
              </a:ext>
              <a:ext uri="{28A0092B-C50C-407E-A947-70E740481C1C}">
                <a14:useLocalDpi xmlns:a14="http://schemas.microsoft.com/office/drawing/2010/main" val="0"/>
              </a:ext>
            </a:extLst>
          </a:blip>
          <a:srcRect l="15762" t="31711" r="16275" b="25253"/>
          <a:stretch>
            <a:fillRect/>
          </a:stretch>
        </p:blipFill>
        <p:spPr bwMode="auto">
          <a:xfrm>
            <a:off x="1370122" y="4476270"/>
            <a:ext cx="2416716" cy="10202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A4F6CDC-EE8A-9A60-B28E-372839767354}"/>
                  </a:ext>
                </a:extLst>
              </p:cNvPr>
              <p:cNvSpPr txBox="1"/>
              <p:nvPr/>
            </p:nvSpPr>
            <p:spPr>
              <a:xfrm>
                <a:off x="5349403" y="5015060"/>
                <a:ext cx="3601041" cy="954107"/>
              </a:xfrm>
              <a:prstGeom prst="rect">
                <a:avLst/>
              </a:prstGeom>
              <a:noFill/>
              <a:ln>
                <a:noFill/>
              </a:ln>
            </p:spPr>
            <p:txBody>
              <a:bodyPr wrap="square" rtlCol="0">
                <a:spAutoFit/>
              </a:bodyPr>
              <a:lstStyle/>
              <a:p>
                <a14:m>
                  <m:oMath xmlns:m="http://schemas.openxmlformats.org/officeDocument/2006/math">
                    <m:r>
                      <a:rPr lang="en-US" sz="2800" i="1" dirty="0" smtClean="0">
                        <a:latin typeface="Cambria Math" panose="02040503050406030204" pitchFamily="18" charset="0"/>
                        <a:cs typeface="Poppins Light" panose="00000400000000000000" pitchFamily="2" charset="0"/>
                      </a:rPr>
                      <m:t>𝑧</m:t>
                    </m:r>
                  </m:oMath>
                </a14:m>
                <a:r>
                  <a:rPr lang="en-US" sz="2800" dirty="0">
                    <a:cs typeface="Poppins Light" panose="00000400000000000000" pitchFamily="2" charset="0"/>
                  </a:rPr>
                  <a:t>, multimodal vector representation</a:t>
                </a:r>
              </a:p>
            </p:txBody>
          </p:sp>
        </mc:Choice>
        <mc:Fallback xmlns="">
          <p:sp>
            <p:nvSpPr>
              <p:cNvPr id="24" name="TextBox 23">
                <a:extLst>
                  <a:ext uri="{FF2B5EF4-FFF2-40B4-BE49-F238E27FC236}">
                    <a16:creationId xmlns:a16="http://schemas.microsoft.com/office/drawing/2014/main" id="{3A4F6CDC-EE8A-9A60-B28E-372839767354}"/>
                  </a:ext>
                </a:extLst>
              </p:cNvPr>
              <p:cNvSpPr txBox="1">
                <a:spLocks noRot="1" noChangeAspect="1" noMove="1" noResize="1" noEditPoints="1" noAdjustHandles="1" noChangeArrowheads="1" noChangeShapeType="1" noTextEdit="1"/>
              </p:cNvSpPr>
              <p:nvPr/>
            </p:nvSpPr>
            <p:spPr>
              <a:xfrm>
                <a:off x="5349403" y="5015060"/>
                <a:ext cx="3601041" cy="954107"/>
              </a:xfrm>
              <a:prstGeom prst="rect">
                <a:avLst/>
              </a:prstGeom>
              <a:blipFill>
                <a:blip r:embed="rId10"/>
                <a:stretch>
                  <a:fillRect l="-3521" t="-8000" b="-1733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82629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52F07-E017-7847-9EF4-8928CABCB4EF}"/>
              </a:ext>
            </a:extLst>
          </p:cNvPr>
          <p:cNvSpPr>
            <a:spLocks noGrp="1"/>
          </p:cNvSpPr>
          <p:nvPr>
            <p:ph type="title"/>
          </p:nvPr>
        </p:nvSpPr>
        <p:spPr>
          <a:xfrm>
            <a:off x="284022" y="86739"/>
            <a:ext cx="11623956" cy="1325563"/>
          </a:xfrm>
        </p:spPr>
        <p:txBody>
          <a:bodyPr>
            <a:normAutofit fontScale="90000"/>
          </a:bodyPr>
          <a:lstStyle/>
          <a:p>
            <a:r>
              <a:rPr lang="en-US" dirty="0"/>
              <a:t>As the complexity of the underlying data increases, so too does the probable value added by machine learning</a:t>
            </a:r>
          </a:p>
        </p:txBody>
      </p:sp>
      <p:grpSp>
        <p:nvGrpSpPr>
          <p:cNvPr id="27" name="Group 26">
            <a:extLst>
              <a:ext uri="{FF2B5EF4-FFF2-40B4-BE49-F238E27FC236}">
                <a16:creationId xmlns:a16="http://schemas.microsoft.com/office/drawing/2014/main" id="{017D26F3-EE75-6D48-AC69-2CF64CDC433A}"/>
              </a:ext>
            </a:extLst>
          </p:cNvPr>
          <p:cNvGrpSpPr/>
          <p:nvPr/>
        </p:nvGrpSpPr>
        <p:grpSpPr>
          <a:xfrm>
            <a:off x="984591" y="2011408"/>
            <a:ext cx="5480695" cy="4098322"/>
            <a:chOff x="3117562" y="2394553"/>
            <a:chExt cx="5480695" cy="4098322"/>
          </a:xfrm>
        </p:grpSpPr>
        <p:cxnSp>
          <p:nvCxnSpPr>
            <p:cNvPr id="4" name="Straight Arrow Connector 3">
              <a:extLst>
                <a:ext uri="{FF2B5EF4-FFF2-40B4-BE49-F238E27FC236}">
                  <a16:creationId xmlns:a16="http://schemas.microsoft.com/office/drawing/2014/main" id="{68132C2C-BB22-3D4D-B7F0-EC6A83D93FCD}"/>
                </a:ext>
              </a:extLst>
            </p:cNvPr>
            <p:cNvCxnSpPr/>
            <p:nvPr/>
          </p:nvCxnSpPr>
          <p:spPr>
            <a:xfrm>
              <a:off x="3117562" y="5970085"/>
              <a:ext cx="5393802"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B86C9AA7-9414-5D45-9C4A-94EBA674D589}"/>
                </a:ext>
              </a:extLst>
            </p:cNvPr>
            <p:cNvCxnSpPr>
              <a:cxnSpLocks/>
            </p:cNvCxnSpPr>
            <p:nvPr/>
          </p:nvCxnSpPr>
          <p:spPr>
            <a:xfrm flipV="1">
              <a:off x="3698226" y="2532404"/>
              <a:ext cx="0" cy="396047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CABB527C-96DB-D64B-A120-98875802A220}"/>
                </a:ext>
              </a:extLst>
            </p:cNvPr>
            <p:cNvSpPr txBox="1"/>
            <p:nvPr/>
          </p:nvSpPr>
          <p:spPr>
            <a:xfrm>
              <a:off x="6836610" y="6123543"/>
              <a:ext cx="1674754" cy="369332"/>
            </a:xfrm>
            <a:prstGeom prst="rect">
              <a:avLst/>
            </a:prstGeom>
            <a:noFill/>
          </p:spPr>
          <p:txBody>
            <a:bodyPr wrap="none" rtlCol="0">
              <a:spAutoFit/>
            </a:bodyPr>
            <a:lstStyle/>
            <a:p>
              <a:r>
                <a:rPr lang="en-US" dirty="0"/>
                <a:t>data complexity</a:t>
              </a:r>
            </a:p>
          </p:txBody>
        </p:sp>
        <p:sp>
          <p:nvSpPr>
            <p:cNvPr id="7" name="TextBox 6">
              <a:extLst>
                <a:ext uri="{FF2B5EF4-FFF2-40B4-BE49-F238E27FC236}">
                  <a16:creationId xmlns:a16="http://schemas.microsoft.com/office/drawing/2014/main" id="{3DFE1596-D4F2-F945-8ECC-6B3DBFC8B562}"/>
                </a:ext>
              </a:extLst>
            </p:cNvPr>
            <p:cNvSpPr txBox="1"/>
            <p:nvPr/>
          </p:nvSpPr>
          <p:spPr>
            <a:xfrm rot="16200000">
              <a:off x="1660464" y="3937414"/>
              <a:ext cx="3283528" cy="369332"/>
            </a:xfrm>
            <a:prstGeom prst="rect">
              <a:avLst/>
            </a:prstGeom>
            <a:noFill/>
          </p:spPr>
          <p:txBody>
            <a:bodyPr wrap="none" rtlCol="0">
              <a:spAutoFit/>
            </a:bodyPr>
            <a:lstStyle/>
            <a:p>
              <a:r>
                <a:rPr lang="en-US" dirty="0"/>
                <a:t>value added by machine learning</a:t>
              </a:r>
            </a:p>
          </p:txBody>
        </p:sp>
        <p:sp>
          <p:nvSpPr>
            <p:cNvPr id="8" name="Oval 7">
              <a:extLst>
                <a:ext uri="{FF2B5EF4-FFF2-40B4-BE49-F238E27FC236}">
                  <a16:creationId xmlns:a16="http://schemas.microsoft.com/office/drawing/2014/main" id="{1116C916-3EF4-8D4D-8A23-56EE0B69ACCE}"/>
                </a:ext>
              </a:extLst>
            </p:cNvPr>
            <p:cNvSpPr/>
            <p:nvPr/>
          </p:nvSpPr>
          <p:spPr>
            <a:xfrm>
              <a:off x="5890211" y="2501028"/>
              <a:ext cx="1571826" cy="111695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image analysis</a:t>
              </a:r>
            </a:p>
            <a:p>
              <a:pPr algn="ctr"/>
              <a:r>
                <a:rPr lang="en-US" sz="1200" dirty="0"/>
                <a:t>(radiology, pathology)</a:t>
              </a:r>
            </a:p>
          </p:txBody>
        </p:sp>
        <p:sp>
          <p:nvSpPr>
            <p:cNvPr id="9" name="Oval 8">
              <a:extLst>
                <a:ext uri="{FF2B5EF4-FFF2-40B4-BE49-F238E27FC236}">
                  <a16:creationId xmlns:a16="http://schemas.microsoft.com/office/drawing/2014/main" id="{E8AE9224-B23D-D64C-881D-7FE9EB6536CB}"/>
                </a:ext>
              </a:extLst>
            </p:cNvPr>
            <p:cNvSpPr/>
            <p:nvPr/>
          </p:nvSpPr>
          <p:spPr>
            <a:xfrm>
              <a:off x="6814705" y="3260455"/>
              <a:ext cx="1783552" cy="1116952"/>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t>natural language processing (clinical notes)</a:t>
              </a:r>
            </a:p>
          </p:txBody>
        </p:sp>
        <p:sp>
          <p:nvSpPr>
            <p:cNvPr id="10" name="Oval 9">
              <a:extLst>
                <a:ext uri="{FF2B5EF4-FFF2-40B4-BE49-F238E27FC236}">
                  <a16:creationId xmlns:a16="http://schemas.microsoft.com/office/drawing/2014/main" id="{12C0BA5C-9DCA-E541-A9BB-6950AC0A1BB7}"/>
                </a:ext>
              </a:extLst>
            </p:cNvPr>
            <p:cNvSpPr/>
            <p:nvPr/>
          </p:nvSpPr>
          <p:spPr>
            <a:xfrm>
              <a:off x="4622721" y="4198007"/>
              <a:ext cx="1930836" cy="979714"/>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dirty="0"/>
                <a:t>structured EHR or registry data</a:t>
              </a:r>
            </a:p>
          </p:txBody>
        </p:sp>
        <p:sp>
          <p:nvSpPr>
            <p:cNvPr id="11" name="Oval 10">
              <a:extLst>
                <a:ext uri="{FF2B5EF4-FFF2-40B4-BE49-F238E27FC236}">
                  <a16:creationId xmlns:a16="http://schemas.microsoft.com/office/drawing/2014/main" id="{29312BA7-8071-0642-A3BD-6180630EB8DD}"/>
                </a:ext>
              </a:extLst>
            </p:cNvPr>
            <p:cNvSpPr/>
            <p:nvPr/>
          </p:nvSpPr>
          <p:spPr>
            <a:xfrm>
              <a:off x="4067558" y="4909150"/>
              <a:ext cx="1184782" cy="881554"/>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dirty="0"/>
                <a:t>curated clinical datasets</a:t>
              </a:r>
            </a:p>
          </p:txBody>
        </p:sp>
        <p:sp>
          <p:nvSpPr>
            <p:cNvPr id="12" name="Oval 11">
              <a:extLst>
                <a:ext uri="{FF2B5EF4-FFF2-40B4-BE49-F238E27FC236}">
                  <a16:creationId xmlns:a16="http://schemas.microsoft.com/office/drawing/2014/main" id="{250322C2-3742-E643-B3F1-007E62D030DD}"/>
                </a:ext>
              </a:extLst>
            </p:cNvPr>
            <p:cNvSpPr/>
            <p:nvPr/>
          </p:nvSpPr>
          <p:spPr>
            <a:xfrm>
              <a:off x="7267241" y="2394553"/>
              <a:ext cx="1331016" cy="979714"/>
            </a:xfrm>
            <a:prstGeom prst="ellipse">
              <a:avLst/>
            </a:prstGeom>
            <a:noFill/>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dirty="0"/>
                <a:t>fusion of multiple modalities</a:t>
              </a:r>
            </a:p>
          </p:txBody>
        </p:sp>
        <p:cxnSp>
          <p:nvCxnSpPr>
            <p:cNvPr id="13" name="Straight Connector 12">
              <a:extLst>
                <a:ext uri="{FF2B5EF4-FFF2-40B4-BE49-F238E27FC236}">
                  <a16:creationId xmlns:a16="http://schemas.microsoft.com/office/drawing/2014/main" id="{16251138-27EC-CC4E-BF5F-7B349D813F11}"/>
                </a:ext>
              </a:extLst>
            </p:cNvPr>
            <p:cNvCxnSpPr>
              <a:cxnSpLocks/>
            </p:cNvCxnSpPr>
            <p:nvPr/>
          </p:nvCxnSpPr>
          <p:spPr>
            <a:xfrm>
              <a:off x="4255325" y="4150794"/>
              <a:ext cx="0" cy="11991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A2656DB-6517-3548-AE67-744B57D2497A}"/>
                </a:ext>
              </a:extLst>
            </p:cNvPr>
            <p:cNvSpPr txBox="1"/>
            <p:nvPr/>
          </p:nvSpPr>
          <p:spPr>
            <a:xfrm>
              <a:off x="4067375" y="3904573"/>
              <a:ext cx="1208985" cy="246221"/>
            </a:xfrm>
            <a:prstGeom prst="rect">
              <a:avLst/>
            </a:prstGeom>
            <a:noFill/>
          </p:spPr>
          <p:txBody>
            <a:bodyPr wrap="none" rtlCol="0">
              <a:spAutoFit/>
            </a:bodyPr>
            <a:lstStyle/>
            <a:p>
              <a:r>
                <a:rPr lang="en-US" sz="1000" dirty="0"/>
                <a:t>Christodoulou </a:t>
              </a:r>
              <a:r>
                <a:rPr lang="en-US" sz="1000" i="1" dirty="0"/>
                <a:t>et al.</a:t>
              </a:r>
            </a:p>
          </p:txBody>
        </p:sp>
        <p:cxnSp>
          <p:nvCxnSpPr>
            <p:cNvPr id="15" name="Straight Connector 14">
              <a:extLst>
                <a:ext uri="{FF2B5EF4-FFF2-40B4-BE49-F238E27FC236}">
                  <a16:creationId xmlns:a16="http://schemas.microsoft.com/office/drawing/2014/main" id="{9269DF69-F6E2-9A40-AF14-790D30A47783}"/>
                </a:ext>
              </a:extLst>
            </p:cNvPr>
            <p:cNvCxnSpPr>
              <a:cxnSpLocks/>
              <a:stCxn id="16" idx="0"/>
            </p:cNvCxnSpPr>
            <p:nvPr/>
          </p:nvCxnSpPr>
          <p:spPr>
            <a:xfrm flipH="1" flipV="1">
              <a:off x="5634524" y="4995547"/>
              <a:ext cx="342504" cy="4972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2B8E258-CD82-7F43-9B8A-FAEC2D80EFA8}"/>
                </a:ext>
              </a:extLst>
            </p:cNvPr>
            <p:cNvSpPr txBox="1"/>
            <p:nvPr/>
          </p:nvSpPr>
          <p:spPr>
            <a:xfrm>
              <a:off x="5588139" y="5492827"/>
              <a:ext cx="777777" cy="246221"/>
            </a:xfrm>
            <a:prstGeom prst="rect">
              <a:avLst/>
            </a:prstGeom>
            <a:noFill/>
          </p:spPr>
          <p:txBody>
            <a:bodyPr wrap="none" rtlCol="0">
              <a:spAutoFit/>
            </a:bodyPr>
            <a:lstStyle/>
            <a:p>
              <a:r>
                <a:rPr lang="en-US" sz="1000" dirty="0" err="1"/>
                <a:t>Khera</a:t>
              </a:r>
              <a:r>
                <a:rPr lang="en-US" sz="1000" dirty="0"/>
                <a:t> </a:t>
              </a:r>
              <a:r>
                <a:rPr lang="en-US" sz="1000" i="1" dirty="0"/>
                <a:t>et al.</a:t>
              </a:r>
            </a:p>
          </p:txBody>
        </p:sp>
        <p:cxnSp>
          <p:nvCxnSpPr>
            <p:cNvPr id="17" name="Straight Connector 16">
              <a:extLst>
                <a:ext uri="{FF2B5EF4-FFF2-40B4-BE49-F238E27FC236}">
                  <a16:creationId xmlns:a16="http://schemas.microsoft.com/office/drawing/2014/main" id="{C5C9483D-E95E-C946-B44E-F46528630090}"/>
                </a:ext>
              </a:extLst>
            </p:cNvPr>
            <p:cNvCxnSpPr>
              <a:cxnSpLocks/>
              <a:endCxn id="18" idx="3"/>
            </p:cNvCxnSpPr>
            <p:nvPr/>
          </p:nvCxnSpPr>
          <p:spPr>
            <a:xfrm flipH="1" flipV="1">
              <a:off x="5056931" y="3044060"/>
              <a:ext cx="1074090" cy="365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D26D242-5FCC-C140-94BF-4474182B27DD}"/>
                </a:ext>
              </a:extLst>
            </p:cNvPr>
            <p:cNvSpPr txBox="1"/>
            <p:nvPr/>
          </p:nvSpPr>
          <p:spPr>
            <a:xfrm>
              <a:off x="4067558" y="2920949"/>
              <a:ext cx="989373" cy="246221"/>
            </a:xfrm>
            <a:prstGeom prst="rect">
              <a:avLst/>
            </a:prstGeom>
            <a:noFill/>
          </p:spPr>
          <p:txBody>
            <a:bodyPr wrap="none" rtlCol="0">
              <a:spAutoFit/>
            </a:bodyPr>
            <a:lstStyle/>
            <a:p>
              <a:r>
                <a:rPr lang="en-US" sz="1000" dirty="0"/>
                <a:t>McKinney </a:t>
              </a:r>
              <a:r>
                <a:rPr lang="en-US" sz="1000" i="1" dirty="0"/>
                <a:t>et al.</a:t>
              </a:r>
            </a:p>
          </p:txBody>
        </p:sp>
        <p:sp>
          <p:nvSpPr>
            <p:cNvPr id="19" name="Oval 18">
              <a:extLst>
                <a:ext uri="{FF2B5EF4-FFF2-40B4-BE49-F238E27FC236}">
                  <a16:creationId xmlns:a16="http://schemas.microsoft.com/office/drawing/2014/main" id="{DEDEE7AF-047E-F441-BE2B-57321A0E47E9}"/>
                </a:ext>
              </a:extLst>
            </p:cNvPr>
            <p:cNvSpPr/>
            <p:nvPr/>
          </p:nvSpPr>
          <p:spPr>
            <a:xfrm>
              <a:off x="5588139" y="3437337"/>
              <a:ext cx="1431855" cy="97971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clinical and digital health time series</a:t>
              </a:r>
            </a:p>
          </p:txBody>
        </p:sp>
        <p:sp>
          <p:nvSpPr>
            <p:cNvPr id="20" name="TextBox 19">
              <a:extLst>
                <a:ext uri="{FF2B5EF4-FFF2-40B4-BE49-F238E27FC236}">
                  <a16:creationId xmlns:a16="http://schemas.microsoft.com/office/drawing/2014/main" id="{55D6BAC2-EB8C-CF45-A449-7C8579B7AA9B}"/>
                </a:ext>
              </a:extLst>
            </p:cNvPr>
            <p:cNvSpPr txBox="1"/>
            <p:nvPr/>
          </p:nvSpPr>
          <p:spPr>
            <a:xfrm>
              <a:off x="6771977" y="5084268"/>
              <a:ext cx="938077" cy="246221"/>
            </a:xfrm>
            <a:prstGeom prst="rect">
              <a:avLst/>
            </a:prstGeom>
            <a:noFill/>
          </p:spPr>
          <p:txBody>
            <a:bodyPr wrap="none" rtlCol="0">
              <a:spAutoFit/>
            </a:bodyPr>
            <a:lstStyle/>
            <a:p>
              <a:r>
                <a:rPr lang="en-US" sz="1000" dirty="0"/>
                <a:t>K. Huang </a:t>
              </a:r>
              <a:r>
                <a:rPr lang="en-US" sz="1000" i="1" dirty="0"/>
                <a:t>et al.</a:t>
              </a:r>
            </a:p>
          </p:txBody>
        </p:sp>
        <p:cxnSp>
          <p:nvCxnSpPr>
            <p:cNvPr id="21" name="Straight Connector 20">
              <a:extLst>
                <a:ext uri="{FF2B5EF4-FFF2-40B4-BE49-F238E27FC236}">
                  <a16:creationId xmlns:a16="http://schemas.microsoft.com/office/drawing/2014/main" id="{D12F5FD3-5A4D-C44A-BB39-527133739B8C}"/>
                </a:ext>
              </a:extLst>
            </p:cNvPr>
            <p:cNvCxnSpPr>
              <a:cxnSpLocks/>
              <a:endCxn id="20" idx="0"/>
            </p:cNvCxnSpPr>
            <p:nvPr/>
          </p:nvCxnSpPr>
          <p:spPr>
            <a:xfrm flipH="1">
              <a:off x="7241016" y="4198007"/>
              <a:ext cx="469038" cy="8862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C0E469B-2829-7C47-A2DB-4C9592F3FB74}"/>
                </a:ext>
              </a:extLst>
            </p:cNvPr>
            <p:cNvSpPr txBox="1"/>
            <p:nvPr/>
          </p:nvSpPr>
          <p:spPr>
            <a:xfrm>
              <a:off x="7664010" y="4668585"/>
              <a:ext cx="930063" cy="246221"/>
            </a:xfrm>
            <a:prstGeom prst="rect">
              <a:avLst/>
            </a:prstGeom>
            <a:noFill/>
          </p:spPr>
          <p:txBody>
            <a:bodyPr wrap="none" rtlCol="0">
              <a:spAutoFit/>
            </a:bodyPr>
            <a:lstStyle/>
            <a:p>
              <a:r>
                <a:rPr lang="en-US" sz="1000" dirty="0"/>
                <a:t>S. Huang </a:t>
              </a:r>
              <a:r>
                <a:rPr lang="en-US" sz="1000" i="1" dirty="0"/>
                <a:t>et al.</a:t>
              </a:r>
            </a:p>
          </p:txBody>
        </p:sp>
        <p:cxnSp>
          <p:nvCxnSpPr>
            <p:cNvPr id="23" name="Straight Connector 22">
              <a:extLst>
                <a:ext uri="{FF2B5EF4-FFF2-40B4-BE49-F238E27FC236}">
                  <a16:creationId xmlns:a16="http://schemas.microsoft.com/office/drawing/2014/main" id="{E9768609-4357-314C-8ED8-462E1D6E340F}"/>
                </a:ext>
              </a:extLst>
            </p:cNvPr>
            <p:cNvCxnSpPr>
              <a:cxnSpLocks/>
            </p:cNvCxnSpPr>
            <p:nvPr/>
          </p:nvCxnSpPr>
          <p:spPr>
            <a:xfrm flipH="1">
              <a:off x="8381011" y="2903540"/>
              <a:ext cx="1" cy="17650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3CAA1C-4549-3A49-B851-3DCB34504A30}"/>
                </a:ext>
              </a:extLst>
            </p:cNvPr>
            <p:cNvSpPr txBox="1"/>
            <p:nvPr/>
          </p:nvSpPr>
          <p:spPr>
            <a:xfrm>
              <a:off x="4067375" y="3404597"/>
              <a:ext cx="734496" cy="246221"/>
            </a:xfrm>
            <a:prstGeom prst="rect">
              <a:avLst/>
            </a:prstGeom>
            <a:noFill/>
          </p:spPr>
          <p:txBody>
            <a:bodyPr wrap="none" rtlCol="0">
              <a:spAutoFit/>
            </a:bodyPr>
            <a:lstStyle/>
            <a:p>
              <a:r>
                <a:rPr lang="en-US" sz="1000" dirty="0"/>
                <a:t>Craik </a:t>
              </a:r>
              <a:r>
                <a:rPr lang="en-US" sz="1000" i="1" dirty="0"/>
                <a:t>et al.</a:t>
              </a:r>
            </a:p>
          </p:txBody>
        </p:sp>
        <p:cxnSp>
          <p:nvCxnSpPr>
            <p:cNvPr id="25" name="Straight Connector 24">
              <a:extLst>
                <a:ext uri="{FF2B5EF4-FFF2-40B4-BE49-F238E27FC236}">
                  <a16:creationId xmlns:a16="http://schemas.microsoft.com/office/drawing/2014/main" id="{A3DE771E-5BAF-A74F-826C-F48DF1489DC1}"/>
                </a:ext>
              </a:extLst>
            </p:cNvPr>
            <p:cNvCxnSpPr>
              <a:cxnSpLocks/>
              <a:endCxn id="24" idx="3"/>
            </p:cNvCxnSpPr>
            <p:nvPr/>
          </p:nvCxnSpPr>
          <p:spPr>
            <a:xfrm flipH="1" flipV="1">
              <a:off x="4801871" y="3527708"/>
              <a:ext cx="965418" cy="397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EC48033B-E179-CB49-A9ED-E828FB16EFC8}"/>
              </a:ext>
            </a:extLst>
          </p:cNvPr>
          <p:cNvSpPr/>
          <p:nvPr/>
        </p:nvSpPr>
        <p:spPr>
          <a:xfrm>
            <a:off x="7290340" y="2143143"/>
            <a:ext cx="3501707" cy="1477328"/>
          </a:xfrm>
          <a:prstGeom prst="rect">
            <a:avLst/>
          </a:prstGeom>
        </p:spPr>
        <p:txBody>
          <a:bodyPr wrap="square">
            <a:spAutoFit/>
          </a:bodyPr>
          <a:lstStyle/>
          <a:p>
            <a:r>
              <a:rPr lang="en-US" b="1" dirty="0"/>
              <a:t>Simple models</a:t>
            </a:r>
            <a:r>
              <a:rPr lang="en-US" dirty="0"/>
              <a:t> based on clinical variables remain highly relevant</a:t>
            </a:r>
          </a:p>
          <a:p>
            <a:endParaRPr lang="en-US" dirty="0"/>
          </a:p>
          <a:p>
            <a:r>
              <a:rPr lang="en-US" dirty="0"/>
              <a:t>*Use the simplest model that gets the job done*</a:t>
            </a:r>
          </a:p>
        </p:txBody>
      </p:sp>
      <p:sp>
        <p:nvSpPr>
          <p:cNvPr id="28" name="TextBox 27">
            <a:extLst>
              <a:ext uri="{FF2B5EF4-FFF2-40B4-BE49-F238E27FC236}">
                <a16:creationId xmlns:a16="http://schemas.microsoft.com/office/drawing/2014/main" id="{C1E4DEAA-BDF6-A7EF-87EC-D983B26D11D6}"/>
              </a:ext>
            </a:extLst>
          </p:cNvPr>
          <p:cNvSpPr txBox="1"/>
          <p:nvPr/>
        </p:nvSpPr>
        <p:spPr>
          <a:xfrm>
            <a:off x="7290340" y="5509566"/>
            <a:ext cx="3693092" cy="600164"/>
          </a:xfrm>
          <a:prstGeom prst="rect">
            <a:avLst/>
          </a:prstGeom>
          <a:noFill/>
        </p:spPr>
        <p:txBody>
          <a:bodyPr wrap="square">
            <a:spAutoFit/>
          </a:bodyPr>
          <a:lstStyle/>
          <a:p>
            <a:r>
              <a:rPr lang="en-US" sz="1100" b="0" i="0" u="none" strike="noStrike" dirty="0">
                <a:solidFill>
                  <a:srgbClr val="222222"/>
                </a:solidFill>
                <a:effectLst/>
                <a:latin typeface="Arial" panose="020B0604020202020204" pitchFamily="34" charset="0"/>
              </a:rPr>
              <a:t>Engelhard MM, Navar AM, </a:t>
            </a:r>
            <a:r>
              <a:rPr lang="en-US" sz="1100" b="0" i="0" u="none" strike="noStrike" dirty="0" err="1">
                <a:solidFill>
                  <a:srgbClr val="222222"/>
                </a:solidFill>
                <a:effectLst/>
                <a:latin typeface="Arial" panose="020B0604020202020204" pitchFamily="34" charset="0"/>
              </a:rPr>
              <a:t>Pencina</a:t>
            </a:r>
            <a:r>
              <a:rPr lang="en-US" sz="1100" b="0" i="0" u="none" strike="noStrike" dirty="0">
                <a:solidFill>
                  <a:srgbClr val="222222"/>
                </a:solidFill>
                <a:effectLst/>
                <a:latin typeface="Arial" panose="020B0604020202020204" pitchFamily="34" charset="0"/>
              </a:rPr>
              <a:t> MJ. Incremental benefits of machine learning—when do we need a better mousetrap?. JAMA cardiology. 2021 Jun 1;6(6):621-3.</a:t>
            </a:r>
            <a:endParaRPr lang="en-US" sz="1100" dirty="0"/>
          </a:p>
        </p:txBody>
      </p:sp>
    </p:spTree>
    <p:extLst>
      <p:ext uri="{BB962C8B-B14F-4D97-AF65-F5344CB8AC3E}">
        <p14:creationId xmlns:p14="http://schemas.microsoft.com/office/powerpoint/2010/main" val="5910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6C0A-1355-893E-4C86-8B14C2BFF3CC}"/>
              </a:ext>
            </a:extLst>
          </p:cNvPr>
          <p:cNvSpPr>
            <a:spLocks noGrp="1"/>
          </p:cNvSpPr>
          <p:nvPr>
            <p:ph type="title"/>
          </p:nvPr>
        </p:nvSpPr>
        <p:spPr/>
        <p:txBody>
          <a:bodyPr/>
          <a:lstStyle/>
          <a:p>
            <a:r>
              <a:rPr lang="en-US" dirty="0"/>
              <a:t>Logistic regression</a:t>
            </a:r>
          </a:p>
        </p:txBody>
      </p:sp>
      <p:sp>
        <p:nvSpPr>
          <p:cNvPr id="3" name="Text Placeholder 2">
            <a:extLst>
              <a:ext uri="{FF2B5EF4-FFF2-40B4-BE49-F238E27FC236}">
                <a16:creationId xmlns:a16="http://schemas.microsoft.com/office/drawing/2014/main" id="{AB32EE74-A52F-BE50-A87C-34833D84DC22}"/>
              </a:ext>
            </a:extLst>
          </p:cNvPr>
          <p:cNvSpPr>
            <a:spLocks noGrp="1"/>
          </p:cNvSpPr>
          <p:nvPr>
            <p:ph type="body" idx="1"/>
          </p:nvPr>
        </p:nvSpPr>
        <p:spPr/>
        <p:txBody>
          <a:bodyPr/>
          <a:lstStyle/>
          <a:p>
            <a:r>
              <a:rPr lang="en-US" dirty="0"/>
              <a:t>A probabilistic perceptron</a:t>
            </a:r>
          </a:p>
        </p:txBody>
      </p:sp>
    </p:spTree>
    <p:extLst>
      <p:ext uri="{BB962C8B-B14F-4D97-AF65-F5344CB8AC3E}">
        <p14:creationId xmlns:p14="http://schemas.microsoft.com/office/powerpoint/2010/main" val="1325544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E3D46-457A-6F1E-B79F-CC4BF7ACC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0869B-DDD6-1BFB-2EE8-0AAA7CF3EFE0}"/>
              </a:ext>
            </a:extLst>
          </p:cNvPr>
          <p:cNvSpPr>
            <a:spLocks noGrp="1"/>
          </p:cNvSpPr>
          <p:nvPr>
            <p:ph type="title"/>
          </p:nvPr>
        </p:nvSpPr>
        <p:spPr/>
        <p:txBody>
          <a:bodyPr/>
          <a:lstStyle/>
          <a:p>
            <a:r>
              <a:rPr lang="en-US" dirty="0"/>
              <a:t>Logistic regression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59B215AF-6E74-A319-2B8D-47D3DAB9C003}"/>
                  </a:ext>
                </a:extLst>
              </p:cNvPr>
              <p:cNvSpPr/>
              <p:nvPr/>
            </p:nvSpPr>
            <p:spPr>
              <a:xfrm>
                <a:off x="1207257" y="2514339"/>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 name="Oval 3">
                <a:extLst>
                  <a:ext uri="{FF2B5EF4-FFF2-40B4-BE49-F238E27FC236}">
                    <a16:creationId xmlns:a16="http://schemas.microsoft.com/office/drawing/2014/main" id="{59B215AF-6E74-A319-2B8D-47D3DAB9C003}"/>
                  </a:ext>
                </a:extLst>
              </p:cNvPr>
              <p:cNvSpPr>
                <a:spLocks noRot="1" noChangeAspect="1" noMove="1" noResize="1" noEditPoints="1" noAdjustHandles="1" noChangeArrowheads="1" noChangeShapeType="1" noTextEdit="1"/>
              </p:cNvSpPr>
              <p:nvPr/>
            </p:nvSpPr>
            <p:spPr>
              <a:xfrm>
                <a:off x="1207257" y="251433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28C2449-D108-8BF9-C436-9BB454E713AE}"/>
                  </a:ext>
                </a:extLst>
              </p:cNvPr>
              <p:cNvSpPr/>
              <p:nvPr/>
            </p:nvSpPr>
            <p:spPr>
              <a:xfrm>
                <a:off x="1207257" y="4189603"/>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xmlns="">
          <p:sp>
            <p:nvSpPr>
              <p:cNvPr id="5" name="Oval 4">
                <a:extLst>
                  <a:ext uri="{FF2B5EF4-FFF2-40B4-BE49-F238E27FC236}">
                    <a16:creationId xmlns:a16="http://schemas.microsoft.com/office/drawing/2014/main" id="{428C2449-D108-8BF9-C436-9BB454E713AE}"/>
                  </a:ext>
                </a:extLst>
              </p:cNvPr>
              <p:cNvSpPr>
                <a:spLocks noRot="1" noChangeAspect="1" noMove="1" noResize="1" noEditPoints="1" noAdjustHandles="1" noChangeArrowheads="1" noChangeShapeType="1" noTextEdit="1"/>
              </p:cNvSpPr>
              <p:nvPr/>
            </p:nvSpPr>
            <p:spPr>
              <a:xfrm>
                <a:off x="1207257" y="4189603"/>
                <a:ext cx="914400" cy="914400"/>
              </a:xfrm>
              <a:prstGeom prst="ellipse">
                <a:avLst/>
              </a:prstGeom>
              <a:blipFill>
                <a:blip r:embed="rId4"/>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224233B-91E2-F1A4-EDD8-7357ED313861}"/>
              </a:ext>
            </a:extLst>
          </p:cNvPr>
          <p:cNvSpPr txBox="1"/>
          <p:nvPr/>
        </p:nvSpPr>
        <p:spPr>
          <a:xfrm rot="5400000">
            <a:off x="1526234" y="3624505"/>
            <a:ext cx="381836"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1C328B09-9049-C8A8-8D30-A1BDD6103EB0}"/>
                  </a:ext>
                </a:extLst>
              </p:cNvPr>
              <p:cNvSpPr/>
              <p:nvPr/>
            </p:nvSpPr>
            <p:spPr>
              <a:xfrm>
                <a:off x="3217926" y="2895741"/>
                <a:ext cx="1826336" cy="18268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
                    </m:oMathParaPr>
                    <m:oMath xmlns:m="http://schemas.openxmlformats.org/officeDocument/2006/math">
                      <m:nary>
                        <m:naryPr>
                          <m:chr m:val="∑"/>
                          <m:ctrlPr>
                            <a:rPr lang="en-US"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𝑗</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𝑚</m:t>
                          </m:r>
                        </m:sup>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𝑤</m:t>
                              </m:r>
                            </m:e>
                            <m:sub>
                              <m:r>
                                <a:rPr lang="en-US" b="0" i="1" smtClean="0">
                                  <a:solidFill>
                                    <a:schemeClr val="tx1"/>
                                  </a:solidFill>
                                  <a:latin typeface="Cambria Math" panose="02040503050406030204" pitchFamily="18" charset="0"/>
                                </a:rPr>
                                <m:t>𝑗</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𝑥</m:t>
                              </m:r>
                            </m:e>
                            <m:sub>
                              <m:r>
                                <a:rPr lang="en-US" b="0" i="1" smtClean="0">
                                  <a:solidFill>
                                    <a:schemeClr val="tx1"/>
                                  </a:solidFill>
                                  <a:latin typeface="Cambria Math" panose="02040503050406030204" pitchFamily="18" charset="0"/>
                                </a:rPr>
                                <m:t>𝑗</m:t>
                              </m:r>
                            </m:sub>
                          </m:sSub>
                        </m:e>
                      </m:nary>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7" name="Oval 6">
                <a:extLst>
                  <a:ext uri="{FF2B5EF4-FFF2-40B4-BE49-F238E27FC236}">
                    <a16:creationId xmlns:a16="http://schemas.microsoft.com/office/drawing/2014/main" id="{1C328B09-9049-C8A8-8D30-A1BDD6103EB0}"/>
                  </a:ext>
                </a:extLst>
              </p:cNvPr>
              <p:cNvSpPr>
                <a:spLocks noRot="1" noChangeAspect="1" noMove="1" noResize="1" noEditPoints="1" noAdjustHandles="1" noChangeArrowheads="1" noChangeShapeType="1" noTextEdit="1"/>
              </p:cNvSpPr>
              <p:nvPr/>
            </p:nvSpPr>
            <p:spPr>
              <a:xfrm>
                <a:off x="3217926" y="2895741"/>
                <a:ext cx="1826336" cy="1826860"/>
              </a:xfrm>
              <a:prstGeom prst="ellipse">
                <a:avLst/>
              </a:prstGeom>
              <a:blipFill>
                <a:blip r:embed="rId5"/>
                <a:stretch>
                  <a:fillRect l="-29452" t="-20548" b="-43836"/>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D0C454D9-9546-265A-BC35-B71745507573}"/>
              </a:ext>
            </a:extLst>
          </p:cNvPr>
          <p:cNvCxnSpPr>
            <a:cxnSpLocks/>
            <a:stCxn id="4" idx="6"/>
          </p:cNvCxnSpPr>
          <p:nvPr/>
        </p:nvCxnSpPr>
        <p:spPr>
          <a:xfrm>
            <a:off x="2121657" y="2971539"/>
            <a:ext cx="1180214" cy="457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E5D86D90-B52B-45E8-BE75-18A3FA23B85D}"/>
              </a:ext>
            </a:extLst>
          </p:cNvPr>
          <p:cNvCxnSpPr>
            <a:cxnSpLocks/>
          </p:cNvCxnSpPr>
          <p:nvPr/>
        </p:nvCxnSpPr>
        <p:spPr>
          <a:xfrm flipV="1">
            <a:off x="2121657" y="4189603"/>
            <a:ext cx="1180214" cy="4532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46A7DCF7-902D-230E-E681-4CA5FF59B5D1}"/>
              </a:ext>
            </a:extLst>
          </p:cNvPr>
          <p:cNvCxnSpPr>
            <a:cxnSpLocks/>
            <a:stCxn id="6" idx="0"/>
            <a:endCxn id="7" idx="2"/>
          </p:cNvCxnSpPr>
          <p:nvPr/>
        </p:nvCxnSpPr>
        <p:spPr>
          <a:xfrm>
            <a:off x="1901818" y="3809171"/>
            <a:ext cx="13161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25C6208-450C-B953-AF59-F166778F9725}"/>
                  </a:ext>
                </a:extLst>
              </p:cNvPr>
              <p:cNvSpPr txBox="1"/>
              <p:nvPr/>
            </p:nvSpPr>
            <p:spPr>
              <a:xfrm>
                <a:off x="2294436" y="283303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925C6208-450C-B953-AF59-F166778F9725}"/>
                  </a:ext>
                </a:extLst>
              </p:cNvPr>
              <p:cNvSpPr txBox="1">
                <a:spLocks noRot="1" noChangeAspect="1" noMove="1" noResize="1" noEditPoints="1" noAdjustHandles="1" noChangeArrowheads="1" noChangeShapeType="1" noTextEdit="1"/>
              </p:cNvSpPr>
              <p:nvPr/>
            </p:nvSpPr>
            <p:spPr>
              <a:xfrm>
                <a:off x="2294436" y="2833039"/>
                <a:ext cx="834656" cy="276999"/>
              </a:xfrm>
              <a:prstGeom prst="rect">
                <a:avLst/>
              </a:prstGeom>
              <a:blipFill>
                <a:blip r:embed="rId6"/>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7E2C8DB-5E37-315E-7768-5AC8885DD63D}"/>
                  </a:ext>
                </a:extLst>
              </p:cNvPr>
              <p:cNvSpPr txBox="1"/>
              <p:nvPr/>
            </p:nvSpPr>
            <p:spPr>
              <a:xfrm>
                <a:off x="2294436" y="4504391"/>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xmlns="">
          <p:sp>
            <p:nvSpPr>
              <p:cNvPr id="16" name="TextBox 15">
                <a:extLst>
                  <a:ext uri="{FF2B5EF4-FFF2-40B4-BE49-F238E27FC236}">
                    <a16:creationId xmlns:a16="http://schemas.microsoft.com/office/drawing/2014/main" id="{67E2C8DB-5E37-315E-7768-5AC8885DD63D}"/>
                  </a:ext>
                </a:extLst>
              </p:cNvPr>
              <p:cNvSpPr txBox="1">
                <a:spLocks noRot="1" noChangeAspect="1" noMove="1" noResize="1" noEditPoints="1" noAdjustHandles="1" noChangeArrowheads="1" noChangeShapeType="1" noTextEdit="1"/>
              </p:cNvSpPr>
              <p:nvPr/>
            </p:nvSpPr>
            <p:spPr>
              <a:xfrm>
                <a:off x="2294436" y="4504391"/>
                <a:ext cx="834656" cy="276999"/>
              </a:xfrm>
              <a:prstGeom prst="rect">
                <a:avLst/>
              </a:prstGeom>
              <a:blipFill>
                <a:blip r:embed="rId7"/>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B079ACC-78BE-B5D4-CCF4-8FFD33E4C89B}"/>
                  </a:ext>
                </a:extLst>
              </p:cNvPr>
              <p:cNvSpPr txBox="1"/>
              <p:nvPr/>
            </p:nvSpPr>
            <p:spPr>
              <a:xfrm>
                <a:off x="8123740" y="2341939"/>
                <a:ext cx="3113866" cy="89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=1</m:t>
                          </m:r>
                        </m:e>
                        <m:e>
                          <m:r>
                            <a:rPr lang="en-US" b="1" i="1" smtClean="0">
                              <a:latin typeface="Cambria Math" panose="02040503050406030204" pitchFamily="18" charset="0"/>
                            </a:rPr>
                            <m:t>𝒙</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𝑏</m:t>
                              </m:r>
                            </m:e>
                          </m:nary>
                        </m:e>
                      </m:d>
                    </m:oMath>
                  </m:oMathPara>
                </a14:m>
                <a:endParaRPr lang="en-US" dirty="0"/>
              </a:p>
            </p:txBody>
          </p:sp>
        </mc:Choice>
        <mc:Fallback xmlns="">
          <p:sp>
            <p:nvSpPr>
              <p:cNvPr id="36" name="TextBox 35">
                <a:extLst>
                  <a:ext uri="{FF2B5EF4-FFF2-40B4-BE49-F238E27FC236}">
                    <a16:creationId xmlns:a16="http://schemas.microsoft.com/office/drawing/2014/main" id="{9B079ACC-78BE-B5D4-CCF4-8FFD33E4C89B}"/>
                  </a:ext>
                </a:extLst>
              </p:cNvPr>
              <p:cNvSpPr txBox="1">
                <a:spLocks noRot="1" noChangeAspect="1" noMove="1" noResize="1" noEditPoints="1" noAdjustHandles="1" noChangeArrowheads="1" noChangeShapeType="1" noTextEdit="1"/>
              </p:cNvSpPr>
              <p:nvPr/>
            </p:nvSpPr>
            <p:spPr>
              <a:xfrm>
                <a:off x="8123740" y="2341939"/>
                <a:ext cx="3113866" cy="891719"/>
              </a:xfrm>
              <a:prstGeom prst="rect">
                <a:avLst/>
              </a:prstGeom>
              <a:blipFill>
                <a:blip r:embed="rId8"/>
                <a:stretch>
                  <a:fillRect l="-1220" t="-92958" b="-143662"/>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7BB06BBD-A7E6-AFE9-DD9E-8BF6304FB7E8}"/>
              </a:ext>
            </a:extLst>
          </p:cNvPr>
          <p:cNvGrpSpPr/>
          <p:nvPr/>
        </p:nvGrpSpPr>
        <p:grpSpPr>
          <a:xfrm>
            <a:off x="5497545" y="3574318"/>
            <a:ext cx="685800" cy="457200"/>
            <a:chOff x="8126236" y="3368737"/>
            <a:chExt cx="685800" cy="457200"/>
          </a:xfrm>
        </p:grpSpPr>
        <p:sp>
          <p:nvSpPr>
            <p:cNvPr id="34" name="Oval 33">
              <a:extLst>
                <a:ext uri="{FF2B5EF4-FFF2-40B4-BE49-F238E27FC236}">
                  <a16:creationId xmlns:a16="http://schemas.microsoft.com/office/drawing/2014/main" id="{ADC0CE75-11F5-3CEC-794C-EE173204B01A}"/>
                </a:ext>
              </a:extLst>
            </p:cNvPr>
            <p:cNvSpPr/>
            <p:nvPr/>
          </p:nvSpPr>
          <p:spPr>
            <a:xfrm>
              <a:off x="8242764" y="3368737"/>
              <a:ext cx="452745" cy="4572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37" name="Picture 36">
              <a:extLst>
                <a:ext uri="{FF2B5EF4-FFF2-40B4-BE49-F238E27FC236}">
                  <a16:creationId xmlns:a16="http://schemas.microsoft.com/office/drawing/2014/main" id="{2E6DD6DB-EAB4-19CC-F959-13CCEF4312C7}"/>
                </a:ext>
              </a:extLst>
            </p:cNvPr>
            <p:cNvPicPr>
              <a:picLocks noChangeAspect="1"/>
            </p:cNvPicPr>
            <p:nvPr/>
          </p:nvPicPr>
          <p:blipFill>
            <a:blip r:embed="rId9"/>
            <a:stretch>
              <a:fillRect/>
            </a:stretch>
          </p:blipFill>
          <p:spPr>
            <a:xfrm>
              <a:off x="8126236" y="3368737"/>
              <a:ext cx="685800" cy="457200"/>
            </a:xfrm>
            <a:prstGeom prst="rect">
              <a:avLst/>
            </a:prstGeom>
          </p:spPr>
        </p:pic>
      </p:grpSp>
      <p:cxnSp>
        <p:nvCxnSpPr>
          <p:cNvPr id="39" name="Straight Arrow Connector 38">
            <a:extLst>
              <a:ext uri="{FF2B5EF4-FFF2-40B4-BE49-F238E27FC236}">
                <a16:creationId xmlns:a16="http://schemas.microsoft.com/office/drawing/2014/main" id="{4763653C-553A-F086-F3BE-BBDC352F5DDD}"/>
              </a:ext>
            </a:extLst>
          </p:cNvPr>
          <p:cNvCxnSpPr>
            <a:cxnSpLocks/>
          </p:cNvCxnSpPr>
          <p:nvPr/>
        </p:nvCxnSpPr>
        <p:spPr>
          <a:xfrm>
            <a:off x="5044262" y="3809171"/>
            <a:ext cx="57341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DF1B3F06-5A7A-417A-B7F6-D6104095E7C6}"/>
              </a:ext>
            </a:extLst>
          </p:cNvPr>
          <p:cNvSpPr txBox="1"/>
          <p:nvPr/>
        </p:nvSpPr>
        <p:spPr>
          <a:xfrm>
            <a:off x="3822914" y="4722601"/>
            <a:ext cx="622286" cy="369332"/>
          </a:xfrm>
          <a:prstGeom prst="rect">
            <a:avLst/>
          </a:prstGeom>
          <a:noFill/>
        </p:spPr>
        <p:txBody>
          <a:bodyPr wrap="none" rtlCol="0">
            <a:spAutoFit/>
          </a:bodyPr>
          <a:lstStyle/>
          <a:p>
            <a:r>
              <a:rPr lang="en-US" dirty="0"/>
              <a:t>sum</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93E5EA3-CA6A-904E-F5F7-26E601903F9E}"/>
                  </a:ext>
                </a:extLst>
              </p:cNvPr>
              <p:cNvSpPr txBox="1"/>
              <p:nvPr/>
            </p:nvSpPr>
            <p:spPr>
              <a:xfrm>
                <a:off x="5119322" y="4045165"/>
                <a:ext cx="1436932" cy="923330"/>
              </a:xfrm>
              <a:prstGeom prst="rect">
                <a:avLst/>
              </a:prstGeom>
              <a:noFill/>
            </p:spPr>
            <p:txBody>
              <a:bodyPr wrap="none" rtlCol="0">
                <a:spAutoFit/>
              </a:bodyPr>
              <a:lstStyle/>
              <a:p>
                <a:pPr algn="ctr"/>
                <a:r>
                  <a:rPr lang="en-US" dirty="0"/>
                  <a:t>sigmoid</a:t>
                </a:r>
              </a:p>
              <a:p>
                <a:pPr algn="ctr"/>
                <a:r>
                  <a:rPr lang="en-US" dirty="0"/>
                  <a:t>(aka logistic)</a:t>
                </a:r>
              </a:p>
              <a:p>
                <a:pPr algn="ctr"/>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42" name="TextBox 41">
                <a:extLst>
                  <a:ext uri="{FF2B5EF4-FFF2-40B4-BE49-F238E27FC236}">
                    <a16:creationId xmlns:a16="http://schemas.microsoft.com/office/drawing/2014/main" id="{993E5EA3-CA6A-904E-F5F7-26E601903F9E}"/>
                  </a:ext>
                </a:extLst>
              </p:cNvPr>
              <p:cNvSpPr txBox="1">
                <a:spLocks noRot="1" noChangeAspect="1" noMove="1" noResize="1" noEditPoints="1" noAdjustHandles="1" noChangeArrowheads="1" noChangeShapeType="1" noTextEdit="1"/>
              </p:cNvSpPr>
              <p:nvPr/>
            </p:nvSpPr>
            <p:spPr>
              <a:xfrm>
                <a:off x="5119322" y="4045165"/>
                <a:ext cx="1436932" cy="923330"/>
              </a:xfrm>
              <a:prstGeom prst="rect">
                <a:avLst/>
              </a:prstGeom>
              <a:blipFill>
                <a:blip r:embed="rId10"/>
                <a:stretch>
                  <a:fillRect l="-3509" t="-2703" r="-2632"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90DB319-A0CA-82BD-CF48-7DF50CAC2B1D}"/>
                  </a:ext>
                </a:extLst>
              </p:cNvPr>
              <p:cNvSpPr txBox="1"/>
              <p:nvPr/>
            </p:nvSpPr>
            <p:spPr>
              <a:xfrm>
                <a:off x="6492464" y="3607912"/>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E90DB319-A0CA-82BD-CF48-7DF50CAC2B1D}"/>
                  </a:ext>
                </a:extLst>
              </p:cNvPr>
              <p:cNvSpPr txBox="1">
                <a:spLocks noRot="1" noChangeAspect="1" noMove="1" noResize="1" noEditPoints="1" noAdjustHandles="1" noChangeArrowheads="1" noChangeShapeType="1" noTextEdit="1"/>
              </p:cNvSpPr>
              <p:nvPr/>
            </p:nvSpPr>
            <p:spPr>
              <a:xfrm>
                <a:off x="6492464" y="3607912"/>
                <a:ext cx="1322157" cy="369332"/>
              </a:xfrm>
              <a:prstGeom prst="rect">
                <a:avLst/>
              </a:prstGeom>
              <a:blipFill>
                <a:blip r:embed="rId11"/>
                <a:stretch>
                  <a:fillRect b="-17241"/>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1498DC01-3113-7B4A-32D6-CAF4CE5A7751}"/>
              </a:ext>
            </a:extLst>
          </p:cNvPr>
          <p:cNvCxnSpPr>
            <a:cxnSpLocks/>
          </p:cNvCxnSpPr>
          <p:nvPr/>
        </p:nvCxnSpPr>
        <p:spPr>
          <a:xfrm>
            <a:off x="6066609" y="3802918"/>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17663064-ACF2-4388-6E0F-7697E5E00462}"/>
              </a:ext>
            </a:extLst>
          </p:cNvPr>
          <p:cNvCxnSpPr>
            <a:cxnSpLocks/>
            <a:endCxn id="7" idx="0"/>
          </p:cNvCxnSpPr>
          <p:nvPr/>
        </p:nvCxnSpPr>
        <p:spPr>
          <a:xfrm>
            <a:off x="4131094" y="2410148"/>
            <a:ext cx="0" cy="4855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24BFD52-6D37-4409-597B-F57B455ADD74}"/>
                  </a:ext>
                </a:extLst>
              </p:cNvPr>
              <p:cNvSpPr txBox="1"/>
              <p:nvPr/>
            </p:nvSpPr>
            <p:spPr>
              <a:xfrm>
                <a:off x="3948608" y="2040816"/>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53" name="TextBox 52">
                <a:extLst>
                  <a:ext uri="{FF2B5EF4-FFF2-40B4-BE49-F238E27FC236}">
                    <a16:creationId xmlns:a16="http://schemas.microsoft.com/office/drawing/2014/main" id="{724BFD52-6D37-4409-597B-F57B455ADD74}"/>
                  </a:ext>
                </a:extLst>
              </p:cNvPr>
              <p:cNvSpPr txBox="1">
                <a:spLocks noRot="1" noChangeAspect="1" noMove="1" noResize="1" noEditPoints="1" noAdjustHandles="1" noChangeArrowheads="1" noChangeShapeType="1" noTextEdit="1"/>
              </p:cNvSpPr>
              <p:nvPr/>
            </p:nvSpPr>
            <p:spPr>
              <a:xfrm>
                <a:off x="3948608" y="2040816"/>
                <a:ext cx="364972"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7D6F941-D0F1-757C-289A-11F4F2F183E2}"/>
                  </a:ext>
                </a:extLst>
              </p:cNvPr>
              <p:cNvSpPr txBox="1"/>
              <p:nvPr/>
            </p:nvSpPr>
            <p:spPr>
              <a:xfrm>
                <a:off x="8123740" y="3664418"/>
                <a:ext cx="26080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=1</m:t>
                          </m:r>
                        </m:e>
                        <m:e>
                          <m:r>
                            <a:rPr lang="en-US" b="1" i="1" smtClean="0">
                              <a:latin typeface="Cambria Math" panose="02040503050406030204" pitchFamily="18" charset="0"/>
                            </a:rPr>
                            <m:t>𝒙</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1" i="1" smtClean="0">
                                  <a:latin typeface="Cambria Math" panose="02040503050406030204" pitchFamily="18" charset="0"/>
                                </a:rPr>
                                <m:t>𝒘</m:t>
                              </m:r>
                            </m:e>
                            <m:sup>
                              <m:r>
                                <a:rPr lang="en-US" b="0" i="1" smtClean="0">
                                  <a:latin typeface="Cambria Math" panose="02040503050406030204" pitchFamily="18" charset="0"/>
                                </a:rPr>
                                <m:t>𝑇</m:t>
                              </m:r>
                            </m:sup>
                          </m:sSup>
                          <m: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𝑏</m:t>
                          </m:r>
                        </m:e>
                      </m:d>
                    </m:oMath>
                  </m:oMathPara>
                </a14:m>
                <a:endParaRPr lang="en-US" dirty="0"/>
              </a:p>
            </p:txBody>
          </p:sp>
        </mc:Choice>
        <mc:Fallback xmlns="">
          <p:sp>
            <p:nvSpPr>
              <p:cNvPr id="54" name="TextBox 53">
                <a:extLst>
                  <a:ext uri="{FF2B5EF4-FFF2-40B4-BE49-F238E27FC236}">
                    <a16:creationId xmlns:a16="http://schemas.microsoft.com/office/drawing/2014/main" id="{17D6F941-D0F1-757C-289A-11F4F2F183E2}"/>
                  </a:ext>
                </a:extLst>
              </p:cNvPr>
              <p:cNvSpPr txBox="1">
                <a:spLocks noRot="1" noChangeAspect="1" noMove="1" noResize="1" noEditPoints="1" noAdjustHandles="1" noChangeArrowheads="1" noChangeShapeType="1" noTextEdit="1"/>
              </p:cNvSpPr>
              <p:nvPr/>
            </p:nvSpPr>
            <p:spPr>
              <a:xfrm>
                <a:off x="8123740" y="3664418"/>
                <a:ext cx="2608086" cy="276999"/>
              </a:xfrm>
              <a:prstGeom prst="rect">
                <a:avLst/>
              </a:prstGeom>
              <a:blipFill>
                <a:blip r:embed="rId13"/>
                <a:stretch>
                  <a:fillRect l="-1942" t="-4348"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FFDA90F-CA1F-7407-DEEE-E5793AB39D08}"/>
                  </a:ext>
                </a:extLst>
              </p:cNvPr>
              <p:cNvSpPr txBox="1"/>
              <p:nvPr/>
            </p:nvSpPr>
            <p:spPr>
              <a:xfrm>
                <a:off x="8129736" y="4518882"/>
                <a:ext cx="1550937"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xmlns="">
          <p:sp>
            <p:nvSpPr>
              <p:cNvPr id="55" name="TextBox 54">
                <a:extLst>
                  <a:ext uri="{FF2B5EF4-FFF2-40B4-BE49-F238E27FC236}">
                    <a16:creationId xmlns:a16="http://schemas.microsoft.com/office/drawing/2014/main" id="{7FFDA90F-CA1F-7407-DEEE-E5793AB39D08}"/>
                  </a:ext>
                </a:extLst>
              </p:cNvPr>
              <p:cNvSpPr txBox="1">
                <a:spLocks noRot="1" noChangeAspect="1" noMove="1" noResize="1" noEditPoints="1" noAdjustHandles="1" noChangeArrowheads="1" noChangeShapeType="1" noTextEdit="1"/>
              </p:cNvSpPr>
              <p:nvPr/>
            </p:nvSpPr>
            <p:spPr>
              <a:xfrm>
                <a:off x="8129736" y="4518882"/>
                <a:ext cx="1550937" cy="525016"/>
              </a:xfrm>
              <a:prstGeom prst="rect">
                <a:avLst/>
              </a:prstGeom>
              <a:blipFill>
                <a:blip r:embed="rId14"/>
                <a:stretch>
                  <a:fillRect l="-1626" t="-4762" b="-14286"/>
                </a:stretch>
              </a:blipFill>
            </p:spPr>
            <p:txBody>
              <a:bodyPr/>
              <a:lstStyle/>
              <a:p>
                <a:r>
                  <a:rPr lang="en-US">
                    <a:noFill/>
                  </a:rPr>
                  <a:t> </a:t>
                </a:r>
              </a:p>
            </p:txBody>
          </p:sp>
        </mc:Fallback>
      </mc:AlternateContent>
    </p:spTree>
    <p:extLst>
      <p:ext uri="{BB962C8B-B14F-4D97-AF65-F5344CB8AC3E}">
        <p14:creationId xmlns:p14="http://schemas.microsoft.com/office/powerpoint/2010/main" val="743203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611C-EF61-3C0D-B15E-D69AC8C94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79A5B-B451-FD3F-9198-3A919C96E2CC}"/>
              </a:ext>
            </a:extLst>
          </p:cNvPr>
          <p:cNvSpPr>
            <a:spLocks noGrp="1"/>
          </p:cNvSpPr>
          <p:nvPr>
            <p:ph type="title"/>
          </p:nvPr>
        </p:nvSpPr>
        <p:spPr/>
        <p:txBody>
          <a:bodyPr/>
          <a:lstStyle/>
          <a:p>
            <a:r>
              <a:rPr lang="en-US" dirty="0"/>
              <a:t>Logistic regression</a:t>
            </a: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42AD369E-37FF-271E-5D33-9DDD9CE8CB61}"/>
                  </a:ext>
                </a:extLst>
              </p:cNvPr>
              <p:cNvSpPr/>
              <p:nvPr/>
            </p:nvSpPr>
            <p:spPr>
              <a:xfrm>
                <a:off x="1207257" y="2514339"/>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i="1" dirty="0"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xmlns="">
          <p:sp>
            <p:nvSpPr>
              <p:cNvPr id="4" name="Oval 3">
                <a:extLst>
                  <a:ext uri="{FF2B5EF4-FFF2-40B4-BE49-F238E27FC236}">
                    <a16:creationId xmlns:a16="http://schemas.microsoft.com/office/drawing/2014/main" id="{42AD369E-37FF-271E-5D33-9DDD9CE8CB61}"/>
                  </a:ext>
                </a:extLst>
              </p:cNvPr>
              <p:cNvSpPr>
                <a:spLocks noRot="1" noChangeAspect="1" noMove="1" noResize="1" noEditPoints="1" noAdjustHandles="1" noChangeArrowheads="1" noChangeShapeType="1" noTextEdit="1"/>
              </p:cNvSpPr>
              <p:nvPr/>
            </p:nvSpPr>
            <p:spPr>
              <a:xfrm>
                <a:off x="1207257" y="2514339"/>
                <a:ext cx="914400" cy="914400"/>
              </a:xfrm>
              <a:prstGeom prst="ellipse">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83F622A4-4B67-DAEA-B0B2-B76489928BCA}"/>
                  </a:ext>
                </a:extLst>
              </p:cNvPr>
              <p:cNvSpPr/>
              <p:nvPr/>
            </p:nvSpPr>
            <p:spPr>
              <a:xfrm>
                <a:off x="1207257" y="4189603"/>
                <a:ext cx="914400"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m:rPr>
                              <m:sty m:val="p"/>
                            </m:rPr>
                            <a:rPr lang="en-US" b="0" i="0" dirty="0" smtClean="0">
                              <a:solidFill>
                                <a:schemeClr val="tx1"/>
                              </a:solidFill>
                              <a:latin typeface="Cambria Math" panose="02040503050406030204" pitchFamily="18" charset="0"/>
                            </a:rPr>
                            <m:t>x</m:t>
                          </m:r>
                        </m:e>
                        <m:sub>
                          <m:r>
                            <a:rPr lang="en-US" b="0" i="1" dirty="0" smtClean="0">
                              <a:solidFill>
                                <a:schemeClr val="tx1"/>
                              </a:solidFill>
                              <a:latin typeface="Cambria Math" panose="02040503050406030204" pitchFamily="18" charset="0"/>
                            </a:rPr>
                            <m:t>𝑚</m:t>
                          </m:r>
                        </m:sub>
                      </m:sSub>
                    </m:oMath>
                  </m:oMathPara>
                </a14:m>
                <a:endParaRPr lang="en-US" dirty="0">
                  <a:solidFill>
                    <a:schemeClr val="tx1"/>
                  </a:solidFill>
                </a:endParaRPr>
              </a:p>
            </p:txBody>
          </p:sp>
        </mc:Choice>
        <mc:Fallback xmlns="">
          <p:sp>
            <p:nvSpPr>
              <p:cNvPr id="5" name="Oval 4">
                <a:extLst>
                  <a:ext uri="{FF2B5EF4-FFF2-40B4-BE49-F238E27FC236}">
                    <a16:creationId xmlns:a16="http://schemas.microsoft.com/office/drawing/2014/main" id="{83F622A4-4B67-DAEA-B0B2-B76489928BCA}"/>
                  </a:ext>
                </a:extLst>
              </p:cNvPr>
              <p:cNvSpPr>
                <a:spLocks noRot="1" noChangeAspect="1" noMove="1" noResize="1" noEditPoints="1" noAdjustHandles="1" noChangeArrowheads="1" noChangeShapeType="1" noTextEdit="1"/>
              </p:cNvSpPr>
              <p:nvPr/>
            </p:nvSpPr>
            <p:spPr>
              <a:xfrm>
                <a:off x="1207257" y="4189603"/>
                <a:ext cx="914400" cy="914400"/>
              </a:xfrm>
              <a:prstGeom prst="ellipse">
                <a:avLst/>
              </a:prstGeom>
              <a:blipFill>
                <a:blip r:embed="rId4"/>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92C6CA2-1059-0F33-1D78-418BF3EB91EC}"/>
              </a:ext>
            </a:extLst>
          </p:cNvPr>
          <p:cNvSpPr txBox="1"/>
          <p:nvPr/>
        </p:nvSpPr>
        <p:spPr>
          <a:xfrm rot="5400000">
            <a:off x="1526234" y="3624505"/>
            <a:ext cx="381836" cy="369332"/>
          </a:xfrm>
          <a:prstGeom prst="rect">
            <a:avLst/>
          </a:prstGeom>
          <a:noFill/>
        </p:spPr>
        <p:txBody>
          <a:bodyPr wrap="none" rtlCol="0">
            <a:spAutoFit/>
          </a:bodyPr>
          <a:lstStyle/>
          <a:p>
            <a:r>
              <a:rPr lang="en-US" dirty="0"/>
              <a:t>…</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3B410D45-E135-9A9A-840C-CD05DAA17F98}"/>
                  </a:ext>
                </a:extLst>
              </p:cNvPr>
              <p:cNvSpPr/>
              <p:nvPr/>
            </p:nvSpPr>
            <p:spPr>
              <a:xfrm>
                <a:off x="3217926" y="2895741"/>
                <a:ext cx="1826336" cy="182686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14:m>
                  <m:oMathPara xmlns:m="http://schemas.openxmlformats.org/officeDocument/2006/math">
                    <m:oMathParaPr>
                      <m:jc m:val="center"/>
                    </m:oMathParaPr>
                    <m:oMath xmlns:m="http://schemas.openxmlformats.org/officeDocument/2006/math">
                      <m:nary>
                        <m:naryPr>
                          <m:chr m:val="∑"/>
                          <m:ctrlPr>
                            <a:rPr lang="en-US"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𝑗</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𝑚</m:t>
                          </m:r>
                        </m:sup>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𝑤</m:t>
                              </m:r>
                            </m:e>
                            <m:sub>
                              <m:r>
                                <a:rPr lang="en-US" b="0" i="1" smtClean="0">
                                  <a:solidFill>
                                    <a:schemeClr val="tx1"/>
                                  </a:solidFill>
                                  <a:latin typeface="Cambria Math" panose="02040503050406030204" pitchFamily="18" charset="0"/>
                                </a:rPr>
                                <m:t>𝑗</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𝑥</m:t>
                              </m:r>
                            </m:e>
                            <m:sub>
                              <m:r>
                                <a:rPr lang="en-US" b="0" i="1" smtClean="0">
                                  <a:solidFill>
                                    <a:schemeClr val="tx1"/>
                                  </a:solidFill>
                                  <a:latin typeface="Cambria Math" panose="02040503050406030204" pitchFamily="18" charset="0"/>
                                </a:rPr>
                                <m:t>𝑗</m:t>
                              </m:r>
                            </m:sub>
                          </m:sSub>
                        </m:e>
                      </m:nary>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7" name="Oval 6">
                <a:extLst>
                  <a:ext uri="{FF2B5EF4-FFF2-40B4-BE49-F238E27FC236}">
                    <a16:creationId xmlns:a16="http://schemas.microsoft.com/office/drawing/2014/main" id="{3B410D45-E135-9A9A-840C-CD05DAA17F98}"/>
                  </a:ext>
                </a:extLst>
              </p:cNvPr>
              <p:cNvSpPr>
                <a:spLocks noRot="1" noChangeAspect="1" noMove="1" noResize="1" noEditPoints="1" noAdjustHandles="1" noChangeArrowheads="1" noChangeShapeType="1" noTextEdit="1"/>
              </p:cNvSpPr>
              <p:nvPr/>
            </p:nvSpPr>
            <p:spPr>
              <a:xfrm>
                <a:off x="3217926" y="2895741"/>
                <a:ext cx="1826336" cy="1826860"/>
              </a:xfrm>
              <a:prstGeom prst="ellipse">
                <a:avLst/>
              </a:prstGeom>
              <a:blipFill>
                <a:blip r:embed="rId5"/>
                <a:stretch>
                  <a:fillRect l="-29452" t="-20548" b="-43836"/>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F75EC48A-9256-D247-3E2F-1BA695B3CC4A}"/>
              </a:ext>
            </a:extLst>
          </p:cNvPr>
          <p:cNvCxnSpPr>
            <a:cxnSpLocks/>
            <a:stCxn id="4" idx="6"/>
          </p:cNvCxnSpPr>
          <p:nvPr/>
        </p:nvCxnSpPr>
        <p:spPr>
          <a:xfrm>
            <a:off x="2121657" y="2971539"/>
            <a:ext cx="1180214" cy="457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2DC83486-02EB-FCC1-8E80-B6A52316BB9C}"/>
              </a:ext>
            </a:extLst>
          </p:cNvPr>
          <p:cNvCxnSpPr>
            <a:cxnSpLocks/>
          </p:cNvCxnSpPr>
          <p:nvPr/>
        </p:nvCxnSpPr>
        <p:spPr>
          <a:xfrm flipV="1">
            <a:off x="2121657" y="4189603"/>
            <a:ext cx="1180214" cy="4532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D6CE9EF7-6EC1-37A4-D4F3-330D900476FD}"/>
              </a:ext>
            </a:extLst>
          </p:cNvPr>
          <p:cNvCxnSpPr>
            <a:cxnSpLocks/>
            <a:stCxn id="6" idx="0"/>
            <a:endCxn id="7" idx="2"/>
          </p:cNvCxnSpPr>
          <p:nvPr/>
        </p:nvCxnSpPr>
        <p:spPr>
          <a:xfrm>
            <a:off x="1901818" y="3809171"/>
            <a:ext cx="131610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0C0D8D4-86A4-8D5A-6B4D-12998F254AF0}"/>
                  </a:ext>
                </a:extLst>
              </p:cNvPr>
              <p:cNvSpPr txBox="1"/>
              <p:nvPr/>
            </p:nvSpPr>
            <p:spPr>
              <a:xfrm>
                <a:off x="2294436" y="2833039"/>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40C0D8D4-86A4-8D5A-6B4D-12998F254AF0}"/>
                  </a:ext>
                </a:extLst>
              </p:cNvPr>
              <p:cNvSpPr txBox="1">
                <a:spLocks noRot="1" noChangeAspect="1" noMove="1" noResize="1" noEditPoints="1" noAdjustHandles="1" noChangeArrowheads="1" noChangeShapeType="1" noTextEdit="1"/>
              </p:cNvSpPr>
              <p:nvPr/>
            </p:nvSpPr>
            <p:spPr>
              <a:xfrm>
                <a:off x="2294436" y="2833039"/>
                <a:ext cx="834656" cy="276999"/>
              </a:xfrm>
              <a:prstGeom prst="rect">
                <a:avLst/>
              </a:prstGeom>
              <a:blipFill>
                <a:blip r:embed="rId6"/>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B9513C0-BCE4-9095-806A-F38727424A35}"/>
                  </a:ext>
                </a:extLst>
              </p:cNvPr>
              <p:cNvSpPr txBox="1"/>
              <p:nvPr/>
            </p:nvSpPr>
            <p:spPr>
              <a:xfrm>
                <a:off x="2294436" y="4504391"/>
                <a:ext cx="83465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𝑚</m:t>
                          </m:r>
                        </m:sub>
                      </m:sSub>
                    </m:oMath>
                  </m:oMathPara>
                </a14:m>
                <a:endParaRPr lang="en-US" dirty="0"/>
              </a:p>
            </p:txBody>
          </p:sp>
        </mc:Choice>
        <mc:Fallback xmlns="">
          <p:sp>
            <p:nvSpPr>
              <p:cNvPr id="16" name="TextBox 15">
                <a:extLst>
                  <a:ext uri="{FF2B5EF4-FFF2-40B4-BE49-F238E27FC236}">
                    <a16:creationId xmlns:a16="http://schemas.microsoft.com/office/drawing/2014/main" id="{3B9513C0-BCE4-9095-806A-F38727424A35}"/>
                  </a:ext>
                </a:extLst>
              </p:cNvPr>
              <p:cNvSpPr txBox="1">
                <a:spLocks noRot="1" noChangeAspect="1" noMove="1" noResize="1" noEditPoints="1" noAdjustHandles="1" noChangeArrowheads="1" noChangeShapeType="1" noTextEdit="1"/>
              </p:cNvSpPr>
              <p:nvPr/>
            </p:nvSpPr>
            <p:spPr>
              <a:xfrm>
                <a:off x="2294436" y="4504391"/>
                <a:ext cx="834656" cy="276999"/>
              </a:xfrm>
              <a:prstGeom prst="rect">
                <a:avLst/>
              </a:prstGeom>
              <a:blipFill>
                <a:blip r:embed="rId7"/>
                <a:stretch>
                  <a:fillRect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B2E1A95-4D27-1199-D0B1-24FD11873D4A}"/>
                  </a:ext>
                </a:extLst>
              </p:cNvPr>
              <p:cNvSpPr txBox="1"/>
              <p:nvPr/>
            </p:nvSpPr>
            <p:spPr>
              <a:xfrm>
                <a:off x="8123740" y="2341939"/>
                <a:ext cx="3113866" cy="891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=1</m:t>
                          </m:r>
                        </m:e>
                        <m:e>
                          <m:r>
                            <a:rPr lang="en-US" b="1" i="1" smtClean="0">
                              <a:latin typeface="Cambria Math" panose="02040503050406030204" pitchFamily="18" charset="0"/>
                            </a:rPr>
                            <m:t>𝒙</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𝑏</m:t>
                              </m:r>
                            </m:e>
                          </m:nary>
                        </m:e>
                      </m:d>
                    </m:oMath>
                  </m:oMathPara>
                </a14:m>
                <a:endParaRPr lang="en-US" dirty="0"/>
              </a:p>
            </p:txBody>
          </p:sp>
        </mc:Choice>
        <mc:Fallback xmlns="">
          <p:sp>
            <p:nvSpPr>
              <p:cNvPr id="36" name="TextBox 35">
                <a:extLst>
                  <a:ext uri="{FF2B5EF4-FFF2-40B4-BE49-F238E27FC236}">
                    <a16:creationId xmlns:a16="http://schemas.microsoft.com/office/drawing/2014/main" id="{6B2E1A95-4D27-1199-D0B1-24FD11873D4A}"/>
                  </a:ext>
                </a:extLst>
              </p:cNvPr>
              <p:cNvSpPr txBox="1">
                <a:spLocks noRot="1" noChangeAspect="1" noMove="1" noResize="1" noEditPoints="1" noAdjustHandles="1" noChangeArrowheads="1" noChangeShapeType="1" noTextEdit="1"/>
              </p:cNvSpPr>
              <p:nvPr/>
            </p:nvSpPr>
            <p:spPr>
              <a:xfrm>
                <a:off x="8123740" y="2341939"/>
                <a:ext cx="3113866" cy="891719"/>
              </a:xfrm>
              <a:prstGeom prst="rect">
                <a:avLst/>
              </a:prstGeom>
              <a:blipFill>
                <a:blip r:embed="rId8"/>
                <a:stretch>
                  <a:fillRect l="-1220" t="-92958" b="-143662"/>
                </a:stretch>
              </a:blipFill>
            </p:spPr>
            <p:txBody>
              <a:bodyPr/>
              <a:lstStyle/>
              <a:p>
                <a:r>
                  <a:rPr lang="en-US">
                    <a:noFill/>
                  </a:rPr>
                  <a:t> </a:t>
                </a:r>
              </a:p>
            </p:txBody>
          </p:sp>
        </mc:Fallback>
      </mc:AlternateContent>
      <p:grpSp>
        <p:nvGrpSpPr>
          <p:cNvPr id="38" name="Group 37">
            <a:extLst>
              <a:ext uri="{FF2B5EF4-FFF2-40B4-BE49-F238E27FC236}">
                <a16:creationId xmlns:a16="http://schemas.microsoft.com/office/drawing/2014/main" id="{87A5961A-1EE7-24E0-0A15-55B404982200}"/>
              </a:ext>
            </a:extLst>
          </p:cNvPr>
          <p:cNvGrpSpPr/>
          <p:nvPr/>
        </p:nvGrpSpPr>
        <p:grpSpPr>
          <a:xfrm>
            <a:off x="5497545" y="3574318"/>
            <a:ext cx="685800" cy="457200"/>
            <a:chOff x="8126236" y="3368737"/>
            <a:chExt cx="685800" cy="457200"/>
          </a:xfrm>
        </p:grpSpPr>
        <p:sp>
          <p:nvSpPr>
            <p:cNvPr id="34" name="Oval 33">
              <a:extLst>
                <a:ext uri="{FF2B5EF4-FFF2-40B4-BE49-F238E27FC236}">
                  <a16:creationId xmlns:a16="http://schemas.microsoft.com/office/drawing/2014/main" id="{049A989A-9FCE-F38F-A776-BF69141D0C86}"/>
                </a:ext>
              </a:extLst>
            </p:cNvPr>
            <p:cNvSpPr/>
            <p:nvPr/>
          </p:nvSpPr>
          <p:spPr>
            <a:xfrm>
              <a:off x="8242764" y="3368737"/>
              <a:ext cx="452745" cy="4572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37" name="Picture 36">
              <a:extLst>
                <a:ext uri="{FF2B5EF4-FFF2-40B4-BE49-F238E27FC236}">
                  <a16:creationId xmlns:a16="http://schemas.microsoft.com/office/drawing/2014/main" id="{7F33CFAD-D5CF-D138-9750-2583D7DD21B0}"/>
                </a:ext>
              </a:extLst>
            </p:cNvPr>
            <p:cNvPicPr>
              <a:picLocks noChangeAspect="1"/>
            </p:cNvPicPr>
            <p:nvPr/>
          </p:nvPicPr>
          <p:blipFill>
            <a:blip r:embed="rId9"/>
            <a:stretch>
              <a:fillRect/>
            </a:stretch>
          </p:blipFill>
          <p:spPr>
            <a:xfrm>
              <a:off x="8126236" y="3368737"/>
              <a:ext cx="685800" cy="457200"/>
            </a:xfrm>
            <a:prstGeom prst="rect">
              <a:avLst/>
            </a:prstGeom>
          </p:spPr>
        </p:pic>
      </p:grpSp>
      <p:cxnSp>
        <p:nvCxnSpPr>
          <p:cNvPr id="39" name="Straight Arrow Connector 38">
            <a:extLst>
              <a:ext uri="{FF2B5EF4-FFF2-40B4-BE49-F238E27FC236}">
                <a16:creationId xmlns:a16="http://schemas.microsoft.com/office/drawing/2014/main" id="{B6C369B1-A8FA-DEC7-1E91-FDB4F105A6BA}"/>
              </a:ext>
            </a:extLst>
          </p:cNvPr>
          <p:cNvCxnSpPr>
            <a:cxnSpLocks/>
          </p:cNvCxnSpPr>
          <p:nvPr/>
        </p:nvCxnSpPr>
        <p:spPr>
          <a:xfrm>
            <a:off x="5044262" y="3809171"/>
            <a:ext cx="57341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11ABC4DE-8232-B51E-656C-AA12D8D63E26}"/>
              </a:ext>
            </a:extLst>
          </p:cNvPr>
          <p:cNvSpPr txBox="1"/>
          <p:nvPr/>
        </p:nvSpPr>
        <p:spPr>
          <a:xfrm>
            <a:off x="3822914" y="4722601"/>
            <a:ext cx="622286" cy="369332"/>
          </a:xfrm>
          <a:prstGeom prst="rect">
            <a:avLst/>
          </a:prstGeom>
          <a:noFill/>
        </p:spPr>
        <p:txBody>
          <a:bodyPr wrap="none" rtlCol="0">
            <a:spAutoFit/>
          </a:bodyPr>
          <a:lstStyle/>
          <a:p>
            <a:r>
              <a:rPr lang="en-US" dirty="0"/>
              <a:t>sum</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BBD7AC1-239F-81DB-DA5D-3068573C668B}"/>
                  </a:ext>
                </a:extLst>
              </p:cNvPr>
              <p:cNvSpPr txBox="1"/>
              <p:nvPr/>
            </p:nvSpPr>
            <p:spPr>
              <a:xfrm>
                <a:off x="5119322" y="4045165"/>
                <a:ext cx="1436932" cy="923330"/>
              </a:xfrm>
              <a:prstGeom prst="rect">
                <a:avLst/>
              </a:prstGeom>
              <a:noFill/>
            </p:spPr>
            <p:txBody>
              <a:bodyPr wrap="none" rtlCol="0">
                <a:spAutoFit/>
              </a:bodyPr>
              <a:lstStyle/>
              <a:p>
                <a:pPr algn="ctr"/>
                <a:r>
                  <a:rPr lang="en-US" dirty="0"/>
                  <a:t>sigmoid</a:t>
                </a:r>
              </a:p>
              <a:p>
                <a:pPr algn="ctr"/>
                <a:r>
                  <a:rPr lang="en-US" dirty="0"/>
                  <a:t>(aka logistic)</a:t>
                </a:r>
              </a:p>
              <a:p>
                <a:pPr algn="ctr"/>
                <a:r>
                  <a:rPr lang="en-US" dirty="0"/>
                  <a:t>function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42" name="TextBox 41">
                <a:extLst>
                  <a:ext uri="{FF2B5EF4-FFF2-40B4-BE49-F238E27FC236}">
                    <a16:creationId xmlns:a16="http://schemas.microsoft.com/office/drawing/2014/main" id="{FBBD7AC1-239F-81DB-DA5D-3068573C668B}"/>
                  </a:ext>
                </a:extLst>
              </p:cNvPr>
              <p:cNvSpPr txBox="1">
                <a:spLocks noRot="1" noChangeAspect="1" noMove="1" noResize="1" noEditPoints="1" noAdjustHandles="1" noChangeArrowheads="1" noChangeShapeType="1" noTextEdit="1"/>
              </p:cNvSpPr>
              <p:nvPr/>
            </p:nvSpPr>
            <p:spPr>
              <a:xfrm>
                <a:off x="5119322" y="4045165"/>
                <a:ext cx="1436932" cy="923330"/>
              </a:xfrm>
              <a:prstGeom prst="rect">
                <a:avLst/>
              </a:prstGeom>
              <a:blipFill>
                <a:blip r:embed="rId10"/>
                <a:stretch>
                  <a:fillRect l="-3509" t="-2703" r="-2632"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26A1E54-F69C-9C0E-14AE-09EF7DA48ED8}"/>
                  </a:ext>
                </a:extLst>
              </p:cNvPr>
              <p:cNvSpPr txBox="1"/>
              <p:nvPr/>
            </p:nvSpPr>
            <p:spPr>
              <a:xfrm>
                <a:off x="6492464" y="3607912"/>
                <a:ext cx="13221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1" i="1" smtClean="0">
                          <a:latin typeface="Cambria Math" panose="02040503050406030204" pitchFamily="18" charset="0"/>
                        </a:rPr>
                        <m:t>𝒙</m:t>
                      </m:r>
                      <m:r>
                        <a:rPr lang="en-US" b="0" i="1" smtClean="0">
                          <a:latin typeface="Cambria Math" panose="02040503050406030204" pitchFamily="18" charset="0"/>
                        </a:rPr>
                        <m:t>)</m:t>
                      </m:r>
                    </m:oMath>
                  </m:oMathPara>
                </a14:m>
                <a:endParaRPr lang="en-US" dirty="0"/>
              </a:p>
            </p:txBody>
          </p:sp>
        </mc:Choice>
        <mc:Fallback xmlns="">
          <p:sp>
            <p:nvSpPr>
              <p:cNvPr id="45" name="TextBox 44">
                <a:extLst>
                  <a:ext uri="{FF2B5EF4-FFF2-40B4-BE49-F238E27FC236}">
                    <a16:creationId xmlns:a16="http://schemas.microsoft.com/office/drawing/2014/main" id="{826A1E54-F69C-9C0E-14AE-09EF7DA48ED8}"/>
                  </a:ext>
                </a:extLst>
              </p:cNvPr>
              <p:cNvSpPr txBox="1">
                <a:spLocks noRot="1" noChangeAspect="1" noMove="1" noResize="1" noEditPoints="1" noAdjustHandles="1" noChangeArrowheads="1" noChangeShapeType="1" noTextEdit="1"/>
              </p:cNvSpPr>
              <p:nvPr/>
            </p:nvSpPr>
            <p:spPr>
              <a:xfrm>
                <a:off x="6492464" y="3607912"/>
                <a:ext cx="1322157" cy="369332"/>
              </a:xfrm>
              <a:prstGeom prst="rect">
                <a:avLst/>
              </a:prstGeom>
              <a:blipFill>
                <a:blip r:embed="rId11"/>
                <a:stretch>
                  <a:fillRect b="-17241"/>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3A9DE1D4-01C0-E119-9CF8-885A968357D2}"/>
              </a:ext>
            </a:extLst>
          </p:cNvPr>
          <p:cNvCxnSpPr>
            <a:cxnSpLocks/>
          </p:cNvCxnSpPr>
          <p:nvPr/>
        </p:nvCxnSpPr>
        <p:spPr>
          <a:xfrm>
            <a:off x="6066609" y="3802918"/>
            <a:ext cx="489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507E1675-50EC-D00C-0F28-2E9318DA5B99}"/>
              </a:ext>
            </a:extLst>
          </p:cNvPr>
          <p:cNvCxnSpPr>
            <a:cxnSpLocks/>
            <a:endCxn id="7" idx="0"/>
          </p:cNvCxnSpPr>
          <p:nvPr/>
        </p:nvCxnSpPr>
        <p:spPr>
          <a:xfrm>
            <a:off x="4131094" y="2410148"/>
            <a:ext cx="0" cy="4855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C816646-184E-0163-F24F-9E4F06CC075A}"/>
                  </a:ext>
                </a:extLst>
              </p:cNvPr>
              <p:cNvSpPr txBox="1"/>
              <p:nvPr/>
            </p:nvSpPr>
            <p:spPr>
              <a:xfrm>
                <a:off x="3948608" y="2040816"/>
                <a:ext cx="3649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53" name="TextBox 52">
                <a:extLst>
                  <a:ext uri="{FF2B5EF4-FFF2-40B4-BE49-F238E27FC236}">
                    <a16:creationId xmlns:a16="http://schemas.microsoft.com/office/drawing/2014/main" id="{4C816646-184E-0163-F24F-9E4F06CC075A}"/>
                  </a:ext>
                </a:extLst>
              </p:cNvPr>
              <p:cNvSpPr txBox="1">
                <a:spLocks noRot="1" noChangeAspect="1" noMove="1" noResize="1" noEditPoints="1" noAdjustHandles="1" noChangeArrowheads="1" noChangeShapeType="1" noTextEdit="1"/>
              </p:cNvSpPr>
              <p:nvPr/>
            </p:nvSpPr>
            <p:spPr>
              <a:xfrm>
                <a:off x="3948608" y="2040816"/>
                <a:ext cx="364972"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E4428D0-DD42-FDA3-233A-920A4B05EA48}"/>
                  </a:ext>
                </a:extLst>
              </p:cNvPr>
              <p:cNvSpPr txBox="1"/>
              <p:nvPr/>
            </p:nvSpPr>
            <p:spPr>
              <a:xfrm>
                <a:off x="8123740" y="3664418"/>
                <a:ext cx="26080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=1</m:t>
                          </m:r>
                        </m:e>
                        <m:e>
                          <m:r>
                            <a:rPr lang="en-US" b="1" i="1" smtClean="0">
                              <a:latin typeface="Cambria Math" panose="02040503050406030204" pitchFamily="18" charset="0"/>
                            </a:rPr>
                            <m:t>𝒙</m:t>
                          </m:r>
                        </m:e>
                      </m:d>
                      <m:r>
                        <a:rPr lang="en-US" b="0" i="1" smtClean="0">
                          <a:latin typeface="Cambria Math" panose="02040503050406030204" pitchFamily="18" charset="0"/>
                        </a:rPr>
                        <m:t>=</m:t>
                      </m:r>
                      <m:r>
                        <a:rPr lang="en-US" b="0" i="1" smtClean="0">
                          <a:latin typeface="Cambria Math" panose="02040503050406030204" pitchFamily="18" charset="0"/>
                        </a:rPr>
                        <m:t>𝜎</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1" i="1" smtClean="0">
                                  <a:latin typeface="Cambria Math" panose="02040503050406030204" pitchFamily="18" charset="0"/>
                                </a:rPr>
                                <m:t>𝒘</m:t>
                              </m:r>
                            </m:e>
                            <m:sup>
                              <m:r>
                                <a:rPr lang="en-US" b="0" i="1" smtClean="0">
                                  <a:latin typeface="Cambria Math" panose="02040503050406030204" pitchFamily="18" charset="0"/>
                                </a:rPr>
                                <m:t>𝑇</m:t>
                              </m:r>
                            </m:sup>
                          </m:sSup>
                          <m:r>
                            <a:rPr lang="en-US" b="1" i="1" smtClean="0">
                              <a:latin typeface="Cambria Math" panose="02040503050406030204" pitchFamily="18" charset="0"/>
                            </a:rPr>
                            <m:t>𝒙</m:t>
                          </m:r>
                          <m:r>
                            <a:rPr lang="en-US" b="0" i="1" smtClean="0">
                              <a:latin typeface="Cambria Math" panose="02040503050406030204" pitchFamily="18" charset="0"/>
                            </a:rPr>
                            <m:t>+</m:t>
                          </m:r>
                          <m:r>
                            <a:rPr lang="en-US" b="0" i="1" smtClean="0">
                              <a:latin typeface="Cambria Math" panose="02040503050406030204" pitchFamily="18" charset="0"/>
                            </a:rPr>
                            <m:t>𝑏</m:t>
                          </m:r>
                        </m:e>
                      </m:d>
                    </m:oMath>
                  </m:oMathPara>
                </a14:m>
                <a:endParaRPr lang="en-US" dirty="0"/>
              </a:p>
            </p:txBody>
          </p:sp>
        </mc:Choice>
        <mc:Fallback xmlns="">
          <p:sp>
            <p:nvSpPr>
              <p:cNvPr id="54" name="TextBox 53">
                <a:extLst>
                  <a:ext uri="{FF2B5EF4-FFF2-40B4-BE49-F238E27FC236}">
                    <a16:creationId xmlns:a16="http://schemas.microsoft.com/office/drawing/2014/main" id="{AE4428D0-DD42-FDA3-233A-920A4B05EA48}"/>
                  </a:ext>
                </a:extLst>
              </p:cNvPr>
              <p:cNvSpPr txBox="1">
                <a:spLocks noRot="1" noChangeAspect="1" noMove="1" noResize="1" noEditPoints="1" noAdjustHandles="1" noChangeArrowheads="1" noChangeShapeType="1" noTextEdit="1"/>
              </p:cNvSpPr>
              <p:nvPr/>
            </p:nvSpPr>
            <p:spPr>
              <a:xfrm>
                <a:off x="8123740" y="3664418"/>
                <a:ext cx="2608086" cy="276999"/>
              </a:xfrm>
              <a:prstGeom prst="rect">
                <a:avLst/>
              </a:prstGeom>
              <a:blipFill>
                <a:blip r:embed="rId13"/>
                <a:stretch>
                  <a:fillRect l="-1942" t="-4348"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8569CD7-54AD-CBB5-D73B-D8ED878DA8F3}"/>
                  </a:ext>
                </a:extLst>
              </p:cNvPr>
              <p:cNvSpPr txBox="1"/>
              <p:nvPr/>
            </p:nvSpPr>
            <p:spPr>
              <a:xfrm>
                <a:off x="8129736" y="4518882"/>
                <a:ext cx="1550937"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xmlns="">
          <p:sp>
            <p:nvSpPr>
              <p:cNvPr id="55" name="TextBox 54">
                <a:extLst>
                  <a:ext uri="{FF2B5EF4-FFF2-40B4-BE49-F238E27FC236}">
                    <a16:creationId xmlns:a16="http://schemas.microsoft.com/office/drawing/2014/main" id="{58569CD7-54AD-CBB5-D73B-D8ED878DA8F3}"/>
                  </a:ext>
                </a:extLst>
              </p:cNvPr>
              <p:cNvSpPr txBox="1">
                <a:spLocks noRot="1" noChangeAspect="1" noMove="1" noResize="1" noEditPoints="1" noAdjustHandles="1" noChangeArrowheads="1" noChangeShapeType="1" noTextEdit="1"/>
              </p:cNvSpPr>
              <p:nvPr/>
            </p:nvSpPr>
            <p:spPr>
              <a:xfrm>
                <a:off x="8129736" y="4518882"/>
                <a:ext cx="1550937" cy="525016"/>
              </a:xfrm>
              <a:prstGeom prst="rect">
                <a:avLst/>
              </a:prstGeom>
              <a:blipFill>
                <a:blip r:embed="rId14"/>
                <a:stretch>
                  <a:fillRect l="-1626" t="-4762" b="-1428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D14408D-6F20-7CE7-6313-61851299A17D}"/>
              </a:ext>
            </a:extLst>
          </p:cNvPr>
          <p:cNvSpPr txBox="1"/>
          <p:nvPr/>
        </p:nvSpPr>
        <p:spPr>
          <a:xfrm>
            <a:off x="838200" y="5730483"/>
            <a:ext cx="7596567" cy="646331"/>
          </a:xfrm>
          <a:prstGeom prst="rect">
            <a:avLst/>
          </a:prstGeom>
          <a:noFill/>
        </p:spPr>
        <p:txBody>
          <a:bodyPr wrap="none" rtlCol="0">
            <a:spAutoFit/>
          </a:bodyPr>
          <a:lstStyle/>
          <a:p>
            <a:r>
              <a:rPr lang="en-US" dirty="0"/>
              <a:t>(view 1) a generalized linear model with a logistic link function</a:t>
            </a:r>
          </a:p>
          <a:p>
            <a:r>
              <a:rPr lang="en-US" dirty="0"/>
              <a:t>(view 2) a probabilistic perceptron, i.e. a single neuron of a neural network</a:t>
            </a:r>
          </a:p>
        </p:txBody>
      </p:sp>
    </p:spTree>
    <p:extLst>
      <p:ext uri="{BB962C8B-B14F-4D97-AF65-F5344CB8AC3E}">
        <p14:creationId xmlns:p14="http://schemas.microsoft.com/office/powerpoint/2010/main" val="2934839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1FEDE59-5AC7-FF4A-A79D-0E2ADE592CE3}"/>
                  </a:ext>
                </a:extLst>
              </p:cNvPr>
              <p:cNvSpPr>
                <a:spLocks noGrp="1"/>
              </p:cNvSpPr>
              <p:nvPr>
                <p:ph idx="1"/>
              </p:nvPr>
            </p:nvSpPr>
            <p:spPr>
              <a:xfrm>
                <a:off x="615757" y="1857983"/>
                <a:ext cx="10960485" cy="4634892"/>
              </a:xfrm>
            </p:spPr>
            <p:txBody>
              <a:bodyPr>
                <a:normAutofit/>
              </a:bodyPr>
              <a:lstStyle/>
              <a:p>
                <a:r>
                  <a:rPr lang="en-US" dirty="0">
                    <a:solidFill>
                      <a:schemeClr val="tx1"/>
                    </a:solidFill>
                  </a:rPr>
                  <a:t>On admission, collect features </a:t>
                </a: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b="1" i="1" dirty="0" smtClean="0">
                            <a:solidFill>
                              <a:schemeClr val="tx1"/>
                            </a:solidFill>
                            <a:latin typeface="Cambria Math" panose="02040503050406030204" pitchFamily="18" charset="0"/>
                          </a:rPr>
                          <m:t>𝒙</m:t>
                        </m:r>
                      </m:e>
                      <m:sub>
                        <m:r>
                          <a:rPr lang="en-US" i="1" dirty="0" smtClean="0">
                            <a:solidFill>
                              <a:schemeClr val="tx1"/>
                            </a:solidFill>
                            <a:latin typeface="Cambria Math" panose="02040503050406030204" pitchFamily="18" charset="0"/>
                          </a:rPr>
                          <m:t>𝑖</m:t>
                        </m:r>
                      </m:sub>
                    </m:sSub>
                  </m:oMath>
                </a14:m>
                <a:r>
                  <a:rPr lang="en-US" dirty="0">
                    <a:solidFill>
                      <a:schemeClr val="tx1"/>
                    </a:solidFill>
                  </a:rPr>
                  <a:t> = (age, sex, temp, BP, …) and outcome </a:t>
                </a: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𝑦</m:t>
                        </m:r>
                      </m:e>
                      <m:sub>
                        <m:r>
                          <a:rPr lang="en-US" i="1" dirty="0" smtClean="0">
                            <a:solidFill>
                              <a:schemeClr val="tx1"/>
                            </a:solidFill>
                            <a:latin typeface="Cambria Math" panose="02040503050406030204" pitchFamily="18" charset="0"/>
                          </a:rPr>
                          <m:t>𝑖</m:t>
                        </m:r>
                      </m:sub>
                    </m:sSub>
                  </m:oMath>
                </a14:m>
                <a:r>
                  <a:rPr lang="en-US" dirty="0"/>
                  <a:t> indicating whether patient </a:t>
                </a:r>
                <a14:m>
                  <m:oMath xmlns:m="http://schemas.openxmlformats.org/officeDocument/2006/math">
                    <m:r>
                      <a:rPr lang="en-US" i="1" dirty="0" smtClean="0">
                        <a:latin typeface="Cambria Math" panose="02040503050406030204" pitchFamily="18" charset="0"/>
                      </a:rPr>
                      <m:t>𝑖</m:t>
                    </m:r>
                  </m:oMath>
                </a14:m>
                <a:r>
                  <a:rPr lang="en-US" dirty="0"/>
                  <a:t> died during their ICU stay</a:t>
                </a:r>
                <a:endParaRPr lang="en-US" dirty="0">
                  <a:solidFill>
                    <a:schemeClr val="tx1"/>
                  </a:solidFill>
                </a:endParaRPr>
              </a:p>
              <a:p>
                <a:endParaRPr lang="en-US" dirty="0"/>
              </a:p>
              <a:p>
                <a:r>
                  <a:rPr lang="en-US" dirty="0"/>
                  <a:t>Using dataset </a:t>
                </a:r>
                <a14:m>
                  <m:oMath xmlns:m="http://schemas.openxmlformats.org/officeDocument/2006/math">
                    <m:r>
                      <a:rPr lang="en-US" i="1" dirty="0" smtClean="0">
                        <a:latin typeface="Cambria Math" panose="02040503050406030204" pitchFamily="18" charset="0"/>
                      </a:rPr>
                      <m:t>𝒟</m:t>
                    </m:r>
                    <m:r>
                      <a:rPr lang="en-US" b="0" i="1" dirty="0" smtClean="0">
                        <a:latin typeface="Cambria Math" panose="02040503050406030204" pitchFamily="18" charset="0"/>
                      </a:rPr>
                      <m:t>=</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sSubSup>
                  </m:oMath>
                </a14:m>
                <a:r>
                  <a:rPr lang="en-US" dirty="0"/>
                  <a:t>, find optimal parameters </a:t>
                </a:r>
                <a14:m>
                  <m:oMath xmlns:m="http://schemas.openxmlformats.org/officeDocument/2006/math">
                    <m:d>
                      <m:dPr>
                        <m:begChr m:val="{"/>
                        <m:endChr m:val="}"/>
                        <m:ctrlPr>
                          <a:rPr lang="en-US" b="0" i="1" smtClean="0">
                            <a:latin typeface="Cambria Math" panose="02040503050406030204" pitchFamily="18" charset="0"/>
                          </a:rPr>
                        </m:ctrlPr>
                      </m:dPr>
                      <m:e>
                        <m:r>
                          <a:rPr lang="en-US" b="1" i="1" smtClean="0">
                            <a:latin typeface="Cambria Math" panose="02040503050406030204" pitchFamily="18" charset="0"/>
                          </a:rPr>
                          <m:t>𝒘</m:t>
                        </m:r>
                        <m:r>
                          <a:rPr lang="en-US" b="0" i="1" smtClean="0">
                            <a:latin typeface="Cambria Math" panose="02040503050406030204" pitchFamily="18" charset="0"/>
                          </a:rPr>
                          <m:t>, </m:t>
                        </m:r>
                        <m:r>
                          <a:rPr lang="en-US" b="0" i="1" smtClean="0">
                            <a:latin typeface="Cambria Math" panose="02040503050406030204" pitchFamily="18" charset="0"/>
                          </a:rPr>
                          <m:t>𝑏</m:t>
                        </m:r>
                      </m:e>
                    </m:d>
                  </m:oMath>
                </a14:m>
                <a:endParaRPr lang="en-US" b="0" dirty="0"/>
              </a:p>
              <a:p>
                <a:pPr marL="457200" lvl="1" indent="0">
                  <a:buNone/>
                </a:pPr>
                <a:r>
                  <a:rPr lang="en-US" dirty="0"/>
                  <a:t>(e.g., those that maximize the </a:t>
                </a:r>
                <a:r>
                  <a:rPr lang="en-US" i="1" dirty="0"/>
                  <a:t>likelihood</a:t>
                </a:r>
                <a:r>
                  <a:rPr lang="en-US" dirty="0"/>
                  <a:t> of </a:t>
                </a:r>
                <a14:m>
                  <m:oMath xmlns:m="http://schemas.openxmlformats.org/officeDocument/2006/math">
                    <m:r>
                      <a:rPr lang="en-US" i="1" dirty="0" smtClean="0">
                        <a:latin typeface="Cambria Math" panose="02040503050406030204" pitchFamily="18" charset="0"/>
                      </a:rPr>
                      <m:t>𝒟</m:t>
                    </m:r>
                  </m:oMath>
                </a14:m>
                <a:r>
                  <a:rPr lang="en-US" dirty="0"/>
                  <a:t>; more on this later)</a:t>
                </a:r>
              </a:p>
              <a:p>
                <a:endParaRPr lang="en-US" dirty="0"/>
              </a:p>
              <a:p>
                <a:r>
                  <a:rPr lang="en-US" dirty="0"/>
                  <a:t>Evaluate performance on a held-out dataset (more on this later)</a:t>
                </a:r>
              </a:p>
              <a:p>
                <a:endParaRPr lang="en-US" dirty="0"/>
              </a:p>
              <a:p>
                <a:r>
                  <a:rPr lang="en-US" dirty="0"/>
                  <a:t>Use the model to predict </a:t>
                </a:r>
                <a14:m>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=1|</m:t>
                    </m:r>
                    <m:r>
                      <a:rPr lang="en-US" b="1" i="1" dirty="0" smtClean="0">
                        <a:latin typeface="Cambria Math" panose="02040503050406030204" pitchFamily="18" charset="0"/>
                      </a:rPr>
                      <m:t>𝒙</m:t>
                    </m:r>
                    <m:r>
                      <a:rPr lang="en-US" i="1" dirty="0" smtClean="0">
                        <a:latin typeface="Cambria Math" panose="02040503050406030204" pitchFamily="18" charset="0"/>
                      </a:rPr>
                      <m:t>)</m:t>
                    </m:r>
                  </m:oMath>
                </a14:m>
                <a:r>
                  <a:rPr lang="en-US" dirty="0"/>
                  <a:t> for new patients that arrive</a:t>
                </a:r>
              </a:p>
            </p:txBody>
          </p:sp>
        </mc:Choice>
        <mc:Fallback xmlns="">
          <p:sp>
            <p:nvSpPr>
              <p:cNvPr id="2" name="Content Placeholder 1">
                <a:extLst>
                  <a:ext uri="{FF2B5EF4-FFF2-40B4-BE49-F238E27FC236}">
                    <a16:creationId xmlns:a16="http://schemas.microsoft.com/office/drawing/2014/main" id="{31FEDE59-5AC7-FF4A-A79D-0E2ADE592CE3}"/>
                  </a:ext>
                </a:extLst>
              </p:cNvPr>
              <p:cNvSpPr>
                <a:spLocks noGrp="1" noRot="1" noChangeAspect="1" noMove="1" noResize="1" noEditPoints="1" noAdjustHandles="1" noChangeArrowheads="1" noChangeShapeType="1" noTextEdit="1"/>
              </p:cNvSpPr>
              <p:nvPr>
                <p:ph idx="1"/>
              </p:nvPr>
            </p:nvSpPr>
            <p:spPr>
              <a:xfrm>
                <a:off x="615757" y="1857983"/>
                <a:ext cx="10960485" cy="4634892"/>
              </a:xfrm>
              <a:blipFill>
                <a:blip r:embed="rId3"/>
                <a:stretch>
                  <a:fillRect l="-1042" t="-2186"/>
                </a:stretch>
              </a:blipFill>
            </p:spPr>
            <p:txBody>
              <a:bodyPr/>
              <a:lstStyle/>
              <a:p>
                <a:r>
                  <a:rPr lang="en-US">
                    <a:noFill/>
                  </a:rPr>
                  <a:t> </a:t>
                </a:r>
              </a:p>
            </p:txBody>
          </p:sp>
        </mc:Fallback>
      </mc:AlternateContent>
      <p:sp>
        <p:nvSpPr>
          <p:cNvPr id="6" name="Title 5">
            <a:extLst>
              <a:ext uri="{FF2B5EF4-FFF2-40B4-BE49-F238E27FC236}">
                <a16:creationId xmlns:a16="http://schemas.microsoft.com/office/drawing/2014/main" id="{6DDAAD81-968D-1DEA-7F79-F350791D7B69}"/>
              </a:ext>
            </a:extLst>
          </p:cNvPr>
          <p:cNvSpPr>
            <a:spLocks noGrp="1"/>
          </p:cNvSpPr>
          <p:nvPr>
            <p:ph type="title"/>
          </p:nvPr>
        </p:nvSpPr>
        <p:spPr/>
        <p:txBody>
          <a:bodyPr/>
          <a:lstStyle/>
          <a:p>
            <a:r>
              <a:rPr lang="en-US" dirty="0"/>
              <a:t>Example: predict ICU mortality</a:t>
            </a:r>
          </a:p>
        </p:txBody>
      </p:sp>
    </p:spTree>
    <p:extLst>
      <p:ext uri="{BB962C8B-B14F-4D97-AF65-F5344CB8AC3E}">
        <p14:creationId xmlns:p14="http://schemas.microsoft.com/office/powerpoint/2010/main" val="1801974671"/>
      </p:ext>
    </p:extLst>
  </p:cSld>
  <p:clrMapOvr>
    <a:masterClrMapping/>
  </p:clrMapOvr>
  <mc:AlternateContent xmlns:mc="http://schemas.openxmlformats.org/markup-compatibility/2006" xmlns:p14="http://schemas.microsoft.com/office/powerpoint/2010/main">
    <mc:Choice Requires="p14">
      <p:transition spd="slow" p14:dur="2000" advTm="34210"/>
    </mc:Choice>
    <mc:Fallback xmlns="">
      <p:transition spd="slow" advTm="3421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456C1-DB99-5A71-628F-4095431ED4D1}"/>
              </a:ext>
            </a:extLst>
          </p:cNvPr>
          <p:cNvSpPr>
            <a:spLocks noGrp="1"/>
          </p:cNvSpPr>
          <p:nvPr>
            <p:ph type="title"/>
          </p:nvPr>
        </p:nvSpPr>
        <p:spPr/>
        <p:txBody>
          <a:bodyPr/>
          <a:lstStyle/>
          <a:p>
            <a:r>
              <a:rPr lang="en-US" dirty="0"/>
              <a:t>Logistic regression yields linear decision boundaries.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B230EE-8554-68C2-5720-61847974D872}"/>
                  </a:ext>
                </a:extLst>
              </p:cNvPr>
              <p:cNvSpPr>
                <a:spLocks noGrp="1"/>
              </p:cNvSpPr>
              <p:nvPr>
                <p:ph idx="1"/>
              </p:nvPr>
            </p:nvSpPr>
            <p:spPr>
              <a:xfrm>
                <a:off x="838200" y="1825625"/>
                <a:ext cx="5008123" cy="4351338"/>
              </a:xfrm>
            </p:spPr>
            <p:txBody>
              <a:bodyPr>
                <a:normAutofit fontScale="92500" lnSpcReduction="10000"/>
              </a:bodyPr>
              <a:lstStyle/>
              <a:p>
                <a:endParaRPr lang="en-US" dirty="0"/>
              </a:p>
              <a:p>
                <a:r>
                  <a:rPr lang="en-US" dirty="0"/>
                  <a:t>Predicted log-odds increase as features move in the direction defined by </a:t>
                </a:r>
                <a14:m>
                  <m:oMath xmlns:m="http://schemas.openxmlformats.org/officeDocument/2006/math">
                    <m:r>
                      <a:rPr lang="en-US" b="1" i="1" dirty="0" smtClean="0">
                        <a:latin typeface="Cambria Math" panose="02040503050406030204" pitchFamily="18" charset="0"/>
                      </a:rPr>
                      <m:t>𝒘</m:t>
                    </m:r>
                  </m:oMath>
                </a14:m>
                <a:endParaRPr lang="en-US" b="1" dirty="0"/>
              </a:p>
              <a:p>
                <a:pPr marL="457200" lvl="1" indent="0">
                  <a:buNone/>
                </a:pPr>
                <a:r>
                  <a:rPr lang="en-US" dirty="0"/>
                  <a:t>(consider the dot-product </a:t>
                </a:r>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𝒘</m:t>
                        </m:r>
                      </m:e>
                      <m:sup>
                        <m:r>
                          <a:rPr lang="en-US" b="1" i="1" dirty="0" smtClean="0">
                            <a:latin typeface="Cambria Math" panose="02040503050406030204" pitchFamily="18" charset="0"/>
                          </a:rPr>
                          <m:t>𝑻</m:t>
                        </m:r>
                      </m:sup>
                    </m:sSup>
                    <m:r>
                      <a:rPr lang="en-US" b="1" i="1" dirty="0" smtClean="0">
                        <a:latin typeface="Cambria Math" panose="02040503050406030204" pitchFamily="18" charset="0"/>
                      </a:rPr>
                      <m:t>𝒙</m:t>
                    </m:r>
                  </m:oMath>
                </a14:m>
                <a:r>
                  <a:rPr lang="en-US" dirty="0"/>
                  <a:t>)</a:t>
                </a:r>
              </a:p>
              <a:p>
                <a:endParaRPr lang="en-US" dirty="0"/>
              </a:p>
              <a:p>
                <a:r>
                  <a:rPr lang="en-US" dirty="0"/>
                  <a:t>Intercept </a:t>
                </a:r>
                <a14:m>
                  <m:oMath xmlns:m="http://schemas.openxmlformats.org/officeDocument/2006/math">
                    <m:r>
                      <a:rPr lang="en-US" i="1" dirty="0" smtClean="0">
                        <a:latin typeface="Cambria Math" panose="02040503050406030204" pitchFamily="18" charset="0"/>
                      </a:rPr>
                      <m:t>𝑏</m:t>
                    </m:r>
                  </m:oMath>
                </a14:m>
                <a:r>
                  <a:rPr lang="en-US" dirty="0"/>
                  <a:t> allows predicted log-odds to be non-zero at the origin</a:t>
                </a:r>
              </a:p>
              <a:p>
                <a:endParaRPr lang="en-US" dirty="0"/>
              </a:p>
              <a:p>
                <a:r>
                  <a:rPr lang="en-US" dirty="0"/>
                  <a:t>Linear decision boundaries aren’t always good enough</a:t>
                </a:r>
              </a:p>
            </p:txBody>
          </p:sp>
        </mc:Choice>
        <mc:Fallback xmlns="">
          <p:sp>
            <p:nvSpPr>
              <p:cNvPr id="3" name="Content Placeholder 2">
                <a:extLst>
                  <a:ext uri="{FF2B5EF4-FFF2-40B4-BE49-F238E27FC236}">
                    <a16:creationId xmlns:a16="http://schemas.microsoft.com/office/drawing/2014/main" id="{26B230EE-8554-68C2-5720-61847974D872}"/>
                  </a:ext>
                </a:extLst>
              </p:cNvPr>
              <p:cNvSpPr>
                <a:spLocks noGrp="1" noRot="1" noChangeAspect="1" noMove="1" noResize="1" noEditPoints="1" noAdjustHandles="1" noChangeArrowheads="1" noChangeShapeType="1" noTextEdit="1"/>
              </p:cNvSpPr>
              <p:nvPr>
                <p:ph idx="1"/>
              </p:nvPr>
            </p:nvSpPr>
            <p:spPr>
              <a:xfrm>
                <a:off x="838200" y="1825625"/>
                <a:ext cx="5008123" cy="4351338"/>
              </a:xfrm>
              <a:blipFill>
                <a:blip r:embed="rId3"/>
                <a:stretch>
                  <a:fillRect l="-2025" r="-1772" b="-1163"/>
                </a:stretch>
              </a:blipFill>
            </p:spPr>
            <p:txBody>
              <a:bodyPr/>
              <a:lstStyle/>
              <a:p>
                <a:r>
                  <a:rPr lang="en-US">
                    <a:noFill/>
                  </a:rPr>
                  <a:t> </a:t>
                </a:r>
              </a:p>
            </p:txBody>
          </p:sp>
        </mc:Fallback>
      </mc:AlternateContent>
      <p:pic>
        <p:nvPicPr>
          <p:cNvPr id="4" name="Content Placeholder 7">
            <a:extLst>
              <a:ext uri="{FF2B5EF4-FFF2-40B4-BE49-F238E27FC236}">
                <a16:creationId xmlns:a16="http://schemas.microsoft.com/office/drawing/2014/main" id="{DBCF19A2-550C-7F9D-7A30-5584928F629B}"/>
              </a:ext>
            </a:extLst>
          </p:cNvPr>
          <p:cNvPicPr>
            <a:picLocks noChangeAspect="1"/>
          </p:cNvPicPr>
          <p:nvPr/>
        </p:nvPicPr>
        <p:blipFill>
          <a:blip r:embed="rId4"/>
          <a:stretch>
            <a:fillRect/>
          </a:stretch>
        </p:blipFill>
        <p:spPr>
          <a:xfrm>
            <a:off x="6859242" y="1941570"/>
            <a:ext cx="4113560" cy="4113560"/>
          </a:xfrm>
          <a:prstGeom prst="rect">
            <a:avLst/>
          </a:prstGeom>
        </p:spPr>
      </p:pic>
      <p:cxnSp>
        <p:nvCxnSpPr>
          <p:cNvPr id="5" name="Straight Arrow Connector 4">
            <a:extLst>
              <a:ext uri="{FF2B5EF4-FFF2-40B4-BE49-F238E27FC236}">
                <a16:creationId xmlns:a16="http://schemas.microsoft.com/office/drawing/2014/main" id="{6F04A08C-6962-7350-7769-7F47BCDFA823}"/>
              </a:ext>
            </a:extLst>
          </p:cNvPr>
          <p:cNvCxnSpPr>
            <a:cxnSpLocks/>
          </p:cNvCxnSpPr>
          <p:nvPr/>
        </p:nvCxnSpPr>
        <p:spPr>
          <a:xfrm flipH="1" flipV="1">
            <a:off x="9830163" y="2644635"/>
            <a:ext cx="399215" cy="9189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6A0D45F-E9D1-FAE2-24D2-C699DF8DB586}"/>
                  </a:ext>
                </a:extLst>
              </p:cNvPr>
              <p:cNvSpPr txBox="1"/>
              <p:nvPr/>
            </p:nvSpPr>
            <p:spPr>
              <a:xfrm>
                <a:off x="10023232" y="2806589"/>
                <a:ext cx="41229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latin typeface="Cambria Math" panose="02040503050406030204" pitchFamily="18" charset="0"/>
                        </a:rPr>
                        <m:t>𝒘</m:t>
                      </m:r>
                    </m:oMath>
                  </m:oMathPara>
                </a14:m>
                <a:endParaRPr lang="en-US" b="1" dirty="0"/>
              </a:p>
            </p:txBody>
          </p:sp>
        </mc:Choice>
        <mc:Fallback xmlns="">
          <p:sp>
            <p:nvSpPr>
              <p:cNvPr id="9" name="TextBox 8">
                <a:extLst>
                  <a:ext uri="{FF2B5EF4-FFF2-40B4-BE49-F238E27FC236}">
                    <a16:creationId xmlns:a16="http://schemas.microsoft.com/office/drawing/2014/main" id="{56A0D45F-E9D1-FAE2-24D2-C699DF8DB586}"/>
                  </a:ext>
                </a:extLst>
              </p:cNvPr>
              <p:cNvSpPr txBox="1">
                <a:spLocks noRot="1" noChangeAspect="1" noMove="1" noResize="1" noEditPoints="1" noAdjustHandles="1" noChangeArrowheads="1" noChangeShapeType="1" noTextEdit="1"/>
              </p:cNvSpPr>
              <p:nvPr/>
            </p:nvSpPr>
            <p:spPr>
              <a:xfrm>
                <a:off x="10023232" y="2806589"/>
                <a:ext cx="412292"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9605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315ED-205A-BB4F-86E2-4BDA73F28C0F}"/>
              </a:ext>
            </a:extLst>
          </p:cNvPr>
          <p:cNvSpPr>
            <a:spLocks noGrp="1"/>
          </p:cNvSpPr>
          <p:nvPr>
            <p:ph type="title"/>
          </p:nvPr>
        </p:nvSpPr>
        <p:spPr>
          <a:xfrm>
            <a:off x="838200" y="365126"/>
            <a:ext cx="10515600" cy="992118"/>
          </a:xfrm>
        </p:spPr>
        <p:txBody>
          <a:bodyPr>
            <a:normAutofit/>
          </a:bodyPr>
          <a:lstStyle/>
          <a:p>
            <a:r>
              <a:rPr lang="en-US" sz="4800" dirty="0"/>
              <a:t>An impossible decision boundary for LR</a:t>
            </a:r>
          </a:p>
        </p:txBody>
      </p:sp>
      <p:pic>
        <p:nvPicPr>
          <p:cNvPr id="5" name="Content Placeholder 5">
            <a:extLst>
              <a:ext uri="{FF2B5EF4-FFF2-40B4-BE49-F238E27FC236}">
                <a16:creationId xmlns:a16="http://schemas.microsoft.com/office/drawing/2014/main" id="{2AD48400-5955-F445-AA34-C5BC496DBA34}"/>
              </a:ext>
            </a:extLst>
          </p:cNvPr>
          <p:cNvPicPr>
            <a:picLocks noChangeAspect="1"/>
          </p:cNvPicPr>
          <p:nvPr/>
        </p:nvPicPr>
        <p:blipFill>
          <a:blip r:embed="rId3"/>
          <a:stretch>
            <a:fillRect/>
          </a:stretch>
        </p:blipFill>
        <p:spPr>
          <a:xfrm>
            <a:off x="6702152" y="1501827"/>
            <a:ext cx="4904944" cy="4904944"/>
          </a:xfrm>
          <a:prstGeom prst="rect">
            <a:avLst/>
          </a:prstGeom>
        </p:spPr>
      </p:pic>
      <p:sp>
        <p:nvSpPr>
          <p:cNvPr id="7" name="TextBox 6">
            <a:extLst>
              <a:ext uri="{FF2B5EF4-FFF2-40B4-BE49-F238E27FC236}">
                <a16:creationId xmlns:a16="http://schemas.microsoft.com/office/drawing/2014/main" id="{CE463494-96A8-C94A-9277-2FA18309646F}"/>
              </a:ext>
            </a:extLst>
          </p:cNvPr>
          <p:cNvSpPr txBox="1"/>
          <p:nvPr/>
        </p:nvSpPr>
        <p:spPr>
          <a:xfrm>
            <a:off x="8098490" y="1417224"/>
            <a:ext cx="2028376" cy="646331"/>
          </a:xfrm>
          <a:prstGeom prst="rect">
            <a:avLst/>
          </a:prstGeom>
          <a:noFill/>
        </p:spPr>
        <p:txBody>
          <a:bodyPr wrap="none" rtlCol="0">
            <a:spAutoFit/>
          </a:bodyPr>
          <a:lstStyle/>
          <a:p>
            <a:pPr algn="ctr"/>
            <a:r>
              <a:rPr lang="en-US" dirty="0"/>
              <a:t>Neural network</a:t>
            </a:r>
          </a:p>
          <a:p>
            <a:pPr algn="ctr"/>
            <a:r>
              <a:rPr lang="en-US" dirty="0"/>
              <a:t>decision boundary</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01C391A9-D746-50B3-05A1-AB611375E2FC}"/>
                  </a:ext>
                </a:extLst>
              </p:cNvPr>
              <p:cNvSpPr>
                <a:spLocks noGrp="1"/>
              </p:cNvSpPr>
              <p:nvPr>
                <p:ph sz="half" idx="1"/>
              </p:nvPr>
            </p:nvSpPr>
            <p:spPr>
              <a:xfrm>
                <a:off x="527187" y="1640264"/>
                <a:ext cx="5378757" cy="4852610"/>
              </a:xfrm>
            </p:spPr>
            <p:txBody>
              <a:bodyPr>
                <a:normAutofit fontScale="92500" lnSpcReduction="10000"/>
              </a:bodyPr>
              <a:lstStyle/>
              <a:p>
                <a:r>
                  <a:rPr lang="en-US" dirty="0"/>
                  <a:t>Suppose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r>
                      <a:rPr lang="en-US" i="1" dirty="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2</m:t>
                        </m:r>
                      </m:sub>
                    </m:sSub>
                  </m:oMath>
                </a14:m>
                <a:r>
                  <a:rPr lang="en-US" dirty="0"/>
                  <a:t> are biomarker values</a:t>
                </a:r>
              </a:p>
              <a:p>
                <a:endParaRPr lang="en-US" dirty="0"/>
              </a:p>
              <a:p>
                <a:r>
                  <a:rPr lang="en-US" dirty="0"/>
                  <a:t>After biopsy:</a:t>
                </a:r>
              </a:p>
              <a:p>
                <a:pPr lvl="1"/>
                <a:r>
                  <a:rPr lang="en-US" dirty="0"/>
                  <a:t>Blue patients: benign</a:t>
                </a:r>
              </a:p>
              <a:p>
                <a:pPr lvl="1"/>
                <a:r>
                  <a:rPr lang="en-US" dirty="0"/>
                  <a:t>Red patients: malignant</a:t>
                </a:r>
              </a:p>
              <a:p>
                <a:endParaRPr lang="en-US" dirty="0"/>
              </a:p>
              <a:p>
                <a:r>
                  <a:rPr lang="en-US" dirty="0"/>
                  <a:t>Why can’t logistic regression yield this decision boundary?</a:t>
                </a:r>
              </a:p>
              <a:p>
                <a:endParaRPr lang="en-US" dirty="0"/>
              </a:p>
              <a:p>
                <a:r>
                  <a:rPr lang="en-US" dirty="0"/>
                  <a:t>Consider: how does increasing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oMath>
                </a14:m>
                <a:r>
                  <a:rPr lang="en-US" dirty="0"/>
                  <a:t> change the predicted log-odds?</a:t>
                </a:r>
              </a:p>
            </p:txBody>
          </p:sp>
        </mc:Choice>
        <mc:Fallback xmlns="">
          <p:sp>
            <p:nvSpPr>
              <p:cNvPr id="9" name="Content Placeholder 2">
                <a:extLst>
                  <a:ext uri="{FF2B5EF4-FFF2-40B4-BE49-F238E27FC236}">
                    <a16:creationId xmlns:a16="http://schemas.microsoft.com/office/drawing/2014/main" id="{01C391A9-D746-50B3-05A1-AB611375E2FC}"/>
                  </a:ext>
                </a:extLst>
              </p:cNvPr>
              <p:cNvSpPr>
                <a:spLocks noGrp="1" noRot="1" noChangeAspect="1" noMove="1" noResize="1" noEditPoints="1" noAdjustHandles="1" noChangeArrowheads="1" noChangeShapeType="1" noTextEdit="1"/>
              </p:cNvSpPr>
              <p:nvPr>
                <p:ph sz="half" idx="1"/>
              </p:nvPr>
            </p:nvSpPr>
            <p:spPr>
              <a:xfrm>
                <a:off x="527187" y="1640264"/>
                <a:ext cx="5378757" cy="4852610"/>
              </a:xfrm>
              <a:blipFill>
                <a:blip r:embed="rId4"/>
                <a:stretch>
                  <a:fillRect l="-1647" t="-2350"/>
                </a:stretch>
              </a:blipFill>
            </p:spPr>
            <p:txBody>
              <a:bodyPr/>
              <a:lstStyle/>
              <a:p>
                <a:r>
                  <a:rPr lang="en-US">
                    <a:noFill/>
                  </a:rPr>
                  <a:t> </a:t>
                </a:r>
              </a:p>
            </p:txBody>
          </p:sp>
        </mc:Fallback>
      </mc:AlternateContent>
    </p:spTree>
    <p:extLst>
      <p:ext uri="{BB962C8B-B14F-4D97-AF65-F5344CB8AC3E}">
        <p14:creationId xmlns:p14="http://schemas.microsoft.com/office/powerpoint/2010/main" val="1301211471"/>
      </p:ext>
    </p:extLst>
  </p:cSld>
  <p:clrMapOvr>
    <a:masterClrMapping/>
  </p:clrMapOvr>
  <mc:AlternateContent xmlns:mc="http://schemas.openxmlformats.org/markup-compatibility/2006" xmlns:p14="http://schemas.microsoft.com/office/powerpoint/2010/main">
    <mc:Choice Requires="p14">
      <p:transition spd="slow" p14:dur="2000" advTm="26070"/>
    </mc:Choice>
    <mc:Fallback xmlns="">
      <p:transition spd="slow" advTm="2607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7E12C-70A9-5E4E-842C-EB818B723D7F}"/>
              </a:ext>
            </a:extLst>
          </p:cNvPr>
          <p:cNvSpPr>
            <a:spLocks noGrp="1"/>
          </p:cNvSpPr>
          <p:nvPr>
            <p:ph type="title"/>
          </p:nvPr>
        </p:nvSpPr>
        <p:spPr/>
        <p:txBody>
          <a:bodyPr>
            <a:normAutofit/>
          </a:bodyPr>
          <a:lstStyle/>
          <a:p>
            <a:r>
              <a:rPr lang="en-US" sz="4000" dirty="0"/>
              <a:t>Recognizing Handwritten Digits</a:t>
            </a:r>
          </a:p>
        </p:txBody>
      </p:sp>
      <p:sp>
        <p:nvSpPr>
          <p:cNvPr id="3" name="Text Placeholder 2">
            <a:extLst>
              <a:ext uri="{FF2B5EF4-FFF2-40B4-BE49-F238E27FC236}">
                <a16:creationId xmlns:a16="http://schemas.microsoft.com/office/drawing/2014/main" id="{6336BFCA-E9C6-A34A-97B4-C925B1A01FDB}"/>
              </a:ext>
            </a:extLst>
          </p:cNvPr>
          <p:cNvSpPr>
            <a:spLocks noGrp="1"/>
          </p:cNvSpPr>
          <p:nvPr>
            <p:ph type="body" idx="1"/>
          </p:nvPr>
        </p:nvSpPr>
        <p:spPr/>
        <p:txBody>
          <a:bodyPr/>
          <a:lstStyle/>
          <a:p>
            <a:r>
              <a:rPr lang="en-US" dirty="0"/>
              <a:t>A visual example</a:t>
            </a:r>
          </a:p>
        </p:txBody>
      </p:sp>
    </p:spTree>
    <p:extLst>
      <p:ext uri="{BB962C8B-B14F-4D97-AF65-F5344CB8AC3E}">
        <p14:creationId xmlns:p14="http://schemas.microsoft.com/office/powerpoint/2010/main" val="3341582211"/>
      </p:ext>
    </p:extLst>
  </p:cSld>
  <p:clrMapOvr>
    <a:masterClrMapping/>
  </p:clrMapOvr>
  <mc:AlternateContent xmlns:mc="http://schemas.openxmlformats.org/markup-compatibility/2006" xmlns:p14="http://schemas.microsoft.com/office/powerpoint/2010/main">
    <mc:Choice Requires="p14">
      <p:transition spd="slow" p14:dur="2000" advTm="10526"/>
    </mc:Choice>
    <mc:Fallback xmlns="">
      <p:transition spd="slow" advTm="1052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B94FF-C574-7648-B7A1-0FE3B1DEFAD0}"/>
              </a:ext>
            </a:extLst>
          </p:cNvPr>
          <p:cNvSpPr>
            <a:spLocks noGrp="1"/>
          </p:cNvSpPr>
          <p:nvPr>
            <p:ph type="title"/>
          </p:nvPr>
        </p:nvSpPr>
        <p:spPr/>
        <p:txBody>
          <a:bodyPr>
            <a:normAutofit/>
          </a:bodyPr>
          <a:lstStyle/>
          <a:p>
            <a:r>
              <a:rPr lang="en-US" sz="4267" dirty="0"/>
              <a:t>MNIST: Identify handwritten digits</a:t>
            </a:r>
          </a:p>
        </p:txBody>
      </p:sp>
      <p:pic>
        <p:nvPicPr>
          <p:cNvPr id="6" name="Content Placeholder 5">
            <a:extLst>
              <a:ext uri="{FF2B5EF4-FFF2-40B4-BE49-F238E27FC236}">
                <a16:creationId xmlns:a16="http://schemas.microsoft.com/office/drawing/2014/main" id="{695618D1-1E60-2E46-A8A1-89611CDEDC67}"/>
              </a:ext>
            </a:extLst>
          </p:cNvPr>
          <p:cNvPicPr>
            <a:picLocks noGrp="1" noChangeAspect="1"/>
          </p:cNvPicPr>
          <p:nvPr>
            <p:ph sz="half" idx="2"/>
          </p:nvPr>
        </p:nvPicPr>
        <p:blipFill>
          <a:blip r:embed="rId3"/>
          <a:stretch>
            <a:fillRect/>
          </a:stretch>
        </p:blipFill>
        <p:spPr>
          <a:xfrm>
            <a:off x="2310956" y="1892806"/>
            <a:ext cx="7570087" cy="4313439"/>
          </a:xfrm>
        </p:spPr>
      </p:pic>
    </p:spTree>
    <p:extLst>
      <p:ext uri="{BB962C8B-B14F-4D97-AF65-F5344CB8AC3E}">
        <p14:creationId xmlns:p14="http://schemas.microsoft.com/office/powerpoint/2010/main" val="618699844"/>
      </p:ext>
    </p:extLst>
  </p:cSld>
  <p:clrMapOvr>
    <a:masterClrMapping/>
  </p:clrMapOvr>
  <mc:AlternateContent xmlns:mc="http://schemas.openxmlformats.org/markup-compatibility/2006" xmlns:p14="http://schemas.microsoft.com/office/powerpoint/2010/main">
    <mc:Choice Requires="p14">
      <p:transition spd="slow" p14:dur="2000" advTm="45474"/>
    </mc:Choice>
    <mc:Fallback xmlns="">
      <p:transition spd="slow" advTm="4547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55A-4125-E64D-A8D0-35AB71962A73}"/>
              </a:ext>
            </a:extLst>
          </p:cNvPr>
          <p:cNvSpPr>
            <a:spLocks noGrp="1"/>
          </p:cNvSpPr>
          <p:nvPr>
            <p:ph type="title"/>
          </p:nvPr>
        </p:nvSpPr>
        <p:spPr/>
        <p:txBody>
          <a:bodyPr>
            <a:normAutofit/>
          </a:bodyPr>
          <a:lstStyle/>
          <a:p>
            <a:r>
              <a:rPr lang="en-US" sz="4267" dirty="0"/>
              <a:t>To use logistic regression, we must convert pixels to numbers, then vectorize</a:t>
            </a:r>
          </a:p>
        </p:txBody>
      </p:sp>
      <p:cxnSp>
        <p:nvCxnSpPr>
          <p:cNvPr id="23" name="Straight Arrow Connector 22">
            <a:extLst>
              <a:ext uri="{FF2B5EF4-FFF2-40B4-BE49-F238E27FC236}">
                <a16:creationId xmlns:a16="http://schemas.microsoft.com/office/drawing/2014/main" id="{E2DAB35F-B4E4-F348-843F-4705B03ED478}"/>
              </a:ext>
            </a:extLst>
          </p:cNvPr>
          <p:cNvCxnSpPr>
            <a:cxnSpLocks/>
          </p:cNvCxnSpPr>
          <p:nvPr/>
        </p:nvCxnSpPr>
        <p:spPr>
          <a:xfrm>
            <a:off x="7187028" y="4106429"/>
            <a:ext cx="241592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FBEC796-9D37-DB49-93B3-27131B8C5779}"/>
              </a:ext>
            </a:extLst>
          </p:cNvPr>
          <p:cNvSpPr txBox="1"/>
          <p:nvPr/>
        </p:nvSpPr>
        <p:spPr>
          <a:xfrm>
            <a:off x="7431970" y="3131764"/>
            <a:ext cx="1926041" cy="903581"/>
          </a:xfrm>
          <a:prstGeom prst="rect">
            <a:avLst/>
          </a:prstGeom>
          <a:noFill/>
        </p:spPr>
        <p:txBody>
          <a:bodyPr wrap="none" rtlCol="0">
            <a:spAutoFit/>
          </a:bodyPr>
          <a:lstStyle/>
          <a:p>
            <a:pPr algn="ctr"/>
            <a:r>
              <a:rPr lang="en-US" sz="2636" dirty="0"/>
              <a:t>vectorize</a:t>
            </a:r>
          </a:p>
          <a:p>
            <a:pPr algn="ctr"/>
            <a:r>
              <a:rPr lang="en-US" sz="2636" dirty="0"/>
              <a:t>(i.e., flatten)</a:t>
            </a:r>
          </a:p>
        </p:txBody>
      </p:sp>
      <p:pic>
        <p:nvPicPr>
          <p:cNvPr id="42" name="Picture 41">
            <a:extLst>
              <a:ext uri="{FF2B5EF4-FFF2-40B4-BE49-F238E27FC236}">
                <a16:creationId xmlns:a16="http://schemas.microsoft.com/office/drawing/2014/main" id="{40239B7C-F154-7FBE-E994-ED2F7714A1BA}"/>
              </a:ext>
            </a:extLst>
          </p:cNvPr>
          <p:cNvPicPr>
            <a:picLocks noChangeAspect="1"/>
          </p:cNvPicPr>
          <p:nvPr/>
        </p:nvPicPr>
        <p:blipFill>
          <a:blip r:embed="rId3"/>
          <a:stretch>
            <a:fillRect/>
          </a:stretch>
        </p:blipFill>
        <p:spPr>
          <a:xfrm>
            <a:off x="232152" y="2733215"/>
            <a:ext cx="2746428" cy="2746428"/>
          </a:xfrm>
          <a:prstGeom prst="rect">
            <a:avLst/>
          </a:prstGeom>
        </p:spPr>
      </p:pic>
      <p:pic>
        <p:nvPicPr>
          <p:cNvPr id="43" name="Picture 42">
            <a:extLst>
              <a:ext uri="{FF2B5EF4-FFF2-40B4-BE49-F238E27FC236}">
                <a16:creationId xmlns:a16="http://schemas.microsoft.com/office/drawing/2014/main" id="{98494868-AA69-7693-08CE-008EDDE1A1B8}"/>
              </a:ext>
            </a:extLst>
          </p:cNvPr>
          <p:cNvPicPr>
            <a:picLocks noChangeAspect="1"/>
          </p:cNvPicPr>
          <p:nvPr/>
        </p:nvPicPr>
        <p:blipFill>
          <a:blip r:embed="rId4"/>
          <a:stretch>
            <a:fillRect/>
          </a:stretch>
        </p:blipFill>
        <p:spPr>
          <a:xfrm>
            <a:off x="4390128" y="2733215"/>
            <a:ext cx="2746428" cy="2746428"/>
          </a:xfrm>
          <a:prstGeom prst="rect">
            <a:avLst/>
          </a:prstGeom>
        </p:spPr>
      </p:pic>
      <p:grpSp>
        <p:nvGrpSpPr>
          <p:cNvPr id="46" name="Group 45">
            <a:extLst>
              <a:ext uri="{FF2B5EF4-FFF2-40B4-BE49-F238E27FC236}">
                <a16:creationId xmlns:a16="http://schemas.microsoft.com/office/drawing/2014/main" id="{EE025B4B-8E70-8493-6B21-B046A469ADFF}"/>
              </a:ext>
            </a:extLst>
          </p:cNvPr>
          <p:cNvGrpSpPr/>
          <p:nvPr/>
        </p:nvGrpSpPr>
        <p:grpSpPr>
          <a:xfrm>
            <a:off x="9948840" y="1837686"/>
            <a:ext cx="393701" cy="4505890"/>
            <a:chOff x="9948840" y="1837686"/>
            <a:chExt cx="393701" cy="4505890"/>
          </a:xfrm>
        </p:grpSpPr>
        <p:pic>
          <p:nvPicPr>
            <p:cNvPr id="44" name="Picture 43">
              <a:extLst>
                <a:ext uri="{FF2B5EF4-FFF2-40B4-BE49-F238E27FC236}">
                  <a16:creationId xmlns:a16="http://schemas.microsoft.com/office/drawing/2014/main" id="{0878CC23-C67A-A440-DF85-FFA757EAC5FB}"/>
                </a:ext>
              </a:extLst>
            </p:cNvPr>
            <p:cNvPicPr>
              <a:picLocks noChangeAspect="1"/>
            </p:cNvPicPr>
            <p:nvPr/>
          </p:nvPicPr>
          <p:blipFill>
            <a:blip r:embed="rId5"/>
            <a:stretch>
              <a:fillRect/>
            </a:stretch>
          </p:blipFill>
          <p:spPr>
            <a:xfrm rot="5400000">
              <a:off x="8851612" y="2934914"/>
              <a:ext cx="2588157" cy="393701"/>
            </a:xfrm>
            <a:prstGeom prst="rect">
              <a:avLst/>
            </a:prstGeom>
          </p:spPr>
        </p:pic>
        <p:pic>
          <p:nvPicPr>
            <p:cNvPr id="45" name="Picture 44">
              <a:extLst>
                <a:ext uri="{FF2B5EF4-FFF2-40B4-BE49-F238E27FC236}">
                  <a16:creationId xmlns:a16="http://schemas.microsoft.com/office/drawing/2014/main" id="{51F38C94-6D06-ECD7-7099-4FEF0EC7B4D9}"/>
                </a:ext>
              </a:extLst>
            </p:cNvPr>
            <p:cNvPicPr>
              <a:picLocks noChangeAspect="1"/>
            </p:cNvPicPr>
            <p:nvPr/>
          </p:nvPicPr>
          <p:blipFill>
            <a:blip r:embed="rId5"/>
            <a:stretch>
              <a:fillRect/>
            </a:stretch>
          </p:blipFill>
          <p:spPr>
            <a:xfrm rot="5400000">
              <a:off x="8851612" y="4852647"/>
              <a:ext cx="2588157" cy="393701"/>
            </a:xfrm>
            <a:prstGeom prst="rect">
              <a:avLst/>
            </a:prstGeom>
          </p:spPr>
        </p:pic>
      </p:grpSp>
      <p:cxnSp>
        <p:nvCxnSpPr>
          <p:cNvPr id="47" name="Straight Arrow Connector 46">
            <a:extLst>
              <a:ext uri="{FF2B5EF4-FFF2-40B4-BE49-F238E27FC236}">
                <a16:creationId xmlns:a16="http://schemas.microsoft.com/office/drawing/2014/main" id="{299A774B-AB28-0BFC-2919-ECF2700FCFC4}"/>
              </a:ext>
            </a:extLst>
          </p:cNvPr>
          <p:cNvCxnSpPr>
            <a:cxnSpLocks/>
          </p:cNvCxnSpPr>
          <p:nvPr/>
        </p:nvCxnSpPr>
        <p:spPr>
          <a:xfrm>
            <a:off x="2863411" y="4106429"/>
            <a:ext cx="164049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EAD067AB-FE88-968B-B47F-FF908AFEE73F}"/>
              </a:ext>
            </a:extLst>
          </p:cNvPr>
          <p:cNvSpPr txBox="1"/>
          <p:nvPr/>
        </p:nvSpPr>
        <p:spPr>
          <a:xfrm>
            <a:off x="2892410" y="3131764"/>
            <a:ext cx="1389419" cy="903581"/>
          </a:xfrm>
          <a:prstGeom prst="rect">
            <a:avLst/>
          </a:prstGeom>
          <a:noFill/>
        </p:spPr>
        <p:txBody>
          <a:bodyPr wrap="none" rtlCol="0">
            <a:spAutoFit/>
          </a:bodyPr>
          <a:lstStyle/>
          <a:p>
            <a:pPr algn="ctr"/>
            <a:r>
              <a:rPr lang="en-US" sz="2636" dirty="0"/>
              <a:t>convert</a:t>
            </a:r>
          </a:p>
          <a:p>
            <a:pPr algn="ctr"/>
            <a:r>
              <a:rPr lang="en-US" sz="2636" dirty="0"/>
              <a:t>to pixels</a:t>
            </a:r>
          </a:p>
        </p:txBody>
      </p:sp>
    </p:spTree>
    <p:extLst>
      <p:ext uri="{BB962C8B-B14F-4D97-AF65-F5344CB8AC3E}">
        <p14:creationId xmlns:p14="http://schemas.microsoft.com/office/powerpoint/2010/main" val="461287812"/>
      </p:ext>
    </p:extLst>
  </p:cSld>
  <p:clrMapOvr>
    <a:masterClrMapping/>
  </p:clrMapOvr>
  <mc:AlternateContent xmlns:mc="http://schemas.openxmlformats.org/markup-compatibility/2006" xmlns:p14="http://schemas.microsoft.com/office/powerpoint/2010/main">
    <mc:Choice Requires="p14">
      <p:transition spd="slow" p14:dur="2000" advTm="42366"/>
    </mc:Choice>
    <mc:Fallback xmlns="">
      <p:transition spd="slow" advTm="4236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4E1DC-97CC-074F-9541-014A40D96086}"/>
              </a:ext>
            </a:extLst>
          </p:cNvPr>
          <p:cNvSpPr>
            <a:spLocks noGrp="1"/>
          </p:cNvSpPr>
          <p:nvPr>
            <p:ph type="title"/>
          </p:nvPr>
        </p:nvSpPr>
        <p:spPr/>
        <p:txBody>
          <a:bodyPr>
            <a:normAutofit/>
          </a:bodyPr>
          <a:lstStyle/>
          <a:p>
            <a:r>
              <a:rPr lang="en-US" sz="4267" dirty="0"/>
              <a:t>Start With The Binary Case</a:t>
            </a:r>
          </a:p>
        </p:txBody>
      </p:sp>
      <p:sp>
        <p:nvSpPr>
          <p:cNvPr id="6" name="Text Placeholder 5">
            <a:extLst>
              <a:ext uri="{FF2B5EF4-FFF2-40B4-BE49-F238E27FC236}">
                <a16:creationId xmlns:a16="http://schemas.microsoft.com/office/drawing/2014/main" id="{C5B1A325-991A-7545-AFBA-F0B67373F43C}"/>
              </a:ext>
            </a:extLst>
          </p:cNvPr>
          <p:cNvSpPr>
            <a:spLocks noGrp="1"/>
          </p:cNvSpPr>
          <p:nvPr>
            <p:ph type="body" idx="1"/>
          </p:nvPr>
        </p:nvSpPr>
        <p:spPr/>
        <p:txBody>
          <a:bodyPr/>
          <a:lstStyle/>
          <a:p>
            <a:r>
              <a:rPr lang="en-US" dirty="0"/>
              <a:t>Zeros</a:t>
            </a:r>
          </a:p>
        </p:txBody>
      </p:sp>
      <p:sp>
        <p:nvSpPr>
          <p:cNvPr id="8" name="Text Placeholder 7">
            <a:extLst>
              <a:ext uri="{FF2B5EF4-FFF2-40B4-BE49-F238E27FC236}">
                <a16:creationId xmlns:a16="http://schemas.microsoft.com/office/drawing/2014/main" id="{F082F789-A0AA-B140-B3E6-ECB1706DAD61}"/>
              </a:ext>
            </a:extLst>
          </p:cNvPr>
          <p:cNvSpPr>
            <a:spLocks noGrp="1"/>
          </p:cNvSpPr>
          <p:nvPr>
            <p:ph type="body" sz="quarter" idx="3"/>
          </p:nvPr>
        </p:nvSpPr>
        <p:spPr>
          <a:xfrm>
            <a:off x="5364805" y="1639879"/>
            <a:ext cx="5183188" cy="823912"/>
          </a:xfrm>
        </p:spPr>
        <p:txBody>
          <a:bodyPr/>
          <a:lstStyle/>
          <a:p>
            <a:r>
              <a:rPr lang="en-US" dirty="0"/>
              <a:t>Ones</a:t>
            </a:r>
          </a:p>
        </p:txBody>
      </p:sp>
      <p:pic>
        <p:nvPicPr>
          <p:cNvPr id="11" name="Picture 10">
            <a:extLst>
              <a:ext uri="{FF2B5EF4-FFF2-40B4-BE49-F238E27FC236}">
                <a16:creationId xmlns:a16="http://schemas.microsoft.com/office/drawing/2014/main" id="{8AAC3611-4CF8-3144-BFCF-E5B985482771}"/>
              </a:ext>
            </a:extLst>
          </p:cNvPr>
          <p:cNvPicPr>
            <a:picLocks noChangeAspect="1"/>
          </p:cNvPicPr>
          <p:nvPr/>
        </p:nvPicPr>
        <p:blipFill>
          <a:blip r:embed="rId3"/>
          <a:stretch>
            <a:fillRect/>
          </a:stretch>
        </p:blipFill>
        <p:spPr>
          <a:xfrm>
            <a:off x="6330766" y="1923034"/>
            <a:ext cx="2285965" cy="2285965"/>
          </a:xfrm>
          <a:prstGeom prst="rect">
            <a:avLst/>
          </a:prstGeom>
        </p:spPr>
      </p:pic>
      <p:pic>
        <p:nvPicPr>
          <p:cNvPr id="13" name="Picture 12">
            <a:extLst>
              <a:ext uri="{FF2B5EF4-FFF2-40B4-BE49-F238E27FC236}">
                <a16:creationId xmlns:a16="http://schemas.microsoft.com/office/drawing/2014/main" id="{1927B666-4311-524E-A6FF-D95B18037652}"/>
              </a:ext>
            </a:extLst>
          </p:cNvPr>
          <p:cNvPicPr>
            <a:picLocks noChangeAspect="1"/>
          </p:cNvPicPr>
          <p:nvPr/>
        </p:nvPicPr>
        <p:blipFill>
          <a:blip r:embed="rId4"/>
          <a:stretch>
            <a:fillRect/>
          </a:stretch>
        </p:blipFill>
        <p:spPr>
          <a:xfrm>
            <a:off x="7721880" y="4060806"/>
            <a:ext cx="2325745" cy="2325745"/>
          </a:xfrm>
          <a:prstGeom prst="rect">
            <a:avLst/>
          </a:prstGeom>
        </p:spPr>
      </p:pic>
      <p:pic>
        <p:nvPicPr>
          <p:cNvPr id="15" name="Picture 14">
            <a:extLst>
              <a:ext uri="{FF2B5EF4-FFF2-40B4-BE49-F238E27FC236}">
                <a16:creationId xmlns:a16="http://schemas.microsoft.com/office/drawing/2014/main" id="{111C1AB7-83E3-0140-9B18-E59A6A0E04DF}"/>
              </a:ext>
            </a:extLst>
          </p:cNvPr>
          <p:cNvPicPr>
            <a:picLocks noChangeAspect="1"/>
          </p:cNvPicPr>
          <p:nvPr/>
        </p:nvPicPr>
        <p:blipFill>
          <a:blip r:embed="rId5"/>
          <a:stretch>
            <a:fillRect/>
          </a:stretch>
        </p:blipFill>
        <p:spPr>
          <a:xfrm>
            <a:off x="316983" y="3691563"/>
            <a:ext cx="2435664" cy="2435664"/>
          </a:xfrm>
          <a:prstGeom prst="rect">
            <a:avLst/>
          </a:prstGeom>
        </p:spPr>
      </p:pic>
      <p:pic>
        <p:nvPicPr>
          <p:cNvPr id="17" name="Picture 16">
            <a:extLst>
              <a:ext uri="{FF2B5EF4-FFF2-40B4-BE49-F238E27FC236}">
                <a16:creationId xmlns:a16="http://schemas.microsoft.com/office/drawing/2014/main" id="{BE8C289E-6739-E34B-8165-6BA86EA057AF}"/>
              </a:ext>
            </a:extLst>
          </p:cNvPr>
          <p:cNvPicPr>
            <a:picLocks noChangeAspect="1"/>
          </p:cNvPicPr>
          <p:nvPr/>
        </p:nvPicPr>
        <p:blipFill>
          <a:blip r:embed="rId6"/>
          <a:stretch>
            <a:fillRect/>
          </a:stretch>
        </p:blipFill>
        <p:spPr>
          <a:xfrm>
            <a:off x="1800101" y="1702351"/>
            <a:ext cx="2329763" cy="2329763"/>
          </a:xfrm>
          <a:prstGeom prst="rect">
            <a:avLst/>
          </a:prstGeom>
        </p:spPr>
      </p:pic>
      <p:pic>
        <p:nvPicPr>
          <p:cNvPr id="19" name="Picture 18">
            <a:extLst>
              <a:ext uri="{FF2B5EF4-FFF2-40B4-BE49-F238E27FC236}">
                <a16:creationId xmlns:a16="http://schemas.microsoft.com/office/drawing/2014/main" id="{CCC0ED04-90BE-0D4F-B554-9A47C90481E7}"/>
              </a:ext>
            </a:extLst>
          </p:cNvPr>
          <p:cNvPicPr>
            <a:picLocks noChangeAspect="1"/>
          </p:cNvPicPr>
          <p:nvPr/>
        </p:nvPicPr>
        <p:blipFill>
          <a:blip r:embed="rId7"/>
          <a:stretch>
            <a:fillRect/>
          </a:stretch>
        </p:blipFill>
        <p:spPr>
          <a:xfrm>
            <a:off x="8754234" y="1847563"/>
            <a:ext cx="2361437" cy="2361437"/>
          </a:xfrm>
          <a:prstGeom prst="rect">
            <a:avLst/>
          </a:prstGeom>
        </p:spPr>
      </p:pic>
      <p:pic>
        <p:nvPicPr>
          <p:cNvPr id="21" name="Picture 20">
            <a:extLst>
              <a:ext uri="{FF2B5EF4-FFF2-40B4-BE49-F238E27FC236}">
                <a16:creationId xmlns:a16="http://schemas.microsoft.com/office/drawing/2014/main" id="{A6F8AE66-9166-9C4F-8BE0-BB17E2092C32}"/>
              </a:ext>
            </a:extLst>
          </p:cNvPr>
          <p:cNvPicPr>
            <a:picLocks noChangeAspect="1"/>
          </p:cNvPicPr>
          <p:nvPr/>
        </p:nvPicPr>
        <p:blipFill>
          <a:blip r:embed="rId8"/>
          <a:stretch>
            <a:fillRect/>
          </a:stretch>
        </p:blipFill>
        <p:spPr>
          <a:xfrm>
            <a:off x="2846484" y="3891443"/>
            <a:ext cx="2376453" cy="2376453"/>
          </a:xfrm>
          <a:prstGeom prst="rect">
            <a:avLst/>
          </a:prstGeom>
        </p:spPr>
      </p:pic>
    </p:spTree>
    <p:extLst>
      <p:ext uri="{BB962C8B-B14F-4D97-AF65-F5344CB8AC3E}">
        <p14:creationId xmlns:p14="http://schemas.microsoft.com/office/powerpoint/2010/main" val="2745696417"/>
      </p:ext>
    </p:extLst>
  </p:cSld>
  <p:clrMapOvr>
    <a:masterClrMapping/>
  </p:clrMapOvr>
  <mc:AlternateContent xmlns:mc="http://schemas.openxmlformats.org/markup-compatibility/2006" xmlns:p14="http://schemas.microsoft.com/office/powerpoint/2010/main">
    <mc:Choice Requires="p14">
      <p:transition spd="slow" p14:dur="2000" advTm="12121"/>
    </mc:Choice>
    <mc:Fallback xmlns="">
      <p:transition spd="slow" advTm="1212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F7D02B4-BC9F-9D4C-B5FB-DC6D0039E523}"/>
                  </a:ext>
                </a:extLst>
              </p:cNvPr>
              <p:cNvSpPr>
                <a:spLocks noGrp="1"/>
              </p:cNvSpPr>
              <p:nvPr>
                <p:ph type="title"/>
              </p:nvPr>
            </p:nvSpPr>
            <p:spPr/>
            <p:txBody>
              <a:bodyPr>
                <a:normAutofit/>
              </a:bodyPr>
              <a:lstStyle/>
              <a:p>
                <a:r>
                  <a:rPr lang="en-US" sz="4267" dirty="0"/>
                  <a:t>We may view the learned </a:t>
                </a:r>
                <a14:m>
                  <m:oMath xmlns:m="http://schemas.openxmlformats.org/officeDocument/2006/math">
                    <m:r>
                      <a:rPr lang="en-US" sz="4267" i="1" dirty="0" smtClean="0">
                        <a:latin typeface="Cambria Math" panose="02040503050406030204" pitchFamily="18" charset="0"/>
                      </a:rPr>
                      <m:t>𝑤</m:t>
                    </m:r>
                  </m:oMath>
                </a14:m>
                <a:r>
                  <a:rPr lang="en-US" sz="4267" dirty="0"/>
                  <a:t> as a </a:t>
                </a:r>
                <a:r>
                  <a:rPr lang="en-US" sz="4267" i="1" dirty="0"/>
                  <a:t>filter</a:t>
                </a:r>
              </a:p>
            </p:txBody>
          </p:sp>
        </mc:Choice>
        <mc:Fallback xmlns="">
          <p:sp>
            <p:nvSpPr>
              <p:cNvPr id="2" name="Title 1">
                <a:extLst>
                  <a:ext uri="{FF2B5EF4-FFF2-40B4-BE49-F238E27FC236}">
                    <a16:creationId xmlns:a16="http://schemas.microsoft.com/office/drawing/2014/main" id="{BF7D02B4-BC9F-9D4C-B5FB-DC6D0039E523}"/>
                  </a:ext>
                </a:extLst>
              </p:cNvPr>
              <p:cNvSpPr>
                <a:spLocks noGrp="1" noRot="1" noChangeAspect="1" noMove="1" noResize="1" noEditPoints="1" noAdjustHandles="1" noChangeArrowheads="1" noChangeShapeType="1" noTextEdit="1"/>
              </p:cNvSpPr>
              <p:nvPr>
                <p:ph type="title"/>
              </p:nvPr>
            </p:nvSpPr>
            <p:spPr>
              <a:blipFill>
                <a:blip r:embed="rId3"/>
                <a:stretch>
                  <a:fillRect l="-229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6B3D945-37F3-D54A-95AB-B4A7CDBCEA96}"/>
              </a:ext>
            </a:extLst>
          </p:cNvPr>
          <p:cNvPicPr>
            <a:picLocks noChangeAspect="1"/>
          </p:cNvPicPr>
          <p:nvPr/>
        </p:nvPicPr>
        <p:blipFill>
          <a:blip r:embed="rId4"/>
          <a:stretch>
            <a:fillRect/>
          </a:stretch>
        </p:blipFill>
        <p:spPr>
          <a:xfrm>
            <a:off x="1813881" y="1729096"/>
            <a:ext cx="4077352" cy="407735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69B2340-F27B-414E-AB4E-89A6FFA4DA32}"/>
                  </a:ext>
                </a:extLst>
              </p:cNvPr>
              <p:cNvSpPr txBox="1"/>
              <p:nvPr/>
            </p:nvSpPr>
            <p:spPr>
              <a:xfrm>
                <a:off x="996977" y="3591728"/>
                <a:ext cx="10024235" cy="8302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795" i="1" smtClean="0">
                          <a:latin typeface="Cambria Math" panose="02040503050406030204" pitchFamily="18" charset="0"/>
                        </a:rPr>
                        <m:t>𝜎</m:t>
                      </m:r>
                      <m:d>
                        <m:dPr>
                          <m:ctrlPr>
                            <a:rPr lang="en-US" sz="4795" i="1">
                              <a:latin typeface="Cambria Math" panose="02040503050406030204" pitchFamily="18" charset="0"/>
                            </a:rPr>
                          </m:ctrlPr>
                        </m:dPr>
                        <m:e>
                          <m:r>
                            <a:rPr lang="en-US" sz="4795" i="1" smtClean="0">
                              <a:latin typeface="Cambria Math" panose="02040503050406030204" pitchFamily="18" charset="0"/>
                            </a:rPr>
                            <m:t>                         </m:t>
                          </m:r>
                          <m:r>
                            <a:rPr lang="en-US" sz="4795" b="0" i="1" smtClean="0">
                              <a:latin typeface="Cambria Math" panose="02040503050406030204" pitchFamily="18" charset="0"/>
                            </a:rPr>
                            <m:t>   </m:t>
                          </m:r>
                          <m:r>
                            <a:rPr lang="en-US" sz="4795" i="1" smtClean="0">
                              <a:latin typeface="Cambria Math" panose="02040503050406030204" pitchFamily="18" charset="0"/>
                            </a:rPr>
                            <m:t>                                    </m:t>
                          </m:r>
                        </m:e>
                      </m:d>
                    </m:oMath>
                  </m:oMathPara>
                </a14:m>
                <a:endParaRPr lang="en-US" sz="4795" dirty="0"/>
              </a:p>
            </p:txBody>
          </p:sp>
        </mc:Choice>
        <mc:Fallback xmlns="">
          <p:sp>
            <p:nvSpPr>
              <p:cNvPr id="6" name="TextBox 5">
                <a:extLst>
                  <a:ext uri="{FF2B5EF4-FFF2-40B4-BE49-F238E27FC236}">
                    <a16:creationId xmlns:a16="http://schemas.microsoft.com/office/drawing/2014/main" id="{569B2340-F27B-414E-AB4E-89A6FFA4DA32}"/>
                  </a:ext>
                </a:extLst>
              </p:cNvPr>
              <p:cNvSpPr txBox="1">
                <a:spLocks noRot="1" noChangeAspect="1" noMove="1" noResize="1" noEditPoints="1" noAdjustHandles="1" noChangeArrowheads="1" noChangeShapeType="1" noTextEdit="1"/>
              </p:cNvSpPr>
              <p:nvPr/>
            </p:nvSpPr>
            <p:spPr>
              <a:xfrm>
                <a:off x="996977" y="3591728"/>
                <a:ext cx="10024235" cy="830227"/>
              </a:xfrm>
              <a:prstGeom prst="rect">
                <a:avLst/>
              </a:prstGeom>
              <a:blipFill>
                <a:blip r:embed="rId6"/>
                <a:stretch>
                  <a:fillRect/>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58D52515-0A78-1146-8EF3-6A8FBF6BA3EA}"/>
              </a:ext>
            </a:extLst>
          </p:cNvPr>
          <p:cNvPicPr>
            <a:picLocks noChangeAspect="1"/>
          </p:cNvPicPr>
          <p:nvPr/>
        </p:nvPicPr>
        <p:blipFill>
          <a:blip r:embed="rId7"/>
          <a:stretch>
            <a:fillRect/>
          </a:stretch>
        </p:blipFill>
        <p:spPr>
          <a:xfrm>
            <a:off x="5761907" y="1366215"/>
            <a:ext cx="4860549" cy="4860549"/>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516771" y="3683675"/>
                <a:ext cx="74892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m:t>
                      </m:r>
                    </m:oMath>
                  </m:oMathPara>
                </a14:m>
                <a:endParaRPr lang="en-US" sz="3600" dirty="0"/>
              </a:p>
            </p:txBody>
          </p:sp>
        </mc:Choice>
        <mc:Fallback xmlns="">
          <p:sp>
            <p:nvSpPr>
              <p:cNvPr id="3" name="Rectangle 2"/>
              <p:cNvSpPr>
                <a:spLocks noRot="1" noChangeAspect="1" noMove="1" noResize="1" noEditPoints="1" noAdjustHandles="1" noChangeArrowheads="1" noChangeShapeType="1" noTextEdit="1"/>
              </p:cNvSpPr>
              <p:nvPr/>
            </p:nvSpPr>
            <p:spPr>
              <a:xfrm>
                <a:off x="5516771" y="3683675"/>
                <a:ext cx="748923" cy="646331"/>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24698375"/>
      </p:ext>
    </p:extLst>
  </p:cSld>
  <p:clrMapOvr>
    <a:masterClrMapping/>
  </p:clrMapOvr>
  <mc:AlternateContent xmlns:mc="http://schemas.openxmlformats.org/markup-compatibility/2006" xmlns:p14="http://schemas.microsoft.com/office/powerpoint/2010/main">
    <mc:Choice Requires="p14">
      <p:transition spd="slow" p14:dur="2000" advTm="58834"/>
    </mc:Choice>
    <mc:Fallback xmlns="">
      <p:transition spd="slow" advTm="5883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69B2340-F27B-414E-AB4E-89A6FFA4DA32}"/>
                  </a:ext>
                </a:extLst>
              </p:cNvPr>
              <p:cNvSpPr txBox="1"/>
              <p:nvPr/>
            </p:nvSpPr>
            <p:spPr>
              <a:xfrm>
                <a:off x="3983988" y="3636564"/>
                <a:ext cx="8136676" cy="8302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795" i="1" smtClean="0">
                          <a:latin typeface="Cambria Math" panose="02040503050406030204" pitchFamily="18" charset="0"/>
                        </a:rPr>
                        <m:t>𝜎</m:t>
                      </m:r>
                      <m:d>
                        <m:dPr>
                          <m:ctrlPr>
                            <a:rPr lang="en-US" sz="4795" i="1">
                              <a:latin typeface="Cambria Math" panose="02040503050406030204" pitchFamily="18" charset="0"/>
                            </a:rPr>
                          </m:ctrlPr>
                        </m:dPr>
                        <m:e>
                          <m:r>
                            <a:rPr lang="en-US" sz="4795" i="1">
                              <a:latin typeface="Cambria Math" panose="02040503050406030204" pitchFamily="18" charset="0"/>
                            </a:rPr>
                            <m:t>                              </m:t>
                          </m:r>
                        </m:e>
                      </m:d>
                      <m:r>
                        <a:rPr lang="en-US" sz="4795" i="1">
                          <a:latin typeface="Cambria Math" panose="02040503050406030204" pitchFamily="18" charset="0"/>
                        </a:rPr>
                        <m:t>=0.0</m:t>
                      </m:r>
                      <m:r>
                        <a:rPr lang="en-US" sz="4795" b="0" i="1" smtClean="0">
                          <a:latin typeface="Cambria Math" panose="02040503050406030204" pitchFamily="18" charset="0"/>
                        </a:rPr>
                        <m:t>1</m:t>
                      </m:r>
                    </m:oMath>
                  </m:oMathPara>
                </a14:m>
                <a:endParaRPr lang="en-US" sz="4795" dirty="0"/>
              </a:p>
            </p:txBody>
          </p:sp>
        </mc:Choice>
        <mc:Fallback xmlns="">
          <p:sp>
            <p:nvSpPr>
              <p:cNvPr id="6" name="TextBox 5">
                <a:extLst>
                  <a:ext uri="{FF2B5EF4-FFF2-40B4-BE49-F238E27FC236}">
                    <a16:creationId xmlns:a16="http://schemas.microsoft.com/office/drawing/2014/main" id="{569B2340-F27B-414E-AB4E-89A6FFA4DA32}"/>
                  </a:ext>
                </a:extLst>
              </p:cNvPr>
              <p:cNvSpPr txBox="1">
                <a:spLocks noRot="1" noChangeAspect="1" noMove="1" noResize="1" noEditPoints="1" noAdjustHandles="1" noChangeArrowheads="1" noChangeShapeType="1" noTextEdit="1"/>
              </p:cNvSpPr>
              <p:nvPr/>
            </p:nvSpPr>
            <p:spPr>
              <a:xfrm>
                <a:off x="3983988" y="3636564"/>
                <a:ext cx="8136676" cy="830227"/>
              </a:xfrm>
              <a:prstGeom prst="rect">
                <a:avLst/>
              </a:prstGeom>
              <a:blipFill>
                <a:blip r:embed="rId3"/>
                <a:stretch>
                  <a:fillRect t="-1515" b="-28788"/>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58D52515-0A78-1146-8EF3-6A8FBF6BA3EA}"/>
              </a:ext>
            </a:extLst>
          </p:cNvPr>
          <p:cNvPicPr>
            <a:picLocks noChangeAspect="1"/>
          </p:cNvPicPr>
          <p:nvPr/>
        </p:nvPicPr>
        <p:blipFill>
          <a:blip r:embed="rId4"/>
          <a:stretch>
            <a:fillRect/>
          </a:stretch>
        </p:blipFill>
        <p:spPr>
          <a:xfrm>
            <a:off x="4772797" y="1632326"/>
            <a:ext cx="4860549" cy="4860549"/>
          </a:xfrm>
          <a:prstGeom prst="rect">
            <a:avLst/>
          </a:prstGeom>
        </p:spPr>
      </p:pic>
      <p:pic>
        <p:nvPicPr>
          <p:cNvPr id="5" name="Picture 4">
            <a:extLst>
              <a:ext uri="{FF2B5EF4-FFF2-40B4-BE49-F238E27FC236}">
                <a16:creationId xmlns:a16="http://schemas.microsoft.com/office/drawing/2014/main" id="{16B3D945-37F3-D54A-95AB-B4A7CDBCEA96}"/>
              </a:ext>
            </a:extLst>
          </p:cNvPr>
          <p:cNvPicPr>
            <a:picLocks noChangeAspect="1"/>
          </p:cNvPicPr>
          <p:nvPr/>
        </p:nvPicPr>
        <p:blipFill>
          <a:blip r:embed="rId5"/>
          <a:stretch>
            <a:fillRect/>
          </a:stretch>
        </p:blipFill>
        <p:spPr>
          <a:xfrm>
            <a:off x="4815904" y="2023923"/>
            <a:ext cx="4077352" cy="4077352"/>
          </a:xfrm>
          <a:prstGeom prst="rect">
            <a:avLst/>
          </a:prstGeom>
        </p:spPr>
      </p:pic>
      <mc:AlternateContent xmlns:mc="http://schemas.openxmlformats.org/markup-compatibility/2006" xmlns:a14="http://schemas.microsoft.com/office/drawing/2010/main">
        <mc:Choice Requires="a14">
          <p:sp>
            <p:nvSpPr>
              <p:cNvPr id="12" name="Title 1">
                <a:extLst>
                  <a:ext uri="{FF2B5EF4-FFF2-40B4-BE49-F238E27FC236}">
                    <a16:creationId xmlns:a16="http://schemas.microsoft.com/office/drawing/2014/main" id="{5AB7035F-1AB2-06CE-E114-A12AB35BF2D4}"/>
                  </a:ext>
                </a:extLst>
              </p:cNvPr>
              <p:cNvSpPr>
                <a:spLocks noGrp="1"/>
              </p:cNvSpPr>
              <p:nvPr>
                <p:ph type="title"/>
              </p:nvPr>
            </p:nvSpPr>
            <p:spPr>
              <a:xfrm>
                <a:off x="838200" y="365125"/>
                <a:ext cx="10515600" cy="1325563"/>
              </a:xfrm>
            </p:spPr>
            <p:txBody>
              <a:bodyPr>
                <a:normAutofit/>
              </a:bodyPr>
              <a:lstStyle/>
              <a:p>
                <a:r>
                  <a:rPr lang="en-US" sz="4267" dirty="0"/>
                  <a:t>We may view the learned </a:t>
                </a:r>
                <a14:m>
                  <m:oMath xmlns:m="http://schemas.openxmlformats.org/officeDocument/2006/math">
                    <m:r>
                      <a:rPr lang="en-US" sz="4267" i="1" dirty="0" smtClean="0">
                        <a:latin typeface="Cambria Math" panose="02040503050406030204" pitchFamily="18" charset="0"/>
                      </a:rPr>
                      <m:t>𝑤</m:t>
                    </m:r>
                  </m:oMath>
                </a14:m>
                <a:r>
                  <a:rPr lang="en-US" sz="4267" dirty="0"/>
                  <a:t> as a </a:t>
                </a:r>
                <a:r>
                  <a:rPr lang="en-US" sz="4267" i="1" dirty="0"/>
                  <a:t>filter</a:t>
                </a:r>
              </a:p>
            </p:txBody>
          </p:sp>
        </mc:Choice>
        <mc:Fallback xmlns="">
          <p:sp>
            <p:nvSpPr>
              <p:cNvPr id="12" name="Title 1">
                <a:extLst>
                  <a:ext uri="{FF2B5EF4-FFF2-40B4-BE49-F238E27FC236}">
                    <a16:creationId xmlns:a16="http://schemas.microsoft.com/office/drawing/2014/main" id="{5AB7035F-1AB2-06CE-E114-A12AB35BF2D4}"/>
                  </a:ext>
                </a:extLst>
              </p:cNvPr>
              <p:cNvSpPr>
                <a:spLocks noGrp="1" noRot="1" noChangeAspect="1" noMove="1" noResize="1" noEditPoints="1" noAdjustHandles="1" noChangeArrowheads="1" noChangeShapeType="1" noTextEdit="1"/>
              </p:cNvSpPr>
              <p:nvPr>
                <p:ph type="title"/>
              </p:nvPr>
            </p:nvSpPr>
            <p:spPr>
              <a:xfrm>
                <a:off x="838200" y="365125"/>
                <a:ext cx="10515600" cy="1325563"/>
              </a:xfrm>
              <a:blipFill>
                <a:blip r:embed="rId6"/>
                <a:stretch>
                  <a:fillRect l="-2292"/>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28B31C8F-33CA-6981-D635-AEBB2D3D89E0}"/>
              </a:ext>
            </a:extLst>
          </p:cNvPr>
          <p:cNvSpPr>
            <a:spLocks noGrp="1"/>
          </p:cNvSpPr>
          <p:nvPr>
            <p:ph idx="1"/>
          </p:nvPr>
        </p:nvSpPr>
        <p:spPr>
          <a:xfrm>
            <a:off x="838200" y="2373549"/>
            <a:ext cx="3296055" cy="3803414"/>
          </a:xfrm>
        </p:spPr>
        <p:txBody>
          <a:bodyPr>
            <a:normAutofit/>
          </a:bodyPr>
          <a:lstStyle/>
          <a:p>
            <a:r>
              <a:rPr lang="en-US" dirty="0"/>
              <a:t>Superimpose and sum to estimate the dot product</a:t>
            </a:r>
          </a:p>
          <a:p>
            <a:endParaRPr lang="en-US" dirty="0"/>
          </a:p>
          <a:p>
            <a:r>
              <a:rPr lang="en-US" dirty="0"/>
              <a:t>When </a:t>
            </a:r>
            <a:r>
              <a:rPr lang="en-US" b="1" dirty="0">
                <a:solidFill>
                  <a:srgbClr val="0070C0"/>
                </a:solidFill>
              </a:rPr>
              <a:t>blue</a:t>
            </a:r>
            <a:r>
              <a:rPr lang="en-US" dirty="0"/>
              <a:t> regions are revealed, predicted log-odds are negative</a:t>
            </a:r>
          </a:p>
        </p:txBody>
      </p:sp>
    </p:spTree>
    <p:extLst>
      <p:ext uri="{BB962C8B-B14F-4D97-AF65-F5344CB8AC3E}">
        <p14:creationId xmlns:p14="http://schemas.microsoft.com/office/powerpoint/2010/main" val="3173961774"/>
      </p:ext>
    </p:extLst>
  </p:cSld>
  <p:clrMapOvr>
    <a:masterClrMapping/>
  </p:clrMapOvr>
  <mc:AlternateContent xmlns:mc="http://schemas.openxmlformats.org/markup-compatibility/2006" xmlns:p14="http://schemas.microsoft.com/office/powerpoint/2010/main">
    <mc:Choice Requires="p14">
      <p:transition spd="slow" p14:dur="2000" advTm="30739"/>
    </mc:Choice>
    <mc:Fallback xmlns="">
      <p:transition spd="slow" advTm="3073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FC10B-FBD8-A7BC-F9CE-4D2E0C44783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09D7009-4842-6261-6C7C-A55EB40249CB}"/>
                  </a:ext>
                </a:extLst>
              </p:cNvPr>
              <p:cNvSpPr txBox="1"/>
              <p:nvPr/>
            </p:nvSpPr>
            <p:spPr>
              <a:xfrm>
                <a:off x="3983988" y="3636564"/>
                <a:ext cx="8136676" cy="8302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4795" i="1" smtClean="0">
                          <a:latin typeface="Cambria Math" panose="02040503050406030204" pitchFamily="18" charset="0"/>
                        </a:rPr>
                        <m:t>𝜎</m:t>
                      </m:r>
                      <m:d>
                        <m:dPr>
                          <m:ctrlPr>
                            <a:rPr lang="en-US" sz="4795" i="1">
                              <a:latin typeface="Cambria Math" panose="02040503050406030204" pitchFamily="18" charset="0"/>
                            </a:rPr>
                          </m:ctrlPr>
                        </m:dPr>
                        <m:e>
                          <m:r>
                            <a:rPr lang="en-US" sz="4795" i="1">
                              <a:latin typeface="Cambria Math" panose="02040503050406030204" pitchFamily="18" charset="0"/>
                            </a:rPr>
                            <m:t>                              </m:t>
                          </m:r>
                        </m:e>
                      </m:d>
                      <m:r>
                        <a:rPr lang="en-US" sz="4795" i="1">
                          <a:latin typeface="Cambria Math" panose="02040503050406030204" pitchFamily="18" charset="0"/>
                        </a:rPr>
                        <m:t>=0.</m:t>
                      </m:r>
                      <m:r>
                        <a:rPr lang="en-US" sz="4795" b="0" i="1" smtClean="0">
                          <a:latin typeface="Cambria Math" panose="02040503050406030204" pitchFamily="18" charset="0"/>
                        </a:rPr>
                        <m:t>99</m:t>
                      </m:r>
                    </m:oMath>
                  </m:oMathPara>
                </a14:m>
                <a:endParaRPr lang="en-US" sz="4795" dirty="0"/>
              </a:p>
            </p:txBody>
          </p:sp>
        </mc:Choice>
        <mc:Fallback xmlns="">
          <p:sp>
            <p:nvSpPr>
              <p:cNvPr id="6" name="TextBox 5">
                <a:extLst>
                  <a:ext uri="{FF2B5EF4-FFF2-40B4-BE49-F238E27FC236}">
                    <a16:creationId xmlns:a16="http://schemas.microsoft.com/office/drawing/2014/main" id="{309D7009-4842-6261-6C7C-A55EB40249CB}"/>
                  </a:ext>
                </a:extLst>
              </p:cNvPr>
              <p:cNvSpPr txBox="1">
                <a:spLocks noRot="1" noChangeAspect="1" noMove="1" noResize="1" noEditPoints="1" noAdjustHandles="1" noChangeArrowheads="1" noChangeShapeType="1" noTextEdit="1"/>
              </p:cNvSpPr>
              <p:nvPr/>
            </p:nvSpPr>
            <p:spPr>
              <a:xfrm>
                <a:off x="3983988" y="3636564"/>
                <a:ext cx="8136676" cy="830227"/>
              </a:xfrm>
              <a:prstGeom prst="rect">
                <a:avLst/>
              </a:prstGeom>
              <a:blipFill>
                <a:blip r:embed="rId3"/>
                <a:stretch>
                  <a:fillRect t="-1515" b="-287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itle 1">
                <a:extLst>
                  <a:ext uri="{FF2B5EF4-FFF2-40B4-BE49-F238E27FC236}">
                    <a16:creationId xmlns:a16="http://schemas.microsoft.com/office/drawing/2014/main" id="{4A6FB20C-0569-9AD5-CF6B-E59BC89D3130}"/>
                  </a:ext>
                </a:extLst>
              </p:cNvPr>
              <p:cNvSpPr>
                <a:spLocks noGrp="1"/>
              </p:cNvSpPr>
              <p:nvPr>
                <p:ph type="title"/>
              </p:nvPr>
            </p:nvSpPr>
            <p:spPr>
              <a:xfrm>
                <a:off x="838200" y="365125"/>
                <a:ext cx="10515600" cy="1325563"/>
              </a:xfrm>
            </p:spPr>
            <p:txBody>
              <a:bodyPr>
                <a:normAutofit/>
              </a:bodyPr>
              <a:lstStyle/>
              <a:p>
                <a:r>
                  <a:rPr lang="en-US" sz="4267" dirty="0"/>
                  <a:t>We may view the learned </a:t>
                </a:r>
                <a14:m>
                  <m:oMath xmlns:m="http://schemas.openxmlformats.org/officeDocument/2006/math">
                    <m:r>
                      <a:rPr lang="en-US" sz="4267" i="1" dirty="0" smtClean="0">
                        <a:latin typeface="Cambria Math" panose="02040503050406030204" pitchFamily="18" charset="0"/>
                      </a:rPr>
                      <m:t>𝑤</m:t>
                    </m:r>
                  </m:oMath>
                </a14:m>
                <a:r>
                  <a:rPr lang="en-US" sz="4267" dirty="0"/>
                  <a:t> as a </a:t>
                </a:r>
                <a:r>
                  <a:rPr lang="en-US" sz="4267" i="1" dirty="0"/>
                  <a:t>filter</a:t>
                </a:r>
              </a:p>
            </p:txBody>
          </p:sp>
        </mc:Choice>
        <mc:Fallback xmlns="">
          <p:sp>
            <p:nvSpPr>
              <p:cNvPr id="12" name="Title 1">
                <a:extLst>
                  <a:ext uri="{FF2B5EF4-FFF2-40B4-BE49-F238E27FC236}">
                    <a16:creationId xmlns:a16="http://schemas.microsoft.com/office/drawing/2014/main" id="{4A6FB20C-0569-9AD5-CF6B-E59BC89D3130}"/>
                  </a:ext>
                </a:extLst>
              </p:cNvPr>
              <p:cNvSpPr>
                <a:spLocks noGrp="1" noRot="1" noChangeAspect="1" noMove="1" noResize="1" noEditPoints="1" noAdjustHandles="1" noChangeArrowheads="1" noChangeShapeType="1" noTextEdit="1"/>
              </p:cNvSpPr>
              <p:nvPr>
                <p:ph type="title"/>
              </p:nvPr>
            </p:nvSpPr>
            <p:spPr>
              <a:xfrm>
                <a:off x="838200" y="365125"/>
                <a:ext cx="10515600" cy="1325563"/>
              </a:xfrm>
              <a:blipFill>
                <a:blip r:embed="rId4"/>
                <a:stretch>
                  <a:fillRect l="-2292"/>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DE26DF5A-53A6-441D-F930-87E269733FB6}"/>
              </a:ext>
            </a:extLst>
          </p:cNvPr>
          <p:cNvSpPr>
            <a:spLocks noGrp="1"/>
          </p:cNvSpPr>
          <p:nvPr>
            <p:ph idx="1"/>
          </p:nvPr>
        </p:nvSpPr>
        <p:spPr>
          <a:xfrm>
            <a:off x="838200" y="2373549"/>
            <a:ext cx="3296055" cy="3803414"/>
          </a:xfrm>
        </p:spPr>
        <p:txBody>
          <a:bodyPr>
            <a:normAutofit/>
          </a:bodyPr>
          <a:lstStyle/>
          <a:p>
            <a:r>
              <a:rPr lang="en-US" dirty="0"/>
              <a:t>Superimpose and sum to estimate the dot product</a:t>
            </a:r>
          </a:p>
          <a:p>
            <a:endParaRPr lang="en-US" dirty="0"/>
          </a:p>
          <a:p>
            <a:r>
              <a:rPr lang="en-US" dirty="0"/>
              <a:t>When </a:t>
            </a:r>
            <a:r>
              <a:rPr lang="en-US" b="1" dirty="0">
                <a:solidFill>
                  <a:srgbClr val="FF0000"/>
                </a:solidFill>
              </a:rPr>
              <a:t>red</a:t>
            </a:r>
            <a:r>
              <a:rPr lang="en-US" dirty="0"/>
              <a:t> regions are revealed, predicted log-odds are positive</a:t>
            </a:r>
          </a:p>
        </p:txBody>
      </p:sp>
      <p:pic>
        <p:nvPicPr>
          <p:cNvPr id="2" name="Picture 1">
            <a:extLst>
              <a:ext uri="{FF2B5EF4-FFF2-40B4-BE49-F238E27FC236}">
                <a16:creationId xmlns:a16="http://schemas.microsoft.com/office/drawing/2014/main" id="{D0B6940E-A9C2-8D24-779B-DC7A8D310C8E}"/>
              </a:ext>
            </a:extLst>
          </p:cNvPr>
          <p:cNvPicPr>
            <a:picLocks noChangeAspect="1"/>
          </p:cNvPicPr>
          <p:nvPr/>
        </p:nvPicPr>
        <p:blipFill>
          <a:blip r:embed="rId5"/>
          <a:stretch>
            <a:fillRect/>
          </a:stretch>
        </p:blipFill>
        <p:spPr>
          <a:xfrm>
            <a:off x="4772792" y="1632326"/>
            <a:ext cx="4860549" cy="4860549"/>
          </a:xfrm>
          <a:prstGeom prst="rect">
            <a:avLst/>
          </a:prstGeom>
        </p:spPr>
      </p:pic>
      <p:pic>
        <p:nvPicPr>
          <p:cNvPr id="3" name="Picture 2">
            <a:extLst>
              <a:ext uri="{FF2B5EF4-FFF2-40B4-BE49-F238E27FC236}">
                <a16:creationId xmlns:a16="http://schemas.microsoft.com/office/drawing/2014/main" id="{596C55FD-5757-B367-72A8-F1106724EA90}"/>
              </a:ext>
            </a:extLst>
          </p:cNvPr>
          <p:cNvPicPr>
            <a:picLocks noChangeAspect="1"/>
          </p:cNvPicPr>
          <p:nvPr/>
        </p:nvPicPr>
        <p:blipFill>
          <a:blip r:embed="rId6"/>
          <a:stretch>
            <a:fillRect/>
          </a:stretch>
        </p:blipFill>
        <p:spPr>
          <a:xfrm>
            <a:off x="4814365" y="2023923"/>
            <a:ext cx="4077352" cy="4077352"/>
          </a:xfrm>
          <a:prstGeom prst="rect">
            <a:avLst/>
          </a:prstGeom>
        </p:spPr>
      </p:pic>
    </p:spTree>
    <p:extLst>
      <p:ext uri="{BB962C8B-B14F-4D97-AF65-F5344CB8AC3E}">
        <p14:creationId xmlns:p14="http://schemas.microsoft.com/office/powerpoint/2010/main" val="2367553280"/>
      </p:ext>
    </p:extLst>
  </p:cSld>
  <p:clrMapOvr>
    <a:masterClrMapping/>
  </p:clrMapOvr>
  <mc:AlternateContent xmlns:mc="http://schemas.openxmlformats.org/markup-compatibility/2006" xmlns:p14="http://schemas.microsoft.com/office/powerpoint/2010/main">
    <mc:Choice Requires="p14">
      <p:transition spd="slow" p14:dur="2000" advTm="30739"/>
    </mc:Choice>
    <mc:Fallback xmlns="">
      <p:transition spd="slow" advTm="3073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13EE-BAEC-5350-F689-6D8CA20AF494}"/>
              </a:ext>
            </a:extLst>
          </p:cNvPr>
          <p:cNvSpPr>
            <a:spLocks noGrp="1"/>
          </p:cNvSpPr>
          <p:nvPr>
            <p:ph type="title"/>
          </p:nvPr>
        </p:nvSpPr>
        <p:spPr/>
        <p:txBody>
          <a:bodyPr/>
          <a:lstStyle/>
          <a:p>
            <a:r>
              <a:rPr lang="en-US" dirty="0"/>
              <a:t>Logistic regression:</a:t>
            </a:r>
            <a:br>
              <a:rPr lang="en-US" dirty="0"/>
            </a:br>
            <a:r>
              <a:rPr lang="en-US" i="1" dirty="0"/>
              <a:t>classification</a:t>
            </a:r>
            <a:r>
              <a:rPr lang="en-US" dirty="0"/>
              <a:t>, or </a:t>
            </a:r>
            <a:r>
              <a:rPr lang="en-US" i="1" dirty="0"/>
              <a:t>risk prediction</a:t>
            </a:r>
            <a:r>
              <a:rPr lang="en-US" dirty="0"/>
              <a:t>?</a:t>
            </a:r>
          </a:p>
        </p:txBody>
      </p:sp>
      <p:sp>
        <p:nvSpPr>
          <p:cNvPr id="3" name="Content Placeholder 2">
            <a:extLst>
              <a:ext uri="{FF2B5EF4-FFF2-40B4-BE49-F238E27FC236}">
                <a16:creationId xmlns:a16="http://schemas.microsoft.com/office/drawing/2014/main" id="{379D2D5A-3908-01C7-9CDF-BB4AB7C1BE28}"/>
              </a:ext>
            </a:extLst>
          </p:cNvPr>
          <p:cNvSpPr>
            <a:spLocks noGrp="1"/>
          </p:cNvSpPr>
          <p:nvPr>
            <p:ph idx="1"/>
          </p:nvPr>
        </p:nvSpPr>
        <p:spPr/>
        <p:txBody>
          <a:bodyPr/>
          <a:lstStyle/>
          <a:p>
            <a:pPr marL="0" indent="0">
              <a:buNone/>
            </a:pPr>
            <a:endParaRPr lang="en-US" dirty="0"/>
          </a:p>
          <a:p>
            <a:pPr marL="0" indent="0" algn="ctr">
              <a:buNone/>
            </a:pPr>
            <a:endParaRPr lang="en-US" dirty="0"/>
          </a:p>
          <a:p>
            <a:pPr marL="0" indent="0" algn="ctr">
              <a:buNone/>
            </a:pPr>
            <a:endParaRPr lang="en-US" dirty="0"/>
          </a:p>
          <a:p>
            <a:pPr marL="0" indent="0" algn="ctr">
              <a:buNone/>
            </a:pPr>
            <a:r>
              <a:rPr lang="en-US" dirty="0"/>
              <a:t>Is logistic regression a </a:t>
            </a:r>
            <a:r>
              <a:rPr lang="en-US" i="1" dirty="0"/>
              <a:t>classification</a:t>
            </a:r>
            <a:r>
              <a:rPr lang="en-US" dirty="0"/>
              <a:t> algorithm?</a:t>
            </a:r>
          </a:p>
          <a:p>
            <a:pPr marL="0" indent="0" algn="ctr">
              <a:buNone/>
            </a:pPr>
            <a:endParaRPr lang="en-US" dirty="0"/>
          </a:p>
          <a:p>
            <a:pPr marL="0" indent="0" algn="ctr">
              <a:buNone/>
            </a:pPr>
            <a:r>
              <a:rPr lang="en-US" dirty="0"/>
              <a:t>(discuss and report back in 2 minutes)</a:t>
            </a:r>
          </a:p>
        </p:txBody>
      </p:sp>
    </p:spTree>
    <p:extLst>
      <p:ext uri="{BB962C8B-B14F-4D97-AF65-F5344CB8AC3E}">
        <p14:creationId xmlns:p14="http://schemas.microsoft.com/office/powerpoint/2010/main" val="1638521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FD987-BC5E-9DDB-82B8-7409CBAC4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8E18D-4DFA-BE9B-F82E-502C35502BDB}"/>
              </a:ext>
            </a:extLst>
          </p:cNvPr>
          <p:cNvSpPr>
            <a:spLocks noGrp="1"/>
          </p:cNvSpPr>
          <p:nvPr>
            <p:ph type="title"/>
          </p:nvPr>
        </p:nvSpPr>
        <p:spPr/>
        <p:txBody>
          <a:bodyPr/>
          <a:lstStyle/>
          <a:p>
            <a:r>
              <a:rPr lang="en-US" dirty="0"/>
              <a:t>Logistic regression:</a:t>
            </a:r>
            <a:br>
              <a:rPr lang="en-US" dirty="0"/>
            </a:br>
            <a:r>
              <a:rPr lang="en-US" i="1" dirty="0"/>
              <a:t>classification</a:t>
            </a:r>
            <a:r>
              <a:rPr lang="en-US" dirty="0"/>
              <a:t>, or </a:t>
            </a:r>
            <a:r>
              <a:rPr lang="en-US" i="1" dirty="0"/>
              <a:t>risk prediction</a:t>
            </a:r>
            <a:r>
              <a:rPr lang="en-US" dirty="0"/>
              <a:t>?</a:t>
            </a:r>
          </a:p>
        </p:txBody>
      </p:sp>
      <p:sp>
        <p:nvSpPr>
          <p:cNvPr id="3" name="Content Placeholder 2">
            <a:extLst>
              <a:ext uri="{FF2B5EF4-FFF2-40B4-BE49-F238E27FC236}">
                <a16:creationId xmlns:a16="http://schemas.microsoft.com/office/drawing/2014/main" id="{3135262A-EF5F-BDFA-EC3E-F36CCC6FD132}"/>
              </a:ext>
            </a:extLst>
          </p:cNvPr>
          <p:cNvSpPr>
            <a:spLocks noGrp="1"/>
          </p:cNvSpPr>
          <p:nvPr>
            <p:ph idx="1"/>
          </p:nvPr>
        </p:nvSpPr>
        <p:spPr/>
        <p:txBody>
          <a:bodyPr/>
          <a:lstStyle/>
          <a:p>
            <a:r>
              <a:rPr lang="en-US" b="1" dirty="0"/>
              <a:t>Classification</a:t>
            </a:r>
          </a:p>
          <a:p>
            <a:pPr lvl="1"/>
            <a:r>
              <a:rPr lang="en-US" dirty="0"/>
              <a:t>Examples: MNIST, EHR-based phenotyping, pathology detection</a:t>
            </a:r>
          </a:p>
          <a:p>
            <a:pPr lvl="1"/>
            <a:r>
              <a:rPr lang="en-US" u="sng" dirty="0"/>
              <a:t>Labels are deterministic</a:t>
            </a:r>
          </a:p>
          <a:p>
            <a:pPr lvl="1"/>
            <a:r>
              <a:rPr lang="en-US" dirty="0"/>
              <a:t>Positives and negatives have non-overlapping support (in principle, given the right features)</a:t>
            </a:r>
          </a:p>
          <a:p>
            <a:pPr lvl="1"/>
            <a:endParaRPr lang="en-US" dirty="0"/>
          </a:p>
          <a:p>
            <a:r>
              <a:rPr lang="en-US" b="1" dirty="0"/>
              <a:t>Risk Prediction</a:t>
            </a:r>
          </a:p>
          <a:p>
            <a:pPr lvl="1"/>
            <a:r>
              <a:rPr lang="en-US" dirty="0"/>
              <a:t>Examples: ICU mortality, heart attack risk, future diagnosis likelihood</a:t>
            </a:r>
          </a:p>
          <a:p>
            <a:pPr lvl="1"/>
            <a:r>
              <a:rPr lang="en-US" u="sng" dirty="0"/>
              <a:t>Labels are inherently probabilistic</a:t>
            </a:r>
          </a:p>
          <a:p>
            <a:pPr lvl="1"/>
            <a:r>
              <a:rPr lang="en-US" dirty="0"/>
              <a:t>Positives and negatives have overlapping support in any feature space</a:t>
            </a:r>
          </a:p>
        </p:txBody>
      </p:sp>
    </p:spTree>
    <p:extLst>
      <p:ext uri="{BB962C8B-B14F-4D97-AF65-F5344CB8AC3E}">
        <p14:creationId xmlns:p14="http://schemas.microsoft.com/office/powerpoint/2010/main" val="1776041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AA266-9166-7E1C-5B33-CA6F35E0C7EE}"/>
              </a:ext>
            </a:extLst>
          </p:cNvPr>
          <p:cNvSpPr>
            <a:spLocks noGrp="1"/>
          </p:cNvSpPr>
          <p:nvPr>
            <p:ph type="title"/>
          </p:nvPr>
        </p:nvSpPr>
        <p:spPr/>
        <p:txBody>
          <a:bodyPr/>
          <a:lstStyle/>
          <a:p>
            <a:r>
              <a:rPr lang="en-US" dirty="0"/>
              <a:t>Summary and what’s next</a:t>
            </a:r>
          </a:p>
        </p:txBody>
      </p:sp>
      <p:sp>
        <p:nvSpPr>
          <p:cNvPr id="3" name="Content Placeholder 2">
            <a:extLst>
              <a:ext uri="{FF2B5EF4-FFF2-40B4-BE49-F238E27FC236}">
                <a16:creationId xmlns:a16="http://schemas.microsoft.com/office/drawing/2014/main" id="{4C1B3D87-6172-9B48-8731-DFE1B32179FF}"/>
              </a:ext>
            </a:extLst>
          </p:cNvPr>
          <p:cNvSpPr>
            <a:spLocks noGrp="1"/>
          </p:cNvSpPr>
          <p:nvPr>
            <p:ph idx="1"/>
          </p:nvPr>
        </p:nvSpPr>
        <p:spPr/>
        <p:txBody>
          <a:bodyPr>
            <a:normAutofit fontScale="92500" lnSpcReduction="20000"/>
          </a:bodyPr>
          <a:lstStyle/>
          <a:p>
            <a:r>
              <a:rPr lang="en-US" dirty="0"/>
              <a:t>In this class, we will learn how to build neural network prediction machines from tabular, image, text, and multimodal data.</a:t>
            </a:r>
          </a:p>
          <a:p>
            <a:endParaRPr lang="en-US" dirty="0"/>
          </a:p>
          <a:p>
            <a:r>
              <a:rPr lang="en-US" dirty="0"/>
              <a:t>Logistic regression is an important prediction machine, and it can be viewed as the building block of the neural network. For these reasons, it is important that you understand it well.</a:t>
            </a:r>
          </a:p>
          <a:p>
            <a:endParaRPr lang="en-US" dirty="0"/>
          </a:p>
          <a:p>
            <a:r>
              <a:rPr lang="en-US" dirty="0"/>
              <a:t>Next time, we will focus on building neural networks that overcome the key limitation of logistic regression, namely its linear decision boundary.</a:t>
            </a:r>
          </a:p>
          <a:p>
            <a:endParaRPr lang="en-US" dirty="0"/>
          </a:p>
          <a:p>
            <a:r>
              <a:rPr lang="en-US" dirty="0"/>
              <a:t>Then, we will focus on model learning via stochastic gradient methods.</a:t>
            </a:r>
          </a:p>
        </p:txBody>
      </p:sp>
    </p:spTree>
    <p:extLst>
      <p:ext uri="{BB962C8B-B14F-4D97-AF65-F5344CB8AC3E}">
        <p14:creationId xmlns:p14="http://schemas.microsoft.com/office/powerpoint/2010/main" val="2226818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468</TotalTime>
  <Words>1550</Words>
  <Application>Microsoft Macintosh PowerPoint</Application>
  <PresentationFormat>Widescreen</PresentationFormat>
  <Paragraphs>274</Paragraphs>
  <Slides>27</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Cambria Math</vt:lpstr>
      <vt:lpstr>Poppins Light</vt:lpstr>
      <vt:lpstr>Times New Roman</vt:lpstr>
      <vt:lpstr>Office Theme</vt:lpstr>
      <vt:lpstr>Intro to Predictive AI: Logistic Regression</vt:lpstr>
      <vt:lpstr>Predictive AI with health data</vt:lpstr>
      <vt:lpstr>What is AI?</vt:lpstr>
      <vt:lpstr>Branches of AI with high clinical impact</vt:lpstr>
      <vt:lpstr>The machine in machine learning</vt:lpstr>
      <vt:lpstr>Simple models often work well for clinical data!</vt:lpstr>
      <vt:lpstr>Computer vision: prediction via convolutional neural network</vt:lpstr>
      <vt:lpstr>NLP and clinical sequences: prediction via stacked attention networks</vt:lpstr>
      <vt:lpstr>Reinforcement Learning: state to action predictions via dense NN</vt:lpstr>
      <vt:lpstr>Prediction from multimodal data: modality-specific encoders + multimodal fusion</vt:lpstr>
      <vt:lpstr>As the complexity of the underlying data increases, so too does the probable value added by machine learning</vt:lpstr>
      <vt:lpstr>Logistic regression</vt:lpstr>
      <vt:lpstr>Logistic regression</vt:lpstr>
      <vt:lpstr>Logistic regression</vt:lpstr>
      <vt:lpstr>Example: predict ICU mortality</vt:lpstr>
      <vt:lpstr>Logistic regression yields linear decision boundaries.</vt:lpstr>
      <vt:lpstr>An impossible decision boundary for LR</vt:lpstr>
      <vt:lpstr>Recognizing Handwritten Digits</vt:lpstr>
      <vt:lpstr>MNIST: Identify handwritten digits</vt:lpstr>
      <vt:lpstr>To use logistic regression, we must convert pixels to numbers, then vectorize</vt:lpstr>
      <vt:lpstr>Start With The Binary Case</vt:lpstr>
      <vt:lpstr>We may view the learned w as a filter</vt:lpstr>
      <vt:lpstr>We may view the learned w as a filter</vt:lpstr>
      <vt:lpstr>We may view the learned w as a filter</vt:lpstr>
      <vt:lpstr>Logistic regression: classification, or risk prediction?</vt:lpstr>
      <vt:lpstr>Logistic regression: classification, or risk prediction?</vt:lpstr>
      <vt:lpstr>Summary and 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Engelhard, M.D., Ph.D.</dc:creator>
  <cp:lastModifiedBy>Matthew Engelhard, M.D., Ph.D.</cp:lastModifiedBy>
  <cp:revision>16</cp:revision>
  <dcterms:created xsi:type="dcterms:W3CDTF">2026-01-05T18:42:21Z</dcterms:created>
  <dcterms:modified xsi:type="dcterms:W3CDTF">2026-01-07T19:43:37Z</dcterms:modified>
</cp:coreProperties>
</file>