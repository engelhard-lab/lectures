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82" r:id="rId3"/>
    <p:sldId id="257" r:id="rId4"/>
    <p:sldId id="632" r:id="rId5"/>
    <p:sldId id="637" r:id="rId6"/>
    <p:sldId id="2147477832" r:id="rId7"/>
    <p:sldId id="2147477831" r:id="rId8"/>
    <p:sldId id="2147477833" r:id="rId9"/>
    <p:sldId id="2147477834" r:id="rId10"/>
    <p:sldId id="2147477835" r:id="rId11"/>
    <p:sldId id="2147477819" r:id="rId12"/>
    <p:sldId id="2147477836" r:id="rId13"/>
    <p:sldId id="2147477837" r:id="rId14"/>
    <p:sldId id="2147477839" r:id="rId15"/>
    <p:sldId id="2147477818" r:id="rId16"/>
    <p:sldId id="2147477840" r:id="rId17"/>
    <p:sldId id="2147477842" r:id="rId18"/>
    <p:sldId id="2147477821" r:id="rId19"/>
    <p:sldId id="324" r:id="rId20"/>
    <p:sldId id="585" r:id="rId21"/>
    <p:sldId id="474" r:id="rId22"/>
    <p:sldId id="625" r:id="rId23"/>
    <p:sldId id="586" r:id="rId24"/>
    <p:sldId id="2147477820" r:id="rId25"/>
    <p:sldId id="590" r:id="rId26"/>
    <p:sldId id="2147477843" r:id="rId27"/>
    <p:sldId id="2147477844" r:id="rId28"/>
    <p:sldId id="2147477851" r:id="rId29"/>
    <p:sldId id="2147477852" r:id="rId30"/>
    <p:sldId id="2147477853" r:id="rId31"/>
    <p:sldId id="2147477854" r:id="rId32"/>
    <p:sldId id="2147477855" r:id="rId33"/>
    <p:sldId id="2147477856" r:id="rId34"/>
    <p:sldId id="2147477857" r:id="rId35"/>
    <p:sldId id="2147477862" r:id="rId36"/>
    <p:sldId id="2147477861" r:id="rId37"/>
    <p:sldId id="2147477864" r:id="rId38"/>
    <p:sldId id="2147477860" r:id="rId39"/>
    <p:sldId id="2147477865" r:id="rId40"/>
    <p:sldId id="2147477869" r:id="rId41"/>
    <p:sldId id="2147477867" r:id="rId42"/>
    <p:sldId id="349" r:id="rId43"/>
    <p:sldId id="898" r:id="rId44"/>
    <p:sldId id="899" r:id="rId45"/>
    <p:sldId id="900" r:id="rId46"/>
    <p:sldId id="2147477870" r:id="rId47"/>
    <p:sldId id="2147477868" r:id="rId48"/>
    <p:sldId id="604" r:id="rId49"/>
    <p:sldId id="890" r:id="rId50"/>
    <p:sldId id="891" r:id="rId51"/>
    <p:sldId id="892" r:id="rId52"/>
    <p:sldId id="2147477866" r:id="rId53"/>
    <p:sldId id="2147477858" r:id="rId54"/>
    <p:sldId id="214747785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705"/>
  </p:normalViewPr>
  <p:slideViewPr>
    <p:cSldViewPr snapToGrid="0">
      <p:cViewPr varScale="1">
        <p:scale>
          <a:sx n="122" d="100"/>
          <a:sy n="122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DAFFE4-3A02-1547-9098-39F8BD984D40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CC133-1F4F-8747-A895-2F83A6083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6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C133-1F4F-8747-A895-2F83A6083C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09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background</a:t>
            </a:r>
          </a:p>
          <a:p>
            <a:pPr marL="171450" indent="-171450">
              <a:buFontTx/>
              <a:buChar char="-"/>
            </a:pPr>
            <a:r>
              <a:rPr lang="en-US" dirty="0"/>
              <a:t>Duke undergrad</a:t>
            </a:r>
          </a:p>
          <a:p>
            <a:pPr marL="171450" indent="-171450">
              <a:buFontTx/>
              <a:buChar char="-"/>
            </a:pPr>
            <a:r>
              <a:rPr lang="en-US" dirty="0"/>
              <a:t>NSA</a:t>
            </a:r>
          </a:p>
          <a:p>
            <a:pPr marL="171450" indent="-171450">
              <a:buFontTx/>
              <a:buChar char="-"/>
            </a:pPr>
            <a:r>
              <a:rPr lang="en-US" dirty="0"/>
              <a:t>UVA</a:t>
            </a:r>
          </a:p>
          <a:p>
            <a:pPr marL="171450" indent="-171450">
              <a:buFontTx/>
              <a:buChar char="-"/>
            </a:pPr>
            <a:r>
              <a:rPr lang="en-US" dirty="0"/>
              <a:t>Back to Duke</a:t>
            </a:r>
          </a:p>
          <a:p>
            <a:pPr marL="171450" indent="-171450">
              <a:buFontTx/>
              <a:buChar char="-"/>
            </a:pPr>
            <a:r>
              <a:rPr lang="en-US" dirty="0"/>
              <a:t>Goal: get quants and providers to talk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8DA42-D216-C84B-AF9B-602188272C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56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I’m Matt Engelhard in B&amp;B</a:t>
            </a:r>
          </a:p>
          <a:p>
            <a:pPr marL="171450" indent="-171450">
              <a:buFontTx/>
              <a:buChar char="-"/>
            </a:pPr>
            <a:r>
              <a:rPr lang="en-US" dirty="0"/>
              <a:t>Research in my group together with collaborators in B&amp;B and Psychiatry</a:t>
            </a:r>
          </a:p>
          <a:p>
            <a:pPr marL="171450" indent="-171450">
              <a:buFontTx/>
              <a:buChar char="-"/>
            </a:pPr>
            <a:r>
              <a:rPr lang="en-US" dirty="0"/>
              <a:t>Illustrates how we can use AI to improve health and well-being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first: AI for improved early action around autism +</a:t>
            </a:r>
          </a:p>
          <a:p>
            <a:pPr marL="171450" indent="-171450">
              <a:buFontTx/>
              <a:buChar char="-"/>
            </a:pPr>
            <a:r>
              <a:rPr lang="en-US" dirty="0"/>
              <a:t>Earlier supportive services -&gt; better long-term outcomes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first-line providers aren’t autism specialists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information relevant to decision-making is scattered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across time (back to birth encounter)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and specialists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In our focus groups (led by Lauren Franz and others), providers are telling us that they don’t want another passive dashboard telling them about risk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they want timely, actionable guidance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A system that recommends concrete actions that are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Consistent with evidence-based best practices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Tailored to the individual patient</a:t>
            </a:r>
          </a:p>
          <a:p>
            <a:pPr marL="628650" lvl="1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So that’s exactly what we’re building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We’ve gotten very good at predicting which patients are at highest likelihood of diagnosis</a:t>
            </a:r>
          </a:p>
          <a:p>
            <a:pPr marL="171450" lvl="0" indent="-171450">
              <a:buFontTx/>
              <a:buChar char="-"/>
            </a:pPr>
            <a:r>
              <a:rPr lang="en-US" dirty="0"/>
              <a:t>Our models pinpoint specific portions of clinical notes that are relevant and highlight them </a:t>
            </a:r>
            <a:r>
              <a:rPr lang="en-US"/>
              <a:t>to providers</a:t>
            </a:r>
          </a:p>
          <a:p>
            <a:pPr marL="171450" lvl="0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/>
              <a:t>This system will take the burden off primary care providers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FE282-513F-EE4E-B395-18E9EBEB1F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8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0BCE-BED7-5200-A99B-D93A97CF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FE4F9-94F4-2EC1-07C9-1918D23F5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8E160-C51E-8997-C8D5-9BD970B55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77FCF-1282-CC5F-4972-AAC12285D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CFE282-513F-EE4E-B395-18E9EBEB1F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48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4DC545-69E3-4444-9E5C-E4AA65E828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00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AI: building intelligent machines. Not a new field: dates back certainly to the 50s; arguably earlier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question of “what is AI” becomes a question of “what is intelligence?, which is hard to define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 that reason from experience or data to solve a problem or goal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Turing himself, one of the fathers of AI, gave us the Turing test (has it been passed?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⁃ But a system that can reason about images in the same way a radiologist might — certainly this is also “intelligent”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C133-1F4F-8747-A895-2F83A6083C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86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distinct branches with high clinical impact (describe)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Established impact, emerging impact, near future impact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course, we will focus on...</a:t>
            </a:r>
          </a:p>
          <a:p>
            <a:pPr marL="171450" indent="-171450">
              <a:buFontTx/>
              <a:buChar char="-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will focus on predictive AI, which (a) is important in and of itself; and (b) will position you to understand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genAI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C133-1F4F-8747-A895-2F83A6083C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8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C133-1F4F-8747-A895-2F83A6083C8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84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83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Tabular clinical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Logistic regression is often enough</a:t>
            </a:r>
          </a:p>
          <a:p>
            <a:pPr marL="171450" indent="-171450">
              <a:buFontTx/>
              <a:buChar char="-"/>
            </a:pPr>
            <a:r>
              <a:rPr lang="en-US" dirty="0"/>
              <a:t>Our first module will focus primarily on data like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73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Image data and other “complex”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Logistic regression is not enough. Why?</a:t>
            </a:r>
          </a:p>
          <a:p>
            <a:pPr marL="171450" indent="-171450">
              <a:buFontTx/>
              <a:buChar char="-"/>
            </a:pPr>
            <a:r>
              <a:rPr lang="en-US" dirty="0"/>
              <a:t>Second module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49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text data</a:t>
            </a:r>
          </a:p>
          <a:p>
            <a:pPr marL="171450" indent="-171450">
              <a:buFontTx/>
              <a:buChar char="-"/>
            </a:pPr>
            <a:r>
              <a:rPr lang="en-US" dirty="0"/>
              <a:t>Challenge: how to convert text to numbers?</a:t>
            </a:r>
          </a:p>
          <a:p>
            <a:pPr marL="171450" indent="-171450">
              <a:buFontTx/>
              <a:buChar char="-"/>
            </a:pPr>
            <a:r>
              <a:rPr lang="en-US" dirty="0"/>
              <a:t>Module 3</a:t>
            </a:r>
          </a:p>
          <a:p>
            <a:pPr marL="171450" indent="-171450">
              <a:buFontTx/>
              <a:buChar char="-"/>
            </a:pPr>
            <a:r>
              <a:rPr lang="en-US" dirty="0"/>
              <a:t>Similarities between sequences of words vs clinical events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D4DD1-DEF0-9E45-B6DC-EE6A01731BE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23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We will not be covering RL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importantly, this too is a prediction machine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what you learn here is foundational for understanding RL for clinical decision-making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8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D6D23-D441-2D9C-9359-D7EFD0CC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31D99-3FBE-3352-9CDC-6A7ADC0FB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93A80-2D1E-F428-DA2E-306280E3C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Module 4</a:t>
            </a:r>
          </a:p>
          <a:p>
            <a:pPr marL="171450" indent="-171450">
              <a:buFontTx/>
              <a:buChar char="-"/>
            </a:pPr>
            <a:r>
              <a:rPr lang="en-US" dirty="0"/>
              <a:t>Combine information from multiple modalities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8C73B-8F3E-1344-566F-C62F79F49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17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BAB2F-C783-9D4B-A4CB-0337EE734A2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27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01AA-4818-335E-E0E3-73F8A5D5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A9445-F4E7-9A10-E24B-9B90C0681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6F75B-3932-1FFE-5353-B5750CB85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C9357-8945-7E97-5F74-7A09E6148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C133-1F4F-8747-A895-2F83A6083C8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25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1791-F81D-9C71-2046-7E40291E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F41C8-7B84-24D6-36CC-397E4C104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870BD-93CE-1A79-AB2C-2CB0A0CA0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8BFA-A385-99C2-3C03-A6040468C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977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5D2CF-ECEB-5E60-8D5D-CA8504D8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95E30-CE7F-35A1-ABDF-247B42EA6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C12EE-0C0B-9DC4-D8BD-E8A057AE5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FDB51-6B9D-3E02-4B93-DCB781B37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8BF7-922E-5529-63A6-95723D18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E8ED9-C41D-7280-8194-252220ADC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0B485-97DB-CE85-D0A7-8610838BD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9F68C-692D-5CDD-FEE1-07DC00C55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919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E07B-1C21-0DFC-4539-751DEA51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4BB2D-2967-DE38-E04C-62D218F41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D33E1-1138-377D-E601-857A82035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8C31F-6D09-A519-61CA-73E20BA98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038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5CD6-6CAE-E733-66E7-60A681EBC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C046E-9231-EAB1-3C28-6140B31C9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9A864-E41E-62D5-4285-2517731CA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A0819-2D70-52F8-8718-158B17996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44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561B-6A4B-AF79-5F16-22EC5B25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0B93F-9DF3-776C-0ADA-85C5C418D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E2B19-195C-C206-A44F-9E23B1861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F7172-C24A-FC09-F165-433FE324E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56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2F76A-C890-155E-C8FF-400B4695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13731-3286-4E27-79EA-6DFF70E6C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C7C87-E2F3-E828-2796-3385B3BDF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94CA4-6E49-D71B-8435-8E758D6832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646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D340-97A4-26BC-AAA4-D5588D64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D3D10-295E-DCD9-1545-F883758E5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8E87F-9842-189E-D73F-73095053E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AD10E-C3DA-E3BF-EC7E-37D1447FD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841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Wang</a:t>
            </a:r>
          </a:p>
          <a:p>
            <a:r>
              <a:rPr lang="en-US" dirty="0"/>
              <a:t>Anthony Kuo</a:t>
            </a:r>
          </a:p>
          <a:p>
            <a:r>
              <a:rPr lang="en-US" dirty="0"/>
              <a:t>Duke eye center!</a:t>
            </a:r>
          </a:p>
          <a:p>
            <a:endParaRPr lang="en-US" dirty="0"/>
          </a:p>
          <a:p>
            <a:r>
              <a:rPr lang="en-US" dirty="0"/>
              <a:t>An exception to the rule on synthetic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E2ECC-2DEE-3444-8416-D7867150A0A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568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93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we treat this as a translation (i.e., sequence to sequence) problem? Or a text generation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49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what about the systems we’re seeing today?</a:t>
            </a:r>
          </a:p>
          <a:p>
            <a:r>
              <a:rPr lang="en-US" dirty="0"/>
              <a:t>Does the paradigm I’ve described still fit?</a:t>
            </a:r>
          </a:p>
          <a:p>
            <a:endParaRPr lang="en-US" dirty="0"/>
          </a:p>
          <a:p>
            <a:r>
              <a:rPr lang="en-US" dirty="0"/>
              <a:t>“next-token predictor”</a:t>
            </a:r>
          </a:p>
          <a:p>
            <a:r>
              <a:rPr lang="en-US" dirty="0"/>
              <a:t>“stochastic parrot”</a:t>
            </a:r>
          </a:p>
          <a:p>
            <a:endParaRPr lang="en-US" dirty="0"/>
          </a:p>
          <a:p>
            <a:r>
              <a:rPr lang="en-US" dirty="0"/>
              <a:t>Generation via repeated prediction</a:t>
            </a:r>
          </a:p>
          <a:p>
            <a:endParaRPr lang="en-US" dirty="0"/>
          </a:p>
          <a:p>
            <a:r>
              <a:rPr lang="en-US" dirty="0"/>
              <a:t>Make the point about truth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153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*should we* be using generative models for all NLP tasks?</a:t>
            </a:r>
          </a:p>
          <a:p>
            <a:endParaRPr lang="en-US" dirty="0"/>
          </a:p>
          <a:p>
            <a:r>
              <a:rPr lang="en-US" dirty="0"/>
              <a:t>Advantages?</a:t>
            </a:r>
          </a:p>
          <a:p>
            <a:pPr marL="171450" indent="-171450">
              <a:buFontTx/>
              <a:buChar char="-"/>
            </a:pPr>
            <a:r>
              <a:rPr lang="en-US" dirty="0"/>
              <a:t>zero-shot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convenient</a:t>
            </a:r>
          </a:p>
          <a:p>
            <a:endParaRPr lang="en-US" dirty="0"/>
          </a:p>
          <a:p>
            <a:r>
              <a:rPr lang="en-US" dirty="0"/>
              <a:t>Disadvantages?</a:t>
            </a:r>
          </a:p>
          <a:p>
            <a:r>
              <a:rPr lang="en-US" dirty="0"/>
              <a:t>- expensive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598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*should we* be using generative models for all NLP tasks?</a:t>
            </a:r>
          </a:p>
          <a:p>
            <a:endParaRPr lang="en-US" dirty="0"/>
          </a:p>
          <a:p>
            <a:r>
              <a:rPr lang="en-US" dirty="0"/>
              <a:t>Advantages?</a:t>
            </a:r>
          </a:p>
          <a:p>
            <a:pPr marL="171450" indent="-171450">
              <a:buFontTx/>
              <a:buChar char="-"/>
            </a:pPr>
            <a:r>
              <a:rPr lang="en-US" dirty="0"/>
              <a:t>zero-shot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convenient</a:t>
            </a:r>
          </a:p>
          <a:p>
            <a:endParaRPr lang="en-US" dirty="0"/>
          </a:p>
          <a:p>
            <a:r>
              <a:rPr lang="en-US" dirty="0"/>
              <a:t>Disadvantages?</a:t>
            </a:r>
          </a:p>
          <a:p>
            <a:r>
              <a:rPr lang="en-US" dirty="0"/>
              <a:t>- expensive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869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*should we* be using generative models for all NLP tasks?</a:t>
            </a:r>
          </a:p>
          <a:p>
            <a:endParaRPr lang="en-US" dirty="0"/>
          </a:p>
          <a:p>
            <a:r>
              <a:rPr lang="en-US" dirty="0"/>
              <a:t>Advantages?</a:t>
            </a:r>
          </a:p>
          <a:p>
            <a:pPr marL="171450" indent="-171450">
              <a:buFontTx/>
              <a:buChar char="-"/>
            </a:pPr>
            <a:r>
              <a:rPr lang="en-US" dirty="0"/>
              <a:t>zero-shot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convenient</a:t>
            </a:r>
          </a:p>
          <a:p>
            <a:endParaRPr lang="en-US" dirty="0"/>
          </a:p>
          <a:p>
            <a:r>
              <a:rPr lang="en-US" dirty="0"/>
              <a:t>Disadvantages?</a:t>
            </a:r>
          </a:p>
          <a:p>
            <a:r>
              <a:rPr lang="en-US" dirty="0"/>
              <a:t>- expensive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88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E2A3-8F68-03E1-587A-46037933A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584DC-2FEC-311C-FEC0-941D6972F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EB743-195D-A24E-AE33-6DE2F7EE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B1E1A-D64A-EF8D-C5E3-4FF56F6E9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2464-5A86-7C58-902C-7BD3AC67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5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C12F-26DD-876A-029D-4399DEE1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9B584-69FC-2FFA-4CF5-AF919EE3F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10FAB-2B77-7F53-C442-E2D93AF0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261D-CFD7-A0A3-8FE0-37042E4C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E9892-3472-EFA8-209A-F5919BDD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0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2FAE-61CA-D123-C2E2-91ECA24B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05870-4AD2-4F93-B4AD-01DD61BC8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37AF4-4B9D-5977-607D-27BC766D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E7BF-9AE7-E256-96A3-B3E86088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8BD48-823F-3482-DD6A-A2D3E373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6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A063-C35A-2836-9D49-977A1A9B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F2862-048F-0BED-D91D-A943AF987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2D000-0BE5-8E89-5B10-5EFA3A637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5C0C5-6A4E-942C-BF25-B31A901A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5B5D6-D16B-E653-5D40-A1BB56F8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CEC73-5BAE-E9D1-CC02-B491B8BD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4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1480D-301D-33A8-8EEF-6E87E6FB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54796-E2B9-D5D6-5E2B-BE2A3A64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7A09B-1A73-E136-B839-039D78DC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D9D70A-02F3-8A6F-C99E-F98B2D012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6AEF2-495C-1699-F1C7-7D003DD3AF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2B642-F7B6-22C0-0977-B1507F47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E11CC-FBCB-CCB0-537D-8A2C9FA0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69B64-1DF8-9A10-1541-F3FDE939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2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75FA-55AC-96EF-64B0-9FEEE890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E08E4-519F-E3C0-87E5-61AFECAA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CC263-901B-6935-43F9-58BF2385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50203-B5BC-0573-55DF-AB2BDA0C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7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1F979-E231-4EAA-AD7B-62F57C42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764D7-2D79-347D-D349-17B7C84E4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C7977-A919-1BCC-FC89-57792A99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2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39AAA-C22E-9E58-D63A-99BCE582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6B5B5-93D3-74C7-2173-83FEE997F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B4A00-0F7F-A015-56BA-45675877D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DE32F-4EB0-63B1-5798-B12D3BC7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18FE8-63FF-133C-CC7D-BE24E1F6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AB7B3-C41B-3EF3-6AA6-3BE4DEB7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2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6AB4-0C8E-8B28-88B5-999E341C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8F739-710A-C6B8-CDB6-3AB6AF16E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7D66F-0EF6-A32A-15FC-E2C29C3F4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54D5C-153F-A55C-321F-3E916D6C7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A0A08-952E-2BF8-444D-463F6778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F77D5-DA4C-CCF4-54EE-F4538C66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6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8B75-438E-A0EE-A5E3-D0D3DD35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F3A72-8BAD-B89F-228F-A1D8FF5BC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00B80-ACEC-B622-8D98-46940048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7B6D7-547C-5B7A-FEB2-025CF973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788B2-2462-D6A7-D3DB-E2226C64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0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FAF38-82DF-D2CF-9043-06FC1559D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108C3-9B9F-BD98-0B71-461BB7EE8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A92FC-9D39-DD11-F52A-72A2DD87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2F68A-9D7F-79D7-EF88-7771D466F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D215-CE38-EF45-8214-B1038651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0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8E24D1-E4CA-89E5-1A57-B711C849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3852D-406F-0CDD-BFC9-0F7679FA2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C6CA-48F5-4CF6-D9D7-044A13941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481E7-3EC7-124A-8537-0C0EDDAF5CB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D2888-29FB-B904-47F6-7B338D1A0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DB7F5-1F7D-730C-53DC-D8469DFD2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3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tiff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e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12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tiff"/><Relationship Id="rId5" Type="http://schemas.openxmlformats.org/officeDocument/2006/relationships/image" Target="../media/image12.png"/><Relationship Id="rId10" Type="http://schemas.openxmlformats.org/officeDocument/2006/relationships/image" Target="../media/image17.tiff"/><Relationship Id="rId4" Type="http://schemas.openxmlformats.org/officeDocument/2006/relationships/image" Target="../media/image11.jpeg"/><Relationship Id="rId9" Type="http://schemas.openxmlformats.org/officeDocument/2006/relationships/image" Target="../media/image16.tif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png"/><Relationship Id="rId18" Type="http://schemas.openxmlformats.org/officeDocument/2006/relationships/image" Target="../media/image36.jpe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12" Type="http://schemas.openxmlformats.org/officeDocument/2006/relationships/image" Target="../media/image30.jpeg"/><Relationship Id="rId17" Type="http://schemas.openxmlformats.org/officeDocument/2006/relationships/image" Target="../media/image35.jpe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jpeg"/><Relationship Id="rId20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11" Type="http://schemas.openxmlformats.org/officeDocument/2006/relationships/image" Target="../media/image29.jpeg"/><Relationship Id="rId5" Type="http://schemas.openxmlformats.org/officeDocument/2006/relationships/image" Target="../media/image23.jpeg"/><Relationship Id="rId15" Type="http://schemas.openxmlformats.org/officeDocument/2006/relationships/image" Target="../media/image33.png"/><Relationship Id="rId10" Type="http://schemas.openxmlformats.org/officeDocument/2006/relationships/image" Target="../media/image28.jpeg"/><Relationship Id="rId19" Type="http://schemas.openxmlformats.org/officeDocument/2006/relationships/image" Target="../media/image37.jpeg"/><Relationship Id="rId4" Type="http://schemas.openxmlformats.org/officeDocument/2006/relationships/image" Target="../media/image22.jpeg"/><Relationship Id="rId9" Type="http://schemas.openxmlformats.org/officeDocument/2006/relationships/image" Target="../media/image27.jpeg"/><Relationship Id="rId14" Type="http://schemas.openxmlformats.org/officeDocument/2006/relationships/image" Target="../media/image3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8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150.png"/><Relationship Id="rId10" Type="http://schemas.microsoft.com/office/2007/relationships/hdphoto" Target="../media/hdphoto6.wdp"/><Relationship Id="rId4" Type="http://schemas.openxmlformats.org/officeDocument/2006/relationships/image" Target="../media/image59.png"/><Relationship Id="rId9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20.png"/><Relationship Id="rId7" Type="http://schemas.openxmlformats.org/officeDocument/2006/relationships/image" Target="../media/image6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10.png"/><Relationship Id="rId9" Type="http://schemas.microsoft.com/office/2007/relationships/hdphoto" Target="../media/hdphoto7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microsoft.com/office/2007/relationships/hdphoto" Target="../media/hdphoto6.wdp"/><Relationship Id="rId5" Type="http://schemas.openxmlformats.org/officeDocument/2006/relationships/image" Target="../media/image62.png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microsoft.com/office/2007/relationships/hdphoto" Target="../media/hdphoto8.wdp"/><Relationship Id="rId4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.png"/><Relationship Id="rId5" Type="http://schemas.microsoft.com/office/2007/relationships/hdphoto" Target="../media/hdphoto6.wdp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microsoft.com/office/2007/relationships/hdphoto" Target="../media/hdphoto9.wdp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eg"/><Relationship Id="rId13" Type="http://schemas.openxmlformats.org/officeDocument/2006/relationships/image" Target="../media/image87.jpeg"/><Relationship Id="rId18" Type="http://schemas.openxmlformats.org/officeDocument/2006/relationships/image" Target="../media/image92.jpeg"/><Relationship Id="rId3" Type="http://schemas.openxmlformats.org/officeDocument/2006/relationships/image" Target="../media/image77.jpeg"/><Relationship Id="rId21" Type="http://schemas.openxmlformats.org/officeDocument/2006/relationships/image" Target="../media/image95.jpeg"/><Relationship Id="rId7" Type="http://schemas.openxmlformats.org/officeDocument/2006/relationships/image" Target="../media/image81.jpeg"/><Relationship Id="rId12" Type="http://schemas.openxmlformats.org/officeDocument/2006/relationships/image" Target="../media/image86.jpeg"/><Relationship Id="rId17" Type="http://schemas.openxmlformats.org/officeDocument/2006/relationships/image" Target="../media/image91.jpe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90.jpeg"/><Relationship Id="rId20" Type="http://schemas.openxmlformats.org/officeDocument/2006/relationships/image" Target="../media/image9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jpeg"/><Relationship Id="rId11" Type="http://schemas.openxmlformats.org/officeDocument/2006/relationships/image" Target="../media/image85.jpeg"/><Relationship Id="rId5" Type="http://schemas.openxmlformats.org/officeDocument/2006/relationships/image" Target="../media/image79.jpeg"/><Relationship Id="rId15" Type="http://schemas.openxmlformats.org/officeDocument/2006/relationships/image" Target="../media/image89.jpeg"/><Relationship Id="rId10" Type="http://schemas.openxmlformats.org/officeDocument/2006/relationships/image" Target="../media/image84.jpeg"/><Relationship Id="rId19" Type="http://schemas.openxmlformats.org/officeDocument/2006/relationships/image" Target="../media/image93.jpeg"/><Relationship Id="rId4" Type="http://schemas.openxmlformats.org/officeDocument/2006/relationships/image" Target="../media/image78.jpeg"/><Relationship Id="rId9" Type="http://schemas.openxmlformats.org/officeDocument/2006/relationships/image" Target="../media/image83.jpeg"/><Relationship Id="rId14" Type="http://schemas.openxmlformats.org/officeDocument/2006/relationships/image" Target="../media/image88.jpeg"/><Relationship Id="rId22" Type="http://schemas.openxmlformats.org/officeDocument/2006/relationships/image" Target="../media/image96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jpeg"/><Relationship Id="rId4" Type="http://schemas.openxmlformats.org/officeDocument/2006/relationships/image" Target="../media/image9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7BAB68-D213-0734-360F-208089C1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8"/>
            <a:ext cx="12192000" cy="68540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C5C17F-7A6A-F2D5-397F-65D9F8E48C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</a:t>
            </a:r>
            <a:br>
              <a:rPr lang="en-US" dirty="0"/>
            </a:br>
            <a:r>
              <a:rPr lang="en-US" dirty="0"/>
              <a:t>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1886C-43B3-9A64-E166-0E549123E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Matt Engelhard</a:t>
            </a:r>
          </a:p>
          <a:p>
            <a:r>
              <a:rPr lang="en-US" dirty="0"/>
              <a:t>Duke Biostatistics &amp;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99372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DA307-9994-6966-68BC-7022867B27D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9680" y="2062754"/>
            <a:ext cx="4131300" cy="22344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6F3C77-C9BE-2D7A-9EBD-638F568639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86066" y="2658964"/>
            <a:ext cx="4293135" cy="39911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DEB326-C15F-A147-990A-E3803E675F3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88596" y="525517"/>
            <a:ext cx="3626069" cy="483475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CB46F6-2182-84FC-BEE9-22670A4C342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5835869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About Matt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B6F7E-6948-E289-0AB4-3D82D54E78CA}"/>
              </a:ext>
            </a:extLst>
          </p:cNvPr>
          <p:cNvSpPr txBox="1"/>
          <p:nvPr/>
        </p:nvSpPr>
        <p:spPr>
          <a:xfrm>
            <a:off x="419680" y="4469872"/>
            <a:ext cx="2236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Duke Undergraduate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8E830-B410-BACF-C02D-6241616A2BF9}"/>
              </a:ext>
            </a:extLst>
          </p:cNvPr>
          <p:cNvSpPr txBox="1"/>
          <p:nvPr/>
        </p:nvSpPr>
        <p:spPr>
          <a:xfrm>
            <a:off x="5230795" y="2176193"/>
            <a:ext cx="1730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MD/PhD at UVA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0E7DF-282D-7573-A9AF-6B8972DD1A1D}"/>
              </a:ext>
            </a:extLst>
          </p:cNvPr>
          <p:cNvSpPr txBox="1"/>
          <p:nvPr/>
        </p:nvSpPr>
        <p:spPr>
          <a:xfrm>
            <a:off x="8520869" y="5451196"/>
            <a:ext cx="309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Duke B&amp;B Faculty Since 2021</a:t>
            </a:r>
          </a:p>
        </p:txBody>
      </p:sp>
    </p:spTree>
    <p:extLst>
      <p:ext uri="{BB962C8B-B14F-4D97-AF65-F5344CB8AC3E}">
        <p14:creationId xmlns:p14="http://schemas.microsoft.com/office/powerpoint/2010/main" val="228989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ED7F-4806-0963-DC0A-E76CD339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588"/>
            <a:ext cx="10515600" cy="859404"/>
          </a:xfrm>
        </p:spPr>
        <p:txBody>
          <a:bodyPr/>
          <a:lstStyle/>
          <a:p>
            <a:r>
              <a:rPr lang="en-US" dirty="0"/>
              <a:t>AI for enhanced neurodevelopmental support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7F2B55-9D27-ACBB-A0D7-A26994CE86F1}"/>
              </a:ext>
            </a:extLst>
          </p:cNvPr>
          <p:cNvSpPr/>
          <p:nvPr/>
        </p:nvSpPr>
        <p:spPr>
          <a:xfrm>
            <a:off x="4969356" y="2089335"/>
            <a:ext cx="2016626" cy="231663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Predictive AI</a:t>
            </a:r>
          </a:p>
          <a:p>
            <a:pPr algn="ctr"/>
            <a:endParaRPr lang="en-US" sz="1400" b="1" dirty="0"/>
          </a:p>
          <a:p>
            <a:pPr marL="285750" indent="-285750">
              <a:buFontTx/>
              <a:buChar char="-"/>
            </a:pPr>
            <a:r>
              <a:rPr lang="en-US" sz="1400" dirty="0"/>
              <a:t>Likelihood of autism and ADHD diagnosis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Contextual info including risk of loss to follow-up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63AD29-C69C-0257-2ADE-AF1A5075C44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58" b="91270" l="4535" r="93140">
                        <a14:foregroundMark x1="52558" y1="15476" x2="42209" y2="18552"/>
                        <a14:foregroundMark x1="42209" y1="18552" x2="38721" y2="28373"/>
                        <a14:foregroundMark x1="38721" y1="28373" x2="50814" y2="33433"/>
                        <a14:foregroundMark x1="50814" y1="33433" x2="59535" y2="29464"/>
                        <a14:foregroundMark x1="59535" y1="29464" x2="60581" y2="20734"/>
                        <a14:foregroundMark x1="41860" y1="6746" x2="51279" y2="5357"/>
                        <a14:foregroundMark x1="51279" y1="5357" x2="56279" y2="5655"/>
                        <a14:foregroundMark x1="77674" y1="61409" x2="79302" y2="63294"/>
                        <a14:foregroundMark x1="91512" y1="65377" x2="93140" y2="76190"/>
                        <a14:foregroundMark x1="37674" y1="90774" x2="61395" y2="91369"/>
                        <a14:foregroundMark x1="17674" y1="52679" x2="9302" y2="67560"/>
                        <a14:foregroundMark x1="9302" y1="67560" x2="9070" y2="76290"/>
                        <a14:foregroundMark x1="4535" y1="71627" x2="4884" y2="759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150" y="4499455"/>
            <a:ext cx="1538093" cy="1802788"/>
          </a:xfrm>
          <a:prstGeom prst="rect">
            <a:avLst/>
          </a:prstGeom>
        </p:spPr>
      </p:pic>
      <p:sp>
        <p:nvSpPr>
          <p:cNvPr id="8" name="Can 7">
            <a:extLst>
              <a:ext uri="{FF2B5EF4-FFF2-40B4-BE49-F238E27FC236}">
                <a16:creationId xmlns:a16="http://schemas.microsoft.com/office/drawing/2014/main" id="{18C0A19B-AD3A-96C3-B976-7E67FE8D3721}"/>
              </a:ext>
            </a:extLst>
          </p:cNvPr>
          <p:cNvSpPr/>
          <p:nvPr/>
        </p:nvSpPr>
        <p:spPr>
          <a:xfrm>
            <a:off x="7341378" y="4848111"/>
            <a:ext cx="2010797" cy="1692362"/>
          </a:xfrm>
          <a:prstGeom prst="can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Vector Database</a:t>
            </a:r>
          </a:p>
          <a:p>
            <a:pPr algn="ctr"/>
            <a:endParaRPr lang="en-US" sz="500" dirty="0"/>
          </a:p>
          <a:p>
            <a:pPr algn="ctr"/>
            <a:r>
              <a:rPr lang="en-US" sz="1400" dirty="0"/>
              <a:t>evidence-based best practices around early intervention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3D6CA6-5C1B-7671-FA5E-360A4285AFC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6087" y="2089335"/>
            <a:ext cx="3807105" cy="20231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3E21E0-EA96-DE6D-0231-0B2E1402B99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20" b="91884" l="9885" r="90026">
                        <a14:foregroundMark x1="60547" y1="11323" x2="60547" y2="11323"/>
                        <a14:foregroundMark x1="21094" y1="83667" x2="21094" y2="83667"/>
                        <a14:foregroundMark x1="25508" y1="91884" x2="25508" y2="91884"/>
                        <a14:foregroundMark x1="51545" y1="77054" x2="51545" y2="77054"/>
                        <a14:foregroundMark x1="57282" y1="76854" x2="57282" y2="76854"/>
                        <a14:foregroundMark x1="58694" y1="58216" x2="58694" y2="58216"/>
                        <a14:foregroundMark x1="47396" y1="27054" x2="47396" y2="27054"/>
                        <a14:foregroundMark x1="35834" y1="16433" x2="57282" y2="59018"/>
                        <a14:foregroundMark x1="17829" y1="76854" x2="75552" y2="36874"/>
                        <a14:foregroundMark x1="67608" y1="89980" x2="40512" y2="17535"/>
                        <a14:foregroundMark x1="40512" y1="17535" x2="73698" y2="26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81143" y="4808582"/>
            <a:ext cx="1050078" cy="9245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515E69-89F0-E19E-F1EA-83A69A401581}"/>
              </a:ext>
            </a:extLst>
          </p:cNvPr>
          <p:cNvSpPr txBox="1"/>
          <p:nvPr/>
        </p:nvSpPr>
        <p:spPr>
          <a:xfrm>
            <a:off x="6081161" y="5885530"/>
            <a:ext cx="850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Clinical </a:t>
            </a:r>
          </a:p>
          <a:p>
            <a:pPr algn="ctr"/>
            <a:r>
              <a:rPr lang="en-US" sz="1400" b="1" dirty="0"/>
              <a:t>notes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8806B-9855-62CC-CF7D-04B7EA83C29D}"/>
              </a:ext>
            </a:extLst>
          </p:cNvPr>
          <p:cNvSpPr txBox="1"/>
          <p:nvPr/>
        </p:nvSpPr>
        <p:spPr>
          <a:xfrm>
            <a:off x="8073061" y="2204413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GenAI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5871ED-9334-B0F9-6666-7243698FBEB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985982" y="3247650"/>
            <a:ext cx="850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2A932AD-B99D-F319-4F0A-8566EC4BB024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8346776" y="4112457"/>
            <a:ext cx="1" cy="735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97EFF9-C213-F4F6-5BAD-1A383BD2D6E5}"/>
              </a:ext>
            </a:extLst>
          </p:cNvPr>
          <p:cNvCxnSpPr>
            <a:cxnSpLocks/>
          </p:cNvCxnSpPr>
          <p:nvPr/>
        </p:nvCxnSpPr>
        <p:spPr>
          <a:xfrm>
            <a:off x="10493197" y="4134316"/>
            <a:ext cx="0" cy="383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4B244F-1769-5399-7FA4-5C19C41ED155}"/>
              </a:ext>
            </a:extLst>
          </p:cNvPr>
          <p:cNvCxnSpPr>
            <a:cxnSpLocks/>
          </p:cNvCxnSpPr>
          <p:nvPr/>
        </p:nvCxnSpPr>
        <p:spPr>
          <a:xfrm flipV="1">
            <a:off x="5248428" y="4431510"/>
            <a:ext cx="220849" cy="484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8FF217-BC05-5804-F5B6-6144A70D1EDA}"/>
              </a:ext>
            </a:extLst>
          </p:cNvPr>
          <p:cNvCxnSpPr>
            <a:cxnSpLocks/>
          </p:cNvCxnSpPr>
          <p:nvPr/>
        </p:nvCxnSpPr>
        <p:spPr>
          <a:xfrm flipH="1" flipV="1">
            <a:off x="6324658" y="4409705"/>
            <a:ext cx="51278" cy="3988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5659D3D-416D-E324-1EFC-36919B6C2857}"/>
              </a:ext>
            </a:extLst>
          </p:cNvPr>
          <p:cNvSpPr txBox="1"/>
          <p:nvPr/>
        </p:nvSpPr>
        <p:spPr>
          <a:xfrm>
            <a:off x="5124176" y="1154229"/>
            <a:ext cx="6718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pPr algn="ctr"/>
            <a:r>
              <a:rPr lang="en-US" u="sng" dirty="0"/>
              <a:t>AI-based recommendations supporting personalized early actions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99042F-265B-CF71-E6B7-6CCC7416367E}"/>
              </a:ext>
            </a:extLst>
          </p:cNvPr>
          <p:cNvSpPr txBox="1"/>
          <p:nvPr/>
        </p:nvSpPr>
        <p:spPr>
          <a:xfrm>
            <a:off x="9527130" y="6232702"/>
            <a:ext cx="1932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Primary care provider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C3F4E1-8C70-47A1-F8D8-31DB73CB4668}"/>
              </a:ext>
            </a:extLst>
          </p:cNvPr>
          <p:cNvSpPr txBox="1"/>
          <p:nvPr/>
        </p:nvSpPr>
        <p:spPr>
          <a:xfrm>
            <a:off x="381925" y="1154229"/>
            <a:ext cx="3774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Problem</a:t>
            </a:r>
            <a:r>
              <a:rPr lang="en-US" dirty="0"/>
              <a:t>: </a:t>
            </a:r>
            <a:endParaRPr lang="en-US" u="sng" dirty="0"/>
          </a:p>
          <a:p>
            <a:pPr algn="ctr"/>
            <a:r>
              <a:rPr lang="en-US" u="sng" dirty="0"/>
              <a:t>Inconsistent recognition and referral</a:t>
            </a:r>
            <a:endParaRPr lang="en-US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9E361756-095B-6E6E-E25B-1DEC2179F04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53388" y="2089335"/>
            <a:ext cx="1879040" cy="172337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37AAE6C1-158D-6017-56E6-8056A3B1B54B}"/>
              </a:ext>
            </a:extLst>
          </p:cNvPr>
          <p:cNvSpPr txBox="1"/>
          <p:nvPr/>
        </p:nvSpPr>
        <p:spPr>
          <a:xfrm>
            <a:off x="2860642" y="2366248"/>
            <a:ext cx="10033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Relevant info is scattered across the EHR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772DCCF-94B4-D0FF-D330-D40613D9B81D}"/>
              </a:ext>
            </a:extLst>
          </p:cNvPr>
          <p:cNvCxnSpPr/>
          <p:nvPr/>
        </p:nvCxnSpPr>
        <p:spPr>
          <a:xfrm>
            <a:off x="4370507" y="1154229"/>
            <a:ext cx="0" cy="538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45854AC-2DB7-CD6C-4C41-243927F865C0}"/>
              </a:ext>
            </a:extLst>
          </p:cNvPr>
          <p:cNvSpPr txBox="1"/>
          <p:nvPr/>
        </p:nvSpPr>
        <p:spPr>
          <a:xfrm>
            <a:off x="2023671" y="4112457"/>
            <a:ext cx="2138141" cy="2323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Times New Roman" panose="02020603050405020304" pitchFamily="18" charset="0"/>
              </a:rPr>
              <a:t>“C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linicians wanted a breakdown of </a:t>
            </a:r>
            <a:r>
              <a:rPr lang="en-US" sz="1100" b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specific EHR data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that informed autism likelihood predictions, along with an explanation of how the AI-based system worked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Clinicians also wanted </a:t>
            </a:r>
            <a:r>
              <a:rPr lang="en-US" sz="1100" b="1" u="sng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actionable guidance</a:t>
            </a:r>
            <a:r>
              <a:rPr lang="en-US" sz="11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 next steps following a positive screen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</a:rPr>
              <a:t>”</a:t>
            </a:r>
          </a:p>
          <a:p>
            <a:endParaRPr lang="en-US" sz="1100" dirty="0">
              <a:latin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</a:rPr>
              <a:t>Emovon</a:t>
            </a:r>
            <a:r>
              <a:rPr lang="en-US" sz="700" dirty="0">
                <a:latin typeface="Calibri" panose="020F0502020204030204" pitchFamily="34" charset="0"/>
              </a:rPr>
              <a:t>, Driggers-Jones, Engelhard, Maslow, Dawson, Goldstein, and Franz. </a:t>
            </a:r>
            <a:r>
              <a:rPr lang="en-US" sz="700" dirty="0"/>
              <a:t>Understanding End-user Contexts and Identifying Design Preferences of an AI-based Clinical Decision Support Tool for Early Autism Detection. Submitted to JAMIA Open.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9061B76-E4F1-3F0B-FFB0-02F2B708BAF2}"/>
              </a:ext>
            </a:extLst>
          </p:cNvPr>
          <p:cNvSpPr txBox="1"/>
          <p:nvPr/>
        </p:nvSpPr>
        <p:spPr>
          <a:xfrm>
            <a:off x="646298" y="4470657"/>
            <a:ext cx="13531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Providers need tailored guidance supporting early action and intervention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C9DB45-82FD-3C5A-9661-4A73EC3AC1CB}"/>
              </a:ext>
            </a:extLst>
          </p:cNvPr>
          <p:cNvSpPr txBox="1"/>
          <p:nvPr/>
        </p:nvSpPr>
        <p:spPr>
          <a:xfrm>
            <a:off x="4681441" y="5670086"/>
            <a:ext cx="10979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Structured </a:t>
            </a:r>
          </a:p>
          <a:p>
            <a:pPr algn="ctr"/>
            <a:r>
              <a:rPr lang="en-US" sz="1400" b="1" dirty="0"/>
              <a:t>EHR</a:t>
            </a:r>
          </a:p>
          <a:p>
            <a:pPr algn="ctr"/>
            <a:r>
              <a:rPr lang="en-US" sz="1400" b="1" dirty="0"/>
              <a:t>histories</a:t>
            </a:r>
          </a:p>
        </p:txBody>
      </p:sp>
      <p:pic>
        <p:nvPicPr>
          <p:cNvPr id="76" name="Picture 4" descr="Generated image">
            <a:extLst>
              <a:ext uri="{FF2B5EF4-FFF2-40B4-BE49-F238E27FC236}">
                <a16:creationId xmlns:a16="http://schemas.microsoft.com/office/drawing/2014/main" id="{133F60E2-F23C-93E3-59FA-266346B534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screen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73" b="89773" l="5268" r="90805">
                        <a14:foregroundMark x1="20594" y1="27500" x2="20594" y2="27500"/>
                        <a14:foregroundMark x1="13793" y1="45682" x2="13793" y2="45682"/>
                        <a14:foregroundMark x1="9866" y1="44318" x2="16379" y2="45682"/>
                        <a14:foregroundMark x1="38697" y1="57045" x2="42912" y2="33636"/>
                        <a14:foregroundMark x1="35345" y1="59773" x2="38314" y2="25682"/>
                        <a14:foregroundMark x1="38314" y1="25682" x2="45498" y2="54318"/>
                        <a14:foregroundMark x1="58142" y1="52273" x2="64080" y2="51818"/>
                        <a14:foregroundMark x1="79023" y1="55682" x2="86973" y2="46364"/>
                        <a14:foregroundMark x1="57854" y1="49773" x2="60153" y2="39091"/>
                        <a14:foregroundMark x1="81609" y1="53636" x2="86973" y2="48409"/>
                        <a14:foregroundMark x1="89272" y1="45000" x2="89272" y2="45000"/>
                        <a14:foregroundMark x1="88410" y1="52273" x2="89751" y2="42955"/>
                        <a14:foregroundMark x1="36111" y1="59091" x2="45498" y2="32045"/>
                        <a14:foregroundMark x1="45498" y1="32045" x2="45498" y2="26818"/>
                        <a14:foregroundMark x1="90900" y1="78409" x2="89272" y2="79091"/>
                        <a14:foregroundMark x1="35345" y1="60455" x2="46839" y2="59091"/>
                        <a14:foregroundMark x1="88697" y1="39091" x2="90038" y2="52273"/>
                        <a14:foregroundMark x1="5364" y1="78409" x2="5364" y2="784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3559" y="5004899"/>
            <a:ext cx="1365076" cy="57627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10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E1FEB-752D-2D2C-E6A0-8346C638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90FD5E27-B2E8-45C4-8563-36B8604A614A}"/>
              </a:ext>
            </a:extLst>
          </p:cNvPr>
          <p:cNvSpPr txBox="1"/>
          <p:nvPr/>
        </p:nvSpPr>
        <p:spPr>
          <a:xfrm>
            <a:off x="7386567" y="2778891"/>
            <a:ext cx="15279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distribution</a:t>
            </a:r>
          </a:p>
          <a:p>
            <a:pPr algn="ctr"/>
            <a:r>
              <a:rPr lang="en-US" sz="1400" dirty="0"/>
              <a:t>shift(s)</a:t>
            </a:r>
          </a:p>
          <a:p>
            <a:pPr algn="ctr"/>
            <a:endParaRPr lang="en-US" sz="1400" dirty="0"/>
          </a:p>
          <a:p>
            <a:pPr algn="ctr"/>
            <a:r>
              <a:rPr lang="en-US" sz="1200" dirty="0"/>
              <a:t>[use distributionally robust AI]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D5659F-1520-57EB-985F-CA4939B26253}"/>
              </a:ext>
            </a:extLst>
          </p:cNvPr>
          <p:cNvSpPr/>
          <p:nvPr/>
        </p:nvSpPr>
        <p:spPr>
          <a:xfrm>
            <a:off x="4838522" y="2204737"/>
            <a:ext cx="2476313" cy="2317860"/>
          </a:xfrm>
          <a:prstGeom prst="round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43F57-D710-76C8-D7CA-43FFC3BB3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588"/>
            <a:ext cx="10515600" cy="859404"/>
          </a:xfrm>
        </p:spPr>
        <p:txBody>
          <a:bodyPr/>
          <a:lstStyle/>
          <a:p>
            <a:r>
              <a:rPr lang="en-US" dirty="0"/>
              <a:t>AI to improve rural adolescent mental health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014FE5-10AA-B93E-F8B6-4C2C6134D870}"/>
              </a:ext>
            </a:extLst>
          </p:cNvPr>
          <p:cNvSpPr txBox="1"/>
          <p:nvPr/>
        </p:nvSpPr>
        <p:spPr>
          <a:xfrm>
            <a:off x="5840513" y="1154229"/>
            <a:ext cx="52861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pPr algn="ctr"/>
            <a:r>
              <a:rPr lang="en-US" i="1" u="sng" dirty="0"/>
              <a:t>Mechanistic</a:t>
            </a:r>
            <a:r>
              <a:rPr lang="en-US" u="sng" dirty="0"/>
              <a:t> AI model that identifies high-risk youth </a:t>
            </a:r>
          </a:p>
          <a:p>
            <a:pPr algn="ctr"/>
            <a:r>
              <a:rPr lang="en-US" u="sng" dirty="0"/>
              <a:t>and suggests possible intervention target(s)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BCDC6D-1A70-EAAE-3FA5-376BB33E30BA}"/>
              </a:ext>
            </a:extLst>
          </p:cNvPr>
          <p:cNvSpPr txBox="1"/>
          <p:nvPr/>
        </p:nvSpPr>
        <p:spPr>
          <a:xfrm>
            <a:off x="534728" y="1154229"/>
            <a:ext cx="3468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Problem</a:t>
            </a:r>
            <a:r>
              <a:rPr lang="en-US" dirty="0"/>
              <a:t>: </a:t>
            </a:r>
            <a:endParaRPr lang="en-US" u="sng" dirty="0"/>
          </a:p>
          <a:p>
            <a:pPr algn="ctr"/>
            <a:r>
              <a:rPr lang="en-US" u="sng" dirty="0"/>
              <a:t>Mental health crisis in rural youth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AAB3BC-F216-3E9E-A535-7D36F9885479}"/>
              </a:ext>
            </a:extLst>
          </p:cNvPr>
          <p:cNvSpPr txBox="1"/>
          <p:nvPr/>
        </p:nvSpPr>
        <p:spPr>
          <a:xfrm>
            <a:off x="615399" y="3554813"/>
            <a:ext cx="314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Increasing mental health diagnoses among children ages 12-17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FBECC0A-F725-BF6B-0840-1AF83445F8F9}"/>
              </a:ext>
            </a:extLst>
          </p:cNvPr>
          <p:cNvCxnSpPr/>
          <p:nvPr/>
        </p:nvCxnSpPr>
        <p:spPr>
          <a:xfrm>
            <a:off x="4498258" y="1154229"/>
            <a:ext cx="0" cy="53862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B7B5D8B-29E8-5FAA-4098-CC59236E03CE}"/>
              </a:ext>
            </a:extLst>
          </p:cNvPr>
          <p:cNvSpPr txBox="1"/>
          <p:nvPr/>
        </p:nvSpPr>
        <p:spPr>
          <a:xfrm>
            <a:off x="646299" y="4470657"/>
            <a:ext cx="10353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Profound shortage of mental health providers in rural areas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F40EC-AD55-F128-3E1A-6FD26049A2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89950" y="2298121"/>
            <a:ext cx="1812099" cy="83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0968AED-0B91-B0A9-7A3A-3354C29CA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81458" y="3169761"/>
            <a:ext cx="1429083" cy="778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818EE95D-D155-CDCE-4ADB-E5DCF4367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85494" y="2413987"/>
            <a:ext cx="2168306" cy="43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Wake Forest University School of Medicine forms publishing agreement with  Frontiers">
            <a:extLst>
              <a:ext uri="{FF2B5EF4-FFF2-40B4-BE49-F238E27FC236}">
                <a16:creationId xmlns:a16="http://schemas.microsoft.com/office/drawing/2014/main" id="{BD9C28F5-B3B1-CBAC-D6E5-2A4492894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85494" y="2971383"/>
            <a:ext cx="2168306" cy="43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4" descr="UNC School of Medicine | UNC School of Medicine">
            <a:extLst>
              <a:ext uri="{FF2B5EF4-FFF2-40B4-BE49-F238E27FC236}">
                <a16:creationId xmlns:a16="http://schemas.microsoft.com/office/drawing/2014/main" id="{8BBEE773-ADB4-187E-394C-6834DD895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85494" y="3503542"/>
            <a:ext cx="2168306" cy="38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D761F63-0FE6-C39C-8618-30524B4CBB34}"/>
              </a:ext>
            </a:extLst>
          </p:cNvPr>
          <p:cNvSpPr txBox="1"/>
          <p:nvPr/>
        </p:nvSpPr>
        <p:spPr>
          <a:xfrm>
            <a:off x="9295383" y="3996791"/>
            <a:ext cx="19412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Validate in geographically </a:t>
            </a:r>
          </a:p>
          <a:p>
            <a:pPr algn="ctr"/>
            <a:r>
              <a:rPr lang="en-US" sz="1050" b="1" dirty="0"/>
              <a:t>distributed rural populations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BBAFF21-6A85-A1CC-7F48-C7171E747B6B}"/>
              </a:ext>
            </a:extLst>
          </p:cNvPr>
          <p:cNvSpPr/>
          <p:nvPr/>
        </p:nvSpPr>
        <p:spPr>
          <a:xfrm>
            <a:off x="8986274" y="2204737"/>
            <a:ext cx="2559428" cy="2317860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EA50AC3-BA7B-A205-ACB0-BFE2DA4E951C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7314835" y="3363667"/>
            <a:ext cx="167143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562EF36-A473-56B6-B283-33C2909B60DC}"/>
              </a:ext>
            </a:extLst>
          </p:cNvPr>
          <p:cNvSpPr txBox="1"/>
          <p:nvPr/>
        </p:nvSpPr>
        <p:spPr>
          <a:xfrm>
            <a:off x="5125394" y="3996791"/>
            <a:ext cx="194121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Develop initial AI model in ABCD Study population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8AE71D8-39BB-C840-247F-1CE25D6C5F95}"/>
              </a:ext>
            </a:extLst>
          </p:cNvPr>
          <p:cNvSpPr/>
          <p:nvPr/>
        </p:nvSpPr>
        <p:spPr>
          <a:xfrm>
            <a:off x="4834704" y="4752628"/>
            <a:ext cx="2480129" cy="1787845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77E9E4-1005-6FC7-B4C7-7275C54C6224}"/>
              </a:ext>
            </a:extLst>
          </p:cNvPr>
          <p:cNvCxnSpPr>
            <a:cxnSpLocks/>
          </p:cNvCxnSpPr>
          <p:nvPr/>
        </p:nvCxnSpPr>
        <p:spPr>
          <a:xfrm flipH="1">
            <a:off x="7314833" y="4112457"/>
            <a:ext cx="1671439" cy="10248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Google Shape;124;p23">
            <a:extLst>
              <a:ext uri="{FF2B5EF4-FFF2-40B4-BE49-F238E27FC236}">
                <a16:creationId xmlns:a16="http://schemas.microsoft.com/office/drawing/2014/main" id="{A908D662-B154-1093-5253-7118582E470B}"/>
              </a:ext>
            </a:extLst>
          </p:cNvPr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09771" y="4817089"/>
            <a:ext cx="1972458" cy="95558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0F31ADD5-E1A9-D07F-C90A-CB23C94D86F1}"/>
              </a:ext>
            </a:extLst>
          </p:cNvPr>
          <p:cNvSpPr txBox="1"/>
          <p:nvPr/>
        </p:nvSpPr>
        <p:spPr>
          <a:xfrm>
            <a:off x="5089861" y="5868032"/>
            <a:ext cx="201227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Incorporate information about home environments via AI-based </a:t>
            </a:r>
            <a:r>
              <a:rPr lang="en-US" sz="1050" b="1" i="1" dirty="0"/>
              <a:t>digital envirotyping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DC4A85-5A25-36F4-5B0B-2F3C6B145712}"/>
              </a:ext>
            </a:extLst>
          </p:cNvPr>
          <p:cNvSpPr/>
          <p:nvPr/>
        </p:nvSpPr>
        <p:spPr>
          <a:xfrm>
            <a:off x="9025923" y="4752628"/>
            <a:ext cx="2480129" cy="1787845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1AD15E9-50BD-FEC4-BC0B-EB7BB12920CD}"/>
              </a:ext>
            </a:extLst>
          </p:cNvPr>
          <p:cNvCxnSpPr>
            <a:cxnSpLocks/>
            <a:stCxn id="34" idx="3"/>
            <a:endCxn id="42" idx="1"/>
          </p:cNvCxnSpPr>
          <p:nvPr/>
        </p:nvCxnSpPr>
        <p:spPr>
          <a:xfrm>
            <a:off x="7314833" y="5646551"/>
            <a:ext cx="171109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9667480-215B-196C-679D-CB43183BB29E}"/>
              </a:ext>
            </a:extLst>
          </p:cNvPr>
          <p:cNvSpPr txBox="1"/>
          <p:nvPr/>
        </p:nvSpPr>
        <p:spPr>
          <a:xfrm>
            <a:off x="7406390" y="5697506"/>
            <a:ext cx="15279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Add-on</a:t>
            </a:r>
          </a:p>
          <a:p>
            <a:pPr algn="ctr"/>
            <a:r>
              <a:rPr lang="en-US" sz="1400" dirty="0"/>
              <a:t>studies under</a:t>
            </a:r>
          </a:p>
          <a:p>
            <a:pPr algn="ctr"/>
            <a:r>
              <a:rPr lang="en-US" sz="1400" dirty="0"/>
              <a:t>development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CC7F00-2A0D-C678-4875-B4BFC1113BC8}"/>
              </a:ext>
            </a:extLst>
          </p:cNvPr>
          <p:cNvSpPr txBox="1"/>
          <p:nvPr/>
        </p:nvSpPr>
        <p:spPr>
          <a:xfrm>
            <a:off x="9259849" y="6020672"/>
            <a:ext cx="20122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Clinical trial of model-guided intervention</a:t>
            </a:r>
            <a:endParaRPr lang="en-US" sz="1050" b="1" i="1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D2A72DF-C341-5863-5A2D-B9F5C772475F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71927" y="4307934"/>
            <a:ext cx="223277" cy="59538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F9A8081-1822-2BC1-3416-17087DF2D658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64646" y="4306986"/>
            <a:ext cx="218240" cy="60509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32238CF-D8C9-2D3A-32A6-91D46BF37EB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97985" y="4308882"/>
            <a:ext cx="223277" cy="59538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EDDC35B-32AC-9A81-43F4-9F848133067F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69146" y="4902366"/>
            <a:ext cx="223277" cy="59538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A71EEF3-8082-71FA-EF9A-4007F4E4DAD5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95204" y="4903314"/>
            <a:ext cx="223277" cy="59538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1DFE7122-AC9B-BE4B-A96B-5297B8292D1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69653" y="5496798"/>
            <a:ext cx="223277" cy="59538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E4B61C1-4962-AED4-3290-EA4CEE0FED7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95711" y="5497746"/>
            <a:ext cx="223277" cy="59538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48F9624C-0BEC-D75F-55BF-363E1955C53C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57777" y="4905523"/>
            <a:ext cx="223277" cy="59538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04C8466-C357-89B2-D9F4-04D0B1D898CB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44465" y="5492563"/>
            <a:ext cx="223277" cy="59538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73C9B08B-1982-9C25-4590-5F3403873D3E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18104" y="4307934"/>
            <a:ext cx="223277" cy="59538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5308FD5-44F7-D28C-6823-1E85275989CE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15323" y="4902366"/>
            <a:ext cx="223277" cy="59538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19D2F57B-E385-46CA-741C-65EB4E69DE66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15830" y="5496798"/>
            <a:ext cx="223277" cy="59538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DCE18F41-9319-E354-9BA6-DC9635B00BC2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41004" y="4906601"/>
            <a:ext cx="223277" cy="59538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DDEAD144-48C3-698C-BE55-25F73FED3E3F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47927" y="4306986"/>
            <a:ext cx="223277" cy="595380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9D3C8983-5995-DA8E-EFA9-D1F5AEC5EA22}"/>
              </a:ext>
            </a:extLst>
          </p:cNvPr>
          <p:cNvSpPr txBox="1"/>
          <p:nvPr/>
        </p:nvSpPr>
        <p:spPr>
          <a:xfrm>
            <a:off x="1734203" y="6110717"/>
            <a:ext cx="152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u="sng" dirty="0"/>
              <a:t>Urban</a:t>
            </a:r>
            <a:r>
              <a:rPr lang="en-US" sz="1200" dirty="0"/>
              <a:t>:</a:t>
            </a:r>
          </a:p>
          <a:p>
            <a:pPr algn="ctr"/>
            <a:r>
              <a:rPr lang="en-US" sz="1200" dirty="0"/>
              <a:t>13 per 100k</a:t>
            </a:r>
            <a:endParaRPr lang="en-US" sz="11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3637EE5B-F927-FEA9-E457-3CCF8B783989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80556" y="4306986"/>
            <a:ext cx="218240" cy="60509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5BF23144-6EB0-3DED-FEE0-96AE15BDBF18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91925" y="4297272"/>
            <a:ext cx="218240" cy="605094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ADDDC409-C9C1-F759-035F-6EB6EA5CE340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62178" y="4882908"/>
            <a:ext cx="218240" cy="311965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904924FA-D6DA-FBE8-7D53-E6E67D147426}"/>
              </a:ext>
            </a:extLst>
          </p:cNvPr>
          <p:cNvSpPr txBox="1"/>
          <p:nvPr/>
        </p:nvSpPr>
        <p:spPr>
          <a:xfrm>
            <a:off x="2828818" y="6110717"/>
            <a:ext cx="152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u="sng" dirty="0"/>
              <a:t>Rural</a:t>
            </a:r>
            <a:r>
              <a:rPr lang="en-US" sz="1200" dirty="0"/>
              <a:t>:</a:t>
            </a:r>
          </a:p>
          <a:p>
            <a:pPr algn="ctr"/>
            <a:r>
              <a:rPr lang="en-US" sz="1200" dirty="0"/>
              <a:t>3.5 per 100k</a:t>
            </a:r>
            <a:endParaRPr lang="en-US" sz="1100" dirty="0"/>
          </a:p>
        </p:txBody>
      </p:sp>
      <p:pic>
        <p:nvPicPr>
          <p:cNvPr id="1028" name="Picture 4" descr="Trends in diagnoses of anxiety, depression, and behavior/conduct problems among adolescents, 12-17 years, 2016-2023.">
            <a:extLst>
              <a:ext uri="{FF2B5EF4-FFF2-40B4-BE49-F238E27FC236}">
                <a16:creationId xmlns:a16="http://schemas.microsoft.com/office/drawing/2014/main" id="{24DE9DA1-CFD6-424D-B8C1-007CA8A07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146" y="1914667"/>
            <a:ext cx="2870738" cy="160043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A5AA1D2-2DC4-2638-59C5-C7C996257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95383" y="4915374"/>
            <a:ext cx="1941210" cy="106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422CEC41-D772-6F54-9DA9-61D0AC66CC9F}"/>
              </a:ext>
            </a:extLst>
          </p:cNvPr>
          <p:cNvSpPr/>
          <p:nvPr/>
        </p:nvSpPr>
        <p:spPr>
          <a:xfrm>
            <a:off x="10385989" y="5577816"/>
            <a:ext cx="850604" cy="3897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CBT-I</a:t>
            </a:r>
          </a:p>
          <a:p>
            <a:pPr algn="ctr"/>
            <a:r>
              <a:rPr lang="en-US" sz="900" dirty="0"/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394808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indy Gao" descr="Photo of Cindy Gao" title="Cindy Gao">
            <a:extLst>
              <a:ext uri="{FF2B5EF4-FFF2-40B4-BE49-F238E27FC236}">
                <a16:creationId xmlns:a16="http://schemas.microsoft.com/office/drawing/2014/main" id="{27F2823B-8B6B-ABA7-E777-7B4C9CEEEEE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43159" y="4695555"/>
            <a:ext cx="1058921" cy="1069200"/>
          </a:xfrm>
          <a:prstGeom prst="rect">
            <a:avLst/>
          </a:prstGeom>
        </p:spPr>
      </p:pic>
      <p:pic>
        <p:nvPicPr>
          <p:cNvPr id="27" name="Mai Li" descr="Photo of Mai Li" title="Mai Li">
            <a:extLst>
              <a:ext uri="{FF2B5EF4-FFF2-40B4-BE49-F238E27FC236}">
                <a16:creationId xmlns:a16="http://schemas.microsoft.com/office/drawing/2014/main" id="{BE5B2F61-F79C-6940-74F2-2AAC0D5E51A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25758" y="5358161"/>
            <a:ext cx="956177" cy="1229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33666E-1FC7-7D28-FCBD-82F841AA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855" y="380267"/>
            <a:ext cx="10962290" cy="1325563"/>
          </a:xfrm>
        </p:spPr>
        <p:txBody>
          <a:bodyPr/>
          <a:lstStyle/>
          <a:p>
            <a:r>
              <a:rPr lang="en-US" dirty="0"/>
              <a:t>Engelhard Lab: patient-centered, AI-based CDS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C0D0F-756C-F810-9D93-4B82AFFD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DE9295-ADA0-C847-B5AC-AFCEE8C97183}" type="slidenum">
              <a:rPr lang="en-US" smtClean="0"/>
              <a:t>5</a:t>
            </a:fld>
            <a:endParaRPr lang="en-US"/>
          </a:p>
        </p:txBody>
      </p:sp>
      <p:pic>
        <p:nvPicPr>
          <p:cNvPr id="5" name="Fengnan Li" descr="Photo of Fengnan Li" title="Fengnan Li">
            <a:extLst>
              <a:ext uri="{FF2B5EF4-FFF2-40B4-BE49-F238E27FC236}">
                <a16:creationId xmlns:a16="http://schemas.microsoft.com/office/drawing/2014/main" id="{871788AB-036E-A03C-0225-B8A0DAB460D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94721" y="2107029"/>
            <a:ext cx="1229394" cy="1580650"/>
          </a:xfrm>
          <a:prstGeom prst="rect">
            <a:avLst/>
          </a:prstGeom>
        </p:spPr>
      </p:pic>
      <p:pic>
        <p:nvPicPr>
          <p:cNvPr id="6" name="Yuqi Li" descr="Photo of Yuqi Li" title="Yuqi Li">
            <a:extLst>
              <a:ext uri="{FF2B5EF4-FFF2-40B4-BE49-F238E27FC236}">
                <a16:creationId xmlns:a16="http://schemas.microsoft.com/office/drawing/2014/main" id="{13203781-D920-D230-4C3C-11F5AEB1DA1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9945" y="2107029"/>
            <a:ext cx="1183374" cy="1580650"/>
          </a:xfrm>
          <a:prstGeom prst="rect">
            <a:avLst/>
          </a:prstGeom>
        </p:spPr>
      </p:pic>
      <p:pic>
        <p:nvPicPr>
          <p:cNvPr id="7" name="Pengxi Liu" descr="Photo of Pengxi Liu" title="Pengxi Liu">
            <a:extLst>
              <a:ext uri="{FF2B5EF4-FFF2-40B4-BE49-F238E27FC236}">
                <a16:creationId xmlns:a16="http://schemas.microsoft.com/office/drawing/2014/main" id="{12E8FBE3-02B9-D43A-F7CD-88218FBBD3E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59149" y="2107027"/>
            <a:ext cx="1053767" cy="1580651"/>
          </a:xfrm>
          <a:prstGeom prst="rect">
            <a:avLst/>
          </a:prstGeom>
        </p:spPr>
      </p:pic>
      <p:pic>
        <p:nvPicPr>
          <p:cNvPr id="8" name="Liwen Sun" descr="Photo of Liwen Sun" title="Liwen Sun">
            <a:extLst>
              <a:ext uri="{FF2B5EF4-FFF2-40B4-BE49-F238E27FC236}">
                <a16:creationId xmlns:a16="http://schemas.microsoft.com/office/drawing/2014/main" id="{E6A85D2F-2756-43BD-437E-62AF4B9F445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8962" y="2107030"/>
            <a:ext cx="1053766" cy="1580649"/>
          </a:xfrm>
          <a:prstGeom prst="rect">
            <a:avLst/>
          </a:prstGeom>
        </p:spPr>
      </p:pic>
      <p:pic>
        <p:nvPicPr>
          <p:cNvPr id="9" name="Qin Weng" descr="Photo of Qin Weng" title="Qin Weng">
            <a:extLst>
              <a:ext uri="{FF2B5EF4-FFF2-40B4-BE49-F238E27FC236}">
                <a16:creationId xmlns:a16="http://schemas.microsoft.com/office/drawing/2014/main" id="{0CA9DBEF-1FB7-C2E3-720D-AF9ADBF478DE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3203" y="2107030"/>
            <a:ext cx="1053766" cy="1580649"/>
          </a:xfrm>
          <a:prstGeom prst="rect">
            <a:avLst/>
          </a:prstGeom>
        </p:spPr>
      </p:pic>
      <p:pic>
        <p:nvPicPr>
          <p:cNvPr id="10" name="Yuankang Zhao" descr="Photo of Yuankang Zhao" title="Yuankang Zhao">
            <a:extLst>
              <a:ext uri="{FF2B5EF4-FFF2-40B4-BE49-F238E27FC236}">
                <a16:creationId xmlns:a16="http://schemas.microsoft.com/office/drawing/2014/main" id="{9BC5BD56-8A2B-6907-E1FA-27B64578AD3E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99270" y="2107027"/>
            <a:ext cx="1183375" cy="158065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A43DAF-E290-A4EB-9E72-6C4B81D5D786}"/>
              </a:ext>
            </a:extLst>
          </p:cNvPr>
          <p:cNvCxnSpPr/>
          <p:nvPr/>
        </p:nvCxnSpPr>
        <p:spPr>
          <a:xfrm>
            <a:off x="956310" y="1920240"/>
            <a:ext cx="102793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0E587F-FCBB-1573-EA4B-B179C81EEA22}"/>
              </a:ext>
            </a:extLst>
          </p:cNvPr>
          <p:cNvCxnSpPr/>
          <p:nvPr/>
        </p:nvCxnSpPr>
        <p:spPr>
          <a:xfrm>
            <a:off x="956310" y="4536707"/>
            <a:ext cx="1027938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6DE318-1DA0-B829-8DEA-5F64A302A105}"/>
              </a:ext>
            </a:extLst>
          </p:cNvPr>
          <p:cNvSpPr txBox="1"/>
          <p:nvPr/>
        </p:nvSpPr>
        <p:spPr>
          <a:xfrm>
            <a:off x="956310" y="4664742"/>
            <a:ext cx="11095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</a:t>
            </a:r>
          </a:p>
          <a:p>
            <a:r>
              <a:rPr lang="en-US" dirty="0"/>
              <a:t>MS/MB &amp;</a:t>
            </a:r>
          </a:p>
          <a:p>
            <a:r>
              <a:rPr lang="en-US" dirty="0"/>
              <a:t>medical</a:t>
            </a:r>
          </a:p>
          <a:p>
            <a:r>
              <a:rPr lang="en-US" dirty="0"/>
              <a:t>students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B3B155-1AD2-9CD0-7B0E-8BC5C1AC06A9}"/>
              </a:ext>
            </a:extLst>
          </p:cNvPr>
          <p:cNvSpPr txBox="1"/>
          <p:nvPr/>
        </p:nvSpPr>
        <p:spPr>
          <a:xfrm>
            <a:off x="956310" y="2134651"/>
            <a:ext cx="9943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</a:t>
            </a:r>
          </a:p>
          <a:p>
            <a:r>
              <a:rPr lang="en-US" dirty="0"/>
              <a:t>PhD </a:t>
            </a:r>
          </a:p>
          <a:p>
            <a:r>
              <a:rPr lang="en-US" dirty="0"/>
              <a:t>students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52CD7-EED3-E3B8-9532-804D07353FFB}"/>
              </a:ext>
            </a:extLst>
          </p:cNvPr>
          <p:cNvSpPr txBox="1"/>
          <p:nvPr/>
        </p:nvSpPr>
        <p:spPr>
          <a:xfrm>
            <a:off x="3326268" y="3743839"/>
            <a:ext cx="727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Qin</a:t>
            </a:r>
          </a:p>
          <a:p>
            <a:pPr algn="ctr"/>
            <a:r>
              <a:rPr lang="en-US" dirty="0"/>
              <a:t>Weng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7BDD5C-2AEE-3D42-819E-BC3213833250}"/>
              </a:ext>
            </a:extLst>
          </p:cNvPr>
          <p:cNvSpPr txBox="1"/>
          <p:nvPr/>
        </p:nvSpPr>
        <p:spPr>
          <a:xfrm>
            <a:off x="4488019" y="3743838"/>
            <a:ext cx="735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Liwen</a:t>
            </a:r>
          </a:p>
          <a:p>
            <a:pPr algn="ctr"/>
            <a:r>
              <a:rPr lang="en-US" dirty="0"/>
              <a:t>Sun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DD1516-598D-6A84-3C1E-6B827E9F5A39}"/>
              </a:ext>
            </a:extLst>
          </p:cNvPr>
          <p:cNvSpPr txBox="1"/>
          <p:nvPr/>
        </p:nvSpPr>
        <p:spPr>
          <a:xfrm>
            <a:off x="5615629" y="3745853"/>
            <a:ext cx="987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Fengnan</a:t>
            </a:r>
            <a:endParaRPr lang="en-US" dirty="0"/>
          </a:p>
          <a:p>
            <a:pPr algn="ctr"/>
            <a:r>
              <a:rPr lang="en-US" dirty="0"/>
              <a:t>Li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969D05-925D-C8FE-5D6F-B006046E4E1A}"/>
              </a:ext>
            </a:extLst>
          </p:cNvPr>
          <p:cNvSpPr txBox="1"/>
          <p:nvPr/>
        </p:nvSpPr>
        <p:spPr>
          <a:xfrm>
            <a:off x="7200205" y="3745853"/>
            <a:ext cx="5828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Yuqi</a:t>
            </a:r>
          </a:p>
          <a:p>
            <a:pPr algn="ctr"/>
            <a:r>
              <a:rPr lang="en-US" dirty="0"/>
              <a:t>Li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6E8776-A96F-7A64-523B-3586880DE06D}"/>
              </a:ext>
            </a:extLst>
          </p:cNvPr>
          <p:cNvSpPr txBox="1"/>
          <p:nvPr/>
        </p:nvSpPr>
        <p:spPr>
          <a:xfrm>
            <a:off x="8393473" y="3743837"/>
            <a:ext cx="797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Pengxi</a:t>
            </a:r>
          </a:p>
          <a:p>
            <a:pPr algn="ctr"/>
            <a:r>
              <a:rPr lang="en-US" dirty="0"/>
              <a:t>Liu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4A2285-DB1A-63B4-2615-58998CC8B3A2}"/>
              </a:ext>
            </a:extLst>
          </p:cNvPr>
          <p:cNvSpPr txBox="1"/>
          <p:nvPr/>
        </p:nvSpPr>
        <p:spPr>
          <a:xfrm>
            <a:off x="9441090" y="3743838"/>
            <a:ext cx="1082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Yuankang</a:t>
            </a:r>
            <a:endParaRPr lang="en-US" dirty="0"/>
          </a:p>
          <a:p>
            <a:pPr algn="ctr"/>
            <a:r>
              <a:rPr lang="en-US" dirty="0"/>
              <a:t>Zhao</a:t>
            </a:r>
          </a:p>
        </p:txBody>
      </p:sp>
      <p:pic>
        <p:nvPicPr>
          <p:cNvPr id="23" name="Picture 22" descr="A person wearing a hat and jacket&#10;&#10;AI-generated content may be incorrect.">
            <a:extLst>
              <a:ext uri="{FF2B5EF4-FFF2-40B4-BE49-F238E27FC236}">
                <a16:creationId xmlns:a16="http://schemas.microsoft.com/office/drawing/2014/main" id="{2489ECEF-91C6-8EE9-DE0D-40DA7DB644D8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9997" y="4803361"/>
            <a:ext cx="1109600" cy="1109600"/>
          </a:xfrm>
          <a:prstGeom prst="rect">
            <a:avLst/>
          </a:prstGeom>
        </p:spPr>
      </p:pic>
      <p:pic>
        <p:nvPicPr>
          <p:cNvPr id="24" name="Picture 23" descr="A person standing in front of a mural&#10;&#10;AI-generated content may be incorrect.">
            <a:extLst>
              <a:ext uri="{FF2B5EF4-FFF2-40B4-BE49-F238E27FC236}">
                <a16:creationId xmlns:a16="http://schemas.microsoft.com/office/drawing/2014/main" id="{456B935D-5309-7A42-D293-5FAE5ABAADDA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39199" y="5429590"/>
            <a:ext cx="870967" cy="1255625"/>
          </a:xfrm>
          <a:prstGeom prst="rect">
            <a:avLst/>
          </a:prstGeom>
        </p:spPr>
      </p:pic>
      <p:pic>
        <p:nvPicPr>
          <p:cNvPr id="28" name="Picture 27" descr="A person in a suit smiling&#10;&#10;AI-generated content may be incorrect.">
            <a:extLst>
              <a:ext uri="{FF2B5EF4-FFF2-40B4-BE49-F238E27FC236}">
                <a16:creationId xmlns:a16="http://schemas.microsoft.com/office/drawing/2014/main" id="{8BEF6FB7-39FB-C19E-EE31-A05BF6B15FD2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65368" y="4758090"/>
            <a:ext cx="970200" cy="1219097"/>
          </a:xfrm>
          <a:prstGeom prst="rect">
            <a:avLst/>
          </a:prstGeom>
        </p:spPr>
      </p:pic>
      <p:pic>
        <p:nvPicPr>
          <p:cNvPr id="31" name="Jimin Xu" descr="Photo of Jimin Xu" title="Jimin Xu">
            <a:extLst>
              <a:ext uri="{FF2B5EF4-FFF2-40B4-BE49-F238E27FC236}">
                <a16:creationId xmlns:a16="http://schemas.microsoft.com/office/drawing/2014/main" id="{83FA5367-BD1B-D0D7-06FF-65CD2E4DC1FA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3267" y="4742872"/>
            <a:ext cx="1048736" cy="1243102"/>
          </a:xfrm>
          <a:prstGeom prst="rect">
            <a:avLst/>
          </a:prstGeom>
        </p:spPr>
      </p:pic>
      <p:pic>
        <p:nvPicPr>
          <p:cNvPr id="32" name="Roshni Varma" descr="Photo of Roshni Varma" title="Roshni Varma">
            <a:extLst>
              <a:ext uri="{FF2B5EF4-FFF2-40B4-BE49-F238E27FC236}">
                <a16:creationId xmlns:a16="http://schemas.microsoft.com/office/drawing/2014/main" id="{673D90F7-1E0E-0B14-7CCE-6E35A14E533B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8378" y="5544584"/>
            <a:ext cx="897451" cy="1069201"/>
          </a:xfrm>
          <a:prstGeom prst="rect">
            <a:avLst/>
          </a:prstGeom>
        </p:spPr>
      </p:pic>
      <p:pic>
        <p:nvPicPr>
          <p:cNvPr id="34" name="Matthew Xie" descr="Photo of Matthew Xie" title="Matthew Xie">
            <a:extLst>
              <a:ext uri="{FF2B5EF4-FFF2-40B4-BE49-F238E27FC236}">
                <a16:creationId xmlns:a16="http://schemas.microsoft.com/office/drawing/2014/main" id="{3865E642-2CB8-D024-36E6-69A5E12F4B9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88689" y="4778559"/>
            <a:ext cx="897901" cy="1300626"/>
          </a:xfrm>
          <a:prstGeom prst="rect">
            <a:avLst/>
          </a:prstGeom>
        </p:spPr>
      </p:pic>
      <p:pic>
        <p:nvPicPr>
          <p:cNvPr id="26" name="Haoyu Gong" descr="Photo of Haoyu Gong" title="Haoyu Gong">
            <a:extLst>
              <a:ext uri="{FF2B5EF4-FFF2-40B4-BE49-F238E27FC236}">
                <a16:creationId xmlns:a16="http://schemas.microsoft.com/office/drawing/2014/main" id="{957406B3-7EC8-2396-36C8-9D54676C546E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9509" y="5394417"/>
            <a:ext cx="942937" cy="1243102"/>
          </a:xfrm>
          <a:prstGeom prst="rect">
            <a:avLst/>
          </a:prstGeom>
        </p:spPr>
      </p:pic>
      <p:pic>
        <p:nvPicPr>
          <p:cNvPr id="29" name="Picture 28" descr="A person in a graduation cap and gown&#10;&#10;AI-generated content may be incorrect.">
            <a:extLst>
              <a:ext uri="{FF2B5EF4-FFF2-40B4-BE49-F238E27FC236}">
                <a16:creationId xmlns:a16="http://schemas.microsoft.com/office/drawing/2014/main" id="{1434A630-1BA7-D83B-14D7-9E2E21BECB33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12916" y="5433751"/>
            <a:ext cx="944306" cy="1148352"/>
          </a:xfrm>
          <a:prstGeom prst="rect">
            <a:avLst/>
          </a:prstGeom>
        </p:spPr>
      </p:pic>
      <p:pic>
        <p:nvPicPr>
          <p:cNvPr id="22" name="Wei Ding" descr="Photo of Wei Ding" title="Wei Ding">
            <a:extLst>
              <a:ext uri="{FF2B5EF4-FFF2-40B4-BE49-F238E27FC236}">
                <a16:creationId xmlns:a16="http://schemas.microsoft.com/office/drawing/2014/main" id="{61ED7E0B-9D59-24D3-D14C-6676A0DEBCE4}"/>
              </a:ext>
            </a:extLst>
          </p:cNvPr>
          <p:cNvPicPr>
            <a:picLocks noChangeAspect="1"/>
          </p:cNvPicPr>
          <p:nvPr/>
        </p:nvPicPr>
        <p:blipFill rotWithShape="1"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53091" y="5393007"/>
            <a:ext cx="1069905" cy="1255625"/>
          </a:xfrm>
          <a:prstGeom prst="rect">
            <a:avLst/>
          </a:prstGeom>
        </p:spPr>
      </p:pic>
      <p:pic>
        <p:nvPicPr>
          <p:cNvPr id="33" name="Heman Burre" descr="Photo of Heman Burre" title="Heman Burre">
            <a:extLst>
              <a:ext uri="{FF2B5EF4-FFF2-40B4-BE49-F238E27FC236}">
                <a16:creationId xmlns:a16="http://schemas.microsoft.com/office/drawing/2014/main" id="{8BB940A2-309F-0079-B18E-6CEA5E9AB862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32827" y="4915798"/>
            <a:ext cx="1099636" cy="109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767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A181-86BA-40D9-F5EA-92AF5765A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Andrea</a:t>
            </a:r>
          </a:p>
        </p:txBody>
      </p:sp>
      <p:pic>
        <p:nvPicPr>
          <p:cNvPr id="1026" name="Picture 2" descr="Andrea Burton ">
            <a:extLst>
              <a:ext uri="{FF2B5EF4-FFF2-40B4-BE49-F238E27FC236}">
                <a16:creationId xmlns:a16="http://schemas.microsoft.com/office/drawing/2014/main" id="{0DBC9D3F-C06F-EE21-AB4F-700EE77C7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2345" y="2471573"/>
            <a:ext cx="3051503" cy="305150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 alternative text description for this image">
            <a:extLst>
              <a:ext uri="{FF2B5EF4-FFF2-40B4-BE49-F238E27FC236}">
                <a16:creationId xmlns:a16="http://schemas.microsoft.com/office/drawing/2014/main" id="{891C8F42-A3DF-E1D4-BDE3-2465287D8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2025650"/>
            <a:ext cx="5257800" cy="39433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85EB39-A441-209D-03A3-FD379970C511}"/>
              </a:ext>
            </a:extLst>
          </p:cNvPr>
          <p:cNvSpPr txBox="1"/>
          <p:nvPr/>
        </p:nvSpPr>
        <p:spPr>
          <a:xfrm>
            <a:off x="838200" y="5969000"/>
            <a:ext cx="3502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MMCi</a:t>
            </a:r>
            <a:r>
              <a:rPr lang="en-US" dirty="0"/>
              <a:t> Health Summit in DC, 2021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D9D6C-C8D0-A9A7-782D-3D3B8DFB392B}"/>
              </a:ext>
            </a:extLst>
          </p:cNvPr>
          <p:cNvSpPr txBox="1"/>
          <p:nvPr/>
        </p:nvSpPr>
        <p:spPr>
          <a:xfrm>
            <a:off x="7462345" y="5523076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MMCi</a:t>
            </a:r>
            <a:r>
              <a:rPr lang="en-US" dirty="0"/>
              <a:t> Class of 2021</a:t>
            </a:r>
          </a:p>
        </p:txBody>
      </p:sp>
    </p:spTree>
    <p:extLst>
      <p:ext uri="{BB962C8B-B14F-4D97-AF65-F5344CB8AC3E}">
        <p14:creationId xmlns:p14="http://schemas.microsoft.com/office/powerpoint/2010/main" val="2412125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97AB-FE4D-4DDA-F8BF-564A52EBF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513083" cy="1325563"/>
          </a:xfrm>
        </p:spPr>
        <p:txBody>
          <a:bodyPr/>
          <a:lstStyle/>
          <a:p>
            <a:r>
              <a:rPr lang="en-US" dirty="0"/>
              <a:t>About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A2FE5-0533-3418-720A-0FB452A98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Your name</a:t>
            </a:r>
          </a:p>
          <a:p>
            <a:endParaRPr lang="en-US" dirty="0"/>
          </a:p>
          <a:p>
            <a:r>
              <a:rPr lang="en-US" dirty="0"/>
              <a:t>Your most recent position/training</a:t>
            </a:r>
          </a:p>
          <a:p>
            <a:pPr marL="457200" lvl="1" indent="0">
              <a:buNone/>
            </a:pPr>
            <a:r>
              <a:rPr lang="en-US" dirty="0"/>
              <a:t>(one line)</a:t>
            </a:r>
          </a:p>
          <a:p>
            <a:endParaRPr lang="en-US" dirty="0"/>
          </a:p>
          <a:p>
            <a:r>
              <a:rPr lang="en-US" dirty="0"/>
              <a:t>Are you skeptical or hopeful on impact of AI?</a:t>
            </a:r>
          </a:p>
          <a:p>
            <a:pPr marL="457200" lvl="1" indent="0">
              <a:buNone/>
            </a:pPr>
            <a:r>
              <a:rPr lang="en-US" dirty="0"/>
              <a:t>(1 = skeptical to 10 = hopeful)</a:t>
            </a:r>
          </a:p>
          <a:p>
            <a:pPr lvl="1"/>
            <a:endParaRPr lang="en-US" dirty="0"/>
          </a:p>
          <a:p>
            <a:r>
              <a:rPr lang="en-US" dirty="0"/>
              <a:t>Why?</a:t>
            </a:r>
          </a:p>
          <a:p>
            <a:pPr marL="457200" lvl="1" indent="0">
              <a:buNone/>
            </a:pPr>
            <a:r>
              <a:rPr lang="en-US" dirty="0"/>
              <a:t>(very briefly, e.g. </a:t>
            </a:r>
            <a:r>
              <a:rPr lang="en-US" i="1" dirty="0"/>
              <a:t>it will make us dumber</a:t>
            </a:r>
            <a:r>
              <a:rPr lang="en-US" dirty="0"/>
              <a:t>, or </a:t>
            </a:r>
            <a:r>
              <a:rPr lang="en-US" i="1" dirty="0"/>
              <a:t>it will cure all disease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15311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ABC1-7CD5-38DA-CF41-589E5C77F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DDB79-B60B-DAF4-D718-4C18392A2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77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6FAC78D-4311-2705-10F1-CEA8F7C70A47}"/>
              </a:ext>
            </a:extLst>
          </p:cNvPr>
          <p:cNvGrpSpPr/>
          <p:nvPr/>
        </p:nvGrpSpPr>
        <p:grpSpPr>
          <a:xfrm>
            <a:off x="3005959" y="2105561"/>
            <a:ext cx="6180082" cy="2646878"/>
            <a:chOff x="3005959" y="2105561"/>
            <a:chExt cx="6180082" cy="26468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C31CD53-0D18-B3BC-370D-6648ACD6FDF5}"/>
                    </a:ext>
                  </a:extLst>
                </p:cNvPr>
                <p:cNvSpPr txBox="1"/>
                <p:nvPr/>
              </p:nvSpPr>
              <p:spPr>
                <a:xfrm>
                  <a:off x="3005959" y="2105561"/>
                  <a:ext cx="4017446" cy="26468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600" dirty="0"/>
                    <a:t>AI </a:t>
                  </a:r>
                  <a14:m>
                    <m:oMath xmlns:m="http://schemas.openxmlformats.org/officeDocument/2006/math">
                      <m:r>
                        <a:rPr lang="en-US" sz="16600" i="1" dirty="0" smtClean="0">
                          <a:latin typeface="Cambria Math" panose="02040503050406030204" pitchFamily="18" charset="0"/>
                        </a:rPr>
                        <m:t>≠</m:t>
                      </m:r>
                    </m:oMath>
                  </a14:m>
                  <a:endParaRPr lang="en-US" sz="16600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5C31CD53-0D18-B3BC-370D-6648ACD6FD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959" y="2105561"/>
                  <a:ext cx="4017446" cy="2646878"/>
                </a:xfrm>
                <a:prstGeom prst="rect">
                  <a:avLst/>
                </a:prstGeom>
                <a:blipFill>
                  <a:blip r:embed="rId2"/>
                  <a:stretch>
                    <a:fillRect l="-29022" t="-21429" r="-12618" b="-4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CC42844F-CB90-DE76-756D-8A73547AC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9908" y="2495933"/>
              <a:ext cx="1866133" cy="1866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31389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EA2B7-DC2E-760E-A511-952E75A2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DC4395F-F1A0-6684-3B0C-324610D2E699}"/>
              </a:ext>
            </a:extLst>
          </p:cNvPr>
          <p:cNvGrpSpPr/>
          <p:nvPr/>
        </p:nvGrpSpPr>
        <p:grpSpPr>
          <a:xfrm>
            <a:off x="3005959" y="2105561"/>
            <a:ext cx="6180082" cy="2646878"/>
            <a:chOff x="3005959" y="2105561"/>
            <a:chExt cx="6180082" cy="26468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8621711-540D-2F88-8337-C0A4782E48F1}"/>
                    </a:ext>
                  </a:extLst>
                </p:cNvPr>
                <p:cNvSpPr txBox="1"/>
                <p:nvPr/>
              </p:nvSpPr>
              <p:spPr>
                <a:xfrm>
                  <a:off x="3005959" y="2105561"/>
                  <a:ext cx="4017446" cy="26468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600" dirty="0"/>
                    <a:t>AI </a:t>
                  </a:r>
                  <a14:m>
                    <m:oMath xmlns:m="http://schemas.openxmlformats.org/officeDocument/2006/math">
                      <m:r>
                        <a:rPr lang="en-US" sz="16600" b="0" i="1" dirty="0" smtClean="0">
                          <a:latin typeface="Cambria Math" panose="02040503050406030204" pitchFamily="18" charset="0"/>
                        </a:rPr>
                        <m:t>⊂</m:t>
                      </m:r>
                    </m:oMath>
                  </a14:m>
                  <a:endParaRPr lang="en-US" sz="16600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8621711-540D-2F88-8337-C0A4782E4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5959" y="2105561"/>
                  <a:ext cx="4017446" cy="2646878"/>
                </a:xfrm>
                <a:prstGeom prst="rect">
                  <a:avLst/>
                </a:prstGeom>
                <a:blipFill>
                  <a:blip r:embed="rId2"/>
                  <a:stretch>
                    <a:fillRect l="-29022" t="-21429" r="-10726" b="-447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D536F03D-97C5-5D24-ED55-6258B53674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9908" y="2495933"/>
              <a:ext cx="1866133" cy="1866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3874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A64C-C721-BD9E-B385-9D00FF85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9CB23-9A37-757C-D1CC-B53B9A00D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058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scientific field concerned with developing </a:t>
            </a:r>
            <a:r>
              <a:rPr lang="en-US" b="1" dirty="0"/>
              <a:t>intelligent machines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</a:t>
            </a:r>
            <a:r>
              <a:rPr lang="en-US" b="1" dirty="0"/>
              <a:t>intelligence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learn from experience</a:t>
            </a:r>
          </a:p>
          <a:p>
            <a:r>
              <a:rPr lang="en-US" dirty="0"/>
              <a:t>solve problems</a:t>
            </a:r>
          </a:p>
          <a:p>
            <a:r>
              <a:rPr lang="en-US" dirty="0"/>
              <a:t>make decisions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ADA2E2E-B223-CFA5-F77B-EFB98274810D}"/>
              </a:ext>
            </a:extLst>
          </p:cNvPr>
          <p:cNvGrpSpPr/>
          <p:nvPr/>
        </p:nvGrpSpPr>
        <p:grpSpPr>
          <a:xfrm>
            <a:off x="7089685" y="1774540"/>
            <a:ext cx="3554131" cy="3308920"/>
            <a:chOff x="7721509" y="2459015"/>
            <a:chExt cx="3554131" cy="3308920"/>
          </a:xfrm>
        </p:grpSpPr>
        <p:pic>
          <p:nvPicPr>
            <p:cNvPr id="6" name="Picture 4" descr="Generated image">
              <a:extLst>
                <a:ext uri="{FF2B5EF4-FFF2-40B4-BE49-F238E27FC236}">
                  <a16:creationId xmlns:a16="http://schemas.microsoft.com/office/drawing/2014/main" id="{00643C90-41EC-2F73-85E5-E7DCA9191F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3262" b="99663" l="0" r="99721">
                          <a14:foregroundMark x1="37099" y1="10124" x2="58717" y2="6187"/>
                          <a14:foregroundMark x1="58717" y1="6187" x2="63319" y2="8661"/>
                          <a14:foregroundMark x1="25662" y1="25534" x2="38075" y2="59618"/>
                          <a14:foregroundMark x1="38075" y1="59618" x2="4184" y2="82340"/>
                          <a14:foregroundMark x1="4184" y1="82340" x2="22594" y2="93701"/>
                          <a14:foregroundMark x1="22594" y1="93701" x2="67503" y2="95276"/>
                          <a14:foregroundMark x1="67503" y1="95276" x2="89121" y2="92463"/>
                          <a14:foregroundMark x1="89121" y1="92463" x2="93166" y2="78965"/>
                          <a14:foregroundMark x1="3068" y1="73116" x2="3487" y2="92576"/>
                          <a14:foregroundMark x1="3487" y1="92576" x2="75174" y2="96738"/>
                          <a14:foregroundMark x1="75174" y1="96738" x2="96792" y2="91564"/>
                          <a14:foregroundMark x1="96792" y1="91564" x2="95537" y2="74578"/>
                          <a14:foregroundMark x1="21478" y1="37570" x2="25105" y2="33183"/>
                          <a14:foregroundMark x1="49512" y1="70754" x2="57880" y2="65917"/>
                          <a14:foregroundMark x1="76430" y1="38470" x2="79358" y2="34646"/>
                          <a14:foregroundMark x1="2371" y1="75028" x2="697" y2="88076"/>
                          <a14:foregroundMark x1="2371" y1="96288" x2="41283" y2="96738"/>
                          <a14:foregroundMark x1="94979" y1="98650" x2="96792" y2="80315"/>
                          <a14:foregroundMark x1="96792" y1="80315" x2="97350" y2="78965"/>
                          <a14:foregroundMark x1="81869" y1="99100" x2="72245" y2="99663"/>
                          <a14:foregroundMark x1="37657" y1="99100" x2="44212" y2="99100"/>
                          <a14:foregroundMark x1="96095" y1="94376" x2="99721" y2="83690"/>
                          <a14:foregroundMark x1="69874" y1="76040" x2="73501" y2="62992"/>
                          <a14:foregroundMark x1="42957" y1="3825" x2="52580" y2="337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7382" y="2459015"/>
              <a:ext cx="2188258" cy="27152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Alan Turing Legacy">
              <a:extLst>
                <a:ext uri="{FF2B5EF4-FFF2-40B4-BE49-F238E27FC236}">
                  <a16:creationId xmlns:a16="http://schemas.microsoft.com/office/drawing/2014/main" id="{6967A34F-7208-81D3-83F1-D1D587ED02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21509" y="2840585"/>
              <a:ext cx="2196868" cy="292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DB59325-1CD9-9A71-0C6A-61E374592D69}"/>
              </a:ext>
            </a:extLst>
          </p:cNvPr>
          <p:cNvSpPr txBox="1"/>
          <p:nvPr/>
        </p:nvSpPr>
        <p:spPr>
          <a:xfrm>
            <a:off x="7796715" y="5334612"/>
            <a:ext cx="2140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Turing or </a:t>
            </a:r>
            <a:r>
              <a:rPr lang="en-US" dirty="0" err="1"/>
              <a:t>TuringBot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2347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5313-0D89-22AE-42A2-8681FD4C3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“AI” through the (recent) years</a:t>
            </a:r>
          </a:p>
        </p:txBody>
      </p:sp>
      <p:pic>
        <p:nvPicPr>
          <p:cNvPr id="2050" name="Picture 2" descr="AlexNet: Revolutionizing Deep Learning in Image Classification">
            <a:extLst>
              <a:ext uri="{FF2B5EF4-FFF2-40B4-BE49-F238E27FC236}">
                <a16:creationId xmlns:a16="http://schemas.microsoft.com/office/drawing/2014/main" id="{749FC2E5-3A64-15DB-8F7C-EDC422A318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9938" y="1813655"/>
            <a:ext cx="5298831" cy="217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5F70E9-7E42-432F-1193-5E1A18279959}"/>
              </a:ext>
            </a:extLst>
          </p:cNvPr>
          <p:cNvSpPr txBox="1"/>
          <p:nvPr/>
        </p:nvSpPr>
        <p:spPr>
          <a:xfrm>
            <a:off x="6096000" y="2668918"/>
            <a:ext cx="3687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2018: AI =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2643256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F8273-AF8F-D1DD-B3F6-E856AD89D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32DF-F621-C9ED-1229-9B2B4494B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“AI” through the (recent) years</a:t>
            </a:r>
          </a:p>
        </p:txBody>
      </p:sp>
      <p:pic>
        <p:nvPicPr>
          <p:cNvPr id="2050" name="Picture 2" descr="AlexNet: Revolutionizing Deep Learning in Image Classification">
            <a:extLst>
              <a:ext uri="{FF2B5EF4-FFF2-40B4-BE49-F238E27FC236}">
                <a16:creationId xmlns:a16="http://schemas.microsoft.com/office/drawing/2014/main" id="{64019BF5-D79E-40FC-C0BF-93E6B3AD3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9938" y="1813655"/>
            <a:ext cx="5298831" cy="217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7C3A60-2A58-9DB5-69BA-505F09E5BB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938" y="4371199"/>
            <a:ext cx="6265249" cy="1924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F99BBB-71CB-B1A3-144F-2A974F115BE2}"/>
              </a:ext>
            </a:extLst>
          </p:cNvPr>
          <p:cNvSpPr txBox="1"/>
          <p:nvPr/>
        </p:nvSpPr>
        <p:spPr>
          <a:xfrm>
            <a:off x="7103780" y="5102666"/>
            <a:ext cx="3515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2024: AI = LLMs/chatbots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1119B55-8B86-E938-C885-A29B140B0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3230" y="4506321"/>
            <a:ext cx="522772" cy="52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48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0AB1-6E38-DA8D-A7C5-5381727F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BBBE-6C33-EA44-6801-39EA92679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“AI” through the (recent) years</a:t>
            </a:r>
          </a:p>
        </p:txBody>
      </p:sp>
      <p:pic>
        <p:nvPicPr>
          <p:cNvPr id="2050" name="Picture 2" descr="AlexNet: Revolutionizing Deep Learning in Image Classification">
            <a:extLst>
              <a:ext uri="{FF2B5EF4-FFF2-40B4-BE49-F238E27FC236}">
                <a16:creationId xmlns:a16="http://schemas.microsoft.com/office/drawing/2014/main" id="{0E6CB709-695F-EFE4-E98B-E5711B0177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9938" y="1813655"/>
            <a:ext cx="5298831" cy="217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8DDA21-72A1-6E22-CF71-8D8F236D4C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9938" y="4371199"/>
            <a:ext cx="6265249" cy="1924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F444E3B-AE2B-E9EB-93BF-1E0FCB6B3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3230" y="4506321"/>
            <a:ext cx="522772" cy="52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92F512-4809-E9FD-12EF-024C3F1130B3}"/>
              </a:ext>
            </a:extLst>
          </p:cNvPr>
          <p:cNvSpPr txBox="1"/>
          <p:nvPr/>
        </p:nvSpPr>
        <p:spPr>
          <a:xfrm>
            <a:off x="7943984" y="5333499"/>
            <a:ext cx="3408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2029: AI = agents and RL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4DAB65-682F-4B2C-1AF1-68FACB99527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43984" y="1816081"/>
            <a:ext cx="3409816" cy="34098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8825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99445CE3-5A80-AC80-5487-1BC909F09C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2428213"/>
            <a:ext cx="2905918" cy="334651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E4838-253A-B40D-F4D5-283682FE17CB}"/>
              </a:ext>
            </a:extLst>
          </p:cNvPr>
          <p:cNvSpPr txBox="1"/>
          <p:nvPr/>
        </p:nvSpPr>
        <p:spPr>
          <a:xfrm>
            <a:off x="838200" y="1927182"/>
            <a:ext cx="2905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Poppins Light" panose="00000400000000000000" pitchFamily="2" charset="0"/>
              </a:rPr>
              <a:t>Computer vision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9B2CE4-BFD2-BD43-4F1E-AB565B9465F2}"/>
              </a:ext>
            </a:extLst>
          </p:cNvPr>
          <p:cNvSpPr txBox="1"/>
          <p:nvPr/>
        </p:nvSpPr>
        <p:spPr>
          <a:xfrm>
            <a:off x="773842" y="5839058"/>
            <a:ext cx="303463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0" u="none" strike="noStrike" dirty="0" err="1">
                <a:effectLst/>
                <a:cs typeface="Poppins Light" panose="00000400000000000000" pitchFamily="2" charset="0"/>
              </a:rPr>
              <a:t>Mazurowski</a:t>
            </a:r>
            <a:r>
              <a:rPr lang="en-US" sz="1000" i="0" u="none" strike="noStrike" dirty="0">
                <a:effectLst/>
                <a:cs typeface="Poppins Light" panose="00000400000000000000" pitchFamily="2" charset="0"/>
              </a:rPr>
              <a:t>, Maciej A., et al. "Segment anything model for medical image analysis: an experimental study." </a:t>
            </a:r>
            <a:r>
              <a:rPr lang="en-US" sz="1000" i="1" u="none" strike="noStrike" dirty="0">
                <a:effectLst/>
                <a:cs typeface="Poppins Light" panose="00000400000000000000" pitchFamily="2" charset="0"/>
              </a:rPr>
              <a:t>Medical Image Analysis</a:t>
            </a:r>
            <a:r>
              <a:rPr lang="en-US" sz="1000" i="0" u="none" strike="noStrike" dirty="0">
                <a:effectLst/>
                <a:cs typeface="Poppins Light" panose="00000400000000000000" pitchFamily="2" charset="0"/>
              </a:rPr>
              <a:t> 89 (2023): 102918.</a:t>
            </a:r>
            <a:endParaRPr lang="en-US" sz="1000" dirty="0">
              <a:cs typeface="Poppins Light" panose="000004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0799F4-D69A-3A2C-8F7F-5B232E76CC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6425" y="2684651"/>
            <a:ext cx="3879147" cy="28336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765D6149-A564-C1B7-15CA-08E9524FE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61398" y="2808286"/>
            <a:ext cx="522772" cy="52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6E6462-3156-15FC-620D-CD9DF74F664F}"/>
              </a:ext>
            </a:extLst>
          </p:cNvPr>
          <p:cNvSpPr txBox="1"/>
          <p:nvPr/>
        </p:nvSpPr>
        <p:spPr>
          <a:xfrm>
            <a:off x="4156425" y="1927182"/>
            <a:ext cx="3886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Poppins Light" panose="00000400000000000000" pitchFamily="2" charset="0"/>
              </a:rPr>
              <a:t>Natural language processing</a:t>
            </a:r>
          </a:p>
        </p:txBody>
      </p:sp>
      <p:pic>
        <p:nvPicPr>
          <p:cNvPr id="12" name="Picture 2" descr="https://sandpit.bmj.com/graphics/2016/sepsisSOTA/sepsis-v13.png">
            <a:extLst>
              <a:ext uri="{FF2B5EF4-FFF2-40B4-BE49-F238E27FC236}">
                <a16:creationId xmlns:a16="http://schemas.microsoft.com/office/drawing/2014/main" id="{4E7E8CF3-D2F6-98F0-DE72-B67E1A9ADA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47882" y="2428213"/>
            <a:ext cx="2905918" cy="165121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2C542A-C36D-518E-B8AC-6C0F2D6B9F25}"/>
              </a:ext>
            </a:extLst>
          </p:cNvPr>
          <p:cNvSpPr txBox="1"/>
          <p:nvPr/>
        </p:nvSpPr>
        <p:spPr>
          <a:xfrm>
            <a:off x="8447879" y="1927182"/>
            <a:ext cx="2905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Poppins Light" panose="00000400000000000000" pitchFamily="2" charset="0"/>
              </a:rPr>
              <a:t>Reinforcement learning</a:t>
            </a:r>
          </a:p>
        </p:txBody>
      </p:sp>
      <p:pic>
        <p:nvPicPr>
          <p:cNvPr id="14" name="Picture 2" descr="Image result for artificial pancreas">
            <a:extLst>
              <a:ext uri="{FF2B5EF4-FFF2-40B4-BE49-F238E27FC236}">
                <a16:creationId xmlns:a16="http://schemas.microsoft.com/office/drawing/2014/main" id="{A21EAFE9-1EE2-CAFB-4809-D945A535F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47879" y="4448656"/>
            <a:ext cx="2905915" cy="152560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08594B-D571-8DF5-9190-28DF21BFA192}"/>
              </a:ext>
            </a:extLst>
          </p:cNvPr>
          <p:cNvSpPr txBox="1"/>
          <p:nvPr/>
        </p:nvSpPr>
        <p:spPr>
          <a:xfrm>
            <a:off x="8447879" y="4110155"/>
            <a:ext cx="2905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RL-based sepsis management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A75251-7BF1-71E7-B9DA-BA667E04702E}"/>
              </a:ext>
            </a:extLst>
          </p:cNvPr>
          <p:cNvSpPr txBox="1"/>
          <p:nvPr/>
        </p:nvSpPr>
        <p:spPr>
          <a:xfrm>
            <a:off x="8447879" y="6004986"/>
            <a:ext cx="29059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closed-loop BG control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1ADC039-173E-01AF-61C0-96724026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Branches of AI with high clinical impact</a:t>
            </a:r>
          </a:p>
        </p:txBody>
      </p:sp>
    </p:spTree>
    <p:extLst>
      <p:ext uri="{BB962C8B-B14F-4D97-AF65-F5344CB8AC3E}">
        <p14:creationId xmlns:p14="http://schemas.microsoft.com/office/powerpoint/2010/main" val="1298970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8629-26BA-3DCA-3DCD-8B83DEAF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AI versus Generative AI (GenAI)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9B6C3-3DD9-3522-D459-3CDD55BDD94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85" y="1805353"/>
            <a:ext cx="2177180" cy="435927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45F9D1-071D-505B-5D6D-23F43781C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165" y="1904508"/>
            <a:ext cx="2632111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Predictive AI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Tasks</a:t>
            </a:r>
          </a:p>
          <a:p>
            <a:r>
              <a:rPr lang="en-US" sz="2400" dirty="0"/>
              <a:t>Regression</a:t>
            </a:r>
          </a:p>
          <a:p>
            <a:r>
              <a:rPr lang="en-US" sz="2400" dirty="0"/>
              <a:t>Classification</a:t>
            </a:r>
          </a:p>
          <a:p>
            <a:r>
              <a:rPr lang="en-US" sz="2400" dirty="0"/>
              <a:t>Risk prediction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Types of data</a:t>
            </a:r>
          </a:p>
          <a:p>
            <a:r>
              <a:rPr lang="en-US" sz="2400" dirty="0"/>
              <a:t>Tabular</a:t>
            </a:r>
          </a:p>
          <a:p>
            <a:r>
              <a:rPr lang="en-US" sz="2400" dirty="0"/>
              <a:t>Images</a:t>
            </a:r>
          </a:p>
          <a:p>
            <a:r>
              <a:rPr lang="en-US" sz="2400" dirty="0"/>
              <a:t>Text</a:t>
            </a:r>
          </a:p>
          <a:p>
            <a:r>
              <a:rPr lang="en-US" sz="2400" dirty="0"/>
              <a:t>Biomedical signals</a:t>
            </a:r>
          </a:p>
          <a:p>
            <a:r>
              <a:rPr lang="en-US" sz="2400" dirty="0"/>
              <a:t>Multimodal</a:t>
            </a:r>
          </a:p>
        </p:txBody>
      </p:sp>
    </p:spTree>
    <p:extLst>
      <p:ext uri="{BB962C8B-B14F-4D97-AF65-F5344CB8AC3E}">
        <p14:creationId xmlns:p14="http://schemas.microsoft.com/office/powerpoint/2010/main" val="404227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C78B-4FC1-ED74-5B13-C170C27A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2071-DED9-F790-0169-CA1B6635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AI versus Generative AI (GenAI)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A0D24-034F-52F7-1379-61A9165366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85" y="1805353"/>
            <a:ext cx="2177180" cy="435927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BCC0E9-FCCD-B537-0FDA-1091032B6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165" y="1904508"/>
            <a:ext cx="2632111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Predictive AI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Tasks</a:t>
            </a:r>
          </a:p>
          <a:p>
            <a:r>
              <a:rPr lang="en-US" sz="2400" dirty="0"/>
              <a:t>Regression</a:t>
            </a:r>
          </a:p>
          <a:p>
            <a:r>
              <a:rPr lang="en-US" sz="2400" dirty="0"/>
              <a:t>Classification</a:t>
            </a:r>
          </a:p>
          <a:p>
            <a:r>
              <a:rPr lang="en-US" sz="2400" dirty="0"/>
              <a:t>Risk prediction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Types of data</a:t>
            </a:r>
          </a:p>
          <a:p>
            <a:r>
              <a:rPr lang="en-US" sz="2400" dirty="0"/>
              <a:t>Tabular</a:t>
            </a:r>
          </a:p>
          <a:p>
            <a:r>
              <a:rPr lang="en-US" sz="2400" dirty="0"/>
              <a:t>Images</a:t>
            </a:r>
          </a:p>
          <a:p>
            <a:r>
              <a:rPr lang="en-US" sz="2400" dirty="0"/>
              <a:t>Text</a:t>
            </a:r>
          </a:p>
          <a:p>
            <a:r>
              <a:rPr lang="en-US" sz="2400" dirty="0"/>
              <a:t>Biomedical signals</a:t>
            </a:r>
          </a:p>
          <a:p>
            <a:r>
              <a:rPr lang="en-US" sz="2400" dirty="0"/>
              <a:t>Multimodal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D60F6-BA3A-4C2D-03D0-3A19126B65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805352"/>
            <a:ext cx="2177180" cy="43592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22D491-BC4B-2B3E-0594-01E1EED7A568}"/>
              </a:ext>
            </a:extLst>
          </p:cNvPr>
          <p:cNvSpPr txBox="1">
            <a:spLocks/>
          </p:cNvSpPr>
          <p:nvPr/>
        </p:nvSpPr>
        <p:spPr>
          <a:xfrm>
            <a:off x="8721688" y="1904508"/>
            <a:ext cx="31024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u="sng" dirty="0"/>
              <a:t>Generative AI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Tasks</a:t>
            </a:r>
          </a:p>
          <a:p>
            <a:r>
              <a:rPr lang="en-US" sz="2400" dirty="0"/>
              <a:t>“Data generation”</a:t>
            </a:r>
          </a:p>
          <a:p>
            <a:r>
              <a:rPr lang="en-US" sz="2400" dirty="0"/>
              <a:t>Less well-defined</a:t>
            </a:r>
          </a:p>
          <a:p>
            <a:r>
              <a:rPr lang="en-US" sz="2400" dirty="0"/>
              <a:t>Can perform pred tasks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Types of data</a:t>
            </a:r>
          </a:p>
          <a:p>
            <a:r>
              <a:rPr lang="en-US" sz="2400" dirty="0"/>
              <a:t>Tabular</a:t>
            </a:r>
          </a:p>
          <a:p>
            <a:r>
              <a:rPr lang="en-US" sz="2400" dirty="0"/>
              <a:t>Images</a:t>
            </a:r>
          </a:p>
          <a:p>
            <a:r>
              <a:rPr lang="en-US" sz="2400" b="1" dirty="0"/>
              <a:t>Text</a:t>
            </a:r>
          </a:p>
          <a:p>
            <a:r>
              <a:rPr lang="en-US" sz="2400" dirty="0"/>
              <a:t>Biomedical signals</a:t>
            </a:r>
          </a:p>
          <a:p>
            <a:r>
              <a:rPr lang="en-US" sz="2400" b="1" dirty="0"/>
              <a:t>Multimodal</a:t>
            </a:r>
          </a:p>
        </p:txBody>
      </p:sp>
    </p:spTree>
    <p:extLst>
      <p:ext uri="{BB962C8B-B14F-4D97-AF65-F5344CB8AC3E}">
        <p14:creationId xmlns:p14="http://schemas.microsoft.com/office/powerpoint/2010/main" val="774210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02E5-7C7E-7A0A-5E52-7AD08AF4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Predictive AI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C7C92-017F-83D5-1E11-6F718E4B5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87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A755C91-54B1-D53E-331A-807DDECBA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machine</a:t>
            </a:r>
            <a:r>
              <a:rPr lang="en-US" dirty="0"/>
              <a:t> in machine learning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CF9A1DD-56D8-EB20-290C-7FD3093640D3}"/>
              </a:ext>
            </a:extLst>
          </p:cNvPr>
          <p:cNvSpPr/>
          <p:nvPr/>
        </p:nvSpPr>
        <p:spPr>
          <a:xfrm rot="16200000">
            <a:off x="4238288" y="623021"/>
            <a:ext cx="350344" cy="5784248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F46D1-FADF-F679-59E4-FFF92F95E1E4}"/>
              </a:ext>
            </a:extLst>
          </p:cNvPr>
          <p:cNvSpPr txBox="1"/>
          <p:nvPr/>
        </p:nvSpPr>
        <p:spPr>
          <a:xfrm>
            <a:off x="2778049" y="3877721"/>
            <a:ext cx="298713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data/features for a subject or patient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D8C63-D92A-E01D-86B0-6CCA696365FA}"/>
              </a:ext>
            </a:extLst>
          </p:cNvPr>
          <p:cNvSpPr txBox="1"/>
          <p:nvPr/>
        </p:nvSpPr>
        <p:spPr>
          <a:xfrm>
            <a:off x="8515761" y="3277853"/>
            <a:ext cx="2671356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associated value or label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57A14-4CCC-AC10-02CC-BE1BAE3575F4}"/>
              </a:ext>
            </a:extLst>
          </p:cNvPr>
          <p:cNvSpPr txBox="1"/>
          <p:nvPr/>
        </p:nvSpPr>
        <p:spPr>
          <a:xfrm>
            <a:off x="4184515" y="5715128"/>
            <a:ext cx="3822970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36" dirty="0"/>
              <a:t>End goal: predict</a:t>
            </a:r>
            <a:r>
              <a:rPr lang="en-US" sz="2636" i="1" dirty="0"/>
              <a:t> </a:t>
            </a:r>
            <a:r>
              <a:rPr lang="en-US" sz="2636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36" dirty="0"/>
              <a:t> from </a:t>
            </a:r>
            <a:r>
              <a:rPr lang="en-US" sz="2636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636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E3CAD5B-863C-DFED-D72C-02B3BAE01BB9}"/>
              </a:ext>
            </a:extLst>
          </p:cNvPr>
          <p:cNvGraphicFramePr>
            <a:graphicFrameLocks noGrp="1"/>
          </p:cNvGraphicFramePr>
          <p:nvPr/>
        </p:nvGraphicFramePr>
        <p:xfrm>
          <a:off x="1521336" y="2444717"/>
          <a:ext cx="5784248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40623976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0062079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87841067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1710633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11226212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149269349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043894517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673E038-76B2-30C3-48ED-E5B6F5B07695}"/>
              </a:ext>
            </a:extLst>
          </p:cNvPr>
          <p:cNvGraphicFramePr>
            <a:graphicFrameLocks noGrp="1"/>
          </p:cNvGraphicFramePr>
          <p:nvPr/>
        </p:nvGraphicFramePr>
        <p:xfrm>
          <a:off x="8344310" y="2444716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F08EBF-536F-4A44-8A33-5DF8AD88E2C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7305584" y="2798642"/>
            <a:ext cx="103872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834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43EB-D97A-A647-B55D-DFAA7CAB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90358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Simple models often work well for clinical data!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22C4F1-C657-EA47-A958-6BC9C8AFC8F6}"/>
              </a:ext>
            </a:extLst>
          </p:cNvPr>
          <p:cNvSpPr txBox="1"/>
          <p:nvPr/>
        </p:nvSpPr>
        <p:spPr>
          <a:xfrm>
            <a:off x="8285590" y="5235309"/>
            <a:ext cx="3516550" cy="1309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36" dirty="0"/>
              <a:t>End goal: predict</a:t>
            </a:r>
            <a:r>
              <a:rPr lang="en-US" sz="2636" i="1" dirty="0"/>
              <a:t> </a:t>
            </a:r>
            <a:r>
              <a:rPr lang="en-US" sz="26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of hospital mortality</a:t>
            </a:r>
          </a:p>
          <a:p>
            <a:r>
              <a:rPr lang="en-US" sz="26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(APACHE III)</a:t>
            </a:r>
            <a:endParaRPr lang="en-US" sz="2636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330BF0F-64E0-9F47-A64C-360C3C7ED0DD}"/>
              </a:ext>
            </a:extLst>
          </p:cNvPr>
          <p:cNvGraphicFramePr>
            <a:graphicFrameLocks noGrp="1"/>
          </p:cNvGraphicFramePr>
          <p:nvPr/>
        </p:nvGraphicFramePr>
        <p:xfrm>
          <a:off x="1764238" y="1765845"/>
          <a:ext cx="5784248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40623976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0062079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87841067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1710633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11226212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149269349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043894517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6A4145C-93C9-8E44-A49F-42688A16B578}"/>
              </a:ext>
            </a:extLst>
          </p:cNvPr>
          <p:cNvGraphicFramePr>
            <a:graphicFrameLocks noGrp="1"/>
          </p:cNvGraphicFramePr>
          <p:nvPr/>
        </p:nvGraphicFramePr>
        <p:xfrm>
          <a:off x="8587212" y="1765844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5F1BB00-7856-7446-8C5E-2FBA67162D88}"/>
              </a:ext>
            </a:extLst>
          </p:cNvPr>
          <p:cNvSpPr txBox="1"/>
          <p:nvPr/>
        </p:nvSpPr>
        <p:spPr>
          <a:xfrm rot="18054908">
            <a:off x="246270" y="3420130"/>
            <a:ext cx="250768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36" dirty="0"/>
              <a:t>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BFDD58-EB3C-C34E-BB34-451CCAD8F698}"/>
              </a:ext>
            </a:extLst>
          </p:cNvPr>
          <p:cNvSpPr txBox="1"/>
          <p:nvPr/>
        </p:nvSpPr>
        <p:spPr>
          <a:xfrm rot="18054908">
            <a:off x="933573" y="3425118"/>
            <a:ext cx="250768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36" dirty="0"/>
              <a:t>Pulse 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818781-A770-454B-80A9-94744A7FF37F}"/>
              </a:ext>
            </a:extLst>
          </p:cNvPr>
          <p:cNvSpPr txBox="1"/>
          <p:nvPr/>
        </p:nvSpPr>
        <p:spPr>
          <a:xfrm rot="18054908">
            <a:off x="1656817" y="3422625"/>
            <a:ext cx="250768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36" dirty="0"/>
              <a:t>Mean BP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1F8335-ECB2-7A4D-82D0-3DCE61D73934}"/>
              </a:ext>
            </a:extLst>
          </p:cNvPr>
          <p:cNvSpPr txBox="1"/>
          <p:nvPr/>
        </p:nvSpPr>
        <p:spPr>
          <a:xfrm rot="18054908">
            <a:off x="2380061" y="3422625"/>
            <a:ext cx="250768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36" dirty="0"/>
              <a:t>Temperature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A63E6B-5114-B340-BC65-DBD86141279A}"/>
              </a:ext>
            </a:extLst>
          </p:cNvPr>
          <p:cNvSpPr txBox="1"/>
          <p:nvPr/>
        </p:nvSpPr>
        <p:spPr>
          <a:xfrm rot="18054908">
            <a:off x="3103305" y="3422623"/>
            <a:ext cx="250768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36" dirty="0"/>
              <a:t>Resp Rate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3C6FED-0EF4-B34D-9DD5-ED78AC7B4C80}"/>
              </a:ext>
            </a:extLst>
          </p:cNvPr>
          <p:cNvSpPr txBox="1"/>
          <p:nvPr/>
        </p:nvSpPr>
        <p:spPr>
          <a:xfrm rot="18054908">
            <a:off x="3826549" y="3422623"/>
            <a:ext cx="250768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36" dirty="0"/>
              <a:t>Hematocrit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63DE9A-E18E-2C45-B7B8-FB7AB28B149B}"/>
              </a:ext>
            </a:extLst>
          </p:cNvPr>
          <p:cNvSpPr txBox="1"/>
          <p:nvPr/>
        </p:nvSpPr>
        <p:spPr>
          <a:xfrm rot="18054908">
            <a:off x="4549793" y="3420130"/>
            <a:ext cx="250768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36" dirty="0"/>
              <a:t>WBC Count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4C37D-8A18-434E-873B-38FBA9E7BABB}"/>
              </a:ext>
            </a:extLst>
          </p:cNvPr>
          <p:cNvSpPr txBox="1"/>
          <p:nvPr/>
        </p:nvSpPr>
        <p:spPr>
          <a:xfrm rot="18054908">
            <a:off x="5273040" y="3422622"/>
            <a:ext cx="250768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36" dirty="0"/>
              <a:t>Creatinine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5DDCFB-B31B-9441-A0A6-0ACFDC31396E}"/>
              </a:ext>
            </a:extLst>
          </p:cNvPr>
          <p:cNvSpPr txBox="1"/>
          <p:nvPr/>
        </p:nvSpPr>
        <p:spPr>
          <a:xfrm rot="18054908">
            <a:off x="7031749" y="3426732"/>
            <a:ext cx="2507682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36" dirty="0"/>
              <a:t>Survival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68AC1F47-D806-B140-9DAC-AF4EB45EDABD}"/>
              </a:ext>
            </a:extLst>
          </p:cNvPr>
          <p:cNvSpPr/>
          <p:nvPr/>
        </p:nvSpPr>
        <p:spPr>
          <a:xfrm rot="16200000">
            <a:off x="4481190" y="1980609"/>
            <a:ext cx="350344" cy="5784248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5B2321-C6E0-1C41-A446-1CCE0D22A2A7}"/>
              </a:ext>
            </a:extLst>
          </p:cNvPr>
          <p:cNvSpPr txBox="1"/>
          <p:nvPr/>
        </p:nvSpPr>
        <p:spPr>
          <a:xfrm>
            <a:off x="3020951" y="5235309"/>
            <a:ext cx="298713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data/features for a subject or patient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E8AD52-0582-0C41-A3AD-6A25EBCE7B8D}"/>
              </a:ext>
            </a:extLst>
          </p:cNvPr>
          <p:cNvSpPr txBox="1"/>
          <p:nvPr/>
        </p:nvSpPr>
        <p:spPr>
          <a:xfrm>
            <a:off x="8730531" y="3907699"/>
            <a:ext cx="2671356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associated value or label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6547D06-87A9-20BD-7D70-CFB8392405AF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7548486" y="2119770"/>
            <a:ext cx="103872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6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443"/>
    </mc:Choice>
    <mc:Fallback xmlns="">
      <p:transition spd="slow" advTm="4244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8C3235-6DCE-8140-93D4-47C68B213675}"/>
              </a:ext>
            </a:extLst>
          </p:cNvPr>
          <p:cNvSpPr/>
          <p:nvPr/>
        </p:nvSpPr>
        <p:spPr>
          <a:xfrm>
            <a:off x="1763527" y="2006862"/>
            <a:ext cx="3479800" cy="35226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33066B2-0A7C-8A4E-AC35-E6F80161D0E4}"/>
              </a:ext>
            </a:extLst>
          </p:cNvPr>
          <p:cNvSpPr/>
          <p:nvPr/>
        </p:nvSpPr>
        <p:spPr>
          <a:xfrm rot="16200000">
            <a:off x="3328255" y="4082789"/>
            <a:ext cx="350344" cy="3479800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F8ED1D-42C3-9141-AE77-27407422E154}"/>
                  </a:ext>
                </a:extLst>
              </p:cNvPr>
              <p:cNvSpPr txBox="1"/>
              <p:nvPr/>
            </p:nvSpPr>
            <p:spPr>
              <a:xfrm>
                <a:off x="2447101" y="5962948"/>
                <a:ext cx="2987135" cy="522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retinal image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F8ED1D-42C3-9141-AE77-27407422E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01" y="5962948"/>
                <a:ext cx="2987135" cy="522772"/>
              </a:xfrm>
              <a:prstGeom prst="rect">
                <a:avLst/>
              </a:prstGeom>
              <a:blipFill>
                <a:blip r:embed="rId3"/>
                <a:stretch>
                  <a:fillRect t="-11905" b="-3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C42C99-ECFD-CC46-8C0C-7FE9900CF424}"/>
                  </a:ext>
                </a:extLst>
              </p:cNvPr>
              <p:cNvSpPr txBox="1"/>
              <p:nvPr/>
            </p:nvSpPr>
            <p:spPr>
              <a:xfrm>
                <a:off x="8172008" y="4204151"/>
                <a:ext cx="3300520" cy="953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𝑦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referrable diabetic retinopathy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C42C99-ECFD-CC46-8C0C-7FE9900CF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008" y="4204151"/>
                <a:ext cx="3300520" cy="953210"/>
              </a:xfrm>
              <a:prstGeom prst="rect">
                <a:avLst/>
              </a:prstGeom>
              <a:blipFill>
                <a:blip r:embed="rId4"/>
                <a:stretch>
                  <a:fillRect l="-3831" t="-7895" r="-2299"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F4C887-30DE-6142-A3B8-73F2E6FB683F}"/>
                  </a:ext>
                </a:extLst>
              </p:cNvPr>
              <p:cNvSpPr txBox="1"/>
              <p:nvPr/>
            </p:nvSpPr>
            <p:spPr>
              <a:xfrm>
                <a:off x="6498272" y="5975355"/>
                <a:ext cx="3975255" cy="497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636" dirty="0">
                    <a:cs typeface="Poppins Light" panose="00000400000000000000" pitchFamily="2" charset="0"/>
                  </a:rPr>
                  <a:t>End goal: predict</a:t>
                </a:r>
                <a:r>
                  <a:rPr lang="en-US" sz="2636" i="1" dirty="0">
                    <a:cs typeface="Poppins Light" panose="000004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36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𝑦</m:t>
                    </m:r>
                  </m:oMath>
                </a14:m>
                <a:r>
                  <a:rPr lang="en-US" sz="2636" dirty="0">
                    <a:cs typeface="Poppins Light" panose="00000400000000000000" pitchFamily="2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636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636" dirty="0">
                    <a:cs typeface="Poppins Light" panose="000004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F4C887-30DE-6142-A3B8-73F2E6FB6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272" y="5975355"/>
                <a:ext cx="3975255" cy="497957"/>
              </a:xfrm>
              <a:prstGeom prst="rect">
                <a:avLst/>
              </a:prstGeom>
              <a:blipFill>
                <a:blip r:embed="rId5"/>
                <a:stretch>
                  <a:fillRect l="-2866" t="-10000" b="-3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D7F99B7-3001-F340-BD4E-C015D9032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286885"/>
              </p:ext>
            </p:extLst>
          </p:nvPr>
        </p:nvGraphicFramePr>
        <p:xfrm>
          <a:off x="8011758" y="3414265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pic>
        <p:nvPicPr>
          <p:cNvPr id="14" name="Picture 13" descr="Cover">
            <a:extLst>
              <a:ext uri="{FF2B5EF4-FFF2-40B4-BE49-F238E27FC236}">
                <a16:creationId xmlns:a16="http://schemas.microsoft.com/office/drawing/2014/main" id="{537A91F6-53A6-2F45-BFF7-32E00B2E4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2797" y="2124856"/>
            <a:ext cx="3289301" cy="326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04C370-95FF-1047-B986-B06FCDF88F5F}"/>
              </a:ext>
            </a:extLst>
          </p:cNvPr>
          <p:cNvCxnSpPr>
            <a:stCxn id="3" idx="3"/>
            <a:endCxn id="13" idx="1"/>
          </p:cNvCxnSpPr>
          <p:nvPr/>
        </p:nvCxnSpPr>
        <p:spPr>
          <a:xfrm flipV="1">
            <a:off x="5243327" y="3768191"/>
            <a:ext cx="2768431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5EC5F7B5-1B26-D3E9-463A-7EA86703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vision:</a:t>
            </a:r>
            <a:br>
              <a:rPr lang="en-US" dirty="0"/>
            </a:br>
            <a:r>
              <a:rPr lang="en-US" dirty="0"/>
              <a:t>prediction via convolutional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669962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eft Brace 4">
            <a:extLst>
              <a:ext uri="{FF2B5EF4-FFF2-40B4-BE49-F238E27FC236}">
                <a16:creationId xmlns:a16="http://schemas.microsoft.com/office/drawing/2014/main" id="{8A568960-EECE-6A43-175C-7D9DE7AE1545}"/>
              </a:ext>
            </a:extLst>
          </p:cNvPr>
          <p:cNvSpPr/>
          <p:nvPr/>
        </p:nvSpPr>
        <p:spPr>
          <a:xfrm rot="16200000">
            <a:off x="1978592" y="3691117"/>
            <a:ext cx="350344" cy="1851535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1E3496-EFD8-32E1-9C20-97E255D9CBF2}"/>
                  </a:ext>
                </a:extLst>
              </p:cNvPr>
              <p:cNvSpPr txBox="1"/>
              <p:nvPr/>
            </p:nvSpPr>
            <p:spPr>
              <a:xfrm>
                <a:off x="1483751" y="4856043"/>
                <a:ext cx="4261944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clinical note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1E3496-EFD8-32E1-9C20-97E255D9C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751" y="4856043"/>
                <a:ext cx="4261944" cy="522772"/>
              </a:xfrm>
              <a:prstGeom prst="rect">
                <a:avLst/>
              </a:prstGeom>
              <a:blipFill>
                <a:blip r:embed="rId3"/>
                <a:stretch>
                  <a:fillRect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CB3C25-9FE2-D7D8-0811-A401B3C11D50}"/>
                  </a:ext>
                </a:extLst>
              </p:cNvPr>
              <p:cNvSpPr txBox="1"/>
              <p:nvPr/>
            </p:nvSpPr>
            <p:spPr>
              <a:xfrm>
                <a:off x="5123233" y="2944600"/>
                <a:ext cx="4188933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𝑦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clinical finding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CB3C25-9FE2-D7D8-0811-A401B3C1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233" y="2944600"/>
                <a:ext cx="4188933" cy="522772"/>
              </a:xfrm>
              <a:prstGeom prst="rect">
                <a:avLst/>
              </a:prstGeom>
              <a:blipFill>
                <a:blip r:embed="rId4"/>
                <a:stretch>
                  <a:fillRect l="-906" t="-11628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E1580D-2F4C-D639-194B-514F0EA28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257013"/>
              </p:ext>
            </p:extLst>
          </p:nvPr>
        </p:nvGraphicFramePr>
        <p:xfrm>
          <a:off x="4304782" y="2852060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3B2ACD-94FF-120D-3078-3D6F98A1A8EA}"/>
              </a:ext>
            </a:extLst>
          </p:cNvPr>
          <p:cNvCxnSpPr>
            <a:cxnSpLocks/>
          </p:cNvCxnSpPr>
          <p:nvPr/>
        </p:nvCxnSpPr>
        <p:spPr>
          <a:xfrm>
            <a:off x="3271979" y="3205987"/>
            <a:ext cx="8646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Left Brace 13">
            <a:extLst>
              <a:ext uri="{FF2B5EF4-FFF2-40B4-BE49-F238E27FC236}">
                <a16:creationId xmlns:a16="http://schemas.microsoft.com/office/drawing/2014/main" id="{5AA9705D-A4AB-AA8E-09C8-7EC39E6A9A64}"/>
              </a:ext>
            </a:extLst>
          </p:cNvPr>
          <p:cNvSpPr/>
          <p:nvPr/>
        </p:nvSpPr>
        <p:spPr>
          <a:xfrm rot="16200000">
            <a:off x="5984166" y="4272208"/>
            <a:ext cx="350344" cy="3238291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AACD68-00E6-9F4B-FDC1-7414A509C3D3}"/>
                  </a:ext>
                </a:extLst>
              </p:cNvPr>
              <p:cNvSpPr txBox="1"/>
              <p:nvPr/>
            </p:nvSpPr>
            <p:spPr>
              <a:xfrm>
                <a:off x="5144254" y="6080258"/>
                <a:ext cx="3524106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EHR event history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AACD68-00E6-9F4B-FDC1-7414A509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254" y="6080258"/>
                <a:ext cx="3524106" cy="522772"/>
              </a:xfrm>
              <a:prstGeom prst="rect">
                <a:avLst/>
              </a:prstGeom>
              <a:blipFill>
                <a:blip r:embed="rId5"/>
                <a:stretch>
                  <a:fillRect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01E0A1-C78D-FA32-4FE4-7AE9F7E2C2CB}"/>
                  </a:ext>
                </a:extLst>
              </p:cNvPr>
              <p:cNvSpPr txBox="1"/>
              <p:nvPr/>
            </p:nvSpPr>
            <p:spPr>
              <a:xfrm>
                <a:off x="9156876" y="5378815"/>
                <a:ext cx="2719814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𝑦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diagnosis risk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01E0A1-C78D-FA32-4FE4-7AE9F7E2C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6876" y="5378815"/>
                <a:ext cx="2719814" cy="522772"/>
              </a:xfrm>
              <a:prstGeom prst="rect">
                <a:avLst/>
              </a:prstGeom>
              <a:blipFill>
                <a:blip r:embed="rId6"/>
                <a:stretch>
                  <a:fillRect l="-926" t="-11905" r="-185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D3A3004-A7A7-76D4-4FB2-10EE3893EB68}"/>
              </a:ext>
            </a:extLst>
          </p:cNvPr>
          <p:cNvGraphicFramePr>
            <a:graphicFrameLocks noGrp="1"/>
          </p:cNvGraphicFramePr>
          <p:nvPr/>
        </p:nvGraphicFramePr>
        <p:xfrm>
          <a:off x="9015137" y="4670962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57E532-A849-4743-E43C-5EBA9E27742E}"/>
              </a:ext>
            </a:extLst>
          </p:cNvPr>
          <p:cNvCxnSpPr>
            <a:cxnSpLocks/>
            <a:stCxn id="3076" idx="3"/>
            <a:endCxn id="17" idx="1"/>
          </p:cNvCxnSpPr>
          <p:nvPr/>
        </p:nvCxnSpPr>
        <p:spPr>
          <a:xfrm>
            <a:off x="7778483" y="5024888"/>
            <a:ext cx="12366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76" name="Picture 4" descr="Generated image">
            <a:extLst>
              <a:ext uri="{FF2B5EF4-FFF2-40B4-BE49-F238E27FC236}">
                <a16:creationId xmlns:a16="http://schemas.microsoft.com/office/drawing/2014/main" id="{909066AB-878E-79BC-84D8-7FB596A25F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773" b="89773" l="5268" r="90805">
                        <a14:foregroundMark x1="20594" y1="27500" x2="20594" y2="27500"/>
                        <a14:foregroundMark x1="13793" y1="45682" x2="13793" y2="45682"/>
                        <a14:foregroundMark x1="9866" y1="44318" x2="16379" y2="45682"/>
                        <a14:foregroundMark x1="38697" y1="57045" x2="42912" y2="33636"/>
                        <a14:foregroundMark x1="35345" y1="59773" x2="38314" y2="25682"/>
                        <a14:foregroundMark x1="38314" y1="25682" x2="45498" y2="54318"/>
                        <a14:foregroundMark x1="58142" y1="52273" x2="64080" y2="51818"/>
                        <a14:foregroundMark x1="79023" y1="55682" x2="86973" y2="46364"/>
                        <a14:foregroundMark x1="57854" y1="49773" x2="60153" y2="39091"/>
                        <a14:foregroundMark x1="81609" y1="53636" x2="86973" y2="48409"/>
                        <a14:foregroundMark x1="89272" y1="45000" x2="89272" y2="45000"/>
                        <a14:foregroundMark x1="88410" y1="52273" x2="89751" y2="42955"/>
                        <a14:foregroundMark x1="36111" y1="59091" x2="45498" y2="32045"/>
                        <a14:foregroundMark x1="45498" y1="32045" x2="45498" y2="26818"/>
                        <a14:foregroundMark x1="90900" y1="78409" x2="89272" y2="79091"/>
                        <a14:foregroundMark x1="35345" y1="60455" x2="46839" y2="59091"/>
                        <a14:foregroundMark x1="88697" y1="39091" x2="90038" y2="52273"/>
                        <a14:foregroundMark x1="5364" y1="78409" x2="5364" y2="784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0193" y="4341358"/>
            <a:ext cx="3238290" cy="136705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96F902-3ABB-E6E1-4251-4EA18C28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and clinical sequences:</a:t>
            </a:r>
            <a:br>
              <a:rPr lang="en-US" dirty="0"/>
            </a:br>
            <a:r>
              <a:rPr lang="en-US" dirty="0"/>
              <a:t>prediction via stacked attention networks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FD32A1-5B94-2A08-1BF4-FAEA484B83C6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20" b="91884" l="9885" r="90026">
                        <a14:foregroundMark x1="60547" y1="11323" x2="60547" y2="11323"/>
                        <a14:foregroundMark x1="21094" y1="83667" x2="21094" y2="83667"/>
                        <a14:foregroundMark x1="25508" y1="91884" x2="25508" y2="91884"/>
                        <a14:foregroundMark x1="51545" y1="77054" x2="51545" y2="77054"/>
                        <a14:foregroundMark x1="57282" y1="76854" x2="57282" y2="76854"/>
                        <a14:foregroundMark x1="58694" y1="58216" x2="58694" y2="58216"/>
                        <a14:foregroundMark x1="47396" y1="27054" x2="47396" y2="27054"/>
                        <a14:foregroundMark x1="35834" y1="16433" x2="57282" y2="59018"/>
                        <a14:foregroundMark x1="17829" y1="76854" x2="75552" y2="36874"/>
                        <a14:foregroundMark x1="67608" y1="89980" x2="40512" y2="17535"/>
                        <a14:foregroundMark x1="40512" y1="17535" x2="73698" y2="26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6235" y="2067443"/>
            <a:ext cx="2586151" cy="227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60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ft Brace 7">
            <a:extLst>
              <a:ext uri="{FF2B5EF4-FFF2-40B4-BE49-F238E27FC236}">
                <a16:creationId xmlns:a16="http://schemas.microsoft.com/office/drawing/2014/main" id="{E33066B2-0A7C-8A4E-AC35-E6F80161D0E4}"/>
              </a:ext>
            </a:extLst>
          </p:cNvPr>
          <p:cNvSpPr/>
          <p:nvPr/>
        </p:nvSpPr>
        <p:spPr>
          <a:xfrm rot="16200000">
            <a:off x="3221929" y="3831449"/>
            <a:ext cx="350344" cy="3479800"/>
          </a:xfrm>
          <a:prstGeom prst="leftBrace">
            <a:avLst>
              <a:gd name="adj1" fmla="val 8333"/>
              <a:gd name="adj2" fmla="val 2456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8ED1D-42C3-9141-AE77-27407422E154}"/>
              </a:ext>
            </a:extLst>
          </p:cNvPr>
          <p:cNvSpPr txBox="1"/>
          <p:nvPr/>
        </p:nvSpPr>
        <p:spPr>
          <a:xfrm>
            <a:off x="2340775" y="5711608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Go board state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42C99-ECFD-CC46-8C0C-7FE9900CF424}"/>
              </a:ext>
            </a:extLst>
          </p:cNvPr>
          <p:cNvSpPr txBox="1"/>
          <p:nvPr/>
        </p:nvSpPr>
        <p:spPr>
          <a:xfrm>
            <a:off x="8090161" y="3922380"/>
            <a:ext cx="3210678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next move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4C887-30DE-6142-A3B8-73F2E6FB683F}"/>
              </a:ext>
            </a:extLst>
          </p:cNvPr>
          <p:cNvSpPr txBox="1"/>
          <p:nvPr/>
        </p:nvSpPr>
        <p:spPr>
          <a:xfrm>
            <a:off x="7550838" y="5939234"/>
            <a:ext cx="3750001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36" dirty="0"/>
              <a:t>End goal: predict</a:t>
            </a:r>
            <a:r>
              <a:rPr lang="en-US" sz="2636" i="1" dirty="0"/>
              <a:t> </a:t>
            </a:r>
            <a:r>
              <a:rPr lang="en-US" sz="2636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36" dirty="0"/>
              <a:t> from </a:t>
            </a:r>
            <a:r>
              <a:rPr lang="en-US" sz="2636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636" dirty="0"/>
              <a:t>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D7F99B7-3001-F340-BD4E-C015D9032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63720"/>
              </p:ext>
            </p:extLst>
          </p:nvPr>
        </p:nvGraphicFramePr>
        <p:xfrm>
          <a:off x="7905432" y="3162925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04C370-95FF-1047-B986-B06FCDF88F5F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5137001" y="3516851"/>
            <a:ext cx="2768431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2" descr="AlphaGo in China | DeepMind">
            <a:extLst>
              <a:ext uri="{FF2B5EF4-FFF2-40B4-BE49-F238E27FC236}">
                <a16:creationId xmlns:a16="http://schemas.microsoft.com/office/drawing/2014/main" id="{35C6A04F-1FF3-4241-A41A-FEED3FA4A8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57201" y="1942533"/>
            <a:ext cx="3479800" cy="345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3C09297-B8E3-9767-2049-4EEC4B6E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Learning:</a:t>
            </a:r>
            <a:br>
              <a:rPr lang="en-US" dirty="0"/>
            </a:br>
            <a:r>
              <a:rPr lang="en-US" dirty="0"/>
              <a:t>state to action predictions via dense NN</a:t>
            </a:r>
          </a:p>
        </p:txBody>
      </p:sp>
    </p:spTree>
    <p:extLst>
      <p:ext uri="{BB962C8B-B14F-4D97-AF65-F5344CB8AC3E}">
        <p14:creationId xmlns:p14="http://schemas.microsoft.com/office/powerpoint/2010/main" val="2713887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C0086-FBFC-62EE-C784-4F37C0E43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ft Brace 7">
            <a:extLst>
              <a:ext uri="{FF2B5EF4-FFF2-40B4-BE49-F238E27FC236}">
                <a16:creationId xmlns:a16="http://schemas.microsoft.com/office/drawing/2014/main" id="{BF28C10D-461F-C125-F254-28A07149D4F0}"/>
              </a:ext>
            </a:extLst>
          </p:cNvPr>
          <p:cNvSpPr/>
          <p:nvPr/>
        </p:nvSpPr>
        <p:spPr>
          <a:xfrm rot="16200000">
            <a:off x="2403308" y="4766997"/>
            <a:ext cx="350344" cy="2416716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21081B-346B-96F4-9BFD-0780C0B1046A}"/>
                  </a:ext>
                </a:extLst>
              </p:cNvPr>
              <p:cNvSpPr txBox="1"/>
              <p:nvPr/>
            </p:nvSpPr>
            <p:spPr>
              <a:xfrm>
                <a:off x="1758059" y="6139894"/>
                <a:ext cx="4440722" cy="522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multiple data modalities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21081B-346B-96F4-9BFD-0780C0B10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059" y="6139894"/>
                <a:ext cx="4440722" cy="522772"/>
              </a:xfrm>
              <a:prstGeom prst="rect">
                <a:avLst/>
              </a:prstGeom>
              <a:blipFill>
                <a:blip r:embed="rId3"/>
                <a:stretch>
                  <a:fillRect t="-11905" b="-3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92F324-C7AB-EED1-9B1D-25E87E3482AF}"/>
                  </a:ext>
                </a:extLst>
              </p:cNvPr>
              <p:cNvSpPr txBox="1"/>
              <p:nvPr/>
            </p:nvSpPr>
            <p:spPr>
              <a:xfrm>
                <a:off x="8172008" y="4204151"/>
                <a:ext cx="3300520" cy="953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𝑦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referrable diabetic retinopathy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92F324-C7AB-EED1-9B1D-25E87E348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008" y="4204151"/>
                <a:ext cx="3300520" cy="953210"/>
              </a:xfrm>
              <a:prstGeom prst="rect">
                <a:avLst/>
              </a:prstGeom>
              <a:blipFill>
                <a:blip r:embed="rId4"/>
                <a:stretch>
                  <a:fillRect l="-3831" t="-7895" r="-2299"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330A76-B063-D94A-7AEA-FDBCD4034C74}"/>
                  </a:ext>
                </a:extLst>
              </p:cNvPr>
              <p:cNvSpPr txBox="1"/>
              <p:nvPr/>
            </p:nvSpPr>
            <p:spPr>
              <a:xfrm>
                <a:off x="8011758" y="6088497"/>
                <a:ext cx="3975255" cy="497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636" dirty="0">
                    <a:cs typeface="Poppins Light" panose="00000400000000000000" pitchFamily="2" charset="0"/>
                  </a:rPr>
                  <a:t>End goal: predict</a:t>
                </a:r>
                <a:r>
                  <a:rPr lang="en-US" sz="2636" i="1" dirty="0">
                    <a:cs typeface="Poppins Light" panose="000004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36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𝑦</m:t>
                    </m:r>
                  </m:oMath>
                </a14:m>
                <a:r>
                  <a:rPr lang="en-US" sz="2636" dirty="0">
                    <a:cs typeface="Poppins Light" panose="00000400000000000000" pitchFamily="2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636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636" dirty="0">
                    <a:cs typeface="Poppins Light" panose="000004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330A76-B063-D94A-7AEA-FDBCD4034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758" y="6088497"/>
                <a:ext cx="3975255" cy="497957"/>
              </a:xfrm>
              <a:prstGeom prst="rect">
                <a:avLst/>
              </a:prstGeom>
              <a:blipFill>
                <a:blip r:embed="rId5"/>
                <a:stretch>
                  <a:fillRect l="-2866" t="-12500" b="-3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B133114-CA8E-A4B7-26A3-12C9645AB025}"/>
              </a:ext>
            </a:extLst>
          </p:cNvPr>
          <p:cNvGraphicFramePr>
            <a:graphicFrameLocks noGrp="1"/>
          </p:cNvGraphicFramePr>
          <p:nvPr/>
        </p:nvGraphicFramePr>
        <p:xfrm>
          <a:off x="8011758" y="3414265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E44983E7-79A6-F9D8-F38D-8DC16A3504D2}"/>
              </a:ext>
            </a:extLst>
          </p:cNvPr>
          <p:cNvGrpSpPr/>
          <p:nvPr/>
        </p:nvGrpSpPr>
        <p:grpSpPr>
          <a:xfrm>
            <a:off x="1370122" y="1690688"/>
            <a:ext cx="2416716" cy="2395017"/>
            <a:chOff x="1763527" y="2006862"/>
            <a:chExt cx="3479800" cy="352266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4794F8E-34EE-57FB-1181-2B4EDEC8B048}"/>
                </a:ext>
              </a:extLst>
            </p:cNvPr>
            <p:cNvSpPr/>
            <p:nvPr/>
          </p:nvSpPr>
          <p:spPr>
            <a:xfrm>
              <a:off x="1763527" y="2006862"/>
              <a:ext cx="3479800" cy="352266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Cover">
              <a:extLst>
                <a:ext uri="{FF2B5EF4-FFF2-40B4-BE49-F238E27FC236}">
                  <a16:creationId xmlns:a16="http://schemas.microsoft.com/office/drawing/2014/main" id="{DC93243F-9829-5FC6-D8E4-5ECB46DD65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832797" y="2124856"/>
              <a:ext cx="3289301" cy="3260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5BB77E-C864-DE72-3A13-D08B1362A56A}"/>
              </a:ext>
            </a:extLst>
          </p:cNvPr>
          <p:cNvCxnSpPr>
            <a:cxnSpLocks/>
            <a:stCxn id="6" idx="0"/>
            <a:endCxn id="13" idx="1"/>
          </p:cNvCxnSpPr>
          <p:nvPr/>
        </p:nvCxnSpPr>
        <p:spPr>
          <a:xfrm>
            <a:off x="5702447" y="3768191"/>
            <a:ext cx="230931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8196D625-9693-C7A6-2657-E018DCBA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8813" cy="1325563"/>
          </a:xfrm>
        </p:spPr>
        <p:txBody>
          <a:bodyPr>
            <a:normAutofit/>
          </a:bodyPr>
          <a:lstStyle/>
          <a:p>
            <a:r>
              <a:rPr lang="en-US" dirty="0"/>
              <a:t>Prediction from multimodal data:</a:t>
            </a:r>
            <a:br>
              <a:rPr lang="en-US" dirty="0"/>
            </a:br>
            <a:r>
              <a:rPr lang="en-US" dirty="0"/>
              <a:t>modality-specific encoders + multimodal fusion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9EA65-AB4C-887E-EA78-515D945BF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211518" y="3571340"/>
            <a:ext cx="2588157" cy="39370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5EFB48-7C9F-241A-7917-BBA0E28159D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786838" y="2888197"/>
            <a:ext cx="1521908" cy="3972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22D395-8733-15C2-2354-C322ECD7C1F0}"/>
              </a:ext>
            </a:extLst>
          </p:cNvPr>
          <p:cNvCxnSpPr>
            <a:cxnSpLocks/>
          </p:cNvCxnSpPr>
          <p:nvPr/>
        </p:nvCxnSpPr>
        <p:spPr>
          <a:xfrm flipV="1">
            <a:off x="3786838" y="4439631"/>
            <a:ext cx="1521908" cy="5585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1" name="Picture 4" descr="Generated image">
            <a:extLst>
              <a:ext uri="{FF2B5EF4-FFF2-40B4-BE49-F238E27FC236}">
                <a16:creationId xmlns:a16="http://schemas.microsoft.com/office/drawing/2014/main" id="{1703C34A-D7BA-8C4C-071E-FE3383978E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773" b="89773" l="5268" r="90805">
                        <a14:foregroundMark x1="20594" y1="27500" x2="20594" y2="27500"/>
                        <a14:foregroundMark x1="13793" y1="45682" x2="13793" y2="45682"/>
                        <a14:foregroundMark x1="9866" y1="44318" x2="16379" y2="45682"/>
                        <a14:foregroundMark x1="38697" y1="57045" x2="42912" y2="33636"/>
                        <a14:foregroundMark x1="35345" y1="59773" x2="38314" y2="25682"/>
                        <a14:foregroundMark x1="38314" y1="25682" x2="45498" y2="54318"/>
                        <a14:foregroundMark x1="58142" y1="52273" x2="64080" y2="51818"/>
                        <a14:foregroundMark x1="79023" y1="55682" x2="86973" y2="46364"/>
                        <a14:foregroundMark x1="57854" y1="49773" x2="60153" y2="39091"/>
                        <a14:foregroundMark x1="81609" y1="53636" x2="86973" y2="48409"/>
                        <a14:foregroundMark x1="89272" y1="45000" x2="89272" y2="45000"/>
                        <a14:foregroundMark x1="88410" y1="52273" x2="89751" y2="42955"/>
                        <a14:foregroundMark x1="36111" y1="59091" x2="45498" y2="32045"/>
                        <a14:foregroundMark x1="45498" y1="32045" x2="45498" y2="26818"/>
                        <a14:foregroundMark x1="90900" y1="78409" x2="89272" y2="79091"/>
                        <a14:foregroundMark x1="35345" y1="60455" x2="46839" y2="59091"/>
                        <a14:foregroundMark x1="88697" y1="39091" x2="90038" y2="52273"/>
                        <a14:foregroundMark x1="5364" y1="78409" x2="5364" y2="784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70122" y="4476270"/>
            <a:ext cx="2416716" cy="102022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4F6CDC-EE8A-9A60-B28E-372839767354}"/>
                  </a:ext>
                </a:extLst>
              </p:cNvPr>
              <p:cNvSpPr txBox="1"/>
              <p:nvPr/>
            </p:nvSpPr>
            <p:spPr>
              <a:xfrm>
                <a:off x="5349403" y="5015060"/>
                <a:ext cx="3601041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𝑧</m:t>
                    </m:r>
                  </m:oMath>
                </a14:m>
                <a:r>
                  <a:rPr lang="en-US" sz="2800" dirty="0">
                    <a:cs typeface="Poppins Light" panose="00000400000000000000" pitchFamily="2" charset="0"/>
                  </a:rPr>
                  <a:t>, multimodal vector representation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A4F6CDC-EE8A-9A60-B28E-372839767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403" y="5015060"/>
                <a:ext cx="3601041" cy="954107"/>
              </a:xfrm>
              <a:prstGeom prst="rect">
                <a:avLst/>
              </a:prstGeom>
              <a:blipFill>
                <a:blip r:embed="rId10"/>
                <a:stretch>
                  <a:fillRect l="-3521" t="-8000" b="-17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6297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52F07-E017-7847-9EF4-8928CABCB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22" y="86739"/>
            <a:ext cx="1162395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As the complexity of the underlying data increases, so too does the probable value added by machine learning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17D26F3-EE75-6D48-AC69-2CF64CDC433A}"/>
              </a:ext>
            </a:extLst>
          </p:cNvPr>
          <p:cNvGrpSpPr/>
          <p:nvPr/>
        </p:nvGrpSpPr>
        <p:grpSpPr>
          <a:xfrm>
            <a:off x="984591" y="2011408"/>
            <a:ext cx="5480695" cy="4098322"/>
            <a:chOff x="3117562" y="2394553"/>
            <a:chExt cx="5480695" cy="409832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68132C2C-BB22-3D4D-B7F0-EC6A83D93FCD}"/>
                </a:ext>
              </a:extLst>
            </p:cNvPr>
            <p:cNvCxnSpPr/>
            <p:nvPr/>
          </p:nvCxnSpPr>
          <p:spPr>
            <a:xfrm>
              <a:off x="3117562" y="5970085"/>
              <a:ext cx="539380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86C9AA7-9414-5D45-9C4A-94EBA674D5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226" y="2532404"/>
              <a:ext cx="0" cy="39604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BB527C-96DB-D64B-A120-98875802A220}"/>
                </a:ext>
              </a:extLst>
            </p:cNvPr>
            <p:cNvSpPr txBox="1"/>
            <p:nvPr/>
          </p:nvSpPr>
          <p:spPr>
            <a:xfrm>
              <a:off x="6836610" y="6123543"/>
              <a:ext cx="1674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 complexity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DFE1596-D4F2-F945-8ECC-6B3DBFC8B562}"/>
                </a:ext>
              </a:extLst>
            </p:cNvPr>
            <p:cNvSpPr txBox="1"/>
            <p:nvPr/>
          </p:nvSpPr>
          <p:spPr>
            <a:xfrm rot="16200000">
              <a:off x="1660464" y="3937414"/>
              <a:ext cx="3283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value added by machine learning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116C916-3EF4-8D4D-8A23-56EE0B69ACCE}"/>
                </a:ext>
              </a:extLst>
            </p:cNvPr>
            <p:cNvSpPr/>
            <p:nvPr/>
          </p:nvSpPr>
          <p:spPr>
            <a:xfrm>
              <a:off x="5890211" y="2501028"/>
              <a:ext cx="1571826" cy="1116953"/>
            </a:xfrm>
            <a:prstGeom prst="ellipse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image analysis</a:t>
              </a:r>
            </a:p>
            <a:p>
              <a:pPr algn="ctr"/>
              <a:r>
                <a:rPr lang="en-US" sz="1200" dirty="0"/>
                <a:t>(radiology, pathology)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8AE9224-B23D-D64C-881D-7FE9EB6536CB}"/>
                </a:ext>
              </a:extLst>
            </p:cNvPr>
            <p:cNvSpPr/>
            <p:nvPr/>
          </p:nvSpPr>
          <p:spPr>
            <a:xfrm>
              <a:off x="6814705" y="3260455"/>
              <a:ext cx="1783552" cy="1116952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natural language processing (clinical notes)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2C0BA5C-9DCA-E541-A9BB-6950AC0A1BB7}"/>
                </a:ext>
              </a:extLst>
            </p:cNvPr>
            <p:cNvSpPr/>
            <p:nvPr/>
          </p:nvSpPr>
          <p:spPr>
            <a:xfrm>
              <a:off x="4622721" y="4198007"/>
              <a:ext cx="1930836" cy="979714"/>
            </a:xfrm>
            <a:prstGeom prst="ellipse">
              <a:avLst/>
            </a:prstGeom>
            <a:noFill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structured EHR or registry data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9312BA7-8071-0642-A3BD-6180630EB8DD}"/>
                </a:ext>
              </a:extLst>
            </p:cNvPr>
            <p:cNvSpPr/>
            <p:nvPr/>
          </p:nvSpPr>
          <p:spPr>
            <a:xfrm>
              <a:off x="4067558" y="4909150"/>
              <a:ext cx="1184782" cy="881554"/>
            </a:xfrm>
            <a:prstGeom prst="ellipse">
              <a:avLst/>
            </a:prstGeom>
            <a:noFill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curated clinical datasets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0322C2-3742-E643-B3F1-007E62D030DD}"/>
                </a:ext>
              </a:extLst>
            </p:cNvPr>
            <p:cNvSpPr/>
            <p:nvPr/>
          </p:nvSpPr>
          <p:spPr>
            <a:xfrm>
              <a:off x="7267241" y="2394553"/>
              <a:ext cx="1331016" cy="979714"/>
            </a:xfrm>
            <a:prstGeom prst="ellipse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fusion of multiple modalities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6251138-27EC-CC4E-BF5F-7B349D813F11}"/>
                </a:ext>
              </a:extLst>
            </p:cNvPr>
            <p:cNvCxnSpPr>
              <a:cxnSpLocks/>
            </p:cNvCxnSpPr>
            <p:nvPr/>
          </p:nvCxnSpPr>
          <p:spPr>
            <a:xfrm>
              <a:off x="4255325" y="4150794"/>
              <a:ext cx="0" cy="11991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A2656DB-6517-3548-AE67-744B57D2497A}"/>
                </a:ext>
              </a:extLst>
            </p:cNvPr>
            <p:cNvSpPr txBox="1"/>
            <p:nvPr/>
          </p:nvSpPr>
          <p:spPr>
            <a:xfrm>
              <a:off x="4067375" y="3904573"/>
              <a:ext cx="12089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Christodoulou </a:t>
              </a:r>
              <a:r>
                <a:rPr lang="en-US" sz="1000" i="1" dirty="0"/>
                <a:t>et al.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269DF69-F6E2-9A40-AF14-790D30A47783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H="1" flipV="1">
              <a:off x="5634524" y="4995547"/>
              <a:ext cx="342504" cy="4972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2B8E258-CD82-7F43-9B8A-FAEC2D80EFA8}"/>
                </a:ext>
              </a:extLst>
            </p:cNvPr>
            <p:cNvSpPr txBox="1"/>
            <p:nvPr/>
          </p:nvSpPr>
          <p:spPr>
            <a:xfrm>
              <a:off x="5588139" y="5492827"/>
              <a:ext cx="7777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Khera</a:t>
              </a:r>
              <a:r>
                <a:rPr lang="en-US" sz="1000" dirty="0"/>
                <a:t> </a:t>
              </a:r>
              <a:r>
                <a:rPr lang="en-US" sz="1000" i="1" dirty="0"/>
                <a:t>et al.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C9483D-E95E-C946-B44E-F46528630090}"/>
                </a:ext>
              </a:extLst>
            </p:cNvPr>
            <p:cNvCxnSpPr>
              <a:cxnSpLocks/>
              <a:endCxn id="18" idx="3"/>
            </p:cNvCxnSpPr>
            <p:nvPr/>
          </p:nvCxnSpPr>
          <p:spPr>
            <a:xfrm flipH="1" flipV="1">
              <a:off x="5056931" y="3044060"/>
              <a:ext cx="1074090" cy="365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26D242-5FCC-C140-94BF-4474182B27DD}"/>
                </a:ext>
              </a:extLst>
            </p:cNvPr>
            <p:cNvSpPr txBox="1"/>
            <p:nvPr/>
          </p:nvSpPr>
          <p:spPr>
            <a:xfrm>
              <a:off x="4067558" y="2920949"/>
              <a:ext cx="9893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McKinney </a:t>
              </a:r>
              <a:r>
                <a:rPr lang="en-US" sz="1000" i="1" dirty="0"/>
                <a:t>et al.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EDEE7AF-047E-F441-BE2B-57321A0E47E9}"/>
                </a:ext>
              </a:extLst>
            </p:cNvPr>
            <p:cNvSpPr/>
            <p:nvPr/>
          </p:nvSpPr>
          <p:spPr>
            <a:xfrm>
              <a:off x="5588139" y="3437337"/>
              <a:ext cx="1431855" cy="979714"/>
            </a:xfrm>
            <a:prstGeom prst="ellipse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clinical and digital health time series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D6BAC2-EB8C-CF45-A449-7C8579B7AA9B}"/>
                </a:ext>
              </a:extLst>
            </p:cNvPr>
            <p:cNvSpPr txBox="1"/>
            <p:nvPr/>
          </p:nvSpPr>
          <p:spPr>
            <a:xfrm>
              <a:off x="6771977" y="5084268"/>
              <a:ext cx="93807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K. Huang </a:t>
              </a:r>
              <a:r>
                <a:rPr lang="en-US" sz="1000" i="1" dirty="0"/>
                <a:t>et al.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12F5FD3-5A4D-C44A-BB39-527133739B8C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 flipH="1">
              <a:off x="7241016" y="4198007"/>
              <a:ext cx="469038" cy="8862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C0E469B-2829-7C47-A2DB-4C9592F3FB74}"/>
                </a:ext>
              </a:extLst>
            </p:cNvPr>
            <p:cNvSpPr txBox="1"/>
            <p:nvPr/>
          </p:nvSpPr>
          <p:spPr>
            <a:xfrm>
              <a:off x="7664010" y="4668585"/>
              <a:ext cx="9300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S. Huang </a:t>
              </a:r>
              <a:r>
                <a:rPr lang="en-US" sz="1000" i="1" dirty="0"/>
                <a:t>et al.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9768609-4357-314C-8ED8-462E1D6E34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011" y="2903540"/>
              <a:ext cx="1" cy="17650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3CAA1C-4549-3A49-B851-3DCB34504A30}"/>
                </a:ext>
              </a:extLst>
            </p:cNvPr>
            <p:cNvSpPr txBox="1"/>
            <p:nvPr/>
          </p:nvSpPr>
          <p:spPr>
            <a:xfrm>
              <a:off x="4067375" y="3404597"/>
              <a:ext cx="7344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Craik </a:t>
              </a:r>
              <a:r>
                <a:rPr lang="en-US" sz="1000" i="1" dirty="0"/>
                <a:t>et al.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3DE771E-5BAF-A74F-826C-F48DF1489DC1}"/>
                </a:ext>
              </a:extLst>
            </p:cNvPr>
            <p:cNvCxnSpPr>
              <a:cxnSpLocks/>
              <a:endCxn id="24" idx="3"/>
            </p:cNvCxnSpPr>
            <p:nvPr/>
          </p:nvCxnSpPr>
          <p:spPr>
            <a:xfrm flipH="1" flipV="1">
              <a:off x="4801871" y="3527708"/>
              <a:ext cx="965418" cy="3978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C48033B-E179-CB49-A9ED-E828FB16EFC8}"/>
              </a:ext>
            </a:extLst>
          </p:cNvPr>
          <p:cNvSpPr/>
          <p:nvPr/>
        </p:nvSpPr>
        <p:spPr>
          <a:xfrm>
            <a:off x="7290340" y="2143143"/>
            <a:ext cx="350170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Simple models</a:t>
            </a:r>
            <a:r>
              <a:rPr lang="en-US" dirty="0"/>
              <a:t> based on clinical variables remain highly relevant</a:t>
            </a:r>
          </a:p>
          <a:p>
            <a:endParaRPr lang="en-US" dirty="0"/>
          </a:p>
          <a:p>
            <a:r>
              <a:rPr lang="en-US" dirty="0"/>
              <a:t>*Use the simplest model that gets the job done*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E4DEAA-BDF6-A7EF-87EC-D983B26D11D6}"/>
              </a:ext>
            </a:extLst>
          </p:cNvPr>
          <p:cNvSpPr txBox="1"/>
          <p:nvPr/>
        </p:nvSpPr>
        <p:spPr>
          <a:xfrm>
            <a:off x="7290340" y="5509566"/>
            <a:ext cx="36930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Engelhard MM, Navar AM, </a:t>
            </a:r>
            <a:r>
              <a:rPr lang="en-US" sz="11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Pencina</a:t>
            </a:r>
            <a:r>
              <a:rPr lang="en-US" sz="11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MJ. Incremental benefits of machine learning—when do we need a better mousetrap?. JAMA cardiology. 2021 Jun 1;6(6):621-3.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9102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5B16F-0380-CF6C-998D-8B08123A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18DD1-047C-D786-3651-826FDBC6E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Generative AI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F0EF87-C3A7-2463-EC0A-E0B2B21B6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99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98D13-8355-822A-5CEF-87818BD8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60A8412-51D8-E5C6-A9DF-D5B41D731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Generating tabular data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84B0908-FD29-F500-0401-656322E447D4}"/>
              </a:ext>
            </a:extLst>
          </p:cNvPr>
          <p:cNvSpPr/>
          <p:nvPr/>
        </p:nvSpPr>
        <p:spPr>
          <a:xfrm rot="16200000">
            <a:off x="7979970" y="795993"/>
            <a:ext cx="350344" cy="5784248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4B99E-D367-5905-1BAF-0D9D44B37B53}"/>
              </a:ext>
            </a:extLst>
          </p:cNvPr>
          <p:cNvSpPr txBox="1"/>
          <p:nvPr/>
        </p:nvSpPr>
        <p:spPr>
          <a:xfrm>
            <a:off x="6519731" y="4050693"/>
            <a:ext cx="452753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data/features for a synthetic subject or patient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A09F90-3649-E4A1-EA14-8E18301B6B28}"/>
              </a:ext>
            </a:extLst>
          </p:cNvPr>
          <p:cNvSpPr txBox="1"/>
          <p:nvPr/>
        </p:nvSpPr>
        <p:spPr>
          <a:xfrm>
            <a:off x="2807772" y="5715128"/>
            <a:ext cx="6576480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36" dirty="0"/>
              <a:t>End goal: create structure from randomness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CCD97B-0081-655A-D60A-417D4C1CF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281120"/>
              </p:ext>
            </p:extLst>
          </p:nvPr>
        </p:nvGraphicFramePr>
        <p:xfrm>
          <a:off x="5263018" y="2617689"/>
          <a:ext cx="5784248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40623976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0062079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87841067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1710633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11226212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149269349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043894517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FD1E1D1-E1AC-C7BB-6BD9-776C37EE2F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5036" y="2089793"/>
            <a:ext cx="2645472" cy="1763648"/>
          </a:xfrm>
          <a:prstGeom prst="rect">
            <a:avLst/>
          </a:prstGeom>
          <a:effectLst/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DB200EDE-0583-F187-DF9B-84FB472F6152}"/>
              </a:ext>
            </a:extLst>
          </p:cNvPr>
          <p:cNvSpPr/>
          <p:nvPr/>
        </p:nvSpPr>
        <p:spPr>
          <a:xfrm rot="16200000">
            <a:off x="2626667" y="2842221"/>
            <a:ext cx="350344" cy="2645472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D39D4-1589-95ED-D6E9-B3E68A25D631}"/>
              </a:ext>
            </a:extLst>
          </p:cNvPr>
          <p:cNvSpPr txBox="1"/>
          <p:nvPr/>
        </p:nvSpPr>
        <p:spPr>
          <a:xfrm>
            <a:off x="1950370" y="4340129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noise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29F294-6EE1-D913-48A8-1CF72256E6DE}"/>
              </a:ext>
            </a:extLst>
          </p:cNvPr>
          <p:cNvCxnSpPr>
            <a:cxnSpLocks/>
          </p:cNvCxnSpPr>
          <p:nvPr/>
        </p:nvCxnSpPr>
        <p:spPr>
          <a:xfrm flipV="1">
            <a:off x="4177400" y="2971616"/>
            <a:ext cx="103872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271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B8B1-AB41-D3D6-2E03-6CD2E4C8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F57180A-2883-C739-1BB5-8860CBE1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Image generation via GAN or diffusion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81A20B-20BB-9295-4E55-2613D720C52D}"/>
              </a:ext>
            </a:extLst>
          </p:cNvPr>
          <p:cNvSpPr txBox="1"/>
          <p:nvPr/>
        </p:nvSpPr>
        <p:spPr>
          <a:xfrm>
            <a:off x="287310" y="6114016"/>
            <a:ext cx="6576480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36" dirty="0"/>
              <a:t>End goal: create structure from randomness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5B98A-233F-0D3E-4DF7-16FBA18B75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5036" y="2089793"/>
            <a:ext cx="2645472" cy="1763648"/>
          </a:xfrm>
          <a:prstGeom prst="rect">
            <a:avLst/>
          </a:prstGeom>
          <a:effectLst/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AD6923C1-1C65-6595-6B82-DDE7512A61F7}"/>
              </a:ext>
            </a:extLst>
          </p:cNvPr>
          <p:cNvSpPr/>
          <p:nvPr/>
        </p:nvSpPr>
        <p:spPr>
          <a:xfrm rot="16200000">
            <a:off x="2626667" y="2842221"/>
            <a:ext cx="350344" cy="2645472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F1DA7-0041-7FFE-24D8-26DC5D60256D}"/>
              </a:ext>
            </a:extLst>
          </p:cNvPr>
          <p:cNvSpPr txBox="1"/>
          <p:nvPr/>
        </p:nvSpPr>
        <p:spPr>
          <a:xfrm>
            <a:off x="1950370" y="4340129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noise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097277-3DB3-4BA5-6669-70A5DF66F9C8}"/>
              </a:ext>
            </a:extLst>
          </p:cNvPr>
          <p:cNvCxnSpPr>
            <a:cxnSpLocks/>
          </p:cNvCxnSpPr>
          <p:nvPr/>
        </p:nvCxnSpPr>
        <p:spPr>
          <a:xfrm>
            <a:off x="4177400" y="2971617"/>
            <a:ext cx="30557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235D5EE-B4C4-9908-24CE-F2F6A9C4D5D7}"/>
              </a:ext>
            </a:extLst>
          </p:cNvPr>
          <p:cNvSpPr/>
          <p:nvPr/>
        </p:nvSpPr>
        <p:spPr>
          <a:xfrm>
            <a:off x="7335057" y="1690688"/>
            <a:ext cx="3479800" cy="35226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15285B0-214B-A3A3-F049-C3936974F5A8}"/>
              </a:ext>
            </a:extLst>
          </p:cNvPr>
          <p:cNvSpPr/>
          <p:nvPr/>
        </p:nvSpPr>
        <p:spPr>
          <a:xfrm rot="16200000">
            <a:off x="8899785" y="3766615"/>
            <a:ext cx="350344" cy="3479800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DC6C5E-0C46-F54C-81E1-E5F4694F2E18}"/>
                  </a:ext>
                </a:extLst>
              </p:cNvPr>
              <p:cNvSpPr txBox="1"/>
              <p:nvPr/>
            </p:nvSpPr>
            <p:spPr>
              <a:xfrm>
                <a:off x="8018631" y="5646774"/>
                <a:ext cx="2987135" cy="953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realistic retinal image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DC6C5E-0C46-F54C-81E1-E5F4694F2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8631" y="5646774"/>
                <a:ext cx="2987135" cy="953210"/>
              </a:xfrm>
              <a:prstGeom prst="rect">
                <a:avLst/>
              </a:prstGeom>
              <a:blipFill>
                <a:blip r:embed="rId4"/>
                <a:stretch>
                  <a:fillRect l="-4237" t="-6579" r="-1271"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Cover">
            <a:extLst>
              <a:ext uri="{FF2B5EF4-FFF2-40B4-BE49-F238E27FC236}">
                <a16:creationId xmlns:a16="http://schemas.microsoft.com/office/drawing/2014/main" id="{21EECC0C-04E7-D7E7-0789-FD19DAC5F5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404327" y="1808682"/>
            <a:ext cx="3289301" cy="326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21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882D-11CA-0CF9-A168-0CA08116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A0E8468-2C04-5D1C-FD06-72E62C0F7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Text gen via Transformer decoder or diffusion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64747-22B5-FB45-5588-AEC2A82A06E2}"/>
              </a:ext>
            </a:extLst>
          </p:cNvPr>
          <p:cNvSpPr txBox="1"/>
          <p:nvPr/>
        </p:nvSpPr>
        <p:spPr>
          <a:xfrm>
            <a:off x="287310" y="6114016"/>
            <a:ext cx="6576480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36" dirty="0"/>
              <a:t>End goal: create structure from randomness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093445-37F0-22B3-0826-268870D0F2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5036" y="2089793"/>
            <a:ext cx="2645472" cy="1763648"/>
          </a:xfrm>
          <a:prstGeom prst="rect">
            <a:avLst/>
          </a:prstGeom>
          <a:effectLst/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75B0A4CB-1D06-3C71-F356-277B7CFD322C}"/>
              </a:ext>
            </a:extLst>
          </p:cNvPr>
          <p:cNvSpPr/>
          <p:nvPr/>
        </p:nvSpPr>
        <p:spPr>
          <a:xfrm rot="16200000">
            <a:off x="2626667" y="2842221"/>
            <a:ext cx="350344" cy="2645472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18979-96E3-B094-A006-56085FE61BA1}"/>
              </a:ext>
            </a:extLst>
          </p:cNvPr>
          <p:cNvSpPr txBox="1"/>
          <p:nvPr/>
        </p:nvSpPr>
        <p:spPr>
          <a:xfrm>
            <a:off x="1950370" y="4340129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noise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8A583F-2A10-066A-F927-D03027978DA0}"/>
              </a:ext>
            </a:extLst>
          </p:cNvPr>
          <p:cNvCxnSpPr>
            <a:cxnSpLocks/>
          </p:cNvCxnSpPr>
          <p:nvPr/>
        </p:nvCxnSpPr>
        <p:spPr>
          <a:xfrm>
            <a:off x="4177400" y="2971617"/>
            <a:ext cx="30557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7E1E32D9-D7F2-8814-94ED-E664CF1C382E}"/>
              </a:ext>
            </a:extLst>
          </p:cNvPr>
          <p:cNvSpPr/>
          <p:nvPr/>
        </p:nvSpPr>
        <p:spPr>
          <a:xfrm rot="16200000">
            <a:off x="8312387" y="3343487"/>
            <a:ext cx="350344" cy="1851535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0EC3B5-30E9-B9BB-AD6B-8B3FD837EC7C}"/>
                  </a:ext>
                </a:extLst>
              </p:cNvPr>
              <p:cNvSpPr txBox="1"/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realistic clinical note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0EC3B5-30E9-B9BB-AD6B-8B3FD837E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blipFill>
                <a:blip r:embed="rId4"/>
                <a:stretch>
                  <a:fillRect t="-14634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C0B7779-5457-C51E-3871-2470DDC829F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20" b="91884" l="9885" r="90026">
                        <a14:foregroundMark x1="60547" y1="11323" x2="60547" y2="11323"/>
                        <a14:foregroundMark x1="21094" y1="83667" x2="21094" y2="83667"/>
                        <a14:foregroundMark x1="25508" y1="91884" x2="25508" y2="91884"/>
                        <a14:foregroundMark x1="51545" y1="77054" x2="51545" y2="77054"/>
                        <a14:foregroundMark x1="57282" y1="76854" x2="57282" y2="76854"/>
                        <a14:foregroundMark x1="58694" y1="58216" x2="58694" y2="58216"/>
                        <a14:foregroundMark x1="47396" y1="27054" x2="47396" y2="27054"/>
                        <a14:foregroundMark x1="35834" y1="16433" x2="57282" y2="59018"/>
                        <a14:foregroundMark x1="17829" y1="76854" x2="75552" y2="36874"/>
                        <a14:foregroundMark x1="67608" y1="89980" x2="40512" y2="17535"/>
                        <a14:foregroundMark x1="40512" y1="17535" x2="73698" y2="26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0030" y="1719813"/>
            <a:ext cx="2586151" cy="227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59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E417-F37E-4FA2-6747-C03238C6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152787D-4E89-052A-C00B-3C87BE378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Prompt-based generation of tabular data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175D89F-7045-D714-AC33-ABA9701AEDEB}"/>
              </a:ext>
            </a:extLst>
          </p:cNvPr>
          <p:cNvSpPr/>
          <p:nvPr/>
        </p:nvSpPr>
        <p:spPr>
          <a:xfrm rot="16200000">
            <a:off x="7979970" y="795993"/>
            <a:ext cx="350344" cy="5784248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9593A0-2DBC-B100-B567-4B9BE7B74113}"/>
              </a:ext>
            </a:extLst>
          </p:cNvPr>
          <p:cNvSpPr txBox="1"/>
          <p:nvPr/>
        </p:nvSpPr>
        <p:spPr>
          <a:xfrm>
            <a:off x="6519731" y="4050693"/>
            <a:ext cx="452753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data/features for a synthetic subject or patient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0537320-BBD9-E42B-B0CE-A9E1731AB6AA}"/>
              </a:ext>
            </a:extLst>
          </p:cNvPr>
          <p:cNvGraphicFramePr>
            <a:graphicFrameLocks noGrp="1"/>
          </p:cNvGraphicFramePr>
          <p:nvPr/>
        </p:nvGraphicFramePr>
        <p:xfrm>
          <a:off x="5263018" y="2617689"/>
          <a:ext cx="5784248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40623976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0062079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87841067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1710633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11226212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149269349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043894517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BBB8C9-3D39-7FB2-C49A-E3283F866156}"/>
              </a:ext>
            </a:extLst>
          </p:cNvPr>
          <p:cNvCxnSpPr>
            <a:cxnSpLocks/>
          </p:cNvCxnSpPr>
          <p:nvPr/>
        </p:nvCxnSpPr>
        <p:spPr>
          <a:xfrm flipV="1">
            <a:off x="4177400" y="2971616"/>
            <a:ext cx="103872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750018A-57AF-F262-FA75-31494BBBC3BF}"/>
              </a:ext>
            </a:extLst>
          </p:cNvPr>
          <p:cNvSpPr txBox="1"/>
          <p:nvPr/>
        </p:nvSpPr>
        <p:spPr>
          <a:xfrm>
            <a:off x="472854" y="5681686"/>
            <a:ext cx="4802660" cy="903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36" dirty="0"/>
              <a:t>End goal: create structure </a:t>
            </a:r>
          </a:p>
          <a:p>
            <a:r>
              <a:rPr lang="en-US" sz="2636" u="sng" dirty="0"/>
              <a:t>consistent with the user prompt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F8CC23A-8BB7-DB2B-9F69-75186806CE8A}"/>
              </a:ext>
            </a:extLst>
          </p:cNvPr>
          <p:cNvSpPr/>
          <p:nvPr/>
        </p:nvSpPr>
        <p:spPr>
          <a:xfrm rot="16200000">
            <a:off x="2486205" y="2047817"/>
            <a:ext cx="350344" cy="2926396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82743A-03E1-1AD3-7D00-BD68DFF33080}"/>
              </a:ext>
            </a:extLst>
          </p:cNvPr>
          <p:cNvSpPr txBox="1"/>
          <p:nvPr/>
        </p:nvSpPr>
        <p:spPr>
          <a:xfrm>
            <a:off x="1198179" y="2648451"/>
            <a:ext cx="2926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 vital signs consistent with sepsis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57F62E-89D1-2BFA-D18D-B2DEEBCFD212}"/>
              </a:ext>
            </a:extLst>
          </p:cNvPr>
          <p:cNvSpPr txBox="1"/>
          <p:nvPr/>
        </p:nvSpPr>
        <p:spPr>
          <a:xfrm>
            <a:off x="1750674" y="3686187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97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prompt</a:t>
            </a:r>
          </a:p>
        </p:txBody>
      </p:sp>
    </p:spTree>
    <p:extLst>
      <p:ext uri="{BB962C8B-B14F-4D97-AF65-F5344CB8AC3E}">
        <p14:creationId xmlns:p14="http://schemas.microsoft.com/office/powerpoint/2010/main" val="3503793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0AD58-8A44-5D5B-AC10-5E0104E4B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C205F19-C0A3-DCF9-BF09-2FBA694B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Prompt-based image generation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C34372-E041-A179-9FE3-3F038077298F}"/>
              </a:ext>
            </a:extLst>
          </p:cNvPr>
          <p:cNvSpPr txBox="1"/>
          <p:nvPr/>
        </p:nvSpPr>
        <p:spPr>
          <a:xfrm>
            <a:off x="472854" y="5681686"/>
            <a:ext cx="4802660" cy="903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36" dirty="0"/>
              <a:t>End goal: create structure </a:t>
            </a:r>
          </a:p>
          <a:p>
            <a:r>
              <a:rPr lang="en-US" sz="2636" u="sng" dirty="0"/>
              <a:t>consistent with the user prompt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80C44465-48B4-B9A7-25E4-A191C7B6861B}"/>
              </a:ext>
            </a:extLst>
          </p:cNvPr>
          <p:cNvSpPr/>
          <p:nvPr/>
        </p:nvSpPr>
        <p:spPr>
          <a:xfrm rot="16200000">
            <a:off x="2486205" y="2047817"/>
            <a:ext cx="350344" cy="2926396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BC544-D981-71D3-05EA-3FFB528B7505}"/>
              </a:ext>
            </a:extLst>
          </p:cNvPr>
          <p:cNvSpPr txBox="1"/>
          <p:nvPr/>
        </p:nvSpPr>
        <p:spPr>
          <a:xfrm>
            <a:off x="1750674" y="3686187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97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prompt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28F811-E6A9-85E9-3D28-876509EA091A}"/>
              </a:ext>
            </a:extLst>
          </p:cNvPr>
          <p:cNvCxnSpPr>
            <a:cxnSpLocks/>
          </p:cNvCxnSpPr>
          <p:nvPr/>
        </p:nvCxnSpPr>
        <p:spPr>
          <a:xfrm>
            <a:off x="4177400" y="2971617"/>
            <a:ext cx="30557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29192DD-A653-EACE-B81A-05404031E5CB}"/>
              </a:ext>
            </a:extLst>
          </p:cNvPr>
          <p:cNvSpPr/>
          <p:nvPr/>
        </p:nvSpPr>
        <p:spPr>
          <a:xfrm>
            <a:off x="7335057" y="1690688"/>
            <a:ext cx="3479800" cy="35226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1014F7A-DA69-4811-3870-9CD6650B28BA}"/>
              </a:ext>
            </a:extLst>
          </p:cNvPr>
          <p:cNvSpPr/>
          <p:nvPr/>
        </p:nvSpPr>
        <p:spPr>
          <a:xfrm rot="16200000">
            <a:off x="8899785" y="3766615"/>
            <a:ext cx="350344" cy="3479800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3BCE13-ECEE-3AB0-D029-28ADE83E39E3}"/>
                  </a:ext>
                </a:extLst>
              </p:cNvPr>
              <p:cNvSpPr txBox="1"/>
              <p:nvPr/>
            </p:nvSpPr>
            <p:spPr>
              <a:xfrm>
                <a:off x="8018631" y="5646774"/>
                <a:ext cx="2987135" cy="953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realistic retinal image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3BCE13-ECEE-3AB0-D029-28ADE83E3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8631" y="5646774"/>
                <a:ext cx="2987135" cy="953210"/>
              </a:xfrm>
              <a:prstGeom prst="rect">
                <a:avLst/>
              </a:prstGeom>
              <a:blipFill>
                <a:blip r:embed="rId3"/>
                <a:stretch>
                  <a:fillRect l="-4237" t="-6579" r="-1271"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Cover">
            <a:extLst>
              <a:ext uri="{FF2B5EF4-FFF2-40B4-BE49-F238E27FC236}">
                <a16:creationId xmlns:a16="http://schemas.microsoft.com/office/drawing/2014/main" id="{9E054715-3E07-7CBD-AEAF-BBE6489C70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404327" y="1808682"/>
            <a:ext cx="3289301" cy="326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41FC2-8351-B76B-2781-FF53F5ED818B}"/>
              </a:ext>
            </a:extLst>
          </p:cNvPr>
          <p:cNvSpPr txBox="1"/>
          <p:nvPr/>
        </p:nvSpPr>
        <p:spPr>
          <a:xfrm>
            <a:off x="1198179" y="2648451"/>
            <a:ext cx="2926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a fundoscopic image with exudates present</a:t>
            </a:r>
          </a:p>
        </p:txBody>
      </p:sp>
    </p:spTree>
    <p:extLst>
      <p:ext uri="{BB962C8B-B14F-4D97-AF65-F5344CB8AC3E}">
        <p14:creationId xmlns:p14="http://schemas.microsoft.com/office/powerpoint/2010/main" val="3123363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ACB73-5573-46EB-13AF-2E3D88C4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A0F14C-B8E9-F9C5-FE09-1375EC05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Prompt-based text generation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21B1A8-86EE-CFF2-9936-360533E10333}"/>
              </a:ext>
            </a:extLst>
          </p:cNvPr>
          <p:cNvCxnSpPr>
            <a:cxnSpLocks/>
          </p:cNvCxnSpPr>
          <p:nvPr/>
        </p:nvCxnSpPr>
        <p:spPr>
          <a:xfrm>
            <a:off x="4177400" y="2971617"/>
            <a:ext cx="30557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301D3397-FBC0-03EF-6BC5-70180C9D6474}"/>
              </a:ext>
            </a:extLst>
          </p:cNvPr>
          <p:cNvSpPr/>
          <p:nvPr/>
        </p:nvSpPr>
        <p:spPr>
          <a:xfrm rot="16200000">
            <a:off x="8312387" y="3343487"/>
            <a:ext cx="350344" cy="1851535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F1EB1D-39BB-42A8-896E-AF7F174035D3}"/>
                  </a:ext>
                </a:extLst>
              </p:cNvPr>
              <p:cNvSpPr txBox="1"/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realistic clinical note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F1EB1D-39BB-42A8-896E-AF7F17403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blipFill>
                <a:blip r:embed="rId3"/>
                <a:stretch>
                  <a:fillRect t="-14634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F9DB97A-661C-72C1-E936-75ED6E30471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20" b="91884" l="9885" r="90026">
                        <a14:foregroundMark x1="60547" y1="11323" x2="60547" y2="11323"/>
                        <a14:foregroundMark x1="21094" y1="83667" x2="21094" y2="83667"/>
                        <a14:foregroundMark x1="25508" y1="91884" x2="25508" y2="91884"/>
                        <a14:foregroundMark x1="51545" y1="77054" x2="51545" y2="77054"/>
                        <a14:foregroundMark x1="57282" y1="76854" x2="57282" y2="76854"/>
                        <a14:foregroundMark x1="58694" y1="58216" x2="58694" y2="58216"/>
                        <a14:foregroundMark x1="47396" y1="27054" x2="47396" y2="27054"/>
                        <a14:foregroundMark x1="35834" y1="16433" x2="57282" y2="59018"/>
                        <a14:foregroundMark x1="17829" y1="76854" x2="75552" y2="36874"/>
                        <a14:foregroundMark x1="67608" y1="89980" x2="40512" y2="17535"/>
                        <a14:foregroundMark x1="40512" y1="17535" x2="73698" y2="26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0030" y="1719813"/>
            <a:ext cx="2586151" cy="22770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9513E4-C49D-6AFA-1987-5B4F3A1B003E}"/>
              </a:ext>
            </a:extLst>
          </p:cNvPr>
          <p:cNvSpPr txBox="1"/>
          <p:nvPr/>
        </p:nvSpPr>
        <p:spPr>
          <a:xfrm>
            <a:off x="472854" y="5681686"/>
            <a:ext cx="4802660" cy="903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36" dirty="0"/>
              <a:t>End goal: create structure </a:t>
            </a:r>
          </a:p>
          <a:p>
            <a:r>
              <a:rPr lang="en-US" sz="2636" u="sng" dirty="0"/>
              <a:t>consistent with the user prompt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1F55D903-6351-1A53-E5D7-EA5C9FDB7181}"/>
              </a:ext>
            </a:extLst>
          </p:cNvPr>
          <p:cNvSpPr/>
          <p:nvPr/>
        </p:nvSpPr>
        <p:spPr>
          <a:xfrm rot="16200000">
            <a:off x="2486205" y="2047817"/>
            <a:ext cx="350344" cy="2926396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DE87C-894B-AFE6-DFDF-DED7FB859AAF}"/>
              </a:ext>
            </a:extLst>
          </p:cNvPr>
          <p:cNvSpPr txBox="1"/>
          <p:nvPr/>
        </p:nvSpPr>
        <p:spPr>
          <a:xfrm>
            <a:off x="1198179" y="2648451"/>
            <a:ext cx="2926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a note reporting on an autism assessment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0FE0E0-2A0F-750E-25AD-C233EC679D81}"/>
              </a:ext>
            </a:extLst>
          </p:cNvPr>
          <p:cNvSpPr txBox="1"/>
          <p:nvPr/>
        </p:nvSpPr>
        <p:spPr>
          <a:xfrm>
            <a:off x="1750674" y="3686187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97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prompt</a:t>
            </a:r>
          </a:p>
        </p:txBody>
      </p:sp>
    </p:spTree>
    <p:extLst>
      <p:ext uri="{BB962C8B-B14F-4D97-AF65-F5344CB8AC3E}">
        <p14:creationId xmlns:p14="http://schemas.microsoft.com/office/powerpoint/2010/main" val="6753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336D2-39FD-2616-452D-2F1FC76D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B78FAAA-7B54-69DF-2B0A-9021C692E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prompt can be an image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9E2FAA-FEE6-FCD4-9A0B-D97CC4251511}"/>
              </a:ext>
            </a:extLst>
          </p:cNvPr>
          <p:cNvCxnSpPr>
            <a:cxnSpLocks/>
          </p:cNvCxnSpPr>
          <p:nvPr/>
        </p:nvCxnSpPr>
        <p:spPr>
          <a:xfrm>
            <a:off x="4177400" y="2971617"/>
            <a:ext cx="30557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AA002C37-0B51-7332-D93B-37F2E36FC526}"/>
              </a:ext>
            </a:extLst>
          </p:cNvPr>
          <p:cNvSpPr/>
          <p:nvPr/>
        </p:nvSpPr>
        <p:spPr>
          <a:xfrm rot="16200000">
            <a:off x="8312387" y="3343487"/>
            <a:ext cx="350344" cy="1851535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465CD5-68AC-501D-4275-7318EB8DD28B}"/>
                  </a:ext>
                </a:extLst>
              </p:cNvPr>
              <p:cNvSpPr txBox="1"/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realistic clinical note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465CD5-68AC-501D-4275-7318EB8DD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blipFill>
                <a:blip r:embed="rId3"/>
                <a:stretch>
                  <a:fillRect t="-14634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54F8B94-79C0-CB4A-04F5-E7C7205B16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20" b="91884" l="9885" r="90026">
                        <a14:foregroundMark x1="60547" y1="11323" x2="60547" y2="11323"/>
                        <a14:foregroundMark x1="21094" y1="83667" x2="21094" y2="83667"/>
                        <a14:foregroundMark x1="25508" y1="91884" x2="25508" y2="91884"/>
                        <a14:foregroundMark x1="51545" y1="77054" x2="51545" y2="77054"/>
                        <a14:foregroundMark x1="57282" y1="76854" x2="57282" y2="76854"/>
                        <a14:foregroundMark x1="58694" y1="58216" x2="58694" y2="58216"/>
                        <a14:foregroundMark x1="47396" y1="27054" x2="47396" y2="27054"/>
                        <a14:foregroundMark x1="35834" y1="16433" x2="57282" y2="59018"/>
                        <a14:foregroundMark x1="17829" y1="76854" x2="75552" y2="36874"/>
                        <a14:foregroundMark x1="67608" y1="89980" x2="40512" y2="17535"/>
                        <a14:foregroundMark x1="40512" y1="17535" x2="73698" y2="26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0030" y="1719813"/>
            <a:ext cx="2586151" cy="22770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9DB196-B0FF-AA14-8C79-9A69E13B9BC3}"/>
              </a:ext>
            </a:extLst>
          </p:cNvPr>
          <p:cNvSpPr txBox="1"/>
          <p:nvPr/>
        </p:nvSpPr>
        <p:spPr>
          <a:xfrm>
            <a:off x="472854" y="5681686"/>
            <a:ext cx="4802660" cy="903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36" dirty="0"/>
              <a:t>End goal: create structure </a:t>
            </a:r>
          </a:p>
          <a:p>
            <a:r>
              <a:rPr lang="en-US" sz="2636" u="sng" dirty="0"/>
              <a:t>consistent with the user prompt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6F6BC0C-294D-F51F-F42E-EE94D2835125}"/>
              </a:ext>
            </a:extLst>
          </p:cNvPr>
          <p:cNvSpPr/>
          <p:nvPr/>
        </p:nvSpPr>
        <p:spPr>
          <a:xfrm rot="16200000">
            <a:off x="2450457" y="3269225"/>
            <a:ext cx="350344" cy="2749250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A03AF3-39B8-D8FD-7FDD-555B26D04F99}"/>
              </a:ext>
            </a:extLst>
          </p:cNvPr>
          <p:cNvSpPr txBox="1"/>
          <p:nvPr/>
        </p:nvSpPr>
        <p:spPr>
          <a:xfrm>
            <a:off x="1750674" y="4796231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97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prompt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18254F-2051-9E3E-70C8-EFAF99C4567D}"/>
              </a:ext>
            </a:extLst>
          </p:cNvPr>
          <p:cNvGrpSpPr/>
          <p:nvPr/>
        </p:nvGrpSpPr>
        <p:grpSpPr>
          <a:xfrm>
            <a:off x="1251004" y="1571960"/>
            <a:ext cx="2749250" cy="2734742"/>
            <a:chOff x="7335057" y="1690688"/>
            <a:chExt cx="3479800" cy="352266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E9E3B6B-C070-AB94-E216-4A9441C76056}"/>
                </a:ext>
              </a:extLst>
            </p:cNvPr>
            <p:cNvSpPr/>
            <p:nvPr/>
          </p:nvSpPr>
          <p:spPr>
            <a:xfrm>
              <a:off x="7335057" y="1690688"/>
              <a:ext cx="3479800" cy="352266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Cover">
              <a:extLst>
                <a:ext uri="{FF2B5EF4-FFF2-40B4-BE49-F238E27FC236}">
                  <a16:creationId xmlns:a16="http://schemas.microsoft.com/office/drawing/2014/main" id="{A0798E87-F1FE-E980-15F4-C1ACA07D38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404327" y="1808682"/>
              <a:ext cx="3289301" cy="3260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58594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F3C0-C795-E380-B232-09FBB3AD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FBF705A-EB5A-5EB9-EF82-2627116A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prompt can be complex…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E4AF96-A4DA-1A5E-792D-0691080601A5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4177400" y="2971615"/>
            <a:ext cx="1085618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9A73A0-4CF0-BC5C-1DE0-495E2B0302EB}"/>
              </a:ext>
            </a:extLst>
          </p:cNvPr>
          <p:cNvSpPr txBox="1"/>
          <p:nvPr/>
        </p:nvSpPr>
        <p:spPr>
          <a:xfrm>
            <a:off x="472854" y="5681686"/>
            <a:ext cx="4802660" cy="903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36" dirty="0"/>
              <a:t>End goal: create structure </a:t>
            </a:r>
          </a:p>
          <a:p>
            <a:r>
              <a:rPr lang="en-US" sz="2636" u="sng" dirty="0"/>
              <a:t>consistent with the user prompt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639CF4D-1103-30EE-8EF7-A3F6C3CE9421}"/>
              </a:ext>
            </a:extLst>
          </p:cNvPr>
          <p:cNvSpPr/>
          <p:nvPr/>
        </p:nvSpPr>
        <p:spPr>
          <a:xfrm rot="16200000">
            <a:off x="2173174" y="2852809"/>
            <a:ext cx="350344" cy="3658107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A572E7-D1BE-E9B5-BE09-18C5E63072F3}"/>
              </a:ext>
            </a:extLst>
          </p:cNvPr>
          <p:cNvSpPr txBox="1"/>
          <p:nvPr/>
        </p:nvSpPr>
        <p:spPr>
          <a:xfrm>
            <a:off x="1285729" y="4801671"/>
            <a:ext cx="3658108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97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prompt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3762B1-CB00-D24D-20FF-779D404EDFA8}"/>
              </a:ext>
            </a:extLst>
          </p:cNvPr>
          <p:cNvGrpSpPr/>
          <p:nvPr/>
        </p:nvGrpSpPr>
        <p:grpSpPr>
          <a:xfrm>
            <a:off x="1251004" y="1571960"/>
            <a:ext cx="1744444" cy="1780836"/>
            <a:chOff x="7335057" y="1690688"/>
            <a:chExt cx="3479800" cy="352266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48F480E-2C96-A2E7-35E9-C6120E875CC1}"/>
                </a:ext>
              </a:extLst>
            </p:cNvPr>
            <p:cNvSpPr/>
            <p:nvPr/>
          </p:nvSpPr>
          <p:spPr>
            <a:xfrm>
              <a:off x="7335057" y="1690688"/>
              <a:ext cx="3479800" cy="352266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Cover">
              <a:extLst>
                <a:ext uri="{FF2B5EF4-FFF2-40B4-BE49-F238E27FC236}">
                  <a16:creationId xmlns:a16="http://schemas.microsoft.com/office/drawing/2014/main" id="{8EDBFB7A-F6E8-47D7-C7FE-EC93ED8CA8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404327" y="1808682"/>
              <a:ext cx="3289301" cy="3260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F7A6B04-617A-E4DA-2A52-9B307C9E75B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20" b="91884" l="9885" r="90026">
                        <a14:foregroundMark x1="60547" y1="11323" x2="60547" y2="11323"/>
                        <a14:foregroundMark x1="21094" y1="83667" x2="21094" y2="83667"/>
                        <a14:foregroundMark x1="25508" y1="91884" x2="25508" y2="91884"/>
                        <a14:foregroundMark x1="51545" y1="77054" x2="51545" y2="77054"/>
                        <a14:foregroundMark x1="57282" y1="76854" x2="57282" y2="76854"/>
                        <a14:foregroundMark x1="58694" y1="58216" x2="58694" y2="58216"/>
                        <a14:foregroundMark x1="47396" y1="27054" x2="47396" y2="27054"/>
                        <a14:foregroundMark x1="35834" y1="16433" x2="57282" y2="59018"/>
                        <a14:foregroundMark x1="17829" y1="76854" x2="75552" y2="36874"/>
                        <a14:foregroundMark x1="67608" y1="89980" x2="40512" y2="17535"/>
                        <a14:foregroundMark x1="40512" y1="17535" x2="73698" y2="26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28112" y="2366144"/>
            <a:ext cx="1872150" cy="16484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1707F3-F8C5-FF43-CD19-C53E38A34841}"/>
              </a:ext>
            </a:extLst>
          </p:cNvPr>
          <p:cNvSpPr txBox="1"/>
          <p:nvPr/>
        </p:nvSpPr>
        <p:spPr>
          <a:xfrm>
            <a:off x="519293" y="3521097"/>
            <a:ext cx="2354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Generate vital signs consistent with this image and note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05242C62-E894-634B-7920-A81773C357CC}"/>
              </a:ext>
            </a:extLst>
          </p:cNvPr>
          <p:cNvSpPr/>
          <p:nvPr/>
        </p:nvSpPr>
        <p:spPr>
          <a:xfrm rot="16200000">
            <a:off x="7979970" y="795993"/>
            <a:ext cx="350344" cy="5784248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EC7BFF-9DA0-E1FE-8FEE-75931CE97488}"/>
              </a:ext>
            </a:extLst>
          </p:cNvPr>
          <p:cNvSpPr txBox="1"/>
          <p:nvPr/>
        </p:nvSpPr>
        <p:spPr>
          <a:xfrm>
            <a:off x="6519731" y="4050693"/>
            <a:ext cx="452753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data/features for a synthetic subject or patient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24CDC82-890E-7DAC-15E2-558C3D6B38E8}"/>
              </a:ext>
            </a:extLst>
          </p:cNvPr>
          <p:cNvGraphicFramePr>
            <a:graphicFrameLocks noGrp="1"/>
          </p:cNvGraphicFramePr>
          <p:nvPr/>
        </p:nvGraphicFramePr>
        <p:xfrm>
          <a:off x="5263018" y="2617689"/>
          <a:ext cx="5784248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40623976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0062079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87841067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1710633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11226212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149269349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043894517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765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27652-233D-E0B3-C462-6A629A619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cover in this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097C2-1E44-F990-ECB4-74B251B7B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roadmap by course weekend</a:t>
            </a:r>
          </a:p>
        </p:txBody>
      </p:sp>
    </p:spTree>
    <p:extLst>
      <p:ext uri="{BB962C8B-B14F-4D97-AF65-F5344CB8AC3E}">
        <p14:creationId xmlns:p14="http://schemas.microsoft.com/office/powerpoint/2010/main" val="25049980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6E5C00-7F27-6381-C0C7-2DAB00C3139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3007" y="1652546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79CE77-F2CB-1A8D-A548-C22D233DC4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6548" y="1649918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146EDF-F072-64D8-2E31-476A13E49A4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0088" y="1649918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24B14B-6E00-8762-B78E-A07448CC0BA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3628" y="1649918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663265-6DBC-71BF-A88E-25C2E821F10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168" y="1649918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D0EB505F-C80A-C74C-EB64-AFDEA00A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Content by course weekend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DA938C-6423-7DEA-F453-CFD44A61F642}"/>
              </a:ext>
            </a:extLst>
          </p:cNvPr>
          <p:cNvSpPr txBox="1"/>
          <p:nvPr/>
        </p:nvSpPr>
        <p:spPr>
          <a:xfrm>
            <a:off x="432158" y="5892318"/>
            <a:ext cx="1581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1: AI Overview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79B999-09AB-E0E5-049A-6D0CAC4FC732}"/>
              </a:ext>
            </a:extLst>
          </p:cNvPr>
          <p:cNvSpPr txBox="1"/>
          <p:nvPr/>
        </p:nvSpPr>
        <p:spPr>
          <a:xfrm>
            <a:off x="2835243" y="5892318"/>
            <a:ext cx="1648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2: Predictive 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8D9B63-690C-3098-9826-B87B8564EEF0}"/>
              </a:ext>
            </a:extLst>
          </p:cNvPr>
          <p:cNvSpPr txBox="1"/>
          <p:nvPr/>
        </p:nvSpPr>
        <p:spPr>
          <a:xfrm>
            <a:off x="5190944" y="5892318"/>
            <a:ext cx="1810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3: Complex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848D19-7F21-D463-1916-B7CB2D20ECBE}"/>
              </a:ext>
            </a:extLst>
          </p:cNvPr>
          <p:cNvSpPr txBox="1"/>
          <p:nvPr/>
        </p:nvSpPr>
        <p:spPr>
          <a:xfrm>
            <a:off x="7661837" y="5892318"/>
            <a:ext cx="1741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4: Generative AI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5043A-1254-1D21-C2F2-18DE6C17A9AE}"/>
              </a:ext>
            </a:extLst>
          </p:cNvPr>
          <p:cNvSpPr txBox="1"/>
          <p:nvPr/>
        </p:nvSpPr>
        <p:spPr>
          <a:xfrm>
            <a:off x="10171779" y="5892318"/>
            <a:ext cx="1588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5: Emerging AI</a:t>
            </a:r>
          </a:p>
        </p:txBody>
      </p:sp>
    </p:spTree>
    <p:extLst>
      <p:ext uri="{BB962C8B-B14F-4D97-AF65-F5344CB8AC3E}">
        <p14:creationId xmlns:p14="http://schemas.microsoft.com/office/powerpoint/2010/main" val="2443122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8DD9A-A354-1EAF-C2D1-620D856F3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01D70D-A66B-3006-55F7-DF15A1CC26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3007" y="1652546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C5E9D1-EDB6-5347-55D5-9C9CCD58C0C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6548" y="1649918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8D0389-C928-2088-F38E-4715C33282A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0088" y="1649918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52457E-51A5-C486-7BFB-D6EB870A6A9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3628" y="1649918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86F4AB-37C7-33BF-8A58-CF6533B091B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168" y="1649918"/>
            <a:ext cx="2091825" cy="41883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460337F-209E-D073-AD84-532CFA72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Content by course weekend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914BE8-3092-A962-80E2-DBB6D634CFBA}"/>
              </a:ext>
            </a:extLst>
          </p:cNvPr>
          <p:cNvSpPr txBox="1"/>
          <p:nvPr/>
        </p:nvSpPr>
        <p:spPr>
          <a:xfrm>
            <a:off x="432158" y="5892318"/>
            <a:ext cx="1581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1: AI Overview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31B64E-0AAE-4078-807D-ACCB9FA7BD82}"/>
              </a:ext>
            </a:extLst>
          </p:cNvPr>
          <p:cNvSpPr txBox="1"/>
          <p:nvPr/>
        </p:nvSpPr>
        <p:spPr>
          <a:xfrm>
            <a:off x="2835243" y="5892318"/>
            <a:ext cx="1919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2: Predictive AI</a:t>
            </a:r>
          </a:p>
          <a:p>
            <a:r>
              <a:rPr lang="en-US" dirty="0"/>
              <a:t>+ how to evaluate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6791E7-7A32-183A-9C57-92FE45C14131}"/>
              </a:ext>
            </a:extLst>
          </p:cNvPr>
          <p:cNvSpPr txBox="1"/>
          <p:nvPr/>
        </p:nvSpPr>
        <p:spPr>
          <a:xfrm>
            <a:off x="5190944" y="5892318"/>
            <a:ext cx="2302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3: Complex data</a:t>
            </a:r>
          </a:p>
          <a:p>
            <a:r>
              <a:rPr lang="en-US" dirty="0"/>
              <a:t>+ how learning works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77AB8-7BAB-0F50-E6A0-0EE8DE20F343}"/>
              </a:ext>
            </a:extLst>
          </p:cNvPr>
          <p:cNvSpPr txBox="1"/>
          <p:nvPr/>
        </p:nvSpPr>
        <p:spPr>
          <a:xfrm>
            <a:off x="7661837" y="5892318"/>
            <a:ext cx="1803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4: Generative AI</a:t>
            </a:r>
          </a:p>
          <a:p>
            <a:r>
              <a:rPr lang="en-US" dirty="0"/>
              <a:t>+ mitigating bias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6EB104-940C-1412-EA6A-8FDCD0582441}"/>
              </a:ext>
            </a:extLst>
          </p:cNvPr>
          <p:cNvSpPr txBox="1"/>
          <p:nvPr/>
        </p:nvSpPr>
        <p:spPr>
          <a:xfrm>
            <a:off x="10171779" y="5892318"/>
            <a:ext cx="1604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5: Emerging AI</a:t>
            </a:r>
          </a:p>
          <a:p>
            <a:r>
              <a:rPr lang="en-US" dirty="0"/>
              <a:t>+ explaining AI</a:t>
            </a:r>
          </a:p>
        </p:txBody>
      </p:sp>
    </p:spTree>
    <p:extLst>
      <p:ext uri="{BB962C8B-B14F-4D97-AF65-F5344CB8AC3E}">
        <p14:creationId xmlns:p14="http://schemas.microsoft.com/office/powerpoint/2010/main" val="252466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D3D9-ACF5-4889-CF4B-B7747FF4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CB8D4-92CB-7C1C-9CA1-2E3BCBC08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Predictive, Generative, or Both?</a:t>
            </a:r>
          </a:p>
        </p:txBody>
      </p:sp>
    </p:spTree>
    <p:extLst>
      <p:ext uri="{BB962C8B-B14F-4D97-AF65-F5344CB8AC3E}">
        <p14:creationId xmlns:p14="http://schemas.microsoft.com/office/powerpoint/2010/main" val="6054487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07E2-1812-7010-9E28-BF56A3DB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1: predictive, generative, or both?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3F7A6-88DC-86B7-6671-92621AB5B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u="sng" dirty="0"/>
              <a:t>Instructions</a:t>
            </a:r>
            <a:r>
              <a:rPr lang="en-US" dirty="0"/>
              <a:t>: propose a predictive, generative, or hybrid system for one of the following tasks/problems, or one of your own:</a:t>
            </a:r>
          </a:p>
          <a:p>
            <a:r>
              <a:rPr lang="en-US" dirty="0"/>
              <a:t>Improving management/handling of patient portal messages</a:t>
            </a:r>
          </a:p>
          <a:p>
            <a:r>
              <a:rPr lang="en-US" dirty="0"/>
              <a:t>Managing and titrating hypertension medications</a:t>
            </a:r>
          </a:p>
          <a:p>
            <a:r>
              <a:rPr lang="en-US" dirty="0"/>
              <a:t>Identifying social determinants of health from EHR data</a:t>
            </a:r>
          </a:p>
          <a:p>
            <a:r>
              <a:rPr lang="en-US" dirty="0"/>
              <a:t>Improving cancer screening</a:t>
            </a:r>
          </a:p>
          <a:p>
            <a:r>
              <a:rPr lang="en-US" dirty="0"/>
              <a:t>Drafting a discharge summary following a complex admission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Deliverables</a:t>
            </a:r>
            <a:r>
              <a:rPr lang="en-US" dirty="0"/>
              <a:t>: </a:t>
            </a:r>
          </a:p>
          <a:p>
            <a:r>
              <a:rPr lang="en-US" dirty="0"/>
              <a:t>In a few sentences, describe your proposed system at a high level</a:t>
            </a:r>
          </a:p>
          <a:p>
            <a:r>
              <a:rPr lang="en-US" dirty="0"/>
              <a:t>Briefly explain why you believe generative, predictive, or hybrid is best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Learning Objective</a:t>
            </a:r>
            <a:r>
              <a:rPr lang="en-US" dirty="0"/>
              <a:t>: consider tradeoffs and synergies between predictive and generative AI</a:t>
            </a:r>
          </a:p>
        </p:txBody>
      </p:sp>
    </p:spTree>
    <p:extLst>
      <p:ext uri="{BB962C8B-B14F-4D97-AF65-F5344CB8AC3E}">
        <p14:creationId xmlns:p14="http://schemas.microsoft.com/office/powerpoint/2010/main" val="18259533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043B-6529-CB4E-D0B0-027A87F4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Predictive, Generative, or Both?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2F870-2321-D7EE-DB2C-973980FED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the right tool or combination of tools</a:t>
            </a:r>
          </a:p>
        </p:txBody>
      </p:sp>
    </p:spTree>
    <p:extLst>
      <p:ext uri="{BB962C8B-B14F-4D97-AF65-F5344CB8AC3E}">
        <p14:creationId xmlns:p14="http://schemas.microsoft.com/office/powerpoint/2010/main" val="2773544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A6259-DD1D-A56B-CBBD-E0A52BB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FBCE-D5FF-B71A-84E6-8424FAEF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predictive and generative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AC28AC-DEDA-C615-2B92-73880F3E56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85" y="1805353"/>
            <a:ext cx="2177180" cy="435927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FE268E-2FAC-0627-58D7-2FFFEEF3B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165" y="1904508"/>
            <a:ext cx="26321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Predictive AI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Pros</a:t>
            </a:r>
          </a:p>
          <a:p>
            <a:r>
              <a:rPr lang="en-US" sz="2400" dirty="0"/>
              <a:t>Pro 1</a:t>
            </a:r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r>
              <a:rPr lang="en-US" sz="2400" u="sng" dirty="0"/>
              <a:t>Cons</a:t>
            </a:r>
          </a:p>
          <a:p>
            <a:r>
              <a:rPr lang="en-US" sz="2400" dirty="0"/>
              <a:t>Con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E42A84-A552-C379-0C92-ED8CEFA855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805352"/>
            <a:ext cx="2177180" cy="43592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CA4433-C044-170B-4B94-BC320CEC78D6}"/>
              </a:ext>
            </a:extLst>
          </p:cNvPr>
          <p:cNvSpPr txBox="1">
            <a:spLocks/>
          </p:cNvSpPr>
          <p:nvPr/>
        </p:nvSpPr>
        <p:spPr>
          <a:xfrm>
            <a:off x="8721688" y="1904508"/>
            <a:ext cx="31024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u="sng" dirty="0"/>
              <a:t>Generative AI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Pros</a:t>
            </a:r>
          </a:p>
          <a:p>
            <a:r>
              <a:rPr lang="en-US" sz="2400" dirty="0"/>
              <a:t>Pro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Cons</a:t>
            </a:r>
          </a:p>
          <a:p>
            <a:r>
              <a:rPr lang="en-US" sz="2400" dirty="0"/>
              <a:t>Con 1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2832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n eye&#10;&#10;Description automatically generated">
            <a:extLst>
              <a:ext uri="{FF2B5EF4-FFF2-40B4-BE49-F238E27FC236}">
                <a16:creationId xmlns:a16="http://schemas.microsoft.com/office/drawing/2014/main" id="{FF20899B-1796-F9C8-03B3-57BCAFA046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8116" y="4211827"/>
            <a:ext cx="914400" cy="914400"/>
          </a:xfrm>
          <a:prstGeom prst="rect">
            <a:avLst/>
          </a:prstGeom>
        </p:spPr>
      </p:pic>
      <p:pic>
        <p:nvPicPr>
          <p:cNvPr id="3" name="Picture 2" descr="A close up of a green eye&#10;&#10;Description automatically generated">
            <a:extLst>
              <a:ext uri="{FF2B5EF4-FFF2-40B4-BE49-F238E27FC236}">
                <a16:creationId xmlns:a16="http://schemas.microsoft.com/office/drawing/2014/main" id="{13BFC4DA-0FF0-554B-8CDA-D7C68E652DD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7581" y="4212704"/>
            <a:ext cx="914400" cy="914400"/>
          </a:xfrm>
          <a:prstGeom prst="rect">
            <a:avLst/>
          </a:prstGeom>
        </p:spPr>
      </p:pic>
      <p:pic>
        <p:nvPicPr>
          <p:cNvPr id="5" name="Picture 4" descr="A close-up of an eye&#10;&#10;Description automatically generated">
            <a:extLst>
              <a:ext uri="{FF2B5EF4-FFF2-40B4-BE49-F238E27FC236}">
                <a16:creationId xmlns:a16="http://schemas.microsoft.com/office/drawing/2014/main" id="{BB9AD367-AEED-DBBC-82CC-8781114006F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5427" y="4211827"/>
            <a:ext cx="914400" cy="914400"/>
          </a:xfrm>
          <a:prstGeom prst="rect">
            <a:avLst/>
          </a:prstGeom>
        </p:spPr>
      </p:pic>
      <p:pic>
        <p:nvPicPr>
          <p:cNvPr id="6" name="Picture 5" descr="A close-up of a blue eyeball&#10;&#10;Description automatically generated">
            <a:extLst>
              <a:ext uri="{FF2B5EF4-FFF2-40B4-BE49-F238E27FC236}">
                <a16:creationId xmlns:a16="http://schemas.microsoft.com/office/drawing/2014/main" id="{B56BC341-F499-3BBB-061F-FF60DAE9B4C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1027" y="4211827"/>
            <a:ext cx="914400" cy="914400"/>
          </a:xfrm>
          <a:prstGeom prst="rect">
            <a:avLst/>
          </a:prstGeom>
        </p:spPr>
      </p:pic>
      <p:pic>
        <p:nvPicPr>
          <p:cNvPr id="8" name="Picture 7" descr="A close-up of a red and green eye&#10;&#10;Description automatically generated">
            <a:extLst>
              <a:ext uri="{FF2B5EF4-FFF2-40B4-BE49-F238E27FC236}">
                <a16:creationId xmlns:a16="http://schemas.microsoft.com/office/drawing/2014/main" id="{8E43A8DC-53AD-682D-7ADA-C8355E7E2A9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2516" y="421182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F79D70-3644-4929-4D9F-65575EB7784E}"/>
              </a:ext>
            </a:extLst>
          </p:cNvPr>
          <p:cNvSpPr txBox="1"/>
          <p:nvPr/>
        </p:nvSpPr>
        <p:spPr>
          <a:xfrm>
            <a:off x="6234419" y="3735289"/>
            <a:ext cx="4813064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Synthetic Diseased</a:t>
            </a:r>
            <a:r>
              <a:rPr lang="en-US" sz="21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0" name="Picture 9" descr="A close up of an eye&#10;&#10;Description automatically generated">
            <a:extLst>
              <a:ext uri="{FF2B5EF4-FFF2-40B4-BE49-F238E27FC236}">
                <a16:creationId xmlns:a16="http://schemas.microsoft.com/office/drawing/2014/main" id="{BD82820D-41D6-A488-76DD-CF0E96B9575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631" y="4212881"/>
            <a:ext cx="914400" cy="914400"/>
          </a:xfrm>
          <a:prstGeom prst="rect">
            <a:avLst/>
          </a:prstGeom>
        </p:spPr>
      </p:pic>
      <p:pic>
        <p:nvPicPr>
          <p:cNvPr id="11" name="Picture 10" descr="A close up of an eye&#10;&#10;Description automatically generated">
            <a:extLst>
              <a:ext uri="{FF2B5EF4-FFF2-40B4-BE49-F238E27FC236}">
                <a16:creationId xmlns:a16="http://schemas.microsoft.com/office/drawing/2014/main" id="{507C3B2E-01A5-55EF-A76F-A0096CED83E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0031" y="4211827"/>
            <a:ext cx="914400" cy="914400"/>
          </a:xfrm>
          <a:prstGeom prst="rect">
            <a:avLst/>
          </a:prstGeom>
        </p:spPr>
      </p:pic>
      <p:pic>
        <p:nvPicPr>
          <p:cNvPr id="12" name="Picture 11" descr="A close up of an eye&#10;&#10;Description automatically generated">
            <a:extLst>
              <a:ext uri="{FF2B5EF4-FFF2-40B4-BE49-F238E27FC236}">
                <a16:creationId xmlns:a16="http://schemas.microsoft.com/office/drawing/2014/main" id="{C5FFD9C6-C319-3755-C449-A782AB52BC79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4431" y="4211827"/>
            <a:ext cx="914400" cy="914400"/>
          </a:xfrm>
          <a:prstGeom prst="rect">
            <a:avLst/>
          </a:prstGeom>
        </p:spPr>
      </p:pic>
      <p:pic>
        <p:nvPicPr>
          <p:cNvPr id="13" name="Picture 12" descr="A close up of an eye&#10;&#10;Description automatically generated">
            <a:extLst>
              <a:ext uri="{FF2B5EF4-FFF2-40B4-BE49-F238E27FC236}">
                <a16:creationId xmlns:a16="http://schemas.microsoft.com/office/drawing/2014/main" id="{8D2444E2-532D-6789-CAFF-14F61BB98786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3231" y="4211827"/>
            <a:ext cx="914400" cy="914400"/>
          </a:xfrm>
          <a:prstGeom prst="rect">
            <a:avLst/>
          </a:prstGeom>
        </p:spPr>
      </p:pic>
      <p:pic>
        <p:nvPicPr>
          <p:cNvPr id="15" name="Picture 14" descr="A close up of an eye&#10;&#10;Description automatically generated">
            <a:extLst>
              <a:ext uri="{FF2B5EF4-FFF2-40B4-BE49-F238E27FC236}">
                <a16:creationId xmlns:a16="http://schemas.microsoft.com/office/drawing/2014/main" id="{9045FEF6-C49A-BE53-1ED9-294EDF6CCEDC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2516" y="2322997"/>
            <a:ext cx="914400" cy="914400"/>
          </a:xfrm>
          <a:prstGeom prst="rect">
            <a:avLst/>
          </a:prstGeom>
        </p:spPr>
      </p:pic>
      <p:pic>
        <p:nvPicPr>
          <p:cNvPr id="16" name="Picture 15" descr="A close up of an eye&#10;&#10;Description automatically generated">
            <a:extLst>
              <a:ext uri="{FF2B5EF4-FFF2-40B4-BE49-F238E27FC236}">
                <a16:creationId xmlns:a16="http://schemas.microsoft.com/office/drawing/2014/main" id="{02068E35-A324-AA44-DBE6-FF23F3240E85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1981" y="2322997"/>
            <a:ext cx="914400" cy="914400"/>
          </a:xfrm>
          <a:prstGeom prst="rect">
            <a:avLst/>
          </a:prstGeom>
        </p:spPr>
      </p:pic>
      <p:pic>
        <p:nvPicPr>
          <p:cNvPr id="17" name="Picture 16" descr="A close up of an eye&#10;&#10;Description automatically generated">
            <a:extLst>
              <a:ext uri="{FF2B5EF4-FFF2-40B4-BE49-F238E27FC236}">
                <a16:creationId xmlns:a16="http://schemas.microsoft.com/office/drawing/2014/main" id="{7877819F-0AC8-941F-39D0-290C64015B8A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7581" y="2322997"/>
            <a:ext cx="914400" cy="914400"/>
          </a:xfrm>
          <a:prstGeom prst="rect">
            <a:avLst/>
          </a:prstGeom>
        </p:spPr>
      </p:pic>
      <p:pic>
        <p:nvPicPr>
          <p:cNvPr id="18" name="Picture 17" descr="A close up of an eye&#10;&#10;Description automatically generated">
            <a:extLst>
              <a:ext uri="{FF2B5EF4-FFF2-40B4-BE49-F238E27FC236}">
                <a16:creationId xmlns:a16="http://schemas.microsoft.com/office/drawing/2014/main" id="{5ED310AD-2526-4398-398F-F74D73FA2230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7047" y="2322997"/>
            <a:ext cx="914400" cy="914400"/>
          </a:xfrm>
          <a:prstGeom prst="rect">
            <a:avLst/>
          </a:prstGeom>
        </p:spPr>
      </p:pic>
      <p:pic>
        <p:nvPicPr>
          <p:cNvPr id="19" name="Picture 18" descr="A close-up of an eyeball&#10;&#10;Description automatically generated">
            <a:extLst>
              <a:ext uri="{FF2B5EF4-FFF2-40B4-BE49-F238E27FC236}">
                <a16:creationId xmlns:a16="http://schemas.microsoft.com/office/drawing/2014/main" id="{49A70A60-83AB-307F-B882-162547018D1E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2647" y="2322997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E0FE388-CD09-F500-4651-3736E5D160A2}"/>
              </a:ext>
            </a:extLst>
          </p:cNvPr>
          <p:cNvSpPr txBox="1"/>
          <p:nvPr/>
        </p:nvSpPr>
        <p:spPr>
          <a:xfrm>
            <a:off x="6234419" y="1847920"/>
            <a:ext cx="4813064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Real Diseased (n=27)</a:t>
            </a:r>
            <a:r>
              <a:rPr lang="en-US" sz="21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D68D51-4A0A-DAB9-06FE-FE83D1006123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4671" y="2322997"/>
            <a:ext cx="914400" cy="914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1B2EB78-E889-521F-3A51-9F78385039B4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551" y="2322997"/>
            <a:ext cx="914400" cy="914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2E9888F-D4EF-EE83-1097-B62985F7B8D2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4431" y="2322997"/>
            <a:ext cx="914400" cy="914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00E996A-49B3-AB00-30FE-97B3603F71E8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0031" y="2322997"/>
            <a:ext cx="914400" cy="914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4547B1-0F98-7215-C1F7-442E64D2BF06}"/>
              </a:ext>
            </a:extLst>
          </p:cNvPr>
          <p:cNvPicPr>
            <a:picLocks noChangeAspect="1"/>
          </p:cNvPicPr>
          <p:nvPr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5631" y="2322997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F2A7819-6BE2-936A-C7DC-09703CC1098B}"/>
              </a:ext>
            </a:extLst>
          </p:cNvPr>
          <p:cNvSpPr txBox="1"/>
          <p:nvPr/>
        </p:nvSpPr>
        <p:spPr>
          <a:xfrm>
            <a:off x="985099" y="1847920"/>
            <a:ext cx="4813064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Real Healthy (n=57)</a:t>
            </a:r>
            <a:endParaRPr lang="en-US" sz="21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 descr="A close up of an eye&#10;&#10;Description automatically generated">
            <a:extLst>
              <a:ext uri="{FF2B5EF4-FFF2-40B4-BE49-F238E27FC236}">
                <a16:creationId xmlns:a16="http://schemas.microsoft.com/office/drawing/2014/main" id="{39B711B6-05E4-7F74-5C1F-539435018C18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8831" y="4211827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6A17D3D-EA14-8E26-231B-09DE05ED33FF}"/>
              </a:ext>
            </a:extLst>
          </p:cNvPr>
          <p:cNvSpPr txBox="1"/>
          <p:nvPr/>
        </p:nvSpPr>
        <p:spPr>
          <a:xfrm>
            <a:off x="7367083" y="6395125"/>
            <a:ext cx="5037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(Daniel Wang et al., IOVS 2024;65:ARVO Abstract 2362)</a:t>
            </a:r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951CB3B0-6D13-7394-E005-9D193977949B}"/>
              </a:ext>
            </a:extLst>
          </p:cNvPr>
          <p:cNvSpPr/>
          <p:nvPr/>
        </p:nvSpPr>
        <p:spPr>
          <a:xfrm>
            <a:off x="3221382" y="3253545"/>
            <a:ext cx="340497" cy="485652"/>
          </a:xfrm>
          <a:prstGeom prst="downArrow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24A3481A-5EE6-A6BF-690A-167F64218E0E}"/>
              </a:ext>
            </a:extLst>
          </p:cNvPr>
          <p:cNvSpPr/>
          <p:nvPr/>
        </p:nvSpPr>
        <p:spPr>
          <a:xfrm>
            <a:off x="8470702" y="3253543"/>
            <a:ext cx="340497" cy="485652"/>
          </a:xfrm>
          <a:prstGeom prst="downArrow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9D6C03D5-B3CA-2A7D-3936-F435E934B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267" dirty="0"/>
              <a:t>Often predictive and generative models are complementary.</a:t>
            </a:r>
            <a:endParaRPr lang="en-US" sz="3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C30AA1-7CA5-4AF5-D7DC-32DD18A36BB6}"/>
              </a:ext>
            </a:extLst>
          </p:cNvPr>
          <p:cNvSpPr txBox="1"/>
          <p:nvPr/>
        </p:nvSpPr>
        <p:spPr>
          <a:xfrm>
            <a:off x="985099" y="3735289"/>
            <a:ext cx="4813064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33" dirty="0">
                <a:latin typeface="Arial" panose="020B0604020202020204" pitchFamily="34" charset="0"/>
                <a:cs typeface="Arial" panose="020B0604020202020204" pitchFamily="34" charset="0"/>
              </a:rPr>
              <a:t>Synthetic Healthy</a:t>
            </a:r>
            <a:r>
              <a:rPr lang="en-US" sz="21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371581-7D0F-A493-E918-9221B51FC68B}"/>
              </a:ext>
            </a:extLst>
          </p:cNvPr>
          <p:cNvSpPr txBox="1"/>
          <p:nvPr/>
        </p:nvSpPr>
        <p:spPr>
          <a:xfrm>
            <a:off x="838200" y="5430759"/>
            <a:ext cx="6592736" cy="111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Microbial keratitis (MK) detection:</a:t>
            </a:r>
            <a:endParaRPr lang="en-US" sz="2133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Learn to generate synthetic data (generative)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Train an MK detection model (predictive)</a:t>
            </a:r>
          </a:p>
        </p:txBody>
      </p:sp>
    </p:spTree>
    <p:extLst>
      <p:ext uri="{BB962C8B-B14F-4D97-AF65-F5344CB8AC3E}">
        <p14:creationId xmlns:p14="http://schemas.microsoft.com/office/powerpoint/2010/main" val="3837958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861B132-5A80-4F26-B05B-B03B027B1F9A}"/>
              </a:ext>
            </a:extLst>
          </p:cNvPr>
          <p:cNvSpPr txBox="1">
            <a:spLocks/>
          </p:cNvSpPr>
          <p:nvPr/>
        </p:nvSpPr>
        <p:spPr>
          <a:xfrm>
            <a:off x="537904" y="274639"/>
            <a:ext cx="10972800" cy="114300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Lato Regular" charset="0"/>
                <a:ea typeface="+mj-ea"/>
                <a:cs typeface="+mj-cs"/>
              </a:defRPr>
            </a:lvl1pPr>
          </a:lstStyle>
          <a:p>
            <a:endParaRPr lang="en-US" sz="32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E9D253-A74A-9C4F-9FFE-3E91395E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67" dirty="0"/>
              <a:t>Often predictive and generative models are complementary.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DC748-D2C5-5844-8205-BDDC87302464}"/>
              </a:ext>
            </a:extLst>
          </p:cNvPr>
          <p:cNvSpPr txBox="1"/>
          <p:nvPr/>
        </p:nvSpPr>
        <p:spPr>
          <a:xfrm>
            <a:off x="5422233" y="646496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BFB6B-820A-37EA-F8B0-714D13947A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8365" y="2088007"/>
            <a:ext cx="4027007" cy="2681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45B9CB-89F2-7B61-030E-0309E9D5664A}"/>
              </a:ext>
            </a:extLst>
          </p:cNvPr>
          <p:cNvSpPr txBox="1"/>
          <p:nvPr/>
        </p:nvSpPr>
        <p:spPr>
          <a:xfrm>
            <a:off x="838201" y="1940921"/>
            <a:ext cx="4457807" cy="3785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Maternal health response system</a:t>
            </a:r>
            <a:r>
              <a:rPr lang="en-US" sz="2400" dirty="0"/>
              <a:t>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133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Speech to text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Translation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Identification of key concepts and topics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Triage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Generation of template and/or complete responses in specific cases (generative)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2140D-F658-F518-7A4F-CFFD40142D5E}"/>
              </a:ext>
            </a:extLst>
          </p:cNvPr>
          <p:cNvSpPr txBox="1"/>
          <p:nvPr/>
        </p:nvSpPr>
        <p:spPr>
          <a:xfrm>
            <a:off x="838201" y="5638252"/>
            <a:ext cx="10236201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i="1" dirty="0"/>
              <a:t>It is much easier to evaluate the performance of predictive models, and in turn to know when and how much to trust them.</a:t>
            </a:r>
          </a:p>
        </p:txBody>
      </p:sp>
    </p:spTree>
    <p:extLst>
      <p:ext uri="{BB962C8B-B14F-4D97-AF65-F5344CB8AC3E}">
        <p14:creationId xmlns:p14="http://schemas.microsoft.com/office/powerpoint/2010/main" val="33456204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62AA-5528-5939-D554-B0B18C0C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some cases, however, generative models have superseded predictive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23C06-B318-4180-129A-D13DE33C0C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7600" y="2683933"/>
            <a:ext cx="6553200" cy="327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45B87-803B-73CF-304D-8CBA61C94D03}"/>
              </a:ext>
            </a:extLst>
          </p:cNvPr>
          <p:cNvSpPr txBox="1"/>
          <p:nvPr/>
        </p:nvSpPr>
        <p:spPr>
          <a:xfrm>
            <a:off x="711200" y="2116296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“Translation” of discharge notes into plain language using GPT4 substantially improves patients’ ability to comprehend them.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F0903-D96D-23E8-BEB5-A6F278B8728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31680" y="4511675"/>
            <a:ext cx="1161387" cy="1557867"/>
          </a:xfrm>
          <a:prstGeom prst="rect">
            <a:avLst/>
          </a:prstGeom>
        </p:spPr>
      </p:pic>
      <p:pic>
        <p:nvPicPr>
          <p:cNvPr id="2050" name="Picture 2" descr="Anivarya Kumar | Trent Center for Bioethics, Humanities &amp; History of  Medicine">
            <a:extLst>
              <a:ext uri="{FF2B5EF4-FFF2-40B4-BE49-F238E27FC236}">
                <a16:creationId xmlns:a16="http://schemas.microsoft.com/office/drawing/2014/main" id="{93800175-D763-6669-2C93-F8D525B564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6453" y="4511675"/>
            <a:ext cx="1161387" cy="155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B5260A-6BD7-1F61-CE5E-7074EE8BBFC3}"/>
              </a:ext>
            </a:extLst>
          </p:cNvPr>
          <p:cNvSpPr txBox="1"/>
          <p:nvPr/>
        </p:nvSpPr>
        <p:spPr>
          <a:xfrm>
            <a:off x="796955" y="6162788"/>
            <a:ext cx="1394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Anivarya</a:t>
            </a:r>
            <a:r>
              <a:rPr lang="en-US" sz="1400" dirty="0"/>
              <a:t> Kumar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18CE1-CD0A-4E51-46D8-4F824247A4B5}"/>
              </a:ext>
            </a:extLst>
          </p:cNvPr>
          <p:cNvSpPr txBox="1"/>
          <p:nvPr/>
        </p:nvSpPr>
        <p:spPr>
          <a:xfrm>
            <a:off x="2580576" y="6170308"/>
            <a:ext cx="1270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Isabella Wang</a:t>
            </a:r>
          </a:p>
        </p:txBody>
      </p:sp>
    </p:spTree>
    <p:extLst>
      <p:ext uri="{BB962C8B-B14F-4D97-AF65-F5344CB8AC3E}">
        <p14:creationId xmlns:p14="http://schemas.microsoft.com/office/powerpoint/2010/main" val="25555776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2440-B83D-188B-3B7B-C225E269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specific info from documents: predictive or generative?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9CB68C24-32A8-6033-81C6-4BFF85437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048935"/>
            <a:ext cx="4815792" cy="289724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A879E6-7F06-6B60-FAD9-3A0ED136F118}"/>
              </a:ext>
            </a:extLst>
          </p:cNvPr>
          <p:cNvGraphicFramePr>
            <a:graphicFrameLocks noGrp="1"/>
          </p:cNvGraphicFramePr>
          <p:nvPr/>
        </p:nvGraphicFramePr>
        <p:xfrm>
          <a:off x="6096001" y="2048935"/>
          <a:ext cx="5435431" cy="2366444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435431">
                  <a:extLst>
                    <a:ext uri="{9D8B030D-6E8A-4147-A177-3AD203B41FA5}">
                      <a16:colId xmlns:a16="http://schemas.microsoft.com/office/drawing/2014/main" val="3950672317"/>
                    </a:ext>
                  </a:extLst>
                </a:gridCol>
              </a:tblGrid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Data needed to determine scheduling needs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1589736975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ICD-10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898899989"/>
                  </a:ext>
                </a:extLst>
              </a:tr>
              <a:tr h="2623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Stage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868141245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Age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3940548945"/>
                  </a:ext>
                </a:extLst>
              </a:tr>
              <a:tr h="2683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Date of Dx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4241941698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Hormone Receptors and molecular biomarkers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1683349164"/>
                  </a:ext>
                </a:extLst>
              </a:tr>
              <a:tr h="31778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History of Treatment (med, surg, rad)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4189573858"/>
                  </a:ext>
                </a:extLst>
              </a:tr>
              <a:tr h="5123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Undiagnosed patients only: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Review of symptoms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18480084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D23DE7-4028-E0B6-48CF-C90ECD3A51FA}"/>
              </a:ext>
            </a:extLst>
          </p:cNvPr>
          <p:cNvSpPr txBox="1"/>
          <p:nvPr/>
        </p:nvSpPr>
        <p:spPr>
          <a:xfrm>
            <a:off x="838200" y="5304424"/>
            <a:ext cx="7528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While a predictive approach might be more trustworthy in principle, generative models can perform many tasks “zero-shot”, i.e. without task-specific training.</a:t>
            </a:r>
          </a:p>
        </p:txBody>
      </p:sp>
      <p:pic>
        <p:nvPicPr>
          <p:cNvPr id="1026" name="Picture 2" descr="DIHI logo_news">
            <a:extLst>
              <a:ext uri="{FF2B5EF4-FFF2-40B4-BE49-F238E27FC236}">
                <a16:creationId xmlns:a16="http://schemas.microsoft.com/office/drawing/2014/main" id="{49985DF7-8A4D-AB3D-262F-847302BA6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057297" y="4692840"/>
            <a:ext cx="1474135" cy="151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A99B1B-35E2-FBAD-E9B9-EA38F3D29271}"/>
              </a:ext>
            </a:extLst>
          </p:cNvPr>
          <p:cNvSpPr txBox="1"/>
          <p:nvPr/>
        </p:nvSpPr>
        <p:spPr>
          <a:xfrm>
            <a:off x="8813715" y="6330345"/>
            <a:ext cx="32796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/>
              <a:t>DIHI ‘24, led by Emily </a:t>
            </a:r>
            <a:r>
              <a:rPr lang="en-US" sz="1867" dirty="0" err="1"/>
              <a:t>Norboge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30755163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29B27-DCFE-924A-FE7E-BE315E70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87C7-1B9A-255E-3BE3-1EEAE073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 of predictive and generative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0EA59-8039-3E1D-9E6A-12B9B966825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85" y="1805353"/>
            <a:ext cx="2177180" cy="435927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7C5611-38F5-2758-073B-13E079632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165" y="1904508"/>
            <a:ext cx="26321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Predictive AI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Pros</a:t>
            </a:r>
          </a:p>
          <a:p>
            <a:r>
              <a:rPr lang="en-US" sz="2400" dirty="0"/>
              <a:t>Pro 1</a:t>
            </a:r>
          </a:p>
          <a:p>
            <a:pPr marL="0" indent="0">
              <a:buNone/>
            </a:pPr>
            <a:endParaRPr lang="en-US" sz="2400" u="sng" dirty="0"/>
          </a:p>
          <a:p>
            <a:pPr marL="0" indent="0">
              <a:buNone/>
            </a:pPr>
            <a:r>
              <a:rPr lang="en-US" sz="2400" u="sng" dirty="0"/>
              <a:t>Cons</a:t>
            </a:r>
          </a:p>
          <a:p>
            <a:r>
              <a:rPr lang="en-US" sz="2400" dirty="0"/>
              <a:t>Con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8530D2-8269-9E24-70C7-63374C55FD7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805352"/>
            <a:ext cx="2177180" cy="43592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143447-AA7C-422D-BC71-596D80B7FC53}"/>
              </a:ext>
            </a:extLst>
          </p:cNvPr>
          <p:cNvSpPr txBox="1">
            <a:spLocks/>
          </p:cNvSpPr>
          <p:nvPr/>
        </p:nvSpPr>
        <p:spPr>
          <a:xfrm>
            <a:off x="8721688" y="1904508"/>
            <a:ext cx="31024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u="sng" dirty="0"/>
              <a:t>Generative AI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Pros</a:t>
            </a:r>
          </a:p>
          <a:p>
            <a:r>
              <a:rPr lang="en-US" sz="2400" dirty="0"/>
              <a:t>Pro 1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Cons</a:t>
            </a:r>
          </a:p>
          <a:p>
            <a:r>
              <a:rPr lang="en-US" sz="2400" dirty="0"/>
              <a:t>Con 1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392136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45022-65B5-0116-3462-D2C5B16B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blurry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F8719-C047-4B6A-317A-7A900875B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Between predictive and generative AI</a:t>
            </a:r>
          </a:p>
        </p:txBody>
      </p:sp>
    </p:spTree>
    <p:extLst>
      <p:ext uri="{BB962C8B-B14F-4D97-AF65-F5344CB8AC3E}">
        <p14:creationId xmlns:p14="http://schemas.microsoft.com/office/powerpoint/2010/main" val="1889595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BD9E-75C9-6348-9BBF-41E194FA2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3010"/>
            <a:ext cx="12192000" cy="86738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Is this generative or predictive?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33066B2-0A7C-8A4E-AC35-E6F80161D0E4}"/>
              </a:ext>
            </a:extLst>
          </p:cNvPr>
          <p:cNvSpPr/>
          <p:nvPr/>
        </p:nvSpPr>
        <p:spPr>
          <a:xfrm rot="16200000">
            <a:off x="4534680" y="1448045"/>
            <a:ext cx="350344" cy="6228391"/>
          </a:xfrm>
          <a:prstGeom prst="leftBrace">
            <a:avLst>
              <a:gd name="adj1" fmla="val 8333"/>
              <a:gd name="adj2" fmla="val 2456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8ED1D-42C3-9141-AE77-27407422E154}"/>
              </a:ext>
            </a:extLst>
          </p:cNvPr>
          <p:cNvSpPr txBox="1"/>
          <p:nvPr/>
        </p:nvSpPr>
        <p:spPr>
          <a:xfrm>
            <a:off x="2947796" y="4786587"/>
            <a:ext cx="3524107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conversation history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42C99-ECFD-CC46-8C0C-7FE9900CF424}"/>
              </a:ext>
            </a:extLst>
          </p:cNvPr>
          <p:cNvSpPr txBox="1"/>
          <p:nvPr/>
        </p:nvSpPr>
        <p:spPr>
          <a:xfrm>
            <a:off x="9259748" y="3654743"/>
            <a:ext cx="2535307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next word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4C887-30DE-6142-A3B8-73F2E6FB683F}"/>
              </a:ext>
            </a:extLst>
          </p:cNvPr>
          <p:cNvSpPr txBox="1"/>
          <p:nvPr/>
        </p:nvSpPr>
        <p:spPr>
          <a:xfrm>
            <a:off x="4360825" y="5974262"/>
            <a:ext cx="3579121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36" dirty="0"/>
              <a:t>“next-token prediction”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D7F99B7-3001-F340-BD4E-C015D9032101}"/>
              </a:ext>
            </a:extLst>
          </p:cNvPr>
          <p:cNvGraphicFramePr>
            <a:graphicFrameLocks noGrp="1"/>
          </p:cNvGraphicFramePr>
          <p:nvPr/>
        </p:nvGraphicFramePr>
        <p:xfrm>
          <a:off x="9103371" y="2897748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04C370-95FF-1047-B986-B06FCDF88F5F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7824045" y="3251675"/>
            <a:ext cx="127932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6C14DAE-B47E-A86D-3415-BA60E214F72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95655" y="2295036"/>
            <a:ext cx="6228389" cy="19132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17E5B6B-3FB1-7654-027C-7EFC2F8A6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19326" y="2437240"/>
            <a:ext cx="697029" cy="69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9900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D113-C35E-46A2-CBB6-13782160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all tasks special cases of text generation?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D5FC5-1A47-FF1F-8552-D6E818AF19B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6620" y="1433847"/>
            <a:ext cx="8278761" cy="522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111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D113-C35E-46A2-CBB6-13782160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all tasks special cases of text generation?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4AEDE3-343A-975E-CD12-FC7778CCD8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9316" y="1374760"/>
            <a:ext cx="7873369" cy="548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362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D113-C35E-46A2-CBB6-13782160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all tasks special cases of text generation?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DC276-C773-FCBB-0884-43D6D3DB9D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1759309"/>
            <a:ext cx="10363200" cy="473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619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B7043-DCFA-0C9B-19F0-BC337EC1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B70CC-3B07-F26B-35EF-AB480871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 (time permitting)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D9CAE-4ACB-F56B-FD7B-4789441A4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Anatomy of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4079711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B968-6B2E-B3AD-C0C8-E73FECCF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60EF1-58FC-F6F3-8BF6-D0E5B3391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class: lectures, group activities, and discussion</a:t>
            </a:r>
          </a:p>
          <a:p>
            <a:endParaRPr lang="en-US" dirty="0"/>
          </a:p>
          <a:p>
            <a:r>
              <a:rPr lang="en-US" dirty="0"/>
              <a:t>Group assignments</a:t>
            </a:r>
          </a:p>
          <a:p>
            <a:endParaRPr lang="en-US" dirty="0"/>
          </a:p>
          <a:p>
            <a:r>
              <a:rPr lang="en-US" dirty="0"/>
              <a:t>Final project</a:t>
            </a:r>
          </a:p>
          <a:p>
            <a:endParaRPr lang="en-US" dirty="0"/>
          </a:p>
          <a:p>
            <a:r>
              <a:rPr lang="en-US" dirty="0"/>
              <a:t>AI/LLM policy</a:t>
            </a:r>
          </a:p>
        </p:txBody>
      </p:sp>
    </p:spTree>
    <p:extLst>
      <p:ext uri="{BB962C8B-B14F-4D97-AF65-F5344CB8AC3E}">
        <p14:creationId xmlns:p14="http://schemas.microsoft.com/office/powerpoint/2010/main" val="15048138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9E34E-9F39-A5C2-2D75-F37183A3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will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5968-02C6-1079-A9FC-F3B940112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Willingness to learn and engage</a:t>
            </a:r>
          </a:p>
          <a:p>
            <a:endParaRPr lang="en-US" dirty="0"/>
          </a:p>
          <a:p>
            <a:r>
              <a:rPr lang="en-US" dirty="0"/>
              <a:t>Patience!</a:t>
            </a:r>
          </a:p>
          <a:p>
            <a:endParaRPr lang="en-US" dirty="0"/>
          </a:p>
          <a:p>
            <a:r>
              <a:rPr lang="en-US" dirty="0"/>
              <a:t>A ChatGPT or Claude subscription…</a:t>
            </a:r>
          </a:p>
        </p:txBody>
      </p:sp>
    </p:spTree>
    <p:extLst>
      <p:ext uri="{BB962C8B-B14F-4D97-AF65-F5344CB8AC3E}">
        <p14:creationId xmlns:p14="http://schemas.microsoft.com/office/powerpoint/2010/main" val="250970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2665</Words>
  <Application>Microsoft Macintosh PowerPoint</Application>
  <PresentationFormat>Widescreen</PresentationFormat>
  <Paragraphs>593</Paragraphs>
  <Slides>54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Cambria Math</vt:lpstr>
      <vt:lpstr>Poppins Light</vt:lpstr>
      <vt:lpstr>Times New Roman</vt:lpstr>
      <vt:lpstr>Office Theme</vt:lpstr>
      <vt:lpstr>Introduction to Artificial Intelligence</vt:lpstr>
      <vt:lpstr>PowerPoint Presentation</vt:lpstr>
      <vt:lpstr>AI for enhanced neurodevelopmental support</vt:lpstr>
      <vt:lpstr>AI to improve rural adolescent mental health</vt:lpstr>
      <vt:lpstr>Engelhard Lab: patient-centered, AI-based CDS</vt:lpstr>
      <vt:lpstr>About Andrea</vt:lpstr>
      <vt:lpstr>About You!</vt:lpstr>
      <vt:lpstr>What is AI?</vt:lpstr>
      <vt:lpstr>PowerPoint Presentation</vt:lpstr>
      <vt:lpstr>PowerPoint Presentation</vt:lpstr>
      <vt:lpstr>What is AI?</vt:lpstr>
      <vt:lpstr>“AI” through the (recent) years</vt:lpstr>
      <vt:lpstr>“AI” through the (recent) years</vt:lpstr>
      <vt:lpstr>“AI” through the (recent) years</vt:lpstr>
      <vt:lpstr>Branches of AI with high clinical impact</vt:lpstr>
      <vt:lpstr>Predictive AI versus Generative AI (GenAI)</vt:lpstr>
      <vt:lpstr>Predictive AI versus Generative AI (GenAI)</vt:lpstr>
      <vt:lpstr>Overview of Predictive AI</vt:lpstr>
      <vt:lpstr>The machine in machine learning</vt:lpstr>
      <vt:lpstr>Simple models often work well for clinical data!</vt:lpstr>
      <vt:lpstr>Computer vision: prediction via convolutional neural network</vt:lpstr>
      <vt:lpstr>NLP and clinical sequences: prediction via stacked attention networks</vt:lpstr>
      <vt:lpstr>Reinforcement Learning: state to action predictions via dense NN</vt:lpstr>
      <vt:lpstr>Prediction from multimodal data: modality-specific encoders + multimodal fusion</vt:lpstr>
      <vt:lpstr>As the complexity of the underlying data increases, so too does the probable value added by machine learning</vt:lpstr>
      <vt:lpstr>Overview of Generative AI</vt:lpstr>
      <vt:lpstr>Generating tabular data</vt:lpstr>
      <vt:lpstr>Image generation via GAN or diffusion</vt:lpstr>
      <vt:lpstr>Text gen via Transformer decoder or diffusion</vt:lpstr>
      <vt:lpstr>Prompt-based generation of tabular data</vt:lpstr>
      <vt:lpstr>Prompt-based image generation</vt:lpstr>
      <vt:lpstr>Prompt-based text generation</vt:lpstr>
      <vt:lpstr>The prompt can be an image</vt:lpstr>
      <vt:lpstr>The prompt can be complex…</vt:lpstr>
      <vt:lpstr>What we will cover in this class</vt:lpstr>
      <vt:lpstr>Content by course weekend</vt:lpstr>
      <vt:lpstr>Content by course weekend</vt:lpstr>
      <vt:lpstr>Activity 1</vt:lpstr>
      <vt:lpstr>Activity 1: predictive, generative, or both?</vt:lpstr>
      <vt:lpstr>Predictive, Generative, or Both?</vt:lpstr>
      <vt:lpstr>Pros and cons of predictive and generative AI</vt:lpstr>
      <vt:lpstr>Often predictive and generative models are complementary.</vt:lpstr>
      <vt:lpstr>Often predictive and generative models are complementary.</vt:lpstr>
      <vt:lpstr>In some cases, however, generative models have superseded predictive models.</vt:lpstr>
      <vt:lpstr>Extracting specific info from documents: predictive or generative?</vt:lpstr>
      <vt:lpstr>Pros and cons of predictive and generative AI</vt:lpstr>
      <vt:lpstr>A blurry line</vt:lpstr>
      <vt:lpstr>Is this generative or predictive?</vt:lpstr>
      <vt:lpstr>Are all tasks special cases of text generation?</vt:lpstr>
      <vt:lpstr>Are all tasks special cases of text generation?</vt:lpstr>
      <vt:lpstr>Are all tasks special cases of text generation?</vt:lpstr>
      <vt:lpstr>Activity 2 (time permitting)</vt:lpstr>
      <vt:lpstr>Course Logistics</vt:lpstr>
      <vt:lpstr>What you will need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Engelhard, M.D., Ph.D.</dc:creator>
  <cp:lastModifiedBy>Matthew Engelhard, M.D., Ph.D.</cp:lastModifiedBy>
  <cp:revision>30</cp:revision>
  <dcterms:created xsi:type="dcterms:W3CDTF">2026-01-05T18:42:21Z</dcterms:created>
  <dcterms:modified xsi:type="dcterms:W3CDTF">2026-05-16T02:36:30Z</dcterms:modified>
</cp:coreProperties>
</file>