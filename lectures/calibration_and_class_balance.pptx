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4" r:id="rId2"/>
  </p:sldMasterIdLst>
  <p:notesMasterIdLst>
    <p:notesMasterId r:id="rId39"/>
  </p:notesMasterIdLst>
  <p:sldIdLst>
    <p:sldId id="297" r:id="rId3"/>
    <p:sldId id="4393" r:id="rId4"/>
    <p:sldId id="4418" r:id="rId5"/>
    <p:sldId id="268" r:id="rId6"/>
    <p:sldId id="4394" r:id="rId7"/>
    <p:sldId id="4384" r:id="rId8"/>
    <p:sldId id="4385" r:id="rId9"/>
    <p:sldId id="4386" r:id="rId10"/>
    <p:sldId id="262" r:id="rId11"/>
    <p:sldId id="4387" r:id="rId12"/>
    <p:sldId id="4388" r:id="rId13"/>
    <p:sldId id="4395" r:id="rId14"/>
    <p:sldId id="4396" r:id="rId15"/>
    <p:sldId id="864" r:id="rId16"/>
    <p:sldId id="865" r:id="rId17"/>
    <p:sldId id="4412" r:id="rId18"/>
    <p:sldId id="4397" r:id="rId19"/>
    <p:sldId id="4401" r:id="rId20"/>
    <p:sldId id="4402" r:id="rId21"/>
    <p:sldId id="4399" r:id="rId22"/>
    <p:sldId id="4400" r:id="rId23"/>
    <p:sldId id="4407" r:id="rId24"/>
    <p:sldId id="4404" r:id="rId25"/>
    <p:sldId id="4405" r:id="rId26"/>
    <p:sldId id="4406" r:id="rId27"/>
    <p:sldId id="4417" r:id="rId28"/>
    <p:sldId id="4408" r:id="rId29"/>
    <p:sldId id="4403" r:id="rId30"/>
    <p:sldId id="4411" r:id="rId31"/>
    <p:sldId id="4413" r:id="rId32"/>
    <p:sldId id="4390" r:id="rId33"/>
    <p:sldId id="4414" r:id="rId34"/>
    <p:sldId id="4409" r:id="rId35"/>
    <p:sldId id="4415" r:id="rId36"/>
    <p:sldId id="4416" r:id="rId37"/>
    <p:sldId id="441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0060"/>
    <a:srgbClr val="0019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5"/>
    <p:restoredTop sz="94332" autoAdjust="0"/>
  </p:normalViewPr>
  <p:slideViewPr>
    <p:cSldViewPr snapToGrid="0" snapToObjects="1">
      <p:cViewPr varScale="1">
        <p:scale>
          <a:sx n="174" d="100"/>
          <a:sy n="174" d="100"/>
        </p:scale>
        <p:origin x="7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C78A03-F245-1B43-8CDE-3B0275888050}" type="datetimeFigureOut">
              <a:rPr lang="en-US" smtClean="0"/>
              <a:t>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CBF740-D535-F744-89A8-4E42B3D6BD32}" type="slidenum">
              <a:rPr lang="en-US" smtClean="0"/>
              <a:t>‹#›</a:t>
            </a:fld>
            <a:endParaRPr lang="en-US"/>
          </a:p>
        </p:txBody>
      </p:sp>
    </p:spTree>
    <p:extLst>
      <p:ext uri="{BB962C8B-B14F-4D97-AF65-F5344CB8AC3E}">
        <p14:creationId xmlns:p14="http://schemas.microsoft.com/office/powerpoint/2010/main" val="2640283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0175F3A6-6971-5D47-A3A5-1EDC47BAF5FB}" type="slidenum">
              <a:rPr lang="en-US" smtClean="0"/>
              <a:t>1</a:t>
            </a:fld>
            <a:endParaRPr lang="en-US"/>
          </a:p>
        </p:txBody>
      </p:sp>
    </p:spTree>
    <p:extLst>
      <p:ext uri="{BB962C8B-B14F-4D97-AF65-F5344CB8AC3E}">
        <p14:creationId xmlns:p14="http://schemas.microsoft.com/office/powerpoint/2010/main" val="2008625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2</a:t>
            </a:fld>
            <a:endParaRPr lang="en-US"/>
          </a:p>
        </p:txBody>
      </p:sp>
    </p:spTree>
    <p:extLst>
      <p:ext uri="{BB962C8B-B14F-4D97-AF65-F5344CB8AC3E}">
        <p14:creationId xmlns:p14="http://schemas.microsoft.com/office/powerpoint/2010/main" val="3789173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4</a:t>
            </a:fld>
            <a:endParaRPr lang="en-US"/>
          </a:p>
        </p:txBody>
      </p:sp>
    </p:spTree>
    <p:extLst>
      <p:ext uri="{BB962C8B-B14F-4D97-AF65-F5344CB8AC3E}">
        <p14:creationId xmlns:p14="http://schemas.microsoft.com/office/powerpoint/2010/main" val="1598882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5</a:t>
            </a:fld>
            <a:endParaRPr lang="en-US"/>
          </a:p>
        </p:txBody>
      </p:sp>
    </p:spTree>
    <p:extLst>
      <p:ext uri="{BB962C8B-B14F-4D97-AF65-F5344CB8AC3E}">
        <p14:creationId xmlns:p14="http://schemas.microsoft.com/office/powerpoint/2010/main" val="880694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6</a:t>
            </a:fld>
            <a:endParaRPr lang="en-US"/>
          </a:p>
        </p:txBody>
      </p:sp>
    </p:spTree>
    <p:extLst>
      <p:ext uri="{BB962C8B-B14F-4D97-AF65-F5344CB8AC3E}">
        <p14:creationId xmlns:p14="http://schemas.microsoft.com/office/powerpoint/2010/main" val="2018731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7</a:t>
            </a:fld>
            <a:endParaRPr lang="en-US"/>
          </a:p>
        </p:txBody>
      </p:sp>
    </p:spTree>
    <p:extLst>
      <p:ext uri="{BB962C8B-B14F-4D97-AF65-F5344CB8AC3E}">
        <p14:creationId xmlns:p14="http://schemas.microsoft.com/office/powerpoint/2010/main" val="26463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8</a:t>
            </a:fld>
            <a:endParaRPr lang="en-US"/>
          </a:p>
        </p:txBody>
      </p:sp>
    </p:spTree>
    <p:extLst>
      <p:ext uri="{BB962C8B-B14F-4D97-AF65-F5344CB8AC3E}">
        <p14:creationId xmlns:p14="http://schemas.microsoft.com/office/powerpoint/2010/main" val="522116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9</a:t>
            </a:fld>
            <a:endParaRPr lang="en-US"/>
          </a:p>
        </p:txBody>
      </p:sp>
    </p:spTree>
    <p:extLst>
      <p:ext uri="{BB962C8B-B14F-4D97-AF65-F5344CB8AC3E}">
        <p14:creationId xmlns:p14="http://schemas.microsoft.com/office/powerpoint/2010/main" val="27047374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10</a:t>
            </a:fld>
            <a:endParaRPr lang="en-US"/>
          </a:p>
        </p:txBody>
      </p:sp>
    </p:spTree>
    <p:extLst>
      <p:ext uri="{BB962C8B-B14F-4D97-AF65-F5344CB8AC3E}">
        <p14:creationId xmlns:p14="http://schemas.microsoft.com/office/powerpoint/2010/main" val="3694246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11</a:t>
            </a:fld>
            <a:endParaRPr lang="en-US"/>
          </a:p>
        </p:txBody>
      </p:sp>
    </p:spTree>
    <p:extLst>
      <p:ext uri="{BB962C8B-B14F-4D97-AF65-F5344CB8AC3E}">
        <p14:creationId xmlns:p14="http://schemas.microsoft.com/office/powerpoint/2010/main" val="243800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007B6-9D22-3DDB-B221-947BE0592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3FC398-E5CB-EE4B-26EB-05345A6FBF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8C7038-6948-74D9-4C3C-012601EF3B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30DC2A-A457-0589-07C7-C3FC8A6AADAE}"/>
              </a:ext>
            </a:extLst>
          </p:cNvPr>
          <p:cNvSpPr>
            <a:spLocks noGrp="1"/>
          </p:cNvSpPr>
          <p:nvPr>
            <p:ph type="sldNum" sz="quarter" idx="5"/>
          </p:nvPr>
        </p:nvSpPr>
        <p:spPr/>
        <p:txBody>
          <a:bodyPr/>
          <a:lstStyle/>
          <a:p>
            <a:fld id="{209E0516-BAFC-0740-BE21-9E8CF9264E1E}" type="slidenum">
              <a:rPr lang="en-US" smtClean="0"/>
              <a:t>12</a:t>
            </a:fld>
            <a:endParaRPr lang="en-US"/>
          </a:p>
        </p:txBody>
      </p:sp>
    </p:spTree>
    <p:extLst>
      <p:ext uri="{BB962C8B-B14F-4D97-AF65-F5344CB8AC3E}">
        <p14:creationId xmlns:p14="http://schemas.microsoft.com/office/powerpoint/2010/main" val="3243411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CBF740-D535-F744-89A8-4E42B3D6BD32}" type="slidenum">
              <a:rPr lang="en-US" smtClean="0"/>
              <a:t>14</a:t>
            </a:fld>
            <a:endParaRPr lang="en-US"/>
          </a:p>
        </p:txBody>
      </p:sp>
    </p:spTree>
    <p:extLst>
      <p:ext uri="{BB962C8B-B14F-4D97-AF65-F5344CB8AC3E}">
        <p14:creationId xmlns:p14="http://schemas.microsoft.com/office/powerpoint/2010/main" val="28660164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 give you a sense of what a more typical calibration plot might look like, here’s an example from the scikit-learn documentation</a:t>
            </a:r>
          </a:p>
          <a:p>
            <a:endParaRPr lang="en-US" dirty="0"/>
          </a:p>
          <a:p>
            <a:pPr marL="171450" indent="-171450">
              <a:buFontTx/>
              <a:buChar char="-"/>
            </a:pPr>
            <a:r>
              <a:rPr lang="en-US" dirty="0"/>
              <a:t>Model whose predicted probabilities are too large (i.e. model-predicted risk &gt; empirical risk): under the line</a:t>
            </a:r>
          </a:p>
          <a:p>
            <a:pPr marL="171450" indent="-171450">
              <a:buFontTx/>
              <a:buChar char="-"/>
            </a:pPr>
            <a:r>
              <a:rPr lang="en-US" dirty="0"/>
              <a:t>Model whose predicted probabilities are too small (i.e. model-predicted risk &lt; empirical risk): over the line</a:t>
            </a:r>
          </a:p>
          <a:p>
            <a:pPr marL="171450" indent="-171450">
              <a:buFontTx/>
              <a:buChar char="-"/>
            </a:pPr>
            <a:r>
              <a:rPr lang="en-US" dirty="0"/>
              <a:t>Model that is ”overconfident”, meaning its predictions are too extreme (don’t have this)</a:t>
            </a:r>
          </a:p>
          <a:p>
            <a:pPr marL="171450" indent="-171450">
              <a:buFontTx/>
              <a:buChar char="-"/>
            </a:pPr>
            <a:r>
              <a:rPr lang="en-US" dirty="0"/>
              <a:t>Model that is “underconfident”, meaning its predictions are not extreme enough (GREEN)</a:t>
            </a:r>
          </a:p>
        </p:txBody>
      </p:sp>
      <p:sp>
        <p:nvSpPr>
          <p:cNvPr id="4" name="Slide Number Placeholder 3"/>
          <p:cNvSpPr>
            <a:spLocks noGrp="1"/>
          </p:cNvSpPr>
          <p:nvPr>
            <p:ph type="sldNum" sz="quarter" idx="5"/>
          </p:nvPr>
        </p:nvSpPr>
        <p:spPr/>
        <p:txBody>
          <a:bodyPr/>
          <a:lstStyle/>
          <a:p>
            <a:fld id="{4DCBF740-D535-F744-89A8-4E42B3D6BD32}" type="slidenum">
              <a:rPr lang="en-US" smtClean="0"/>
              <a:t>15</a:t>
            </a:fld>
            <a:endParaRPr lang="en-US"/>
          </a:p>
        </p:txBody>
      </p:sp>
    </p:spTree>
    <p:extLst>
      <p:ext uri="{BB962C8B-B14F-4D97-AF65-F5344CB8AC3E}">
        <p14:creationId xmlns:p14="http://schemas.microsoft.com/office/powerpoint/2010/main" val="2864932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Guidance:</a:t>
            </a:r>
          </a:p>
          <a:p>
            <a:pPr marL="171450" indent="-171450">
              <a:buFontTx/>
              <a:buChar char="-"/>
            </a:pPr>
            <a:r>
              <a:rPr lang="en-US" dirty="0"/>
              <a:t>Depends on use case</a:t>
            </a:r>
          </a:p>
          <a:p>
            <a:pPr marL="171450" indent="-171450">
              <a:buFontTx/>
              <a:buChar char="-"/>
            </a:pPr>
            <a:r>
              <a:rPr lang="en-US" dirty="0"/>
              <a:t>There are some cases where there is a clear need for balancing</a:t>
            </a:r>
          </a:p>
          <a:p>
            <a:pPr marL="171450" indent="-171450">
              <a:buFontTx/>
              <a:buChar char="-"/>
            </a:pPr>
            <a:r>
              <a:rPr lang="en-US" dirty="0"/>
              <a:t>In other cases, it’s because we need to have class representation across mini-batches, otherwise our gradient-based updates become unstable</a:t>
            </a:r>
          </a:p>
          <a:p>
            <a:pPr marL="171450" indent="-171450">
              <a:buFontTx/>
              <a:buChar char="-"/>
            </a:pPr>
            <a:endParaRPr lang="en-US" dirty="0"/>
          </a:p>
          <a:p>
            <a:pPr marL="171450" indent="-171450">
              <a:buFontTx/>
              <a:buChar char="-"/>
            </a:pPr>
            <a:r>
              <a:rPr lang="en-US" dirty="0"/>
              <a:t>But in general I would say it is </a:t>
            </a:r>
            <a:r>
              <a:rPr lang="en-US" dirty="0" err="1"/>
              <a:t>overemphazied</a:t>
            </a:r>
            <a:r>
              <a:rPr lang="en-US" dirty="0"/>
              <a:t>, particularly for tabular data</a:t>
            </a:r>
          </a:p>
          <a:p>
            <a:pPr marL="171450" indent="-171450">
              <a:buFontTx/>
              <a:buChar char="-"/>
            </a:pPr>
            <a:r>
              <a:rPr lang="en-US" dirty="0"/>
              <a:t>But calibration is important</a:t>
            </a:r>
          </a:p>
        </p:txBody>
      </p:sp>
      <p:sp>
        <p:nvSpPr>
          <p:cNvPr id="4" name="Slide Number Placeholder 3"/>
          <p:cNvSpPr>
            <a:spLocks noGrp="1"/>
          </p:cNvSpPr>
          <p:nvPr>
            <p:ph type="sldNum" sz="quarter" idx="5"/>
          </p:nvPr>
        </p:nvSpPr>
        <p:spPr/>
        <p:txBody>
          <a:bodyPr/>
          <a:lstStyle/>
          <a:p>
            <a:fld id="{4DCBF740-D535-F744-89A8-4E42B3D6BD32}" type="slidenum">
              <a:rPr lang="en-US" smtClean="0"/>
              <a:t>20</a:t>
            </a:fld>
            <a:endParaRPr lang="en-US"/>
          </a:p>
        </p:txBody>
      </p:sp>
    </p:spTree>
    <p:extLst>
      <p:ext uri="{BB962C8B-B14F-4D97-AF65-F5344CB8AC3E}">
        <p14:creationId xmlns:p14="http://schemas.microsoft.com/office/powerpoint/2010/main" val="912795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use e.g. calibration curve</a:t>
            </a:r>
          </a:p>
        </p:txBody>
      </p:sp>
      <p:sp>
        <p:nvSpPr>
          <p:cNvPr id="4" name="Slide Number Placeholder 3"/>
          <p:cNvSpPr>
            <a:spLocks noGrp="1"/>
          </p:cNvSpPr>
          <p:nvPr>
            <p:ph type="sldNum" sz="quarter" idx="5"/>
          </p:nvPr>
        </p:nvSpPr>
        <p:spPr/>
        <p:txBody>
          <a:bodyPr/>
          <a:lstStyle/>
          <a:p>
            <a:fld id="{4DCBF740-D535-F744-89A8-4E42B3D6BD32}" type="slidenum">
              <a:rPr lang="en-US" smtClean="0"/>
              <a:t>21</a:t>
            </a:fld>
            <a:endParaRPr lang="en-US"/>
          </a:p>
        </p:txBody>
      </p:sp>
    </p:spTree>
    <p:extLst>
      <p:ext uri="{BB962C8B-B14F-4D97-AF65-F5344CB8AC3E}">
        <p14:creationId xmlns:p14="http://schemas.microsoft.com/office/powerpoint/2010/main" val="27139577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Regularization tends to move you from overconfident to underconfident</a:t>
            </a:r>
          </a:p>
        </p:txBody>
      </p:sp>
      <p:sp>
        <p:nvSpPr>
          <p:cNvPr id="4" name="Slide Number Placeholder 3"/>
          <p:cNvSpPr>
            <a:spLocks noGrp="1"/>
          </p:cNvSpPr>
          <p:nvPr>
            <p:ph type="sldNum" sz="quarter" idx="5"/>
          </p:nvPr>
        </p:nvSpPr>
        <p:spPr/>
        <p:txBody>
          <a:bodyPr/>
          <a:lstStyle/>
          <a:p>
            <a:fld id="{4DCBF740-D535-F744-89A8-4E42B3D6BD32}" type="slidenum">
              <a:rPr lang="en-US" smtClean="0"/>
              <a:t>26</a:t>
            </a:fld>
            <a:endParaRPr lang="en-US"/>
          </a:p>
        </p:txBody>
      </p:sp>
    </p:spTree>
    <p:extLst>
      <p:ext uri="{BB962C8B-B14F-4D97-AF65-F5344CB8AC3E}">
        <p14:creationId xmlns:p14="http://schemas.microsoft.com/office/powerpoint/2010/main" val="7724029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Monotonic stepwise function</a:t>
            </a:r>
          </a:p>
          <a:p>
            <a:r>
              <a:rPr lang="en-US" dirty="0"/>
              <a:t>Or more empirical approaches</a:t>
            </a:r>
          </a:p>
        </p:txBody>
      </p:sp>
      <p:sp>
        <p:nvSpPr>
          <p:cNvPr id="4" name="Slide Number Placeholder 3"/>
          <p:cNvSpPr>
            <a:spLocks noGrp="1"/>
          </p:cNvSpPr>
          <p:nvPr>
            <p:ph type="sldNum" sz="quarter" idx="5"/>
          </p:nvPr>
        </p:nvSpPr>
        <p:spPr/>
        <p:txBody>
          <a:bodyPr/>
          <a:lstStyle/>
          <a:p>
            <a:fld id="{4DCBF740-D535-F744-89A8-4E42B3D6BD32}" type="slidenum">
              <a:rPr lang="en-US" smtClean="0"/>
              <a:t>28</a:t>
            </a:fld>
            <a:endParaRPr lang="en-US"/>
          </a:p>
        </p:txBody>
      </p:sp>
    </p:spTree>
    <p:extLst>
      <p:ext uri="{BB962C8B-B14F-4D97-AF65-F5344CB8AC3E}">
        <p14:creationId xmlns:p14="http://schemas.microsoft.com/office/powerpoint/2010/main" val="25985795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C2C05-2820-61C3-3036-DC7CA0C10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9485C-B79B-50FA-051D-5FC94376C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7B313-F0BA-7D11-5BCF-5AAFF4E0D949}"/>
              </a:ext>
            </a:extLst>
          </p:cNvPr>
          <p:cNvSpPr>
            <a:spLocks noGrp="1"/>
          </p:cNvSpPr>
          <p:nvPr>
            <p:ph type="body" idx="1"/>
          </p:nvPr>
        </p:nvSpPr>
        <p:spPr/>
        <p:txBody>
          <a:bodyPr/>
          <a:lstStyle/>
          <a:p>
            <a:r>
              <a:rPr lang="en-US" dirty="0"/>
              <a:t>Monotonic stepwise function</a:t>
            </a:r>
          </a:p>
          <a:p>
            <a:r>
              <a:rPr lang="en-US" dirty="0"/>
              <a:t>Or more empirical approaches</a:t>
            </a:r>
          </a:p>
        </p:txBody>
      </p:sp>
      <p:sp>
        <p:nvSpPr>
          <p:cNvPr id="4" name="Slide Number Placeholder 3">
            <a:extLst>
              <a:ext uri="{FF2B5EF4-FFF2-40B4-BE49-F238E27FC236}">
                <a16:creationId xmlns:a16="http://schemas.microsoft.com/office/drawing/2014/main" id="{7F3DFE8D-B0D9-E910-2E0F-4E50729537E5}"/>
              </a:ext>
            </a:extLst>
          </p:cNvPr>
          <p:cNvSpPr>
            <a:spLocks noGrp="1"/>
          </p:cNvSpPr>
          <p:nvPr>
            <p:ph type="sldNum" sz="quarter" idx="5"/>
          </p:nvPr>
        </p:nvSpPr>
        <p:spPr/>
        <p:txBody>
          <a:bodyPr/>
          <a:lstStyle/>
          <a:p>
            <a:fld id="{4DCBF740-D535-F744-89A8-4E42B3D6BD32}" type="slidenum">
              <a:rPr lang="en-US" smtClean="0"/>
              <a:t>29</a:t>
            </a:fld>
            <a:endParaRPr lang="en-US"/>
          </a:p>
        </p:txBody>
      </p:sp>
    </p:spTree>
    <p:extLst>
      <p:ext uri="{BB962C8B-B14F-4D97-AF65-F5344CB8AC3E}">
        <p14:creationId xmlns:p14="http://schemas.microsoft.com/office/powerpoint/2010/main" val="25940107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AA08E-2C8C-273B-4100-A58CD9BCB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7A220-A964-DAE2-1C2F-01FE3BA22C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B07A3C-39A9-B7F2-CB03-ED9ECD7922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752C03-4593-8206-27DE-5CD0C33ECEE2}"/>
              </a:ext>
            </a:extLst>
          </p:cNvPr>
          <p:cNvSpPr>
            <a:spLocks noGrp="1"/>
          </p:cNvSpPr>
          <p:nvPr>
            <p:ph type="sldNum" sz="quarter" idx="5"/>
          </p:nvPr>
        </p:nvSpPr>
        <p:spPr/>
        <p:txBody>
          <a:bodyPr/>
          <a:lstStyle/>
          <a:p>
            <a:fld id="{209E0516-BAFC-0740-BE21-9E8CF9264E1E}" type="slidenum">
              <a:rPr lang="en-US" smtClean="0"/>
              <a:t>32</a:t>
            </a:fld>
            <a:endParaRPr lang="en-US"/>
          </a:p>
        </p:txBody>
      </p:sp>
    </p:spTree>
    <p:extLst>
      <p:ext uri="{BB962C8B-B14F-4D97-AF65-F5344CB8AC3E}">
        <p14:creationId xmlns:p14="http://schemas.microsoft.com/office/powerpoint/2010/main" val="35347870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CBF740-D535-F744-89A8-4E42B3D6BD32}" type="slidenum">
              <a:rPr lang="en-US" smtClean="0"/>
              <a:t>33</a:t>
            </a:fld>
            <a:endParaRPr lang="en-US"/>
          </a:p>
        </p:txBody>
      </p:sp>
    </p:spTree>
    <p:extLst>
      <p:ext uri="{BB962C8B-B14F-4D97-AF65-F5344CB8AC3E}">
        <p14:creationId xmlns:p14="http://schemas.microsoft.com/office/powerpoint/2010/main" val="21834262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stratified by the outcome</a:t>
            </a:r>
          </a:p>
          <a:p>
            <a:r>
              <a:rPr lang="en-US" dirty="0"/>
              <a:t>Explain the simulation</a:t>
            </a:r>
          </a:p>
          <a:p>
            <a:endParaRPr lang="en-US" dirty="0"/>
          </a:p>
          <a:p>
            <a:r>
              <a:rPr lang="en-US" dirty="0"/>
              <a:t>Question: have we achieved </a:t>
            </a:r>
            <a:r>
              <a:rPr lang="en-US" i="1" dirty="0"/>
              <a:t>separation</a:t>
            </a:r>
            <a:r>
              <a:rPr lang="en-US" dirty="0"/>
              <a:t>? i.e. are the distributions of our predictions the same after conditioning on group status?</a:t>
            </a:r>
          </a:p>
        </p:txBody>
      </p:sp>
      <p:sp>
        <p:nvSpPr>
          <p:cNvPr id="4" name="Slide Number Placeholder 3"/>
          <p:cNvSpPr>
            <a:spLocks noGrp="1"/>
          </p:cNvSpPr>
          <p:nvPr>
            <p:ph type="sldNum" sz="quarter" idx="5"/>
          </p:nvPr>
        </p:nvSpPr>
        <p:spPr/>
        <p:txBody>
          <a:bodyPr/>
          <a:lstStyle/>
          <a:p>
            <a:fld id="{4DCBF740-D535-F744-89A8-4E42B3D6BD32}" type="slidenum">
              <a:rPr lang="en-US" smtClean="0"/>
              <a:t>34</a:t>
            </a:fld>
            <a:endParaRPr lang="en-US"/>
          </a:p>
        </p:txBody>
      </p:sp>
    </p:spTree>
    <p:extLst>
      <p:ext uri="{BB962C8B-B14F-4D97-AF65-F5344CB8AC3E}">
        <p14:creationId xmlns:p14="http://schemas.microsoft.com/office/powerpoint/2010/main" val="27583131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963D8-3C08-3D13-EE12-7F81663AB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FBDD1-A555-3B86-4BFE-86CE30F56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59BE3-C04F-4DB4-92BE-4543E306AD84}"/>
              </a:ext>
            </a:extLst>
          </p:cNvPr>
          <p:cNvSpPr>
            <a:spLocks noGrp="1"/>
          </p:cNvSpPr>
          <p:nvPr>
            <p:ph type="body" idx="1"/>
          </p:nvPr>
        </p:nvSpPr>
        <p:spPr/>
        <p:txBody>
          <a:bodyPr/>
          <a:lstStyle/>
          <a:p>
            <a:r>
              <a:rPr lang="en-US" dirty="0"/>
              <a:t>Now we’ve stratified by the outcome</a:t>
            </a:r>
          </a:p>
          <a:p>
            <a:r>
              <a:rPr lang="en-US" dirty="0"/>
              <a:t>Explain the simulation</a:t>
            </a:r>
          </a:p>
          <a:p>
            <a:endParaRPr lang="en-US" dirty="0"/>
          </a:p>
          <a:p>
            <a:r>
              <a:rPr lang="en-US" dirty="0"/>
              <a:t>Question: have we achieved </a:t>
            </a:r>
            <a:r>
              <a:rPr lang="en-US" i="1" dirty="0"/>
              <a:t>separation</a:t>
            </a:r>
            <a:r>
              <a:rPr lang="en-US" dirty="0"/>
              <a:t>? i.e. are the distributions of our predictions the same after conditioning on group status?</a:t>
            </a:r>
          </a:p>
        </p:txBody>
      </p:sp>
      <p:sp>
        <p:nvSpPr>
          <p:cNvPr id="4" name="Slide Number Placeholder 3">
            <a:extLst>
              <a:ext uri="{FF2B5EF4-FFF2-40B4-BE49-F238E27FC236}">
                <a16:creationId xmlns:a16="http://schemas.microsoft.com/office/drawing/2014/main" id="{FCB57261-2B7C-8338-0D59-26CF27091123}"/>
              </a:ext>
            </a:extLst>
          </p:cNvPr>
          <p:cNvSpPr>
            <a:spLocks noGrp="1"/>
          </p:cNvSpPr>
          <p:nvPr>
            <p:ph type="sldNum" sz="quarter" idx="5"/>
          </p:nvPr>
        </p:nvSpPr>
        <p:spPr/>
        <p:txBody>
          <a:bodyPr/>
          <a:lstStyle/>
          <a:p>
            <a:fld id="{4DCBF740-D535-F744-89A8-4E42B3D6BD32}" type="slidenum">
              <a:rPr lang="en-US" smtClean="0"/>
              <a:t>35</a:t>
            </a:fld>
            <a:endParaRPr lang="en-US"/>
          </a:p>
        </p:txBody>
      </p:sp>
    </p:spTree>
    <p:extLst>
      <p:ext uri="{BB962C8B-B14F-4D97-AF65-F5344CB8AC3E}">
        <p14:creationId xmlns:p14="http://schemas.microsoft.com/office/powerpoint/2010/main" val="3199297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F3A43-F82E-B147-8DF7-E30EBDC6825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7FB749-B07A-014F-A625-64EA0047CCE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51879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887DF-4D61-FC47-8963-BB9B1D2FBEB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AA1CEC4-0379-ED49-A0DF-EF465D71282D}"/>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5897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90213-97C2-934A-932B-185137ECB13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79C884-A283-2E48-932F-C511F8B9C19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660577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175BB-EF23-594F-BE5F-F6E8D48DCB5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9635E4-86E3-7644-BC9B-017DF9C87FE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86B17C-35A9-7F4F-9AAF-A8705BAF9CB4}"/>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4193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D6B5D-6E7D-7D45-B1BB-D206FDF04AD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5E86358-255C-7D46-84C2-DECB27617694}"/>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63F162-02D2-2F4D-9BB4-E1191490254C}"/>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71AF6D-8A9B-5D4A-B03F-8199C9E1BF4D}"/>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5DD9DC-0E4B-B34D-B231-519E6D983781}"/>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8003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ECB05-9B9C-DE47-B374-AECF7D39C0C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981974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04402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A3EA2-E3D2-7241-9CCB-7FF3A4FF18E9}"/>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415F9-8FBD-D749-AECC-E1E975BACCD8}"/>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691BB2-2C27-2243-9CCA-38E6E0774EF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40000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793A1-2DF5-7245-B0A3-1335BA0B7D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A6260C-AB0A-C649-AE78-695BC97C999E}"/>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495834-A2CC-6549-BFAB-4AC2DDDFB5E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799633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0DB0-37D1-C640-A2CF-93C08571EC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365811-D78F-1446-8FC3-5F966FEA840F}"/>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7072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AB7866-69EC-A64F-9054-67C54ECE8FC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B0830B-04B9-6D49-B206-DD4D3E90F5D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3773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74AB1-0C04-DC44-9EEF-8E14DD897D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9DCB5C-883D-464A-85B5-94A64540BB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FFDD80-7258-1147-97E6-50E682842ACA}"/>
              </a:ext>
            </a:extLst>
          </p:cNvPr>
          <p:cNvSpPr>
            <a:spLocks noGrp="1"/>
          </p:cNvSpPr>
          <p:nvPr>
            <p:ph type="dt" sz="half" idx="10"/>
          </p:nvPr>
        </p:nvSpPr>
        <p:spPr/>
        <p:txBody>
          <a:bodyPr/>
          <a:lstStyle/>
          <a:p>
            <a:fld id="{43173F10-24B0-F241-BAFD-0430E6089C92}" type="datetimeFigureOut">
              <a:rPr lang="en-US" smtClean="0"/>
              <a:t>2/4/26</a:t>
            </a:fld>
            <a:endParaRPr lang="en-US"/>
          </a:p>
        </p:txBody>
      </p:sp>
      <p:sp>
        <p:nvSpPr>
          <p:cNvPr id="5" name="Footer Placeholder 4">
            <a:extLst>
              <a:ext uri="{FF2B5EF4-FFF2-40B4-BE49-F238E27FC236}">
                <a16:creationId xmlns:a16="http://schemas.microsoft.com/office/drawing/2014/main" id="{BAA76BB2-C111-8B4C-A55D-4FD0608036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582394-004D-F941-9DAC-EBFCAD1668CD}"/>
              </a:ext>
            </a:extLst>
          </p:cNvPr>
          <p:cNvSpPr>
            <a:spLocks noGrp="1"/>
          </p:cNvSpPr>
          <p:nvPr>
            <p:ph type="sldNum" sz="quarter" idx="12"/>
          </p:nvPr>
        </p:nvSpPr>
        <p:spPr/>
        <p:txBody>
          <a:bodyPr/>
          <a:lstStyle/>
          <a:p>
            <a:fld id="{C9FBCCA0-8005-9345-9127-015359B17DF7}" type="slidenum">
              <a:rPr lang="en-US" smtClean="0"/>
              <a:t>‹#›</a:t>
            </a:fld>
            <a:endParaRPr lang="en-US"/>
          </a:p>
        </p:txBody>
      </p:sp>
    </p:spTree>
    <p:extLst>
      <p:ext uri="{BB962C8B-B14F-4D97-AF65-F5344CB8AC3E}">
        <p14:creationId xmlns:p14="http://schemas.microsoft.com/office/powerpoint/2010/main" val="2555347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6A131-316C-2A4C-95A5-3D4793461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1E04FB-C251-8A46-943C-964C7096F6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780D18-C996-E044-9A16-CDCD43FA8AD9}"/>
              </a:ext>
            </a:extLst>
          </p:cNvPr>
          <p:cNvSpPr>
            <a:spLocks noGrp="1"/>
          </p:cNvSpPr>
          <p:nvPr>
            <p:ph type="dt" sz="half" idx="10"/>
          </p:nvPr>
        </p:nvSpPr>
        <p:spPr/>
        <p:txBody>
          <a:bodyPr/>
          <a:lstStyle/>
          <a:p>
            <a:fld id="{43173F10-24B0-F241-BAFD-0430E6089C92}" type="datetimeFigureOut">
              <a:rPr lang="en-US" smtClean="0"/>
              <a:t>2/4/26</a:t>
            </a:fld>
            <a:endParaRPr lang="en-US"/>
          </a:p>
        </p:txBody>
      </p:sp>
      <p:sp>
        <p:nvSpPr>
          <p:cNvPr id="5" name="Footer Placeholder 4">
            <a:extLst>
              <a:ext uri="{FF2B5EF4-FFF2-40B4-BE49-F238E27FC236}">
                <a16:creationId xmlns:a16="http://schemas.microsoft.com/office/drawing/2014/main" id="{0559B45F-FCB2-F044-B9A6-AF9356666E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11D59-CE8A-E148-9E12-FED7EE5B2E2C}"/>
              </a:ext>
            </a:extLst>
          </p:cNvPr>
          <p:cNvSpPr>
            <a:spLocks noGrp="1"/>
          </p:cNvSpPr>
          <p:nvPr>
            <p:ph type="sldNum" sz="quarter" idx="12"/>
          </p:nvPr>
        </p:nvSpPr>
        <p:spPr/>
        <p:txBody>
          <a:bodyPr/>
          <a:lstStyle/>
          <a:p>
            <a:fld id="{C9FBCCA0-8005-9345-9127-015359B17DF7}" type="slidenum">
              <a:rPr lang="en-US" smtClean="0"/>
              <a:t>‹#›</a:t>
            </a:fld>
            <a:endParaRPr lang="en-US"/>
          </a:p>
        </p:txBody>
      </p:sp>
    </p:spTree>
    <p:extLst>
      <p:ext uri="{BB962C8B-B14F-4D97-AF65-F5344CB8AC3E}">
        <p14:creationId xmlns:p14="http://schemas.microsoft.com/office/powerpoint/2010/main" val="4069456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435AB-2CDA-3249-A6D4-71407E4EFA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1ECBB5-1AFA-0E45-A30A-00D2FE26E0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73AFF8-57F4-234C-A166-CD3BCBD3A9A0}"/>
              </a:ext>
            </a:extLst>
          </p:cNvPr>
          <p:cNvSpPr>
            <a:spLocks noGrp="1"/>
          </p:cNvSpPr>
          <p:nvPr>
            <p:ph type="dt" sz="half" idx="10"/>
          </p:nvPr>
        </p:nvSpPr>
        <p:spPr/>
        <p:txBody>
          <a:bodyPr/>
          <a:lstStyle/>
          <a:p>
            <a:fld id="{43173F10-24B0-F241-BAFD-0430E6089C92}" type="datetimeFigureOut">
              <a:rPr lang="en-US" smtClean="0"/>
              <a:t>2/4/26</a:t>
            </a:fld>
            <a:endParaRPr lang="en-US"/>
          </a:p>
        </p:txBody>
      </p:sp>
      <p:sp>
        <p:nvSpPr>
          <p:cNvPr id="5" name="Footer Placeholder 4">
            <a:extLst>
              <a:ext uri="{FF2B5EF4-FFF2-40B4-BE49-F238E27FC236}">
                <a16:creationId xmlns:a16="http://schemas.microsoft.com/office/drawing/2014/main" id="{CDA41F54-B893-2442-823E-4B817B424F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9D3932-63CB-4744-A4D8-1562B62EF1EF}"/>
              </a:ext>
            </a:extLst>
          </p:cNvPr>
          <p:cNvSpPr>
            <a:spLocks noGrp="1"/>
          </p:cNvSpPr>
          <p:nvPr>
            <p:ph type="sldNum" sz="quarter" idx="12"/>
          </p:nvPr>
        </p:nvSpPr>
        <p:spPr/>
        <p:txBody>
          <a:bodyPr/>
          <a:lstStyle/>
          <a:p>
            <a:fld id="{C9FBCCA0-8005-9345-9127-015359B17DF7}" type="slidenum">
              <a:rPr lang="en-US" smtClean="0"/>
              <a:t>‹#›</a:t>
            </a:fld>
            <a:endParaRPr lang="en-US"/>
          </a:p>
        </p:txBody>
      </p:sp>
    </p:spTree>
    <p:extLst>
      <p:ext uri="{BB962C8B-B14F-4D97-AF65-F5344CB8AC3E}">
        <p14:creationId xmlns:p14="http://schemas.microsoft.com/office/powerpoint/2010/main" val="2236138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E19A-C751-654D-813E-0AA2C13287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2AEBD8-0473-AE4E-B9F4-DA8E9DB911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EAFC0E-366A-DE4F-8757-5A90469D17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7D127C-99E3-EC4E-BE83-6FC704CD44BA}"/>
              </a:ext>
            </a:extLst>
          </p:cNvPr>
          <p:cNvSpPr>
            <a:spLocks noGrp="1"/>
          </p:cNvSpPr>
          <p:nvPr>
            <p:ph type="dt" sz="half" idx="10"/>
          </p:nvPr>
        </p:nvSpPr>
        <p:spPr/>
        <p:txBody>
          <a:bodyPr/>
          <a:lstStyle/>
          <a:p>
            <a:fld id="{43173F10-24B0-F241-BAFD-0430E6089C92}" type="datetimeFigureOut">
              <a:rPr lang="en-US" smtClean="0"/>
              <a:t>2/4/26</a:t>
            </a:fld>
            <a:endParaRPr lang="en-US"/>
          </a:p>
        </p:txBody>
      </p:sp>
      <p:sp>
        <p:nvSpPr>
          <p:cNvPr id="6" name="Footer Placeholder 5">
            <a:extLst>
              <a:ext uri="{FF2B5EF4-FFF2-40B4-BE49-F238E27FC236}">
                <a16:creationId xmlns:a16="http://schemas.microsoft.com/office/drawing/2014/main" id="{73D7A5F9-7AAA-5C4C-BBF9-FE6E8070DD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36BC17-1DF5-174C-AEC7-F573DB308077}"/>
              </a:ext>
            </a:extLst>
          </p:cNvPr>
          <p:cNvSpPr>
            <a:spLocks noGrp="1"/>
          </p:cNvSpPr>
          <p:nvPr>
            <p:ph type="sldNum" sz="quarter" idx="12"/>
          </p:nvPr>
        </p:nvSpPr>
        <p:spPr/>
        <p:txBody>
          <a:bodyPr/>
          <a:lstStyle/>
          <a:p>
            <a:fld id="{C9FBCCA0-8005-9345-9127-015359B17DF7}" type="slidenum">
              <a:rPr lang="en-US" smtClean="0"/>
              <a:t>‹#›</a:t>
            </a:fld>
            <a:endParaRPr lang="en-US"/>
          </a:p>
        </p:txBody>
      </p:sp>
    </p:spTree>
    <p:extLst>
      <p:ext uri="{BB962C8B-B14F-4D97-AF65-F5344CB8AC3E}">
        <p14:creationId xmlns:p14="http://schemas.microsoft.com/office/powerpoint/2010/main" val="25126796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602D1-A8E4-7F4A-B653-A58A574FCC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F4BB65-1985-0C4F-87F8-3E943F6AC1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CAE1D3-A324-7440-AB0A-FE955F27E7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68D628-E295-B24E-A469-702561F195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AD6856-C209-C94B-97AE-B6C4D5D923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8B9280-3798-6049-A2D6-CE8B90AEA5D0}"/>
              </a:ext>
            </a:extLst>
          </p:cNvPr>
          <p:cNvSpPr>
            <a:spLocks noGrp="1"/>
          </p:cNvSpPr>
          <p:nvPr>
            <p:ph type="dt" sz="half" idx="10"/>
          </p:nvPr>
        </p:nvSpPr>
        <p:spPr/>
        <p:txBody>
          <a:bodyPr/>
          <a:lstStyle/>
          <a:p>
            <a:fld id="{43173F10-24B0-F241-BAFD-0430E6089C92}" type="datetimeFigureOut">
              <a:rPr lang="en-US" smtClean="0"/>
              <a:t>2/4/26</a:t>
            </a:fld>
            <a:endParaRPr lang="en-US"/>
          </a:p>
        </p:txBody>
      </p:sp>
      <p:sp>
        <p:nvSpPr>
          <p:cNvPr id="8" name="Footer Placeholder 7">
            <a:extLst>
              <a:ext uri="{FF2B5EF4-FFF2-40B4-BE49-F238E27FC236}">
                <a16:creationId xmlns:a16="http://schemas.microsoft.com/office/drawing/2014/main" id="{B30EAD4F-BC0E-D044-88BE-C971EAD1E6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C22D64-60F4-6540-B6DA-E419057BA3EC}"/>
              </a:ext>
            </a:extLst>
          </p:cNvPr>
          <p:cNvSpPr>
            <a:spLocks noGrp="1"/>
          </p:cNvSpPr>
          <p:nvPr>
            <p:ph type="sldNum" sz="quarter" idx="12"/>
          </p:nvPr>
        </p:nvSpPr>
        <p:spPr/>
        <p:txBody>
          <a:bodyPr/>
          <a:lstStyle/>
          <a:p>
            <a:fld id="{C9FBCCA0-8005-9345-9127-015359B17DF7}" type="slidenum">
              <a:rPr lang="en-US" smtClean="0"/>
              <a:t>‹#›</a:t>
            </a:fld>
            <a:endParaRPr lang="en-US"/>
          </a:p>
        </p:txBody>
      </p:sp>
    </p:spTree>
    <p:extLst>
      <p:ext uri="{BB962C8B-B14F-4D97-AF65-F5344CB8AC3E}">
        <p14:creationId xmlns:p14="http://schemas.microsoft.com/office/powerpoint/2010/main" val="9462981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710F8-34E4-CB40-B16B-65D31A1BE0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678D02-2377-9041-ADA1-AAC35FFCC0EA}"/>
              </a:ext>
            </a:extLst>
          </p:cNvPr>
          <p:cNvSpPr>
            <a:spLocks noGrp="1"/>
          </p:cNvSpPr>
          <p:nvPr>
            <p:ph type="dt" sz="half" idx="10"/>
          </p:nvPr>
        </p:nvSpPr>
        <p:spPr/>
        <p:txBody>
          <a:bodyPr/>
          <a:lstStyle/>
          <a:p>
            <a:fld id="{43173F10-24B0-F241-BAFD-0430E6089C92}" type="datetimeFigureOut">
              <a:rPr lang="en-US" smtClean="0"/>
              <a:t>2/4/26</a:t>
            </a:fld>
            <a:endParaRPr lang="en-US"/>
          </a:p>
        </p:txBody>
      </p:sp>
      <p:sp>
        <p:nvSpPr>
          <p:cNvPr id="4" name="Footer Placeholder 3">
            <a:extLst>
              <a:ext uri="{FF2B5EF4-FFF2-40B4-BE49-F238E27FC236}">
                <a16:creationId xmlns:a16="http://schemas.microsoft.com/office/drawing/2014/main" id="{1DF8A61B-C4A7-6C49-BD33-AEF38B5DA5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C1C4B9-E98C-3D48-AFA2-14A187F49924}"/>
              </a:ext>
            </a:extLst>
          </p:cNvPr>
          <p:cNvSpPr>
            <a:spLocks noGrp="1"/>
          </p:cNvSpPr>
          <p:nvPr>
            <p:ph type="sldNum" sz="quarter" idx="12"/>
          </p:nvPr>
        </p:nvSpPr>
        <p:spPr/>
        <p:txBody>
          <a:bodyPr/>
          <a:lstStyle/>
          <a:p>
            <a:fld id="{C9FBCCA0-8005-9345-9127-015359B17DF7}" type="slidenum">
              <a:rPr lang="en-US" smtClean="0"/>
              <a:t>‹#›</a:t>
            </a:fld>
            <a:endParaRPr lang="en-US"/>
          </a:p>
        </p:txBody>
      </p:sp>
    </p:spTree>
    <p:extLst>
      <p:ext uri="{BB962C8B-B14F-4D97-AF65-F5344CB8AC3E}">
        <p14:creationId xmlns:p14="http://schemas.microsoft.com/office/powerpoint/2010/main" val="41650634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D4A8FD-65F6-FA42-9AD0-A3237FC4AC5D}"/>
              </a:ext>
            </a:extLst>
          </p:cNvPr>
          <p:cNvSpPr>
            <a:spLocks noGrp="1"/>
          </p:cNvSpPr>
          <p:nvPr>
            <p:ph type="dt" sz="half" idx="10"/>
          </p:nvPr>
        </p:nvSpPr>
        <p:spPr/>
        <p:txBody>
          <a:bodyPr/>
          <a:lstStyle/>
          <a:p>
            <a:fld id="{43173F10-24B0-F241-BAFD-0430E6089C92}" type="datetimeFigureOut">
              <a:rPr lang="en-US" smtClean="0"/>
              <a:t>2/4/26</a:t>
            </a:fld>
            <a:endParaRPr lang="en-US"/>
          </a:p>
        </p:txBody>
      </p:sp>
      <p:sp>
        <p:nvSpPr>
          <p:cNvPr id="3" name="Footer Placeholder 2">
            <a:extLst>
              <a:ext uri="{FF2B5EF4-FFF2-40B4-BE49-F238E27FC236}">
                <a16:creationId xmlns:a16="http://schemas.microsoft.com/office/drawing/2014/main" id="{5E535DF8-DBEB-7548-81AE-FE53C0D291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3725E4-8CD1-7E40-832E-C8F06B5AAA78}"/>
              </a:ext>
            </a:extLst>
          </p:cNvPr>
          <p:cNvSpPr>
            <a:spLocks noGrp="1"/>
          </p:cNvSpPr>
          <p:nvPr>
            <p:ph type="sldNum" sz="quarter" idx="12"/>
          </p:nvPr>
        </p:nvSpPr>
        <p:spPr/>
        <p:txBody>
          <a:bodyPr/>
          <a:lstStyle/>
          <a:p>
            <a:fld id="{C9FBCCA0-8005-9345-9127-015359B17DF7}" type="slidenum">
              <a:rPr lang="en-US" smtClean="0"/>
              <a:t>‹#›</a:t>
            </a:fld>
            <a:endParaRPr lang="en-US"/>
          </a:p>
        </p:txBody>
      </p:sp>
    </p:spTree>
    <p:extLst>
      <p:ext uri="{BB962C8B-B14F-4D97-AF65-F5344CB8AC3E}">
        <p14:creationId xmlns:p14="http://schemas.microsoft.com/office/powerpoint/2010/main" val="3823589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7C070-B14E-F54B-93BC-9C5A961C8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B039AB-549A-1648-AFD2-F7F2ED200B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E6C557-EA84-D041-820E-1C1E4FDAF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1CAF55-B519-B249-9894-73D3F80CB96C}"/>
              </a:ext>
            </a:extLst>
          </p:cNvPr>
          <p:cNvSpPr>
            <a:spLocks noGrp="1"/>
          </p:cNvSpPr>
          <p:nvPr>
            <p:ph type="dt" sz="half" idx="10"/>
          </p:nvPr>
        </p:nvSpPr>
        <p:spPr/>
        <p:txBody>
          <a:bodyPr/>
          <a:lstStyle/>
          <a:p>
            <a:fld id="{43173F10-24B0-F241-BAFD-0430E6089C92}" type="datetimeFigureOut">
              <a:rPr lang="en-US" smtClean="0"/>
              <a:t>2/4/26</a:t>
            </a:fld>
            <a:endParaRPr lang="en-US"/>
          </a:p>
        </p:txBody>
      </p:sp>
      <p:sp>
        <p:nvSpPr>
          <p:cNvPr id="6" name="Footer Placeholder 5">
            <a:extLst>
              <a:ext uri="{FF2B5EF4-FFF2-40B4-BE49-F238E27FC236}">
                <a16:creationId xmlns:a16="http://schemas.microsoft.com/office/drawing/2014/main" id="{DCF59DBD-641D-4E4A-992F-8B9CE80184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981C7E-9B6E-B845-85FE-0139AA2ED7CB}"/>
              </a:ext>
            </a:extLst>
          </p:cNvPr>
          <p:cNvSpPr>
            <a:spLocks noGrp="1"/>
          </p:cNvSpPr>
          <p:nvPr>
            <p:ph type="sldNum" sz="quarter" idx="12"/>
          </p:nvPr>
        </p:nvSpPr>
        <p:spPr/>
        <p:txBody>
          <a:bodyPr/>
          <a:lstStyle/>
          <a:p>
            <a:fld id="{C9FBCCA0-8005-9345-9127-015359B17DF7}" type="slidenum">
              <a:rPr lang="en-US" smtClean="0"/>
              <a:t>‹#›</a:t>
            </a:fld>
            <a:endParaRPr lang="en-US"/>
          </a:p>
        </p:txBody>
      </p:sp>
    </p:spTree>
    <p:extLst>
      <p:ext uri="{BB962C8B-B14F-4D97-AF65-F5344CB8AC3E}">
        <p14:creationId xmlns:p14="http://schemas.microsoft.com/office/powerpoint/2010/main" val="2709178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90705-F835-6243-96AF-6D5F64D501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FC2E4D-D0E5-CA41-9938-B42CD7352D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694724-9188-A741-8F65-2C3D661055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7160DB-1CA0-2347-B617-DFE9C0587BBB}"/>
              </a:ext>
            </a:extLst>
          </p:cNvPr>
          <p:cNvSpPr>
            <a:spLocks noGrp="1"/>
          </p:cNvSpPr>
          <p:nvPr>
            <p:ph type="dt" sz="half" idx="10"/>
          </p:nvPr>
        </p:nvSpPr>
        <p:spPr/>
        <p:txBody>
          <a:bodyPr/>
          <a:lstStyle/>
          <a:p>
            <a:fld id="{43173F10-24B0-F241-BAFD-0430E6089C92}" type="datetimeFigureOut">
              <a:rPr lang="en-US" smtClean="0"/>
              <a:t>2/4/26</a:t>
            </a:fld>
            <a:endParaRPr lang="en-US"/>
          </a:p>
        </p:txBody>
      </p:sp>
      <p:sp>
        <p:nvSpPr>
          <p:cNvPr id="6" name="Footer Placeholder 5">
            <a:extLst>
              <a:ext uri="{FF2B5EF4-FFF2-40B4-BE49-F238E27FC236}">
                <a16:creationId xmlns:a16="http://schemas.microsoft.com/office/drawing/2014/main" id="{8A80710B-54D6-E948-92A7-B495259B80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2D966-5ABB-D940-A93B-DAD597C16600}"/>
              </a:ext>
            </a:extLst>
          </p:cNvPr>
          <p:cNvSpPr>
            <a:spLocks noGrp="1"/>
          </p:cNvSpPr>
          <p:nvPr>
            <p:ph type="sldNum" sz="quarter" idx="12"/>
          </p:nvPr>
        </p:nvSpPr>
        <p:spPr/>
        <p:txBody>
          <a:bodyPr/>
          <a:lstStyle/>
          <a:p>
            <a:fld id="{C9FBCCA0-8005-9345-9127-015359B17DF7}" type="slidenum">
              <a:rPr lang="en-US" smtClean="0"/>
              <a:t>‹#›</a:t>
            </a:fld>
            <a:endParaRPr lang="en-US"/>
          </a:p>
        </p:txBody>
      </p:sp>
    </p:spTree>
    <p:extLst>
      <p:ext uri="{BB962C8B-B14F-4D97-AF65-F5344CB8AC3E}">
        <p14:creationId xmlns:p14="http://schemas.microsoft.com/office/powerpoint/2010/main" val="14315648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72310-C834-F043-8BFC-6383ED6DEF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2E4889-9B9A-204A-8E49-02D1849CE9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B01086-F1DC-E64F-ABC5-D8CDDA0AE512}"/>
              </a:ext>
            </a:extLst>
          </p:cNvPr>
          <p:cNvSpPr>
            <a:spLocks noGrp="1"/>
          </p:cNvSpPr>
          <p:nvPr>
            <p:ph type="dt" sz="half" idx="10"/>
          </p:nvPr>
        </p:nvSpPr>
        <p:spPr/>
        <p:txBody>
          <a:bodyPr/>
          <a:lstStyle/>
          <a:p>
            <a:fld id="{43173F10-24B0-F241-BAFD-0430E6089C92}" type="datetimeFigureOut">
              <a:rPr lang="en-US" smtClean="0"/>
              <a:t>2/4/26</a:t>
            </a:fld>
            <a:endParaRPr lang="en-US"/>
          </a:p>
        </p:txBody>
      </p:sp>
      <p:sp>
        <p:nvSpPr>
          <p:cNvPr id="5" name="Footer Placeholder 4">
            <a:extLst>
              <a:ext uri="{FF2B5EF4-FFF2-40B4-BE49-F238E27FC236}">
                <a16:creationId xmlns:a16="http://schemas.microsoft.com/office/drawing/2014/main" id="{B0F29A71-87B8-EE4A-BA0E-4DA1B84BC6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247298-A28E-E84F-99C3-824A660BD28D}"/>
              </a:ext>
            </a:extLst>
          </p:cNvPr>
          <p:cNvSpPr>
            <a:spLocks noGrp="1"/>
          </p:cNvSpPr>
          <p:nvPr>
            <p:ph type="sldNum" sz="quarter" idx="12"/>
          </p:nvPr>
        </p:nvSpPr>
        <p:spPr/>
        <p:txBody>
          <a:bodyPr/>
          <a:lstStyle/>
          <a:p>
            <a:fld id="{C9FBCCA0-8005-9345-9127-015359B17DF7}" type="slidenum">
              <a:rPr lang="en-US" smtClean="0"/>
              <a:t>‹#›</a:t>
            </a:fld>
            <a:endParaRPr lang="en-US"/>
          </a:p>
        </p:txBody>
      </p:sp>
    </p:spTree>
    <p:extLst>
      <p:ext uri="{BB962C8B-B14F-4D97-AF65-F5344CB8AC3E}">
        <p14:creationId xmlns:p14="http://schemas.microsoft.com/office/powerpoint/2010/main" val="1513341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C1D5A9-8816-104A-8302-9FD95D3A8D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E3D286-A494-D44B-BD51-1FF8AEB93C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BBE192-8E6E-0147-B28E-63F4F2992C6C}"/>
              </a:ext>
            </a:extLst>
          </p:cNvPr>
          <p:cNvSpPr>
            <a:spLocks noGrp="1"/>
          </p:cNvSpPr>
          <p:nvPr>
            <p:ph type="dt" sz="half" idx="10"/>
          </p:nvPr>
        </p:nvSpPr>
        <p:spPr/>
        <p:txBody>
          <a:bodyPr/>
          <a:lstStyle/>
          <a:p>
            <a:fld id="{43173F10-24B0-F241-BAFD-0430E6089C92}" type="datetimeFigureOut">
              <a:rPr lang="en-US" smtClean="0"/>
              <a:t>2/4/26</a:t>
            </a:fld>
            <a:endParaRPr lang="en-US"/>
          </a:p>
        </p:txBody>
      </p:sp>
      <p:sp>
        <p:nvSpPr>
          <p:cNvPr id="5" name="Footer Placeholder 4">
            <a:extLst>
              <a:ext uri="{FF2B5EF4-FFF2-40B4-BE49-F238E27FC236}">
                <a16:creationId xmlns:a16="http://schemas.microsoft.com/office/drawing/2014/main" id="{1B0DEEAE-58E8-B74F-A1BF-C289E8F72C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0A3F2D-31BD-A24A-9623-8D4A987319D7}"/>
              </a:ext>
            </a:extLst>
          </p:cNvPr>
          <p:cNvSpPr>
            <a:spLocks noGrp="1"/>
          </p:cNvSpPr>
          <p:nvPr>
            <p:ph type="sldNum" sz="quarter" idx="12"/>
          </p:nvPr>
        </p:nvSpPr>
        <p:spPr/>
        <p:txBody>
          <a:bodyPr/>
          <a:lstStyle/>
          <a:p>
            <a:fld id="{C9FBCCA0-8005-9345-9127-015359B17DF7}" type="slidenum">
              <a:rPr lang="en-US" smtClean="0"/>
              <a:t>‹#›</a:t>
            </a:fld>
            <a:endParaRPr lang="en-US"/>
          </a:p>
        </p:txBody>
      </p:sp>
    </p:spTree>
    <p:extLst>
      <p:ext uri="{BB962C8B-B14F-4D97-AF65-F5344CB8AC3E}">
        <p14:creationId xmlns:p14="http://schemas.microsoft.com/office/powerpoint/2010/main" val="2531015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72051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4B42BD-C1A2-6C48-A3BB-59F3FAA0B8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361113-E58A-664C-8B45-42B385F202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4E4C48-9EE8-DC4A-A8E4-F0ABD8D703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173F10-24B0-F241-BAFD-0430E6089C92}" type="datetimeFigureOut">
              <a:rPr lang="en-US" smtClean="0"/>
              <a:t>2/4/26</a:t>
            </a:fld>
            <a:endParaRPr lang="en-US"/>
          </a:p>
        </p:txBody>
      </p:sp>
      <p:sp>
        <p:nvSpPr>
          <p:cNvPr id="5" name="Footer Placeholder 4">
            <a:extLst>
              <a:ext uri="{FF2B5EF4-FFF2-40B4-BE49-F238E27FC236}">
                <a16:creationId xmlns:a16="http://schemas.microsoft.com/office/drawing/2014/main" id="{5DFAA4D5-A81F-B849-81B2-916D55BDDF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152172-55CB-CE4B-AC88-924D92064B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FBCCA0-8005-9345-9127-015359B17DF7}" type="slidenum">
              <a:rPr lang="en-US" smtClean="0"/>
              <a:t>‹#›</a:t>
            </a:fld>
            <a:endParaRPr lang="en-US"/>
          </a:p>
        </p:txBody>
      </p:sp>
    </p:spTree>
    <p:extLst>
      <p:ext uri="{BB962C8B-B14F-4D97-AF65-F5344CB8AC3E}">
        <p14:creationId xmlns:p14="http://schemas.microsoft.com/office/powerpoint/2010/main" val="9299756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doi.org/10.1093/jamia/ocac093"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597900"/>
            <a:ext cx="10363200" cy="3189721"/>
          </a:xfrm>
        </p:spPr>
        <p:txBody>
          <a:bodyPr>
            <a:normAutofit/>
          </a:bodyPr>
          <a:lstStyle/>
          <a:p>
            <a:pPr>
              <a:spcAft>
                <a:spcPts val="1200"/>
              </a:spcAft>
            </a:pPr>
            <a:r>
              <a:rPr lang="en-US" sz="4800" dirty="0"/>
              <a:t>Calibration and Class Balance</a:t>
            </a:r>
          </a:p>
        </p:txBody>
      </p:sp>
      <p:sp>
        <p:nvSpPr>
          <p:cNvPr id="3" name="Subtitle 2"/>
          <p:cNvSpPr>
            <a:spLocks noGrp="1"/>
          </p:cNvSpPr>
          <p:nvPr>
            <p:ph type="subTitle" idx="1"/>
          </p:nvPr>
        </p:nvSpPr>
        <p:spPr>
          <a:xfrm>
            <a:off x="3027218" y="4276881"/>
            <a:ext cx="6137564" cy="1655762"/>
          </a:xfrm>
        </p:spPr>
        <p:txBody>
          <a:bodyPr>
            <a:normAutofit/>
          </a:bodyPr>
          <a:lstStyle/>
          <a:p>
            <a:endParaRPr lang="en-US" sz="2400" dirty="0"/>
          </a:p>
          <a:p>
            <a:r>
              <a:rPr lang="en-US" sz="2400" dirty="0"/>
              <a:t>Matt Engelhard</a:t>
            </a:r>
          </a:p>
        </p:txBody>
      </p:sp>
    </p:spTree>
    <p:extLst>
      <p:ext uri="{BB962C8B-B14F-4D97-AF65-F5344CB8AC3E}">
        <p14:creationId xmlns:p14="http://schemas.microsoft.com/office/powerpoint/2010/main" val="3193569505"/>
      </p:ext>
    </p:extLst>
  </p:cSld>
  <p:clrMapOvr>
    <a:masterClrMapping/>
  </p:clrMapOvr>
  <mc:AlternateContent xmlns:mc="http://schemas.openxmlformats.org/markup-compatibility/2006" xmlns:p14="http://schemas.microsoft.com/office/powerpoint/2010/main">
    <mc:Choice Requires="p14">
      <p:transition spd="slow" p14:dur="2000" advTm="23936"/>
    </mc:Choice>
    <mc:Fallback xmlns="">
      <p:transition spd="slow" advTm="2393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C5330-9940-3878-E781-54F16116C733}"/>
              </a:ext>
            </a:extLst>
          </p:cNvPr>
          <p:cNvSpPr>
            <a:spLocks noGrp="1"/>
          </p:cNvSpPr>
          <p:nvPr>
            <p:ph type="title"/>
          </p:nvPr>
        </p:nvSpPr>
        <p:spPr/>
        <p:txBody>
          <a:bodyPr/>
          <a:lstStyle/>
          <a:p>
            <a:r>
              <a:rPr lang="en-US" dirty="0"/>
              <a:t>Last Time:</a:t>
            </a:r>
            <a:br>
              <a:rPr lang="en-US" dirty="0"/>
            </a:br>
            <a:r>
              <a:rPr lang="en-US" dirty="0"/>
              <a:t>Performance metrics are tied to the use case</a:t>
            </a:r>
          </a:p>
        </p:txBody>
      </p:sp>
      <p:pic>
        <p:nvPicPr>
          <p:cNvPr id="4" name="Picture 3">
            <a:extLst>
              <a:ext uri="{FF2B5EF4-FFF2-40B4-BE49-F238E27FC236}">
                <a16:creationId xmlns:a16="http://schemas.microsoft.com/office/drawing/2014/main" id="{1FF9C371-8A4F-B571-7B31-74B1DAD9752C}"/>
              </a:ext>
            </a:extLst>
          </p:cNvPr>
          <p:cNvPicPr>
            <a:picLocks noChangeAspect="1"/>
          </p:cNvPicPr>
          <p:nvPr/>
        </p:nvPicPr>
        <p:blipFill>
          <a:blip r:embed="rId3"/>
          <a:stretch>
            <a:fillRect/>
          </a:stretch>
        </p:blipFill>
        <p:spPr>
          <a:xfrm>
            <a:off x="838200" y="1927355"/>
            <a:ext cx="6489183" cy="4139957"/>
          </a:xfrm>
          <a:prstGeom prst="rect">
            <a:avLst/>
          </a:prstGeom>
        </p:spPr>
      </p:pic>
      <p:sp>
        <p:nvSpPr>
          <p:cNvPr id="5" name="Title 1">
            <a:extLst>
              <a:ext uri="{FF2B5EF4-FFF2-40B4-BE49-F238E27FC236}">
                <a16:creationId xmlns:a16="http://schemas.microsoft.com/office/drawing/2014/main" id="{1497CBA6-BC9F-81D8-2788-2A4A797F4F2A}"/>
              </a:ext>
            </a:extLst>
          </p:cNvPr>
          <p:cNvSpPr txBox="1">
            <a:spLocks/>
          </p:cNvSpPr>
          <p:nvPr/>
        </p:nvSpPr>
        <p:spPr>
          <a:xfrm>
            <a:off x="8304901" y="1798868"/>
            <a:ext cx="2824779" cy="8309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i="1" dirty="0"/>
              <a:t>11%</a:t>
            </a:r>
          </a:p>
        </p:txBody>
      </p:sp>
      <p:sp>
        <p:nvSpPr>
          <p:cNvPr id="6" name="TextBox 5">
            <a:extLst>
              <a:ext uri="{FF2B5EF4-FFF2-40B4-BE49-F238E27FC236}">
                <a16:creationId xmlns:a16="http://schemas.microsoft.com/office/drawing/2014/main" id="{35AC4880-8BD2-F3A8-6716-562B25F00A77}"/>
              </a:ext>
            </a:extLst>
          </p:cNvPr>
          <p:cNvSpPr txBox="1"/>
          <p:nvPr/>
        </p:nvSpPr>
        <p:spPr>
          <a:xfrm>
            <a:off x="8254249" y="2809467"/>
            <a:ext cx="2926082" cy="830997"/>
          </a:xfrm>
          <a:prstGeom prst="rect">
            <a:avLst/>
          </a:prstGeom>
          <a:noFill/>
        </p:spPr>
        <p:txBody>
          <a:bodyPr wrap="square" rtlCol="0">
            <a:spAutoFit/>
          </a:bodyPr>
          <a:lstStyle/>
          <a:p>
            <a:r>
              <a:rPr lang="en-US" sz="2400" dirty="0"/>
              <a:t>Probability of Stage IV CKD within two years</a:t>
            </a:r>
          </a:p>
        </p:txBody>
      </p:sp>
      <p:sp>
        <p:nvSpPr>
          <p:cNvPr id="7" name="TextBox 6">
            <a:extLst>
              <a:ext uri="{FF2B5EF4-FFF2-40B4-BE49-F238E27FC236}">
                <a16:creationId xmlns:a16="http://schemas.microsoft.com/office/drawing/2014/main" id="{1A7561C4-4177-5BFE-403B-B3D504FC60B8}"/>
              </a:ext>
            </a:extLst>
          </p:cNvPr>
          <p:cNvSpPr txBox="1"/>
          <p:nvPr/>
        </p:nvSpPr>
        <p:spPr>
          <a:xfrm>
            <a:off x="8136139" y="3890677"/>
            <a:ext cx="3162302" cy="2585323"/>
          </a:xfrm>
          <a:prstGeom prst="rect">
            <a:avLst/>
          </a:prstGeom>
          <a:noFill/>
        </p:spPr>
        <p:txBody>
          <a:bodyPr wrap="square" rtlCol="0">
            <a:spAutoFit/>
          </a:bodyPr>
          <a:lstStyle/>
          <a:p>
            <a:r>
              <a:rPr lang="en-US" u="sng" dirty="0"/>
              <a:t>Report Back</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How might you use this number in clinical practice (be specific)?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What performance metrics are relevant to this way of using the prediction?</a:t>
            </a:r>
          </a:p>
        </p:txBody>
      </p:sp>
    </p:spTree>
    <p:extLst>
      <p:ext uri="{BB962C8B-B14F-4D97-AF65-F5344CB8AC3E}">
        <p14:creationId xmlns:p14="http://schemas.microsoft.com/office/powerpoint/2010/main" val="3619394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0DDAA-DF04-740A-D971-D87107F67E2F}"/>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990B39E2-B209-E992-37A6-02C8172DE398}"/>
              </a:ext>
            </a:extLst>
          </p:cNvPr>
          <p:cNvSpPr>
            <a:spLocks noGrp="1"/>
          </p:cNvSpPr>
          <p:nvPr>
            <p:ph idx="1"/>
          </p:nvPr>
        </p:nvSpPr>
        <p:spPr/>
        <p:txBody>
          <a:bodyPr/>
          <a:lstStyle/>
          <a:p>
            <a:r>
              <a:rPr lang="en-US" dirty="0"/>
              <a:t>Consider definitions of algorithmic fairness</a:t>
            </a:r>
          </a:p>
          <a:p>
            <a:r>
              <a:rPr lang="en-US" dirty="0"/>
              <a:t>Assessing model calibration</a:t>
            </a:r>
          </a:p>
          <a:p>
            <a:r>
              <a:rPr lang="en-US" dirty="0"/>
              <a:t>Class balancing and effects on calibration</a:t>
            </a:r>
          </a:p>
          <a:p>
            <a:pPr lvl="1"/>
            <a:r>
              <a:rPr lang="en-US" dirty="0"/>
              <a:t>Discussion</a:t>
            </a:r>
          </a:p>
          <a:p>
            <a:pPr lvl="1"/>
            <a:r>
              <a:rPr lang="en-US" dirty="0"/>
              <a:t>Small-group activity</a:t>
            </a:r>
          </a:p>
          <a:p>
            <a:r>
              <a:rPr lang="en-US" dirty="0"/>
              <a:t>Post-hoc calibration techniques</a:t>
            </a:r>
          </a:p>
          <a:p>
            <a:r>
              <a:rPr lang="en-US" dirty="0"/>
              <a:t>What is fair? Do we emphasize calibration, or discrimination?</a:t>
            </a:r>
          </a:p>
        </p:txBody>
      </p:sp>
    </p:spTree>
    <p:extLst>
      <p:ext uri="{BB962C8B-B14F-4D97-AF65-F5344CB8AC3E}">
        <p14:creationId xmlns:p14="http://schemas.microsoft.com/office/powerpoint/2010/main" val="1133910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35833-3D4B-7B24-8689-9D5D0DAEBAAD}"/>
              </a:ext>
            </a:extLst>
          </p:cNvPr>
          <p:cNvSpPr>
            <a:spLocks noGrp="1"/>
          </p:cNvSpPr>
          <p:nvPr>
            <p:ph type="title"/>
          </p:nvPr>
        </p:nvSpPr>
        <p:spPr/>
        <p:txBody>
          <a:bodyPr/>
          <a:lstStyle/>
          <a:p>
            <a:r>
              <a:rPr lang="en-US" dirty="0"/>
              <a:t>Growing concerns about algorithmic bias</a:t>
            </a:r>
          </a:p>
        </p:txBody>
      </p:sp>
      <p:sp>
        <p:nvSpPr>
          <p:cNvPr id="3" name="Content Placeholder 2">
            <a:extLst>
              <a:ext uri="{FF2B5EF4-FFF2-40B4-BE49-F238E27FC236}">
                <a16:creationId xmlns:a16="http://schemas.microsoft.com/office/drawing/2014/main" id="{563DFC17-B94C-5ADB-DB80-15FBAB449DCA}"/>
              </a:ext>
            </a:extLst>
          </p:cNvPr>
          <p:cNvSpPr>
            <a:spLocks noGrp="1"/>
          </p:cNvSpPr>
          <p:nvPr>
            <p:ph idx="1"/>
          </p:nvPr>
        </p:nvSpPr>
        <p:spPr/>
        <p:txBody>
          <a:bodyPr>
            <a:normAutofit lnSpcReduction="10000"/>
          </a:bodyPr>
          <a:lstStyle/>
          <a:p>
            <a:pPr marL="0" indent="0">
              <a:buNone/>
            </a:pPr>
            <a:r>
              <a:rPr lang="en-US" dirty="0"/>
              <a:t>You’ve been using the model for a year now, and you’ve noticed something potentially concerning.</a:t>
            </a:r>
          </a:p>
          <a:p>
            <a:pPr marL="0" indent="0">
              <a:buNone/>
            </a:pPr>
            <a:endParaRPr lang="en-US" dirty="0"/>
          </a:p>
          <a:p>
            <a:pPr marL="0" indent="0">
              <a:buNone/>
            </a:pPr>
            <a:r>
              <a:rPr lang="en-US" dirty="0"/>
              <a:t>The model seems to preferentially refer White patients over Black patients. Specifically, you notice that Black patients are referred only if their clinical presentation is more severe compared to White patients who are referred. You are not sure why this is happening.</a:t>
            </a:r>
          </a:p>
          <a:p>
            <a:pPr marL="0" indent="0">
              <a:buNone/>
            </a:pPr>
            <a:endParaRPr lang="en-US" dirty="0"/>
          </a:p>
          <a:p>
            <a:pPr marL="0" indent="0">
              <a:buNone/>
            </a:pPr>
            <a:r>
              <a:rPr lang="en-US" u="sng" dirty="0"/>
              <a:t>Report Back</a:t>
            </a:r>
            <a:r>
              <a:rPr lang="en-US" dirty="0"/>
              <a:t>: What are some possible sources of this bias, and what could you do to investigate?</a:t>
            </a:r>
          </a:p>
        </p:txBody>
      </p:sp>
    </p:spTree>
    <p:extLst>
      <p:ext uri="{BB962C8B-B14F-4D97-AF65-F5344CB8AC3E}">
        <p14:creationId xmlns:p14="http://schemas.microsoft.com/office/powerpoint/2010/main" val="2707178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E53D9-BF08-BC6D-FA46-8CFCA53F847B}"/>
              </a:ext>
            </a:extLst>
          </p:cNvPr>
          <p:cNvSpPr>
            <a:spLocks noGrp="1"/>
          </p:cNvSpPr>
          <p:nvPr>
            <p:ph type="title"/>
          </p:nvPr>
        </p:nvSpPr>
        <p:spPr/>
        <p:txBody>
          <a:bodyPr/>
          <a:lstStyle/>
          <a:p>
            <a:r>
              <a:rPr lang="en-US" dirty="0"/>
              <a:t>Sources of Algorithmic Bias</a:t>
            </a:r>
          </a:p>
        </p:txBody>
      </p:sp>
      <p:pic>
        <p:nvPicPr>
          <p:cNvPr id="4" name="Picture 3">
            <a:extLst>
              <a:ext uri="{FF2B5EF4-FFF2-40B4-BE49-F238E27FC236}">
                <a16:creationId xmlns:a16="http://schemas.microsoft.com/office/drawing/2014/main" id="{E231724B-AA34-AD77-0ADC-3A89007AAFA9}"/>
              </a:ext>
            </a:extLst>
          </p:cNvPr>
          <p:cNvPicPr>
            <a:picLocks noChangeAspect="1"/>
          </p:cNvPicPr>
          <p:nvPr/>
        </p:nvPicPr>
        <p:blipFill>
          <a:blip r:embed="rId3"/>
          <a:stretch>
            <a:fillRect/>
          </a:stretch>
        </p:blipFill>
        <p:spPr>
          <a:xfrm>
            <a:off x="838200" y="3730952"/>
            <a:ext cx="6999363" cy="2580948"/>
          </a:xfrm>
          <a:prstGeom prst="rect">
            <a:avLst/>
          </a:prstGeom>
        </p:spPr>
      </p:pic>
      <p:sp>
        <p:nvSpPr>
          <p:cNvPr id="5" name="Content Placeholder 2">
            <a:extLst>
              <a:ext uri="{FF2B5EF4-FFF2-40B4-BE49-F238E27FC236}">
                <a16:creationId xmlns:a16="http://schemas.microsoft.com/office/drawing/2014/main" id="{6468389C-0869-2D55-5B8C-D7E693A76BF7}"/>
              </a:ext>
            </a:extLst>
          </p:cNvPr>
          <p:cNvSpPr>
            <a:spLocks noGrp="1"/>
          </p:cNvSpPr>
          <p:nvPr>
            <p:ph idx="1"/>
          </p:nvPr>
        </p:nvSpPr>
        <p:spPr>
          <a:xfrm>
            <a:off x="838200" y="1825625"/>
            <a:ext cx="10515600" cy="4351338"/>
          </a:xfrm>
        </p:spPr>
        <p:txBody>
          <a:bodyPr/>
          <a:lstStyle/>
          <a:p>
            <a:pPr marL="0" indent="0">
              <a:buNone/>
            </a:pPr>
            <a:r>
              <a:rPr lang="en-US" dirty="0"/>
              <a:t>Many possible sources, but in most cases, it’s:</a:t>
            </a:r>
          </a:p>
          <a:p>
            <a:pPr marL="514350" indent="-514350">
              <a:buFont typeface="+mj-lt"/>
              <a:buAutoNum type="arabicPeriod"/>
            </a:pPr>
            <a:r>
              <a:rPr lang="en-US" dirty="0"/>
              <a:t>Biased outcomes in training data</a:t>
            </a:r>
          </a:p>
          <a:p>
            <a:pPr marL="514350" indent="-514350">
              <a:buFont typeface="+mj-lt"/>
              <a:buAutoNum type="arabicPeriod"/>
            </a:pPr>
            <a:r>
              <a:rPr lang="en-US" dirty="0"/>
              <a:t>Poor representation of demographics</a:t>
            </a:r>
          </a:p>
        </p:txBody>
      </p:sp>
    </p:spTree>
    <p:extLst>
      <p:ext uri="{BB962C8B-B14F-4D97-AF65-F5344CB8AC3E}">
        <p14:creationId xmlns:p14="http://schemas.microsoft.com/office/powerpoint/2010/main" val="1692081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6B7B2-CCB3-EFFF-2CE2-EC830E987DDD}"/>
              </a:ext>
            </a:extLst>
          </p:cNvPr>
          <p:cNvSpPr>
            <a:spLocks noGrp="1"/>
          </p:cNvSpPr>
          <p:nvPr>
            <p:ph type="title"/>
          </p:nvPr>
        </p:nvSpPr>
        <p:spPr/>
        <p:txBody>
          <a:bodyPr/>
          <a:lstStyle/>
          <a:p>
            <a:r>
              <a:rPr lang="en-US" dirty="0"/>
              <a:t>What does it mean for a model to be </a:t>
            </a:r>
            <a:r>
              <a:rPr lang="en-US" i="1" dirty="0"/>
              <a:t>fair</a:t>
            </a:r>
            <a:r>
              <a:rPr lang="en-US" dirty="0"/>
              <a:t>?</a:t>
            </a:r>
          </a:p>
        </p:txBody>
      </p:sp>
      <p:sp>
        <p:nvSpPr>
          <p:cNvPr id="3" name="Content Placeholder 2">
            <a:extLst>
              <a:ext uri="{FF2B5EF4-FFF2-40B4-BE49-F238E27FC236}">
                <a16:creationId xmlns:a16="http://schemas.microsoft.com/office/drawing/2014/main" id="{605DC1E0-B81A-68BA-F029-53BAFC461A7D}"/>
              </a:ext>
            </a:extLst>
          </p:cNvPr>
          <p:cNvSpPr>
            <a:spLocks noGrp="1"/>
          </p:cNvSpPr>
          <p:nvPr>
            <p:ph idx="1"/>
          </p:nvPr>
        </p:nvSpPr>
        <p:spPr/>
        <p:txBody>
          <a:bodyPr>
            <a:normAutofit fontScale="92500" lnSpcReduction="10000"/>
          </a:bodyPr>
          <a:lstStyle/>
          <a:p>
            <a:pPr marL="0" indent="0">
              <a:buNone/>
            </a:pPr>
            <a:r>
              <a:rPr lang="en-US" dirty="0"/>
              <a:t>Consider whether predictions are fair between two groups A and B.</a:t>
            </a:r>
            <a:endParaRPr lang="en-US" b="1" dirty="0"/>
          </a:p>
          <a:p>
            <a:pPr marL="0" indent="0">
              <a:buNone/>
            </a:pPr>
            <a:endParaRPr lang="en-US" b="1" dirty="0"/>
          </a:p>
          <a:p>
            <a:pPr marL="0" indent="0">
              <a:buNone/>
            </a:pPr>
            <a:r>
              <a:rPr lang="en-US" b="1" dirty="0"/>
              <a:t>One possible solution </a:t>
            </a:r>
            <a:r>
              <a:rPr lang="en-US" dirty="0"/>
              <a:t>is </a:t>
            </a:r>
            <a:r>
              <a:rPr lang="en-US" i="1" dirty="0"/>
              <a:t>fairness through unawareness</a:t>
            </a:r>
            <a:r>
              <a:rPr lang="en-US" dirty="0"/>
              <a:t>, also called </a:t>
            </a:r>
            <a:r>
              <a:rPr lang="en-US" i="1" dirty="0"/>
              <a:t>blindness, </a:t>
            </a:r>
            <a:r>
              <a:rPr lang="en-US" dirty="0"/>
              <a:t>wherein the</a:t>
            </a:r>
            <a:r>
              <a:rPr lang="en-US" i="1" dirty="0"/>
              <a:t> </a:t>
            </a:r>
            <a:r>
              <a:rPr lang="en-US" dirty="0"/>
              <a:t>model is not given information about group status.</a:t>
            </a:r>
          </a:p>
          <a:p>
            <a:pPr marL="0" indent="0">
              <a:buNone/>
            </a:pPr>
            <a:endParaRPr lang="en-US" dirty="0"/>
          </a:p>
          <a:p>
            <a:pPr marL="0" indent="0">
              <a:buNone/>
            </a:pPr>
            <a:r>
              <a:rPr lang="en-US" u="sng" dirty="0"/>
              <a:t>Report back</a:t>
            </a:r>
            <a:r>
              <a:rPr lang="en-US" dirty="0"/>
              <a:t>:</a:t>
            </a:r>
          </a:p>
          <a:p>
            <a:pPr marL="0" indent="0">
              <a:buNone/>
            </a:pPr>
            <a:r>
              <a:rPr lang="en-US" dirty="0"/>
              <a:t>- What could go wrong if the model is </a:t>
            </a:r>
            <a:r>
              <a:rPr lang="en-US" i="1" dirty="0"/>
              <a:t>aware </a:t>
            </a:r>
            <a:r>
              <a:rPr lang="en-US" dirty="0"/>
              <a:t>of group status?</a:t>
            </a:r>
          </a:p>
          <a:p>
            <a:pPr marL="0" indent="0">
              <a:buNone/>
            </a:pPr>
            <a:r>
              <a:rPr lang="en-US" dirty="0"/>
              <a:t>- What could go wrong if the model is </a:t>
            </a:r>
            <a:r>
              <a:rPr lang="en-US" i="1" dirty="0"/>
              <a:t>unaware</a:t>
            </a:r>
            <a:r>
              <a:rPr lang="en-US" dirty="0"/>
              <a:t> of group status?</a:t>
            </a:r>
          </a:p>
          <a:p>
            <a:pPr marL="0" indent="0">
              <a:buNone/>
            </a:pPr>
            <a:endParaRPr lang="en-US" dirty="0"/>
          </a:p>
          <a:p>
            <a:pPr marL="0" indent="0">
              <a:buNone/>
            </a:pPr>
            <a:r>
              <a:rPr lang="en-US" dirty="0"/>
              <a:t>Then, propose an alternative approach to achieve or evaluate fairness.</a:t>
            </a:r>
          </a:p>
        </p:txBody>
      </p:sp>
    </p:spTree>
    <p:extLst>
      <p:ext uri="{BB962C8B-B14F-4D97-AF65-F5344CB8AC3E}">
        <p14:creationId xmlns:p14="http://schemas.microsoft.com/office/powerpoint/2010/main" val="1254944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3B352A-BFC2-BB9D-3FE3-7F1069B87AB9}"/>
              </a:ext>
            </a:extLst>
          </p:cNvPr>
          <p:cNvPicPr>
            <a:picLocks noChangeAspect="1"/>
          </p:cNvPicPr>
          <p:nvPr/>
        </p:nvPicPr>
        <p:blipFill>
          <a:blip r:embed="rId3"/>
          <a:stretch>
            <a:fillRect/>
          </a:stretch>
        </p:blipFill>
        <p:spPr>
          <a:xfrm>
            <a:off x="221673" y="161440"/>
            <a:ext cx="5949489" cy="6057140"/>
          </a:xfrm>
          <a:prstGeom prst="rect">
            <a:avLst/>
          </a:prstGeom>
          <a:ln>
            <a:solidFill>
              <a:schemeClr val="tx1"/>
            </a:solidFill>
          </a:ln>
        </p:spPr>
      </p:pic>
      <p:pic>
        <p:nvPicPr>
          <p:cNvPr id="5" name="Picture 4">
            <a:extLst>
              <a:ext uri="{FF2B5EF4-FFF2-40B4-BE49-F238E27FC236}">
                <a16:creationId xmlns:a16="http://schemas.microsoft.com/office/drawing/2014/main" id="{2DC82366-2A7A-2F86-6BA0-01D678268F89}"/>
              </a:ext>
            </a:extLst>
          </p:cNvPr>
          <p:cNvPicPr>
            <a:picLocks noChangeAspect="1"/>
          </p:cNvPicPr>
          <p:nvPr/>
        </p:nvPicPr>
        <p:blipFill>
          <a:blip r:embed="rId4"/>
          <a:stretch>
            <a:fillRect/>
          </a:stretch>
        </p:blipFill>
        <p:spPr>
          <a:xfrm>
            <a:off x="5559261" y="2022571"/>
            <a:ext cx="6411066" cy="4673989"/>
          </a:xfrm>
          <a:prstGeom prst="rect">
            <a:avLst/>
          </a:prstGeom>
          <a:ln>
            <a:solidFill>
              <a:schemeClr val="tx1"/>
            </a:solidFill>
          </a:ln>
        </p:spPr>
      </p:pic>
    </p:spTree>
    <p:extLst>
      <p:ext uri="{BB962C8B-B14F-4D97-AF65-F5344CB8AC3E}">
        <p14:creationId xmlns:p14="http://schemas.microsoft.com/office/powerpoint/2010/main" val="3123187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70882-8420-2637-8C96-DDA1CDE562DF}"/>
              </a:ext>
            </a:extLst>
          </p:cNvPr>
          <p:cNvSpPr>
            <a:spLocks noGrp="1"/>
          </p:cNvSpPr>
          <p:nvPr>
            <p:ph type="title"/>
          </p:nvPr>
        </p:nvSpPr>
        <p:spPr/>
        <p:txBody>
          <a:bodyPr/>
          <a:lstStyle/>
          <a:p>
            <a:r>
              <a:rPr lang="en-US" dirty="0"/>
              <a:t>Blindness can be ineffective or even harmful.</a:t>
            </a:r>
          </a:p>
        </p:txBody>
      </p:sp>
      <p:sp>
        <p:nvSpPr>
          <p:cNvPr id="4" name="TextBox 3">
            <a:extLst>
              <a:ext uri="{FF2B5EF4-FFF2-40B4-BE49-F238E27FC236}">
                <a16:creationId xmlns:a16="http://schemas.microsoft.com/office/drawing/2014/main" id="{380ABBFC-B6EE-C9AB-AFFE-6901D83C0A42}"/>
              </a:ext>
            </a:extLst>
          </p:cNvPr>
          <p:cNvSpPr txBox="1"/>
          <p:nvPr/>
        </p:nvSpPr>
        <p:spPr>
          <a:xfrm>
            <a:off x="1003610" y="1460809"/>
            <a:ext cx="5542156" cy="923330"/>
          </a:xfrm>
          <a:prstGeom prst="rect">
            <a:avLst/>
          </a:prstGeom>
          <a:noFill/>
        </p:spPr>
        <p:txBody>
          <a:bodyPr wrap="square" rtlCol="0">
            <a:spAutoFit/>
          </a:bodyPr>
          <a:lstStyle/>
          <a:p>
            <a:pPr marL="285750" indent="-285750">
              <a:buFont typeface="Arial" panose="020B0604020202020204" pitchFamily="34" charset="0"/>
              <a:buChar char="•"/>
            </a:pPr>
            <a:r>
              <a:rPr lang="en-US" dirty="0"/>
              <a:t>In some cases it is effective.</a:t>
            </a:r>
          </a:p>
          <a:p>
            <a:pPr marL="285750" indent="-285750">
              <a:buFont typeface="Arial" panose="020B0604020202020204" pitchFamily="34" charset="0"/>
              <a:buChar char="•"/>
            </a:pPr>
            <a:r>
              <a:rPr lang="en-US" dirty="0"/>
              <a:t>In other cases it isn’t enough to fix the problem.</a:t>
            </a:r>
          </a:p>
          <a:p>
            <a:pPr marL="285750" indent="-285750">
              <a:buFont typeface="Arial" panose="020B0604020202020204" pitchFamily="34" charset="0"/>
              <a:buChar char="•"/>
            </a:pPr>
            <a:r>
              <a:rPr lang="en-US" dirty="0"/>
              <a:t>In still other cases, it can make the problem worse.</a:t>
            </a:r>
          </a:p>
        </p:txBody>
      </p:sp>
      <p:pic>
        <p:nvPicPr>
          <p:cNvPr id="5" name="Picture 4">
            <a:extLst>
              <a:ext uri="{FF2B5EF4-FFF2-40B4-BE49-F238E27FC236}">
                <a16:creationId xmlns:a16="http://schemas.microsoft.com/office/drawing/2014/main" id="{47412134-F61B-713C-B521-1166A18140BF}"/>
              </a:ext>
            </a:extLst>
          </p:cNvPr>
          <p:cNvPicPr>
            <a:picLocks noChangeAspect="1"/>
          </p:cNvPicPr>
          <p:nvPr/>
        </p:nvPicPr>
        <p:blipFill rotWithShape="1">
          <a:blip r:embed="rId3"/>
          <a:srcRect b="49614"/>
          <a:stretch/>
        </p:blipFill>
        <p:spPr>
          <a:xfrm>
            <a:off x="566542" y="2710536"/>
            <a:ext cx="11058915" cy="3714789"/>
          </a:xfrm>
          <a:prstGeom prst="rect">
            <a:avLst/>
          </a:prstGeom>
        </p:spPr>
      </p:pic>
      <p:sp>
        <p:nvSpPr>
          <p:cNvPr id="6" name="TextBox 5">
            <a:extLst>
              <a:ext uri="{FF2B5EF4-FFF2-40B4-BE49-F238E27FC236}">
                <a16:creationId xmlns:a16="http://schemas.microsoft.com/office/drawing/2014/main" id="{9E9D7974-13B2-6FD2-9006-6E9BE5BFB33E}"/>
              </a:ext>
            </a:extLst>
          </p:cNvPr>
          <p:cNvSpPr txBox="1"/>
          <p:nvPr/>
        </p:nvSpPr>
        <p:spPr>
          <a:xfrm>
            <a:off x="1598229" y="6089849"/>
            <a:ext cx="10027228" cy="335476"/>
          </a:xfrm>
          <a:prstGeom prst="rect">
            <a:avLst/>
          </a:prstGeom>
          <a:solidFill>
            <a:schemeClr val="bg1"/>
          </a:solidFill>
        </p:spPr>
        <p:txBody>
          <a:bodyPr wrap="square" rtlCol="0">
            <a:spAutoFit/>
          </a:bodyPr>
          <a:lstStyle/>
          <a:p>
            <a:r>
              <a:rPr lang="en-US" sz="1600" dirty="0"/>
              <a:t>       Black-Black		White-White		Black-White	               White-Black</a:t>
            </a:r>
          </a:p>
        </p:txBody>
      </p:sp>
    </p:spTree>
    <p:extLst>
      <p:ext uri="{BB962C8B-B14F-4D97-AF65-F5344CB8AC3E}">
        <p14:creationId xmlns:p14="http://schemas.microsoft.com/office/powerpoint/2010/main" val="2932198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7ED58-EA68-F272-284C-3F129FA4EAAB}"/>
              </a:ext>
            </a:extLst>
          </p:cNvPr>
          <p:cNvSpPr>
            <a:spLocks noGrp="1"/>
          </p:cNvSpPr>
          <p:nvPr>
            <p:ph type="title"/>
          </p:nvPr>
        </p:nvSpPr>
        <p:spPr/>
        <p:txBody>
          <a:bodyPr/>
          <a:lstStyle/>
          <a:p>
            <a:r>
              <a:rPr lang="en-US" dirty="0"/>
              <a:t>Possible definitions of algorithmic fairness</a:t>
            </a:r>
          </a:p>
        </p:txBody>
      </p:sp>
      <p:sp>
        <p:nvSpPr>
          <p:cNvPr id="3" name="Content Placeholder 2">
            <a:extLst>
              <a:ext uri="{FF2B5EF4-FFF2-40B4-BE49-F238E27FC236}">
                <a16:creationId xmlns:a16="http://schemas.microsoft.com/office/drawing/2014/main" id="{01963A1D-F89D-E0E0-7806-774DC92B07CB}"/>
              </a:ext>
            </a:extLst>
          </p:cNvPr>
          <p:cNvSpPr>
            <a:spLocks noGrp="1"/>
          </p:cNvSpPr>
          <p:nvPr>
            <p:ph idx="1"/>
          </p:nvPr>
        </p:nvSpPr>
        <p:spPr/>
        <p:txBody>
          <a:bodyPr>
            <a:normAutofit fontScale="92500" lnSpcReduction="10000"/>
          </a:bodyPr>
          <a:lstStyle/>
          <a:p>
            <a:pPr marL="0" indent="0">
              <a:buNone/>
            </a:pPr>
            <a:r>
              <a:rPr lang="en-US" dirty="0"/>
              <a:t>Consider whether predictions are fair between two groups A and B.</a:t>
            </a:r>
          </a:p>
          <a:p>
            <a:pPr marL="514350" indent="-514350">
              <a:buFont typeface="+mj-lt"/>
              <a:buAutoNum type="arabicPeriod"/>
            </a:pPr>
            <a:endParaRPr lang="en-US" u="sng" dirty="0"/>
          </a:p>
          <a:p>
            <a:pPr marL="514350" indent="-514350">
              <a:buFont typeface="+mj-lt"/>
              <a:buAutoNum type="arabicPeriod"/>
            </a:pPr>
            <a:r>
              <a:rPr lang="en-US" u="sng" dirty="0"/>
              <a:t>Blindness</a:t>
            </a:r>
            <a:r>
              <a:rPr lang="en-US" dirty="0"/>
              <a:t>: The model </a:t>
            </a:r>
            <a:r>
              <a:rPr lang="en-US" i="1" dirty="0"/>
              <a:t>cannot see </a:t>
            </a:r>
            <a:r>
              <a:rPr lang="en-US" dirty="0"/>
              <a:t>group status</a:t>
            </a:r>
          </a:p>
          <a:p>
            <a:pPr marL="514350" indent="-514350">
              <a:buFont typeface="+mj-lt"/>
              <a:buAutoNum type="arabicPeriod"/>
            </a:pPr>
            <a:r>
              <a:rPr lang="en-US" u="sng" dirty="0"/>
              <a:t>Independence</a:t>
            </a:r>
            <a:r>
              <a:rPr lang="en-US" dirty="0"/>
              <a:t>: Model predictions are </a:t>
            </a:r>
            <a:r>
              <a:rPr lang="en-US" i="1" dirty="0"/>
              <a:t>independent</a:t>
            </a:r>
            <a:r>
              <a:rPr lang="en-US" dirty="0"/>
              <a:t> of group status</a:t>
            </a:r>
          </a:p>
          <a:p>
            <a:pPr marL="514350" indent="-514350">
              <a:buFont typeface="+mj-lt"/>
              <a:buAutoNum type="arabicPeriod"/>
            </a:pPr>
            <a:r>
              <a:rPr lang="en-US" u="sng" dirty="0"/>
              <a:t>Separation</a:t>
            </a:r>
            <a:r>
              <a:rPr lang="en-US" dirty="0"/>
              <a:t>: Model </a:t>
            </a:r>
            <a:r>
              <a:rPr lang="en-US" i="1" dirty="0"/>
              <a:t>performance</a:t>
            </a:r>
            <a:r>
              <a:rPr lang="en-US" dirty="0"/>
              <a:t> is similar in all groups</a:t>
            </a:r>
          </a:p>
          <a:p>
            <a:pPr marL="514350" indent="-514350">
              <a:buFont typeface="+mj-lt"/>
              <a:buAutoNum type="arabicPeriod"/>
            </a:pPr>
            <a:r>
              <a:rPr lang="en-US" u="sng" dirty="0"/>
              <a:t>Individual fairness</a:t>
            </a:r>
            <a:r>
              <a:rPr lang="en-US" dirty="0"/>
              <a:t>: The model makes </a:t>
            </a:r>
            <a:r>
              <a:rPr lang="en-US" i="1" dirty="0"/>
              <a:t>similar predictions </a:t>
            </a:r>
            <a:r>
              <a:rPr lang="en-US" dirty="0"/>
              <a:t>for similar individuals regardless of group status</a:t>
            </a:r>
          </a:p>
          <a:p>
            <a:pPr marL="0" indent="0">
              <a:buNone/>
            </a:pPr>
            <a:endParaRPr lang="en-US" dirty="0"/>
          </a:p>
          <a:p>
            <a:pPr marL="0" indent="0">
              <a:buNone/>
            </a:pPr>
            <a:r>
              <a:rPr lang="en-US" dirty="0"/>
              <a:t>Except under special (&amp; not realistic) circumstances, (1) – (4) are mutually exclusive.</a:t>
            </a:r>
          </a:p>
        </p:txBody>
      </p:sp>
    </p:spTree>
    <p:extLst>
      <p:ext uri="{BB962C8B-B14F-4D97-AF65-F5344CB8AC3E}">
        <p14:creationId xmlns:p14="http://schemas.microsoft.com/office/powerpoint/2010/main" val="2724225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1709-E213-2786-50C6-04D888E030A4}"/>
              </a:ext>
            </a:extLst>
          </p:cNvPr>
          <p:cNvSpPr>
            <a:spLocks noGrp="1"/>
          </p:cNvSpPr>
          <p:nvPr>
            <p:ph type="title"/>
          </p:nvPr>
        </p:nvSpPr>
        <p:spPr/>
        <p:txBody>
          <a:bodyPr/>
          <a:lstStyle/>
          <a:p>
            <a:r>
              <a:rPr lang="en-US" dirty="0"/>
              <a:t>Zooming in on </a:t>
            </a:r>
            <a:r>
              <a:rPr lang="en-US" i="1" dirty="0"/>
              <a:t>Independence</a:t>
            </a:r>
            <a:endParaRPr lang="en-US" dirty="0"/>
          </a:p>
        </p:txBody>
      </p:sp>
      <p:sp>
        <p:nvSpPr>
          <p:cNvPr id="3" name="Content Placeholder 2">
            <a:extLst>
              <a:ext uri="{FF2B5EF4-FFF2-40B4-BE49-F238E27FC236}">
                <a16:creationId xmlns:a16="http://schemas.microsoft.com/office/drawing/2014/main" id="{95543002-EB35-123D-21DC-897D2B7386A1}"/>
              </a:ext>
            </a:extLst>
          </p:cNvPr>
          <p:cNvSpPr>
            <a:spLocks noGrp="1"/>
          </p:cNvSpPr>
          <p:nvPr>
            <p:ph idx="1"/>
          </p:nvPr>
        </p:nvSpPr>
        <p:spPr>
          <a:xfrm>
            <a:off x="838200" y="1825625"/>
            <a:ext cx="3615466" cy="4351338"/>
          </a:xfrm>
        </p:spPr>
        <p:txBody>
          <a:bodyPr>
            <a:normAutofit lnSpcReduction="10000"/>
          </a:bodyPr>
          <a:lstStyle/>
          <a:p>
            <a:pPr marL="0" indent="0">
              <a:buNone/>
            </a:pPr>
            <a:r>
              <a:rPr lang="en-US" dirty="0"/>
              <a:t>Model predictions are independent of group status.</a:t>
            </a:r>
          </a:p>
          <a:p>
            <a:pPr marL="0" indent="0">
              <a:buNone/>
            </a:pPr>
            <a:endParaRPr lang="en-US" dirty="0"/>
          </a:p>
          <a:p>
            <a:pPr marL="0" indent="0">
              <a:buNone/>
            </a:pPr>
            <a:r>
              <a:rPr lang="en-US" dirty="0"/>
              <a:t>This implies that the distribution of model predictions is the same in each group.</a:t>
            </a:r>
          </a:p>
          <a:p>
            <a:pPr marL="0" indent="0">
              <a:buNone/>
            </a:pPr>
            <a:endParaRPr lang="en-US" dirty="0"/>
          </a:p>
          <a:p>
            <a:pPr marL="0" indent="0">
              <a:buNone/>
            </a:pPr>
            <a:r>
              <a:rPr lang="en-US" dirty="0"/>
              <a:t>Is this </a:t>
            </a:r>
            <a:r>
              <a:rPr lang="en-US" b="1" dirty="0"/>
              <a:t>fair</a:t>
            </a:r>
            <a:r>
              <a:rPr lang="en-US" dirty="0"/>
              <a:t>?</a:t>
            </a:r>
          </a:p>
        </p:txBody>
      </p:sp>
      <p:pic>
        <p:nvPicPr>
          <p:cNvPr id="4" name="Picture 3">
            <a:extLst>
              <a:ext uri="{FF2B5EF4-FFF2-40B4-BE49-F238E27FC236}">
                <a16:creationId xmlns:a16="http://schemas.microsoft.com/office/drawing/2014/main" id="{AA3AFE9E-8092-5D7C-DEB3-0041151E4811}"/>
              </a:ext>
            </a:extLst>
          </p:cNvPr>
          <p:cNvPicPr>
            <a:picLocks noChangeAspect="1"/>
          </p:cNvPicPr>
          <p:nvPr/>
        </p:nvPicPr>
        <p:blipFill>
          <a:blip r:embed="rId3"/>
          <a:stretch>
            <a:fillRect/>
          </a:stretch>
        </p:blipFill>
        <p:spPr>
          <a:xfrm>
            <a:off x="5088367" y="1328626"/>
            <a:ext cx="6647329" cy="4985497"/>
          </a:xfrm>
          <a:prstGeom prst="rect">
            <a:avLst/>
          </a:prstGeom>
        </p:spPr>
      </p:pic>
      <p:sp>
        <p:nvSpPr>
          <p:cNvPr id="5" name="TextBox 4">
            <a:extLst>
              <a:ext uri="{FF2B5EF4-FFF2-40B4-BE49-F238E27FC236}">
                <a16:creationId xmlns:a16="http://schemas.microsoft.com/office/drawing/2014/main" id="{47C5A11C-50E4-B816-F59F-E792C06AED14}"/>
              </a:ext>
            </a:extLst>
          </p:cNvPr>
          <p:cNvSpPr txBox="1"/>
          <p:nvPr/>
        </p:nvSpPr>
        <p:spPr>
          <a:xfrm>
            <a:off x="6884894" y="5807631"/>
            <a:ext cx="3288785" cy="369332"/>
          </a:xfrm>
          <a:prstGeom prst="rect">
            <a:avLst/>
          </a:prstGeom>
          <a:solidFill>
            <a:schemeClr val="bg1"/>
          </a:solidFill>
        </p:spPr>
        <p:txBody>
          <a:bodyPr wrap="none" rtlCol="0">
            <a:spAutoFit/>
          </a:bodyPr>
          <a:lstStyle/>
          <a:p>
            <a:r>
              <a:rPr lang="en-US" dirty="0"/>
              <a:t>Black		             White</a:t>
            </a:r>
          </a:p>
        </p:txBody>
      </p:sp>
    </p:spTree>
    <p:extLst>
      <p:ext uri="{BB962C8B-B14F-4D97-AF65-F5344CB8AC3E}">
        <p14:creationId xmlns:p14="http://schemas.microsoft.com/office/powerpoint/2010/main" val="225116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AD58F-9B44-064B-AAAB-DFDEECCACD9B}"/>
              </a:ext>
            </a:extLst>
          </p:cNvPr>
          <p:cNvSpPr>
            <a:spLocks noGrp="1"/>
          </p:cNvSpPr>
          <p:nvPr>
            <p:ph type="title"/>
          </p:nvPr>
        </p:nvSpPr>
        <p:spPr/>
        <p:txBody>
          <a:bodyPr/>
          <a:lstStyle/>
          <a:p>
            <a:r>
              <a:rPr lang="en-US" dirty="0"/>
              <a:t>Zooming in on </a:t>
            </a:r>
            <a:r>
              <a:rPr lang="en-US" i="1" dirty="0"/>
              <a:t>Separation</a:t>
            </a:r>
            <a:endParaRPr lang="en-US" i="1" u="sng" dirty="0"/>
          </a:p>
        </p:txBody>
      </p:sp>
      <p:pic>
        <p:nvPicPr>
          <p:cNvPr id="4" name="Picture 3">
            <a:extLst>
              <a:ext uri="{FF2B5EF4-FFF2-40B4-BE49-F238E27FC236}">
                <a16:creationId xmlns:a16="http://schemas.microsoft.com/office/drawing/2014/main" id="{5EE3EF44-9716-F8F9-2FE4-B998DD264BCC}"/>
              </a:ext>
            </a:extLst>
          </p:cNvPr>
          <p:cNvPicPr>
            <a:picLocks noChangeAspect="1"/>
          </p:cNvPicPr>
          <p:nvPr/>
        </p:nvPicPr>
        <p:blipFill>
          <a:blip r:embed="rId3"/>
          <a:stretch>
            <a:fillRect/>
          </a:stretch>
        </p:blipFill>
        <p:spPr>
          <a:xfrm>
            <a:off x="5120641" y="1286129"/>
            <a:ext cx="6521112" cy="4890834"/>
          </a:xfrm>
          <a:prstGeom prst="rect">
            <a:avLst/>
          </a:prstGeom>
        </p:spPr>
      </p:pic>
      <p:sp>
        <p:nvSpPr>
          <p:cNvPr id="7" name="Content Placeholder 2">
            <a:extLst>
              <a:ext uri="{FF2B5EF4-FFF2-40B4-BE49-F238E27FC236}">
                <a16:creationId xmlns:a16="http://schemas.microsoft.com/office/drawing/2014/main" id="{9AE2BA42-256B-72DC-79C9-BD98ECDE065A}"/>
              </a:ext>
            </a:extLst>
          </p:cNvPr>
          <p:cNvSpPr txBox="1">
            <a:spLocks/>
          </p:cNvSpPr>
          <p:nvPr/>
        </p:nvSpPr>
        <p:spPr>
          <a:xfrm>
            <a:off x="838200" y="1825625"/>
            <a:ext cx="3615466"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Model predictions are independent of group status </a:t>
            </a:r>
            <a:r>
              <a:rPr lang="en-US" i="1" dirty="0"/>
              <a:t>after conditioning on the outcome</a:t>
            </a:r>
            <a:r>
              <a:rPr lang="en-US" dirty="0"/>
              <a:t>.</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This implies when considering individuals </a:t>
            </a:r>
            <a:r>
              <a:rPr lang="en-US" i="1" dirty="0"/>
              <a:t>with the same outcome</a:t>
            </a:r>
            <a:r>
              <a:rPr lang="en-US" dirty="0"/>
              <a:t>, the distribution of model predictions is the same in each group.</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Is this </a:t>
            </a:r>
            <a:r>
              <a:rPr lang="en-US" b="1" dirty="0"/>
              <a:t>fair</a:t>
            </a:r>
            <a:r>
              <a:rPr lang="en-US" dirty="0"/>
              <a:t>?</a:t>
            </a:r>
          </a:p>
        </p:txBody>
      </p:sp>
      <p:sp>
        <p:nvSpPr>
          <p:cNvPr id="8" name="TextBox 7">
            <a:extLst>
              <a:ext uri="{FF2B5EF4-FFF2-40B4-BE49-F238E27FC236}">
                <a16:creationId xmlns:a16="http://schemas.microsoft.com/office/drawing/2014/main" id="{0BDACEBA-4A77-3921-FD43-5A239CA3216C}"/>
              </a:ext>
            </a:extLst>
          </p:cNvPr>
          <p:cNvSpPr txBox="1"/>
          <p:nvPr/>
        </p:nvSpPr>
        <p:spPr>
          <a:xfrm>
            <a:off x="6282465" y="5678540"/>
            <a:ext cx="1995162" cy="369332"/>
          </a:xfrm>
          <a:prstGeom prst="rect">
            <a:avLst/>
          </a:prstGeom>
          <a:solidFill>
            <a:schemeClr val="bg1"/>
          </a:solidFill>
        </p:spPr>
        <p:txBody>
          <a:bodyPr wrap="none" rtlCol="0">
            <a:spAutoFit/>
          </a:bodyPr>
          <a:lstStyle/>
          <a:p>
            <a:r>
              <a:rPr lang="en-US" dirty="0"/>
              <a:t>Black	     White</a:t>
            </a:r>
          </a:p>
        </p:txBody>
      </p:sp>
      <p:sp>
        <p:nvSpPr>
          <p:cNvPr id="9" name="TextBox 8">
            <a:extLst>
              <a:ext uri="{FF2B5EF4-FFF2-40B4-BE49-F238E27FC236}">
                <a16:creationId xmlns:a16="http://schemas.microsoft.com/office/drawing/2014/main" id="{BD2423AC-58D0-D02D-AC6E-3AA01504F378}"/>
              </a:ext>
            </a:extLst>
          </p:cNvPr>
          <p:cNvSpPr txBox="1"/>
          <p:nvPr/>
        </p:nvSpPr>
        <p:spPr>
          <a:xfrm>
            <a:off x="8736107" y="5678540"/>
            <a:ext cx="1995162" cy="369332"/>
          </a:xfrm>
          <a:prstGeom prst="rect">
            <a:avLst/>
          </a:prstGeom>
          <a:solidFill>
            <a:schemeClr val="bg1"/>
          </a:solidFill>
        </p:spPr>
        <p:txBody>
          <a:bodyPr wrap="none" rtlCol="0">
            <a:spAutoFit/>
          </a:bodyPr>
          <a:lstStyle/>
          <a:p>
            <a:r>
              <a:rPr lang="en-US" dirty="0"/>
              <a:t>Black	     White</a:t>
            </a:r>
          </a:p>
        </p:txBody>
      </p:sp>
      <p:sp>
        <p:nvSpPr>
          <p:cNvPr id="10" name="TextBox 9">
            <a:extLst>
              <a:ext uri="{FF2B5EF4-FFF2-40B4-BE49-F238E27FC236}">
                <a16:creationId xmlns:a16="http://schemas.microsoft.com/office/drawing/2014/main" id="{7919E035-18B3-0505-5677-805DF8EDFBFD}"/>
              </a:ext>
            </a:extLst>
          </p:cNvPr>
          <p:cNvSpPr txBox="1"/>
          <p:nvPr/>
        </p:nvSpPr>
        <p:spPr>
          <a:xfrm>
            <a:off x="8595043" y="6168647"/>
            <a:ext cx="2277290" cy="369332"/>
          </a:xfrm>
          <a:prstGeom prst="rect">
            <a:avLst/>
          </a:prstGeom>
          <a:solidFill>
            <a:schemeClr val="bg1"/>
          </a:solidFill>
        </p:spPr>
        <p:txBody>
          <a:bodyPr wrap="none" rtlCol="0">
            <a:spAutoFit/>
          </a:bodyPr>
          <a:lstStyle/>
          <a:p>
            <a:r>
              <a:rPr lang="en-US" dirty="0"/>
              <a:t>Progressed to Stage IV</a:t>
            </a:r>
          </a:p>
        </p:txBody>
      </p:sp>
      <p:sp>
        <p:nvSpPr>
          <p:cNvPr id="11" name="TextBox 10">
            <a:extLst>
              <a:ext uri="{FF2B5EF4-FFF2-40B4-BE49-F238E27FC236}">
                <a16:creationId xmlns:a16="http://schemas.microsoft.com/office/drawing/2014/main" id="{16A1B713-627D-971D-B5E2-7D33B850B7DF}"/>
              </a:ext>
            </a:extLst>
          </p:cNvPr>
          <p:cNvSpPr txBox="1"/>
          <p:nvPr/>
        </p:nvSpPr>
        <p:spPr>
          <a:xfrm>
            <a:off x="6416828" y="6176963"/>
            <a:ext cx="1726435" cy="369332"/>
          </a:xfrm>
          <a:prstGeom prst="rect">
            <a:avLst/>
          </a:prstGeom>
          <a:solidFill>
            <a:schemeClr val="bg1"/>
          </a:solidFill>
        </p:spPr>
        <p:txBody>
          <a:bodyPr wrap="none" rtlCol="0">
            <a:spAutoFit/>
          </a:bodyPr>
          <a:lstStyle/>
          <a:p>
            <a:r>
              <a:rPr lang="en-US" dirty="0"/>
              <a:t>Did not Progress</a:t>
            </a:r>
          </a:p>
        </p:txBody>
      </p:sp>
    </p:spTree>
    <p:extLst>
      <p:ext uri="{BB962C8B-B14F-4D97-AF65-F5344CB8AC3E}">
        <p14:creationId xmlns:p14="http://schemas.microsoft.com/office/powerpoint/2010/main" val="2472656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5F6B3-B4C1-1228-EE35-E12A043D0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89E54-9CB1-C71F-6AC9-B37D1F7A986C}"/>
              </a:ext>
            </a:extLst>
          </p:cNvPr>
          <p:cNvSpPr>
            <a:spLocks noGrp="1"/>
          </p:cNvSpPr>
          <p:nvPr>
            <p:ph type="title"/>
          </p:nvPr>
        </p:nvSpPr>
        <p:spPr/>
        <p:txBody>
          <a:bodyPr/>
          <a:lstStyle/>
          <a:p>
            <a:r>
              <a:rPr lang="en-US" dirty="0"/>
              <a:t>Possible definitions of algorithmic fairness</a:t>
            </a:r>
          </a:p>
        </p:txBody>
      </p:sp>
      <p:sp>
        <p:nvSpPr>
          <p:cNvPr id="3" name="Content Placeholder 2">
            <a:extLst>
              <a:ext uri="{FF2B5EF4-FFF2-40B4-BE49-F238E27FC236}">
                <a16:creationId xmlns:a16="http://schemas.microsoft.com/office/drawing/2014/main" id="{1D97178D-59B1-2750-EDEA-FB9FE4325AC0}"/>
              </a:ext>
            </a:extLst>
          </p:cNvPr>
          <p:cNvSpPr>
            <a:spLocks noGrp="1"/>
          </p:cNvSpPr>
          <p:nvPr>
            <p:ph idx="1"/>
          </p:nvPr>
        </p:nvSpPr>
        <p:spPr/>
        <p:txBody>
          <a:bodyPr>
            <a:normAutofit fontScale="92500" lnSpcReduction="20000"/>
          </a:bodyPr>
          <a:lstStyle/>
          <a:p>
            <a:pPr marL="0" indent="0">
              <a:buNone/>
            </a:pPr>
            <a:r>
              <a:rPr lang="en-US" dirty="0"/>
              <a:t>Consider whether predictions are fair between two groups A and B.</a:t>
            </a:r>
          </a:p>
          <a:p>
            <a:pPr marL="514350" indent="-514350">
              <a:buFont typeface="+mj-lt"/>
              <a:buAutoNum type="arabicPeriod"/>
            </a:pPr>
            <a:endParaRPr lang="en-US" u="sng" dirty="0"/>
          </a:p>
          <a:p>
            <a:pPr marL="514350" indent="-514350">
              <a:buFont typeface="+mj-lt"/>
              <a:buAutoNum type="arabicPeriod"/>
            </a:pPr>
            <a:r>
              <a:rPr lang="en-US" u="sng" dirty="0"/>
              <a:t>Blindness</a:t>
            </a:r>
            <a:r>
              <a:rPr lang="en-US" dirty="0"/>
              <a:t>: The model </a:t>
            </a:r>
            <a:r>
              <a:rPr lang="en-US" i="1" dirty="0"/>
              <a:t>cannot see </a:t>
            </a:r>
            <a:r>
              <a:rPr lang="en-US" dirty="0"/>
              <a:t>group status</a:t>
            </a:r>
          </a:p>
          <a:p>
            <a:pPr marL="514350" indent="-514350">
              <a:buFont typeface="+mj-lt"/>
              <a:buAutoNum type="arabicPeriod"/>
            </a:pPr>
            <a:r>
              <a:rPr lang="en-US" u="sng" dirty="0"/>
              <a:t>Independence</a:t>
            </a:r>
            <a:r>
              <a:rPr lang="en-US" dirty="0"/>
              <a:t>: Model predictions are </a:t>
            </a:r>
            <a:r>
              <a:rPr lang="en-US" i="1" dirty="0"/>
              <a:t>independent</a:t>
            </a:r>
            <a:r>
              <a:rPr lang="en-US" dirty="0"/>
              <a:t> of group status</a:t>
            </a:r>
          </a:p>
          <a:p>
            <a:pPr marL="514350" indent="-514350">
              <a:buFont typeface="+mj-lt"/>
              <a:buAutoNum type="arabicPeriod"/>
            </a:pPr>
            <a:r>
              <a:rPr lang="en-US" u="sng" dirty="0"/>
              <a:t>Separation</a:t>
            </a:r>
            <a:r>
              <a:rPr lang="en-US" dirty="0"/>
              <a:t>: Model </a:t>
            </a:r>
            <a:r>
              <a:rPr lang="en-US" i="1" dirty="0"/>
              <a:t>performance</a:t>
            </a:r>
            <a:r>
              <a:rPr lang="en-US" dirty="0"/>
              <a:t> is similar in all groups</a:t>
            </a:r>
          </a:p>
          <a:p>
            <a:pPr marL="514350" indent="-514350">
              <a:buFont typeface="+mj-lt"/>
              <a:buAutoNum type="arabicPeriod"/>
            </a:pPr>
            <a:r>
              <a:rPr lang="en-US" u="sng" dirty="0"/>
              <a:t>Individual fairness</a:t>
            </a:r>
            <a:r>
              <a:rPr lang="en-US" dirty="0"/>
              <a:t>: The model makes </a:t>
            </a:r>
            <a:r>
              <a:rPr lang="en-US" i="1" dirty="0"/>
              <a:t>similar predictions </a:t>
            </a:r>
            <a:r>
              <a:rPr lang="en-US" dirty="0"/>
              <a:t>for similar individuals regardless of group status</a:t>
            </a:r>
          </a:p>
          <a:p>
            <a:pPr marL="514350" indent="-514350">
              <a:buFont typeface="+mj-lt"/>
              <a:buAutoNum type="arabicPeriod"/>
            </a:pPr>
            <a:r>
              <a:rPr lang="en-US" u="sng" dirty="0">
                <a:solidFill>
                  <a:srgbClr val="FF0000"/>
                </a:solidFill>
              </a:rPr>
              <a:t>Calibration</a:t>
            </a:r>
            <a:r>
              <a:rPr lang="en-US" dirty="0">
                <a:solidFill>
                  <a:srgbClr val="FF0000"/>
                </a:solidFill>
              </a:rPr>
              <a:t>: model calibration is equally good in both groups (?)</a:t>
            </a:r>
          </a:p>
          <a:p>
            <a:pPr marL="0" indent="0">
              <a:buNone/>
            </a:pPr>
            <a:endParaRPr lang="en-US" dirty="0"/>
          </a:p>
          <a:p>
            <a:pPr marL="0" indent="0">
              <a:buNone/>
            </a:pPr>
            <a:r>
              <a:rPr lang="en-US" dirty="0"/>
              <a:t>Except under special (&amp; not realistic) circumstances, (1) – (4) are mutually exclusive.</a:t>
            </a:r>
          </a:p>
        </p:txBody>
      </p:sp>
    </p:spTree>
    <p:extLst>
      <p:ext uri="{BB962C8B-B14F-4D97-AF65-F5344CB8AC3E}">
        <p14:creationId xmlns:p14="http://schemas.microsoft.com/office/powerpoint/2010/main" val="1960324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A6F17-E257-A947-CA44-A6EE3C7E304D}"/>
              </a:ext>
            </a:extLst>
          </p:cNvPr>
          <p:cNvSpPr>
            <a:spLocks noGrp="1"/>
          </p:cNvSpPr>
          <p:nvPr>
            <p:ph type="title"/>
          </p:nvPr>
        </p:nvSpPr>
        <p:spPr/>
        <p:txBody>
          <a:bodyPr/>
          <a:lstStyle/>
          <a:p>
            <a:r>
              <a:rPr lang="en-US" dirty="0"/>
              <a:t>Assessing calibration</a:t>
            </a:r>
          </a:p>
        </p:txBody>
      </p:sp>
      <p:sp>
        <p:nvSpPr>
          <p:cNvPr id="3" name="Text Placeholder 2">
            <a:extLst>
              <a:ext uri="{FF2B5EF4-FFF2-40B4-BE49-F238E27FC236}">
                <a16:creationId xmlns:a16="http://schemas.microsoft.com/office/drawing/2014/main" id="{A8BF88D8-67D7-1993-B320-724BA80E1E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08991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2649A04-F8A2-084D-A266-0B4A75C3E4AE}"/>
              </a:ext>
            </a:extLst>
          </p:cNvPr>
          <p:cNvSpPr>
            <a:spLocks noGrp="1"/>
          </p:cNvSpPr>
          <p:nvPr>
            <p:ph type="title"/>
          </p:nvPr>
        </p:nvSpPr>
        <p:spPr>
          <a:xfrm>
            <a:off x="838200" y="149637"/>
            <a:ext cx="10515600" cy="708780"/>
          </a:xfrm>
        </p:spPr>
        <p:txBody>
          <a:bodyPr/>
          <a:lstStyle/>
          <a:p>
            <a:pPr algn="ctr"/>
            <a:r>
              <a:rPr lang="en-US" dirty="0"/>
              <a:t>Assess Calibration Graphically</a:t>
            </a:r>
          </a:p>
        </p:txBody>
      </p:sp>
      <p:pic>
        <p:nvPicPr>
          <p:cNvPr id="8" name="Picture 7" descr="Chart&#10;&#10;Description automatically generated">
            <a:extLst>
              <a:ext uri="{FF2B5EF4-FFF2-40B4-BE49-F238E27FC236}">
                <a16:creationId xmlns:a16="http://schemas.microsoft.com/office/drawing/2014/main" id="{1BEE1F8E-A2F2-AE4E-B68D-765147F091DE}"/>
              </a:ext>
            </a:extLst>
          </p:cNvPr>
          <p:cNvPicPr>
            <a:picLocks noChangeAspect="1"/>
          </p:cNvPicPr>
          <p:nvPr/>
        </p:nvPicPr>
        <p:blipFill>
          <a:blip r:embed="rId3"/>
          <a:stretch>
            <a:fillRect/>
          </a:stretch>
        </p:blipFill>
        <p:spPr>
          <a:xfrm>
            <a:off x="1782147" y="858417"/>
            <a:ext cx="8627706" cy="5931548"/>
          </a:xfrm>
          <a:prstGeom prst="rect">
            <a:avLst/>
          </a:prstGeom>
        </p:spPr>
      </p:pic>
    </p:spTree>
    <p:extLst>
      <p:ext uri="{BB962C8B-B14F-4D97-AF65-F5344CB8AC3E}">
        <p14:creationId xmlns:p14="http://schemas.microsoft.com/office/powerpoint/2010/main" val="4095541759"/>
      </p:ext>
    </p:extLst>
  </p:cSld>
  <p:clrMapOvr>
    <a:masterClrMapping/>
  </p:clrMapOvr>
  <mc:AlternateContent xmlns:mc="http://schemas.openxmlformats.org/markup-compatibility/2006" xmlns:p14="http://schemas.microsoft.com/office/powerpoint/2010/main">
    <mc:Choice Requires="p14">
      <p:transition spd="slow" p14:dur="2000" advTm="34676"/>
    </mc:Choice>
    <mc:Fallback xmlns="">
      <p:transition spd="slow" advTm="34676"/>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2649A04-F8A2-084D-A266-0B4A75C3E4AE}"/>
              </a:ext>
            </a:extLst>
          </p:cNvPr>
          <p:cNvSpPr>
            <a:spLocks noGrp="1"/>
          </p:cNvSpPr>
          <p:nvPr>
            <p:ph type="title"/>
          </p:nvPr>
        </p:nvSpPr>
        <p:spPr>
          <a:xfrm>
            <a:off x="838200" y="149637"/>
            <a:ext cx="10515600" cy="708780"/>
          </a:xfrm>
        </p:spPr>
        <p:txBody>
          <a:bodyPr/>
          <a:lstStyle/>
          <a:p>
            <a:pPr algn="ctr"/>
            <a:r>
              <a:rPr lang="en-US" dirty="0"/>
              <a:t>Assess Calibration Graphically</a:t>
            </a:r>
          </a:p>
        </p:txBody>
      </p:sp>
      <p:pic>
        <p:nvPicPr>
          <p:cNvPr id="1026" name="Picture 2">
            <a:extLst>
              <a:ext uri="{FF2B5EF4-FFF2-40B4-BE49-F238E27FC236}">
                <a16:creationId xmlns:a16="http://schemas.microsoft.com/office/drawing/2014/main" id="{DEB54F1B-38FD-ED4A-8B3B-18DB4AC32956}"/>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b="33872"/>
          <a:stretch/>
        </p:blipFill>
        <p:spPr bwMode="auto">
          <a:xfrm>
            <a:off x="2276280" y="909735"/>
            <a:ext cx="7639439" cy="505177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10441EC-85CD-7E48-AE41-49756E206968}"/>
              </a:ext>
            </a:extLst>
          </p:cNvPr>
          <p:cNvSpPr/>
          <p:nvPr/>
        </p:nvSpPr>
        <p:spPr>
          <a:xfrm>
            <a:off x="4063455" y="5961506"/>
            <a:ext cx="4065087" cy="830997"/>
          </a:xfrm>
          <a:prstGeom prst="rect">
            <a:avLst/>
          </a:prstGeom>
        </p:spPr>
        <p:txBody>
          <a:bodyPr wrap="none">
            <a:spAutoFit/>
          </a:bodyPr>
          <a:lstStyle/>
          <a:p>
            <a:pPr algn="ctr"/>
            <a:r>
              <a:rPr lang="en-US" dirty="0"/>
              <a:t>Model-Predicted Risk</a:t>
            </a:r>
          </a:p>
          <a:p>
            <a:endParaRPr lang="en-US" dirty="0"/>
          </a:p>
          <a:p>
            <a:r>
              <a:rPr lang="en-US" sz="1200" dirty="0"/>
              <a:t>From: https://scikit-</a:t>
            </a:r>
            <a:r>
              <a:rPr lang="en-US" sz="1200" dirty="0" err="1"/>
              <a:t>learn.org</a:t>
            </a:r>
            <a:r>
              <a:rPr lang="en-US" sz="1200" dirty="0"/>
              <a:t>/stable/modules/</a:t>
            </a:r>
            <a:r>
              <a:rPr lang="en-US" sz="1200" dirty="0" err="1"/>
              <a:t>calibration.html</a:t>
            </a:r>
            <a:endParaRPr lang="en-US" sz="1200" dirty="0"/>
          </a:p>
        </p:txBody>
      </p:sp>
    </p:spTree>
    <p:extLst>
      <p:ext uri="{BB962C8B-B14F-4D97-AF65-F5344CB8AC3E}">
        <p14:creationId xmlns:p14="http://schemas.microsoft.com/office/powerpoint/2010/main" val="3081975133"/>
      </p:ext>
    </p:extLst>
  </p:cSld>
  <p:clrMapOvr>
    <a:masterClrMapping/>
  </p:clrMapOvr>
  <mc:AlternateContent xmlns:mc="http://schemas.openxmlformats.org/markup-compatibility/2006" xmlns:p14="http://schemas.microsoft.com/office/powerpoint/2010/main">
    <mc:Choice Requires="p14">
      <p:transition spd="slow" p14:dur="2000" advTm="11792"/>
    </mc:Choice>
    <mc:Fallback xmlns="">
      <p:transition spd="slow" advTm="1179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0897D-420D-7A7D-4252-4C60CDCE8554}"/>
              </a:ext>
            </a:extLst>
          </p:cNvPr>
          <p:cNvSpPr>
            <a:spLocks noGrp="1"/>
          </p:cNvSpPr>
          <p:nvPr>
            <p:ph type="title"/>
          </p:nvPr>
        </p:nvSpPr>
        <p:spPr/>
        <p:txBody>
          <a:bodyPr/>
          <a:lstStyle/>
          <a:p>
            <a:r>
              <a:rPr lang="en-US" dirty="0"/>
              <a:t>Specific calibration metrics</a:t>
            </a:r>
          </a:p>
        </p:txBody>
      </p:sp>
      <p:sp>
        <p:nvSpPr>
          <p:cNvPr id="3" name="Content Placeholder 2">
            <a:extLst>
              <a:ext uri="{FF2B5EF4-FFF2-40B4-BE49-F238E27FC236}">
                <a16:creationId xmlns:a16="http://schemas.microsoft.com/office/drawing/2014/main" id="{E3F601EC-66DE-5CD0-7B95-6DD422F144EF}"/>
              </a:ext>
            </a:extLst>
          </p:cNvPr>
          <p:cNvSpPr>
            <a:spLocks noGrp="1"/>
          </p:cNvSpPr>
          <p:nvPr>
            <p:ph idx="1"/>
          </p:nvPr>
        </p:nvSpPr>
        <p:spPr>
          <a:xfrm>
            <a:off x="838200" y="1520825"/>
            <a:ext cx="5003800" cy="4351338"/>
          </a:xfrm>
        </p:spPr>
        <p:txBody>
          <a:bodyPr/>
          <a:lstStyle/>
          <a:p>
            <a:r>
              <a:rPr lang="en-US" sz="2400" dirty="0"/>
              <a:t>Quantile-based calibration slope and intercept</a:t>
            </a:r>
          </a:p>
          <a:p>
            <a:pPr lvl="1"/>
            <a:r>
              <a:rPr lang="en-US" sz="2000" dirty="0"/>
              <a:t>Associated Hosmer-</a:t>
            </a:r>
            <a:r>
              <a:rPr lang="en-US" sz="2000" dirty="0" err="1"/>
              <a:t>Lemeshow</a:t>
            </a:r>
            <a:r>
              <a:rPr lang="en-US" sz="2000" dirty="0"/>
              <a:t> test statistic</a:t>
            </a:r>
          </a:p>
          <a:p>
            <a:pPr lvl="1"/>
            <a:r>
              <a:rPr lang="en-US" sz="2000" dirty="0"/>
              <a:t>Limitation: sensitive to bin width</a:t>
            </a:r>
          </a:p>
          <a:p>
            <a:pPr lvl="1"/>
            <a:endParaRPr lang="en-US" sz="2000" dirty="0"/>
          </a:p>
          <a:p>
            <a:r>
              <a:rPr lang="en-US" sz="2400" dirty="0"/>
              <a:t>Expected calibration error (ECE)</a:t>
            </a:r>
          </a:p>
          <a:p>
            <a:pPr lvl="1"/>
            <a:r>
              <a:rPr lang="en-US" sz="2000" dirty="0"/>
              <a:t>Also sensitive to bin width</a:t>
            </a:r>
          </a:p>
          <a:p>
            <a:pPr lvl="1"/>
            <a:endParaRPr lang="en-US" sz="2000" dirty="0"/>
          </a:p>
          <a:p>
            <a:r>
              <a:rPr lang="en-US" sz="2400" dirty="0"/>
              <a:t>Regression-based calibration slope and intercept</a:t>
            </a:r>
          </a:p>
          <a:p>
            <a:pPr lvl="1"/>
            <a:r>
              <a:rPr lang="en-US" sz="2000" dirty="0"/>
              <a:t>i.e. calibration in the large, calibration slope</a:t>
            </a:r>
          </a:p>
          <a:p>
            <a:pPr lvl="1"/>
            <a:r>
              <a:rPr lang="en-US" sz="2000" dirty="0"/>
              <a:t>Often the favored approach</a:t>
            </a:r>
          </a:p>
          <a:p>
            <a:endParaRPr lang="en-US" sz="2400" dirty="0"/>
          </a:p>
          <a:p>
            <a:pPr marL="0" indent="0">
              <a:buNone/>
            </a:pPr>
            <a:endParaRPr lang="en-US" sz="2400" dirty="0"/>
          </a:p>
          <a:p>
            <a:endParaRPr lang="en-US" sz="2400" dirty="0"/>
          </a:p>
          <a:p>
            <a:endParaRPr lang="en-US" sz="2400" dirty="0"/>
          </a:p>
        </p:txBody>
      </p:sp>
      <p:pic>
        <p:nvPicPr>
          <p:cNvPr id="7" name="Picture 6">
            <a:extLst>
              <a:ext uri="{FF2B5EF4-FFF2-40B4-BE49-F238E27FC236}">
                <a16:creationId xmlns:a16="http://schemas.microsoft.com/office/drawing/2014/main" id="{4D3D1B97-045A-1AAF-36E8-284D0648EE6C}"/>
              </a:ext>
            </a:extLst>
          </p:cNvPr>
          <p:cNvPicPr>
            <a:picLocks noChangeAspect="1"/>
          </p:cNvPicPr>
          <p:nvPr/>
        </p:nvPicPr>
        <p:blipFill>
          <a:blip r:embed="rId2"/>
          <a:stretch>
            <a:fillRect/>
          </a:stretch>
        </p:blipFill>
        <p:spPr>
          <a:xfrm>
            <a:off x="6794500" y="2798683"/>
            <a:ext cx="5003800" cy="2175033"/>
          </a:xfrm>
          <a:prstGeom prst="rect">
            <a:avLst/>
          </a:prstGeom>
        </p:spPr>
      </p:pic>
      <p:cxnSp>
        <p:nvCxnSpPr>
          <p:cNvPr id="9" name="Straight Arrow Connector 8">
            <a:extLst>
              <a:ext uri="{FF2B5EF4-FFF2-40B4-BE49-F238E27FC236}">
                <a16:creationId xmlns:a16="http://schemas.microsoft.com/office/drawing/2014/main" id="{04EE29FD-F41C-544A-4D35-8AF5331B83D9}"/>
              </a:ext>
            </a:extLst>
          </p:cNvPr>
          <p:cNvCxnSpPr/>
          <p:nvPr/>
        </p:nvCxnSpPr>
        <p:spPr>
          <a:xfrm>
            <a:off x="5473700" y="3886200"/>
            <a:ext cx="107950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71491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BE0F1-8DBA-97E9-3EEA-0453D4A6CB98}"/>
              </a:ext>
            </a:extLst>
          </p:cNvPr>
          <p:cNvSpPr>
            <a:spLocks noGrp="1"/>
          </p:cNvSpPr>
          <p:nvPr>
            <p:ph type="title"/>
          </p:nvPr>
        </p:nvSpPr>
        <p:spPr/>
        <p:txBody>
          <a:bodyPr/>
          <a:lstStyle/>
          <a:p>
            <a:r>
              <a:rPr lang="en-US" dirty="0"/>
              <a:t>Class balance</a:t>
            </a:r>
          </a:p>
        </p:txBody>
      </p:sp>
      <p:sp>
        <p:nvSpPr>
          <p:cNvPr id="3" name="Text Placeholder 2">
            <a:extLst>
              <a:ext uri="{FF2B5EF4-FFF2-40B4-BE49-F238E27FC236}">
                <a16:creationId xmlns:a16="http://schemas.microsoft.com/office/drawing/2014/main" id="{DFF578C3-445E-C36B-DD54-1086752871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21711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AC6C6-A2E5-D9E0-7F6F-F2B737A2B9DD}"/>
              </a:ext>
            </a:extLst>
          </p:cNvPr>
          <p:cNvSpPr>
            <a:spLocks noGrp="1"/>
          </p:cNvSpPr>
          <p:nvPr>
            <p:ph type="title"/>
          </p:nvPr>
        </p:nvSpPr>
        <p:spPr/>
        <p:txBody>
          <a:bodyPr/>
          <a:lstStyle/>
          <a:p>
            <a:r>
              <a:rPr lang="en-US" dirty="0"/>
              <a:t>In health AI, we rarely have </a:t>
            </a:r>
            <a:r>
              <a:rPr lang="en-US" i="1" dirty="0"/>
              <a:t>balanced</a:t>
            </a:r>
            <a:r>
              <a:rPr lang="en-US" dirty="0"/>
              <a:t> classes</a:t>
            </a:r>
          </a:p>
        </p:txBody>
      </p:sp>
      <p:sp>
        <p:nvSpPr>
          <p:cNvPr id="3" name="Content Placeholder 2">
            <a:extLst>
              <a:ext uri="{FF2B5EF4-FFF2-40B4-BE49-F238E27FC236}">
                <a16:creationId xmlns:a16="http://schemas.microsoft.com/office/drawing/2014/main" id="{DB87E016-33DF-BE0E-9EDF-077A54CCDF69}"/>
              </a:ext>
            </a:extLst>
          </p:cNvPr>
          <p:cNvSpPr>
            <a:spLocks noGrp="1"/>
          </p:cNvSpPr>
          <p:nvPr>
            <p:ph idx="1"/>
          </p:nvPr>
        </p:nvSpPr>
        <p:spPr>
          <a:xfrm>
            <a:off x="5770984" y="1509713"/>
            <a:ext cx="5643465" cy="4351338"/>
          </a:xfrm>
        </p:spPr>
        <p:txBody>
          <a:bodyPr/>
          <a:lstStyle/>
          <a:p>
            <a:pPr marL="0" indent="0" algn="ctr">
              <a:buNone/>
            </a:pPr>
            <a:r>
              <a:rPr lang="en-US" dirty="0"/>
              <a:t>Mortality prediction</a:t>
            </a:r>
          </a:p>
        </p:txBody>
      </p:sp>
      <p:pic>
        <p:nvPicPr>
          <p:cNvPr id="1026" name="Picture 2" descr="Figure 1 is a line graph illustrating the number of deaths per 1,000 hospital admissions for acute myocardial infarction, congestive heart failure, stroke, and pneumonia from 2002 to 2012.">
            <a:extLst>
              <a:ext uri="{FF2B5EF4-FFF2-40B4-BE49-F238E27FC236}">
                <a16:creationId xmlns:a16="http://schemas.microsoft.com/office/drawing/2014/main" id="{06CD6A51-9E3F-9F09-9ABA-C539E861E7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1009" y="2426532"/>
            <a:ext cx="5183414" cy="3964743"/>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6B7C509-58FB-5411-A1FB-F078803CCDC2}"/>
              </a:ext>
            </a:extLst>
          </p:cNvPr>
          <p:cNvSpPr txBox="1">
            <a:spLocks/>
          </p:cNvSpPr>
          <p:nvPr/>
        </p:nvSpPr>
        <p:spPr>
          <a:xfrm>
            <a:off x="838200" y="1509713"/>
            <a:ext cx="4993433"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	Diagnosis prediction</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ADHD: 1 in 10</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Autism: 1 in 31</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CF: 1 in 4000</a:t>
            </a:r>
          </a:p>
          <a:p>
            <a:pPr marL="0" indent="0">
              <a:buFont typeface="Arial" panose="020B0604020202020204" pitchFamily="34" charset="0"/>
              <a:buNone/>
            </a:pPr>
            <a:endParaRPr lang="en-US" dirty="0"/>
          </a:p>
          <a:p>
            <a:pPr marL="0" indent="0">
              <a:buNone/>
            </a:pPr>
            <a:r>
              <a:rPr lang="en-US" dirty="0"/>
              <a:t>Fibrodysplasia ossificans progressiva (FOP): 1 in 1.5M</a:t>
            </a:r>
          </a:p>
        </p:txBody>
      </p:sp>
    </p:spTree>
    <p:extLst>
      <p:ext uri="{BB962C8B-B14F-4D97-AF65-F5344CB8AC3E}">
        <p14:creationId xmlns:p14="http://schemas.microsoft.com/office/powerpoint/2010/main" val="1278906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548F5-F861-AA18-75C0-2A9EC34DE46C}"/>
              </a:ext>
            </a:extLst>
          </p:cNvPr>
          <p:cNvSpPr>
            <a:spLocks noGrp="1"/>
          </p:cNvSpPr>
          <p:nvPr>
            <p:ph type="title"/>
          </p:nvPr>
        </p:nvSpPr>
        <p:spPr>
          <a:xfrm>
            <a:off x="838200" y="365125"/>
            <a:ext cx="10858500" cy="1325563"/>
          </a:xfrm>
        </p:spPr>
        <p:txBody>
          <a:bodyPr/>
          <a:lstStyle/>
          <a:p>
            <a:r>
              <a:rPr lang="en-US" dirty="0"/>
              <a:t>Assessing calibration for imbalanced problems</a:t>
            </a:r>
          </a:p>
        </p:txBody>
      </p:sp>
      <p:pic>
        <p:nvPicPr>
          <p:cNvPr id="4" name="Picture 3">
            <a:extLst>
              <a:ext uri="{FF2B5EF4-FFF2-40B4-BE49-F238E27FC236}">
                <a16:creationId xmlns:a16="http://schemas.microsoft.com/office/drawing/2014/main" id="{AD497128-6333-A76D-2649-5812FA4FDCAA}"/>
              </a:ext>
            </a:extLst>
          </p:cNvPr>
          <p:cNvPicPr>
            <a:picLocks noChangeAspect="1"/>
          </p:cNvPicPr>
          <p:nvPr/>
        </p:nvPicPr>
        <p:blipFill>
          <a:blip r:embed="rId2"/>
          <a:stretch>
            <a:fillRect/>
          </a:stretch>
        </p:blipFill>
        <p:spPr>
          <a:xfrm>
            <a:off x="1503362" y="1425893"/>
            <a:ext cx="9185275" cy="3674110"/>
          </a:xfrm>
          <a:prstGeom prst="rect">
            <a:avLst/>
          </a:prstGeom>
        </p:spPr>
      </p:pic>
      <p:sp>
        <p:nvSpPr>
          <p:cNvPr id="5" name="TextBox 4">
            <a:extLst>
              <a:ext uri="{FF2B5EF4-FFF2-40B4-BE49-F238E27FC236}">
                <a16:creationId xmlns:a16="http://schemas.microsoft.com/office/drawing/2014/main" id="{F3DE0385-0B29-F6BB-1718-B23C595C0D9D}"/>
              </a:ext>
            </a:extLst>
          </p:cNvPr>
          <p:cNvSpPr txBox="1"/>
          <p:nvPr/>
        </p:nvSpPr>
        <p:spPr>
          <a:xfrm>
            <a:off x="1536898" y="5432107"/>
            <a:ext cx="9118202" cy="923330"/>
          </a:xfrm>
          <a:prstGeom prst="rect">
            <a:avLst/>
          </a:prstGeom>
          <a:noFill/>
        </p:spPr>
        <p:txBody>
          <a:bodyPr wrap="none" rtlCol="0">
            <a:spAutoFit/>
          </a:bodyPr>
          <a:lstStyle/>
          <a:p>
            <a:pPr marL="285750" indent="-285750">
              <a:buFontTx/>
              <a:buChar char="-"/>
            </a:pPr>
            <a:r>
              <a:rPr lang="en-US" dirty="0"/>
              <a:t>Predicted probabilities tend to be close to 0</a:t>
            </a:r>
          </a:p>
          <a:p>
            <a:pPr marL="285750" indent="-285750">
              <a:buFontTx/>
              <a:buChar char="-"/>
            </a:pPr>
            <a:r>
              <a:rPr lang="en-US" dirty="0"/>
              <a:t>Must use quantile-based bins</a:t>
            </a:r>
          </a:p>
          <a:p>
            <a:pPr marL="285750" indent="-285750">
              <a:buFontTx/>
              <a:buChar char="-"/>
            </a:pPr>
            <a:r>
              <a:rPr lang="en-US" dirty="0">
                <a:latin typeface="Consolas" panose="020B0609020204030204" pitchFamily="49" charset="0"/>
                <a:cs typeface="Consolas" panose="020B0609020204030204" pitchFamily="49" charset="0"/>
              </a:rPr>
              <a:t>strategy=‘quantile’ </a:t>
            </a:r>
            <a:r>
              <a:rPr lang="en-US" dirty="0">
                <a:cs typeface="Consolas" panose="020B0609020204030204" pitchFamily="49" charset="0"/>
              </a:rPr>
              <a:t>when using </a:t>
            </a:r>
            <a:r>
              <a:rPr lang="en-US" dirty="0" err="1">
                <a:latin typeface="Consolas" panose="020B0609020204030204" pitchFamily="49" charset="0"/>
                <a:cs typeface="Consolas" panose="020B0609020204030204" pitchFamily="49" charset="0"/>
              </a:rPr>
              <a:t>calibration_curve</a:t>
            </a:r>
            <a:r>
              <a:rPr lang="en-US" dirty="0">
                <a:latin typeface="Consolas" panose="020B0609020204030204" pitchFamily="49" charset="0"/>
                <a:cs typeface="Consolas" panose="020B0609020204030204" pitchFamily="49" charset="0"/>
              </a:rPr>
              <a:t> </a:t>
            </a:r>
            <a:r>
              <a:rPr lang="en-US" dirty="0">
                <a:cs typeface="Consolas" panose="020B0609020204030204" pitchFamily="49" charset="0"/>
              </a:rPr>
              <a:t>in</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sklearn.calibration</a:t>
            </a:r>
            <a:endParaRPr lang="en-US" dirty="0">
              <a:cs typeface="Consolas" panose="020B0609020204030204" pitchFamily="49" charset="0"/>
            </a:endParaRPr>
          </a:p>
        </p:txBody>
      </p:sp>
    </p:spTree>
    <p:extLst>
      <p:ext uri="{BB962C8B-B14F-4D97-AF65-F5344CB8AC3E}">
        <p14:creationId xmlns:p14="http://schemas.microsoft.com/office/powerpoint/2010/main" val="2740105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3374-0238-D22C-F5AC-B4C5BC58D75F}"/>
              </a:ext>
            </a:extLst>
          </p:cNvPr>
          <p:cNvSpPr>
            <a:spLocks noGrp="1"/>
          </p:cNvSpPr>
          <p:nvPr>
            <p:ph type="title"/>
          </p:nvPr>
        </p:nvSpPr>
        <p:spPr>
          <a:xfrm>
            <a:off x="838200" y="365125"/>
            <a:ext cx="11036300" cy="1325563"/>
          </a:xfrm>
        </p:spPr>
        <p:txBody>
          <a:bodyPr/>
          <a:lstStyle/>
          <a:p>
            <a:r>
              <a:rPr lang="en-US" dirty="0"/>
              <a:t>Common techniques for imbalanced problems</a:t>
            </a:r>
          </a:p>
        </p:txBody>
      </p:sp>
      <p:sp>
        <p:nvSpPr>
          <p:cNvPr id="3" name="Content Placeholder 2">
            <a:extLst>
              <a:ext uri="{FF2B5EF4-FFF2-40B4-BE49-F238E27FC236}">
                <a16:creationId xmlns:a16="http://schemas.microsoft.com/office/drawing/2014/main" id="{1A9E55C6-B262-EB50-CAC6-666D0CF4DA2E}"/>
              </a:ext>
            </a:extLst>
          </p:cNvPr>
          <p:cNvSpPr>
            <a:spLocks noGrp="1"/>
          </p:cNvSpPr>
          <p:nvPr>
            <p:ph idx="1"/>
          </p:nvPr>
        </p:nvSpPr>
        <p:spPr>
          <a:xfrm>
            <a:off x="838200" y="2118049"/>
            <a:ext cx="4592216" cy="4058914"/>
          </a:xfrm>
        </p:spPr>
        <p:txBody>
          <a:bodyPr/>
          <a:lstStyle/>
          <a:p>
            <a:r>
              <a:rPr lang="en-US" sz="2000" dirty="0"/>
              <a:t>Over-/under-sampling</a:t>
            </a:r>
          </a:p>
          <a:p>
            <a:r>
              <a:rPr lang="en-US" sz="2000" dirty="0"/>
              <a:t>Weighting the loss</a:t>
            </a:r>
          </a:p>
          <a:p>
            <a:r>
              <a:rPr lang="en-US" sz="2000" dirty="0"/>
              <a:t>Synthetic data approaches, notably SMOTE</a:t>
            </a:r>
          </a:p>
          <a:p>
            <a:endParaRPr lang="en-US" sz="2000" dirty="0"/>
          </a:p>
          <a:p>
            <a:r>
              <a:rPr lang="en-US" sz="2000" dirty="0"/>
              <a:t>What has been your experience with such techniques?</a:t>
            </a:r>
          </a:p>
          <a:p>
            <a:endParaRPr lang="en-US" sz="2000" dirty="0"/>
          </a:p>
          <a:p>
            <a:r>
              <a:rPr lang="en-US" sz="2000" dirty="0"/>
              <a:t>Consider: gradient-based updates in mini-batches</a:t>
            </a:r>
          </a:p>
          <a:p>
            <a:r>
              <a:rPr lang="en-US" sz="2000" dirty="0"/>
              <a:t>Consider: effects on calibration</a:t>
            </a:r>
          </a:p>
        </p:txBody>
      </p:sp>
      <p:pic>
        <p:nvPicPr>
          <p:cNvPr id="7" name="Picture 6">
            <a:extLst>
              <a:ext uri="{FF2B5EF4-FFF2-40B4-BE49-F238E27FC236}">
                <a16:creationId xmlns:a16="http://schemas.microsoft.com/office/drawing/2014/main" id="{FC59C15B-AC30-5F61-41A1-DB441908168D}"/>
              </a:ext>
            </a:extLst>
          </p:cNvPr>
          <p:cNvPicPr>
            <a:picLocks noChangeAspect="1"/>
          </p:cNvPicPr>
          <p:nvPr/>
        </p:nvPicPr>
        <p:blipFill>
          <a:blip r:embed="rId3"/>
          <a:srcRect t="196" b="1"/>
          <a:stretch>
            <a:fillRect/>
          </a:stretch>
        </p:blipFill>
        <p:spPr>
          <a:xfrm>
            <a:off x="6300756" y="1463920"/>
            <a:ext cx="4846820" cy="4259358"/>
          </a:xfrm>
          <a:prstGeom prst="rect">
            <a:avLst/>
          </a:prstGeom>
        </p:spPr>
      </p:pic>
      <p:sp>
        <p:nvSpPr>
          <p:cNvPr id="9" name="TextBox 8">
            <a:extLst>
              <a:ext uri="{FF2B5EF4-FFF2-40B4-BE49-F238E27FC236}">
                <a16:creationId xmlns:a16="http://schemas.microsoft.com/office/drawing/2014/main" id="{4D9F02A4-E1DF-CAA5-6420-A697C53E55E8}"/>
              </a:ext>
            </a:extLst>
          </p:cNvPr>
          <p:cNvSpPr txBox="1"/>
          <p:nvPr/>
        </p:nvSpPr>
        <p:spPr>
          <a:xfrm>
            <a:off x="5883384" y="5918357"/>
            <a:ext cx="5681564" cy="707886"/>
          </a:xfrm>
          <a:prstGeom prst="rect">
            <a:avLst/>
          </a:prstGeom>
          <a:noFill/>
        </p:spPr>
        <p:txBody>
          <a:bodyPr wrap="square">
            <a:spAutoFit/>
          </a:bodyPr>
          <a:lstStyle/>
          <a:p>
            <a:r>
              <a:rPr lang="en-US" sz="1000" b="0" i="0" u="none" strike="noStrike" dirty="0">
                <a:solidFill>
                  <a:srgbClr val="2A2A2A"/>
                </a:solidFill>
                <a:effectLst/>
                <a:latin typeface="Source Sans Pro" panose="020B0503030403020204" pitchFamily="34" charset="0"/>
              </a:rPr>
              <a:t>Ruben van den </a:t>
            </a:r>
            <a:r>
              <a:rPr lang="en-US" sz="1000" b="0" i="0" u="none" strike="noStrike" dirty="0" err="1">
                <a:solidFill>
                  <a:srgbClr val="2A2A2A"/>
                </a:solidFill>
                <a:effectLst/>
                <a:latin typeface="Source Sans Pro" panose="020B0503030403020204" pitchFamily="34" charset="0"/>
              </a:rPr>
              <a:t>Goorbergh</a:t>
            </a:r>
            <a:r>
              <a:rPr lang="en-US" sz="1000" b="0" i="0" u="none" strike="noStrike" dirty="0">
                <a:solidFill>
                  <a:srgbClr val="2A2A2A"/>
                </a:solidFill>
                <a:effectLst/>
                <a:latin typeface="Source Sans Pro" panose="020B0503030403020204" pitchFamily="34" charset="0"/>
              </a:rPr>
              <a:t>, Maarten van Smeden, Dirk Timmerman, Ben Van </a:t>
            </a:r>
            <a:r>
              <a:rPr lang="en-US" sz="1000" b="0" i="0" u="none" strike="noStrike" dirty="0" err="1">
                <a:solidFill>
                  <a:srgbClr val="2A2A2A"/>
                </a:solidFill>
                <a:effectLst/>
                <a:latin typeface="Source Sans Pro" panose="020B0503030403020204" pitchFamily="34" charset="0"/>
              </a:rPr>
              <a:t>Calster</a:t>
            </a:r>
            <a:r>
              <a:rPr lang="en-US" sz="1000" b="0" i="0" u="none" strike="noStrike" dirty="0">
                <a:solidFill>
                  <a:srgbClr val="2A2A2A"/>
                </a:solidFill>
                <a:effectLst/>
                <a:latin typeface="Source Sans Pro" panose="020B0503030403020204" pitchFamily="34" charset="0"/>
              </a:rPr>
              <a:t>, The harm of class imbalance corrections for risk prediction models: illustration and simulation using logistic regression, </a:t>
            </a:r>
            <a:r>
              <a:rPr lang="en-US" sz="1000" b="0" i="1" u="none" strike="noStrike" dirty="0">
                <a:solidFill>
                  <a:srgbClr val="2A2A2A"/>
                </a:solidFill>
                <a:effectLst/>
                <a:latin typeface="Source Sans Pro" panose="020B0503030403020204" pitchFamily="34" charset="0"/>
              </a:rPr>
              <a:t>Journal of the American Medical Informatics Association</a:t>
            </a:r>
            <a:r>
              <a:rPr lang="en-US" sz="1000" b="0" i="0" u="none" strike="noStrike" dirty="0">
                <a:solidFill>
                  <a:srgbClr val="2A2A2A"/>
                </a:solidFill>
                <a:effectLst/>
                <a:latin typeface="Source Sans Pro" panose="020B0503030403020204" pitchFamily="34" charset="0"/>
              </a:rPr>
              <a:t>, Volume 29, Issue 9, September 2022, Pages 1525–1534, </a:t>
            </a:r>
            <a:r>
              <a:rPr lang="en-US" sz="1000" b="0" i="0" u="none" strike="noStrike" dirty="0">
                <a:solidFill>
                  <a:srgbClr val="006FB7"/>
                </a:solidFill>
                <a:effectLst/>
                <a:latin typeface="Source Sans Pro" panose="020B0503030403020204" pitchFamily="34" charset="0"/>
                <a:hlinkClick r:id="rId4"/>
              </a:rPr>
              <a:t>https://doi.org/10.1093/jamia/ocac093</a:t>
            </a:r>
            <a:endParaRPr lang="en-US" sz="1000" dirty="0"/>
          </a:p>
        </p:txBody>
      </p:sp>
    </p:spTree>
    <p:extLst>
      <p:ext uri="{BB962C8B-B14F-4D97-AF65-F5344CB8AC3E}">
        <p14:creationId xmlns:p14="http://schemas.microsoft.com/office/powerpoint/2010/main" val="2568917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B83C-D14E-F305-A97C-628B388E0DA1}"/>
              </a:ext>
            </a:extLst>
          </p:cNvPr>
          <p:cNvSpPr>
            <a:spLocks noGrp="1"/>
          </p:cNvSpPr>
          <p:nvPr>
            <p:ph type="title"/>
          </p:nvPr>
        </p:nvSpPr>
        <p:spPr/>
        <p:txBody>
          <a:bodyPr/>
          <a:lstStyle/>
          <a:p>
            <a:r>
              <a:rPr lang="en-US" dirty="0"/>
              <a:t>Activity today: calibration and class balance</a:t>
            </a:r>
          </a:p>
        </p:txBody>
      </p:sp>
      <p:sp>
        <p:nvSpPr>
          <p:cNvPr id="3" name="Content Placeholder 2">
            <a:extLst>
              <a:ext uri="{FF2B5EF4-FFF2-40B4-BE49-F238E27FC236}">
                <a16:creationId xmlns:a16="http://schemas.microsoft.com/office/drawing/2014/main" id="{F293DF15-992F-A19D-05E2-66E47BA571F1}"/>
              </a:ext>
            </a:extLst>
          </p:cNvPr>
          <p:cNvSpPr>
            <a:spLocks noGrp="1"/>
          </p:cNvSpPr>
          <p:nvPr>
            <p:ph idx="1"/>
          </p:nvPr>
        </p:nvSpPr>
        <p:spPr>
          <a:xfrm>
            <a:off x="838200" y="1461730"/>
            <a:ext cx="10515600" cy="4351338"/>
          </a:xfrm>
        </p:spPr>
        <p:txBody>
          <a:bodyPr/>
          <a:lstStyle/>
          <a:p>
            <a:r>
              <a:rPr lang="en-US" dirty="0"/>
              <a:t>Select a prediction task with imbalanced classes</a:t>
            </a:r>
          </a:p>
          <a:p>
            <a:endParaRPr lang="en-US" dirty="0"/>
          </a:p>
          <a:p>
            <a:r>
              <a:rPr lang="en-US" dirty="0"/>
              <a:t>Train a model of your choice without correcting class imbalance</a:t>
            </a:r>
          </a:p>
          <a:p>
            <a:pPr lvl="1"/>
            <a:r>
              <a:rPr lang="en-US" dirty="0"/>
              <a:t>Assess AUROC</a:t>
            </a:r>
          </a:p>
          <a:p>
            <a:pPr lvl="1"/>
            <a:r>
              <a:rPr lang="en-US" dirty="0"/>
              <a:t>Assess calibration</a:t>
            </a:r>
          </a:p>
          <a:p>
            <a:pPr lvl="1"/>
            <a:endParaRPr lang="en-US" dirty="0"/>
          </a:p>
          <a:p>
            <a:r>
              <a:rPr lang="en-US" dirty="0"/>
              <a:t>Correct class imbalance, then train again</a:t>
            </a:r>
          </a:p>
          <a:p>
            <a:pPr lvl="1"/>
            <a:r>
              <a:rPr lang="en-US" dirty="0"/>
              <a:t>Assess AUROC</a:t>
            </a:r>
          </a:p>
          <a:p>
            <a:pPr lvl="1"/>
            <a:r>
              <a:rPr lang="en-US" dirty="0"/>
              <a:t>Assess calibration</a:t>
            </a:r>
          </a:p>
          <a:p>
            <a:pPr lvl="1"/>
            <a:endParaRPr lang="en-US" dirty="0"/>
          </a:p>
          <a:p>
            <a:r>
              <a:rPr lang="en-US" dirty="0"/>
              <a:t>Two groups will share results</a:t>
            </a:r>
          </a:p>
          <a:p>
            <a:pPr lvl="1"/>
            <a:endParaRPr lang="en-US" dirty="0"/>
          </a:p>
        </p:txBody>
      </p:sp>
    </p:spTree>
    <p:extLst>
      <p:ext uri="{BB962C8B-B14F-4D97-AF65-F5344CB8AC3E}">
        <p14:creationId xmlns:p14="http://schemas.microsoft.com/office/powerpoint/2010/main" val="3758036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6419A-26CD-BEC1-C021-14F4826ECD42}"/>
              </a:ext>
            </a:extLst>
          </p:cNvPr>
          <p:cNvSpPr>
            <a:spLocks noGrp="1"/>
          </p:cNvSpPr>
          <p:nvPr>
            <p:ph type="title"/>
          </p:nvPr>
        </p:nvSpPr>
        <p:spPr/>
        <p:txBody>
          <a:bodyPr/>
          <a:lstStyle/>
          <a:p>
            <a:r>
              <a:rPr lang="en-US" dirty="0"/>
              <a:t>Post-hoc calibration techniques</a:t>
            </a:r>
          </a:p>
        </p:txBody>
      </p:sp>
      <p:sp>
        <p:nvSpPr>
          <p:cNvPr id="3" name="Text Placeholder 2">
            <a:extLst>
              <a:ext uri="{FF2B5EF4-FFF2-40B4-BE49-F238E27FC236}">
                <a16:creationId xmlns:a16="http://schemas.microsoft.com/office/drawing/2014/main" id="{FA9A5024-E8E3-A249-A723-C15D06AEDE8F}"/>
              </a:ext>
            </a:extLst>
          </p:cNvPr>
          <p:cNvSpPr>
            <a:spLocks noGrp="1"/>
          </p:cNvSpPr>
          <p:nvPr>
            <p:ph type="body" idx="1"/>
          </p:nvPr>
        </p:nvSpPr>
        <p:spPr/>
        <p:txBody>
          <a:bodyPr/>
          <a:lstStyle/>
          <a:p>
            <a:r>
              <a:rPr lang="en-US" dirty="0"/>
              <a:t>From simple to not so simple</a:t>
            </a:r>
          </a:p>
        </p:txBody>
      </p:sp>
    </p:spTree>
    <p:extLst>
      <p:ext uri="{BB962C8B-B14F-4D97-AF65-F5344CB8AC3E}">
        <p14:creationId xmlns:p14="http://schemas.microsoft.com/office/powerpoint/2010/main" val="4050528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2482C-7FD3-44F9-84D0-6302879D7574}"/>
              </a:ext>
            </a:extLst>
          </p:cNvPr>
          <p:cNvSpPr>
            <a:spLocks noGrp="1"/>
          </p:cNvSpPr>
          <p:nvPr>
            <p:ph type="title"/>
          </p:nvPr>
        </p:nvSpPr>
        <p:spPr/>
        <p:txBody>
          <a:bodyPr/>
          <a:lstStyle/>
          <a:p>
            <a:r>
              <a:rPr lang="en-US" dirty="0"/>
              <a:t>Temperature scaling: binary case</a:t>
            </a:r>
          </a:p>
        </p:txBody>
      </p:sp>
      <p:pic>
        <p:nvPicPr>
          <p:cNvPr id="5" name="Picture 4" descr="A graph of a temperature scale&#10;&#10;AI-generated content may be incorrect.">
            <a:extLst>
              <a:ext uri="{FF2B5EF4-FFF2-40B4-BE49-F238E27FC236}">
                <a16:creationId xmlns:a16="http://schemas.microsoft.com/office/drawing/2014/main" id="{9574F33D-4122-AF4B-0D3E-FC790DD8DE88}"/>
              </a:ext>
            </a:extLst>
          </p:cNvPr>
          <p:cNvPicPr>
            <a:picLocks noChangeAspect="1"/>
          </p:cNvPicPr>
          <p:nvPr/>
        </p:nvPicPr>
        <p:blipFill>
          <a:blip r:embed="rId2"/>
          <a:stretch>
            <a:fillRect/>
          </a:stretch>
        </p:blipFill>
        <p:spPr>
          <a:xfrm>
            <a:off x="5257800" y="1576388"/>
            <a:ext cx="5969000" cy="4476750"/>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29EF1ED1-AE84-08B2-9FF5-1418386CB551}"/>
                  </a:ext>
                </a:extLst>
              </p:cNvPr>
              <p:cNvSpPr txBox="1"/>
              <p:nvPr/>
            </p:nvSpPr>
            <p:spPr>
              <a:xfrm>
                <a:off x="838200" y="1690688"/>
                <a:ext cx="3873500" cy="3416320"/>
              </a:xfrm>
              <a:prstGeom prst="rect">
                <a:avLst/>
              </a:prstGeom>
              <a:noFill/>
            </p:spPr>
            <p:txBody>
              <a:bodyPr wrap="square" rtlCol="0">
                <a:spAutoFit/>
              </a:bodyPr>
              <a:lstStyle/>
              <a:p>
                <a:pPr marL="285750" indent="-285750">
                  <a:buFont typeface="Arial" panose="020B0604020202020204" pitchFamily="34" charset="0"/>
                  <a:buChar char="•"/>
                </a:pPr>
                <a:r>
                  <a:rPr lang="en-US" dirty="0"/>
                  <a:t>In the typical case, our model is overconfident, often due to overfitting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aim to reduce this by reducing the temperature </a:t>
                </a:r>
                <a14:m>
                  <m:oMath xmlns:m="http://schemas.openxmlformats.org/officeDocument/2006/math">
                    <m:r>
                      <a:rPr lang="en-US" b="0" i="1" smtClean="0">
                        <a:latin typeface="Cambria Math" panose="02040503050406030204" pitchFamily="18" charset="0"/>
                      </a:rPr>
                      <m:t>𝑇</m:t>
                    </m:r>
                  </m:oMath>
                </a14:m>
                <a:r>
                  <a:rPr lang="en-US" dirty="0"/>
                  <a:t> of the sigmoid function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Requires a calibration set</a:t>
                </a:r>
              </a:p>
              <a:p>
                <a:pPr marL="285750" indent="-285750">
                  <a:buFont typeface="Arial" panose="020B0604020202020204" pitchFamily="34" charset="0"/>
                  <a:buChar char="•"/>
                </a:pPr>
                <a:endParaRPr lang="en-US" dirty="0"/>
              </a:p>
              <a:p>
                <a:endParaRPr lang="en-US" dirty="0"/>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𝑇</m:t>
                      </m:r>
                      <m:r>
                        <a:rPr lang="en-US" i="1">
                          <a:latin typeface="Cambria Math" panose="02040503050406030204" pitchFamily="18" charset="0"/>
                        </a:rPr>
                        <m:t>)</m:t>
                      </m:r>
                    </m:oMath>
                  </m:oMathPara>
                </a14:m>
                <a:endParaRPr lang="en-US" dirty="0"/>
              </a:p>
            </p:txBody>
          </p:sp>
        </mc:Choice>
        <mc:Fallback>
          <p:sp>
            <p:nvSpPr>
              <p:cNvPr id="6" name="TextBox 5">
                <a:extLst>
                  <a:ext uri="{FF2B5EF4-FFF2-40B4-BE49-F238E27FC236}">
                    <a16:creationId xmlns:a16="http://schemas.microsoft.com/office/drawing/2014/main" id="{29EF1ED1-AE84-08B2-9FF5-1418386CB551}"/>
                  </a:ext>
                </a:extLst>
              </p:cNvPr>
              <p:cNvSpPr txBox="1">
                <a:spLocks noRot="1" noChangeAspect="1" noMove="1" noResize="1" noEditPoints="1" noAdjustHandles="1" noChangeArrowheads="1" noChangeShapeType="1" noTextEdit="1"/>
              </p:cNvSpPr>
              <p:nvPr/>
            </p:nvSpPr>
            <p:spPr>
              <a:xfrm>
                <a:off x="838200" y="1690688"/>
                <a:ext cx="3873500" cy="3416320"/>
              </a:xfrm>
              <a:prstGeom prst="rect">
                <a:avLst/>
              </a:prstGeom>
              <a:blipFill>
                <a:blip r:embed="rId3"/>
                <a:stretch>
                  <a:fillRect l="-1307" t="-369" b="-738"/>
                </a:stretch>
              </a:blipFill>
            </p:spPr>
            <p:txBody>
              <a:bodyPr/>
              <a:lstStyle/>
              <a:p>
                <a:r>
                  <a:rPr lang="en-US">
                    <a:noFill/>
                  </a:rPr>
                  <a:t> </a:t>
                </a:r>
              </a:p>
            </p:txBody>
          </p:sp>
        </mc:Fallback>
      </mc:AlternateContent>
    </p:spTree>
    <p:extLst>
      <p:ext uri="{BB962C8B-B14F-4D97-AF65-F5344CB8AC3E}">
        <p14:creationId xmlns:p14="http://schemas.microsoft.com/office/powerpoint/2010/main" val="26541209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C1A04-E876-2B2E-C9E0-5F509EDE8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AFE0D-D668-F7D8-2637-524219639B0C}"/>
              </a:ext>
            </a:extLst>
          </p:cNvPr>
          <p:cNvSpPr>
            <a:spLocks noGrp="1"/>
          </p:cNvSpPr>
          <p:nvPr>
            <p:ph type="title"/>
          </p:nvPr>
        </p:nvSpPr>
        <p:spPr/>
        <p:txBody>
          <a:bodyPr/>
          <a:lstStyle/>
          <a:p>
            <a:r>
              <a:rPr lang="en-US" dirty="0"/>
              <a:t>Temperature scaling: multi-class case</a:t>
            </a:r>
          </a:p>
        </p:txBody>
      </p:sp>
      <p:pic>
        <p:nvPicPr>
          <p:cNvPr id="4" name="Picture 3" descr="A graph with a bar&#10;&#10;AI-generated content may be incorrect.">
            <a:extLst>
              <a:ext uri="{FF2B5EF4-FFF2-40B4-BE49-F238E27FC236}">
                <a16:creationId xmlns:a16="http://schemas.microsoft.com/office/drawing/2014/main" id="{FF8A58BC-B112-9557-95EB-15E5034A77AA}"/>
              </a:ext>
            </a:extLst>
          </p:cNvPr>
          <p:cNvPicPr>
            <a:picLocks noChangeAspect="1"/>
          </p:cNvPicPr>
          <p:nvPr/>
        </p:nvPicPr>
        <p:blipFill>
          <a:blip r:embed="rId2"/>
          <a:stretch>
            <a:fillRect/>
          </a:stretch>
        </p:blipFill>
        <p:spPr>
          <a:xfrm>
            <a:off x="4622800" y="1444625"/>
            <a:ext cx="6731000" cy="5048250"/>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52C6E67A-333E-11B5-5DAC-28B7E9FABDB8}"/>
                  </a:ext>
                </a:extLst>
              </p:cNvPr>
              <p:cNvSpPr txBox="1"/>
              <p:nvPr/>
            </p:nvSpPr>
            <p:spPr>
              <a:xfrm>
                <a:off x="838200" y="1690688"/>
                <a:ext cx="3873500" cy="3416320"/>
              </a:xfrm>
              <a:prstGeom prst="rect">
                <a:avLst/>
              </a:prstGeom>
              <a:noFill/>
            </p:spPr>
            <p:txBody>
              <a:bodyPr wrap="square" rtlCol="0">
                <a:spAutoFit/>
              </a:bodyPr>
              <a:lstStyle/>
              <a:p>
                <a:pPr marL="285750" indent="-285750">
                  <a:buFont typeface="Arial" panose="020B0604020202020204" pitchFamily="34" charset="0"/>
                  <a:buChar char="•"/>
                </a:pPr>
                <a:r>
                  <a:rPr lang="en-US" dirty="0"/>
                  <a:t>In the typical case, our model is overconfident, often due to overfitting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aim to reduce this by reducing the temperature </a:t>
                </a:r>
                <a14:m>
                  <m:oMath xmlns:m="http://schemas.openxmlformats.org/officeDocument/2006/math">
                    <m:r>
                      <a:rPr lang="en-US" b="0" i="1" smtClean="0">
                        <a:latin typeface="Cambria Math" panose="02040503050406030204" pitchFamily="18" charset="0"/>
                      </a:rPr>
                      <m:t>𝑇</m:t>
                    </m:r>
                  </m:oMath>
                </a14:m>
                <a:r>
                  <a:rPr lang="en-US" dirty="0"/>
                  <a:t> of the sigmoid function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Requires a calibration set</a:t>
                </a:r>
              </a:p>
              <a:p>
                <a:pPr marL="285750" indent="-285750">
                  <a:buFont typeface="Arial" panose="020B0604020202020204" pitchFamily="34" charset="0"/>
                  <a:buChar char="•"/>
                </a:pPr>
                <a:endParaRPr lang="en-US" dirty="0"/>
              </a:p>
              <a:p>
                <a:endParaRPr lang="en-US" dirty="0"/>
              </a:p>
              <a:p>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softmax</m:t>
                      </m:r>
                      <m:r>
                        <a:rPr lang="en-US" b="0" i="1" smtClean="0">
                          <a:latin typeface="Cambria Math" panose="02040503050406030204" pitchFamily="18" charset="0"/>
                        </a:rPr>
                        <m:t>(</m:t>
                      </m:r>
                      <m:r>
                        <a:rPr lang="en-US" b="1" i="1" smtClean="0">
                          <a:latin typeface="Cambria Math" panose="02040503050406030204" pitchFamily="18" charset="0"/>
                        </a:rPr>
                        <m:t>𝒛</m:t>
                      </m:r>
                      <m:r>
                        <a:rPr lang="en-US" b="0" i="1" smtClean="0">
                          <a:latin typeface="Cambria Math" panose="02040503050406030204" pitchFamily="18" charset="0"/>
                        </a:rPr>
                        <m:t>/</m:t>
                      </m:r>
                      <m:r>
                        <a:rPr lang="en-US" b="0" i="1" smtClean="0">
                          <a:latin typeface="Cambria Math" panose="02040503050406030204" pitchFamily="18" charset="0"/>
                        </a:rPr>
                        <m:t>𝑇</m:t>
                      </m:r>
                      <m:r>
                        <a:rPr lang="en-US" i="1">
                          <a:latin typeface="Cambria Math" panose="02040503050406030204" pitchFamily="18" charset="0"/>
                        </a:rPr>
                        <m:t>)</m:t>
                      </m:r>
                    </m:oMath>
                  </m:oMathPara>
                </a14:m>
                <a:endParaRPr lang="en-US" dirty="0"/>
              </a:p>
            </p:txBody>
          </p:sp>
        </mc:Choice>
        <mc:Fallback>
          <p:sp>
            <p:nvSpPr>
              <p:cNvPr id="6" name="TextBox 5">
                <a:extLst>
                  <a:ext uri="{FF2B5EF4-FFF2-40B4-BE49-F238E27FC236}">
                    <a16:creationId xmlns:a16="http://schemas.microsoft.com/office/drawing/2014/main" id="{52C6E67A-333E-11B5-5DAC-28B7E9FABDB8}"/>
                  </a:ext>
                </a:extLst>
              </p:cNvPr>
              <p:cNvSpPr txBox="1">
                <a:spLocks noRot="1" noChangeAspect="1" noMove="1" noResize="1" noEditPoints="1" noAdjustHandles="1" noChangeArrowheads="1" noChangeShapeType="1" noTextEdit="1"/>
              </p:cNvSpPr>
              <p:nvPr/>
            </p:nvSpPr>
            <p:spPr>
              <a:xfrm>
                <a:off x="838200" y="1690688"/>
                <a:ext cx="3873500" cy="3416320"/>
              </a:xfrm>
              <a:prstGeom prst="rect">
                <a:avLst/>
              </a:prstGeom>
              <a:blipFill>
                <a:blip r:embed="rId3"/>
                <a:stretch>
                  <a:fillRect l="-1307" t="-369" b="-738"/>
                </a:stretch>
              </a:blipFill>
            </p:spPr>
            <p:txBody>
              <a:bodyPr/>
              <a:lstStyle/>
              <a:p>
                <a:r>
                  <a:rPr lang="en-US">
                    <a:noFill/>
                  </a:rPr>
                  <a:t> </a:t>
                </a:r>
              </a:p>
            </p:txBody>
          </p:sp>
        </mc:Fallback>
      </mc:AlternateContent>
    </p:spTree>
    <p:extLst>
      <p:ext uri="{BB962C8B-B14F-4D97-AF65-F5344CB8AC3E}">
        <p14:creationId xmlns:p14="http://schemas.microsoft.com/office/powerpoint/2010/main" val="3966991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288BA-4572-1BB8-D2FC-45C1305C2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090F6-BBA8-C86E-1B53-795DF137BDF9}"/>
              </a:ext>
            </a:extLst>
          </p:cNvPr>
          <p:cNvSpPr>
            <a:spLocks noGrp="1"/>
          </p:cNvSpPr>
          <p:nvPr>
            <p:ph type="title"/>
          </p:nvPr>
        </p:nvSpPr>
        <p:spPr/>
        <p:txBody>
          <a:bodyPr/>
          <a:lstStyle/>
          <a:p>
            <a:r>
              <a:rPr lang="en-US" dirty="0"/>
              <a:t>Temperature scaling: binary case</a:t>
            </a:r>
          </a:p>
        </p:txBody>
      </p:sp>
      <p:pic>
        <p:nvPicPr>
          <p:cNvPr id="3" name="Picture 2" descr="A comparison of a graph&#10;&#10;AI-generated content may be incorrect.">
            <a:extLst>
              <a:ext uri="{FF2B5EF4-FFF2-40B4-BE49-F238E27FC236}">
                <a16:creationId xmlns:a16="http://schemas.microsoft.com/office/drawing/2014/main" id="{9A124556-1BEF-3A6A-23F3-2871395A302B}"/>
              </a:ext>
            </a:extLst>
          </p:cNvPr>
          <p:cNvPicPr>
            <a:picLocks noChangeAspect="1"/>
          </p:cNvPicPr>
          <p:nvPr/>
        </p:nvPicPr>
        <p:blipFill>
          <a:blip r:embed="rId2"/>
          <a:stretch>
            <a:fillRect/>
          </a:stretch>
        </p:blipFill>
        <p:spPr>
          <a:xfrm>
            <a:off x="809625" y="1314450"/>
            <a:ext cx="10572750" cy="4229100"/>
          </a:xfrm>
          <a:prstGeom prst="rect">
            <a:avLst/>
          </a:prstGeom>
        </p:spPr>
      </p:pic>
      <p:sp>
        <p:nvSpPr>
          <p:cNvPr id="4" name="TextBox 3">
            <a:extLst>
              <a:ext uri="{FF2B5EF4-FFF2-40B4-BE49-F238E27FC236}">
                <a16:creationId xmlns:a16="http://schemas.microsoft.com/office/drawing/2014/main" id="{DEFDD2D0-F21C-4161-1BEE-BEDA1AE5D39D}"/>
              </a:ext>
            </a:extLst>
          </p:cNvPr>
          <p:cNvSpPr txBox="1"/>
          <p:nvPr/>
        </p:nvSpPr>
        <p:spPr>
          <a:xfrm>
            <a:off x="398286" y="5934670"/>
            <a:ext cx="11395427" cy="923330"/>
          </a:xfrm>
          <a:prstGeom prst="rect">
            <a:avLst/>
          </a:prstGeom>
          <a:noFill/>
        </p:spPr>
        <p:txBody>
          <a:bodyPr wrap="none" rtlCol="0">
            <a:spAutoFit/>
          </a:bodyPr>
          <a:lstStyle/>
          <a:p>
            <a:pPr marL="285750" indent="-285750">
              <a:buFont typeface="Arial" panose="020B0604020202020204" pitchFamily="34" charset="0"/>
              <a:buChar char="•"/>
            </a:pPr>
            <a:r>
              <a:rPr lang="en-US" dirty="0"/>
              <a:t>Overconfident (probabilities are too extreme) -&gt; calibrated -&gt; underconfident (probabilities are not extreme enough)</a:t>
            </a:r>
          </a:p>
          <a:p>
            <a:pPr marL="285750" indent="-285750">
              <a:buFont typeface="Arial" panose="020B0604020202020204" pitchFamily="34" charset="0"/>
              <a:buChar char="•"/>
            </a:pPr>
            <a:r>
              <a:rPr lang="en-US" dirty="0"/>
              <a:t>Reflected in the calibration slope</a:t>
            </a:r>
          </a:p>
          <a:p>
            <a:endParaRPr lang="en-US" dirty="0"/>
          </a:p>
        </p:txBody>
      </p:sp>
    </p:spTree>
    <p:extLst>
      <p:ext uri="{BB962C8B-B14F-4D97-AF65-F5344CB8AC3E}">
        <p14:creationId xmlns:p14="http://schemas.microsoft.com/office/powerpoint/2010/main" val="577337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F8C0E-BCFE-2718-23FE-A4DCC6D33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3D4CD8-4704-0B5B-6539-5A04263B6D0F}"/>
              </a:ext>
            </a:extLst>
          </p:cNvPr>
          <p:cNvSpPr>
            <a:spLocks noGrp="1"/>
          </p:cNvSpPr>
          <p:nvPr>
            <p:ph type="title"/>
          </p:nvPr>
        </p:nvSpPr>
        <p:spPr/>
        <p:txBody>
          <a:bodyPr/>
          <a:lstStyle/>
          <a:p>
            <a:r>
              <a:rPr lang="en-US" dirty="0"/>
              <a:t>Temperature scaling: binary case</a:t>
            </a:r>
          </a:p>
        </p:txBody>
      </p:sp>
      <p:pic>
        <p:nvPicPr>
          <p:cNvPr id="3" name="Picture 2" descr="A comparison of a graph&#10;&#10;AI-generated content may be incorrect.">
            <a:extLst>
              <a:ext uri="{FF2B5EF4-FFF2-40B4-BE49-F238E27FC236}">
                <a16:creationId xmlns:a16="http://schemas.microsoft.com/office/drawing/2014/main" id="{1F93927D-B7AF-813F-5BA3-1A0A2EFA0DE4}"/>
              </a:ext>
            </a:extLst>
          </p:cNvPr>
          <p:cNvPicPr>
            <a:picLocks noChangeAspect="1"/>
          </p:cNvPicPr>
          <p:nvPr/>
        </p:nvPicPr>
        <p:blipFill>
          <a:blip r:embed="rId3"/>
          <a:stretch>
            <a:fillRect/>
          </a:stretch>
        </p:blipFill>
        <p:spPr>
          <a:xfrm>
            <a:off x="809625" y="1314450"/>
            <a:ext cx="10572750" cy="4229100"/>
          </a:xfrm>
          <a:prstGeom prst="rect">
            <a:avLst/>
          </a:prstGeom>
        </p:spPr>
      </p:pic>
      <p:sp>
        <p:nvSpPr>
          <p:cNvPr id="4" name="TextBox 3">
            <a:extLst>
              <a:ext uri="{FF2B5EF4-FFF2-40B4-BE49-F238E27FC236}">
                <a16:creationId xmlns:a16="http://schemas.microsoft.com/office/drawing/2014/main" id="{8FD4A8B6-F371-70CF-BA1D-6A8D4B3F97BA}"/>
              </a:ext>
            </a:extLst>
          </p:cNvPr>
          <p:cNvSpPr txBox="1"/>
          <p:nvPr/>
        </p:nvSpPr>
        <p:spPr>
          <a:xfrm>
            <a:off x="398286" y="5934670"/>
            <a:ext cx="11395427" cy="923330"/>
          </a:xfrm>
          <a:prstGeom prst="rect">
            <a:avLst/>
          </a:prstGeom>
          <a:noFill/>
        </p:spPr>
        <p:txBody>
          <a:bodyPr wrap="none" rtlCol="0">
            <a:spAutoFit/>
          </a:bodyPr>
          <a:lstStyle/>
          <a:p>
            <a:pPr marL="285750" indent="-285750">
              <a:buFont typeface="Arial" panose="020B0604020202020204" pitchFamily="34" charset="0"/>
              <a:buChar char="•"/>
            </a:pPr>
            <a:r>
              <a:rPr lang="en-US" dirty="0"/>
              <a:t>Overconfident (probabilities are too extreme) -&gt; calibrated -&gt; underconfident (probabilities are not extreme enough)</a:t>
            </a:r>
          </a:p>
          <a:p>
            <a:pPr marL="285750" indent="-285750">
              <a:buFont typeface="Arial" panose="020B0604020202020204" pitchFamily="34" charset="0"/>
              <a:buChar char="•"/>
            </a:pPr>
            <a:r>
              <a:rPr lang="en-US" dirty="0">
                <a:solidFill>
                  <a:schemeClr val="accent6"/>
                </a:solidFill>
              </a:rPr>
              <a:t>Consider the effects of parameter shrinkage (e.g., L2 or L1 regularization)</a:t>
            </a:r>
          </a:p>
          <a:p>
            <a:endParaRPr lang="en-US" dirty="0"/>
          </a:p>
        </p:txBody>
      </p:sp>
    </p:spTree>
    <p:extLst>
      <p:ext uri="{BB962C8B-B14F-4D97-AF65-F5344CB8AC3E}">
        <p14:creationId xmlns:p14="http://schemas.microsoft.com/office/powerpoint/2010/main" val="1222191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4E0FD-F061-7C1B-6255-C7CFC3524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27F48-5DE9-120C-6547-E014F4D4361F}"/>
              </a:ext>
            </a:extLst>
          </p:cNvPr>
          <p:cNvSpPr>
            <a:spLocks noGrp="1"/>
          </p:cNvSpPr>
          <p:nvPr>
            <p:ph type="title"/>
          </p:nvPr>
        </p:nvSpPr>
        <p:spPr/>
        <p:txBody>
          <a:bodyPr/>
          <a:lstStyle/>
          <a:p>
            <a:r>
              <a:rPr lang="en-US" dirty="0"/>
              <a:t>Temperature scaling: binary case</a:t>
            </a:r>
          </a:p>
        </p:txBody>
      </p:sp>
      <p:sp>
        <p:nvSpPr>
          <p:cNvPr id="4" name="TextBox 3">
            <a:extLst>
              <a:ext uri="{FF2B5EF4-FFF2-40B4-BE49-F238E27FC236}">
                <a16:creationId xmlns:a16="http://schemas.microsoft.com/office/drawing/2014/main" id="{0E3A2A08-F6C7-CD27-D8F4-7529E19322B6}"/>
              </a:ext>
            </a:extLst>
          </p:cNvPr>
          <p:cNvSpPr txBox="1"/>
          <p:nvPr/>
        </p:nvSpPr>
        <p:spPr>
          <a:xfrm>
            <a:off x="398286" y="5934670"/>
            <a:ext cx="7815088" cy="923330"/>
          </a:xfrm>
          <a:prstGeom prst="rect">
            <a:avLst/>
          </a:prstGeom>
          <a:noFill/>
        </p:spPr>
        <p:txBody>
          <a:bodyPr wrap="none" rtlCol="0">
            <a:spAutoFit/>
          </a:bodyPr>
          <a:lstStyle/>
          <a:p>
            <a:pPr marL="285750" indent="-285750">
              <a:buFont typeface="Arial" panose="020B0604020202020204" pitchFamily="34" charset="0"/>
              <a:buChar char="•"/>
            </a:pPr>
            <a:r>
              <a:rPr lang="en-US" dirty="0"/>
              <a:t>Predicted probabilities too low -&gt; calibrated -&gt; predicted probabilities too high</a:t>
            </a:r>
          </a:p>
          <a:p>
            <a:pPr marL="285750" indent="-285750">
              <a:buFont typeface="Arial" panose="020B0604020202020204" pitchFamily="34" charset="0"/>
              <a:buChar char="•"/>
            </a:pPr>
            <a:r>
              <a:rPr lang="en-US" dirty="0"/>
              <a:t>Reflected in the calibration in the large</a:t>
            </a:r>
          </a:p>
          <a:p>
            <a:endParaRPr lang="en-US" dirty="0"/>
          </a:p>
        </p:txBody>
      </p:sp>
      <p:pic>
        <p:nvPicPr>
          <p:cNvPr id="6" name="Picture 5" descr="A comparison of a graph&#10;&#10;AI-generated content may be incorrect.">
            <a:extLst>
              <a:ext uri="{FF2B5EF4-FFF2-40B4-BE49-F238E27FC236}">
                <a16:creationId xmlns:a16="http://schemas.microsoft.com/office/drawing/2014/main" id="{C1A9B6C3-3194-AE05-7060-0DBB4B3E777D}"/>
              </a:ext>
            </a:extLst>
          </p:cNvPr>
          <p:cNvPicPr>
            <a:picLocks noChangeAspect="1"/>
          </p:cNvPicPr>
          <p:nvPr/>
        </p:nvPicPr>
        <p:blipFill>
          <a:blip r:embed="rId2"/>
          <a:stretch>
            <a:fillRect/>
          </a:stretch>
        </p:blipFill>
        <p:spPr>
          <a:xfrm>
            <a:off x="1238249" y="1485900"/>
            <a:ext cx="9715500" cy="3886200"/>
          </a:xfrm>
          <a:prstGeom prst="rect">
            <a:avLst/>
          </a:prstGeom>
        </p:spPr>
      </p:pic>
    </p:spTree>
    <p:extLst>
      <p:ext uri="{BB962C8B-B14F-4D97-AF65-F5344CB8AC3E}">
        <p14:creationId xmlns:p14="http://schemas.microsoft.com/office/powerpoint/2010/main" val="1091035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AE5CA-6E46-963F-4A59-A24110D96032}"/>
              </a:ext>
            </a:extLst>
          </p:cNvPr>
          <p:cNvSpPr>
            <a:spLocks noGrp="1"/>
          </p:cNvSpPr>
          <p:nvPr>
            <p:ph type="title"/>
          </p:nvPr>
        </p:nvSpPr>
        <p:spPr/>
        <p:txBody>
          <a:bodyPr/>
          <a:lstStyle/>
          <a:p>
            <a:r>
              <a:rPr lang="en-US" dirty="0"/>
              <a:t>Platt scaling</a:t>
            </a:r>
          </a:p>
        </p:txBody>
      </p:sp>
      <p:sp>
        <p:nvSpPr>
          <p:cNvPr id="3" name="Content Placeholder 2">
            <a:extLst>
              <a:ext uri="{FF2B5EF4-FFF2-40B4-BE49-F238E27FC236}">
                <a16:creationId xmlns:a16="http://schemas.microsoft.com/office/drawing/2014/main" id="{9A7938EF-4DAB-6231-06E3-1A779050B5DE}"/>
              </a:ext>
            </a:extLst>
          </p:cNvPr>
          <p:cNvSpPr>
            <a:spLocks noGrp="1"/>
          </p:cNvSpPr>
          <p:nvPr>
            <p:ph idx="1"/>
          </p:nvPr>
        </p:nvSpPr>
        <p:spPr/>
        <p:txBody>
          <a:bodyPr/>
          <a:lstStyle/>
          <a:p>
            <a:r>
              <a:rPr lang="en-US" dirty="0"/>
              <a:t>Fit a logistic regression model on your predicted probabilities</a:t>
            </a:r>
          </a:p>
          <a:p>
            <a:endParaRPr lang="en-US" dirty="0"/>
          </a:p>
          <a:p>
            <a:endParaRPr lang="en-US" dirty="0"/>
          </a:p>
          <a:p>
            <a:endParaRPr lang="en-US" dirty="0"/>
          </a:p>
          <a:p>
            <a:endParaRPr lang="en-US" dirty="0"/>
          </a:p>
          <a:p>
            <a:endParaRPr lang="en-US" dirty="0"/>
          </a:p>
          <a:p>
            <a:endParaRPr lang="en-US" dirty="0"/>
          </a:p>
          <a:p>
            <a:endParaRPr lang="en-US" dirty="0"/>
          </a:p>
          <a:p>
            <a:r>
              <a:rPr lang="en-US" dirty="0"/>
              <a:t>Or, a more flexible alternative: isotonic regression</a:t>
            </a:r>
          </a:p>
        </p:txBody>
      </p:sp>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1B8775A1-9712-D4FE-B430-E4D9C5248EC8}"/>
                  </a:ext>
                </a:extLst>
              </p:cNvPr>
              <p:cNvSpPr/>
              <p:nvPr/>
            </p:nvSpPr>
            <p:spPr>
              <a:xfrm>
                <a:off x="5008626" y="3403600"/>
                <a:ext cx="1826336" cy="18268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
                    </m:oMathParaPr>
                    <m:oMath xmlns:m="http://schemas.openxmlformats.org/officeDocument/2006/math">
                      <m:r>
                        <a:rPr lang="en-US" i="1" smtClean="0">
                          <a:solidFill>
                            <a:schemeClr val="tx1"/>
                          </a:solidFill>
                          <a:latin typeface="Cambria Math" panose="02040503050406030204" pitchFamily="18" charset="0"/>
                        </a:rPr>
                        <m:t>𝑤</m:t>
                      </m:r>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p:sp>
            <p:nvSpPr>
              <p:cNvPr id="7" name="Oval 6">
                <a:extLst>
                  <a:ext uri="{FF2B5EF4-FFF2-40B4-BE49-F238E27FC236}">
                    <a16:creationId xmlns:a16="http://schemas.microsoft.com/office/drawing/2014/main" id="{1B8775A1-9712-D4FE-B430-E4D9C5248EC8}"/>
                  </a:ext>
                </a:extLst>
              </p:cNvPr>
              <p:cNvSpPr>
                <a:spLocks noRot="1" noChangeAspect="1" noMove="1" noResize="1" noEditPoints="1" noAdjustHandles="1" noChangeArrowheads="1" noChangeShapeType="1" noTextEdit="1"/>
              </p:cNvSpPr>
              <p:nvPr/>
            </p:nvSpPr>
            <p:spPr>
              <a:xfrm>
                <a:off x="5008626" y="3403600"/>
                <a:ext cx="1826336" cy="1826860"/>
              </a:xfrm>
              <a:prstGeom prst="ellipse">
                <a:avLst/>
              </a:prstGeom>
              <a:blipFill>
                <a:blip r:embed="rId3"/>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E1CBB922-C7B7-92B1-4DB5-3C9517952D08}"/>
              </a:ext>
            </a:extLst>
          </p:cNvPr>
          <p:cNvCxnSpPr>
            <a:cxnSpLocks/>
            <a:endCxn id="7" idx="2"/>
          </p:cNvCxnSpPr>
          <p:nvPr/>
        </p:nvCxnSpPr>
        <p:spPr>
          <a:xfrm>
            <a:off x="3692518" y="4317030"/>
            <a:ext cx="13161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0B4D0E5-3374-2C45-EDA2-2E2CC3859062}"/>
                  </a:ext>
                </a:extLst>
              </p:cNvPr>
              <p:cNvSpPr txBox="1"/>
              <p:nvPr/>
            </p:nvSpPr>
            <p:spPr>
              <a:xfrm>
                <a:off x="3947329" y="3985338"/>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p:txBody>
          </p:sp>
        </mc:Choice>
        <mc:Fallback>
          <p:sp>
            <p:nvSpPr>
              <p:cNvPr id="11" name="TextBox 10">
                <a:extLst>
                  <a:ext uri="{FF2B5EF4-FFF2-40B4-BE49-F238E27FC236}">
                    <a16:creationId xmlns:a16="http://schemas.microsoft.com/office/drawing/2014/main" id="{C0B4D0E5-3374-2C45-EDA2-2E2CC3859062}"/>
                  </a:ext>
                </a:extLst>
              </p:cNvPr>
              <p:cNvSpPr txBox="1">
                <a:spLocks noRot="1" noChangeAspect="1" noMove="1" noResize="1" noEditPoints="1" noAdjustHandles="1" noChangeArrowheads="1" noChangeShapeType="1" noTextEdit="1"/>
              </p:cNvSpPr>
              <p:nvPr/>
            </p:nvSpPr>
            <p:spPr>
              <a:xfrm>
                <a:off x="3947329" y="3985338"/>
                <a:ext cx="834656" cy="276999"/>
              </a:xfrm>
              <a:prstGeom prst="rect">
                <a:avLst/>
              </a:prstGeom>
              <a:blipFill>
                <a:blip r:embed="rId4"/>
                <a:stretch>
                  <a:fillRect/>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BAA7B5D5-A276-872D-0AF4-7898F18B57BC}"/>
              </a:ext>
            </a:extLst>
          </p:cNvPr>
          <p:cNvGrpSpPr/>
          <p:nvPr/>
        </p:nvGrpSpPr>
        <p:grpSpPr>
          <a:xfrm>
            <a:off x="7288245" y="4082177"/>
            <a:ext cx="685800" cy="457200"/>
            <a:chOff x="8126236" y="3368737"/>
            <a:chExt cx="685800" cy="457200"/>
          </a:xfrm>
        </p:grpSpPr>
        <p:sp>
          <p:nvSpPr>
            <p:cNvPr id="14" name="Oval 13">
              <a:extLst>
                <a:ext uri="{FF2B5EF4-FFF2-40B4-BE49-F238E27FC236}">
                  <a16:creationId xmlns:a16="http://schemas.microsoft.com/office/drawing/2014/main" id="{3C231288-55E1-7D04-DF6F-CC2F6D4714BE}"/>
                </a:ext>
              </a:extLst>
            </p:cNvPr>
            <p:cNvSpPr/>
            <p:nvPr/>
          </p:nvSpPr>
          <p:spPr>
            <a:xfrm>
              <a:off x="8242764" y="3368737"/>
              <a:ext cx="452745" cy="4572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5" name="Picture 14">
              <a:extLst>
                <a:ext uri="{FF2B5EF4-FFF2-40B4-BE49-F238E27FC236}">
                  <a16:creationId xmlns:a16="http://schemas.microsoft.com/office/drawing/2014/main" id="{4AE10537-9031-0BAE-BCA1-838CD8CA474A}"/>
                </a:ext>
              </a:extLst>
            </p:cNvPr>
            <p:cNvPicPr>
              <a:picLocks noChangeAspect="1"/>
            </p:cNvPicPr>
            <p:nvPr/>
          </p:nvPicPr>
          <p:blipFill>
            <a:blip r:embed="rId5"/>
            <a:stretch>
              <a:fillRect/>
            </a:stretch>
          </p:blipFill>
          <p:spPr>
            <a:xfrm>
              <a:off x="8126236" y="3368737"/>
              <a:ext cx="685800" cy="457200"/>
            </a:xfrm>
            <a:prstGeom prst="rect">
              <a:avLst/>
            </a:prstGeom>
          </p:spPr>
        </p:pic>
      </p:grpSp>
      <p:cxnSp>
        <p:nvCxnSpPr>
          <p:cNvPr id="16" name="Straight Arrow Connector 15">
            <a:extLst>
              <a:ext uri="{FF2B5EF4-FFF2-40B4-BE49-F238E27FC236}">
                <a16:creationId xmlns:a16="http://schemas.microsoft.com/office/drawing/2014/main" id="{22DBB91E-68EE-D6D4-E082-CC62C2E038C8}"/>
              </a:ext>
            </a:extLst>
          </p:cNvPr>
          <p:cNvCxnSpPr>
            <a:cxnSpLocks/>
          </p:cNvCxnSpPr>
          <p:nvPr/>
        </p:nvCxnSpPr>
        <p:spPr>
          <a:xfrm>
            <a:off x="6834962" y="4317030"/>
            <a:ext cx="57341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8E7500D2-049C-4434-57FE-466A66954148}"/>
              </a:ext>
            </a:extLst>
          </p:cNvPr>
          <p:cNvSpPr txBox="1"/>
          <p:nvPr/>
        </p:nvSpPr>
        <p:spPr>
          <a:xfrm>
            <a:off x="5613614" y="5230460"/>
            <a:ext cx="622286" cy="369332"/>
          </a:xfrm>
          <a:prstGeom prst="rect">
            <a:avLst/>
          </a:prstGeom>
          <a:noFill/>
        </p:spPr>
        <p:txBody>
          <a:bodyPr wrap="none" rtlCol="0">
            <a:spAutoFit/>
          </a:bodyPr>
          <a:lstStyle/>
          <a:p>
            <a:r>
              <a:rPr lang="en-US" dirty="0"/>
              <a:t>sum</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50CEEDA6-C7E1-2CB8-34D4-92FA8834CBDB}"/>
                  </a:ext>
                </a:extLst>
              </p:cNvPr>
              <p:cNvSpPr txBox="1"/>
              <p:nvPr/>
            </p:nvSpPr>
            <p:spPr>
              <a:xfrm>
                <a:off x="6910022" y="4553024"/>
                <a:ext cx="1436932" cy="923330"/>
              </a:xfrm>
              <a:prstGeom prst="rect">
                <a:avLst/>
              </a:prstGeom>
              <a:noFill/>
            </p:spPr>
            <p:txBody>
              <a:bodyPr wrap="none" rtlCol="0">
                <a:spAutoFit/>
              </a:bodyPr>
              <a:lstStyle/>
              <a:p>
                <a:pPr algn="ctr"/>
                <a:r>
                  <a:rPr lang="en-US" dirty="0"/>
                  <a:t>sigmoid</a:t>
                </a:r>
              </a:p>
              <a:p>
                <a:pPr algn="ctr"/>
                <a:r>
                  <a:rPr lang="en-US" dirty="0"/>
                  <a:t>(aka logistic)</a:t>
                </a:r>
              </a:p>
              <a:p>
                <a:pPr algn="ctr"/>
                <a:r>
                  <a:rPr lang="en-US" dirty="0"/>
                  <a:t>function </a:t>
                </a:r>
                <a14:m>
                  <m:oMath xmlns:m="http://schemas.openxmlformats.org/officeDocument/2006/math">
                    <m:r>
                      <a:rPr lang="en-US" b="0" i="1" smtClean="0">
                        <a:latin typeface="Cambria Math" panose="02040503050406030204" pitchFamily="18" charset="0"/>
                      </a:rPr>
                      <m:t>𝜎</m:t>
                    </m:r>
                  </m:oMath>
                </a14:m>
                <a:endParaRPr lang="en-US" dirty="0"/>
              </a:p>
            </p:txBody>
          </p:sp>
        </mc:Choice>
        <mc:Fallback>
          <p:sp>
            <p:nvSpPr>
              <p:cNvPr id="18" name="TextBox 17">
                <a:extLst>
                  <a:ext uri="{FF2B5EF4-FFF2-40B4-BE49-F238E27FC236}">
                    <a16:creationId xmlns:a16="http://schemas.microsoft.com/office/drawing/2014/main" id="{50CEEDA6-C7E1-2CB8-34D4-92FA8834CBDB}"/>
                  </a:ext>
                </a:extLst>
              </p:cNvPr>
              <p:cNvSpPr txBox="1">
                <a:spLocks noRot="1" noChangeAspect="1" noMove="1" noResize="1" noEditPoints="1" noAdjustHandles="1" noChangeArrowheads="1" noChangeShapeType="1" noTextEdit="1"/>
              </p:cNvSpPr>
              <p:nvPr/>
            </p:nvSpPr>
            <p:spPr>
              <a:xfrm>
                <a:off x="6910022" y="4553024"/>
                <a:ext cx="1436932" cy="923330"/>
              </a:xfrm>
              <a:prstGeom prst="rect">
                <a:avLst/>
              </a:prstGeom>
              <a:blipFill>
                <a:blip r:embed="rId6"/>
                <a:stretch>
                  <a:fillRect l="-877" t="-2703" b="-9459"/>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CAA4F6C4-7E1E-9D35-DF8E-B67BB5CD4002}"/>
              </a:ext>
            </a:extLst>
          </p:cNvPr>
          <p:cNvSpPr txBox="1"/>
          <p:nvPr/>
        </p:nvSpPr>
        <p:spPr>
          <a:xfrm>
            <a:off x="8283164" y="4115771"/>
            <a:ext cx="2785571" cy="369332"/>
          </a:xfrm>
          <a:prstGeom prst="rect">
            <a:avLst/>
          </a:prstGeom>
          <a:noFill/>
        </p:spPr>
        <p:txBody>
          <a:bodyPr wrap="none" rtlCol="0">
            <a:spAutoFit/>
          </a:bodyPr>
          <a:lstStyle/>
          <a:p>
            <a:pPr/>
            <a:r>
              <a:rPr lang="en-US" dirty="0"/>
              <a:t>New predicted probabilities</a:t>
            </a:r>
          </a:p>
        </p:txBody>
      </p:sp>
      <p:cxnSp>
        <p:nvCxnSpPr>
          <p:cNvPr id="20" name="Straight Arrow Connector 19">
            <a:extLst>
              <a:ext uri="{FF2B5EF4-FFF2-40B4-BE49-F238E27FC236}">
                <a16:creationId xmlns:a16="http://schemas.microsoft.com/office/drawing/2014/main" id="{C97B88FE-DDAD-C15B-73BA-132C4B2D16D2}"/>
              </a:ext>
            </a:extLst>
          </p:cNvPr>
          <p:cNvCxnSpPr>
            <a:cxnSpLocks/>
          </p:cNvCxnSpPr>
          <p:nvPr/>
        </p:nvCxnSpPr>
        <p:spPr>
          <a:xfrm>
            <a:off x="7857309" y="4310777"/>
            <a:ext cx="489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458FFF92-1651-41D7-BB67-1E0F3C7290F9}"/>
              </a:ext>
            </a:extLst>
          </p:cNvPr>
          <p:cNvCxnSpPr>
            <a:cxnSpLocks/>
            <a:endCxn id="7" idx="0"/>
          </p:cNvCxnSpPr>
          <p:nvPr/>
        </p:nvCxnSpPr>
        <p:spPr>
          <a:xfrm>
            <a:off x="5921794" y="2918007"/>
            <a:ext cx="0" cy="4855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A438F65A-B8F8-6CE7-9A53-7A0774AC0802}"/>
                  </a:ext>
                </a:extLst>
              </p:cNvPr>
              <p:cNvSpPr txBox="1"/>
              <p:nvPr/>
            </p:nvSpPr>
            <p:spPr>
              <a:xfrm>
                <a:off x="5739308" y="2548675"/>
                <a:ext cx="3649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p:sp>
            <p:nvSpPr>
              <p:cNvPr id="22" name="TextBox 21">
                <a:extLst>
                  <a:ext uri="{FF2B5EF4-FFF2-40B4-BE49-F238E27FC236}">
                    <a16:creationId xmlns:a16="http://schemas.microsoft.com/office/drawing/2014/main" id="{A438F65A-B8F8-6CE7-9A53-7A0774AC0802}"/>
                  </a:ext>
                </a:extLst>
              </p:cNvPr>
              <p:cNvSpPr txBox="1">
                <a:spLocks noRot="1" noChangeAspect="1" noMove="1" noResize="1" noEditPoints="1" noAdjustHandles="1" noChangeArrowheads="1" noChangeShapeType="1" noTextEdit="1"/>
              </p:cNvSpPr>
              <p:nvPr/>
            </p:nvSpPr>
            <p:spPr>
              <a:xfrm>
                <a:off x="5739308" y="2548675"/>
                <a:ext cx="364972" cy="369332"/>
              </a:xfrm>
              <a:prstGeom prst="rect">
                <a:avLst/>
              </a:prstGeom>
              <a:blipFill>
                <a:blip r:embed="rId7"/>
                <a:stretch>
                  <a:fillRect/>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01601359-01DA-102E-2419-9B5EF935087B}"/>
              </a:ext>
            </a:extLst>
          </p:cNvPr>
          <p:cNvSpPr txBox="1"/>
          <p:nvPr/>
        </p:nvSpPr>
        <p:spPr>
          <a:xfrm>
            <a:off x="935116" y="4115771"/>
            <a:ext cx="2684133" cy="369332"/>
          </a:xfrm>
          <a:prstGeom prst="rect">
            <a:avLst/>
          </a:prstGeom>
          <a:noFill/>
        </p:spPr>
        <p:txBody>
          <a:bodyPr wrap="none" rtlCol="0">
            <a:spAutoFit/>
          </a:bodyPr>
          <a:lstStyle/>
          <a:p>
            <a:pPr/>
            <a:r>
              <a:rPr lang="en-US" dirty="0"/>
              <a:t>Old predicted probabilities</a:t>
            </a:r>
          </a:p>
        </p:txBody>
      </p:sp>
    </p:spTree>
    <p:extLst>
      <p:ext uri="{BB962C8B-B14F-4D97-AF65-F5344CB8AC3E}">
        <p14:creationId xmlns:p14="http://schemas.microsoft.com/office/powerpoint/2010/main" val="3414666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ACE7C-9EF8-328D-765F-62F451EAE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E9F3A-DB4E-0E33-C75D-167EBCBA967C}"/>
              </a:ext>
            </a:extLst>
          </p:cNvPr>
          <p:cNvSpPr>
            <a:spLocks noGrp="1"/>
          </p:cNvSpPr>
          <p:nvPr>
            <p:ph type="title"/>
          </p:nvPr>
        </p:nvSpPr>
        <p:spPr/>
        <p:txBody>
          <a:bodyPr/>
          <a:lstStyle/>
          <a:p>
            <a:r>
              <a:rPr lang="en-US" dirty="0"/>
              <a:t>Vector scaling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29A6E13-3F26-4F84-74DE-55EAE7280EFE}"/>
                  </a:ext>
                </a:extLst>
              </p:cNvPr>
              <p:cNvSpPr>
                <a:spLocks noGrp="1"/>
              </p:cNvSpPr>
              <p:nvPr>
                <p:ph idx="1"/>
              </p:nvPr>
            </p:nvSpPr>
            <p:spPr/>
            <p:txBody>
              <a:bodyPr/>
              <a:lstStyle/>
              <a:p>
                <a:pPr/>
                <a14:m>
                  <m:oMath xmlns:m="http://schemas.openxmlformats.org/officeDocument/2006/math">
                    <m:r>
                      <m:rPr>
                        <m:sty m:val="p"/>
                      </m:rPr>
                      <a:rPr lang="en-US" smtClean="0">
                        <a:latin typeface="Cambria Math" panose="02040503050406030204" pitchFamily="18" charset="0"/>
                      </a:rPr>
                      <m:t>softmax</m:t>
                    </m:r>
                    <m:r>
                      <a:rPr lang="en-US" i="1">
                        <a:latin typeface="Cambria Math" panose="02040503050406030204" pitchFamily="18" charset="0"/>
                      </a:rPr>
                      <m:t>(</m:t>
                    </m:r>
                    <m:r>
                      <a:rPr lang="en-US" b="0" i="1" smtClean="0">
                        <a:latin typeface="Cambria Math" panose="02040503050406030204" pitchFamily="18" charset="0"/>
                      </a:rPr>
                      <m:t>𝑊</m:t>
                    </m:r>
                    <m:r>
                      <a:rPr lang="en-US" b="1" i="1">
                        <a:latin typeface="Cambria Math" panose="02040503050406030204" pitchFamily="18" charset="0"/>
                      </a:rPr>
                      <m:t>𝒛</m:t>
                    </m:r>
                    <m:r>
                      <a:rPr lang="en-US" b="0" i="1" smtClean="0">
                        <a:latin typeface="Cambria Math" panose="02040503050406030204" pitchFamily="18" charset="0"/>
                      </a:rPr>
                      <m:t>+</m:t>
                    </m:r>
                    <m:r>
                      <a:rPr lang="en-US" b="1" i="1" smtClean="0">
                        <a:latin typeface="Cambria Math" panose="02040503050406030204" pitchFamily="18" charset="0"/>
                      </a:rPr>
                      <m:t>𝒃</m:t>
                    </m:r>
                    <m:r>
                      <a:rPr lang="en-US" i="1">
                        <a:latin typeface="Cambria Math" panose="02040503050406030204" pitchFamily="18" charset="0"/>
                      </a:rPr>
                      <m:t>)</m:t>
                    </m:r>
                  </m:oMath>
                </a14:m>
                <a:endParaRPr lang="en-US" dirty="0"/>
              </a:p>
              <a:p>
                <a:endParaRPr lang="en-US" dirty="0"/>
              </a:p>
              <a:p>
                <a:r>
                  <a:rPr lang="en-US" dirty="0"/>
                  <a:t>Necessary when you need to rebalance for multi-class problems</a:t>
                </a:r>
              </a:p>
              <a:p>
                <a:r>
                  <a:rPr lang="en-US" dirty="0"/>
                  <a:t>Requires a substantial calibration set</a:t>
                </a:r>
              </a:p>
            </p:txBody>
          </p:sp>
        </mc:Choice>
        <mc:Fallback>
          <p:sp>
            <p:nvSpPr>
              <p:cNvPr id="3" name="Content Placeholder 2">
                <a:extLst>
                  <a:ext uri="{FF2B5EF4-FFF2-40B4-BE49-F238E27FC236}">
                    <a16:creationId xmlns:a16="http://schemas.microsoft.com/office/drawing/2014/main" id="{D29A6E13-3F26-4F84-74DE-55EAE7280EFE}"/>
                  </a:ext>
                </a:extLst>
              </p:cNvPr>
              <p:cNvSpPr>
                <a:spLocks noGrp="1" noRot="1" noChangeAspect="1" noMove="1" noResize="1" noEditPoints="1" noAdjustHandles="1" noChangeArrowheads="1" noChangeShapeType="1" noTextEdit="1"/>
              </p:cNvSpPr>
              <p:nvPr>
                <p:ph idx="1"/>
              </p:nvPr>
            </p:nvSpPr>
            <p:spPr>
              <a:blipFill>
                <a:blip r:embed="rId3"/>
                <a:stretch>
                  <a:fillRect l="-1086" t="-1744"/>
                </a:stretch>
              </a:blipFill>
            </p:spPr>
            <p:txBody>
              <a:bodyPr/>
              <a:lstStyle/>
              <a:p>
                <a:r>
                  <a:rPr lang="en-US">
                    <a:noFill/>
                  </a:rPr>
                  <a:t> </a:t>
                </a:r>
              </a:p>
            </p:txBody>
          </p:sp>
        </mc:Fallback>
      </mc:AlternateContent>
    </p:spTree>
    <p:extLst>
      <p:ext uri="{BB962C8B-B14F-4D97-AF65-F5344CB8AC3E}">
        <p14:creationId xmlns:p14="http://schemas.microsoft.com/office/powerpoint/2010/main" val="439436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E6C6D-8EF0-BBFF-B015-276A20EFC1E5}"/>
              </a:ext>
            </a:extLst>
          </p:cNvPr>
          <p:cNvSpPr>
            <a:spLocks noGrp="1"/>
          </p:cNvSpPr>
          <p:nvPr>
            <p:ph type="title"/>
          </p:nvPr>
        </p:nvSpPr>
        <p:spPr/>
        <p:txBody>
          <a:bodyPr/>
          <a:lstStyle/>
          <a:p>
            <a:r>
              <a:rPr lang="en-US" dirty="0"/>
              <a:t>Calibration, discrimination, and fairness</a:t>
            </a:r>
          </a:p>
        </p:txBody>
      </p:sp>
      <p:sp>
        <p:nvSpPr>
          <p:cNvPr id="3" name="Text Placeholder 2">
            <a:extLst>
              <a:ext uri="{FF2B5EF4-FFF2-40B4-BE49-F238E27FC236}">
                <a16:creationId xmlns:a16="http://schemas.microsoft.com/office/drawing/2014/main" id="{45425334-D47C-E806-1F92-2648FB8D102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207324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D2A64-C25D-99E4-FCE0-135EB4C0CDA8}"/>
              </a:ext>
            </a:extLst>
          </p:cNvPr>
          <p:cNvSpPr>
            <a:spLocks noGrp="1"/>
          </p:cNvSpPr>
          <p:nvPr>
            <p:ph type="title"/>
          </p:nvPr>
        </p:nvSpPr>
        <p:spPr/>
        <p:txBody>
          <a:bodyPr/>
          <a:lstStyle/>
          <a:p>
            <a:r>
              <a:rPr lang="en-US" dirty="0"/>
              <a:t>Assessing fairness with group conditional AUC (</a:t>
            </a:r>
            <a:r>
              <a:rPr lang="en-US" dirty="0" err="1"/>
              <a:t>xAUC</a:t>
            </a:r>
            <a:r>
              <a:rPr lang="en-US" dirty="0"/>
              <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F9A28C8-EF81-5F6E-1101-6618BE7188F7}"/>
                  </a:ext>
                </a:extLst>
              </p:cNvPr>
              <p:cNvSpPr>
                <a:spLocks noGrp="1"/>
              </p:cNvSpPr>
              <p:nvPr>
                <p:ph idx="1"/>
              </p:nvPr>
            </p:nvSpPr>
            <p:spPr/>
            <p:txBody>
              <a:bodyPr/>
              <a:lstStyle/>
              <a:p>
                <a:pPr marL="0" indent="0">
                  <a:buNone/>
                </a:pPr>
                <a:endParaRPr lang="en-US" sz="2000" dirty="0"/>
              </a:p>
              <a:p>
                <a:pPr marL="0" indent="0">
                  <a:buNone/>
                </a:pPr>
                <a:r>
                  <a:rPr lang="en-US" sz="2000" dirty="0" err="1"/>
                  <a:t>xAUC</a:t>
                </a:r>
                <a:r>
                  <a:rPr lang="en-US" sz="2000" baseline="-25000" dirty="0" err="1"/>
                  <a:t>A,B</a:t>
                </a:r>
                <a:r>
                  <a:rPr lang="en-US" sz="2000" dirty="0"/>
                  <a:t> =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i="1">
                            <a:latin typeface="Cambria Math" panose="02040503050406030204" pitchFamily="18" charset="0"/>
                          </a:rPr>
                          <m:t>𝑆</m:t>
                        </m:r>
                      </m:e>
                      <m:sub>
                        <m:r>
                          <a:rPr lang="en-US" sz="2000" i="1">
                            <a:latin typeface="Cambria Math" panose="02040503050406030204" pitchFamily="18" charset="0"/>
                          </a:rPr>
                          <m:t>+</m:t>
                        </m:r>
                      </m:sub>
                      <m:sup>
                        <m:r>
                          <a:rPr lang="en-US" sz="2000" b="0" i="1" smtClean="0">
                            <a:latin typeface="Cambria Math" panose="02040503050406030204" pitchFamily="18" charset="0"/>
                          </a:rPr>
                          <m:t>𝐴</m:t>
                        </m:r>
                      </m:sup>
                    </m:sSubSup>
                    <m:r>
                      <a:rPr lang="en-US" sz="2000" i="1">
                        <a:latin typeface="Cambria Math" panose="02040503050406030204" pitchFamily="18" charset="0"/>
                      </a:rPr>
                      <m:t>&gt;</m:t>
                    </m:r>
                    <m:sSubSup>
                      <m:sSubSupPr>
                        <m:ctrlPr>
                          <a:rPr lang="en-US" sz="2000" b="0" i="1" smtClean="0">
                            <a:latin typeface="Cambria Math" panose="02040503050406030204" pitchFamily="18" charset="0"/>
                          </a:rPr>
                        </m:ctrlPr>
                      </m:sSubSupPr>
                      <m:e>
                        <m:r>
                          <a:rPr lang="en-US" sz="2000" i="1">
                            <a:latin typeface="Cambria Math" panose="02040503050406030204" pitchFamily="18" charset="0"/>
                          </a:rPr>
                          <m:t>𝑆</m:t>
                        </m:r>
                      </m:e>
                      <m:sub>
                        <m:r>
                          <a:rPr lang="en-US" sz="2000" i="1">
                            <a:latin typeface="Cambria Math" panose="02040503050406030204" pitchFamily="18" charset="0"/>
                          </a:rPr>
                          <m:t>−</m:t>
                        </m:r>
                      </m:sub>
                      <m:sup>
                        <m:r>
                          <a:rPr lang="en-US" sz="2000" b="0" i="1" smtClean="0">
                            <a:latin typeface="Cambria Math" panose="02040503050406030204" pitchFamily="18" charset="0"/>
                          </a:rPr>
                          <m:t>𝐵</m:t>
                        </m:r>
                      </m:sup>
                    </m:sSubSup>
                    <m:r>
                      <a:rPr lang="en-US" sz="2000" i="1">
                        <a:latin typeface="Cambria Math" panose="02040503050406030204" pitchFamily="18" charset="0"/>
                      </a:rPr>
                      <m:t>)</m:t>
                    </m:r>
                  </m:oMath>
                </a14:m>
                <a:r>
                  <a:rPr lang="en-US" sz="2000" dirty="0"/>
                  <a:t> </a:t>
                </a:r>
              </a:p>
              <a:p>
                <a:pPr marL="0" indent="0">
                  <a:buNone/>
                </a:pPr>
                <a:r>
                  <a:rPr lang="en-US" sz="2000" dirty="0"/>
                  <a:t>[i.e. we are now conditioning on group status in addition to pos/neg]</a:t>
                </a:r>
              </a:p>
              <a:p>
                <a:pPr marL="0" indent="0">
                  <a:buNone/>
                </a:pPr>
                <a:endParaRPr lang="en-US" sz="2000" dirty="0"/>
              </a:p>
              <a:p>
                <a:pPr marL="0" indent="0">
                  <a:buNone/>
                </a:pPr>
                <a:r>
                  <a:rPr lang="en-US" sz="2000" dirty="0"/>
                  <a:t>Consider </a:t>
                </a:r>
                <a14:m>
                  <m:oMath xmlns:m="http://schemas.openxmlformats.org/officeDocument/2006/math">
                    <m:r>
                      <m:rPr>
                        <m:sty m:val="p"/>
                      </m:rPr>
                      <a:rPr lang="en-US" sz="2000" i="0" dirty="0" smtClean="0">
                        <a:latin typeface="Cambria Math" panose="02040503050406030204" pitchFamily="18" charset="0"/>
                      </a:rPr>
                      <m:t>Δ</m:t>
                    </m:r>
                  </m:oMath>
                </a14:m>
                <a:r>
                  <a:rPr lang="en-US" sz="2000" dirty="0" err="1"/>
                  <a:t>xAUC</a:t>
                </a:r>
                <a:r>
                  <a:rPr lang="en-US" sz="2000" dirty="0"/>
                  <a:t> = |</a:t>
                </a:r>
                <a:r>
                  <a:rPr lang="en-US" sz="2000" dirty="0" err="1"/>
                  <a:t>xAUC</a:t>
                </a:r>
                <a:r>
                  <a:rPr lang="en-US" sz="2000" baseline="-25000" dirty="0" err="1"/>
                  <a:t>B,A</a:t>
                </a:r>
                <a:r>
                  <a:rPr lang="en-US" sz="2000" dirty="0"/>
                  <a:t> – </a:t>
                </a:r>
                <a:r>
                  <a:rPr lang="en-US" sz="2000" dirty="0" err="1"/>
                  <a:t>xAUC</a:t>
                </a:r>
                <a:r>
                  <a:rPr lang="en-US" sz="2000" baseline="-25000" dirty="0" err="1"/>
                  <a:t>A,B</a:t>
                </a:r>
                <a:r>
                  <a:rPr lang="en-US" sz="2000" dirty="0"/>
                  <a:t>|</a:t>
                </a:r>
              </a:p>
              <a:p>
                <a:pPr marL="0" indent="0">
                  <a:buNone/>
                </a:pPr>
                <a:endParaRPr lang="en-US" sz="2000" dirty="0"/>
              </a:p>
              <a:p>
                <a:pPr marL="0" indent="0">
                  <a:buNone/>
                </a:pPr>
                <a:r>
                  <a:rPr lang="en-US" sz="2000" dirty="0"/>
                  <a:t>Does lower </a:t>
                </a:r>
                <a14:m>
                  <m:oMath xmlns:m="http://schemas.openxmlformats.org/officeDocument/2006/math">
                    <m:r>
                      <m:rPr>
                        <m:sty m:val="p"/>
                      </m:rPr>
                      <a:rPr lang="en-US" sz="2000" dirty="0">
                        <a:latin typeface="Cambria Math" panose="02040503050406030204" pitchFamily="18" charset="0"/>
                      </a:rPr>
                      <m:t>Δ</m:t>
                    </m:r>
                  </m:oMath>
                </a14:m>
                <a:r>
                  <a:rPr lang="en-US" sz="2000" dirty="0" err="1"/>
                  <a:t>xAUC</a:t>
                </a:r>
                <a:endParaRPr lang="en-US" sz="2000" dirty="0"/>
              </a:p>
              <a:p>
                <a:pPr marL="0" indent="0">
                  <a:buNone/>
                </a:pPr>
                <a:r>
                  <a:rPr lang="en-US" sz="2000" dirty="0"/>
                  <a:t>imply a fairer model?</a:t>
                </a:r>
              </a:p>
            </p:txBody>
          </p:sp>
        </mc:Choice>
        <mc:Fallback>
          <p:sp>
            <p:nvSpPr>
              <p:cNvPr id="3" name="Content Placeholder 2">
                <a:extLst>
                  <a:ext uri="{FF2B5EF4-FFF2-40B4-BE49-F238E27FC236}">
                    <a16:creationId xmlns:a16="http://schemas.microsoft.com/office/drawing/2014/main" id="{9F9A28C8-EF81-5F6E-1101-6618BE7188F7}"/>
                  </a:ext>
                </a:extLst>
              </p:cNvPr>
              <p:cNvSpPr>
                <a:spLocks noGrp="1" noRot="1" noChangeAspect="1" noMove="1" noResize="1" noEditPoints="1" noAdjustHandles="1" noChangeArrowheads="1" noChangeShapeType="1" noTextEdit="1"/>
              </p:cNvSpPr>
              <p:nvPr>
                <p:ph idx="1"/>
              </p:nvPr>
            </p:nvSpPr>
            <p:spPr>
              <a:blipFill>
                <a:blip r:embed="rId2"/>
                <a:stretch>
                  <a:fillRect l="-72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69D735D-9C09-550E-BDE9-286C21AFF543}"/>
              </a:ext>
            </a:extLst>
          </p:cNvPr>
          <p:cNvPicPr>
            <a:picLocks noChangeAspect="1"/>
          </p:cNvPicPr>
          <p:nvPr/>
        </p:nvPicPr>
        <p:blipFill>
          <a:blip r:embed="rId3"/>
          <a:stretch>
            <a:fillRect/>
          </a:stretch>
        </p:blipFill>
        <p:spPr>
          <a:xfrm>
            <a:off x="3488093" y="3889331"/>
            <a:ext cx="8445759" cy="2706180"/>
          </a:xfrm>
          <a:prstGeom prst="rect">
            <a:avLst/>
          </a:prstGeom>
        </p:spPr>
      </p:pic>
    </p:spTree>
    <p:extLst>
      <p:ext uri="{BB962C8B-B14F-4D97-AF65-F5344CB8AC3E}">
        <p14:creationId xmlns:p14="http://schemas.microsoft.com/office/powerpoint/2010/main" val="9356923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7757A-17AF-51D1-1B49-532EDF835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4700A-4354-1466-A119-7DA5B7BC75D8}"/>
              </a:ext>
            </a:extLst>
          </p:cNvPr>
          <p:cNvSpPr>
            <a:spLocks noGrp="1"/>
          </p:cNvSpPr>
          <p:nvPr>
            <p:ph type="title"/>
          </p:nvPr>
        </p:nvSpPr>
        <p:spPr/>
        <p:txBody>
          <a:bodyPr/>
          <a:lstStyle/>
          <a:p>
            <a:r>
              <a:rPr lang="en-US" dirty="0"/>
              <a:t>Our “fair” model is one that aims to minimize differences in </a:t>
            </a:r>
            <a:r>
              <a:rPr lang="en-US" dirty="0" err="1"/>
              <a:t>xCI</a:t>
            </a:r>
            <a:r>
              <a:rPr lang="en-US" dirty="0"/>
              <a:t> (similar to </a:t>
            </a:r>
            <a:r>
              <a:rPr lang="en-US" dirty="0" err="1"/>
              <a:t>xAUC</a:t>
            </a:r>
            <a:r>
              <a:rPr lang="en-US" dirty="0"/>
              <a:t>)</a:t>
            </a:r>
          </a:p>
        </p:txBody>
      </p:sp>
      <p:sp>
        <p:nvSpPr>
          <p:cNvPr id="4" name="TextBox 3">
            <a:extLst>
              <a:ext uri="{FF2B5EF4-FFF2-40B4-BE49-F238E27FC236}">
                <a16:creationId xmlns:a16="http://schemas.microsoft.com/office/drawing/2014/main" id="{CE22305F-1BB4-99A9-7DEF-8F8281AC2F35}"/>
              </a:ext>
            </a:extLst>
          </p:cNvPr>
          <p:cNvSpPr txBox="1"/>
          <p:nvPr/>
        </p:nvSpPr>
        <p:spPr>
          <a:xfrm>
            <a:off x="978210" y="2015946"/>
            <a:ext cx="7518090" cy="369332"/>
          </a:xfrm>
          <a:prstGeom prst="rect">
            <a:avLst/>
          </a:prstGeom>
          <a:noFill/>
        </p:spPr>
        <p:txBody>
          <a:bodyPr wrap="square" rtlCol="0">
            <a:spAutoFit/>
          </a:bodyPr>
          <a:lstStyle/>
          <a:p>
            <a:pPr marL="285750" indent="-285750">
              <a:buFont typeface="Arial" panose="020B0604020202020204" pitchFamily="34" charset="0"/>
              <a:buChar char="•"/>
            </a:pPr>
            <a:r>
              <a:rPr lang="en-US" dirty="0"/>
              <a:t>Depending on the use case, this can be good or bad, fair or unfair.</a:t>
            </a:r>
          </a:p>
        </p:txBody>
      </p:sp>
      <p:pic>
        <p:nvPicPr>
          <p:cNvPr id="5" name="Picture 4">
            <a:extLst>
              <a:ext uri="{FF2B5EF4-FFF2-40B4-BE49-F238E27FC236}">
                <a16:creationId xmlns:a16="http://schemas.microsoft.com/office/drawing/2014/main" id="{DAF216AF-3B1E-095A-1958-B79DD81CC182}"/>
              </a:ext>
            </a:extLst>
          </p:cNvPr>
          <p:cNvPicPr>
            <a:picLocks noChangeAspect="1"/>
          </p:cNvPicPr>
          <p:nvPr/>
        </p:nvPicPr>
        <p:blipFill rotWithShape="1">
          <a:blip r:embed="rId3"/>
          <a:srcRect b="49614"/>
          <a:stretch/>
        </p:blipFill>
        <p:spPr>
          <a:xfrm>
            <a:off x="566542" y="2710536"/>
            <a:ext cx="11058915" cy="3714789"/>
          </a:xfrm>
          <a:prstGeom prst="rect">
            <a:avLst/>
          </a:prstGeom>
        </p:spPr>
      </p:pic>
      <p:sp>
        <p:nvSpPr>
          <p:cNvPr id="6" name="TextBox 5">
            <a:extLst>
              <a:ext uri="{FF2B5EF4-FFF2-40B4-BE49-F238E27FC236}">
                <a16:creationId xmlns:a16="http://schemas.microsoft.com/office/drawing/2014/main" id="{1C02C489-72FA-480A-B590-04F2DA37B18A}"/>
              </a:ext>
            </a:extLst>
          </p:cNvPr>
          <p:cNvSpPr txBox="1"/>
          <p:nvPr/>
        </p:nvSpPr>
        <p:spPr>
          <a:xfrm>
            <a:off x="1598229" y="6089849"/>
            <a:ext cx="10027228" cy="335476"/>
          </a:xfrm>
          <a:prstGeom prst="rect">
            <a:avLst/>
          </a:prstGeom>
          <a:solidFill>
            <a:schemeClr val="bg1"/>
          </a:solidFill>
        </p:spPr>
        <p:txBody>
          <a:bodyPr wrap="square" rtlCol="0">
            <a:spAutoFit/>
          </a:bodyPr>
          <a:lstStyle/>
          <a:p>
            <a:r>
              <a:rPr lang="en-US" sz="1600" dirty="0"/>
              <a:t>       Black-Black		White-White		Black-White	               White-Black</a:t>
            </a:r>
          </a:p>
        </p:txBody>
      </p:sp>
    </p:spTree>
    <p:extLst>
      <p:ext uri="{BB962C8B-B14F-4D97-AF65-F5344CB8AC3E}">
        <p14:creationId xmlns:p14="http://schemas.microsoft.com/office/powerpoint/2010/main" val="32507894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431E5-660F-E841-E9D3-A277568FCD53}"/>
              </a:ext>
            </a:extLst>
          </p:cNvPr>
          <p:cNvSpPr>
            <a:spLocks noGrp="1"/>
          </p:cNvSpPr>
          <p:nvPr>
            <p:ph type="title"/>
          </p:nvPr>
        </p:nvSpPr>
        <p:spPr/>
        <p:txBody>
          <a:bodyPr/>
          <a:lstStyle/>
          <a:p>
            <a:r>
              <a:rPr lang="en-US" dirty="0"/>
              <a:t>Consider the </a:t>
            </a:r>
            <a:r>
              <a:rPr lang="en-US" dirty="0" err="1"/>
              <a:t>xAUC</a:t>
            </a:r>
            <a:r>
              <a:rPr lang="en-US" dirty="0"/>
              <a:t> for a calibrated model</a:t>
            </a:r>
          </a:p>
        </p:txBody>
      </p:sp>
      <p:sp>
        <p:nvSpPr>
          <p:cNvPr id="3" name="Content Placeholder 2">
            <a:extLst>
              <a:ext uri="{FF2B5EF4-FFF2-40B4-BE49-F238E27FC236}">
                <a16:creationId xmlns:a16="http://schemas.microsoft.com/office/drawing/2014/main" id="{9AD2E8F9-8395-3C65-66D7-5F6F49410468}"/>
              </a:ext>
            </a:extLst>
          </p:cNvPr>
          <p:cNvSpPr>
            <a:spLocks noGrp="1"/>
          </p:cNvSpPr>
          <p:nvPr>
            <p:ph idx="1"/>
          </p:nvPr>
        </p:nvSpPr>
        <p:spPr>
          <a:xfrm>
            <a:off x="838200" y="1637506"/>
            <a:ext cx="3873500" cy="4351338"/>
          </a:xfrm>
        </p:spPr>
        <p:txBody>
          <a:bodyPr/>
          <a:lstStyle/>
          <a:p>
            <a:r>
              <a:rPr lang="en-US" sz="2400" dirty="0"/>
              <a:t>Suppose there is a true difference between groups 1 and 2</a:t>
            </a:r>
          </a:p>
          <a:p>
            <a:endParaRPr lang="en-US" sz="2400" dirty="0"/>
          </a:p>
          <a:p>
            <a:r>
              <a:rPr lang="en-US" sz="2400" dirty="0"/>
              <a:t>Suppose further that our model is optimal in the sense that its predictions are equal to the true outcome probabilities</a:t>
            </a:r>
          </a:p>
          <a:p>
            <a:endParaRPr lang="en-US" sz="2400" dirty="0"/>
          </a:p>
          <a:p>
            <a:r>
              <a:rPr lang="en-US" sz="2400" dirty="0"/>
              <a:t>What is the xAUC</a:t>
            </a:r>
            <a:r>
              <a:rPr lang="en-US" sz="2400" baseline="-25000" dirty="0"/>
              <a:t>1,2</a:t>
            </a:r>
            <a:r>
              <a:rPr lang="en-US" sz="2400" dirty="0"/>
              <a:t>?</a:t>
            </a:r>
          </a:p>
          <a:p>
            <a:r>
              <a:rPr lang="en-US" sz="2400" dirty="0"/>
              <a:t>What is the xAUC</a:t>
            </a:r>
            <a:r>
              <a:rPr lang="en-US" sz="2400" baseline="-25000" dirty="0"/>
              <a:t>2,1</a:t>
            </a:r>
            <a:r>
              <a:rPr lang="en-US" sz="2400" dirty="0"/>
              <a:t>?</a:t>
            </a:r>
          </a:p>
        </p:txBody>
      </p:sp>
      <p:pic>
        <p:nvPicPr>
          <p:cNvPr id="5" name="Picture 4" descr="A graph of a group&#10;&#10;AI-generated content may be incorrect.">
            <a:extLst>
              <a:ext uri="{FF2B5EF4-FFF2-40B4-BE49-F238E27FC236}">
                <a16:creationId xmlns:a16="http://schemas.microsoft.com/office/drawing/2014/main" id="{7736B0F8-5179-763D-2883-9B55D8C22768}"/>
              </a:ext>
            </a:extLst>
          </p:cNvPr>
          <p:cNvPicPr>
            <a:picLocks noChangeAspect="1"/>
          </p:cNvPicPr>
          <p:nvPr/>
        </p:nvPicPr>
        <p:blipFill>
          <a:blip r:embed="rId3"/>
          <a:srcRect t="7166" b="-1"/>
          <a:stretch>
            <a:fillRect/>
          </a:stretch>
        </p:blipFill>
        <p:spPr>
          <a:xfrm>
            <a:off x="5676900" y="1726288"/>
            <a:ext cx="5181600" cy="3690261"/>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6F2C56F0-8142-35D5-5DFC-3F10A1439C76}"/>
                  </a:ext>
                </a:extLst>
              </p:cNvPr>
              <p:cNvSpPr txBox="1"/>
              <p:nvPr/>
            </p:nvSpPr>
            <p:spPr>
              <a:xfrm>
                <a:off x="6775450" y="5803825"/>
                <a:ext cx="2984500" cy="369332"/>
              </a:xfrm>
              <a:prstGeom prst="rect">
                <a:avLst/>
              </a:prstGeom>
              <a:noFill/>
            </p:spPr>
            <p:txBody>
              <a:bodyPr wrap="square">
                <a:spAutoFit/>
              </a:bodyPr>
              <a:lstStyle/>
              <a:p>
                <a:pPr marL="0" indent="0" algn="ctr">
                  <a:buNone/>
                </a:pPr>
                <a:r>
                  <a:rPr lang="en-US" sz="1800" dirty="0"/>
                  <a:t>xAUC</a:t>
                </a:r>
                <a:r>
                  <a:rPr lang="en-US" baseline="-25000" dirty="0"/>
                  <a:t>1</a:t>
                </a:r>
                <a:r>
                  <a:rPr lang="en-US" sz="1800" baseline="-25000" dirty="0"/>
                  <a:t>,2</a:t>
                </a:r>
                <a:r>
                  <a:rPr lang="en-US" sz="1800" dirty="0"/>
                  <a:t> = </a:t>
                </a:r>
                <a14:m>
                  <m:oMath xmlns:m="http://schemas.openxmlformats.org/officeDocument/2006/math">
                    <m:r>
                      <a:rPr lang="en-US" sz="1800" i="1">
                        <a:latin typeface="Cambria Math" panose="02040503050406030204" pitchFamily="18" charset="0"/>
                      </a:rPr>
                      <m:t>𝑃</m:t>
                    </m:r>
                    <m:r>
                      <a:rPr lang="en-US" sz="1800" i="1">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i="1">
                            <a:latin typeface="Cambria Math" panose="02040503050406030204" pitchFamily="18" charset="0"/>
                          </a:rPr>
                          <m:t>𝑆</m:t>
                        </m:r>
                      </m:e>
                      <m:sub>
                        <m:r>
                          <a:rPr lang="en-US" sz="1800" i="1">
                            <a:latin typeface="Cambria Math" panose="02040503050406030204" pitchFamily="18" charset="0"/>
                          </a:rPr>
                          <m:t>+</m:t>
                        </m:r>
                      </m:sub>
                      <m:sup>
                        <m:r>
                          <a:rPr lang="en-US" sz="1800" b="0" i="1" smtClean="0">
                            <a:latin typeface="Cambria Math" panose="02040503050406030204" pitchFamily="18" charset="0"/>
                          </a:rPr>
                          <m:t>1</m:t>
                        </m:r>
                      </m:sup>
                    </m:sSubSup>
                    <m:r>
                      <a:rPr lang="en-US" sz="1800" i="1">
                        <a:latin typeface="Cambria Math" panose="02040503050406030204" pitchFamily="18" charset="0"/>
                      </a:rPr>
                      <m:t>&gt;</m:t>
                    </m:r>
                    <m:sSubSup>
                      <m:sSubSupPr>
                        <m:ctrlPr>
                          <a:rPr lang="en-US" sz="1800" b="0" i="1" smtClean="0">
                            <a:latin typeface="Cambria Math" panose="02040503050406030204" pitchFamily="18" charset="0"/>
                          </a:rPr>
                        </m:ctrlPr>
                      </m:sSubSupPr>
                      <m:e>
                        <m:r>
                          <a:rPr lang="en-US" sz="1800" i="1">
                            <a:latin typeface="Cambria Math" panose="02040503050406030204" pitchFamily="18" charset="0"/>
                          </a:rPr>
                          <m:t>𝑆</m:t>
                        </m:r>
                      </m:e>
                      <m:sub>
                        <m:r>
                          <a:rPr lang="en-US" sz="1800" i="1">
                            <a:latin typeface="Cambria Math" panose="02040503050406030204" pitchFamily="18" charset="0"/>
                          </a:rPr>
                          <m:t>−</m:t>
                        </m:r>
                      </m:sub>
                      <m:sup>
                        <m:r>
                          <a:rPr lang="en-US" sz="1800" b="0" i="1" smtClean="0">
                            <a:latin typeface="Cambria Math" panose="02040503050406030204" pitchFamily="18" charset="0"/>
                          </a:rPr>
                          <m:t>2</m:t>
                        </m:r>
                      </m:sup>
                    </m:sSubSup>
                    <m:r>
                      <a:rPr lang="en-US" sz="1800" i="1">
                        <a:latin typeface="Cambria Math" panose="02040503050406030204" pitchFamily="18" charset="0"/>
                      </a:rPr>
                      <m:t>)</m:t>
                    </m:r>
                  </m:oMath>
                </a14:m>
                <a:r>
                  <a:rPr lang="en-US" sz="1800" dirty="0"/>
                  <a:t> </a:t>
                </a:r>
              </a:p>
            </p:txBody>
          </p:sp>
        </mc:Choice>
        <mc:Fallback>
          <p:sp>
            <p:nvSpPr>
              <p:cNvPr id="8" name="TextBox 7">
                <a:extLst>
                  <a:ext uri="{FF2B5EF4-FFF2-40B4-BE49-F238E27FC236}">
                    <a16:creationId xmlns:a16="http://schemas.microsoft.com/office/drawing/2014/main" id="{6F2C56F0-8142-35D5-5DFC-3F10A1439C76}"/>
                  </a:ext>
                </a:extLst>
              </p:cNvPr>
              <p:cNvSpPr txBox="1">
                <a:spLocks noRot="1" noChangeAspect="1" noMove="1" noResize="1" noEditPoints="1" noAdjustHandles="1" noChangeArrowheads="1" noChangeShapeType="1" noTextEdit="1"/>
              </p:cNvSpPr>
              <p:nvPr/>
            </p:nvSpPr>
            <p:spPr>
              <a:xfrm>
                <a:off x="6775450" y="5803825"/>
                <a:ext cx="2984500" cy="369332"/>
              </a:xfrm>
              <a:prstGeom prst="rect">
                <a:avLst/>
              </a:prstGeom>
              <a:blipFill>
                <a:blip r:embed="rId4"/>
                <a:stretch>
                  <a:fillRect t="-3226" b="-22581"/>
                </a:stretch>
              </a:blipFill>
            </p:spPr>
            <p:txBody>
              <a:bodyPr/>
              <a:lstStyle/>
              <a:p>
                <a:r>
                  <a:rPr lang="en-US">
                    <a:noFill/>
                  </a:rPr>
                  <a:t> </a:t>
                </a:r>
              </a:p>
            </p:txBody>
          </p:sp>
        </mc:Fallback>
      </mc:AlternateContent>
    </p:spTree>
    <p:extLst>
      <p:ext uri="{BB962C8B-B14F-4D97-AF65-F5344CB8AC3E}">
        <p14:creationId xmlns:p14="http://schemas.microsoft.com/office/powerpoint/2010/main" val="509583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091C7-6621-3624-C0AA-CBEB763BC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749412-19FE-6C71-9897-46FBD64EB176}"/>
              </a:ext>
            </a:extLst>
          </p:cNvPr>
          <p:cNvSpPr>
            <a:spLocks noGrp="1"/>
          </p:cNvSpPr>
          <p:nvPr>
            <p:ph type="title"/>
          </p:nvPr>
        </p:nvSpPr>
        <p:spPr/>
        <p:txBody>
          <a:bodyPr/>
          <a:lstStyle/>
          <a:p>
            <a:r>
              <a:rPr lang="en-US" dirty="0"/>
              <a:t>Consider the </a:t>
            </a:r>
            <a:r>
              <a:rPr lang="en-US" dirty="0" err="1"/>
              <a:t>xAUC</a:t>
            </a:r>
            <a:r>
              <a:rPr lang="en-US" dirty="0"/>
              <a:t> for a calibrated model</a:t>
            </a:r>
          </a:p>
        </p:txBody>
      </p:sp>
      <p:sp>
        <p:nvSpPr>
          <p:cNvPr id="3" name="Content Placeholder 2">
            <a:extLst>
              <a:ext uri="{FF2B5EF4-FFF2-40B4-BE49-F238E27FC236}">
                <a16:creationId xmlns:a16="http://schemas.microsoft.com/office/drawing/2014/main" id="{5D895666-C952-5489-22D3-AACFB209C06B}"/>
              </a:ext>
            </a:extLst>
          </p:cNvPr>
          <p:cNvSpPr>
            <a:spLocks noGrp="1"/>
          </p:cNvSpPr>
          <p:nvPr>
            <p:ph idx="1"/>
          </p:nvPr>
        </p:nvSpPr>
        <p:spPr>
          <a:xfrm>
            <a:off x="838200" y="1637506"/>
            <a:ext cx="3873500" cy="4351338"/>
          </a:xfrm>
        </p:spPr>
        <p:txBody>
          <a:bodyPr/>
          <a:lstStyle/>
          <a:p>
            <a:r>
              <a:rPr lang="en-US" sz="2400" dirty="0"/>
              <a:t>Suppose there is a true difference between groups 1 and 2</a:t>
            </a:r>
          </a:p>
          <a:p>
            <a:endParaRPr lang="en-US" sz="2400" dirty="0"/>
          </a:p>
          <a:p>
            <a:r>
              <a:rPr lang="en-US" sz="2400" dirty="0"/>
              <a:t>Suppose further that our model is optimal in the sense that its predictions are equal to the true outcome probabilities</a:t>
            </a:r>
          </a:p>
          <a:p>
            <a:endParaRPr lang="en-US" sz="2400" dirty="0"/>
          </a:p>
          <a:p>
            <a:r>
              <a:rPr lang="en-US" sz="2400" dirty="0"/>
              <a:t>What is the xAUC</a:t>
            </a:r>
            <a:r>
              <a:rPr lang="en-US" sz="2400" baseline="-25000" dirty="0"/>
              <a:t>1,2</a:t>
            </a:r>
            <a:r>
              <a:rPr lang="en-US" sz="2400" dirty="0"/>
              <a:t>?</a:t>
            </a:r>
          </a:p>
          <a:p>
            <a:r>
              <a:rPr lang="en-US" sz="2400" dirty="0"/>
              <a:t>What is the xAUC</a:t>
            </a:r>
            <a:r>
              <a:rPr lang="en-US" sz="2400" baseline="-25000" dirty="0"/>
              <a:t>2,1</a:t>
            </a:r>
            <a:r>
              <a:rPr lang="en-US" sz="2400" dirty="0"/>
              <a:t>?</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89C845F-1D69-06BB-BA0E-72BA6D19E94E}"/>
                  </a:ext>
                </a:extLst>
              </p:cNvPr>
              <p:cNvSpPr txBox="1"/>
              <p:nvPr/>
            </p:nvSpPr>
            <p:spPr>
              <a:xfrm>
                <a:off x="6775450" y="5803825"/>
                <a:ext cx="2984500" cy="369332"/>
              </a:xfrm>
              <a:prstGeom prst="rect">
                <a:avLst/>
              </a:prstGeom>
              <a:noFill/>
            </p:spPr>
            <p:txBody>
              <a:bodyPr wrap="square">
                <a:spAutoFit/>
              </a:bodyPr>
              <a:lstStyle/>
              <a:p>
                <a:pPr marL="0" indent="0" algn="ctr">
                  <a:buNone/>
                </a:pPr>
                <a:r>
                  <a:rPr lang="en-US" sz="1800" dirty="0"/>
                  <a:t>xAUC</a:t>
                </a:r>
                <a:r>
                  <a:rPr lang="en-US" baseline="-25000" dirty="0"/>
                  <a:t>1</a:t>
                </a:r>
                <a:r>
                  <a:rPr lang="en-US" sz="1800" baseline="-25000" dirty="0"/>
                  <a:t>,2</a:t>
                </a:r>
                <a:r>
                  <a:rPr lang="en-US" sz="1800" dirty="0"/>
                  <a:t> = </a:t>
                </a:r>
                <a14:m>
                  <m:oMath xmlns:m="http://schemas.openxmlformats.org/officeDocument/2006/math">
                    <m:r>
                      <a:rPr lang="en-US" sz="1800" i="1">
                        <a:latin typeface="Cambria Math" panose="02040503050406030204" pitchFamily="18" charset="0"/>
                      </a:rPr>
                      <m:t>𝑃</m:t>
                    </m:r>
                    <m:r>
                      <a:rPr lang="en-US" sz="1800" i="1">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i="1">
                            <a:latin typeface="Cambria Math" panose="02040503050406030204" pitchFamily="18" charset="0"/>
                          </a:rPr>
                          <m:t>𝑆</m:t>
                        </m:r>
                      </m:e>
                      <m:sub>
                        <m:r>
                          <a:rPr lang="en-US" sz="1800" i="1">
                            <a:latin typeface="Cambria Math" panose="02040503050406030204" pitchFamily="18" charset="0"/>
                          </a:rPr>
                          <m:t>+</m:t>
                        </m:r>
                      </m:sub>
                      <m:sup>
                        <m:r>
                          <a:rPr lang="en-US" sz="1800" b="0" i="1" smtClean="0">
                            <a:latin typeface="Cambria Math" panose="02040503050406030204" pitchFamily="18" charset="0"/>
                          </a:rPr>
                          <m:t>1</m:t>
                        </m:r>
                      </m:sup>
                    </m:sSubSup>
                    <m:r>
                      <a:rPr lang="en-US" sz="1800" i="1">
                        <a:latin typeface="Cambria Math" panose="02040503050406030204" pitchFamily="18" charset="0"/>
                      </a:rPr>
                      <m:t>&gt;</m:t>
                    </m:r>
                    <m:sSubSup>
                      <m:sSubSupPr>
                        <m:ctrlPr>
                          <a:rPr lang="en-US" sz="1800" b="0" i="1" smtClean="0">
                            <a:latin typeface="Cambria Math" panose="02040503050406030204" pitchFamily="18" charset="0"/>
                          </a:rPr>
                        </m:ctrlPr>
                      </m:sSubSupPr>
                      <m:e>
                        <m:r>
                          <a:rPr lang="en-US" sz="1800" i="1">
                            <a:latin typeface="Cambria Math" panose="02040503050406030204" pitchFamily="18" charset="0"/>
                          </a:rPr>
                          <m:t>𝑆</m:t>
                        </m:r>
                      </m:e>
                      <m:sub>
                        <m:r>
                          <a:rPr lang="en-US" sz="1800" i="1">
                            <a:latin typeface="Cambria Math" panose="02040503050406030204" pitchFamily="18" charset="0"/>
                          </a:rPr>
                          <m:t>−</m:t>
                        </m:r>
                      </m:sub>
                      <m:sup>
                        <m:r>
                          <a:rPr lang="en-US" sz="1800" b="0" i="1" smtClean="0">
                            <a:latin typeface="Cambria Math" panose="02040503050406030204" pitchFamily="18" charset="0"/>
                          </a:rPr>
                          <m:t>2</m:t>
                        </m:r>
                      </m:sup>
                    </m:sSubSup>
                    <m:r>
                      <a:rPr lang="en-US" sz="1800" i="1">
                        <a:latin typeface="Cambria Math" panose="02040503050406030204" pitchFamily="18" charset="0"/>
                      </a:rPr>
                      <m:t>)</m:t>
                    </m:r>
                  </m:oMath>
                </a14:m>
                <a:r>
                  <a:rPr lang="en-US" sz="1800" dirty="0"/>
                  <a:t> </a:t>
                </a:r>
              </a:p>
            </p:txBody>
          </p:sp>
        </mc:Choice>
        <mc:Fallback>
          <p:sp>
            <p:nvSpPr>
              <p:cNvPr id="8" name="TextBox 7">
                <a:extLst>
                  <a:ext uri="{FF2B5EF4-FFF2-40B4-BE49-F238E27FC236}">
                    <a16:creationId xmlns:a16="http://schemas.microsoft.com/office/drawing/2014/main" id="{B89C845F-1D69-06BB-BA0E-72BA6D19E94E}"/>
                  </a:ext>
                </a:extLst>
              </p:cNvPr>
              <p:cNvSpPr txBox="1">
                <a:spLocks noRot="1" noChangeAspect="1" noMove="1" noResize="1" noEditPoints="1" noAdjustHandles="1" noChangeArrowheads="1" noChangeShapeType="1" noTextEdit="1"/>
              </p:cNvSpPr>
              <p:nvPr/>
            </p:nvSpPr>
            <p:spPr>
              <a:xfrm>
                <a:off x="6775450" y="5803825"/>
                <a:ext cx="2984500" cy="369332"/>
              </a:xfrm>
              <a:prstGeom prst="rect">
                <a:avLst/>
              </a:prstGeom>
              <a:blipFill>
                <a:blip r:embed="rId3"/>
                <a:stretch>
                  <a:fillRect t="-3226" b="-2258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62D0DEF-8A0F-F630-C4B1-53D0CC60EE37}"/>
              </a:ext>
            </a:extLst>
          </p:cNvPr>
          <p:cNvPicPr>
            <a:picLocks noChangeAspect="1"/>
          </p:cNvPicPr>
          <p:nvPr/>
        </p:nvPicPr>
        <p:blipFill>
          <a:blip r:embed="rId4"/>
          <a:srcRect t="6852"/>
          <a:stretch>
            <a:fillRect/>
          </a:stretch>
        </p:blipFill>
        <p:spPr>
          <a:xfrm>
            <a:off x="5603875" y="1804196"/>
            <a:ext cx="5330825" cy="3807531"/>
          </a:xfrm>
          <a:prstGeom prst="rect">
            <a:avLst/>
          </a:prstGeom>
        </p:spPr>
      </p:pic>
    </p:spTree>
    <p:extLst>
      <p:ext uri="{BB962C8B-B14F-4D97-AF65-F5344CB8AC3E}">
        <p14:creationId xmlns:p14="http://schemas.microsoft.com/office/powerpoint/2010/main" val="42390297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508B6-40EB-31C9-CECA-B496AF5D1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DE15C7-E9E8-FD3C-03A1-898F08D682D1}"/>
              </a:ext>
            </a:extLst>
          </p:cNvPr>
          <p:cNvSpPr>
            <a:spLocks noGrp="1"/>
          </p:cNvSpPr>
          <p:nvPr>
            <p:ph type="title"/>
          </p:nvPr>
        </p:nvSpPr>
        <p:spPr/>
        <p:txBody>
          <a:bodyPr/>
          <a:lstStyle/>
          <a:p>
            <a:r>
              <a:rPr lang="en-US" dirty="0"/>
              <a:t>Consider the </a:t>
            </a:r>
            <a:r>
              <a:rPr lang="en-US" dirty="0" err="1"/>
              <a:t>xAUC</a:t>
            </a:r>
            <a:r>
              <a:rPr lang="en-US" dirty="0"/>
              <a:t> for a calibrated model</a:t>
            </a:r>
          </a:p>
        </p:txBody>
      </p:sp>
      <p:sp>
        <p:nvSpPr>
          <p:cNvPr id="3" name="Content Placeholder 2">
            <a:extLst>
              <a:ext uri="{FF2B5EF4-FFF2-40B4-BE49-F238E27FC236}">
                <a16:creationId xmlns:a16="http://schemas.microsoft.com/office/drawing/2014/main" id="{62EBC7B8-6D79-818C-A438-77D2080B15E8}"/>
              </a:ext>
            </a:extLst>
          </p:cNvPr>
          <p:cNvSpPr>
            <a:spLocks noGrp="1"/>
          </p:cNvSpPr>
          <p:nvPr>
            <p:ph idx="1"/>
          </p:nvPr>
        </p:nvSpPr>
        <p:spPr>
          <a:xfrm>
            <a:off x="838200" y="1363663"/>
            <a:ext cx="3873500" cy="4351338"/>
          </a:xfrm>
        </p:spPr>
        <p:txBody>
          <a:bodyPr/>
          <a:lstStyle/>
          <a:p>
            <a:r>
              <a:rPr lang="en-US" sz="2400" dirty="0"/>
              <a:t>Suppose there is a true difference between groups 1 and 2</a:t>
            </a:r>
          </a:p>
          <a:p>
            <a:endParaRPr lang="en-US" sz="2400" dirty="0"/>
          </a:p>
          <a:p>
            <a:r>
              <a:rPr lang="en-US" sz="2400" dirty="0"/>
              <a:t>Suppose further that our model is optimal in the sense that its predictions are equal to the true outcome probabilities</a:t>
            </a:r>
          </a:p>
          <a:p>
            <a:endParaRPr lang="en-US" sz="2400" dirty="0"/>
          </a:p>
          <a:p>
            <a:r>
              <a:rPr lang="en-US" sz="2400" dirty="0"/>
              <a:t>Are the distributions the same across groups after conditioning on outcomes? Why or why not?</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14757BE-37C4-DA36-9069-280D191A4BE8}"/>
                  </a:ext>
                </a:extLst>
              </p:cNvPr>
              <p:cNvSpPr txBox="1"/>
              <p:nvPr/>
            </p:nvSpPr>
            <p:spPr>
              <a:xfrm>
                <a:off x="6775450" y="5803825"/>
                <a:ext cx="2984500" cy="369332"/>
              </a:xfrm>
              <a:prstGeom prst="rect">
                <a:avLst/>
              </a:prstGeom>
              <a:noFill/>
            </p:spPr>
            <p:txBody>
              <a:bodyPr wrap="square">
                <a:spAutoFit/>
              </a:bodyPr>
              <a:lstStyle/>
              <a:p>
                <a:pPr marL="0" indent="0" algn="ctr">
                  <a:buNone/>
                </a:pPr>
                <a:r>
                  <a:rPr lang="en-US" sz="1800" dirty="0"/>
                  <a:t>xAUC</a:t>
                </a:r>
                <a:r>
                  <a:rPr lang="en-US" baseline="-25000" dirty="0"/>
                  <a:t>1</a:t>
                </a:r>
                <a:r>
                  <a:rPr lang="en-US" sz="1800" baseline="-25000" dirty="0"/>
                  <a:t>,2</a:t>
                </a:r>
                <a:r>
                  <a:rPr lang="en-US" sz="1800" dirty="0"/>
                  <a:t> = </a:t>
                </a:r>
                <a14:m>
                  <m:oMath xmlns:m="http://schemas.openxmlformats.org/officeDocument/2006/math">
                    <m:r>
                      <a:rPr lang="en-US" sz="1800" i="1">
                        <a:latin typeface="Cambria Math" panose="02040503050406030204" pitchFamily="18" charset="0"/>
                      </a:rPr>
                      <m:t>𝑃</m:t>
                    </m:r>
                    <m:r>
                      <a:rPr lang="en-US" sz="1800" i="1">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i="1">
                            <a:latin typeface="Cambria Math" panose="02040503050406030204" pitchFamily="18" charset="0"/>
                          </a:rPr>
                          <m:t>𝑆</m:t>
                        </m:r>
                      </m:e>
                      <m:sub>
                        <m:r>
                          <a:rPr lang="en-US" sz="1800" i="1">
                            <a:latin typeface="Cambria Math" panose="02040503050406030204" pitchFamily="18" charset="0"/>
                          </a:rPr>
                          <m:t>+</m:t>
                        </m:r>
                      </m:sub>
                      <m:sup>
                        <m:r>
                          <a:rPr lang="en-US" sz="1800" b="0" i="1" smtClean="0">
                            <a:latin typeface="Cambria Math" panose="02040503050406030204" pitchFamily="18" charset="0"/>
                          </a:rPr>
                          <m:t>1</m:t>
                        </m:r>
                      </m:sup>
                    </m:sSubSup>
                    <m:r>
                      <a:rPr lang="en-US" sz="1800" i="1">
                        <a:latin typeface="Cambria Math" panose="02040503050406030204" pitchFamily="18" charset="0"/>
                      </a:rPr>
                      <m:t>&gt;</m:t>
                    </m:r>
                    <m:sSubSup>
                      <m:sSubSupPr>
                        <m:ctrlPr>
                          <a:rPr lang="en-US" sz="1800" b="0" i="1" smtClean="0">
                            <a:latin typeface="Cambria Math" panose="02040503050406030204" pitchFamily="18" charset="0"/>
                          </a:rPr>
                        </m:ctrlPr>
                      </m:sSubSupPr>
                      <m:e>
                        <m:r>
                          <a:rPr lang="en-US" sz="1800" i="1">
                            <a:latin typeface="Cambria Math" panose="02040503050406030204" pitchFamily="18" charset="0"/>
                          </a:rPr>
                          <m:t>𝑆</m:t>
                        </m:r>
                      </m:e>
                      <m:sub>
                        <m:r>
                          <a:rPr lang="en-US" sz="1800" i="1">
                            <a:latin typeface="Cambria Math" panose="02040503050406030204" pitchFamily="18" charset="0"/>
                          </a:rPr>
                          <m:t>−</m:t>
                        </m:r>
                      </m:sub>
                      <m:sup>
                        <m:r>
                          <a:rPr lang="en-US" sz="1800" b="0" i="1" smtClean="0">
                            <a:latin typeface="Cambria Math" panose="02040503050406030204" pitchFamily="18" charset="0"/>
                          </a:rPr>
                          <m:t>2</m:t>
                        </m:r>
                      </m:sup>
                    </m:sSubSup>
                    <m:r>
                      <a:rPr lang="en-US" sz="1800" i="1">
                        <a:latin typeface="Cambria Math" panose="02040503050406030204" pitchFamily="18" charset="0"/>
                      </a:rPr>
                      <m:t>)</m:t>
                    </m:r>
                  </m:oMath>
                </a14:m>
                <a:r>
                  <a:rPr lang="en-US" sz="1800" dirty="0"/>
                  <a:t> </a:t>
                </a:r>
              </a:p>
            </p:txBody>
          </p:sp>
        </mc:Choice>
        <mc:Fallback>
          <p:sp>
            <p:nvSpPr>
              <p:cNvPr id="8" name="TextBox 7">
                <a:extLst>
                  <a:ext uri="{FF2B5EF4-FFF2-40B4-BE49-F238E27FC236}">
                    <a16:creationId xmlns:a16="http://schemas.microsoft.com/office/drawing/2014/main" id="{814757BE-37C4-DA36-9069-280D191A4BE8}"/>
                  </a:ext>
                </a:extLst>
              </p:cNvPr>
              <p:cNvSpPr txBox="1">
                <a:spLocks noRot="1" noChangeAspect="1" noMove="1" noResize="1" noEditPoints="1" noAdjustHandles="1" noChangeArrowheads="1" noChangeShapeType="1" noTextEdit="1"/>
              </p:cNvSpPr>
              <p:nvPr/>
            </p:nvSpPr>
            <p:spPr>
              <a:xfrm>
                <a:off x="6775450" y="5803825"/>
                <a:ext cx="2984500" cy="369332"/>
              </a:xfrm>
              <a:prstGeom prst="rect">
                <a:avLst/>
              </a:prstGeom>
              <a:blipFill>
                <a:blip r:embed="rId3"/>
                <a:stretch>
                  <a:fillRect t="-3226" b="-2258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0834BA46-03EC-D8B6-6CCF-E0AC945A50A0}"/>
              </a:ext>
            </a:extLst>
          </p:cNvPr>
          <p:cNvPicPr>
            <a:picLocks noChangeAspect="1"/>
          </p:cNvPicPr>
          <p:nvPr/>
        </p:nvPicPr>
        <p:blipFill>
          <a:blip r:embed="rId4"/>
          <a:srcRect t="6766"/>
          <a:stretch>
            <a:fillRect/>
          </a:stretch>
        </p:blipFill>
        <p:spPr>
          <a:xfrm>
            <a:off x="5416549" y="1586873"/>
            <a:ext cx="5713859" cy="3972551"/>
          </a:xfrm>
          <a:prstGeom prst="rect">
            <a:avLst/>
          </a:prstGeom>
        </p:spPr>
      </p:pic>
    </p:spTree>
    <p:extLst>
      <p:ext uri="{BB962C8B-B14F-4D97-AF65-F5344CB8AC3E}">
        <p14:creationId xmlns:p14="http://schemas.microsoft.com/office/powerpoint/2010/main" val="10446028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CF9EF-96EE-EC75-509A-D4F0E78B374B}"/>
              </a:ext>
            </a:extLst>
          </p:cNvPr>
          <p:cNvSpPr>
            <a:spLocks noGrp="1"/>
          </p:cNvSpPr>
          <p:nvPr>
            <p:ph type="title"/>
          </p:nvPr>
        </p:nvSpPr>
        <p:spPr/>
        <p:txBody>
          <a:bodyPr/>
          <a:lstStyle/>
          <a:p>
            <a:r>
              <a:rPr lang="en-US" dirty="0"/>
              <a:t>Report back</a:t>
            </a:r>
          </a:p>
        </p:txBody>
      </p:sp>
      <p:sp>
        <p:nvSpPr>
          <p:cNvPr id="3" name="Content Placeholder 2">
            <a:extLst>
              <a:ext uri="{FF2B5EF4-FFF2-40B4-BE49-F238E27FC236}">
                <a16:creationId xmlns:a16="http://schemas.microsoft.com/office/drawing/2014/main" id="{640FFEC3-8DBD-3C21-8FCA-43274E8E16E0}"/>
              </a:ext>
            </a:extLst>
          </p:cNvPr>
          <p:cNvSpPr>
            <a:spLocks noGrp="1"/>
          </p:cNvSpPr>
          <p:nvPr>
            <p:ph idx="1"/>
          </p:nvPr>
        </p:nvSpPr>
        <p:spPr/>
        <p:txBody>
          <a:bodyPr/>
          <a:lstStyle/>
          <a:p>
            <a:pPr marL="0" indent="0">
              <a:buNone/>
            </a:pPr>
            <a:r>
              <a:rPr lang="en-US" dirty="0"/>
              <a:t>What constitutes a </a:t>
            </a:r>
            <a:r>
              <a:rPr lang="en-US" i="1" dirty="0"/>
              <a:t>fair</a:t>
            </a:r>
            <a:r>
              <a:rPr lang="en-US" dirty="0"/>
              <a:t> model?</a:t>
            </a:r>
          </a:p>
          <a:p>
            <a:pPr marL="0" indent="0">
              <a:buNone/>
            </a:pPr>
            <a:endParaRPr lang="en-US" dirty="0"/>
          </a:p>
          <a:p>
            <a:pPr marL="514350" indent="-514350">
              <a:buFont typeface="Arial" panose="020B0604020202020204" pitchFamily="34" charset="0"/>
              <a:buAutoNum type="arabicPeriod"/>
            </a:pPr>
            <a:r>
              <a:rPr lang="en-US" dirty="0"/>
              <a:t>A model with equal error rates between groups (and </a:t>
            </a:r>
            <a:r>
              <a:rPr lang="en-US" dirty="0" err="1"/>
              <a:t>ΔxAUC</a:t>
            </a:r>
            <a:r>
              <a:rPr lang="en-US" dirty="0"/>
              <a:t>=0)</a:t>
            </a:r>
          </a:p>
          <a:p>
            <a:pPr marL="514350" indent="-514350">
              <a:buAutoNum type="arabicPeriod"/>
            </a:pPr>
            <a:r>
              <a:rPr lang="en-US" dirty="0"/>
              <a:t>A model that is well-calibrated in both groups</a:t>
            </a:r>
          </a:p>
          <a:p>
            <a:pPr marL="514350" indent="-514350">
              <a:buAutoNum type="arabicPeriod"/>
            </a:pPr>
            <a:endParaRPr lang="en-US" dirty="0"/>
          </a:p>
          <a:p>
            <a:pPr marL="0" indent="0">
              <a:buNone/>
            </a:pPr>
            <a:r>
              <a:rPr lang="en-US" dirty="0"/>
              <a:t>Supposing a group difference in risk exists, these two criteria are mutually exclusive.</a:t>
            </a:r>
          </a:p>
        </p:txBody>
      </p:sp>
    </p:spTree>
    <p:extLst>
      <p:ext uri="{BB962C8B-B14F-4D97-AF65-F5344CB8AC3E}">
        <p14:creationId xmlns:p14="http://schemas.microsoft.com/office/powerpoint/2010/main" val="3989210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6304</TotalTime>
  <Words>1746</Words>
  <Application>Microsoft Macintosh PowerPoint</Application>
  <PresentationFormat>Widescreen</PresentationFormat>
  <Paragraphs>282</Paragraphs>
  <Slides>36</Slides>
  <Notes>22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Calibri Light</vt:lpstr>
      <vt:lpstr>Cambria Math</vt:lpstr>
      <vt:lpstr>Consolas</vt:lpstr>
      <vt:lpstr>Source Sans Pro</vt:lpstr>
      <vt:lpstr>Office Theme</vt:lpstr>
      <vt:lpstr>2_Office Theme</vt:lpstr>
      <vt:lpstr>Calibration and Class Balance</vt:lpstr>
      <vt:lpstr>Last Time: Performance metrics are tied to the use case</vt:lpstr>
      <vt:lpstr>Today</vt:lpstr>
      <vt:lpstr>Growing concerns about algorithmic bias</vt:lpstr>
      <vt:lpstr>Sources of Algorithmic Bias</vt:lpstr>
      <vt:lpstr>What does it mean for a model to be fair?</vt:lpstr>
      <vt:lpstr>PowerPoint Presentation</vt:lpstr>
      <vt:lpstr>Blindness can be ineffective or even harmful.</vt:lpstr>
      <vt:lpstr>Possible definitions of algorithmic fairness</vt:lpstr>
      <vt:lpstr>Zooming in on Independence</vt:lpstr>
      <vt:lpstr>Zooming in on Separation</vt:lpstr>
      <vt:lpstr>Possible definitions of algorithmic fairness</vt:lpstr>
      <vt:lpstr>Assessing calibration</vt:lpstr>
      <vt:lpstr>Assess Calibration Graphically</vt:lpstr>
      <vt:lpstr>Assess Calibration Graphically</vt:lpstr>
      <vt:lpstr>Specific calibration metrics</vt:lpstr>
      <vt:lpstr>Class balance</vt:lpstr>
      <vt:lpstr>In health AI, we rarely have balanced classes</vt:lpstr>
      <vt:lpstr>Assessing calibration for imbalanced problems</vt:lpstr>
      <vt:lpstr>Common techniques for imbalanced problems</vt:lpstr>
      <vt:lpstr>Activity today: calibration and class balance</vt:lpstr>
      <vt:lpstr>Post-hoc calibration techniques</vt:lpstr>
      <vt:lpstr>Temperature scaling: binary case</vt:lpstr>
      <vt:lpstr>Temperature scaling: multi-class case</vt:lpstr>
      <vt:lpstr>Temperature scaling: binary case</vt:lpstr>
      <vt:lpstr>Temperature scaling: binary case</vt:lpstr>
      <vt:lpstr>Temperature scaling: binary case</vt:lpstr>
      <vt:lpstr>Platt scaling</vt:lpstr>
      <vt:lpstr>Vector scaling</vt:lpstr>
      <vt:lpstr>Calibration, discrimination, and fairness</vt:lpstr>
      <vt:lpstr>Assessing fairness with group conditional AUC (xAUC)</vt:lpstr>
      <vt:lpstr>Our “fair” model is one that aims to minimize differences in xCI (similar to xAUC)</vt:lpstr>
      <vt:lpstr>Consider the xAUC for a calibrated model</vt:lpstr>
      <vt:lpstr>Consider the xAUC for a calibrated model</vt:lpstr>
      <vt:lpstr>Consider the xAUC for a calibrated model</vt:lpstr>
      <vt:lpstr>Report 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Data Science  May 24, 2019</dc:title>
  <dc:creator>Matthew Engelhard, M.D., Ph.D.</dc:creator>
  <cp:lastModifiedBy>Matthew Engelhard, M.D., Ph.D.</cp:lastModifiedBy>
  <cp:revision>94</cp:revision>
  <dcterms:created xsi:type="dcterms:W3CDTF">2019-05-17T00:10:36Z</dcterms:created>
  <dcterms:modified xsi:type="dcterms:W3CDTF">2026-02-04T19:57:19Z</dcterms:modified>
</cp:coreProperties>
</file>